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 id="2147483664" r:id="rId5"/>
  </p:sldMasterIdLst>
  <p:notesMasterIdLst>
    <p:notesMasterId r:id="rId52"/>
  </p:notesMasterIdLst>
  <p:sldIdLst>
    <p:sldId id="1746" r:id="rId6"/>
    <p:sldId id="1768" r:id="rId7"/>
    <p:sldId id="1865" r:id="rId8"/>
    <p:sldId id="1782" r:id="rId9"/>
    <p:sldId id="2076138152" r:id="rId10"/>
    <p:sldId id="2512" r:id="rId11"/>
    <p:sldId id="2513" r:id="rId12"/>
    <p:sldId id="2514" r:id="rId13"/>
    <p:sldId id="1957" r:id="rId14"/>
    <p:sldId id="1922" r:id="rId15"/>
    <p:sldId id="2319" r:id="rId16"/>
    <p:sldId id="2076138180" r:id="rId17"/>
    <p:sldId id="2527" r:id="rId18"/>
    <p:sldId id="2516" r:id="rId19"/>
    <p:sldId id="2241" r:id="rId20"/>
    <p:sldId id="2076138181" r:id="rId21"/>
    <p:sldId id="2076138160" r:id="rId22"/>
    <p:sldId id="2076138135" r:id="rId23"/>
    <p:sldId id="1778" r:id="rId24"/>
    <p:sldId id="2076138159" r:id="rId25"/>
    <p:sldId id="2076138143" r:id="rId26"/>
    <p:sldId id="2076138161" r:id="rId27"/>
    <p:sldId id="1780" r:id="rId28"/>
    <p:sldId id="2076138163" r:id="rId29"/>
    <p:sldId id="2076138164" r:id="rId30"/>
    <p:sldId id="2076138165" r:id="rId31"/>
    <p:sldId id="2076138166" r:id="rId32"/>
    <p:sldId id="2076138134" r:id="rId33"/>
    <p:sldId id="1779" r:id="rId34"/>
    <p:sldId id="2528" r:id="rId35"/>
    <p:sldId id="2076138167" r:id="rId36"/>
    <p:sldId id="2076138178" r:id="rId37"/>
    <p:sldId id="2076138168" r:id="rId38"/>
    <p:sldId id="2076138169" r:id="rId39"/>
    <p:sldId id="2076138182" r:id="rId40"/>
    <p:sldId id="2076138184" r:id="rId41"/>
    <p:sldId id="2076138150" r:id="rId42"/>
    <p:sldId id="2076138170" r:id="rId43"/>
    <p:sldId id="2076138171" r:id="rId44"/>
    <p:sldId id="2076138173" r:id="rId45"/>
    <p:sldId id="2076138187" r:id="rId46"/>
    <p:sldId id="2076138175" r:id="rId47"/>
    <p:sldId id="2076138176" r:id="rId48"/>
    <p:sldId id="2076138179" r:id="rId49"/>
    <p:sldId id="2076138186" r:id="rId50"/>
    <p:sldId id="189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C4BD7-06E4-4E7B-9D9C-9DFA48996123}" v="26" dt="2021-07-14T20:06:00.5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63" autoAdjust="0"/>
  </p:normalViewPr>
  <p:slideViewPr>
    <p:cSldViewPr snapToGrid="0">
      <p:cViewPr varScale="1">
        <p:scale>
          <a:sx n="64" d="100"/>
          <a:sy n="64" d="100"/>
        </p:scale>
        <p:origin x="72"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5/10/relationships/revisionInfo" Target="revisionInfo.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46C038-19A2-4E80-9A65-171863E2EEAA}" type="datetimeFigureOut">
              <a:rPr lang="en-US" smtClean="0"/>
              <a:t>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937227-B364-444B-87D0-DA618E2B9038}" type="slidenum">
              <a:rPr lang="en-US" smtClean="0"/>
              <a:t>‹#›</a:t>
            </a:fld>
            <a:endParaRPr lang="en-US"/>
          </a:p>
        </p:txBody>
      </p:sp>
    </p:spTree>
    <p:extLst>
      <p:ext uri="{BB962C8B-B14F-4D97-AF65-F5344CB8AC3E}">
        <p14:creationId xmlns:p14="http://schemas.microsoft.com/office/powerpoint/2010/main" val="662330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azure/vpn-gateway/tutorial-site-to-site-portal#LocalNetworkGateway"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docs.microsoft.com/en-us/Azure/vpn-gateway/vpn-gateway-bgp-overview" TargetMode="External"/><Relationship Id="rId4" Type="http://schemas.openxmlformats.org/officeDocument/2006/relationships/hyperlink" Target="https://docs.microsoft.com/en-us/azure/vpn-gateway/bgp-howto"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azure/vpn-gateway/design"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docs.microsoft.com/azure/vpn-gateway/vpn-gateway-highlyavailable" TargetMode="External"/><Relationship Id="rId4" Type="http://schemas.openxmlformats.org/officeDocument/2006/relationships/hyperlink" Target="https://docs.microsoft.com/en-us/azure/vpn-gateway/vpn-gateway-activeactive-rm-powershell#aaupdat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2/Module%2002%20Designing%20and%20Implementing%20Hybrid%20Networking/3-exercise-create-configure-virtual-network-gateway.md"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zure.microsoft.com/en-us/blog/vnet-peering-and-vpn-gateway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azure.microsoft.com/en-us/blog/vnet-peering-and-vpn-gateways/#:~:text=Differences%20between%20VNet%20Peering%20and%20VPN%20Gateways%20,Connect%20vir%20...%20%209%20more%20rows%20"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microsoft.com/en-us/azure/vpn-gateway/point-to-site-about#authentication"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microsoft.com/en-us/azure/virtual-wan/quickstart-route-shared-services-vnet-template"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docs.microsoft.com/en-us/azure/azure-resource-manager/templates/overview" TargetMode="External"/><Relationship Id="rId4" Type="http://schemas.openxmlformats.org/officeDocument/2006/relationships/hyperlink" Target="https://docs.microsoft.com/en-us/azure/private-link/private-endpoint-overview"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github.com/MicrosoftLearning/AZ-700-Designing-and-Implementing-Microsoft-Azure-Networking-Solutions/blob/master/Exercises/Module%2002/Module%2002%20Designing%20and%20Implementing%20Hybrid%20Networking/7-exercise-create-virtual-wan-by-using-azure-portal.md"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docs.microsoft.com/en-us/azure/virtual-wan/about-nva-hub#can-i-deploy-any-nva-from-azure-marketplace-into-the-virtual-wan-hub"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s://aka.ms/vmwareMarketplaceLink" TargetMode="External"/><Relationship Id="rId5" Type="http://schemas.openxmlformats.org/officeDocument/2006/relationships/hyperlink" Target="https://azuremarketplace.microsoft.com/marketplace/apps/cisco.cisco_cloud_vwan_app?tab=Overview" TargetMode="External"/><Relationship Id="rId4" Type="http://schemas.openxmlformats.org/officeDocument/2006/relationships/hyperlink" Target="https://aka.ms/BarracudaMarketPlaceOffer" TargetMode="Externa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endParaRPr lang="en-IN"/>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Module overview</a:t>
            </a:r>
          </a:p>
          <a:p>
            <a:endParaRPr lang="en-US" altLang="zh-CN" dirty="0"/>
          </a:p>
          <a:p>
            <a:r>
              <a:rPr lang="en-US" altLang="zh-CN" dirty="0"/>
              <a:t>Design, Implement, and Manage Hybrid Networking (10–15%) </a:t>
            </a:r>
          </a:p>
          <a:p>
            <a:endParaRPr lang="en-US" altLang="zh-CN" dirty="0"/>
          </a:p>
          <a:p>
            <a:r>
              <a:rPr lang="en-US" altLang="zh-CN" dirty="0"/>
              <a:t>Design, implement, and manage a site-to-site VPN connection</a:t>
            </a:r>
          </a:p>
          <a:p>
            <a:endParaRPr lang="en-US" altLang="zh-CN" dirty="0"/>
          </a:p>
          <a:p>
            <a:r>
              <a:rPr lang="en-US" altLang="zh-CN" dirty="0"/>
              <a:t> design a site-to-site VPN connection for high availability </a:t>
            </a:r>
          </a:p>
          <a:p>
            <a:r>
              <a:rPr lang="en-US" altLang="zh-CN" dirty="0"/>
              <a:t> select an appropriate virtual network (</a:t>
            </a:r>
            <a:r>
              <a:rPr lang="en-US" altLang="zh-CN" dirty="0" err="1"/>
              <a:t>VNet</a:t>
            </a:r>
            <a:r>
              <a:rPr lang="en-US" altLang="zh-CN" dirty="0"/>
              <a:t>) gateway SKU </a:t>
            </a:r>
          </a:p>
          <a:p>
            <a:r>
              <a:rPr lang="en-US" altLang="zh-CN" dirty="0"/>
              <a:t> identify when to use policy-based VPN versus route-based VPN </a:t>
            </a:r>
          </a:p>
          <a:p>
            <a:r>
              <a:rPr lang="en-US" altLang="zh-CN" dirty="0"/>
              <a:t> create and configure a local network gateway </a:t>
            </a:r>
          </a:p>
          <a:p>
            <a:r>
              <a:rPr lang="en-US" altLang="zh-CN" dirty="0"/>
              <a:t> create and configure an IPsec/IKE policy </a:t>
            </a:r>
          </a:p>
          <a:p>
            <a:r>
              <a:rPr lang="en-US" altLang="zh-CN" dirty="0"/>
              <a:t> create and configure a virtual network gateway </a:t>
            </a:r>
          </a:p>
          <a:p>
            <a:r>
              <a:rPr lang="en-US" altLang="zh-CN" dirty="0"/>
              <a:t> diagnose and resolve VPN gateway connectivity issues </a:t>
            </a:r>
          </a:p>
          <a:p>
            <a:endParaRPr lang="en-US" altLang="zh-CN" dirty="0"/>
          </a:p>
          <a:p>
            <a:r>
              <a:rPr lang="en-US" altLang="zh-CN" dirty="0"/>
              <a:t>Design, implement, and manage a point-to-site VPN connection </a:t>
            </a:r>
          </a:p>
          <a:p>
            <a:endParaRPr lang="en-US" altLang="zh-CN" dirty="0"/>
          </a:p>
          <a:p>
            <a:r>
              <a:rPr lang="en-US" altLang="zh-CN" dirty="0"/>
              <a:t> select an appropriate virtual network gateway SKU </a:t>
            </a:r>
          </a:p>
          <a:p>
            <a:r>
              <a:rPr lang="en-US" altLang="zh-CN" dirty="0"/>
              <a:t> plan and configure RADIUS authentication </a:t>
            </a:r>
          </a:p>
          <a:p>
            <a:r>
              <a:rPr lang="en-US" altLang="zh-CN" dirty="0"/>
              <a:t> plan and configure certificate-based authentication </a:t>
            </a:r>
          </a:p>
          <a:p>
            <a:r>
              <a:rPr lang="en-US" altLang="zh-CN" dirty="0"/>
              <a:t> plan and configure OpenVPN authentication </a:t>
            </a:r>
          </a:p>
          <a:p>
            <a:r>
              <a:rPr lang="en-US" altLang="zh-CN" dirty="0"/>
              <a:t> plan and configure Azure Active Directory (Azure AD) authentication </a:t>
            </a:r>
          </a:p>
          <a:p>
            <a:r>
              <a:rPr lang="en-US" altLang="zh-CN" dirty="0"/>
              <a:t> implement a VPN client configuration file </a:t>
            </a:r>
          </a:p>
          <a:p>
            <a:r>
              <a:rPr lang="en-US" altLang="zh-CN" dirty="0"/>
              <a:t> diagnose and resolve client-side and authentication issues</a:t>
            </a:r>
          </a:p>
          <a:p>
            <a:endParaRPr lang="en-US" altLang="zh-CN" dirty="0"/>
          </a:p>
          <a:p>
            <a:r>
              <a:rPr lang="en-US" altLang="zh-CN" dirty="0"/>
              <a:t>Design and implement an Azure Virtual WAN architecture </a:t>
            </a:r>
          </a:p>
          <a:p>
            <a:endParaRPr lang="en-US" altLang="zh-CN" dirty="0"/>
          </a:p>
          <a:p>
            <a:r>
              <a:rPr lang="en-US" altLang="zh-CN" dirty="0"/>
              <a:t> design an Azure Virtual WAN architecture, including selecting SKUs and services </a:t>
            </a:r>
          </a:p>
          <a:p>
            <a:r>
              <a:rPr lang="en-US" altLang="zh-CN" dirty="0"/>
              <a:t> connect a VNet gateway to Azure Virtual WAN </a:t>
            </a:r>
          </a:p>
          <a:p>
            <a:r>
              <a:rPr lang="en-US" altLang="zh-CN" dirty="0"/>
              <a:t> create a hub in Virtual WAN </a:t>
            </a:r>
          </a:p>
          <a:p>
            <a:r>
              <a:rPr lang="en-US" altLang="zh-CN" dirty="0"/>
              <a:t> create a network virtual appliance (NVA) in a virtual hub </a:t>
            </a:r>
          </a:p>
          <a:p>
            <a:r>
              <a:rPr lang="en-US" altLang="zh-CN" dirty="0"/>
              <a:t> configure virtual hub routing </a:t>
            </a:r>
          </a:p>
          <a:p>
            <a:r>
              <a:rPr lang="en-US" altLang="zh-CN" dirty="0"/>
              <a:t> create a connection unit</a:t>
            </a:r>
          </a:p>
          <a:p>
            <a:endParaRPr lang="en-US" altLang="zh-CN" dirty="0"/>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12615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Configure and manage virtual networking (30-35%)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Integrate an on-premises network with an Azure virtual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Create and configure Azure VPN Gateway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 Create and configure VPNs</a:t>
            </a:r>
          </a:p>
          <a:p>
            <a:endParaRPr lang="en-US" altLang="zh-CN"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126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What is VPN Gateway? - https://docs.microsoft.com/Azure/vpn-gateway/vpn-gateway-about-vpngateways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you're planning a VPN gateway, there are three architectures to consider:</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Point to site over the internet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Site to site over the internet</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Site to site over a dedicated network, such as Azure ExpressRoute</a:t>
            </a:r>
          </a:p>
          <a:p>
            <a:pPr marL="342900" marR="0" lvl="0" indent="-342900">
              <a:spcBef>
                <a:spcPts val="0"/>
              </a:spcBef>
              <a:spcAft>
                <a:spcPts val="10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Factors that you need to cover during your planning process include: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Throughput - Mbps or Gbps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Backbone - Internet or private?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Availability of a public (static) IP address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VPN device compatibility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Multiple client connections or a site-to-site link?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VPN gateway type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VPN Gateway SKU</a:t>
            </a:r>
          </a:p>
          <a:p>
            <a:pPr marL="342900" marR="0" lvl="0" indent="-342900">
              <a:spcBef>
                <a:spcPts val="0"/>
              </a:spcBef>
              <a:spcAft>
                <a:spcPts val="10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2/9/2022 6:48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96121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the gateway can be deployed the </a:t>
            </a:r>
            <a:r>
              <a:rPr lang="en-US" err="1"/>
              <a:t>GatewaySubnet</a:t>
            </a:r>
            <a:r>
              <a:rPr lang="en-US"/>
              <a:t> must be created </a:t>
            </a:r>
          </a:p>
        </p:txBody>
      </p:sp>
      <p:sp>
        <p:nvSpPr>
          <p:cNvPr id="4" name="Slide Number Placeholder 3"/>
          <p:cNvSpPr>
            <a:spLocks noGrp="1"/>
          </p:cNvSpPr>
          <p:nvPr>
            <p:ph type="sldNum" sz="quarter" idx="5"/>
          </p:nvPr>
        </p:nvSpPr>
        <p:spPr/>
        <p:txBody>
          <a:bodyPr/>
          <a:lstStyle/>
          <a:p>
            <a:fld id="{C2937227-B364-444B-87D0-DA618E2B9038}" type="slidenum">
              <a:rPr lang="en-US" smtClean="0"/>
              <a:t>6</a:t>
            </a:fld>
            <a:endParaRPr lang="en-US"/>
          </a:p>
        </p:txBody>
      </p:sp>
    </p:spTree>
    <p:extLst>
      <p:ext uri="{BB962C8B-B14F-4D97-AF65-F5344CB8AC3E}">
        <p14:creationId xmlns:p14="http://schemas.microsoft.com/office/powerpoint/2010/main" val="2862712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588"/>
              </a:spcAft>
              <a:buFont typeface="Arial" panose="020B0604020202020204" pitchFamily="34" charset="0"/>
              <a:buNone/>
            </a:pPr>
            <a:r>
              <a:rPr lang="en-US" sz="1200" dirty="0">
                <a:solidFill>
                  <a:schemeClr val="tx2">
                    <a:lumMod val="50000"/>
                  </a:schemeClr>
                </a:solidFill>
                <a:latin typeface="+mj-lt"/>
              </a:rPr>
              <a:t>Route-based VPNs </a:t>
            </a:r>
            <a:r>
              <a:rPr lang="en-US" sz="1200" dirty="0">
                <a:solidFill>
                  <a:schemeClr val="tx1"/>
                </a:solidFill>
              </a:rPr>
              <a:t>use routes in the IP forwarding or routing table to direct packets: </a:t>
            </a:r>
          </a:p>
          <a:p>
            <a:pPr marL="280121" indent="-280121">
              <a:spcAft>
                <a:spcPts val="588"/>
              </a:spcAft>
              <a:buFont typeface="Arial" panose="020B0604020202020204" pitchFamily="34" charset="0"/>
              <a:buChar char="•"/>
            </a:pPr>
            <a:r>
              <a:rPr lang="en-US" sz="1200" dirty="0">
                <a:solidFill>
                  <a:schemeClr val="tx1"/>
                </a:solidFill>
              </a:rPr>
              <a:t>Support for IKEv2</a:t>
            </a:r>
          </a:p>
          <a:p>
            <a:pPr marL="280121" indent="-280121">
              <a:spcBef>
                <a:spcPts val="196"/>
              </a:spcBef>
              <a:spcAft>
                <a:spcPts val="588"/>
              </a:spcAft>
              <a:buFont typeface="Arial" panose="020B0604020202020204" pitchFamily="34" charset="0"/>
              <a:buChar char="•"/>
            </a:pPr>
            <a:r>
              <a:rPr lang="en-US" sz="1200" dirty="0">
                <a:solidFill>
                  <a:schemeClr val="tx1"/>
                </a:solidFill>
              </a:rPr>
              <a:t>Can use dynamic routing protocols</a:t>
            </a:r>
          </a:p>
          <a:p>
            <a:endParaRPr lang="en-US" sz="1200" dirty="0">
              <a:solidFill>
                <a:schemeClr val="tx1"/>
              </a:solidFill>
            </a:endParaRPr>
          </a:p>
          <a:p>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50000"/>
                  </a:schemeClr>
                </a:solidFill>
                <a:latin typeface="+mj-lt"/>
              </a:rPr>
              <a:t>Policy-based VPNs </a:t>
            </a:r>
            <a:r>
              <a:rPr lang="en-US" sz="1200" dirty="0">
                <a:solidFill>
                  <a:schemeClr val="tx1"/>
                </a:solidFill>
              </a:rPr>
              <a:t>encrypt and direct packets through IPsec tunnels based on the IPsec policies:</a:t>
            </a:r>
          </a:p>
          <a:p>
            <a:pPr marL="280121" indent="-280121">
              <a:spcAft>
                <a:spcPts val="588"/>
              </a:spcAft>
              <a:buFont typeface="Arial" panose="020B0604020202020204" pitchFamily="34" charset="0"/>
              <a:buChar char="•"/>
            </a:pPr>
            <a:r>
              <a:rPr lang="en-US" sz="1200" dirty="0">
                <a:solidFill>
                  <a:schemeClr val="tx1"/>
                </a:solidFill>
              </a:rPr>
              <a:t>Support for IKEv1 only</a:t>
            </a:r>
          </a:p>
          <a:p>
            <a:pPr marL="280121" indent="-280121">
              <a:spcBef>
                <a:spcPts val="196"/>
              </a:spcBef>
              <a:spcAft>
                <a:spcPts val="588"/>
              </a:spcAft>
              <a:buFont typeface="Arial" panose="020B0604020202020204" pitchFamily="34" charset="0"/>
              <a:buChar char="•"/>
            </a:pPr>
            <a:r>
              <a:rPr lang="en-US" sz="1200" dirty="0">
                <a:solidFill>
                  <a:schemeClr val="tx1"/>
                </a:solidFill>
              </a:rPr>
              <a:t>Legacy on-premises VPN devices</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7</a:t>
            </a:fld>
            <a:endParaRPr lang="en-US"/>
          </a:p>
        </p:txBody>
      </p:sp>
    </p:spTree>
    <p:extLst>
      <p:ext uri="{BB962C8B-B14F-4D97-AF65-F5344CB8AC3E}">
        <p14:creationId xmlns:p14="http://schemas.microsoft.com/office/powerpoint/2010/main" val="1246585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VPN Gateway configuration settings - https://docs.microsoft.com/Azure/vpn-gateway/vpn-gateway-about-vpn-gateway-settings</a:t>
            </a:r>
          </a:p>
          <a:p>
            <a:endParaRPr lang="en-US" dirty="0"/>
          </a:p>
          <a:p>
            <a:r>
              <a:rPr lang="en-US" dirty="0"/>
              <a:t>This table is just a sample of the SKUs that are available. There are many more. </a:t>
            </a:r>
          </a:p>
        </p:txBody>
      </p:sp>
      <p:sp>
        <p:nvSpPr>
          <p:cNvPr id="4" name="Slide Number Placeholder 3"/>
          <p:cNvSpPr>
            <a:spLocks noGrp="1"/>
          </p:cNvSpPr>
          <p:nvPr>
            <p:ph type="sldNum" sz="quarter" idx="5"/>
          </p:nvPr>
        </p:nvSpPr>
        <p:spPr/>
        <p:txBody>
          <a:bodyPr/>
          <a:lstStyle/>
          <a:p>
            <a:fld id="{8507DC7E-BC41-4478-BA30-CBCC3A644F0A}" type="slidenum">
              <a:rPr lang="en-US" smtClean="0"/>
              <a:t>8</a:t>
            </a:fld>
            <a:endParaRPr lang="en-US"/>
          </a:p>
        </p:txBody>
      </p:sp>
    </p:spTree>
    <p:extLst>
      <p:ext uri="{BB962C8B-B14F-4D97-AF65-F5344CB8AC3E}">
        <p14:creationId xmlns:p14="http://schemas.microsoft.com/office/powerpoint/2010/main" val="311371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effectLst/>
                <a:latin typeface="Segoe UI VSS (Regular)"/>
                <a:hlinkClick r:id="rId3"/>
              </a:rPr>
              <a:t>Tutorial - Connect an on-premises network and a virtual network: S2S VPN: Azure portal - Azure VPN Gateway | Microsoft Docs</a:t>
            </a:r>
            <a:endParaRPr lang="en-US" b="0" i="0" u="none" strike="noStrike" dirty="0">
              <a:effectLst/>
              <a:latin typeface="Segoe UI VSS (Regular)"/>
            </a:endParaRPr>
          </a:p>
          <a:p>
            <a:pPr algn="l"/>
            <a:r>
              <a:rPr lang="en-US" b="0" i="0" dirty="0">
                <a:effectLst/>
                <a:latin typeface="Segoe UI VSS (Regular)"/>
              </a:rPr>
              <a:t>https://docs.microsoft.com/Azure/vpn-gateway/tutorial-site-to-site-portal#LocalNetworkGateway</a:t>
            </a:r>
            <a:br>
              <a:rPr lang="en-US" b="0" i="0" dirty="0">
                <a:effectLst/>
                <a:latin typeface="Segoe UI VSS (Regular)"/>
              </a:rPr>
            </a:br>
            <a:endParaRPr lang="en-US" b="0" i="0" dirty="0">
              <a:effectLst/>
              <a:latin typeface="Segoe UI VSS (Regular)"/>
            </a:endParaRPr>
          </a:p>
          <a:p>
            <a:pPr algn="l"/>
            <a:r>
              <a:rPr lang="en-US" b="0" i="0" u="none" strike="noStrike" dirty="0">
                <a:effectLst/>
                <a:latin typeface="Segoe UI VSS (Regular)"/>
                <a:hlinkClick r:id="rId4"/>
              </a:rPr>
              <a:t>Configure BGP for VPN Gateway: Portal - Azure VPN Gateway | Microsoft Docs</a:t>
            </a:r>
            <a:endParaRPr lang="en-US" b="0" i="0" u="none" strike="noStrike" dirty="0">
              <a:effectLst/>
              <a:latin typeface="Segoe UI VSS (Regular)"/>
            </a:endParaRPr>
          </a:p>
          <a:p>
            <a:pPr algn="l"/>
            <a:r>
              <a:rPr lang="en-US" b="0" i="0" dirty="0">
                <a:effectLst/>
                <a:latin typeface="Segoe UI VSS (Regular)"/>
              </a:rPr>
              <a:t>https://docs.microsoft.com/Azure/vpn-gateway/bgp-howto</a:t>
            </a:r>
            <a:br>
              <a:rPr lang="en-US" b="0" i="0" dirty="0">
                <a:effectLst/>
                <a:latin typeface="Segoe UI VSS (Regular)"/>
              </a:rPr>
            </a:br>
            <a:endParaRPr lang="en-US" b="0" i="0" dirty="0">
              <a:effectLst/>
              <a:latin typeface="Segoe UI VSS (Regular)"/>
            </a:endParaRPr>
          </a:p>
          <a:p>
            <a:pPr algn="l"/>
            <a:r>
              <a:rPr lang="en-US" b="0" i="0" u="none" strike="noStrike" dirty="0">
                <a:effectLst/>
                <a:latin typeface="Segoe UI VSS (Regular)"/>
                <a:hlinkClick r:id="rId5"/>
              </a:rPr>
              <a:t>About BGP with VPN Gateway - Azure VPN Gateway | Microsoft Docs</a:t>
            </a:r>
            <a:endParaRPr lang="en-US" b="0" i="0" u="none" strike="noStrike" dirty="0">
              <a:effectLst/>
              <a:latin typeface="Segoe UI VSS (Regular)"/>
            </a:endParaRPr>
          </a:p>
          <a:p>
            <a:pPr algn="l"/>
            <a:r>
              <a:rPr lang="en-US" b="0" i="0" dirty="0">
                <a:effectLst/>
                <a:latin typeface="Segoe UI VSS (Regular)"/>
              </a:rPr>
              <a:t>https://docs.microsoft.com/Azure/vpn-gateway/vpn-gateway-bgp-overview</a:t>
            </a:r>
          </a:p>
          <a:p>
            <a:pPr marL="0" indent="0">
              <a:buFontTx/>
              <a:buNone/>
            </a:pPr>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2/9/2022 6:48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2619326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VPN devices and IPsec/IKE parameters for Site-to-Site VPN Gateway connections - https://docs.microsoft.com/en-us/Azure/vpn-gateway/vpn-gateway-about-vpn-devices</a:t>
            </a:r>
          </a:p>
          <a:p>
            <a:endParaRPr lang="en-US"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2/9/2022 6:48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3791128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2/9/2022 6:48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858208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Network watcher</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VPN Gateway connections can fail for a variety of reasons. Although a network engineer will be able to troubleshoot many connectivity issues from experience, the following Microsoft documentation provides help and guidance for resolving many common problems.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Validate VPN throughput to a VNet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VPN gateway connection enables you to establish secure, cross-premises connectivity between your Virtual Network within Azure and your on-premises IT infrastructure. This article shows how to validate network throughput from the on-premises resources to an Azure virtual machine (VM). It also provides troubleshooting guidance. https://docs.microsoft.com/azure/vpn-gateway/vpn-gateway-validate-throughput-to-vnet</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Point-to-Site connections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article lists common point-to-site connection problems that you might experience. It also discusses possible causes and solutions for these problems. See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https://docs.microsoft.com/azure/vpn-gateway/vpn-gateway-troubleshoot-vpn-point-to-site-connection-problems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Site-to-Site connections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 you configure a site-to-site VPN connection between an on-premises network and an Azure virtual network, the VPN connection suddenly stops working and cannot be reconnected. This article provides troubleshooting steps to help you resolve this problem. See https://docs.microsoft.com/azure/vpn-gateway/vpn-gateway-troubleshoot-site-to-site-cannot-connect</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VPN and Firewall device settings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article provides several suggested solutions for third-party VPN or firewall devices that are used with VPN Gateway. Technical support for third-party VPN or firewall devices is provided by the device vendor. See https://docs.microsoft.com/azure/vpn-gateway/vpn-gateway-third-party-settings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Troubleshoot Azure VPN Gateway using diagnostic logs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Using diagnostic logs, you can troubleshoot multiple VPN gateway related events including configuration activity, VPN Tunnel connectivity, IPsec logging, BGP route exchanges, Point to Site advanced logging.</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several diagnostic logs you can use to help troubleshoot a problem with your VPN Gateway.</a:t>
            </a:r>
          </a:p>
          <a:p>
            <a:pPr marL="342900" marR="0" lvl="0" indent="-342900">
              <a:spcBef>
                <a:spcPts val="0"/>
              </a:spcBef>
              <a:spcAft>
                <a:spcPts val="0"/>
              </a:spcAft>
              <a:buFont typeface="Symbol" panose="05050102010706020507" pitchFamily="18" charset="2"/>
              <a:buChar char=""/>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GatewayDiagnosticLog</a:t>
            </a: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 Contains diagnostic logs for gateway configuration events, primary changes, and maintenance events.</a:t>
            </a:r>
          </a:p>
          <a:p>
            <a:pPr marL="342900" marR="0" lvl="0" indent="-342900">
              <a:spcBef>
                <a:spcPts val="0"/>
              </a:spcBef>
              <a:spcAft>
                <a:spcPts val="0"/>
              </a:spcAft>
              <a:buFont typeface="Symbol" panose="05050102010706020507" pitchFamily="18" charset="2"/>
              <a:buChar char=""/>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TunnelDiagnosticLog</a:t>
            </a:r>
            <a:r>
              <a:rPr lang="en-US" sz="1800" dirty="0">
                <a:effectLst/>
                <a:latin typeface="Calibri" panose="020F0502020204030204" pitchFamily="34" charset="0"/>
                <a:ea typeface="Calibri" panose="020F0502020204030204" pitchFamily="34" charset="0"/>
                <a:cs typeface="Times New Roman" panose="02020603050405020304" pitchFamily="18" charset="0"/>
              </a:rPr>
              <a:t> - Contains tunnel state change events. Tunnel connect/disconnect events have a summarized reason for the state change if applicable.</a:t>
            </a:r>
          </a:p>
          <a:p>
            <a:pPr marL="342900" marR="0" lvl="0" indent="-342900">
              <a:spcBef>
                <a:spcPts val="0"/>
              </a:spcBef>
              <a:spcAft>
                <a:spcPts val="0"/>
              </a:spcAft>
              <a:buFont typeface="Symbol" panose="05050102010706020507" pitchFamily="18" charset="2"/>
              <a:buChar char=""/>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RouteDiagnosticLog</a:t>
            </a:r>
            <a:r>
              <a:rPr lang="en-US" sz="1800" dirty="0">
                <a:effectLst/>
                <a:latin typeface="Calibri" panose="020F0502020204030204" pitchFamily="34" charset="0"/>
                <a:ea typeface="Calibri" panose="020F0502020204030204" pitchFamily="34" charset="0"/>
                <a:cs typeface="Times New Roman" panose="02020603050405020304" pitchFamily="18" charset="0"/>
              </a:rPr>
              <a:t> - Logs changes to static routes and BGP events that occur on the gateway.</a:t>
            </a:r>
          </a:p>
          <a:p>
            <a:pPr marL="342900" marR="0" lvl="0" indent="-342900">
              <a:spcBef>
                <a:spcPts val="0"/>
              </a:spcBef>
              <a:spcAft>
                <a:spcPts val="0"/>
              </a:spcAft>
              <a:buFont typeface="Symbol" panose="05050102010706020507" pitchFamily="18" charset="2"/>
              <a:buChar char=""/>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IKEDiagnosticLog</a:t>
            </a:r>
            <a:r>
              <a:rPr lang="en-US" sz="1800" dirty="0">
                <a:effectLst/>
                <a:latin typeface="Calibri" panose="020F0502020204030204" pitchFamily="34" charset="0"/>
                <a:ea typeface="Calibri" panose="020F0502020204030204" pitchFamily="34" charset="0"/>
                <a:cs typeface="Times New Roman" panose="02020603050405020304" pitchFamily="18" charset="0"/>
              </a:rPr>
              <a:t> - Logs IKE control messages and events on the gateway.</a:t>
            </a:r>
          </a:p>
          <a:p>
            <a:pPr marL="342900" marR="0" lvl="0" indent="-342900">
              <a:spcBef>
                <a:spcPts val="0"/>
              </a:spcBef>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P2SDiagnosticLog</a:t>
            </a:r>
            <a:r>
              <a:rPr lang="en-US" sz="1800" dirty="0">
                <a:effectLst/>
                <a:latin typeface="Calibri" panose="020F0502020204030204" pitchFamily="34" charset="0"/>
                <a:ea typeface="Calibri" panose="020F0502020204030204" pitchFamily="34" charset="0"/>
                <a:cs typeface="Times New Roman" panose="02020603050405020304" pitchFamily="18" charset="0"/>
              </a:rPr>
              <a:t> - Logs point-to-site control messages and events on the gateway.</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Use Azure Monitor to analyze the data collected in the diagnostic logs.  </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12</a:t>
            </a:fld>
            <a:endParaRPr lang="en-US"/>
          </a:p>
        </p:txBody>
      </p:sp>
    </p:spTree>
    <p:extLst>
      <p:ext uri="{BB962C8B-B14F-4D97-AF65-F5344CB8AC3E}">
        <p14:creationId xmlns:p14="http://schemas.microsoft.com/office/powerpoint/2010/main" val="1128306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2800" dirty="0">
                <a:hlinkClick r:id="rId3"/>
              </a:rPr>
              <a:t>Azure VPN Gateway topologies and design | Microsoft Docs</a:t>
            </a:r>
            <a:r>
              <a:rPr lang="en-US" sz="2800" dirty="0"/>
              <a:t> https://docs.microsoft.com/azure/vpn-gateway/design</a:t>
            </a:r>
          </a:p>
          <a:p>
            <a:pPr marL="0" marR="0">
              <a:spcBef>
                <a:spcPts val="0"/>
              </a:spcBef>
              <a:spcAft>
                <a:spcPts val="1000"/>
              </a:spcAft>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2800" dirty="0">
                <a:hlinkClick r:id="rId4"/>
              </a:rPr>
              <a:t>Configure active-active S2S VPN connections - Azure VPN Gateway | Microsoft Docs</a:t>
            </a:r>
            <a:r>
              <a:rPr lang="en-US" sz="2800" dirty="0"/>
              <a:t> https://docs.microsoft.com/azure/vpn-gateway/vpn-gateway-activeactive-rm-powershell</a:t>
            </a:r>
          </a:p>
          <a:p>
            <a:pPr marL="0" marR="0">
              <a:spcBef>
                <a:spcPts val="0"/>
              </a:spcBef>
              <a:spcAft>
                <a:spcPts val="1000"/>
              </a:spcAft>
            </a:pPr>
            <a:endParaRPr lang="en-US" sz="2800" dirty="0">
              <a:effectLst/>
              <a:latin typeface="Calibri" panose="020F0502020204030204" pitchFamily="34" charset="0"/>
              <a:cs typeface="Times New Roman" panose="02020603050405020304" pitchFamily="18" charset="0"/>
            </a:endParaRPr>
          </a:p>
          <a:p>
            <a:pPr marL="0" marR="0">
              <a:spcBef>
                <a:spcPts val="0"/>
              </a:spcBef>
              <a:spcAft>
                <a:spcPts val="1000"/>
              </a:spcAft>
            </a:pPr>
            <a:r>
              <a:rPr lang="en-US" sz="4000" b="0" i="0" u="sng" dirty="0">
                <a:effectLst/>
                <a:latin typeface="Segoe UI VSS (Regular)"/>
                <a:hlinkClick r:id="rId5"/>
              </a:rPr>
              <a:t>https://docs.microsoft.com/azure/vpn-gateway/vpn-gateway-highlyavailable</a:t>
            </a:r>
            <a:endParaRPr lang="en-US" sz="2800" dirty="0">
              <a:effectLst/>
              <a:latin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provide better availability for your VPN connections, there are a few options available: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VPN Gateway redundancy (Active-standby)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Multiple on-premises VPN devices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Active-active Azure VPN gateway</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Combination of both</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485912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Always consider having students walk-through the demonstrations themselves. Also, consider the overlap with the formal labs and your best use of time.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In this demonstration, we will explore virtual network gateways.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Note:</a:t>
            </a:r>
            <a:r>
              <a:rPr lang="en-US" sz="1800" dirty="0">
                <a:effectLst/>
                <a:latin typeface="Calibri" panose="020F0502020204030204" pitchFamily="34" charset="0"/>
                <a:ea typeface="Calibri" panose="020F0502020204030204" pitchFamily="34" charset="0"/>
                <a:cs typeface="Calibri" panose="020F0502020204030204" pitchFamily="34" charset="0"/>
              </a:rPr>
              <a:t> This demonstration works best with two virtual networks with subnets.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Explore the Gateway subnet blade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For one of your virtual networks, select the </a:t>
            </a:r>
            <a:r>
              <a:rPr lang="en-US" sz="1800" b="1" dirty="0">
                <a:effectLst/>
                <a:latin typeface="Calibri" panose="020F0502020204030204" pitchFamily="34" charset="0"/>
                <a:ea typeface="Calibri" panose="020F0502020204030204" pitchFamily="34" charset="0"/>
                <a:cs typeface="Calibri" panose="020F0502020204030204" pitchFamily="34" charset="0"/>
              </a:rPr>
              <a:t>Subnets</a:t>
            </a:r>
            <a:r>
              <a:rPr lang="en-US" sz="1800" dirty="0">
                <a:effectLst/>
                <a:latin typeface="Calibri" panose="020F0502020204030204" pitchFamily="34" charset="0"/>
                <a:ea typeface="Calibri" panose="020F0502020204030204" pitchFamily="34" charset="0"/>
                <a:cs typeface="Calibri" panose="020F0502020204030204" pitchFamily="34" charset="0"/>
              </a:rPr>
              <a:t> blade.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Select </a:t>
            </a:r>
            <a:r>
              <a:rPr lang="en-US" sz="1800" b="1" dirty="0">
                <a:effectLst/>
                <a:latin typeface="Calibri" panose="020F0502020204030204" pitchFamily="34" charset="0"/>
                <a:ea typeface="Calibri" panose="020F0502020204030204" pitchFamily="34" charset="0"/>
                <a:cs typeface="Calibri" panose="020F0502020204030204" pitchFamily="34" charset="0"/>
              </a:rPr>
              <a:t>+ Gateway subnet</a:t>
            </a:r>
            <a:r>
              <a:rPr lang="en-US" sz="1800" dirty="0">
                <a:effectLst/>
                <a:latin typeface="Calibri" panose="020F0502020204030204" pitchFamily="34" charset="0"/>
                <a:ea typeface="Calibri" panose="020F0502020204030204" pitchFamily="34" charset="0"/>
                <a:cs typeface="Calibri" panose="020F0502020204030204" pitchFamily="34" charset="0"/>
              </a:rPr>
              <a:t>. Notice the name of the subnet cannot be changed. Notice the </a:t>
            </a:r>
            <a:r>
              <a:rPr lang="en-US" sz="1800" b="1" dirty="0">
                <a:effectLst/>
                <a:latin typeface="Calibri" panose="020F0502020204030204" pitchFamily="34" charset="0"/>
                <a:ea typeface="Calibri" panose="020F0502020204030204" pitchFamily="34" charset="0"/>
                <a:cs typeface="Calibri" panose="020F0502020204030204" pitchFamily="34" charset="0"/>
              </a:rPr>
              <a:t>address range</a:t>
            </a:r>
            <a:r>
              <a:rPr lang="en-US" sz="1800" dirty="0">
                <a:effectLst/>
                <a:latin typeface="Calibri" panose="020F0502020204030204" pitchFamily="34" charset="0"/>
                <a:ea typeface="Calibri" panose="020F0502020204030204" pitchFamily="34" charset="0"/>
                <a:cs typeface="Calibri" panose="020F0502020204030204" pitchFamily="34" charset="0"/>
              </a:rPr>
              <a:t> of the gateway subnet. The address must be contained by the address space of the virtual network.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Remember each virtual network needs a gateway subnet.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Close the Add gateway subnet page. You do not need to save your changes.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Explore the Connected Devices blade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For the virtual network, select the </a:t>
            </a:r>
            <a:r>
              <a:rPr lang="en-US" sz="1800" b="1" dirty="0">
                <a:effectLst/>
                <a:latin typeface="Calibri" panose="020F0502020204030204" pitchFamily="34" charset="0"/>
                <a:ea typeface="Calibri" panose="020F0502020204030204" pitchFamily="34" charset="0"/>
                <a:cs typeface="Calibri" panose="020F0502020204030204" pitchFamily="34" charset="0"/>
              </a:rPr>
              <a:t>Connected Devices</a:t>
            </a:r>
            <a:r>
              <a:rPr lang="en-US" sz="1800" dirty="0">
                <a:effectLst/>
                <a:latin typeface="Calibri" panose="020F0502020204030204" pitchFamily="34" charset="0"/>
                <a:ea typeface="Calibri" panose="020F0502020204030204" pitchFamily="34" charset="0"/>
                <a:cs typeface="Calibri" panose="020F0502020204030204" pitchFamily="34" charset="0"/>
              </a:rPr>
              <a:t> blade.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After a gateway subnet is deployed it will appear on the list of connected devices.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Explore adding a virtual network gateway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Search for </a:t>
            </a:r>
            <a:r>
              <a:rPr lang="en-US" sz="1800" b="1" dirty="0">
                <a:effectLst/>
                <a:latin typeface="Calibri" panose="020F0502020204030204" pitchFamily="34" charset="0"/>
                <a:ea typeface="Calibri" panose="020F0502020204030204" pitchFamily="34" charset="0"/>
                <a:cs typeface="Calibri" panose="020F0502020204030204" pitchFamily="34" charset="0"/>
              </a:rPr>
              <a:t>Virtual network gateways</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Click </a:t>
            </a:r>
            <a:r>
              <a:rPr lang="en-US" sz="1800" b="1" dirty="0">
                <a:effectLst/>
                <a:latin typeface="Calibri" panose="020F0502020204030204" pitchFamily="34" charset="0"/>
                <a:ea typeface="Calibri" panose="020F0502020204030204" pitchFamily="34" charset="0"/>
                <a:cs typeface="Calibri" panose="020F0502020204030204" pitchFamily="34" charset="0"/>
              </a:rPr>
              <a:t>+ Add</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Review each setting for the virtual network gateway.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Use the Information icons to learn more about the settings.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Notice the </a:t>
            </a:r>
            <a:r>
              <a:rPr lang="en-US" sz="1800" b="1" dirty="0">
                <a:effectLst/>
                <a:latin typeface="Calibri" panose="020F0502020204030204" pitchFamily="34" charset="0"/>
                <a:ea typeface="Calibri" panose="020F0502020204030204" pitchFamily="34" charset="0"/>
                <a:cs typeface="Calibri" panose="020F0502020204030204" pitchFamily="34" charset="0"/>
              </a:rPr>
              <a:t>Gateway type</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b="1" dirty="0">
                <a:effectLst/>
                <a:latin typeface="Calibri" panose="020F0502020204030204" pitchFamily="34" charset="0"/>
                <a:ea typeface="Calibri" panose="020F0502020204030204" pitchFamily="34" charset="0"/>
                <a:cs typeface="Calibri" panose="020F0502020204030204" pitchFamily="34" charset="0"/>
              </a:rPr>
              <a:t>VPN type</a:t>
            </a:r>
            <a:r>
              <a:rPr lang="en-US" sz="1800" dirty="0">
                <a:effectLst/>
                <a:latin typeface="Calibri" panose="020F0502020204030204" pitchFamily="34" charset="0"/>
                <a:ea typeface="Calibri" panose="020F0502020204030204" pitchFamily="34" charset="0"/>
                <a:cs typeface="Calibri" panose="020F0502020204030204" pitchFamily="34" charset="0"/>
              </a:rPr>
              <a:t>, and </a:t>
            </a:r>
            <a:r>
              <a:rPr lang="en-US" sz="1800" b="1" dirty="0">
                <a:effectLst/>
                <a:latin typeface="Calibri" panose="020F0502020204030204" pitchFamily="34" charset="0"/>
                <a:ea typeface="Calibri" panose="020F0502020204030204" pitchFamily="34" charset="0"/>
                <a:cs typeface="Calibri" panose="020F0502020204030204" pitchFamily="34" charset="0"/>
              </a:rPr>
              <a:t>SKU</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Notice the need for a </a:t>
            </a:r>
            <a:r>
              <a:rPr lang="en-US" sz="1800" b="1" dirty="0">
                <a:effectLst/>
                <a:latin typeface="Calibri" panose="020F0502020204030204" pitchFamily="34" charset="0"/>
                <a:ea typeface="Calibri" panose="020F0502020204030204" pitchFamily="34" charset="0"/>
                <a:cs typeface="Calibri" panose="020F0502020204030204" pitchFamily="34" charset="0"/>
              </a:rPr>
              <a:t>Public IP address</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Remember each virtual network will need a virtual network gateway.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Close the Add virtual network gateway. You do not need to save your changes.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Explore adding a connection between the virtual networks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Search for </a:t>
            </a:r>
            <a:r>
              <a:rPr lang="en-US" sz="1800" b="1" dirty="0">
                <a:effectLst/>
                <a:latin typeface="Calibri" panose="020F0502020204030204" pitchFamily="34" charset="0"/>
                <a:ea typeface="Calibri" panose="020F0502020204030204" pitchFamily="34" charset="0"/>
                <a:cs typeface="Calibri" panose="020F0502020204030204" pitchFamily="34" charset="0"/>
              </a:rPr>
              <a:t>Connections</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Click </a:t>
            </a:r>
            <a:r>
              <a:rPr lang="en-US" sz="1800" b="1" dirty="0">
                <a:effectLst/>
                <a:latin typeface="Calibri" panose="020F0502020204030204" pitchFamily="34" charset="0"/>
                <a:ea typeface="Calibri" panose="020F0502020204030204" pitchFamily="34" charset="0"/>
                <a:cs typeface="Calibri" panose="020F0502020204030204" pitchFamily="34" charset="0"/>
              </a:rPr>
              <a:t>+ Add</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Notice the </a:t>
            </a:r>
            <a:r>
              <a:rPr lang="en-US" sz="1800" b="1" dirty="0">
                <a:effectLst/>
                <a:latin typeface="Calibri" panose="020F0502020204030204" pitchFamily="34" charset="0"/>
                <a:ea typeface="Calibri" panose="020F0502020204030204" pitchFamily="34" charset="0"/>
                <a:cs typeface="Calibri" panose="020F0502020204030204" pitchFamily="34" charset="0"/>
              </a:rPr>
              <a:t>Connection type</a:t>
            </a:r>
            <a:r>
              <a:rPr lang="en-US" sz="1800" dirty="0">
                <a:effectLst/>
                <a:latin typeface="Calibri" panose="020F0502020204030204" pitchFamily="34" charset="0"/>
                <a:ea typeface="Calibri" panose="020F0502020204030204" pitchFamily="34" charset="0"/>
                <a:cs typeface="Calibri" panose="020F0502020204030204" pitchFamily="34" charset="0"/>
              </a:rPr>
              <a:t> can be VNet-to-VNet, Site-to-Site (IPsec), or ExpressRoute.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Provide enough information, so you can click the </a:t>
            </a:r>
            <a:r>
              <a:rPr lang="en-US" sz="1800" b="1" dirty="0">
                <a:effectLst/>
                <a:latin typeface="Calibri" panose="020F0502020204030204" pitchFamily="34" charset="0"/>
                <a:ea typeface="Calibri" panose="020F0502020204030204" pitchFamily="34" charset="0"/>
                <a:cs typeface="Calibri" panose="020F0502020204030204" pitchFamily="34" charset="0"/>
              </a:rPr>
              <a:t>Ok</a:t>
            </a:r>
            <a:r>
              <a:rPr lang="en-US" sz="1800" dirty="0">
                <a:effectLst/>
                <a:latin typeface="Calibri" panose="020F0502020204030204" pitchFamily="34" charset="0"/>
                <a:ea typeface="Calibri" panose="020F0502020204030204" pitchFamily="34" charset="0"/>
                <a:cs typeface="Calibri" panose="020F0502020204030204" pitchFamily="34" charset="0"/>
              </a:rPr>
              <a:t> button.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On the </a:t>
            </a:r>
            <a:r>
              <a:rPr lang="en-US" sz="1800" b="1" dirty="0">
                <a:effectLst/>
                <a:latin typeface="Calibri" panose="020F0502020204030204" pitchFamily="34" charset="0"/>
                <a:ea typeface="Calibri" panose="020F0502020204030204" pitchFamily="34" charset="0"/>
                <a:cs typeface="Calibri" panose="020F0502020204030204" pitchFamily="34" charset="0"/>
              </a:rPr>
              <a:t>Settings</a:t>
            </a:r>
            <a:r>
              <a:rPr lang="en-US" sz="1800" dirty="0">
                <a:effectLst/>
                <a:latin typeface="Calibri" panose="020F0502020204030204" pitchFamily="34" charset="0"/>
                <a:ea typeface="Calibri" panose="020F0502020204030204" pitchFamily="34" charset="0"/>
                <a:cs typeface="Calibri" panose="020F0502020204030204" pitchFamily="34" charset="0"/>
              </a:rPr>
              <a:t> page, notice that you will need to select the two different virtual networks.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Read the Help information on the </a:t>
            </a:r>
            <a:r>
              <a:rPr lang="en-US" sz="1800" b="1" dirty="0">
                <a:effectLst/>
                <a:latin typeface="Calibri" panose="020F0502020204030204" pitchFamily="34" charset="0"/>
                <a:ea typeface="Calibri" panose="020F0502020204030204" pitchFamily="34" charset="0"/>
                <a:cs typeface="Calibri" panose="020F0502020204030204" pitchFamily="34" charset="0"/>
              </a:rPr>
              <a:t>Establish bidirectional connectivity</a:t>
            </a:r>
            <a:r>
              <a:rPr lang="en-US" sz="1800" dirty="0">
                <a:effectLst/>
                <a:latin typeface="Calibri" panose="020F0502020204030204" pitchFamily="34" charset="0"/>
                <a:ea typeface="Calibri" panose="020F0502020204030204" pitchFamily="34" charset="0"/>
                <a:cs typeface="Calibri" panose="020F0502020204030204" pitchFamily="34" charset="0"/>
              </a:rPr>
              <a:t> checkbox.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Notice the </a:t>
            </a:r>
            <a:r>
              <a:rPr lang="en-US" sz="1800" b="1" dirty="0">
                <a:effectLst/>
                <a:latin typeface="Calibri" panose="020F0502020204030204" pitchFamily="34" charset="0"/>
                <a:ea typeface="Calibri" panose="020F0502020204030204" pitchFamily="34" charset="0"/>
                <a:cs typeface="Calibri" panose="020F0502020204030204" pitchFamily="34" charset="0"/>
              </a:rPr>
              <a:t>Shared key (PSK)</a:t>
            </a:r>
            <a:r>
              <a:rPr lang="en-US" sz="1800" dirty="0">
                <a:effectLst/>
                <a:latin typeface="Calibri" panose="020F0502020204030204" pitchFamily="34" charset="0"/>
                <a:ea typeface="Calibri" panose="020F0502020204030204" pitchFamily="34" charset="0"/>
                <a:cs typeface="Calibri" panose="020F0502020204030204" pitchFamily="34" charset="0"/>
              </a:rPr>
              <a:t> information.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dirty="0">
                <a:effectLst/>
                <a:latin typeface="Calibri" panose="020F0502020204030204" pitchFamily="34" charset="0"/>
                <a:ea typeface="Calibri" panose="020F0502020204030204" pitchFamily="34" charset="0"/>
                <a:cs typeface="Calibri" panose="020F0502020204030204" pitchFamily="34" charset="0"/>
              </a:rPr>
              <a:t>Close the Add connection page. </a:t>
            </a:r>
            <a:r>
              <a:rPr lang="en-US" sz="1800">
                <a:effectLst/>
                <a:latin typeface="Calibri" panose="020F0502020204030204" pitchFamily="34" charset="0"/>
                <a:ea typeface="Calibri" panose="020F0502020204030204" pitchFamily="34" charset="0"/>
                <a:cs typeface="Calibri" panose="020F0502020204030204" pitchFamily="34" charset="0"/>
              </a:rPr>
              <a:t>You do not need to save your changes.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14</a:t>
            </a:fld>
            <a:endParaRPr lang="en-US" dirty="0"/>
          </a:p>
        </p:txBody>
      </p:sp>
    </p:spTree>
    <p:extLst>
      <p:ext uri="{BB962C8B-B14F-4D97-AF65-F5344CB8AC3E}">
        <p14:creationId xmlns:p14="http://schemas.microsoft.com/office/powerpoint/2010/main" val="4046990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15</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AZ-700-Designing-and-Implementing-Microsoft-Azure-Networking-Solutions/3-exercise-create-configure-virtual-network-gateway.md at master · </a:t>
            </a:r>
            <a:r>
              <a:rPr lang="en-US" dirty="0" err="1">
                <a:hlinkClick r:id="rId3"/>
              </a:rPr>
              <a:t>MicrosoftLearning</a:t>
            </a:r>
            <a:r>
              <a:rPr lang="en-US" dirty="0">
                <a:hlinkClick r:id="rId3"/>
              </a:rPr>
              <a:t>/AZ-700-Designing-and-Implementing-Microsoft-Azure-Networking-Solutions (github.com)</a:t>
            </a:r>
            <a:endParaRPr lang="en-US" dirty="0"/>
          </a:p>
          <a:p>
            <a:endParaRPr lang="en-US" dirty="0"/>
          </a:p>
          <a:p>
            <a:r>
              <a:rPr lang="en-US" dirty="0"/>
              <a:t>https://microsoftlearning.github.io/AZ-700-Designing-and-Implementing-Microsoft-Azure-Networking-Solutions/Instructions/Exercises/M02-Unit%203%20Create%20and%20configure%20a%20virtual%20network%20gateway.html</a:t>
            </a:r>
          </a:p>
          <a:p>
            <a:r>
              <a:rPr lang="en-US" dirty="0"/>
              <a:t>This exercise deploys VPN gateway which will take 20min each </a:t>
            </a:r>
          </a:p>
          <a:p>
            <a:endParaRPr lang="en-US" dirty="0"/>
          </a:p>
          <a:p>
            <a:r>
              <a:rPr lang="en-US" dirty="0"/>
              <a:t>Have the students get to task 7 and then take a break while the gateways deploy </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17</a:t>
            </a:fld>
            <a:endParaRPr lang="en-US"/>
          </a:p>
        </p:txBody>
      </p:sp>
    </p:spTree>
    <p:extLst>
      <p:ext uri="{BB962C8B-B14F-4D97-AF65-F5344CB8AC3E}">
        <p14:creationId xmlns:p14="http://schemas.microsoft.com/office/powerpoint/2010/main" val="3646025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2800" u="none" dirty="0">
              <a:solidFill>
                <a:srgbClr val="0563C1"/>
              </a:solidFill>
              <a:latin typeface="+mn-lt"/>
              <a:hlinkClick r:id="rId3">
                <a:extLst>
                  <a:ext uri="{A12FA001-AC4F-418D-AE19-62706E023703}">
                    <ahyp:hlinkClr xmlns:ahyp="http://schemas.microsoft.com/office/drawing/2018/hyperlinkcolor" val="tx"/>
                  </a:ext>
                </a:extLst>
              </a:hlinkClick>
            </a:endParaRPr>
          </a:p>
          <a:p>
            <a:pPr marL="0" marR="0">
              <a:spcBef>
                <a:spcPts val="0"/>
              </a:spcBef>
              <a:spcAft>
                <a:spcPts val="1000"/>
              </a:spcAft>
            </a:pPr>
            <a:r>
              <a:rPr lang="en-US" sz="2800" u="none" dirty="0">
                <a:solidFill>
                  <a:srgbClr val="0563C1"/>
                </a:solidFill>
                <a:latin typeface="+mn-lt"/>
                <a:hlinkClick r:id="rId3">
                  <a:extLst>
                    <a:ext uri="{A12FA001-AC4F-418D-AE19-62706E023703}">
                      <ahyp:hlinkClr xmlns:ahyp="http://schemas.microsoft.com/office/drawing/2018/hyperlinkcolor" val="tx"/>
                    </a:ext>
                  </a:extLst>
                </a:hlinkClick>
              </a:rPr>
              <a:t>https://azure.microsoft.com/blog/vnet-peering-and-vpn-gateways/</a:t>
            </a:r>
          </a:p>
          <a:p>
            <a:pPr marL="0" marR="0">
              <a:spcBef>
                <a:spcPts val="0"/>
              </a:spcBef>
              <a:spcAft>
                <a:spcPts val="1000"/>
              </a:spcAft>
            </a:pPr>
            <a:r>
              <a:rPr lang="en-US" sz="4000" u="none" dirty="0">
                <a:latin typeface="+mn-lt"/>
                <a:hlinkClick r:id="rId4"/>
              </a:rPr>
              <a:t>Choosing between Azure VNet Peering and VNet Gateways | Azure Blog and Updates | Microsoft Azure</a:t>
            </a:r>
            <a:endParaRPr lang="en-US" sz="1800" u="none" dirty="0">
              <a:effectLst/>
              <a:latin typeface="+mn-lt"/>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Consider reviewing the S2S diagram in reference to what the student just created in the previous lesson before moving on to P2S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the diagram:</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on-premises network represents your on-premises Active Directory and any data or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gateway is responsible for sending encrypted traffic to a virtual IP address when it uses a public connection.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Azure virtual network holds all your cloud applications and any Azure VPN gateway components.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An Azure VPN gateway provides the encrypted link between the Azure virtual network and your on-premises network. An Azure VPN gateway is made up of these elements:</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Virtual network gateway</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Local network gateway</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Connection</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Gateway subnet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Cloud applications are the ones you've made available through Azure.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An internal load balancer, located in the front end, routes cloud traffic to the correct cloud-based application or resource.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Using this architecture offers several benefits, including:</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Configuration and maintenance are simplified.</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Having a VPN gateway helps ensure that all data and traffic are encrypted between the on-premises gateway and the Azure gateway.</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architecture can be scaled and extended to meet your organization's networking needs.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architecture isn't applicable in all situations because it uses an existing internet connection as the link between the two gateway points. Bandwidth constraints can cause latency issues that result from reuse of the existing infrastructure.</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20</a:t>
            </a:fld>
            <a:endParaRPr lang="en-US"/>
          </a:p>
        </p:txBody>
      </p:sp>
    </p:spTree>
    <p:extLst>
      <p:ext uri="{BB962C8B-B14F-4D97-AF65-F5344CB8AC3E}">
        <p14:creationId xmlns:p14="http://schemas.microsoft.com/office/powerpoint/2010/main" val="2826596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34380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Point-to-site VPN can use one of the following protocols: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OpenVPN® Protocol, an SSL/TLS based VPN protocol. A TLS VPN solution can penetrate firewalls, since most firewalls open TCP port 443 outbound, which TLS uses. OpenVPN can be used to connect from Android, iOS (versions 11.0 and above), Windows, Linux, and Mac devices (macOS versions 10.13 and above).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Secure Socket Tunneling Protocol (SSTP), a proprietary TLS-based VPN protocol. A TLS VPN solution can penetrate firewalls, since most firewalls open TCP port 443 outbound, which TLS uses. SSTP is only supported on Windows devices. Azure supports all versions of Windows that have SSTP (Windows 7 and later).</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IKEv2 VPN, a standards-based IPsec VPN solution. IKEv2 VPN can be used to connect from Mac devices (macOS versions 10.11 and above).</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24</a:t>
            </a:fld>
            <a:endParaRPr lang="en-US"/>
          </a:p>
        </p:txBody>
      </p:sp>
    </p:spTree>
    <p:extLst>
      <p:ext uri="{BB962C8B-B14F-4D97-AF65-F5344CB8AC3E}">
        <p14:creationId xmlns:p14="http://schemas.microsoft.com/office/powerpoint/2010/main" val="2826596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1000"/>
              </a:spcBef>
              <a:spcAft>
                <a:spcPts val="0"/>
              </a:spcAft>
            </a:pPr>
            <a:r>
              <a:rPr lang="en-US" sz="2800" b="0" i="0" u="sng" dirty="0">
                <a:effectLst/>
                <a:latin typeface="Segoe UI VSS (Regular)"/>
                <a:hlinkClick r:id="rId3"/>
              </a:rPr>
              <a:t>https://docs.microsoft.com/azure/vpn-gateway/point-to-site-about#authentication</a:t>
            </a:r>
            <a:endPar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endParaRP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Authenticate using native Azure certificate authentication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using the native Azure certificate authentication, a client certificate on the device is used to authenticate the connecting user. Client certificates are generated from a trusted root certificate and then installed on each client computer. You can use a root certificate that was generated using an Enterprise solution, or you can generate a self-signed certificate.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validation of the client certificate is performed by the VPN gateway and happens during establishment of the P2S VPN connection. The root certificate is required for the validation and must be uploaded to Azure.</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Authenticate using native Azure Active Directory authentication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AD authentication allows users to connect to Azure using their Azure Active Directory credentials. Native Azure AD authentication is only supported for OpenVPN protocol and Windows 10 and requires the use of the Azure VPN Client.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native Azure AD authentication, you can leverage Azure AD's conditional access as well as Multi-Factor Authentication (MFA) features for VPN.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At a high level, you need to perform the following steps to configure Azure AD authentication: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Configure an Azure AD tenant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 Azure AD authentication on the gateway</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Download and configure Azure VPN Client</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Authenticate using Active Directory (AD) Domain Server</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AD Domain authentication is a popular option because it allows users to connect to Azure using their organization domain credentials. It requires a RADIUS server that integrates with the AD server. Organizations can also leverage their existing RADIUS deployment.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RADIUS server is deployed either on-premises or in your Azure VNet. During authentication, the Azure VPN Gateway passes authentication messages back and forth between the RADIUS server and the connecting device. Thus, the Gateway must be able to communicate with the RADIUS server. If the RADIUS server is present on-premises, then a VPN S2S connection from Azure to the on-premises site is required for reachability.</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RADIUS server can also integrate with AD certificate services. This lets you use the RADIUS server and your enterprise certificate deployment for P2S certificate authentication as an alternative to the Azure certificate authentication. Integrating the RADIUS server with AD certificate services means that you can do all your certificate management in AD, you don’t need to upload root certificates and revoked certificates to Azure.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RADIUS server can also integrate with other external identity systems. This opens many authentication options for P2S VPN, including multi-factor options.</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25</a:t>
            </a:fld>
            <a:endParaRPr lang="en-US"/>
          </a:p>
        </p:txBody>
      </p:sp>
    </p:spTree>
    <p:extLst>
      <p:ext uri="{BB962C8B-B14F-4D97-AF65-F5344CB8AC3E}">
        <p14:creationId xmlns:p14="http://schemas.microsoft.com/office/powerpoint/2010/main" val="26053889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Users use the native VPN clients on Windows and Mac devices for P2S. Azure provides a VPN client configuration zip file that contains settings required by these native clients to connect to Azure.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Windows devices, the VPN client configuration consists of an installer package that users install on their devices.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Mac devices, it consists of the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mobileconfig</a:t>
            </a:r>
            <a:r>
              <a:rPr lang="en-US" sz="1800" dirty="0">
                <a:effectLst/>
                <a:latin typeface="Calibri" panose="020F0502020204030204" pitchFamily="34" charset="0"/>
                <a:ea typeface="Calibri" panose="020F0502020204030204" pitchFamily="34" charset="0"/>
                <a:cs typeface="Times New Roman" panose="02020603050405020304" pitchFamily="18" charset="0"/>
              </a:rPr>
              <a:t> file that users install on their devices.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zip file also provides the values of some of the important settings on the Azure side that you can use to create your own profile for these devices. Some of the values include the VPN gateway address, configured tunnel types, routes, and the root certificate for gateway validation.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Note that for Windows clients, you must have administrator rights on the client device to initiate the VPN connection from the client device to Azure.</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26</a:t>
            </a:fld>
            <a:endParaRPr lang="en-US"/>
          </a:p>
        </p:txBody>
      </p:sp>
    </p:spTree>
    <p:extLst>
      <p:ext uri="{BB962C8B-B14F-4D97-AF65-F5344CB8AC3E}">
        <p14:creationId xmlns:p14="http://schemas.microsoft.com/office/powerpoint/2010/main" val="4111300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t>27</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1810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Azure Virtual WAN - https://docs.microsoft.com/en-us/Azure/virtual-wan/virtual-wan-about</a:t>
            </a:r>
          </a:p>
          <a:p>
            <a:endParaRPr lang="en-US" dirty="0"/>
          </a:p>
          <a:p>
            <a:r>
              <a:rPr lang="en-US" b="0" i="0" dirty="0">
                <a:solidFill>
                  <a:srgbClr val="171717"/>
                </a:solidFill>
                <a:effectLst/>
                <a:latin typeface="Segoe UI" panose="020B0502040204020203" pitchFamily="34" charset="0"/>
              </a:rPr>
              <a:t>A virtual network gateway VPN is limited to 30 tunnels. For connections, you should use Virtual WAN for large-scale VPN. You can connect up to 1,000 branch connections per region (virtual hub) with aggregate of 20 Gbps per hub. A connection is an active-active tunnel from the on-premises VPN device to the virtual hub. You can have one hub per region, which means you can connect more than 1,000 branches across hubs.</a:t>
            </a:r>
            <a:endParaRPr lang="en-US" dirty="0"/>
          </a:p>
          <a:p>
            <a:endParaRPr lang="en-US" dirty="0"/>
          </a:p>
          <a:p>
            <a:r>
              <a:rPr lang="en-US" dirty="0"/>
              <a:t>Tutorial: Create a Site-to-Site connection using Azure Virtual WAN - https://docs.microsoft.com/en-us/Azure/virtual-wan/virtual-wan-site-to-site-portal</a:t>
            </a:r>
          </a:p>
          <a:p>
            <a:endParaRPr lang="en-US" dirty="0"/>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shows an organization with a single Virtual WAN hub connecting  the spokes. VNets, Site-to-site and point-to-site VPNs, SD WANs, and ExpressRoute connectivity are all supported .</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30125057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a:solidFill>
                  <a:srgbClr val="171717"/>
                </a:solidFill>
                <a:effectLst/>
                <a:latin typeface="Segoe UI" panose="020B0502040204020203" pitchFamily="34" charset="0"/>
              </a:rPr>
              <a:t>Subscription</a:t>
            </a:r>
            <a:r>
              <a:rPr lang="en-US" b="0" i="0">
                <a:solidFill>
                  <a:srgbClr val="171717"/>
                </a:solidFill>
                <a:effectLst/>
                <a:latin typeface="Segoe UI" panose="020B0502040204020203" pitchFamily="34" charset="0"/>
              </a:rPr>
              <a:t> - Select the subscription that you want to use.</a:t>
            </a:r>
          </a:p>
          <a:p>
            <a:pPr algn="l">
              <a:buFont typeface="Arial" panose="020B0604020202020204" pitchFamily="34" charset="0"/>
              <a:buChar char="•"/>
            </a:pPr>
            <a:r>
              <a:rPr lang="en-US" b="1" i="0">
                <a:solidFill>
                  <a:srgbClr val="171717"/>
                </a:solidFill>
                <a:effectLst/>
                <a:latin typeface="Segoe UI" panose="020B0502040204020203" pitchFamily="34" charset="0"/>
              </a:rPr>
              <a:t>Resource group</a:t>
            </a:r>
            <a:r>
              <a:rPr lang="en-US" b="0" i="0">
                <a:solidFill>
                  <a:srgbClr val="171717"/>
                </a:solidFill>
                <a:effectLst/>
                <a:latin typeface="Segoe UI" panose="020B0502040204020203" pitchFamily="34" charset="0"/>
              </a:rPr>
              <a:t> - Create new or use existing.</a:t>
            </a:r>
          </a:p>
          <a:p>
            <a:pPr algn="l">
              <a:buFont typeface="Arial" panose="020B0604020202020204" pitchFamily="34" charset="0"/>
              <a:buChar char="•"/>
            </a:pPr>
            <a:r>
              <a:rPr lang="en-US" b="1" i="0">
                <a:solidFill>
                  <a:srgbClr val="171717"/>
                </a:solidFill>
                <a:effectLst/>
                <a:latin typeface="Segoe UI" panose="020B0502040204020203" pitchFamily="34" charset="0"/>
              </a:rPr>
              <a:t>Resource group location</a:t>
            </a:r>
            <a:r>
              <a:rPr lang="en-US" b="0" i="0">
                <a:solidFill>
                  <a:srgbClr val="171717"/>
                </a:solidFill>
                <a:effectLst/>
                <a:latin typeface="Segoe UI" panose="020B0502040204020203" pitchFamily="34" charset="0"/>
              </a:rPr>
              <a:t> - Choose a resource location from the dropdown. A WAN is a global resource and does not live in a particular region. However, you must select a region in order to manage and locate the WAN resource that you create.</a:t>
            </a:r>
          </a:p>
          <a:p>
            <a:pPr algn="l">
              <a:buFont typeface="Arial" panose="020B0604020202020204" pitchFamily="34" charset="0"/>
              <a:buChar char="•"/>
            </a:pPr>
            <a:r>
              <a:rPr lang="en-US" b="1" i="0">
                <a:solidFill>
                  <a:srgbClr val="171717"/>
                </a:solidFill>
                <a:effectLst/>
                <a:latin typeface="Segoe UI" panose="020B0502040204020203" pitchFamily="34" charset="0"/>
              </a:rPr>
              <a:t>Name</a:t>
            </a:r>
            <a:r>
              <a:rPr lang="en-US" b="0" i="0">
                <a:solidFill>
                  <a:srgbClr val="171717"/>
                </a:solidFill>
                <a:effectLst/>
                <a:latin typeface="Segoe UI" panose="020B0502040204020203" pitchFamily="34" charset="0"/>
              </a:rPr>
              <a:t> - Type the Name that you want to call your WAN.</a:t>
            </a:r>
          </a:p>
          <a:p>
            <a:pPr algn="l">
              <a:buFont typeface="Arial" panose="020B0604020202020204" pitchFamily="34" charset="0"/>
              <a:buChar char="•"/>
            </a:pPr>
            <a:r>
              <a:rPr lang="en-US" b="1" i="0">
                <a:solidFill>
                  <a:srgbClr val="171717"/>
                </a:solidFill>
                <a:effectLst/>
                <a:latin typeface="Segoe UI" panose="020B0502040204020203" pitchFamily="34" charset="0"/>
              </a:rPr>
              <a:t>Type</a:t>
            </a:r>
            <a:r>
              <a:rPr lang="en-US" b="0" i="0">
                <a:solidFill>
                  <a:srgbClr val="171717"/>
                </a:solidFill>
                <a:effectLst/>
                <a:latin typeface="Segoe UI" panose="020B0502040204020203" pitchFamily="34" charset="0"/>
              </a:rPr>
              <a:t> - Basic or Standard. Select </a:t>
            </a:r>
            <a:r>
              <a:rPr lang="en-US" b="1" i="0">
                <a:solidFill>
                  <a:srgbClr val="171717"/>
                </a:solidFill>
                <a:effectLst/>
                <a:latin typeface="Segoe UI" panose="020B0502040204020203" pitchFamily="34" charset="0"/>
              </a:rPr>
              <a:t>Standard</a:t>
            </a:r>
            <a:r>
              <a:rPr lang="en-US" b="0" i="0">
                <a:solidFill>
                  <a:srgbClr val="171717"/>
                </a:solidFill>
                <a:effectLst/>
                <a:latin typeface="Segoe UI" panose="020B0502040204020203" pitchFamily="34" charset="0"/>
              </a:rPr>
              <a:t>. If you select Basic VWAN, understand that Basic VWANs can only contain Basic hubs, which limits your connection type to site-to-site.</a:t>
            </a:r>
          </a:p>
          <a:p>
            <a:endParaRPr lang="en-US"/>
          </a:p>
        </p:txBody>
      </p:sp>
      <p:sp>
        <p:nvSpPr>
          <p:cNvPr id="4" name="Slide Number Placeholder 3"/>
          <p:cNvSpPr>
            <a:spLocks noGrp="1"/>
          </p:cNvSpPr>
          <p:nvPr>
            <p:ph type="sldNum" sz="quarter" idx="5"/>
          </p:nvPr>
        </p:nvSpPr>
        <p:spPr/>
        <p:txBody>
          <a:bodyPr/>
          <a:lstStyle/>
          <a:p>
            <a:fld id="{C2937227-B364-444B-87D0-DA618E2B9038}" type="slidenum">
              <a:rPr lang="en-US" smtClean="0"/>
              <a:t>31</a:t>
            </a:fld>
            <a:endParaRPr lang="en-US"/>
          </a:p>
        </p:txBody>
      </p:sp>
    </p:spTree>
    <p:extLst>
      <p:ext uri="{BB962C8B-B14F-4D97-AF65-F5344CB8AC3E}">
        <p14:creationId xmlns:p14="http://schemas.microsoft.com/office/powerpoint/2010/main" val="2625408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171717"/>
                </a:solidFill>
                <a:effectLst/>
                <a:latin typeface="Segoe UI" panose="020B0502040204020203" pitchFamily="34" charset="0"/>
              </a:rPr>
              <a:t>On the </a:t>
            </a:r>
            <a:r>
              <a:rPr lang="en-US" b="1" i="0" dirty="0">
                <a:solidFill>
                  <a:srgbClr val="171717"/>
                </a:solidFill>
                <a:effectLst/>
                <a:latin typeface="Segoe UI" panose="020B0502040204020203" pitchFamily="34" charset="0"/>
              </a:rPr>
              <a:t>Create virtual hub</a:t>
            </a:r>
            <a:r>
              <a:rPr lang="en-US" b="0" i="0" dirty="0">
                <a:solidFill>
                  <a:srgbClr val="171717"/>
                </a:solidFill>
                <a:effectLst/>
                <a:latin typeface="Segoe UI" panose="020B0502040204020203" pitchFamily="34" charset="0"/>
              </a:rPr>
              <a:t> page </a:t>
            </a:r>
            <a:r>
              <a:rPr lang="en-US" b="1" i="0" dirty="0">
                <a:solidFill>
                  <a:srgbClr val="171717"/>
                </a:solidFill>
                <a:effectLst/>
                <a:latin typeface="Segoe UI" panose="020B0502040204020203" pitchFamily="34" charset="0"/>
              </a:rPr>
              <a:t>Basics</a:t>
            </a:r>
            <a:r>
              <a:rPr lang="en-US" b="0" i="0" dirty="0">
                <a:solidFill>
                  <a:srgbClr val="171717"/>
                </a:solidFill>
                <a:effectLst/>
                <a:latin typeface="Segoe UI" panose="020B0502040204020203" pitchFamily="34" charset="0"/>
              </a:rPr>
              <a:t> tab, complete the following fields:</a:t>
            </a:r>
          </a:p>
          <a:p>
            <a:pPr algn="l">
              <a:buFont typeface="+mj-lt"/>
              <a:buAutoNum type="arabicPeriod"/>
            </a:pPr>
            <a:r>
              <a:rPr lang="en-US" b="1" i="0" dirty="0">
                <a:solidFill>
                  <a:srgbClr val="171717"/>
                </a:solidFill>
                <a:effectLst/>
                <a:latin typeface="Segoe UI" panose="020B0502040204020203" pitchFamily="34" charset="0"/>
              </a:rPr>
              <a:t>Project details</a:t>
            </a:r>
            <a:endParaRPr lang="en-US" b="0" i="0" dirty="0">
              <a:solidFill>
                <a:srgbClr val="171717"/>
              </a:solidFill>
              <a:effectLst/>
              <a:latin typeface="Segoe UI" panose="020B0502040204020203" pitchFamily="34" charset="0"/>
            </a:endParaRPr>
          </a:p>
          <a:p>
            <a:pPr marL="742950" lvl="1" indent="-285750" algn="l">
              <a:buFont typeface="+mj-lt"/>
              <a:buAutoNum type="arabicPeriod"/>
            </a:pPr>
            <a:r>
              <a:rPr lang="en-US" b="0" i="0" dirty="0">
                <a:solidFill>
                  <a:srgbClr val="171717"/>
                </a:solidFill>
                <a:effectLst/>
                <a:latin typeface="Segoe UI" panose="020B0502040204020203" pitchFamily="34" charset="0"/>
              </a:rPr>
              <a:t>Region (previously referred to as Location)</a:t>
            </a:r>
          </a:p>
          <a:p>
            <a:pPr marL="742950" lvl="1" indent="-285750" algn="l">
              <a:buFont typeface="+mj-lt"/>
              <a:buAutoNum type="arabicPeriod"/>
            </a:pPr>
            <a:r>
              <a:rPr lang="en-US" b="0" i="0" dirty="0">
                <a:solidFill>
                  <a:srgbClr val="171717"/>
                </a:solidFill>
                <a:effectLst/>
                <a:latin typeface="Segoe UI" panose="020B0502040204020203" pitchFamily="34" charset="0"/>
              </a:rPr>
              <a:t>Name</a:t>
            </a:r>
          </a:p>
          <a:p>
            <a:pPr marL="742950" lvl="1" indent="-285750" algn="l">
              <a:buFont typeface="+mj-lt"/>
              <a:buAutoNum type="arabicPeriod"/>
            </a:pPr>
            <a:r>
              <a:rPr lang="en-US" b="0" i="0" dirty="0">
                <a:solidFill>
                  <a:srgbClr val="171717"/>
                </a:solidFill>
                <a:effectLst/>
                <a:latin typeface="Segoe UI" panose="020B0502040204020203" pitchFamily="34" charset="0"/>
              </a:rPr>
              <a:t>Hub private address space. The minimum address space is /24 to create a hub, which implies anything range from /25 to /32 will produce an error during creation. Azure Virtual WAN, being a managed service by Microsoft, creates the appropriate subnets in the virtual hub for the different gateways/services. (For example: Network Virtual Appliances, VPN gateways, ExpressRoute gateways, User VPN/Point-to-site gateways, Firewall, Routing, etc.). There is no need for the user to explicitly plan for subnet address space for the services in the Virtual hub because Microsoft does this as a part of the service.</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32</a:t>
            </a:fld>
            <a:endParaRPr lang="en-US"/>
          </a:p>
        </p:txBody>
      </p:sp>
    </p:spTree>
    <p:extLst>
      <p:ext uri="{BB962C8B-B14F-4D97-AF65-F5344CB8AC3E}">
        <p14:creationId xmlns:p14="http://schemas.microsoft.com/office/powerpoint/2010/main" val="28091538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use Virtual WAN to connect a VNet to a virtual hub in a different tenant. This architecture is useful if you have client workloads that must be connected to be the same network but are on different tenants. For example, as shown in the following diagram, you can connect a non-Contoso VNet (the Remote Tenant) to a Contoso virtual hub (the Parent Tenant).</a:t>
            </a:r>
          </a:p>
          <a:p>
            <a:endParaRPr lang="en-US" dirty="0"/>
          </a:p>
          <a:p>
            <a:endParaRPr lang="en-US" dirty="0"/>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Before you can connect a cross-tenant VNet to a Virtual WAN hub, you must have the following configuration already set up:</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Virtual WAN and virtual hub in the parent subscription.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virtual network configured in a subscription in the remote tenant.</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Non-overlapping address spaces in the remote tenant and address spaces within any other VNets already connected to the parent virtual hub.</a:t>
            </a:r>
          </a:p>
          <a:p>
            <a:endParaRPr lang="en-US" sz="1800" dirty="0">
              <a:effectLst/>
              <a:latin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the parent subscription with the virtual hub to modify and access the virtual networks in the remote tenant, you need to assign Contributor permissions to your parent subscription from the remote tenant subscription. </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Add the Contributor role assignment to the parent account (the one with the virtual WAN hub). You can use PowerShell or the Azure portal to assign this role.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Add the remote tenant subscription and the parent tenant subscription to the current session of PowerShell by running the </a:t>
            </a:r>
            <a:r>
              <a:rPr lang="en-US" sz="1800" b="0" dirty="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Add-</a:t>
            </a:r>
            <a:r>
              <a:rPr lang="en-US" sz="1800" b="0" dirty="0" err="1">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AzAccount</a:t>
            </a:r>
            <a:r>
              <a:rPr lang="en-US" sz="1800" dirty="0">
                <a:effectLst/>
                <a:latin typeface="Calibri" panose="020F0502020204030204" pitchFamily="34" charset="0"/>
                <a:ea typeface="Calibri" panose="020F0502020204030204" pitchFamily="34" charset="0"/>
                <a:cs typeface="Times New Roman" panose="02020603050405020304" pitchFamily="18" charset="0"/>
              </a:rPr>
              <a:t> command. If you are signed into the parent, you only need to run the command for the remote tenant.</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Verify that the role assignment is successful by logging into Azure PowerShell using the parent credentials and running the </a:t>
            </a:r>
            <a:r>
              <a:rPr lang="en-US" sz="1800" b="0" dirty="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Get-</a:t>
            </a:r>
            <a:r>
              <a:rPr lang="en-US" sz="1800" b="0" dirty="0" err="1">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AzSubscription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command. If the permissions have successfully propagated to the parent and have been added to the session, the output of the command will list the subscription owned by the remote tenant.</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33</a:t>
            </a:fld>
            <a:endParaRPr lang="en-US"/>
          </a:p>
        </p:txBody>
      </p:sp>
    </p:spTree>
    <p:extLst>
      <p:ext uri="{BB962C8B-B14F-4D97-AF65-F5344CB8AC3E}">
        <p14:creationId xmlns:p14="http://schemas.microsoft.com/office/powerpoint/2010/main" val="14141116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routing capabilities in a virtual hub are provided by a router that manages all routing between gateways using Border Gateway Protocol (BGP). A virtual hub can contain multiple gateways such as a Site-to-site VPN gateway, ExpressRoute gateway, Point-to-site gateway, Azure Firewall. This router also provides transit connectivity between virtual networks that connect to a virtual hub and can support up to an aggregate throughput of 50 Gbps. These routing capabilities apply to Standard Virtual WAN customers.</a:t>
            </a:r>
          </a:p>
          <a:p>
            <a:endParaRPr lang="en-US" dirty="0"/>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Hub route table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virtual hub route table can contain one or more routes. A route includes its name, a label, a destination type, a list of destination prefixes, and next hop information for a packet to be routed. A Connection typically will have a routing configuration that associated or propagates to a route table.</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Connections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Connections are Resource Manager resources that have a routing configuration. The four types of connections are: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VPN connection: Connects a VPN site to a virtual hub VPN gateway.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ExpressRoute connection: Connects an ExpressRoute circuit to a virtual hub ExpressRoute gateway.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P2S configuration connection: Connects a User VPN (Point-to-site) configuration to a virtual hub User VPN (Point-to-site) gateway.</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Hub virtual network connection: Connects virtual networks to a virtual hub.</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set up the routing configuration for a virtual network connection during setup. By default, all connections associate and propagate to the Default route table.</a:t>
            </a:r>
          </a:p>
          <a:p>
            <a:pPr marL="0" marR="0">
              <a:spcBef>
                <a:spcPts val="1000"/>
              </a:spcBef>
              <a:spcAft>
                <a:spcPts val="0"/>
              </a:spcAft>
            </a:pPr>
            <a:r>
              <a:rPr lang="en-US" sz="1800" b="1" dirty="0">
                <a:solidFill>
                  <a:srgbClr val="4472C4"/>
                </a:solidFill>
                <a:effectLst/>
                <a:latin typeface="Calibri Light" panose="020F0302020204030204" pitchFamily="34" charset="0"/>
                <a:ea typeface="Malgun Gothic" panose="020B0503020000020004" pitchFamily="34" charset="-127"/>
                <a:cs typeface="Times New Roman" panose="02020603050405020304" pitchFamily="18" charset="0"/>
              </a:rPr>
              <a:t>Association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Each connection is associated to one route table. Associating a connection to a route table allows the traffic to be sent to the destinations indicated as routes in the route table. The routing configuration of the connection will show the associated route table. Multiple connections can be associated to the same route table. All VPN, ExpressRoute, and User VPN connections are associated to the same (default) route table.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By default, all connections are associated to a Default route table in a virtual hub. Each virtual hub has its own Default route table, which can be edited to add a static route(s). Routes added statically take precedence over dynamically learned routes for the same prefixes.</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34</a:t>
            </a:fld>
            <a:endParaRPr lang="en-US"/>
          </a:p>
        </p:txBody>
      </p:sp>
    </p:spTree>
    <p:extLst>
      <p:ext uri="{BB962C8B-B14F-4D97-AF65-F5344CB8AC3E}">
        <p14:creationId xmlns:p14="http://schemas.microsoft.com/office/powerpoint/2010/main" val="3624828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Propagation - default routing table.</a:t>
            </a:r>
          </a:p>
        </p:txBody>
      </p:sp>
      <p:sp>
        <p:nvSpPr>
          <p:cNvPr id="4" name="Slide Number Placeholder 3"/>
          <p:cNvSpPr>
            <a:spLocks noGrp="1"/>
          </p:cNvSpPr>
          <p:nvPr>
            <p:ph type="sldNum" sz="quarter" idx="5"/>
          </p:nvPr>
        </p:nvSpPr>
        <p:spPr/>
        <p:txBody>
          <a:bodyPr/>
          <a:lstStyle/>
          <a:p>
            <a:fld id="{C2937227-B364-444B-87D0-DA618E2B9038}" type="slidenum">
              <a:rPr lang="en-US" smtClean="0"/>
              <a:t>35</a:t>
            </a:fld>
            <a:endParaRPr lang="en-US"/>
          </a:p>
        </p:txBody>
      </p:sp>
    </p:spTree>
    <p:extLst>
      <p:ext uri="{BB962C8B-B14F-4D97-AF65-F5344CB8AC3E}">
        <p14:creationId xmlns:p14="http://schemas.microsoft.com/office/powerpoint/2010/main" val="3191480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Consider demonstrating this to the students: </a:t>
            </a:r>
          </a:p>
          <a:p>
            <a:endParaRPr lang="en-US" dirty="0">
              <a:hlinkClick r:id="rId3"/>
            </a:endParaRPr>
          </a:p>
          <a:p>
            <a:r>
              <a:rPr lang="en-US" dirty="0" err="1">
                <a:hlinkClick r:id="rId3"/>
              </a:rPr>
              <a:t>Quickstart</a:t>
            </a:r>
            <a:r>
              <a:rPr lang="en-US" dirty="0">
                <a:hlinkClick r:id="rId3"/>
              </a:rPr>
              <a:t>: Route to shared services using an ARM template - Azure Virtual WAN | Microsoft Docs</a:t>
            </a:r>
            <a:endParaRPr lang="en-US" dirty="0"/>
          </a:p>
          <a:p>
            <a:endParaRPr lang="en-US" dirty="0"/>
          </a:p>
          <a:p>
            <a:pPr algn="l"/>
            <a:r>
              <a:rPr lang="en-US" b="0" i="0" dirty="0">
                <a:solidFill>
                  <a:srgbClr val="171717"/>
                </a:solidFill>
                <a:effectLst/>
                <a:latin typeface="Segoe UI" panose="020B0502040204020203" pitchFamily="34" charset="0"/>
              </a:rPr>
              <a:t>This </a:t>
            </a:r>
            <a:r>
              <a:rPr lang="en-US" b="0" i="0" dirty="0" err="1">
                <a:solidFill>
                  <a:srgbClr val="171717"/>
                </a:solidFill>
                <a:effectLst/>
                <a:latin typeface="Segoe UI" panose="020B0502040204020203" pitchFamily="34" charset="0"/>
              </a:rPr>
              <a:t>quickstart</a:t>
            </a:r>
            <a:r>
              <a:rPr lang="en-US" b="0" i="0" dirty="0">
                <a:solidFill>
                  <a:srgbClr val="171717"/>
                </a:solidFill>
                <a:effectLst/>
                <a:latin typeface="Segoe UI" panose="020B0502040204020203" pitchFamily="34" charset="0"/>
              </a:rPr>
              <a:t> describes how to use an Azure Resource Manager template (ARM template) to set up routes to access a shared service VNet with workloads that you want every VNet and Branch (VPN/ER/P2S) to access. Examples of these shared workloads might include virtual machines with services like domain controllers or file shares, or Azure services exposed internally through </a:t>
            </a:r>
            <a:r>
              <a:rPr lang="en-US" b="0" i="0" u="none" strike="noStrike" dirty="0">
                <a:solidFill>
                  <a:srgbClr val="171717"/>
                </a:solidFill>
                <a:effectLst/>
                <a:latin typeface="Segoe UI" panose="020B0502040204020203" pitchFamily="34" charset="0"/>
                <a:hlinkClick r:id="rId4"/>
              </a:rPr>
              <a:t>Azure Private Endpoint</a:t>
            </a:r>
            <a:r>
              <a:rPr lang="en-US" b="0" i="0" dirty="0">
                <a:solidFill>
                  <a:srgbClr val="171717"/>
                </a:solidFill>
                <a:effectLst/>
                <a:latin typeface="Segoe UI" panose="020B0502040204020203" pitchFamily="34" charset="0"/>
              </a:rPr>
              <a:t>.</a:t>
            </a:r>
          </a:p>
          <a:p>
            <a:pPr algn="l"/>
            <a:r>
              <a:rPr lang="en-US" b="0" i="0" dirty="0">
                <a:solidFill>
                  <a:srgbClr val="171717"/>
                </a:solidFill>
                <a:effectLst/>
                <a:latin typeface="Segoe UI" panose="020B0502040204020203" pitchFamily="34" charset="0"/>
              </a:rPr>
              <a:t>An </a:t>
            </a:r>
            <a:r>
              <a:rPr lang="en-US" b="0" i="0" u="none" strike="noStrike" dirty="0">
                <a:solidFill>
                  <a:srgbClr val="171717"/>
                </a:solidFill>
                <a:effectLst/>
                <a:latin typeface="Segoe UI" panose="020B0502040204020203" pitchFamily="34" charset="0"/>
                <a:hlinkClick r:id="rId5"/>
              </a:rPr>
              <a:t>ARM template</a:t>
            </a:r>
            <a:r>
              <a:rPr lang="en-US" b="0" i="0" dirty="0">
                <a:solidFill>
                  <a:srgbClr val="171717"/>
                </a:solidFill>
                <a:effectLst/>
                <a:latin typeface="Segoe UI" panose="020B0502040204020203" pitchFamily="34" charset="0"/>
              </a:rPr>
              <a:t> is a JavaScript Object Notation (JSON) file that defines the infrastructure and configuration for your project. The template uses declarative syntax. In declarative syntax, you describe your intended deployment without writing the sequence of programming commands to create the deployment.</a:t>
            </a:r>
          </a:p>
          <a:p>
            <a:pPr algn="l"/>
            <a:r>
              <a:rPr lang="en-US" b="0" i="0" dirty="0">
                <a:solidFill>
                  <a:srgbClr val="171717"/>
                </a:solidFill>
                <a:effectLst/>
                <a:latin typeface="Segoe UI" panose="020B0502040204020203" pitchFamily="34" charset="0"/>
              </a:rPr>
              <a:t>If your environment meets the prerequisites and you're familiar with using ARM templates, select the </a:t>
            </a:r>
            <a:r>
              <a:rPr lang="en-US" b="1" i="0" dirty="0">
                <a:solidFill>
                  <a:srgbClr val="171717"/>
                </a:solidFill>
                <a:effectLst/>
                <a:latin typeface="Segoe UI" panose="020B0502040204020203" pitchFamily="34" charset="0"/>
              </a:rPr>
              <a:t>Deploy to Azure</a:t>
            </a:r>
            <a:r>
              <a:rPr lang="en-US" b="0" i="0" dirty="0">
                <a:solidFill>
                  <a:srgbClr val="171717"/>
                </a:solidFill>
                <a:effectLst/>
                <a:latin typeface="Segoe UI" panose="020B0502040204020203" pitchFamily="34" charset="0"/>
              </a:rPr>
              <a:t> button. The template will open in the Azure portal.</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36</a:t>
            </a:fld>
            <a:endParaRPr lang="en-US"/>
          </a:p>
        </p:txBody>
      </p:sp>
    </p:spTree>
    <p:extLst>
      <p:ext uri="{BB962C8B-B14F-4D97-AF65-F5344CB8AC3E}">
        <p14:creationId xmlns:p14="http://schemas.microsoft.com/office/powerpoint/2010/main" val="1297195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p:txBody>
      </p:sp>
      <p:sp>
        <p:nvSpPr>
          <p:cNvPr id="4" name="Slide Number Placeholder 3"/>
          <p:cNvSpPr>
            <a:spLocks noGrp="1"/>
          </p:cNvSpPr>
          <p:nvPr>
            <p:ph type="sldNum" sz="quarter" idx="5"/>
          </p:nvPr>
        </p:nvSpPr>
        <p:spPr/>
        <p:txBody>
          <a:bodyPr/>
          <a:lstStyle/>
          <a:p>
            <a:fld id="{8507DC7E-BC41-4478-BA30-CBCC3A644F0A}" type="slidenum">
              <a:rPr lang="en-US" smtClean="0"/>
              <a:t>37</a:t>
            </a:fld>
            <a:endParaRPr lang="en-US"/>
          </a:p>
        </p:txBody>
      </p:sp>
    </p:spTree>
    <p:extLst>
      <p:ext uri="{BB962C8B-B14F-4D97-AF65-F5344CB8AC3E}">
        <p14:creationId xmlns:p14="http://schemas.microsoft.com/office/powerpoint/2010/main" val="29526231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AZ-700-Designing-and-Implementing-Microsoft-Azure-Networking-Solutions/7-exercise-create-virtual-wan-by-using-Azure-portal.md at master · </a:t>
            </a:r>
            <a:r>
              <a:rPr lang="en-US" dirty="0" err="1">
                <a:hlinkClick r:id="rId3"/>
              </a:rPr>
              <a:t>MicrosoftLearning</a:t>
            </a:r>
            <a:r>
              <a:rPr lang="en-US" dirty="0">
                <a:hlinkClick r:id="rId3"/>
              </a:rPr>
              <a:t>/AZ-700-Designing-and-Implementing-Microsoft-Azure-Networking-Solutions (github.com)</a:t>
            </a:r>
            <a:endParaRPr lang="en-US" dirty="0"/>
          </a:p>
          <a:p>
            <a:endParaRPr lang="en-US" dirty="0"/>
          </a:p>
          <a:p>
            <a:r>
              <a:rPr lang="en-US" dirty="0"/>
              <a:t>https://microsoftlearning.github.io/AZ-700-Designing-and-Implementing-Microsoft-Azure-Networking-Solutions/Instructions/Exercises/M02-Unit%207%20Create%20a%20Virtual%20WAN%20by%20using%20Azure%20Portal.html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2/9/2022 6:48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39</a:t>
            </a:fld>
            <a:endParaRPr lang="en-US"/>
          </a:p>
        </p:txBody>
      </p:sp>
    </p:spTree>
    <p:extLst>
      <p:ext uri="{BB962C8B-B14F-4D97-AF65-F5344CB8AC3E}">
        <p14:creationId xmlns:p14="http://schemas.microsoft.com/office/powerpoint/2010/main" val="2926855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937227-B364-444B-87D0-DA618E2B9038}" type="slidenum">
              <a:rPr lang="en-US" smtClean="0"/>
              <a:t>40</a:t>
            </a:fld>
            <a:endParaRPr lang="en-US"/>
          </a:p>
        </p:txBody>
      </p:sp>
    </p:spTree>
    <p:extLst>
      <p:ext uri="{BB962C8B-B14F-4D97-AF65-F5344CB8AC3E}">
        <p14:creationId xmlns:p14="http://schemas.microsoft.com/office/powerpoint/2010/main" val="27560273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2/9/2022 6:48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625781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NVAs available in the Azure marketplace are designed to be deployed directly into a virtual hub and nowhere else. Each is deployed as a Managed Application, which allows Azure Virtual WAN to manage the configuration of the NVA. They cannot be deployed within an arbitrary VNet.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shows the NVA deployment process:</a:t>
            </a:r>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42</a:t>
            </a:fld>
            <a:endParaRPr lang="en-US"/>
          </a:p>
        </p:txBody>
      </p:sp>
    </p:spTree>
    <p:extLst>
      <p:ext uri="{BB962C8B-B14F-4D97-AF65-F5344CB8AC3E}">
        <p14:creationId xmlns:p14="http://schemas.microsoft.com/office/powerpoint/2010/main" val="6495378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Azure Virtual WAN: About Network Virtual Appliance in the hub | Microsoft Docs</a:t>
            </a:r>
            <a:endParaRPr lang="en-US" b="0" i="0" dirty="0">
              <a:solidFill>
                <a:srgbClr val="171717"/>
              </a:solidFill>
              <a:effectLst/>
              <a:latin typeface="Segoe UI" panose="020B0502040204020203" pitchFamily="34" charset="0"/>
            </a:endParaRPr>
          </a:p>
          <a:p>
            <a:r>
              <a:rPr lang="en-US" b="0" i="0" dirty="0">
                <a:solidFill>
                  <a:srgbClr val="171717"/>
                </a:solidFill>
                <a:effectLst/>
                <a:latin typeface="Segoe UI" panose="020B0502040204020203" pitchFamily="34" charset="0"/>
              </a:rPr>
              <a:t>At this time, only </a:t>
            </a:r>
            <a:r>
              <a:rPr lang="en-US" b="0" i="0" u="none" strike="noStrike" dirty="0">
                <a:effectLst/>
                <a:latin typeface="Segoe UI" panose="020B0502040204020203" pitchFamily="34" charset="0"/>
                <a:hlinkClick r:id="rId4"/>
              </a:rPr>
              <a:t>Barracuda </a:t>
            </a:r>
            <a:r>
              <a:rPr lang="en-US" b="0" i="0" u="none" strike="noStrike" dirty="0" err="1">
                <a:effectLst/>
                <a:latin typeface="Segoe UI" panose="020B0502040204020203" pitchFamily="34" charset="0"/>
                <a:hlinkClick r:id="rId4"/>
              </a:rPr>
              <a:t>CloudGen</a:t>
            </a:r>
            <a:r>
              <a:rPr lang="en-US" b="0" i="0" u="none" strike="noStrike" dirty="0">
                <a:effectLst/>
                <a:latin typeface="Segoe UI" panose="020B0502040204020203" pitchFamily="34" charset="0"/>
                <a:hlinkClick r:id="rId4"/>
              </a:rPr>
              <a:t> WAN</a:t>
            </a:r>
            <a:r>
              <a:rPr lang="en-US" b="0" i="0" dirty="0">
                <a:solidFill>
                  <a:srgbClr val="171717"/>
                </a:solidFill>
                <a:effectLst/>
                <a:latin typeface="Segoe UI" panose="020B0502040204020203" pitchFamily="34" charset="0"/>
              </a:rPr>
              <a:t>, </a:t>
            </a:r>
            <a:r>
              <a:rPr lang="en-US" b="0" i="0" u="none" strike="noStrike" dirty="0">
                <a:effectLst/>
                <a:latin typeface="Segoe UI" panose="020B0502040204020203" pitchFamily="34" charset="0"/>
                <a:hlinkClick r:id="rId5"/>
              </a:rPr>
              <a:t>Cisco Cloud </a:t>
            </a:r>
            <a:r>
              <a:rPr lang="en-US" b="0" i="0" u="none" strike="noStrike" dirty="0" err="1">
                <a:effectLst/>
                <a:latin typeface="Segoe UI" panose="020B0502040204020203" pitchFamily="34" charset="0"/>
                <a:hlinkClick r:id="rId5"/>
              </a:rPr>
              <a:t>vWAN</a:t>
            </a:r>
            <a:r>
              <a:rPr lang="en-US" b="0" i="0" u="none" strike="noStrike" dirty="0">
                <a:effectLst/>
                <a:latin typeface="Segoe UI" panose="020B0502040204020203" pitchFamily="34" charset="0"/>
                <a:hlinkClick r:id="rId5"/>
              </a:rPr>
              <a:t> Application</a:t>
            </a:r>
            <a:r>
              <a:rPr lang="en-US" b="0" i="0" dirty="0">
                <a:solidFill>
                  <a:srgbClr val="171717"/>
                </a:solidFill>
                <a:effectLst/>
                <a:latin typeface="Segoe UI" panose="020B0502040204020203" pitchFamily="34" charset="0"/>
              </a:rPr>
              <a:t>, and </a:t>
            </a:r>
            <a:r>
              <a:rPr lang="en-US" b="0" i="0" u="none" strike="noStrike" dirty="0">
                <a:effectLst/>
                <a:latin typeface="Segoe UI" panose="020B0502040204020203" pitchFamily="34" charset="0"/>
                <a:hlinkClick r:id="rId6"/>
              </a:rPr>
              <a:t>VMware Sd-WAN</a:t>
            </a:r>
            <a:r>
              <a:rPr lang="en-US" b="0" i="0" dirty="0">
                <a:solidFill>
                  <a:srgbClr val="171717"/>
                </a:solidFill>
                <a:effectLst/>
                <a:latin typeface="Segoe UI" panose="020B0502040204020203" pitchFamily="34" charset="0"/>
              </a:rPr>
              <a:t> are available to be deployed into the Virtual WAN hub.</a:t>
            </a:r>
            <a:endParaRPr lang="en-US" dirty="0"/>
          </a:p>
          <a:p>
            <a:endParaRPr lang="en-US" dirty="0"/>
          </a:p>
          <a:p>
            <a:r>
              <a:rPr lang="en-US" dirty="0"/>
              <a:t>To deploy an NVA in your virtual hub, you can access the Azure Marketplace through the Azure Portal and select the Managed Application for the NVA partner that you need to enable connectivity for your devices. When you create an NVA in the Virtual WAN hub, like all Managed Applications, there will be two Resource Groups created in your subscription.</a:t>
            </a:r>
          </a:p>
          <a:p>
            <a:r>
              <a:rPr lang="en-US" dirty="0"/>
              <a:t>•	Customer Resource Group - This will contain an application placeholder for the Managed Application. Partners can use this to expose whatever customer properties they choose here.</a:t>
            </a:r>
          </a:p>
          <a:p>
            <a:r>
              <a:rPr lang="en-US" dirty="0"/>
              <a:t>•	Managed Resource Group - Customers cannot configure or change resources in this resource group directly, as this is controlled by the publisher of the Managed Application. This Resource Group will contain the </a:t>
            </a:r>
            <a:r>
              <a:rPr lang="en-US" dirty="0" err="1"/>
              <a:t>NetworkVirtualAppliances</a:t>
            </a:r>
            <a:r>
              <a:rPr lang="en-US" dirty="0"/>
              <a:t> resource.</a:t>
            </a:r>
          </a:p>
          <a:p>
            <a:r>
              <a:rPr lang="en-US" dirty="0"/>
              <a:t>The NVA is configured automatically as part of the deployment process. Once the NVA has been provisioned into the virtual hub, any additional configuration must be performed via the NVA partners portal or management application. You cannot access the NVA directly.</a:t>
            </a:r>
          </a:p>
          <a:p>
            <a:r>
              <a:rPr lang="en-US" dirty="0"/>
              <a:t>Unlike Azure VPN Gateway configurations, you do not need to create Site resources, Site-to-Site connection resources, or point-to-site connection resources to connect your branch sites to your NVA in the Virtual WAN hub. This is all managed via the NVA partner.</a:t>
            </a:r>
          </a:p>
          <a:p>
            <a:r>
              <a:rPr lang="en-US" dirty="0"/>
              <a:t>You still need to create Hub-to-VNet connections to connect your Virtual WAN hub to your Azure VNets.</a:t>
            </a:r>
          </a:p>
          <a:p>
            <a:r>
              <a:rPr lang="en-US" dirty="0"/>
              <a:t>NVA Infrastructure Units</a:t>
            </a:r>
          </a:p>
          <a:p>
            <a:r>
              <a:rPr lang="en-US" dirty="0"/>
              <a:t>When you create an NVA in the Virtual WAN hub, you must choose the number of NVA Infrastructure Units you want to deploy it with. An NVA Infrastructure Unit is a unit of aggregate bandwidth capacity for an NVA in the Virtual WAN hub. An NVA Infrastructure Unit is similar to a VPN Scale Unit in terms of the way you think about capacity and sizing.</a:t>
            </a:r>
          </a:p>
          <a:p>
            <a:r>
              <a:rPr lang="en-US" dirty="0"/>
              <a:t>•	1 NVA Infrastructure Unit represents 500 Mbps of aggregate bandwidth for all branch site connections coming into this NVA.</a:t>
            </a:r>
          </a:p>
          <a:p>
            <a:r>
              <a:rPr lang="en-US" dirty="0"/>
              <a:t>•	Azure supports from 1-80 NVA Infrastructure Units for a given NVA virtual hub deployment.</a:t>
            </a:r>
          </a:p>
          <a:p>
            <a:r>
              <a:rPr lang="en-US" dirty="0"/>
              <a:t>•	Each partner may offer different NVA Infrastructure Unit bundles that are a subset of all supported NVA Infrastructure Unit configurations.</a:t>
            </a:r>
          </a:p>
          <a:p>
            <a:r>
              <a:rPr lang="en-US" dirty="0"/>
              <a:t>To learn more about deploying an NVA, see How to create a Network Virtual Appliance in an Azure Virtual WAN hub (Preview).</a:t>
            </a:r>
          </a:p>
          <a:p>
            <a:endParaRPr lang="en-US" dirty="0"/>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43</a:t>
            </a:fld>
            <a:endParaRPr lang="en-US"/>
          </a:p>
        </p:txBody>
      </p:sp>
    </p:spTree>
    <p:extLst>
      <p:ext uri="{BB962C8B-B14F-4D97-AF65-F5344CB8AC3E}">
        <p14:creationId xmlns:p14="http://schemas.microsoft.com/office/powerpoint/2010/main" val="34200926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deploy an NVA in your virtual hub, you can access the Azure Marketplace through the Azure Portal and select the Managed Application for the NVA partner that you need to enable connectivity for your devices. When you create an NVA in the Virtual WAN hub, like all Managed Applications, there will be two Resource Groups created in your subscription.</a:t>
            </a:r>
          </a:p>
          <a:p>
            <a:r>
              <a:rPr lang="en-US" dirty="0"/>
              <a:t>•	Customer Resource Group - This will contain an application placeholder for the Managed Application. Partners can use this to expose whatever customer properties they choose here.</a:t>
            </a:r>
          </a:p>
          <a:p>
            <a:r>
              <a:rPr lang="en-US" dirty="0"/>
              <a:t>•	Managed Resource Group - Customers cannot configure or change resources in this resource group directly, as this is controlled by the publisher of the Managed Application. This Resource Group will contain the </a:t>
            </a:r>
            <a:r>
              <a:rPr lang="en-US" dirty="0" err="1"/>
              <a:t>NetworkVirtualAppliances</a:t>
            </a:r>
            <a:r>
              <a:rPr lang="en-US" dirty="0"/>
              <a:t> resource.</a:t>
            </a:r>
          </a:p>
          <a:p>
            <a:r>
              <a:rPr lang="en-US" dirty="0"/>
              <a:t>The NVA is configured automatically as part of the deployment process. Once the NVA has been provisioned into the virtual hub, any additional configuration must be performed via the NVA partners portal or management application. You cannot access the NVA directly.</a:t>
            </a:r>
          </a:p>
          <a:p>
            <a:r>
              <a:rPr lang="en-US" dirty="0"/>
              <a:t>Unlike Azure VPN Gateway configurations, you do not need to create Site resources, Site-to-Site connection resources, or point-to-site connection resources to connect your branch sites to your NVA in the Virtual WAN hub. This is all managed via the NVA partner.</a:t>
            </a:r>
          </a:p>
          <a:p>
            <a:r>
              <a:rPr lang="en-US" dirty="0"/>
              <a:t>You still need to create Hub-to-VNet connections to connect your Virtual WAN hub to your Azure VNets.</a:t>
            </a:r>
          </a:p>
          <a:p>
            <a:r>
              <a:rPr lang="en-US" dirty="0"/>
              <a:t>NVA Infrastructure Units</a:t>
            </a:r>
          </a:p>
          <a:p>
            <a:r>
              <a:rPr lang="en-US" dirty="0"/>
              <a:t>When you create an NVA in the Virtual WAN hub, you must choose the number of NVA Infrastructure Units you want to deploy it with. An NVA Infrastructure Unit is a unit of aggregate bandwidth capacity for an NVA in the Virtual WAN hub. An NVA Infrastructure Unit is similar to a VPN Scale Unit in terms of the way you think about capacity and sizing.</a:t>
            </a:r>
          </a:p>
          <a:p>
            <a:r>
              <a:rPr lang="en-US" dirty="0"/>
              <a:t>•	1 NVA Infrastructure Unit represents 500 Mbps of aggregate bandwidth for all branch site connections coming into this NVA.</a:t>
            </a:r>
          </a:p>
          <a:p>
            <a:r>
              <a:rPr lang="en-US" dirty="0"/>
              <a:t>•	Azure supports from 1-80 NVA Infrastructure Units for a given NVA virtual hub deployment.</a:t>
            </a:r>
          </a:p>
          <a:p>
            <a:r>
              <a:rPr lang="en-US" dirty="0"/>
              <a:t>•	Each partner may offer different NVA Infrastructure Unit bundles that are a subset of all supported NVA Infrastructure Unit configurations.</a:t>
            </a:r>
          </a:p>
          <a:p>
            <a:r>
              <a:rPr lang="en-US" dirty="0"/>
              <a:t>To learn more about deploying an NVA, see How to create a Network Virtual Appliance in an Azure Virtual WAN hub (Preview).</a:t>
            </a:r>
          </a:p>
          <a:p>
            <a:endParaRPr lang="en-US" dirty="0"/>
          </a:p>
          <a:p>
            <a:endParaRPr lang="en-US" dirty="0"/>
          </a:p>
        </p:txBody>
      </p:sp>
      <p:sp>
        <p:nvSpPr>
          <p:cNvPr id="4" name="Slide Number Placeholder 3"/>
          <p:cNvSpPr>
            <a:spLocks noGrp="1"/>
          </p:cNvSpPr>
          <p:nvPr>
            <p:ph type="sldNum" sz="quarter" idx="5"/>
          </p:nvPr>
        </p:nvSpPr>
        <p:spPr/>
        <p:txBody>
          <a:bodyPr/>
          <a:lstStyle/>
          <a:p>
            <a:fld id="{C2937227-B364-444B-87D0-DA618E2B9038}" type="slidenum">
              <a:rPr lang="en-US" smtClean="0"/>
              <a:t>44</a:t>
            </a:fld>
            <a:endParaRPr lang="en-US"/>
          </a:p>
        </p:txBody>
      </p:sp>
    </p:spTree>
    <p:extLst>
      <p:ext uri="{BB962C8B-B14F-4D97-AF65-F5344CB8AC3E}">
        <p14:creationId xmlns:p14="http://schemas.microsoft.com/office/powerpoint/2010/main" val="10534524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 - https://docs.microsoft.com/en-us/learn/browse/</a:t>
            </a:r>
          </a:p>
        </p:txBody>
      </p:sp>
      <p:sp>
        <p:nvSpPr>
          <p:cNvPr id="4" name="Slide Number Placeholder 3"/>
          <p:cNvSpPr>
            <a:spLocks noGrp="1"/>
          </p:cNvSpPr>
          <p:nvPr>
            <p:ph type="sldNum" sz="quarter" idx="5"/>
          </p:nvPr>
        </p:nvSpPr>
        <p:spPr/>
        <p:txBody>
          <a:bodyPr/>
          <a:lstStyle/>
          <a:p>
            <a:fld id="{8507DC7E-BC41-4478-BA30-CBCC3A644F0A}" type="slidenum">
              <a:rPr lang="en-US" smtClean="0"/>
              <a:t>45</a:t>
            </a:fld>
            <a:endParaRPr lang="en-US"/>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27EF-CE04-4231-BDE7-C4B5967C05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C8A4AE-8189-4B69-86EE-A27910F222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7A9733-7298-4320-BDAD-D8502184D1C0}"/>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C9AEEFE6-B0A7-4DDE-8404-4222D093F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A998D-E91C-4183-9D63-C8B9BDA8648B}"/>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2815119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F4764-22BC-42FC-BEC3-F5C67F4110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73190B-1127-441D-8AE7-63769E4C8E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3AD91-0894-4324-A0F9-FB2845CB57C9}"/>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76B7190A-ED3D-46C4-B7CD-EFA2BF44A5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D8854-BE80-4E38-8AC8-B7C7359E7B62}"/>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2569436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D872-ABA1-4EE8-9EBA-65A85E6D22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6EC6C3-5F3E-4D9B-904F-34F3FA47E4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DE8609-F8F1-4582-88A1-F63561E94FBD}"/>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A0F836BE-A009-4DDF-B6A1-CFD2DF2772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3A3E5-A4CB-436F-92FD-C4CC5FBBF635}"/>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4109176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65A6-ECF7-4687-8104-B5A317D4F3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02F235-1B95-4199-A030-4F2DC3377D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7593CE-A197-41B9-8D03-48A3663E3D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AD3D55-3FEB-4F24-AAD6-16BD7E9296E7}"/>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6" name="Footer Placeholder 5">
            <a:extLst>
              <a:ext uri="{FF2B5EF4-FFF2-40B4-BE49-F238E27FC236}">
                <a16:creationId xmlns:a16="http://schemas.microsoft.com/office/drawing/2014/main" id="{D1D53940-E538-47FB-8FC7-B865B727B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60BA27-FCA0-46D4-8521-645D59BE208E}"/>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3274334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F9FB-57C6-49B2-8D5E-99BCD0885E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5AB85-47E7-4598-A5A3-60652F87CE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9DB208-7A8C-4675-BFF1-D8F8352B8E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0FE336-9E39-4C2C-95AD-DB18DA173B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F9C83-E14E-4258-80E3-9929425059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6E62B0-9C25-417D-8159-3CF89ABD0CAB}"/>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8" name="Footer Placeholder 7">
            <a:extLst>
              <a:ext uri="{FF2B5EF4-FFF2-40B4-BE49-F238E27FC236}">
                <a16:creationId xmlns:a16="http://schemas.microsoft.com/office/drawing/2014/main" id="{E321722C-34C4-4C5B-BF0D-F485DBD4B6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76A535-34B8-4744-B28F-F7B5C6C8DE2A}"/>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1908993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B2AE-E183-438B-BF44-6EAA7A9D10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EA3BDB-ACBC-49B4-BADB-062B7935E541}"/>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4" name="Footer Placeholder 3">
            <a:extLst>
              <a:ext uri="{FF2B5EF4-FFF2-40B4-BE49-F238E27FC236}">
                <a16:creationId xmlns:a16="http://schemas.microsoft.com/office/drawing/2014/main" id="{DDF83708-7E4D-4A0B-BF45-87F7C1D633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7BB5B5-660A-41EB-B2EA-D3AED320EDD9}"/>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1458920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620F61-EA14-4A58-9BE8-F2B8EAA95522}"/>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3" name="Footer Placeholder 2">
            <a:extLst>
              <a:ext uri="{FF2B5EF4-FFF2-40B4-BE49-F238E27FC236}">
                <a16:creationId xmlns:a16="http://schemas.microsoft.com/office/drawing/2014/main" id="{0659E151-8D61-4F21-901F-878F5A98DA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01D088-5351-49DB-8C6A-02D87D43C857}"/>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3452123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9167-CDFF-4A45-B3A5-A332E68536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FC8315-5C8C-426A-81E7-6EC7E04C8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50EEB6-7AAD-482E-8EC6-785194C2F4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B26CB7-862B-4192-BAF6-8EFAB17CAB93}"/>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6" name="Footer Placeholder 5">
            <a:extLst>
              <a:ext uri="{FF2B5EF4-FFF2-40B4-BE49-F238E27FC236}">
                <a16:creationId xmlns:a16="http://schemas.microsoft.com/office/drawing/2014/main" id="{16F83291-3030-44EE-BE34-BB098DE5BD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A7C628-C790-4BFF-B71C-CD78C5264BA1}"/>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67152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A611F-B152-4D3B-9E95-114A3A6CC6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B51F75-137E-460C-A7F5-D387B61B85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8920A9-047F-467B-81AA-A6ADAEF2C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9EEE63-2ADC-4411-828C-4550379EADA9}"/>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6" name="Footer Placeholder 5">
            <a:extLst>
              <a:ext uri="{FF2B5EF4-FFF2-40B4-BE49-F238E27FC236}">
                <a16:creationId xmlns:a16="http://schemas.microsoft.com/office/drawing/2014/main" id="{DBF37E1F-495B-4DF3-A3B8-3BE4B082D0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702D0F-A64A-4937-8FFA-D00E4C478A07}"/>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2616205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63574-E33F-425C-92D4-1A982989BE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05D2DD-A357-4F90-BE2E-4057E1AA23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F171E5-7AF4-464D-B4CC-815D9FB9CCFA}"/>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19A60E83-D955-4617-91AE-50FE5E0734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F2274-6032-4EC7-B9C7-4221FCFA458C}"/>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694395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B33CD-D80E-431D-B9AF-7F7C2E3679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1F5082-DC54-4EBE-9403-3B7187F5A6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A5D38-B390-4238-B225-7ECE62F47D10}"/>
              </a:ext>
            </a:extLst>
          </p:cNvPr>
          <p:cNvSpPr>
            <a:spLocks noGrp="1"/>
          </p:cNvSpPr>
          <p:nvPr>
            <p:ph type="dt" sz="half" idx="10"/>
          </p:nvPr>
        </p:nvSpPr>
        <p:spPr/>
        <p:txBody>
          <a:body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099D2B7F-6B8D-477B-BF2F-6CDC8A765F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53233A-09A4-4D57-BD8C-8CA0F5AB7311}"/>
              </a:ext>
            </a:extLst>
          </p:cNvPr>
          <p:cNvSpPr>
            <a:spLocks noGrp="1"/>
          </p:cNvSpPr>
          <p:nvPr>
            <p:ph type="sldNum" sz="quarter" idx="12"/>
          </p:nvPr>
        </p:nvSpPr>
        <p:spPr/>
        <p:txBody>
          <a:bodyPr/>
          <a:lstStyle/>
          <a:p>
            <a:fld id="{DBC7705A-76BB-4D1D-B485-652370D48091}" type="slidenum">
              <a:rPr lang="en-US" smtClean="0"/>
              <a:t>‹#›</a:t>
            </a:fld>
            <a:endParaRPr lang="en-US"/>
          </a:p>
        </p:txBody>
      </p:sp>
    </p:spTree>
    <p:extLst>
      <p:ext uri="{BB962C8B-B14F-4D97-AF65-F5344CB8AC3E}">
        <p14:creationId xmlns:p14="http://schemas.microsoft.com/office/powerpoint/2010/main" val="2586911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281915303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CAC636FD-8B7A-4800-AB08-3D6AA6585803}"/>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413484896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3" name="Footer Placeholder 1">
            <a:extLst>
              <a:ext uri="{FF2B5EF4-FFF2-40B4-BE49-F238E27FC236}">
                <a16:creationId xmlns:a16="http://schemas.microsoft.com/office/drawing/2014/main" id="{321C5BC6-3576-4A3E-899B-09DB91CBC4CB}"/>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a:t>© Copyright Microsoft Corporation. All rights reserved.</a:t>
            </a:r>
          </a:p>
        </p:txBody>
      </p:sp>
    </p:spTree>
    <p:extLst>
      <p:ext uri="{BB962C8B-B14F-4D97-AF65-F5344CB8AC3E}">
        <p14:creationId xmlns:p14="http://schemas.microsoft.com/office/powerpoint/2010/main" val="149720733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8969615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624441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132161917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27971890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spTree>
    <p:extLst>
      <p:ext uri="{BB962C8B-B14F-4D97-AF65-F5344CB8AC3E}">
        <p14:creationId xmlns:p14="http://schemas.microsoft.com/office/powerpoint/2010/main" val="146677180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3285469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0153651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9872846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7743284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3327809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4938988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94946749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7629453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37601943"/>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1265110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41596900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2729323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6177759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8630531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8097179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50705080"/>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5279380"/>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7994689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6758715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310369868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0548174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7334878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834180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8985617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7337545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74084967"/>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1603794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76419220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0941834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ext option -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1"/>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userDrawn="1"/>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3344578" y="2739465"/>
            <a:ext cx="2603367" cy="2785036"/>
          </a:xfrm>
          <a:prstGeom prst="rect">
            <a:avLst/>
          </a:prstGeo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userDrawn="1"/>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6258062"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userDrawn="1"/>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9171546" y="2739465"/>
            <a:ext cx="2603367" cy="2785036"/>
          </a:xfrm>
          <a:prstGeom prst="rect">
            <a:avLst/>
          </a:prstGeo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19D8CB66-B611-4CE7-A43F-AA9D9AFBFDA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7956348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5060051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69531114"/>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0264817"/>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11165049"/>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1617948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615365749"/>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8654778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3929370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0701619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0283900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7026248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0482072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7308980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3422253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6108640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25964737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23566000"/>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134955160"/>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7806007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4272923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9161301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45770607"/>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7609746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606828554"/>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9286191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40804706"/>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06413381"/>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24361179"/>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7828761"/>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934334415"/>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6852503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52863996"/>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14391357"/>
      </p:ext>
    </p:extLst>
  </p:cSld>
  <p:clrMapOvr>
    <a:masterClrMapping/>
  </p:clrMapOvr>
  <p:transition>
    <p:fade/>
  </p:transition>
  <p:extLst>
    <p:ext uri="{DCECCB84-F9BA-43D5-87BE-67443E8EF086}">
      <p15:sldGuideLst xmlns:p15="http://schemas.microsoft.com/office/powerpoint/2012/main">
        <p15:guide id="1" orient="horz" pos="3432">
          <p15:clr>
            <a:srgbClr val="FBAE40"/>
          </p15:clr>
        </p15:guide>
        <p15:guide id="2" orient="horz" pos="3572">
          <p15:clr>
            <a:srgbClr val="FBAE40"/>
          </p15:clr>
        </p15:guide>
        <p15:guide id="3" orient="horz" pos="328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27218318"/>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854664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92218324"/>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476343369"/>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08059007"/>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userDrawn="1"/>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3406535916"/>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05685712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0.xml"/><Relationship Id="rId21" Type="http://schemas.openxmlformats.org/officeDocument/2006/relationships/slideLayout" Target="../slideLayouts/slideLayout35.xml"/><Relationship Id="rId42" Type="http://schemas.openxmlformats.org/officeDocument/2006/relationships/slideLayout" Target="../slideLayouts/slideLayout56.xml"/><Relationship Id="rId47" Type="http://schemas.openxmlformats.org/officeDocument/2006/relationships/slideLayout" Target="../slideLayouts/slideLayout61.xml"/><Relationship Id="rId63" Type="http://schemas.openxmlformats.org/officeDocument/2006/relationships/slideLayout" Target="../slideLayouts/slideLayout77.xml"/><Relationship Id="rId68" Type="http://schemas.openxmlformats.org/officeDocument/2006/relationships/slideLayout" Target="../slideLayouts/slideLayout8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9" Type="http://schemas.openxmlformats.org/officeDocument/2006/relationships/slideLayout" Target="../slideLayouts/slideLayout43.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slideLayout" Target="../slideLayouts/slideLayout51.xml"/><Relationship Id="rId40" Type="http://schemas.openxmlformats.org/officeDocument/2006/relationships/slideLayout" Target="../slideLayouts/slideLayout54.xml"/><Relationship Id="rId45" Type="http://schemas.openxmlformats.org/officeDocument/2006/relationships/slideLayout" Target="../slideLayouts/slideLayout59.xml"/><Relationship Id="rId53" Type="http://schemas.openxmlformats.org/officeDocument/2006/relationships/slideLayout" Target="../slideLayouts/slideLayout67.xml"/><Relationship Id="rId58" Type="http://schemas.openxmlformats.org/officeDocument/2006/relationships/slideLayout" Target="../slideLayouts/slideLayout72.xml"/><Relationship Id="rId66" Type="http://schemas.openxmlformats.org/officeDocument/2006/relationships/slideLayout" Target="../slideLayouts/slideLayout80.xml"/><Relationship Id="rId74" Type="http://schemas.openxmlformats.org/officeDocument/2006/relationships/slideLayout" Target="../slideLayouts/slideLayout88.xml"/><Relationship Id="rId5" Type="http://schemas.openxmlformats.org/officeDocument/2006/relationships/slideLayout" Target="../slideLayouts/slideLayout19.xml"/><Relationship Id="rId61" Type="http://schemas.openxmlformats.org/officeDocument/2006/relationships/slideLayout" Target="../slideLayouts/slideLayout75.xml"/><Relationship Id="rId19" Type="http://schemas.openxmlformats.org/officeDocument/2006/relationships/slideLayout" Target="../slideLayouts/slideLayout3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slideLayout" Target="../slideLayouts/slideLayout49.xml"/><Relationship Id="rId43" Type="http://schemas.openxmlformats.org/officeDocument/2006/relationships/slideLayout" Target="../slideLayouts/slideLayout57.xml"/><Relationship Id="rId48" Type="http://schemas.openxmlformats.org/officeDocument/2006/relationships/slideLayout" Target="../slideLayouts/slideLayout62.xml"/><Relationship Id="rId56" Type="http://schemas.openxmlformats.org/officeDocument/2006/relationships/slideLayout" Target="../slideLayouts/slideLayout70.xml"/><Relationship Id="rId64" Type="http://schemas.openxmlformats.org/officeDocument/2006/relationships/slideLayout" Target="../slideLayouts/slideLayout78.xml"/><Relationship Id="rId69" Type="http://schemas.openxmlformats.org/officeDocument/2006/relationships/slideLayout" Target="../slideLayouts/slideLayout83.xml"/><Relationship Id="rId8" Type="http://schemas.openxmlformats.org/officeDocument/2006/relationships/slideLayout" Target="../slideLayouts/slideLayout22.xml"/><Relationship Id="rId51" Type="http://schemas.openxmlformats.org/officeDocument/2006/relationships/slideLayout" Target="../slideLayouts/slideLayout65.xml"/><Relationship Id="rId72" Type="http://schemas.openxmlformats.org/officeDocument/2006/relationships/slideLayout" Target="../slideLayouts/slideLayout86.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slideLayout" Target="../slideLayouts/slideLayout47.xml"/><Relationship Id="rId38" Type="http://schemas.openxmlformats.org/officeDocument/2006/relationships/slideLayout" Target="../slideLayouts/slideLayout52.xml"/><Relationship Id="rId46" Type="http://schemas.openxmlformats.org/officeDocument/2006/relationships/slideLayout" Target="../slideLayouts/slideLayout60.xml"/><Relationship Id="rId59" Type="http://schemas.openxmlformats.org/officeDocument/2006/relationships/slideLayout" Target="../slideLayouts/slideLayout73.xml"/><Relationship Id="rId67" Type="http://schemas.openxmlformats.org/officeDocument/2006/relationships/slideLayout" Target="../slideLayouts/slideLayout81.xml"/><Relationship Id="rId20" Type="http://schemas.openxmlformats.org/officeDocument/2006/relationships/slideLayout" Target="../slideLayouts/slideLayout34.xml"/><Relationship Id="rId41" Type="http://schemas.openxmlformats.org/officeDocument/2006/relationships/slideLayout" Target="../slideLayouts/slideLayout55.xml"/><Relationship Id="rId54" Type="http://schemas.openxmlformats.org/officeDocument/2006/relationships/slideLayout" Target="../slideLayouts/slideLayout68.xml"/><Relationship Id="rId62" Type="http://schemas.openxmlformats.org/officeDocument/2006/relationships/slideLayout" Target="../slideLayouts/slideLayout76.xml"/><Relationship Id="rId70" Type="http://schemas.openxmlformats.org/officeDocument/2006/relationships/slideLayout" Target="../slideLayouts/slideLayout84.xml"/><Relationship Id="rId75" Type="http://schemas.openxmlformats.org/officeDocument/2006/relationships/slideLayout" Target="../slideLayouts/slideLayout8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slideLayout" Target="../slideLayouts/slideLayout50.xml"/><Relationship Id="rId49" Type="http://schemas.openxmlformats.org/officeDocument/2006/relationships/slideLayout" Target="../slideLayouts/slideLayout63.xml"/><Relationship Id="rId57" Type="http://schemas.openxmlformats.org/officeDocument/2006/relationships/slideLayout" Target="../slideLayouts/slideLayout71.xml"/><Relationship Id="rId10" Type="http://schemas.openxmlformats.org/officeDocument/2006/relationships/slideLayout" Target="../slideLayouts/slideLayout24.xml"/><Relationship Id="rId31" Type="http://schemas.openxmlformats.org/officeDocument/2006/relationships/slideLayout" Target="../slideLayouts/slideLayout45.xml"/><Relationship Id="rId44" Type="http://schemas.openxmlformats.org/officeDocument/2006/relationships/slideLayout" Target="../slideLayouts/slideLayout58.xml"/><Relationship Id="rId52" Type="http://schemas.openxmlformats.org/officeDocument/2006/relationships/slideLayout" Target="../slideLayouts/slideLayout66.xml"/><Relationship Id="rId60" Type="http://schemas.openxmlformats.org/officeDocument/2006/relationships/slideLayout" Target="../slideLayouts/slideLayout74.xml"/><Relationship Id="rId65" Type="http://schemas.openxmlformats.org/officeDocument/2006/relationships/slideLayout" Target="../slideLayouts/slideLayout79.xml"/><Relationship Id="rId73" Type="http://schemas.openxmlformats.org/officeDocument/2006/relationships/slideLayout" Target="../slideLayouts/slideLayout8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9" Type="http://schemas.openxmlformats.org/officeDocument/2006/relationships/slideLayout" Target="../slideLayouts/slideLayout53.xml"/><Relationship Id="rId34" Type="http://schemas.openxmlformats.org/officeDocument/2006/relationships/slideLayout" Target="../slideLayouts/slideLayout48.xml"/><Relationship Id="rId50" Type="http://schemas.openxmlformats.org/officeDocument/2006/relationships/slideLayout" Target="../slideLayouts/slideLayout64.xml"/><Relationship Id="rId55" Type="http://schemas.openxmlformats.org/officeDocument/2006/relationships/slideLayout" Target="../slideLayouts/slideLayout69.xml"/><Relationship Id="rId76" Type="http://schemas.openxmlformats.org/officeDocument/2006/relationships/theme" Target="../theme/theme2.xml"/><Relationship Id="rId7" Type="http://schemas.openxmlformats.org/officeDocument/2006/relationships/slideLayout" Target="../slideLayouts/slideLayout21.xml"/><Relationship Id="rId7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3F1AC5-9E32-4937-A9B7-2E187405CF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A94867-DCA5-4470-824D-5C9D384DFB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9FE5A8-8B21-442C-8ECF-C1EC0700A8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A05A5A-550B-4532-AFE0-6DA9DF8AC0EB}" type="datetimeFigureOut">
              <a:rPr lang="en-US" smtClean="0"/>
              <a:t>2/9/2022</a:t>
            </a:fld>
            <a:endParaRPr lang="en-US"/>
          </a:p>
        </p:txBody>
      </p:sp>
      <p:sp>
        <p:nvSpPr>
          <p:cNvPr id="5" name="Footer Placeholder 4">
            <a:extLst>
              <a:ext uri="{FF2B5EF4-FFF2-40B4-BE49-F238E27FC236}">
                <a16:creationId xmlns:a16="http://schemas.microsoft.com/office/drawing/2014/main" id="{AB8BD9CF-4928-4E82-85BC-DD4DDF7B27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D5284D-968C-482E-8AD5-A91D421561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C7705A-76BB-4D1D-B485-652370D48091}" type="slidenum">
              <a:rPr lang="en-US" smtClean="0"/>
              <a:t>‹#›</a:t>
            </a:fld>
            <a:endParaRPr lang="en-US"/>
          </a:p>
        </p:txBody>
      </p:sp>
    </p:spTree>
    <p:extLst>
      <p:ext uri="{BB962C8B-B14F-4D97-AF65-F5344CB8AC3E}">
        <p14:creationId xmlns:p14="http://schemas.microsoft.com/office/powerpoint/2010/main" val="3305099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a:solidFill>
                  <a:schemeClr val="bg1">
                    <a:lumMod val="75000"/>
                  </a:schemeClr>
                </a:solidFill>
              </a:rPr>
              <a:t>Closed captioning</a:t>
            </a:r>
            <a:br>
              <a:rPr lang="en-US" sz="700">
                <a:solidFill>
                  <a:schemeClr val="bg1">
                    <a:lumMod val="75000"/>
                  </a:schemeClr>
                </a:solidFill>
              </a:rPr>
            </a:br>
            <a:r>
              <a:rPr lang="en-US" sz="70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2278659233"/>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 id="2147483711" r:id="rId47"/>
    <p:sldLayoutId id="2147483712" r:id="rId48"/>
    <p:sldLayoutId id="2147483713" r:id="rId49"/>
    <p:sldLayoutId id="2147483714" r:id="rId50"/>
    <p:sldLayoutId id="2147483715" r:id="rId51"/>
    <p:sldLayoutId id="2147483716" r:id="rId52"/>
    <p:sldLayoutId id="2147483717" r:id="rId53"/>
    <p:sldLayoutId id="2147483718" r:id="rId54"/>
    <p:sldLayoutId id="2147483719" r:id="rId55"/>
    <p:sldLayoutId id="2147483720" r:id="rId56"/>
    <p:sldLayoutId id="2147483721" r:id="rId57"/>
    <p:sldLayoutId id="2147483722" r:id="rId58"/>
    <p:sldLayoutId id="2147483723" r:id="rId59"/>
    <p:sldLayoutId id="2147483724" r:id="rId60"/>
    <p:sldLayoutId id="2147483725" r:id="rId61"/>
    <p:sldLayoutId id="2147483726" r:id="rId62"/>
    <p:sldLayoutId id="2147483727" r:id="rId63"/>
    <p:sldLayoutId id="2147483728" r:id="rId64"/>
    <p:sldLayoutId id="2147483729" r:id="rId65"/>
    <p:sldLayoutId id="2147483730" r:id="rId66"/>
    <p:sldLayoutId id="2147483731" r:id="rId67"/>
    <p:sldLayoutId id="2147483732" r:id="rId68"/>
    <p:sldLayoutId id="2147483733" r:id="rId69"/>
    <p:sldLayoutId id="2147483734" r:id="rId70"/>
    <p:sldLayoutId id="2147483735" r:id="rId71"/>
    <p:sldLayoutId id="2147483736" r:id="rId72"/>
    <p:sldLayoutId id="2147483737" r:id="rId73"/>
    <p:sldLayoutId id="2147483738" r:id="rId74"/>
    <p:sldLayoutId id="2147483739" r:id="rId75"/>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xml"/><Relationship Id="rId1" Type="http://schemas.openxmlformats.org/officeDocument/2006/relationships/slideLayout" Target="../slideLayouts/slideLayout6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8.emf"/><Relationship Id="rId7" Type="http://schemas.openxmlformats.org/officeDocument/2006/relationships/image" Target="../media/image23.emf"/><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image" Target="../media/image21.emf"/><Relationship Id="rId5" Type="http://schemas.openxmlformats.org/officeDocument/2006/relationships/image" Target="../media/image22.emf"/><Relationship Id="rId4" Type="http://schemas.openxmlformats.org/officeDocument/2006/relationships/image" Target="../media/image19.emf"/></Relationships>
</file>

<file path=ppt/slides/_rels/slide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slides/_rels/slide1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hyperlink" Target="https://docs.microsoft.com/en-us/azure/vpn-gateway/vpn-gateway-about-vpngateways" TargetMode="External"/><Relationship Id="rId4" Type="http://schemas.openxmlformats.org/officeDocument/2006/relationships/hyperlink" Target="https://docs.microsoft.com/en-us/azure/vpn-gateway/"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6.xml"/><Relationship Id="rId1" Type="http://schemas.openxmlformats.org/officeDocument/2006/relationships/slideLayout" Target="../slideLayouts/slideLayout30.x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hyperlink" Target="https://docs.microsoft.com/en-us/azure/vpn-gateway/tutorial-site-to-site-porta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31.xml"/><Relationship Id="rId6" Type="http://schemas.openxmlformats.org/officeDocument/2006/relationships/image" Target="../media/image21.emf"/><Relationship Id="rId5" Type="http://schemas.openxmlformats.org/officeDocument/2006/relationships/image" Target="../media/image22.emf"/><Relationship Id="rId4" Type="http://schemas.openxmlformats.org/officeDocument/2006/relationships/image" Target="../media/image19.emf"/></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hyperlink" Target="https://docs.microsoft.com/en-us/azure/vpn-gateway/vpn-gateway-howto-always-on-device-tunnel" TargetMode="External"/><Relationship Id="rId4" Type="http://schemas.openxmlformats.org/officeDocument/2006/relationships/hyperlink" Target="https://docs.microsoft.com/en-us/azure/vpn-gateway/vpn-gateway-howto-point-to-site-resource-manager-portal"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8.emf"/><Relationship Id="rId7"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33.xml"/><Relationship Id="rId6" Type="http://schemas.openxmlformats.org/officeDocument/2006/relationships/image" Target="../media/image21.emf"/><Relationship Id="rId5"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image" Target="../media/image46.emf"/></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54.wmf"/></Relationships>
</file>

<file path=ppt/slides/_rels/slide37.xml.rels><?xml version="1.0" encoding="UTF-8" standalone="yes"?>
<Relationships xmlns="http://schemas.openxmlformats.org/package/2006/relationships"><Relationship Id="rId3" Type="http://schemas.openxmlformats.org/officeDocument/2006/relationships/hyperlink" Target="https://docs.microsoft.com/en-us/azure/virtual-wan/virtual-wan-about" TargetMode="External"/><Relationship Id="rId2" Type="http://schemas.openxmlformats.org/officeDocument/2006/relationships/notesSlide" Target="../notesSlides/notesSlide32.xml"/><Relationship Id="rId1" Type="http://schemas.openxmlformats.org/officeDocument/2006/relationships/slideLayout" Target="../slideLayouts/slideLayout14.xml"/><Relationship Id="rId5" Type="http://schemas.openxmlformats.org/officeDocument/2006/relationships/hyperlink" Target="https://docs.microsoft.com/en-us/azure/virtual-wan/" TargetMode="External"/><Relationship Id="rId4" Type="http://schemas.openxmlformats.org/officeDocument/2006/relationships/image" Target="../media/image40.emf"/></Relationships>
</file>

<file path=ppt/slides/_rels/slide3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5.xml"/><Relationship Id="rId1" Type="http://schemas.openxmlformats.org/officeDocument/2006/relationships/slideLayout" Target="../slideLayouts/slideLayout30.xml"/><Relationship Id="rId5" Type="http://schemas.openxmlformats.org/officeDocument/2006/relationships/image" Target="../media/image22.emf"/><Relationship Id="rId4" Type="http://schemas.openxmlformats.org/officeDocument/2006/relationships/image" Target="../media/image19.emf"/></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39.xml"/><Relationship Id="rId1" Type="http://schemas.openxmlformats.org/officeDocument/2006/relationships/slideLayout" Target="../slideLayouts/slideLayout14.xml"/><Relationship Id="rId5" Type="http://schemas.openxmlformats.org/officeDocument/2006/relationships/hyperlink" Target="https://docs.microsoft.com/en-us/azure/firewall-manager/secured-virtual-hub?toc=/azure/virtual-wan/toc.json" TargetMode="External"/><Relationship Id="rId4" Type="http://schemas.openxmlformats.org/officeDocument/2006/relationships/hyperlink" Target="https://docs.microsoft.com/en-us/azure/virtual-wan/about-nva-hub"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a:bodyPr>
          <a:lstStyle/>
          <a:p>
            <a:r>
              <a:rPr lang="en-US" sz="4509" dirty="0">
                <a:latin typeface="Segoe UI Semibold" panose="020B0702040204020203" pitchFamily="34" charset="0"/>
                <a:cs typeface="Segoe UI Semibold" panose="020B0702040204020203" pitchFamily="34" charset="0"/>
              </a:rPr>
              <a:t>AZ-700T00A </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02: Design and Implement Hybrid Networking</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Module Overview</a:t>
            </a:r>
          </a:p>
        </p:txBody>
      </p:sp>
      <p:sp>
        <p:nvSpPr>
          <p:cNvPr id="6" name="Text Placeholder 5"/>
          <p:cNvSpPr>
            <a:spLocks noGrp="1"/>
          </p:cNvSpPr>
          <p:nvPr>
            <p:ph type="body" sz="quarter" idx="11"/>
          </p:nvPr>
        </p:nvSpPr>
        <p:spPr/>
        <p:txBody>
          <a:bodyPr/>
          <a:lstStyle/>
          <a:p>
            <a:pPr lvl="1"/>
            <a:r>
              <a:rPr lang="en-US" dirty="0"/>
              <a:t>Lesson 01: Design and implement Azure VPN Gateway</a:t>
            </a:r>
          </a:p>
        </p:txBody>
      </p:sp>
      <p:sp>
        <p:nvSpPr>
          <p:cNvPr id="2" name="Text Placeholder 1"/>
          <p:cNvSpPr>
            <a:spLocks noGrp="1"/>
          </p:cNvSpPr>
          <p:nvPr>
            <p:ph type="body" sz="quarter" idx="15"/>
          </p:nvPr>
        </p:nvSpPr>
        <p:spPr/>
        <p:txBody>
          <a:bodyPr/>
          <a:lstStyle/>
          <a:p>
            <a:pPr lvl="1"/>
            <a:r>
              <a:rPr lang="en-US" dirty="0"/>
              <a:t>Lesson 02: Exercise - Create and configure a Virtual Network Gateway</a:t>
            </a:r>
          </a:p>
        </p:txBody>
      </p:sp>
      <p:sp>
        <p:nvSpPr>
          <p:cNvPr id="3" name="Text Placeholder 2"/>
          <p:cNvSpPr>
            <a:spLocks noGrp="1"/>
          </p:cNvSpPr>
          <p:nvPr>
            <p:ph type="body" sz="quarter" idx="17"/>
          </p:nvPr>
        </p:nvSpPr>
        <p:spPr/>
        <p:txBody>
          <a:bodyPr/>
          <a:lstStyle/>
          <a:p>
            <a:pPr lvl="1"/>
            <a:r>
              <a:rPr lang="en-US" dirty="0"/>
              <a:t>Lesson 03: Connect networks with Site-to-site VPN connections</a:t>
            </a:r>
          </a:p>
        </p:txBody>
      </p:sp>
      <p:sp>
        <p:nvSpPr>
          <p:cNvPr id="4" name="Text Placeholder 3"/>
          <p:cNvSpPr>
            <a:spLocks noGrp="1"/>
          </p:cNvSpPr>
          <p:nvPr>
            <p:ph type="body" sz="quarter" idx="19"/>
          </p:nvPr>
        </p:nvSpPr>
        <p:spPr/>
        <p:txBody>
          <a:bodyPr/>
          <a:lstStyle/>
          <a:p>
            <a:pPr lvl="1"/>
            <a:r>
              <a:rPr lang="en-US" dirty="0"/>
              <a:t>Lesson 04: Connect devices to networks with Point-to-site VPN connections</a:t>
            </a:r>
          </a:p>
        </p:txBody>
      </p:sp>
      <p:sp>
        <p:nvSpPr>
          <p:cNvPr id="8" name="Text Placeholder 7">
            <a:extLst>
              <a:ext uri="{FF2B5EF4-FFF2-40B4-BE49-F238E27FC236}">
                <a16:creationId xmlns:a16="http://schemas.microsoft.com/office/drawing/2014/main" id="{4C970C09-C124-49EF-A806-956DD6EAA798}"/>
              </a:ext>
            </a:extLst>
          </p:cNvPr>
          <p:cNvSpPr>
            <a:spLocks noGrp="1"/>
          </p:cNvSpPr>
          <p:nvPr>
            <p:ph type="body" sz="quarter" idx="31"/>
          </p:nvPr>
        </p:nvSpPr>
        <p:spPr/>
        <p:txBody>
          <a:bodyPr/>
          <a:lstStyle/>
          <a:p>
            <a:pPr lvl="1"/>
            <a:r>
              <a:rPr lang="en-US" dirty="0"/>
              <a:t>Lesson 05: Connect remote resources by using Azure Virtual WANs</a:t>
            </a:r>
          </a:p>
        </p:txBody>
      </p:sp>
      <p:sp>
        <p:nvSpPr>
          <p:cNvPr id="9" name="Text Placeholder 8">
            <a:extLst>
              <a:ext uri="{FF2B5EF4-FFF2-40B4-BE49-F238E27FC236}">
                <a16:creationId xmlns:a16="http://schemas.microsoft.com/office/drawing/2014/main" id="{597E9C1C-70B1-4FF1-BDCE-E3611225B156}"/>
              </a:ext>
            </a:extLst>
          </p:cNvPr>
          <p:cNvSpPr>
            <a:spLocks noGrp="1"/>
          </p:cNvSpPr>
          <p:nvPr>
            <p:ph type="body" sz="quarter" idx="32"/>
          </p:nvPr>
        </p:nvSpPr>
        <p:spPr/>
        <p:txBody>
          <a:bodyPr/>
          <a:lstStyle/>
          <a:p>
            <a:pPr lvl="1"/>
            <a:r>
              <a:rPr lang="en-US" dirty="0"/>
              <a:t>Lesson 06: Exercise - Create a Virtual WAN by using the Azure Portal </a:t>
            </a:r>
          </a:p>
        </p:txBody>
      </p:sp>
      <p:sp>
        <p:nvSpPr>
          <p:cNvPr id="10" name="Text Placeholder 9">
            <a:extLst>
              <a:ext uri="{FF2B5EF4-FFF2-40B4-BE49-F238E27FC236}">
                <a16:creationId xmlns:a16="http://schemas.microsoft.com/office/drawing/2014/main" id="{2D95B341-ABC5-4ED8-9462-B7B4216DF042}"/>
              </a:ext>
            </a:extLst>
          </p:cNvPr>
          <p:cNvSpPr>
            <a:spLocks noGrp="1"/>
          </p:cNvSpPr>
          <p:nvPr>
            <p:ph type="body" sz="quarter" idx="33"/>
          </p:nvPr>
        </p:nvSpPr>
        <p:spPr/>
        <p:txBody>
          <a:bodyPr/>
          <a:lstStyle/>
          <a:p>
            <a:pPr lvl="1"/>
            <a:r>
              <a:rPr lang="en-US" dirty="0"/>
              <a:t>Lesson 07: Create a network virtual appliance (NVA) in a virtual hub </a:t>
            </a:r>
          </a:p>
        </p:txBody>
      </p:sp>
      <p:grpSp>
        <p:nvGrpSpPr>
          <p:cNvPr id="5" name="Group 4">
            <a:extLst>
              <a:ext uri="{FF2B5EF4-FFF2-40B4-BE49-F238E27FC236}">
                <a16:creationId xmlns:a16="http://schemas.microsoft.com/office/drawing/2014/main" id="{6DDCAA5E-7E00-4B03-A013-C872D4B2DFF2}"/>
              </a:ext>
              <a:ext uri="{C183D7F6-B498-43B3-948B-1728B52AA6E4}">
                <adec:decorative xmlns:adec="http://schemas.microsoft.com/office/drawing/2017/decorative" val="1"/>
              </a:ext>
            </a:extLst>
          </p:cNvPr>
          <p:cNvGrpSpPr/>
          <p:nvPr/>
        </p:nvGrpSpPr>
        <p:grpSpPr>
          <a:xfrm>
            <a:off x="418643" y="1441758"/>
            <a:ext cx="717140" cy="3255617"/>
            <a:chOff x="418643" y="1441758"/>
            <a:chExt cx="717140" cy="3255617"/>
          </a:xfrm>
        </p:grpSpPr>
        <p:grpSp>
          <p:nvGrpSpPr>
            <p:cNvPr id="41" name="Group 40">
              <a:extLst>
                <a:ext uri="{FF2B5EF4-FFF2-40B4-BE49-F238E27FC236}">
                  <a16:creationId xmlns:a16="http://schemas.microsoft.com/office/drawing/2014/main" id="{DDB96B85-21AC-4E2C-B52F-760B90C12459}"/>
                </a:ext>
              </a:extLst>
            </p:cNvPr>
            <p:cNvGrpSpPr/>
            <p:nvPr/>
          </p:nvGrpSpPr>
          <p:grpSpPr>
            <a:xfrm>
              <a:off x="418643" y="1441758"/>
              <a:ext cx="717140" cy="717242"/>
              <a:chOff x="418643" y="1441758"/>
              <a:chExt cx="717140" cy="717242"/>
            </a:xfrm>
          </p:grpSpPr>
          <p:grpSp>
            <p:nvGrpSpPr>
              <p:cNvPr id="23" name="Group 22">
                <a:extLst>
                  <a:ext uri="{FF2B5EF4-FFF2-40B4-BE49-F238E27FC236}">
                    <a16:creationId xmlns:a16="http://schemas.microsoft.com/office/drawing/2014/main" id="{CB713C76-4F2D-4DA7-8DFA-9C41878BB94E}"/>
                  </a:ext>
                </a:extLst>
              </p:cNvPr>
              <p:cNvGrpSpPr/>
              <p:nvPr/>
            </p:nvGrpSpPr>
            <p:grpSpPr>
              <a:xfrm>
                <a:off x="418643" y="1441758"/>
                <a:ext cx="717140" cy="717242"/>
                <a:chOff x="418643" y="1441758"/>
                <a:chExt cx="717140" cy="717242"/>
              </a:xfrm>
            </p:grpSpPr>
            <p:sp>
              <p:nvSpPr>
                <p:cNvPr id="437" name="Freeform 5">
                  <a:extLst>
                    <a:ext uri="{FF2B5EF4-FFF2-40B4-BE49-F238E27FC236}">
                      <a16:creationId xmlns:a16="http://schemas.microsoft.com/office/drawing/2014/main" id="{62DF44AF-1A0C-4B66-B6D6-EF98C8C6F9B2}"/>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38" name="Freeform 6">
                  <a:extLst>
                    <a:ext uri="{FF2B5EF4-FFF2-40B4-BE49-F238E27FC236}">
                      <a16:creationId xmlns:a16="http://schemas.microsoft.com/office/drawing/2014/main" id="{9CDBFDD5-398A-4CB1-B92E-B4D024B3A4E5}"/>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DD3B672E-8841-4C9C-BA26-55DF9EF6C671}"/>
                  </a:ext>
                </a:extLst>
              </p:cNvPr>
              <p:cNvPicPr>
                <a:picLocks noChangeAspect="1"/>
              </p:cNvPicPr>
              <p:nvPr/>
            </p:nvPicPr>
            <p:blipFill>
              <a:blip r:embed="rId3"/>
              <a:stretch>
                <a:fillRect/>
              </a:stretch>
            </p:blipFill>
            <p:spPr>
              <a:xfrm>
                <a:off x="588767" y="1611934"/>
                <a:ext cx="376892" cy="376890"/>
              </a:xfrm>
              <a:prstGeom prst="rect">
                <a:avLst/>
              </a:prstGeom>
            </p:spPr>
          </p:pic>
        </p:grpSp>
        <p:grpSp>
          <p:nvGrpSpPr>
            <p:cNvPr id="40" name="Group 39">
              <a:extLst>
                <a:ext uri="{FF2B5EF4-FFF2-40B4-BE49-F238E27FC236}">
                  <a16:creationId xmlns:a16="http://schemas.microsoft.com/office/drawing/2014/main" id="{8C858700-6A33-49E5-96C8-2D574B8F02ED}"/>
                </a:ext>
              </a:extLst>
            </p:cNvPr>
            <p:cNvGrpSpPr/>
            <p:nvPr/>
          </p:nvGrpSpPr>
          <p:grpSpPr>
            <a:xfrm>
              <a:off x="418643" y="2287883"/>
              <a:ext cx="717140" cy="717242"/>
              <a:chOff x="418643" y="2287883"/>
              <a:chExt cx="717140" cy="717242"/>
            </a:xfrm>
          </p:grpSpPr>
          <p:grpSp>
            <p:nvGrpSpPr>
              <p:cNvPr id="24" name="Group 23">
                <a:extLst>
                  <a:ext uri="{FF2B5EF4-FFF2-40B4-BE49-F238E27FC236}">
                    <a16:creationId xmlns:a16="http://schemas.microsoft.com/office/drawing/2014/main" id="{C6B8A81B-3C2B-4999-8E6E-2A8FE4213AD4}"/>
                  </a:ext>
                </a:extLst>
              </p:cNvPr>
              <p:cNvGrpSpPr/>
              <p:nvPr/>
            </p:nvGrpSpPr>
            <p:grpSpPr>
              <a:xfrm>
                <a:off x="418643" y="2287883"/>
                <a:ext cx="717140" cy="717242"/>
                <a:chOff x="418643" y="2287883"/>
                <a:chExt cx="717140" cy="717242"/>
              </a:xfrm>
            </p:grpSpPr>
            <p:sp>
              <p:nvSpPr>
                <p:cNvPr id="444" name="Freeform 5">
                  <a:extLst>
                    <a:ext uri="{FF2B5EF4-FFF2-40B4-BE49-F238E27FC236}">
                      <a16:creationId xmlns:a16="http://schemas.microsoft.com/office/drawing/2014/main" id="{0952D2D1-E1F5-40C1-9CB9-1094FC75154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45" name="Freeform 6">
                  <a:extLst>
                    <a:ext uri="{FF2B5EF4-FFF2-40B4-BE49-F238E27FC236}">
                      <a16:creationId xmlns:a16="http://schemas.microsoft.com/office/drawing/2014/main" id="{5EED13B1-E5DD-464E-9D55-EEEB17EE72B4}"/>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arrow in a circular path with a timer inside the circle">
                <a:extLst>
                  <a:ext uri="{FF2B5EF4-FFF2-40B4-BE49-F238E27FC236}">
                    <a16:creationId xmlns:a16="http://schemas.microsoft.com/office/drawing/2014/main" id="{2793DF5E-1B92-422B-8BA1-AC40015913F0}"/>
                  </a:ext>
                </a:extLst>
              </p:cNvPr>
              <p:cNvPicPr>
                <a:picLocks noChangeAspect="1"/>
              </p:cNvPicPr>
              <p:nvPr/>
            </p:nvPicPr>
            <p:blipFill>
              <a:blip r:embed="rId4"/>
              <a:stretch>
                <a:fillRect/>
              </a:stretch>
            </p:blipFill>
            <p:spPr>
              <a:xfrm>
                <a:off x="588767" y="2458059"/>
                <a:ext cx="376892" cy="376890"/>
              </a:xfrm>
              <a:prstGeom prst="rect">
                <a:avLst/>
              </a:prstGeom>
            </p:spPr>
          </p:pic>
        </p:grpSp>
        <p:grpSp>
          <p:nvGrpSpPr>
            <p:cNvPr id="39" name="Group 38">
              <a:extLst>
                <a:ext uri="{FF2B5EF4-FFF2-40B4-BE49-F238E27FC236}">
                  <a16:creationId xmlns:a16="http://schemas.microsoft.com/office/drawing/2014/main" id="{8284B803-5FAA-4399-83A8-A4561698A875}"/>
                </a:ext>
              </a:extLst>
            </p:cNvPr>
            <p:cNvGrpSpPr/>
            <p:nvPr/>
          </p:nvGrpSpPr>
          <p:grpSpPr>
            <a:xfrm>
              <a:off x="418643" y="3134008"/>
              <a:ext cx="717140" cy="717242"/>
              <a:chOff x="418643" y="3134008"/>
              <a:chExt cx="717140" cy="717242"/>
            </a:xfrm>
          </p:grpSpPr>
          <p:grpSp>
            <p:nvGrpSpPr>
              <p:cNvPr id="25" name="Group 24">
                <a:extLst>
                  <a:ext uri="{FF2B5EF4-FFF2-40B4-BE49-F238E27FC236}">
                    <a16:creationId xmlns:a16="http://schemas.microsoft.com/office/drawing/2014/main" id="{EBC12EB9-9B46-4FFF-9662-F3F89EFC498B}"/>
                  </a:ext>
                </a:extLst>
              </p:cNvPr>
              <p:cNvGrpSpPr/>
              <p:nvPr/>
            </p:nvGrpSpPr>
            <p:grpSpPr>
              <a:xfrm>
                <a:off x="418643" y="3134008"/>
                <a:ext cx="717140" cy="717242"/>
                <a:chOff x="418643" y="3134008"/>
                <a:chExt cx="717140" cy="717242"/>
              </a:xfrm>
            </p:grpSpPr>
            <p:sp>
              <p:nvSpPr>
                <p:cNvPr id="462" name="Freeform 5">
                  <a:extLst>
                    <a:ext uri="{FF2B5EF4-FFF2-40B4-BE49-F238E27FC236}">
                      <a16:creationId xmlns:a16="http://schemas.microsoft.com/office/drawing/2014/main" id="{888F553F-7725-480F-8A81-67806B6E1C1D}"/>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63" name="Freeform 6">
                  <a:extLst>
                    <a:ext uri="{FF2B5EF4-FFF2-40B4-BE49-F238E27FC236}">
                      <a16:creationId xmlns:a16="http://schemas.microsoft.com/office/drawing/2014/main" id="{5ACB146D-E90A-4B02-A04C-3C75A55BBE6E}"/>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dots and outward pointing chevrons on left and right">
                <a:extLst>
                  <a:ext uri="{FF2B5EF4-FFF2-40B4-BE49-F238E27FC236}">
                    <a16:creationId xmlns:a16="http://schemas.microsoft.com/office/drawing/2014/main" id="{65842D12-2F92-42D3-B65A-DE465C113497}"/>
                  </a:ext>
                </a:extLst>
              </p:cNvPr>
              <p:cNvPicPr>
                <a:picLocks noChangeAspect="1"/>
              </p:cNvPicPr>
              <p:nvPr/>
            </p:nvPicPr>
            <p:blipFill>
              <a:blip r:embed="rId5"/>
              <a:stretch>
                <a:fillRect/>
              </a:stretch>
            </p:blipFill>
            <p:spPr>
              <a:xfrm>
                <a:off x="526606" y="3382030"/>
                <a:ext cx="501214" cy="221198"/>
              </a:xfrm>
              <a:prstGeom prst="rect">
                <a:avLst/>
              </a:prstGeom>
            </p:spPr>
          </p:pic>
        </p:grpSp>
        <p:grpSp>
          <p:nvGrpSpPr>
            <p:cNvPr id="38" name="Group 37">
              <a:extLst>
                <a:ext uri="{FF2B5EF4-FFF2-40B4-BE49-F238E27FC236}">
                  <a16:creationId xmlns:a16="http://schemas.microsoft.com/office/drawing/2014/main" id="{00B12B47-0F34-4D41-9F49-8CD1D4CF17F0}"/>
                </a:ext>
              </a:extLst>
            </p:cNvPr>
            <p:cNvGrpSpPr/>
            <p:nvPr/>
          </p:nvGrpSpPr>
          <p:grpSpPr>
            <a:xfrm>
              <a:off x="418643" y="3980133"/>
              <a:ext cx="717140" cy="717242"/>
              <a:chOff x="418643" y="3980133"/>
              <a:chExt cx="717140" cy="717242"/>
            </a:xfrm>
          </p:grpSpPr>
          <p:grpSp>
            <p:nvGrpSpPr>
              <p:cNvPr id="26" name="Group 25">
                <a:extLst>
                  <a:ext uri="{FF2B5EF4-FFF2-40B4-BE49-F238E27FC236}">
                    <a16:creationId xmlns:a16="http://schemas.microsoft.com/office/drawing/2014/main" id="{B75929F5-A085-4C51-8C6E-6E76D2B7DF4B}"/>
                  </a:ext>
                </a:extLst>
              </p:cNvPr>
              <p:cNvGrpSpPr/>
              <p:nvPr/>
            </p:nvGrpSpPr>
            <p:grpSpPr>
              <a:xfrm>
                <a:off x="418643" y="3980133"/>
                <a:ext cx="717140" cy="717242"/>
                <a:chOff x="418643" y="3980133"/>
                <a:chExt cx="717140" cy="717242"/>
              </a:xfrm>
            </p:grpSpPr>
            <p:sp>
              <p:nvSpPr>
                <p:cNvPr id="479" name="Freeform 5">
                  <a:extLst>
                    <a:ext uri="{FF2B5EF4-FFF2-40B4-BE49-F238E27FC236}">
                      <a16:creationId xmlns:a16="http://schemas.microsoft.com/office/drawing/2014/main" id="{A4703758-132D-40D8-BC75-876B4F27A079}"/>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80" name="Freeform 6">
                  <a:extLst>
                    <a:ext uri="{FF2B5EF4-FFF2-40B4-BE49-F238E27FC236}">
                      <a16:creationId xmlns:a16="http://schemas.microsoft.com/office/drawing/2014/main" id="{22856682-E9F0-4805-B656-1CF1B5DE306A}"/>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bulb">
                <a:extLst>
                  <a:ext uri="{FF2B5EF4-FFF2-40B4-BE49-F238E27FC236}">
                    <a16:creationId xmlns:a16="http://schemas.microsoft.com/office/drawing/2014/main" id="{64AF90CC-F600-4DB6-9BB3-F6B3BF6BD67B}"/>
                  </a:ext>
                </a:extLst>
              </p:cNvPr>
              <p:cNvPicPr>
                <a:picLocks noChangeAspect="1"/>
              </p:cNvPicPr>
              <p:nvPr/>
            </p:nvPicPr>
            <p:blipFill>
              <a:blip r:embed="rId6"/>
              <a:stretch>
                <a:fillRect/>
              </a:stretch>
            </p:blipFill>
            <p:spPr>
              <a:xfrm>
                <a:off x="641719" y="4150309"/>
                <a:ext cx="270988" cy="376890"/>
              </a:xfrm>
              <a:prstGeom prst="rect">
                <a:avLst/>
              </a:prstGeom>
            </p:spPr>
          </p:pic>
        </p:grpSp>
      </p:grpSp>
      <p:grpSp>
        <p:nvGrpSpPr>
          <p:cNvPr id="11" name="Group 10">
            <a:extLst>
              <a:ext uri="{FF2B5EF4-FFF2-40B4-BE49-F238E27FC236}">
                <a16:creationId xmlns:a16="http://schemas.microsoft.com/office/drawing/2014/main" id="{99522174-23CF-4658-94DF-6621F2BEEB5D}"/>
              </a:ext>
              <a:ext uri="{C183D7F6-B498-43B3-948B-1728B52AA6E4}">
                <adec:decorative xmlns:adec="http://schemas.microsoft.com/office/drawing/2017/decorative" val="1"/>
              </a:ext>
            </a:extLst>
          </p:cNvPr>
          <p:cNvGrpSpPr/>
          <p:nvPr/>
        </p:nvGrpSpPr>
        <p:grpSpPr>
          <a:xfrm>
            <a:off x="6229350" y="1441758"/>
            <a:ext cx="717140" cy="2409492"/>
            <a:chOff x="6229350" y="1441758"/>
            <a:chExt cx="717140" cy="2409492"/>
          </a:xfrm>
        </p:grpSpPr>
        <p:grpSp>
          <p:nvGrpSpPr>
            <p:cNvPr id="35" name="Group 34">
              <a:extLst>
                <a:ext uri="{FF2B5EF4-FFF2-40B4-BE49-F238E27FC236}">
                  <a16:creationId xmlns:a16="http://schemas.microsoft.com/office/drawing/2014/main" id="{B638961C-A7D9-4A05-9017-BD540877B4C0}"/>
                </a:ext>
              </a:extLst>
            </p:cNvPr>
            <p:cNvGrpSpPr/>
            <p:nvPr/>
          </p:nvGrpSpPr>
          <p:grpSpPr>
            <a:xfrm>
              <a:off x="6229350" y="1441758"/>
              <a:ext cx="717140" cy="717242"/>
              <a:chOff x="6229350" y="1441758"/>
              <a:chExt cx="717140" cy="717242"/>
            </a:xfrm>
          </p:grpSpPr>
          <p:grpSp>
            <p:nvGrpSpPr>
              <p:cNvPr id="34" name="Group 33">
                <a:extLst>
                  <a:ext uri="{FF2B5EF4-FFF2-40B4-BE49-F238E27FC236}">
                    <a16:creationId xmlns:a16="http://schemas.microsoft.com/office/drawing/2014/main" id="{92DA2DB9-AA76-434B-AADC-C00668F5E99C}"/>
                  </a:ext>
                </a:extLst>
              </p:cNvPr>
              <p:cNvGrpSpPr/>
              <p:nvPr/>
            </p:nvGrpSpPr>
            <p:grpSpPr>
              <a:xfrm>
                <a:off x="6229350" y="1441758"/>
                <a:ext cx="717140" cy="717242"/>
                <a:chOff x="6229350" y="1441758"/>
                <a:chExt cx="717140" cy="717242"/>
              </a:xfrm>
            </p:grpSpPr>
            <p:sp>
              <p:nvSpPr>
                <p:cNvPr id="502" name="Freeform 5">
                  <a:extLst>
                    <a:ext uri="{FF2B5EF4-FFF2-40B4-BE49-F238E27FC236}">
                      <a16:creationId xmlns:a16="http://schemas.microsoft.com/office/drawing/2014/main" id="{7C38D06D-3BDF-4FE8-ACEE-5D2D68A5DC07}"/>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03" name="Freeform 6">
                  <a:extLst>
                    <a:ext uri="{FF2B5EF4-FFF2-40B4-BE49-F238E27FC236}">
                      <a16:creationId xmlns:a16="http://schemas.microsoft.com/office/drawing/2014/main" id="{095AD193-40D2-470E-9F4F-4D7268E94FCA}"/>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three concentric arcs">
                <a:extLst>
                  <a:ext uri="{FF2B5EF4-FFF2-40B4-BE49-F238E27FC236}">
                    <a16:creationId xmlns:a16="http://schemas.microsoft.com/office/drawing/2014/main" id="{1189780B-0175-4F91-8B75-98110B53B820}"/>
                  </a:ext>
                </a:extLst>
              </p:cNvPr>
              <p:cNvPicPr>
                <a:picLocks noChangeAspect="1"/>
              </p:cNvPicPr>
              <p:nvPr/>
            </p:nvPicPr>
            <p:blipFill>
              <a:blip r:embed="rId3"/>
              <a:stretch>
                <a:fillRect/>
              </a:stretch>
            </p:blipFill>
            <p:spPr>
              <a:xfrm>
                <a:off x="6399474" y="1611934"/>
                <a:ext cx="376892" cy="376890"/>
              </a:xfrm>
              <a:prstGeom prst="rect">
                <a:avLst/>
              </a:prstGeom>
            </p:spPr>
          </p:pic>
        </p:grpSp>
        <p:grpSp>
          <p:nvGrpSpPr>
            <p:cNvPr id="33" name="Group 32">
              <a:extLst>
                <a:ext uri="{FF2B5EF4-FFF2-40B4-BE49-F238E27FC236}">
                  <a16:creationId xmlns:a16="http://schemas.microsoft.com/office/drawing/2014/main" id="{6308A370-1D97-4A49-9014-CF4723C04ABF}"/>
                </a:ext>
              </a:extLst>
            </p:cNvPr>
            <p:cNvGrpSpPr/>
            <p:nvPr/>
          </p:nvGrpSpPr>
          <p:grpSpPr>
            <a:xfrm>
              <a:off x="6229350" y="2287883"/>
              <a:ext cx="717140" cy="717242"/>
              <a:chOff x="6229350" y="2287883"/>
              <a:chExt cx="717140" cy="717242"/>
            </a:xfrm>
          </p:grpSpPr>
          <p:grpSp>
            <p:nvGrpSpPr>
              <p:cNvPr id="32" name="Group 31">
                <a:extLst>
                  <a:ext uri="{FF2B5EF4-FFF2-40B4-BE49-F238E27FC236}">
                    <a16:creationId xmlns:a16="http://schemas.microsoft.com/office/drawing/2014/main" id="{7F4F032F-246D-443C-8163-A701DA6DE211}"/>
                  </a:ext>
                </a:extLst>
              </p:cNvPr>
              <p:cNvGrpSpPr/>
              <p:nvPr/>
            </p:nvGrpSpPr>
            <p:grpSpPr>
              <a:xfrm>
                <a:off x="6229350" y="2287883"/>
                <a:ext cx="717140" cy="717242"/>
                <a:chOff x="6229350" y="2287883"/>
                <a:chExt cx="717140" cy="717242"/>
              </a:xfrm>
            </p:grpSpPr>
            <p:sp>
              <p:nvSpPr>
                <p:cNvPr id="509" name="Freeform 5">
                  <a:extLst>
                    <a:ext uri="{FF2B5EF4-FFF2-40B4-BE49-F238E27FC236}">
                      <a16:creationId xmlns:a16="http://schemas.microsoft.com/office/drawing/2014/main" id="{4D76B15B-3B47-4151-8F32-4166422F1E3F}"/>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10" name="Freeform 6">
                  <a:extLst>
                    <a:ext uri="{FF2B5EF4-FFF2-40B4-BE49-F238E27FC236}">
                      <a16:creationId xmlns:a16="http://schemas.microsoft.com/office/drawing/2014/main" id="{78E89B24-9DDC-480F-87AB-0549ADA90EA3}"/>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arrow in a circular path with a timer inside the circle">
                <a:extLst>
                  <a:ext uri="{FF2B5EF4-FFF2-40B4-BE49-F238E27FC236}">
                    <a16:creationId xmlns:a16="http://schemas.microsoft.com/office/drawing/2014/main" id="{CDBDB94A-0E09-4593-BA27-B37EB53EE990}"/>
                  </a:ext>
                </a:extLst>
              </p:cNvPr>
              <p:cNvPicPr>
                <a:picLocks noChangeAspect="1"/>
              </p:cNvPicPr>
              <p:nvPr/>
            </p:nvPicPr>
            <p:blipFill>
              <a:blip r:embed="rId4"/>
              <a:stretch>
                <a:fillRect/>
              </a:stretch>
            </p:blipFill>
            <p:spPr>
              <a:xfrm>
                <a:off x="6399474" y="2458059"/>
                <a:ext cx="376892" cy="376890"/>
              </a:xfrm>
              <a:prstGeom prst="rect">
                <a:avLst/>
              </a:prstGeom>
            </p:spPr>
          </p:pic>
        </p:grpSp>
        <p:grpSp>
          <p:nvGrpSpPr>
            <p:cNvPr id="31" name="Group 30">
              <a:extLst>
                <a:ext uri="{FF2B5EF4-FFF2-40B4-BE49-F238E27FC236}">
                  <a16:creationId xmlns:a16="http://schemas.microsoft.com/office/drawing/2014/main" id="{71600EC7-D681-442E-ADA2-26B906AE2BC2}"/>
                </a:ext>
              </a:extLst>
            </p:cNvPr>
            <p:cNvGrpSpPr/>
            <p:nvPr/>
          </p:nvGrpSpPr>
          <p:grpSpPr>
            <a:xfrm>
              <a:off x="6229350" y="3134008"/>
              <a:ext cx="717140" cy="717242"/>
              <a:chOff x="6229350" y="3134008"/>
              <a:chExt cx="717140" cy="717242"/>
            </a:xfrm>
          </p:grpSpPr>
          <p:grpSp>
            <p:nvGrpSpPr>
              <p:cNvPr id="30" name="Group 29">
                <a:extLst>
                  <a:ext uri="{FF2B5EF4-FFF2-40B4-BE49-F238E27FC236}">
                    <a16:creationId xmlns:a16="http://schemas.microsoft.com/office/drawing/2014/main" id="{1943EAE8-9815-4AEA-AE45-47D92C6B3AF6}"/>
                  </a:ext>
                </a:extLst>
              </p:cNvPr>
              <p:cNvGrpSpPr/>
              <p:nvPr/>
            </p:nvGrpSpPr>
            <p:grpSpPr>
              <a:xfrm>
                <a:off x="6229350" y="3134008"/>
                <a:ext cx="717140" cy="717242"/>
                <a:chOff x="6229350" y="3134008"/>
                <a:chExt cx="717140" cy="717242"/>
              </a:xfrm>
            </p:grpSpPr>
            <p:sp>
              <p:nvSpPr>
                <p:cNvPr id="527" name="Freeform 5">
                  <a:extLst>
                    <a:ext uri="{FF2B5EF4-FFF2-40B4-BE49-F238E27FC236}">
                      <a16:creationId xmlns:a16="http://schemas.microsoft.com/office/drawing/2014/main" id="{28A598F9-17B1-4932-84A8-C1415942342C}"/>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28" name="Freeform 6">
                  <a:extLst>
                    <a:ext uri="{FF2B5EF4-FFF2-40B4-BE49-F238E27FC236}">
                      <a16:creationId xmlns:a16="http://schemas.microsoft.com/office/drawing/2014/main" id="{FB10E352-70F0-42D5-8556-93A2EBE199B9}"/>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three dots and outward pointing chevrons on left and right">
                <a:extLst>
                  <a:ext uri="{FF2B5EF4-FFF2-40B4-BE49-F238E27FC236}">
                    <a16:creationId xmlns:a16="http://schemas.microsoft.com/office/drawing/2014/main" id="{E3B0539E-609C-48CE-B0F2-F92786CA4BE7}"/>
                  </a:ext>
                </a:extLst>
              </p:cNvPr>
              <p:cNvPicPr>
                <a:picLocks noChangeAspect="1"/>
              </p:cNvPicPr>
              <p:nvPr/>
            </p:nvPicPr>
            <p:blipFill>
              <a:blip r:embed="rId5"/>
              <a:stretch>
                <a:fillRect/>
              </a:stretch>
            </p:blipFill>
            <p:spPr>
              <a:xfrm>
                <a:off x="6337313" y="3382030"/>
                <a:ext cx="501214" cy="221198"/>
              </a:xfrm>
              <a:prstGeom prst="rect">
                <a:avLst/>
              </a:prstGeom>
            </p:spPr>
          </p:pic>
        </p:grpSp>
      </p:grpSp>
    </p:spTree>
    <p:extLst>
      <p:ext uri="{BB962C8B-B14F-4D97-AF65-F5344CB8AC3E}">
        <p14:creationId xmlns:p14="http://schemas.microsoft.com/office/powerpoint/2010/main" val="102512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dirty="0"/>
              <a:t>Lesson 01: Design and implement Azure VPN gateway</a:t>
            </a:r>
          </a:p>
        </p:txBody>
      </p:sp>
      <p:grpSp>
        <p:nvGrpSpPr>
          <p:cNvPr id="5" name="Group 4">
            <a:extLst>
              <a:ext uri="{FF2B5EF4-FFF2-40B4-BE49-F238E27FC236}">
                <a16:creationId xmlns:a16="http://schemas.microsoft.com/office/drawing/2014/main" id="{17D88AF8-8285-421D-ABEA-D27A594EF919}"/>
              </a:ext>
              <a:ext uri="{C183D7F6-B498-43B3-948B-1728B52AA6E4}">
                <adec:decorative xmlns:adec="http://schemas.microsoft.com/office/drawing/2017/decorative" val="1"/>
              </a:ext>
            </a:extLst>
          </p:cNvPr>
          <p:cNvGrpSpPr/>
          <p:nvPr/>
        </p:nvGrpSpPr>
        <p:grpSpPr>
          <a:xfrm>
            <a:off x="10333824" y="3070379"/>
            <a:ext cx="717140" cy="717242"/>
            <a:chOff x="418643" y="1441758"/>
            <a:chExt cx="717140" cy="717242"/>
          </a:xfrm>
        </p:grpSpPr>
        <p:grpSp>
          <p:nvGrpSpPr>
            <p:cNvPr id="6" name="Group 5">
              <a:extLst>
                <a:ext uri="{FF2B5EF4-FFF2-40B4-BE49-F238E27FC236}">
                  <a16:creationId xmlns:a16="http://schemas.microsoft.com/office/drawing/2014/main" id="{54DBA2D6-69D4-427B-B07A-FBD6C469E21E}"/>
                </a:ext>
              </a:extLst>
            </p:cNvPr>
            <p:cNvGrpSpPr/>
            <p:nvPr/>
          </p:nvGrpSpPr>
          <p:grpSpPr>
            <a:xfrm>
              <a:off x="418643" y="1441758"/>
              <a:ext cx="717140" cy="717242"/>
              <a:chOff x="418643" y="1441758"/>
              <a:chExt cx="717140" cy="717242"/>
            </a:xfrm>
          </p:grpSpPr>
          <p:sp>
            <p:nvSpPr>
              <p:cNvPr id="8" name="Freeform 5">
                <a:extLst>
                  <a:ext uri="{FF2B5EF4-FFF2-40B4-BE49-F238E27FC236}">
                    <a16:creationId xmlns:a16="http://schemas.microsoft.com/office/drawing/2014/main" id="{ED8559A8-8272-4A72-9159-B56DCCCA8B0C}"/>
                  </a:ext>
                </a:extLst>
              </p:cNvPr>
              <p:cNvSpPr>
                <a:spLocks/>
              </p:cNvSpPr>
              <p:nvPr/>
            </p:nvSpPr>
            <p:spPr bwMode="auto">
              <a:xfrm>
                <a:off x="418643"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CF031276-055D-49DE-9773-27E577117052}"/>
                  </a:ext>
                </a:extLst>
              </p:cNvPr>
              <p:cNvSpPr>
                <a:spLocks noEditPoints="1"/>
              </p:cNvSpPr>
              <p:nvPr/>
            </p:nvSpPr>
            <p:spPr bwMode="auto">
              <a:xfrm>
                <a:off x="467961" y="149166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F8AB4F94-17D8-41CC-B558-DCE4A0469C10}"/>
                </a:ext>
              </a:extLst>
            </p:cNvPr>
            <p:cNvPicPr>
              <a:picLocks noChangeAspect="1"/>
            </p:cNvPicPr>
            <p:nvPr/>
          </p:nvPicPr>
          <p:blipFill>
            <a:blip r:embed="rId2"/>
            <a:stretch>
              <a:fillRect/>
            </a:stretch>
          </p:blipFill>
          <p:spPr>
            <a:xfrm>
              <a:off x="588767" y="1611934"/>
              <a:ext cx="376892" cy="37689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78942" y="3088902"/>
            <a:ext cx="1959432" cy="680196"/>
          </a:xfrm>
        </p:spPr>
        <p:txBody>
          <a:bodyPr/>
          <a:lstStyle/>
          <a:p>
            <a:r>
              <a:rPr lang="en-US" dirty="0"/>
              <a:t>Design and implement Azure VPN Gateway overview</a:t>
            </a:r>
          </a:p>
        </p:txBody>
      </p:sp>
      <p:sp>
        <p:nvSpPr>
          <p:cNvPr id="6" name="Text Placeholder 5"/>
          <p:cNvSpPr>
            <a:spLocks noGrp="1"/>
          </p:cNvSpPr>
          <p:nvPr>
            <p:ph type="body" sz="quarter" idx="11"/>
          </p:nvPr>
        </p:nvSpPr>
        <p:spPr/>
        <p:txBody>
          <a:bodyPr/>
          <a:lstStyle/>
          <a:p>
            <a:pPr lvl="1"/>
            <a:r>
              <a:rPr lang="en-US" dirty="0"/>
              <a:t>Plan a VPN Gateway</a:t>
            </a:r>
          </a:p>
        </p:txBody>
      </p:sp>
      <p:sp>
        <p:nvSpPr>
          <p:cNvPr id="2" name="Text Placeholder 1"/>
          <p:cNvSpPr>
            <a:spLocks noGrp="1"/>
          </p:cNvSpPr>
          <p:nvPr>
            <p:ph type="body" sz="quarter" idx="15"/>
          </p:nvPr>
        </p:nvSpPr>
        <p:spPr/>
        <p:txBody>
          <a:bodyPr/>
          <a:lstStyle/>
          <a:p>
            <a:pPr lvl="1"/>
            <a:r>
              <a:rPr lang="en-US" altLang="zh-CN" dirty="0"/>
              <a:t>Create the Gateway Subnet</a:t>
            </a:r>
          </a:p>
        </p:txBody>
      </p:sp>
      <p:sp>
        <p:nvSpPr>
          <p:cNvPr id="3" name="Text Placeholder 2"/>
          <p:cNvSpPr>
            <a:spLocks noGrp="1"/>
          </p:cNvSpPr>
          <p:nvPr>
            <p:ph type="body" sz="quarter" idx="17"/>
          </p:nvPr>
        </p:nvSpPr>
        <p:spPr/>
        <p:txBody>
          <a:bodyPr/>
          <a:lstStyle/>
          <a:p>
            <a:pPr lvl="1"/>
            <a:r>
              <a:rPr lang="en-US" dirty="0"/>
              <a:t>VPN Gateway Configuration requirements </a:t>
            </a:r>
          </a:p>
        </p:txBody>
      </p:sp>
      <p:sp>
        <p:nvSpPr>
          <p:cNvPr id="4" name="Text Placeholder 3"/>
          <p:cNvSpPr>
            <a:spLocks noGrp="1"/>
          </p:cNvSpPr>
          <p:nvPr>
            <p:ph type="body" sz="quarter" idx="19"/>
          </p:nvPr>
        </p:nvSpPr>
        <p:spPr/>
        <p:txBody>
          <a:bodyPr/>
          <a:lstStyle/>
          <a:p>
            <a:pPr lvl="1"/>
            <a:r>
              <a:rPr lang="en-US" dirty="0"/>
              <a:t>VPN Gateway Types</a:t>
            </a:r>
          </a:p>
        </p:txBody>
      </p:sp>
      <p:sp>
        <p:nvSpPr>
          <p:cNvPr id="5" name="Text Placeholder 4"/>
          <p:cNvSpPr>
            <a:spLocks noGrp="1"/>
          </p:cNvSpPr>
          <p:nvPr>
            <p:ph type="body" sz="quarter" idx="21"/>
          </p:nvPr>
        </p:nvSpPr>
        <p:spPr/>
        <p:txBody>
          <a:bodyPr/>
          <a:lstStyle/>
          <a:p>
            <a:pPr lvl="1"/>
            <a:r>
              <a:rPr lang="en-US" dirty="0"/>
              <a:t>Choose the appropriate Gateway SKU and Generation</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Create the Local Network Gateway</a:t>
            </a:r>
          </a:p>
        </p:txBody>
      </p:sp>
      <p:sp>
        <p:nvSpPr>
          <p:cNvPr id="33" name="Text Placeholder 32">
            <a:extLst>
              <a:ext uri="{FF2B5EF4-FFF2-40B4-BE49-F238E27FC236}">
                <a16:creationId xmlns:a16="http://schemas.microsoft.com/office/drawing/2014/main" id="{9FB4CA60-E833-4C8E-B701-0CE6B78FE809}"/>
              </a:ext>
            </a:extLst>
          </p:cNvPr>
          <p:cNvSpPr>
            <a:spLocks noGrp="1"/>
          </p:cNvSpPr>
          <p:nvPr>
            <p:ph type="body" sz="quarter" idx="24"/>
          </p:nvPr>
        </p:nvSpPr>
        <p:spPr/>
        <p:txBody>
          <a:bodyPr/>
          <a:lstStyle/>
          <a:p>
            <a:pPr lvl="1"/>
            <a:r>
              <a:rPr lang="en-US" dirty="0"/>
              <a:t>Configure the on-premises VPN device</a:t>
            </a:r>
          </a:p>
        </p:txBody>
      </p:sp>
      <p:sp>
        <p:nvSpPr>
          <p:cNvPr id="96" name="Text Placeholder 95">
            <a:extLst>
              <a:ext uri="{FF2B5EF4-FFF2-40B4-BE49-F238E27FC236}">
                <a16:creationId xmlns:a16="http://schemas.microsoft.com/office/drawing/2014/main" id="{1D55D3DF-CA9F-4510-A000-D8F91802EEB6}"/>
              </a:ext>
            </a:extLst>
          </p:cNvPr>
          <p:cNvSpPr>
            <a:spLocks noGrp="1"/>
          </p:cNvSpPr>
          <p:nvPr>
            <p:ph type="body" sz="quarter" idx="25"/>
          </p:nvPr>
        </p:nvSpPr>
        <p:spPr/>
        <p:txBody>
          <a:bodyPr/>
          <a:lstStyle/>
          <a:p>
            <a:pPr lvl="1"/>
            <a:r>
              <a:rPr lang="en-US" dirty="0"/>
              <a:t>Create the VPN connection </a:t>
            </a:r>
          </a:p>
        </p:txBody>
      </p:sp>
      <p:sp>
        <p:nvSpPr>
          <p:cNvPr id="97" name="Text Placeholder 96">
            <a:extLst>
              <a:ext uri="{FF2B5EF4-FFF2-40B4-BE49-F238E27FC236}">
                <a16:creationId xmlns:a16="http://schemas.microsoft.com/office/drawing/2014/main" id="{A1AE85CF-944E-45AF-932E-A23D5EC8BC42}"/>
              </a:ext>
            </a:extLst>
          </p:cNvPr>
          <p:cNvSpPr>
            <a:spLocks noGrp="1"/>
          </p:cNvSpPr>
          <p:nvPr>
            <p:ph type="body" sz="quarter" idx="26"/>
          </p:nvPr>
        </p:nvSpPr>
        <p:spPr/>
        <p:txBody>
          <a:bodyPr/>
          <a:lstStyle/>
          <a:p>
            <a:pPr lvl="1"/>
            <a:r>
              <a:rPr lang="en-US" dirty="0"/>
              <a:t>Verify and troubleshoot the VPN connection </a:t>
            </a:r>
          </a:p>
        </p:txBody>
      </p:sp>
      <p:sp>
        <p:nvSpPr>
          <p:cNvPr id="98" name="Text Placeholder 97">
            <a:extLst>
              <a:ext uri="{FF2B5EF4-FFF2-40B4-BE49-F238E27FC236}">
                <a16:creationId xmlns:a16="http://schemas.microsoft.com/office/drawing/2014/main" id="{5730627D-2E75-4982-9D94-E57D2121967E}"/>
              </a:ext>
            </a:extLst>
          </p:cNvPr>
          <p:cNvSpPr>
            <a:spLocks noGrp="1"/>
          </p:cNvSpPr>
          <p:nvPr>
            <p:ph type="body" sz="quarter" idx="27"/>
          </p:nvPr>
        </p:nvSpPr>
        <p:spPr/>
        <p:txBody>
          <a:bodyPr/>
          <a:lstStyle/>
          <a:p>
            <a:pPr lvl="1"/>
            <a:r>
              <a:rPr lang="en-US" dirty="0"/>
              <a:t>High availability options for VPN connections </a:t>
            </a:r>
          </a:p>
        </p:txBody>
      </p:sp>
      <p:sp>
        <p:nvSpPr>
          <p:cNvPr id="99" name="Text Placeholder 98">
            <a:extLst>
              <a:ext uri="{FF2B5EF4-FFF2-40B4-BE49-F238E27FC236}">
                <a16:creationId xmlns:a16="http://schemas.microsoft.com/office/drawing/2014/main" id="{9D82B098-BD37-4658-BAAB-A95CD4F98789}"/>
              </a:ext>
            </a:extLst>
          </p:cNvPr>
          <p:cNvSpPr>
            <a:spLocks noGrp="1"/>
          </p:cNvSpPr>
          <p:nvPr>
            <p:ph type="body" sz="quarter" idx="28"/>
          </p:nvPr>
        </p:nvSpPr>
        <p:spPr/>
        <p:txBody>
          <a:bodyPr/>
          <a:lstStyle/>
          <a:p>
            <a:pPr lvl="1"/>
            <a:r>
              <a:rPr lang="en-US" dirty="0"/>
              <a:t>Demonstration </a:t>
            </a:r>
          </a:p>
        </p:txBody>
      </p:sp>
      <p:sp>
        <p:nvSpPr>
          <p:cNvPr id="100" name="Text Placeholder 99">
            <a:extLst>
              <a:ext uri="{FF2B5EF4-FFF2-40B4-BE49-F238E27FC236}">
                <a16:creationId xmlns:a16="http://schemas.microsoft.com/office/drawing/2014/main" id="{6EF95933-6DD1-41F4-B770-08F385DC1B8B}"/>
              </a:ext>
            </a:extLst>
          </p:cNvPr>
          <p:cNvSpPr>
            <a:spLocks noGrp="1"/>
          </p:cNvSpPr>
          <p:nvPr>
            <p:ph type="body" sz="quarter" idx="29"/>
          </p:nvPr>
        </p:nvSpPr>
        <p:spPr/>
        <p:txBody>
          <a:bodyPr/>
          <a:lstStyle/>
          <a:p>
            <a:pPr lvl="1"/>
            <a:r>
              <a:rPr lang="en-US" dirty="0"/>
              <a:t>Review</a:t>
            </a:r>
          </a:p>
        </p:txBody>
      </p:sp>
      <p:grpSp>
        <p:nvGrpSpPr>
          <p:cNvPr id="27" name="Group 26">
            <a:extLst>
              <a:ext uri="{FF2B5EF4-FFF2-40B4-BE49-F238E27FC236}">
                <a16:creationId xmlns:a16="http://schemas.microsoft.com/office/drawing/2014/main" id="{5CDC19BC-0E8D-4B8B-ABDA-C8D7FA2AEA18}"/>
              </a:ext>
              <a:ext uri="{C183D7F6-B498-43B3-948B-1728B52AA6E4}">
                <adec:decorative xmlns:adec="http://schemas.microsoft.com/office/drawing/2017/decorative" val="1"/>
              </a:ext>
            </a:extLst>
          </p:cNvPr>
          <p:cNvGrpSpPr/>
          <p:nvPr/>
        </p:nvGrpSpPr>
        <p:grpSpPr>
          <a:xfrm>
            <a:off x="2744702" y="480082"/>
            <a:ext cx="648329" cy="4859741"/>
            <a:chOff x="2744702" y="480082"/>
            <a:chExt cx="648329" cy="4859741"/>
          </a:xfrm>
        </p:grpSpPr>
        <p:grpSp>
          <p:nvGrpSpPr>
            <p:cNvPr id="22" name="Group 21">
              <a:extLst>
                <a:ext uri="{FF2B5EF4-FFF2-40B4-BE49-F238E27FC236}">
                  <a16:creationId xmlns:a16="http://schemas.microsoft.com/office/drawing/2014/main" id="{204B5399-A43E-4092-B45A-8C78C5FAF293}"/>
                </a:ext>
              </a:extLst>
            </p:cNvPr>
            <p:cNvGrpSpPr/>
            <p:nvPr/>
          </p:nvGrpSpPr>
          <p:grpSpPr>
            <a:xfrm>
              <a:off x="2744702" y="480082"/>
              <a:ext cx="648329" cy="648421"/>
              <a:chOff x="2744702" y="480082"/>
              <a:chExt cx="648329" cy="648421"/>
            </a:xfrm>
          </p:grpSpPr>
          <p:grpSp>
            <p:nvGrpSpPr>
              <p:cNvPr id="21" name="Group 20">
                <a:extLst>
                  <a:ext uri="{FF2B5EF4-FFF2-40B4-BE49-F238E27FC236}">
                    <a16:creationId xmlns:a16="http://schemas.microsoft.com/office/drawing/2014/main" id="{CE4DF085-32CE-4720-9E44-607B924EFE11}"/>
                  </a:ext>
                </a:extLst>
              </p:cNvPr>
              <p:cNvGrpSpPr/>
              <p:nvPr/>
            </p:nvGrpSpPr>
            <p:grpSpPr>
              <a:xfrm>
                <a:off x="2744702" y="480082"/>
                <a:ext cx="648329" cy="648421"/>
                <a:chOff x="2744702" y="480082"/>
                <a:chExt cx="648329" cy="648421"/>
              </a:xfrm>
            </p:grpSpPr>
            <p:sp>
              <p:nvSpPr>
                <p:cNvPr id="102" name="Freeform 5">
                  <a:extLst>
                    <a:ext uri="{FF2B5EF4-FFF2-40B4-BE49-F238E27FC236}">
                      <a16:creationId xmlns:a16="http://schemas.microsoft.com/office/drawing/2014/main" id="{64E369D0-09B4-4225-A6A0-8F0806DF1504}"/>
                    </a:ext>
                  </a:extLst>
                </p:cNvPr>
                <p:cNvSpPr>
                  <a:spLocks/>
                </p:cNvSpPr>
                <p:nvPr/>
              </p:nvSpPr>
              <p:spPr bwMode="auto">
                <a:xfrm>
                  <a:off x="2744702"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3" name="Freeform 6">
                  <a:extLst>
                    <a:ext uri="{FF2B5EF4-FFF2-40B4-BE49-F238E27FC236}">
                      <a16:creationId xmlns:a16="http://schemas.microsoft.com/office/drawing/2014/main" id="{7832EB4A-0718-4AB1-AD45-365DA0ECE835}"/>
                    </a:ext>
                  </a:extLst>
                </p:cNvPr>
                <p:cNvSpPr>
                  <a:spLocks noEditPoints="1"/>
                </p:cNvSpPr>
                <p:nvPr/>
              </p:nvSpPr>
              <p:spPr bwMode="auto">
                <a:xfrm>
                  <a:off x="2789287"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466844BE-B585-4087-B292-C5DD5794EAFC}"/>
                  </a:ext>
                </a:extLst>
              </p:cNvPr>
              <p:cNvPicPr>
                <a:picLocks noChangeAspect="1"/>
              </p:cNvPicPr>
              <p:nvPr/>
            </p:nvPicPr>
            <p:blipFill>
              <a:blip r:embed="rId3"/>
              <a:stretch>
                <a:fillRect/>
              </a:stretch>
            </p:blipFill>
            <p:spPr>
              <a:xfrm>
                <a:off x="2896970" y="632395"/>
                <a:ext cx="343794" cy="343794"/>
              </a:xfrm>
              <a:prstGeom prst="rect">
                <a:avLst/>
              </a:prstGeom>
            </p:spPr>
          </p:pic>
        </p:grpSp>
        <p:grpSp>
          <p:nvGrpSpPr>
            <p:cNvPr id="24" name="Group 23">
              <a:extLst>
                <a:ext uri="{FF2B5EF4-FFF2-40B4-BE49-F238E27FC236}">
                  <a16:creationId xmlns:a16="http://schemas.microsoft.com/office/drawing/2014/main" id="{D01EA723-2D9D-465E-BDF0-C446B21A5226}"/>
                </a:ext>
              </a:extLst>
            </p:cNvPr>
            <p:cNvGrpSpPr/>
            <p:nvPr/>
          </p:nvGrpSpPr>
          <p:grpSpPr>
            <a:xfrm>
              <a:off x="2744702" y="1322346"/>
              <a:ext cx="648329" cy="648421"/>
              <a:chOff x="2744702" y="1322346"/>
              <a:chExt cx="648329" cy="648421"/>
            </a:xfrm>
          </p:grpSpPr>
          <p:grpSp>
            <p:nvGrpSpPr>
              <p:cNvPr id="23" name="Group 22">
                <a:extLst>
                  <a:ext uri="{FF2B5EF4-FFF2-40B4-BE49-F238E27FC236}">
                    <a16:creationId xmlns:a16="http://schemas.microsoft.com/office/drawing/2014/main" id="{1120E625-64C4-478B-A446-B66EAF967212}"/>
                  </a:ext>
                </a:extLst>
              </p:cNvPr>
              <p:cNvGrpSpPr/>
              <p:nvPr/>
            </p:nvGrpSpPr>
            <p:grpSpPr>
              <a:xfrm>
                <a:off x="2744702" y="1322346"/>
                <a:ext cx="648329" cy="648421"/>
                <a:chOff x="2744702" y="1322346"/>
                <a:chExt cx="648329" cy="648421"/>
              </a:xfrm>
            </p:grpSpPr>
            <p:sp>
              <p:nvSpPr>
                <p:cNvPr id="115" name="Freeform 5">
                  <a:extLst>
                    <a:ext uri="{FF2B5EF4-FFF2-40B4-BE49-F238E27FC236}">
                      <a16:creationId xmlns:a16="http://schemas.microsoft.com/office/drawing/2014/main" id="{0F9EA0B3-F8A7-4544-A4CB-C6278812FEA4}"/>
                    </a:ext>
                  </a:extLst>
                </p:cNvPr>
                <p:cNvSpPr>
                  <a:spLocks/>
                </p:cNvSpPr>
                <p:nvPr/>
              </p:nvSpPr>
              <p:spPr bwMode="auto">
                <a:xfrm>
                  <a:off x="2744702"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16" name="Freeform 6">
                  <a:extLst>
                    <a:ext uri="{FF2B5EF4-FFF2-40B4-BE49-F238E27FC236}">
                      <a16:creationId xmlns:a16="http://schemas.microsoft.com/office/drawing/2014/main" id="{6EEBBF9F-9136-4D4F-B8E3-F83373417461}"/>
                    </a:ext>
                  </a:extLst>
                </p:cNvPr>
                <p:cNvSpPr>
                  <a:spLocks noEditPoints="1"/>
                </p:cNvSpPr>
                <p:nvPr/>
              </p:nvSpPr>
              <p:spPr bwMode="auto">
                <a:xfrm>
                  <a:off x="2789287"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C041E934-8D6C-4586-A86A-09C8400C57BA}"/>
                  </a:ext>
                </a:extLst>
              </p:cNvPr>
              <p:cNvPicPr>
                <a:picLocks noChangeAspect="1"/>
              </p:cNvPicPr>
              <p:nvPr/>
            </p:nvPicPr>
            <p:blipFill>
              <a:blip r:embed="rId4"/>
              <a:stretch>
                <a:fillRect/>
              </a:stretch>
            </p:blipFill>
            <p:spPr>
              <a:xfrm>
                <a:off x="2896969" y="1474659"/>
                <a:ext cx="343794" cy="343794"/>
              </a:xfrm>
              <a:prstGeom prst="rect">
                <a:avLst/>
              </a:prstGeom>
            </p:spPr>
          </p:pic>
        </p:grpSp>
        <p:grpSp>
          <p:nvGrpSpPr>
            <p:cNvPr id="26" name="Group 25">
              <a:extLst>
                <a:ext uri="{FF2B5EF4-FFF2-40B4-BE49-F238E27FC236}">
                  <a16:creationId xmlns:a16="http://schemas.microsoft.com/office/drawing/2014/main" id="{06A56B65-6A6C-424B-BB12-C57220C2E0CC}"/>
                </a:ext>
              </a:extLst>
            </p:cNvPr>
            <p:cNvGrpSpPr/>
            <p:nvPr/>
          </p:nvGrpSpPr>
          <p:grpSpPr>
            <a:xfrm>
              <a:off x="2744702" y="2164610"/>
              <a:ext cx="648329" cy="648421"/>
              <a:chOff x="2744702" y="2164610"/>
              <a:chExt cx="648329" cy="648421"/>
            </a:xfrm>
          </p:grpSpPr>
          <p:grpSp>
            <p:nvGrpSpPr>
              <p:cNvPr id="25" name="Group 24">
                <a:extLst>
                  <a:ext uri="{FF2B5EF4-FFF2-40B4-BE49-F238E27FC236}">
                    <a16:creationId xmlns:a16="http://schemas.microsoft.com/office/drawing/2014/main" id="{6D7C2B52-DB73-42EA-AE95-458C77C5B973}"/>
                  </a:ext>
                </a:extLst>
              </p:cNvPr>
              <p:cNvGrpSpPr/>
              <p:nvPr/>
            </p:nvGrpSpPr>
            <p:grpSpPr>
              <a:xfrm>
                <a:off x="2744702" y="2164610"/>
                <a:ext cx="648329" cy="648421"/>
                <a:chOff x="2744702" y="2164610"/>
                <a:chExt cx="648329" cy="648421"/>
              </a:xfrm>
            </p:grpSpPr>
            <p:sp>
              <p:nvSpPr>
                <p:cNvPr id="127" name="Freeform 5">
                  <a:extLst>
                    <a:ext uri="{FF2B5EF4-FFF2-40B4-BE49-F238E27FC236}">
                      <a16:creationId xmlns:a16="http://schemas.microsoft.com/office/drawing/2014/main" id="{BD418F4B-C5AC-41FE-90C4-0CBDC6F67679}"/>
                    </a:ext>
                  </a:extLst>
                </p:cNvPr>
                <p:cNvSpPr>
                  <a:spLocks/>
                </p:cNvSpPr>
                <p:nvPr/>
              </p:nvSpPr>
              <p:spPr bwMode="auto">
                <a:xfrm>
                  <a:off x="2744702"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29" name="Freeform 6">
                  <a:extLst>
                    <a:ext uri="{FF2B5EF4-FFF2-40B4-BE49-F238E27FC236}">
                      <a16:creationId xmlns:a16="http://schemas.microsoft.com/office/drawing/2014/main" id="{4D213CC6-4D71-444D-86E7-980D05CFD496}"/>
                    </a:ext>
                  </a:extLst>
                </p:cNvPr>
                <p:cNvSpPr>
                  <a:spLocks noEditPoints="1"/>
                </p:cNvSpPr>
                <p:nvPr/>
              </p:nvSpPr>
              <p:spPr bwMode="auto">
                <a:xfrm>
                  <a:off x="2789287"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D4D76706-6DBF-4640-9C93-14B9423D3757}"/>
                  </a:ext>
                </a:extLst>
              </p:cNvPr>
              <p:cNvPicPr>
                <a:picLocks noChangeAspect="1"/>
              </p:cNvPicPr>
              <p:nvPr/>
            </p:nvPicPr>
            <p:blipFill>
              <a:blip r:embed="rId5"/>
              <a:stretch>
                <a:fillRect/>
              </a:stretch>
            </p:blipFill>
            <p:spPr>
              <a:xfrm>
                <a:off x="2896970" y="2316856"/>
                <a:ext cx="343794" cy="343794"/>
              </a:xfrm>
              <a:prstGeom prst="rect">
                <a:avLst/>
              </a:prstGeom>
            </p:spPr>
          </p:pic>
        </p:grpSp>
        <p:grpSp>
          <p:nvGrpSpPr>
            <p:cNvPr id="29" name="Group 28">
              <a:extLst>
                <a:ext uri="{FF2B5EF4-FFF2-40B4-BE49-F238E27FC236}">
                  <a16:creationId xmlns:a16="http://schemas.microsoft.com/office/drawing/2014/main" id="{CF1C27DF-2C00-4A45-ADDE-DF01E309475E}"/>
                </a:ext>
              </a:extLst>
            </p:cNvPr>
            <p:cNvGrpSpPr/>
            <p:nvPr/>
          </p:nvGrpSpPr>
          <p:grpSpPr>
            <a:xfrm>
              <a:off x="2744702" y="3006874"/>
              <a:ext cx="648329" cy="648421"/>
              <a:chOff x="2744702" y="3006874"/>
              <a:chExt cx="648329" cy="648421"/>
            </a:xfrm>
          </p:grpSpPr>
          <p:grpSp>
            <p:nvGrpSpPr>
              <p:cNvPr id="28" name="Group 27">
                <a:extLst>
                  <a:ext uri="{FF2B5EF4-FFF2-40B4-BE49-F238E27FC236}">
                    <a16:creationId xmlns:a16="http://schemas.microsoft.com/office/drawing/2014/main" id="{F0CE17E5-0A70-4749-8B1D-C69988842CCA}"/>
                  </a:ext>
                </a:extLst>
              </p:cNvPr>
              <p:cNvGrpSpPr/>
              <p:nvPr/>
            </p:nvGrpSpPr>
            <p:grpSpPr>
              <a:xfrm>
                <a:off x="2744702" y="3006874"/>
                <a:ext cx="648329" cy="648421"/>
                <a:chOff x="2744702" y="3006874"/>
                <a:chExt cx="648329" cy="648421"/>
              </a:xfrm>
            </p:grpSpPr>
            <p:sp>
              <p:nvSpPr>
                <p:cNvPr id="158" name="Freeform 5">
                  <a:extLst>
                    <a:ext uri="{FF2B5EF4-FFF2-40B4-BE49-F238E27FC236}">
                      <a16:creationId xmlns:a16="http://schemas.microsoft.com/office/drawing/2014/main" id="{9CF42A4E-EB4F-44F1-BFCB-2057B0D31F06}"/>
                    </a:ext>
                  </a:extLst>
                </p:cNvPr>
                <p:cNvSpPr>
                  <a:spLocks/>
                </p:cNvSpPr>
                <p:nvPr/>
              </p:nvSpPr>
              <p:spPr bwMode="auto">
                <a:xfrm>
                  <a:off x="2744702"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Freeform 6">
                  <a:extLst>
                    <a:ext uri="{FF2B5EF4-FFF2-40B4-BE49-F238E27FC236}">
                      <a16:creationId xmlns:a16="http://schemas.microsoft.com/office/drawing/2014/main" id="{DBD82E7C-DF60-416D-95A1-9F29ECA1BD16}"/>
                    </a:ext>
                  </a:extLst>
                </p:cNvPr>
                <p:cNvSpPr>
                  <a:spLocks noEditPoints="1"/>
                </p:cNvSpPr>
                <p:nvPr/>
              </p:nvSpPr>
              <p:spPr bwMode="auto">
                <a:xfrm>
                  <a:off x="2789287"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10619E75-2DB9-4804-AD98-96A2B9188EED}"/>
                  </a:ext>
                </a:extLst>
              </p:cNvPr>
              <p:cNvPicPr>
                <a:picLocks noChangeAspect="1"/>
              </p:cNvPicPr>
              <p:nvPr/>
            </p:nvPicPr>
            <p:blipFill>
              <a:blip r:embed="rId6"/>
              <a:stretch>
                <a:fillRect/>
              </a:stretch>
            </p:blipFill>
            <p:spPr>
              <a:xfrm>
                <a:off x="2945272" y="3159187"/>
                <a:ext cx="247191" cy="343794"/>
              </a:xfrm>
              <a:prstGeom prst="rect">
                <a:avLst/>
              </a:prstGeom>
            </p:spPr>
          </p:pic>
        </p:grpSp>
        <p:grpSp>
          <p:nvGrpSpPr>
            <p:cNvPr id="31" name="Group 30">
              <a:extLst>
                <a:ext uri="{FF2B5EF4-FFF2-40B4-BE49-F238E27FC236}">
                  <a16:creationId xmlns:a16="http://schemas.microsoft.com/office/drawing/2014/main" id="{5FCBCBA0-2D4A-4E80-9B7F-8C503DC68F17}"/>
                </a:ext>
              </a:extLst>
            </p:cNvPr>
            <p:cNvGrpSpPr/>
            <p:nvPr/>
          </p:nvGrpSpPr>
          <p:grpSpPr>
            <a:xfrm>
              <a:off x="2744702" y="3849138"/>
              <a:ext cx="648329" cy="648421"/>
              <a:chOff x="2744702" y="3849138"/>
              <a:chExt cx="648329" cy="648421"/>
            </a:xfrm>
          </p:grpSpPr>
          <p:grpSp>
            <p:nvGrpSpPr>
              <p:cNvPr id="30" name="Group 29">
                <a:extLst>
                  <a:ext uri="{FF2B5EF4-FFF2-40B4-BE49-F238E27FC236}">
                    <a16:creationId xmlns:a16="http://schemas.microsoft.com/office/drawing/2014/main" id="{8937348B-CC1B-4A60-A129-B846017B9F46}"/>
                  </a:ext>
                </a:extLst>
              </p:cNvPr>
              <p:cNvGrpSpPr/>
              <p:nvPr/>
            </p:nvGrpSpPr>
            <p:grpSpPr>
              <a:xfrm>
                <a:off x="2744702" y="3849138"/>
                <a:ext cx="648329" cy="648421"/>
                <a:chOff x="2744702" y="3849138"/>
                <a:chExt cx="648329" cy="648421"/>
              </a:xfrm>
            </p:grpSpPr>
            <p:sp>
              <p:nvSpPr>
                <p:cNvPr id="172" name="Freeform 5">
                  <a:extLst>
                    <a:ext uri="{FF2B5EF4-FFF2-40B4-BE49-F238E27FC236}">
                      <a16:creationId xmlns:a16="http://schemas.microsoft.com/office/drawing/2014/main" id="{E3809A20-017B-4B88-86C5-C5074965D327}"/>
                    </a:ext>
                  </a:extLst>
                </p:cNvPr>
                <p:cNvSpPr>
                  <a:spLocks/>
                </p:cNvSpPr>
                <p:nvPr/>
              </p:nvSpPr>
              <p:spPr bwMode="auto">
                <a:xfrm>
                  <a:off x="2744702"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3778FB8E-D7E5-4F26-9C8E-CFB30C3C9617}"/>
                    </a:ext>
                  </a:extLst>
                </p:cNvPr>
                <p:cNvSpPr>
                  <a:spLocks noEditPoints="1"/>
                </p:cNvSpPr>
                <p:nvPr/>
              </p:nvSpPr>
              <p:spPr bwMode="auto">
                <a:xfrm>
                  <a:off x="2789287"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E7064263-D8DA-43D1-8BA3-A8EE0085D643}"/>
                  </a:ext>
                </a:extLst>
              </p:cNvPr>
              <p:cNvPicPr>
                <a:picLocks noChangeAspect="1"/>
              </p:cNvPicPr>
              <p:nvPr/>
            </p:nvPicPr>
            <p:blipFill>
              <a:blip r:embed="rId7"/>
              <a:stretch>
                <a:fillRect/>
              </a:stretch>
            </p:blipFill>
            <p:spPr>
              <a:xfrm>
                <a:off x="2900000" y="4046628"/>
                <a:ext cx="337732" cy="253437"/>
              </a:xfrm>
              <a:prstGeom prst="rect">
                <a:avLst/>
              </a:prstGeom>
            </p:spPr>
          </p:pic>
        </p:grpSp>
        <p:grpSp>
          <p:nvGrpSpPr>
            <p:cNvPr id="34" name="Group 33">
              <a:extLst>
                <a:ext uri="{FF2B5EF4-FFF2-40B4-BE49-F238E27FC236}">
                  <a16:creationId xmlns:a16="http://schemas.microsoft.com/office/drawing/2014/main" id="{32623F37-69BB-457C-BC7F-E582E6729645}"/>
                </a:ext>
              </a:extLst>
            </p:cNvPr>
            <p:cNvGrpSpPr/>
            <p:nvPr/>
          </p:nvGrpSpPr>
          <p:grpSpPr>
            <a:xfrm>
              <a:off x="2744702" y="4691402"/>
              <a:ext cx="648329" cy="648421"/>
              <a:chOff x="2744702" y="4691402"/>
              <a:chExt cx="648329" cy="648421"/>
            </a:xfrm>
          </p:grpSpPr>
          <p:grpSp>
            <p:nvGrpSpPr>
              <p:cNvPr id="32" name="Group 31">
                <a:extLst>
                  <a:ext uri="{FF2B5EF4-FFF2-40B4-BE49-F238E27FC236}">
                    <a16:creationId xmlns:a16="http://schemas.microsoft.com/office/drawing/2014/main" id="{FA81CEC7-5642-4708-9362-AA580144D854}"/>
                  </a:ext>
                </a:extLst>
              </p:cNvPr>
              <p:cNvGrpSpPr/>
              <p:nvPr/>
            </p:nvGrpSpPr>
            <p:grpSpPr>
              <a:xfrm>
                <a:off x="2744702" y="4691402"/>
                <a:ext cx="648329" cy="648421"/>
                <a:chOff x="2744702" y="4691402"/>
                <a:chExt cx="648329" cy="648421"/>
              </a:xfrm>
            </p:grpSpPr>
            <p:sp>
              <p:nvSpPr>
                <p:cNvPr id="181" name="Freeform 5">
                  <a:extLst>
                    <a:ext uri="{FF2B5EF4-FFF2-40B4-BE49-F238E27FC236}">
                      <a16:creationId xmlns:a16="http://schemas.microsoft.com/office/drawing/2014/main" id="{689DC39C-8F39-4654-8719-EA8E15139FAF}"/>
                    </a:ext>
                  </a:extLst>
                </p:cNvPr>
                <p:cNvSpPr>
                  <a:spLocks/>
                </p:cNvSpPr>
                <p:nvPr/>
              </p:nvSpPr>
              <p:spPr bwMode="auto">
                <a:xfrm>
                  <a:off x="2744702" y="469140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82" name="Freeform 6">
                  <a:extLst>
                    <a:ext uri="{FF2B5EF4-FFF2-40B4-BE49-F238E27FC236}">
                      <a16:creationId xmlns:a16="http://schemas.microsoft.com/office/drawing/2014/main" id="{1156CFFA-F629-4BBD-953A-57E679EAD741}"/>
                    </a:ext>
                  </a:extLst>
                </p:cNvPr>
                <p:cNvSpPr>
                  <a:spLocks noEditPoints="1"/>
                </p:cNvSpPr>
                <p:nvPr/>
              </p:nvSpPr>
              <p:spPr bwMode="auto">
                <a:xfrm>
                  <a:off x="2789287" y="473651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29115E6-0421-4003-BD11-0D1DA14BE9DD}"/>
                  </a:ext>
                </a:extLst>
              </p:cNvPr>
              <p:cNvPicPr>
                <a:picLocks noChangeAspect="1"/>
              </p:cNvPicPr>
              <p:nvPr/>
            </p:nvPicPr>
            <p:blipFill>
              <a:blip r:embed="rId8"/>
              <a:stretch>
                <a:fillRect/>
              </a:stretch>
            </p:blipFill>
            <p:spPr>
              <a:xfrm>
                <a:off x="2897349" y="4844094"/>
                <a:ext cx="343035" cy="343035"/>
              </a:xfrm>
              <a:prstGeom prst="rect">
                <a:avLst/>
              </a:prstGeom>
            </p:spPr>
          </p:pic>
        </p:grpSp>
      </p:grpSp>
      <p:grpSp>
        <p:nvGrpSpPr>
          <p:cNvPr id="47" name="Group 46">
            <a:extLst>
              <a:ext uri="{FF2B5EF4-FFF2-40B4-BE49-F238E27FC236}">
                <a16:creationId xmlns:a16="http://schemas.microsoft.com/office/drawing/2014/main" id="{5D5D735D-4741-4637-A194-86B76F2B16A5}"/>
              </a:ext>
              <a:ext uri="{C183D7F6-B498-43B3-948B-1728B52AA6E4}">
                <adec:decorative xmlns:adec="http://schemas.microsoft.com/office/drawing/2017/decorative" val="1"/>
              </a:ext>
            </a:extLst>
          </p:cNvPr>
          <p:cNvGrpSpPr/>
          <p:nvPr/>
        </p:nvGrpSpPr>
        <p:grpSpPr>
          <a:xfrm>
            <a:off x="7465384" y="480082"/>
            <a:ext cx="648329" cy="4859741"/>
            <a:chOff x="7465384" y="480082"/>
            <a:chExt cx="648329" cy="4859741"/>
          </a:xfrm>
        </p:grpSpPr>
        <p:grpSp>
          <p:nvGrpSpPr>
            <p:cNvPr id="46" name="Group 45">
              <a:extLst>
                <a:ext uri="{FF2B5EF4-FFF2-40B4-BE49-F238E27FC236}">
                  <a16:creationId xmlns:a16="http://schemas.microsoft.com/office/drawing/2014/main" id="{3F9A8503-939D-4DD5-B78C-EC416EEDC730}"/>
                </a:ext>
              </a:extLst>
            </p:cNvPr>
            <p:cNvGrpSpPr/>
            <p:nvPr/>
          </p:nvGrpSpPr>
          <p:grpSpPr>
            <a:xfrm>
              <a:off x="7465384" y="480082"/>
              <a:ext cx="648329" cy="648421"/>
              <a:chOff x="7465384" y="480082"/>
              <a:chExt cx="648329" cy="648421"/>
            </a:xfrm>
          </p:grpSpPr>
          <p:grpSp>
            <p:nvGrpSpPr>
              <p:cNvPr id="45" name="Group 44">
                <a:extLst>
                  <a:ext uri="{FF2B5EF4-FFF2-40B4-BE49-F238E27FC236}">
                    <a16:creationId xmlns:a16="http://schemas.microsoft.com/office/drawing/2014/main" id="{44FBE7E9-E9B0-4FAE-9022-BC64CD64759E}"/>
                  </a:ext>
                </a:extLst>
              </p:cNvPr>
              <p:cNvGrpSpPr/>
              <p:nvPr/>
            </p:nvGrpSpPr>
            <p:grpSpPr>
              <a:xfrm>
                <a:off x="7465384" y="480082"/>
                <a:ext cx="648329" cy="648421"/>
                <a:chOff x="7465384" y="480082"/>
                <a:chExt cx="648329" cy="648421"/>
              </a:xfrm>
            </p:grpSpPr>
            <p:sp>
              <p:nvSpPr>
                <p:cNvPr id="161" name="Freeform 5">
                  <a:extLst>
                    <a:ext uri="{FF2B5EF4-FFF2-40B4-BE49-F238E27FC236}">
                      <a16:creationId xmlns:a16="http://schemas.microsoft.com/office/drawing/2014/main" id="{DE863DBE-BF83-4BD8-945A-7A99DA7AEC9C}"/>
                    </a:ext>
                  </a:extLst>
                </p:cNvPr>
                <p:cNvSpPr>
                  <a:spLocks/>
                </p:cNvSpPr>
                <p:nvPr/>
              </p:nvSpPr>
              <p:spPr bwMode="auto">
                <a:xfrm>
                  <a:off x="7465384" y="48008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19A42A39-FE92-4EC5-BCE2-E1380924622A}"/>
                    </a:ext>
                  </a:extLst>
                </p:cNvPr>
                <p:cNvSpPr>
                  <a:spLocks noEditPoints="1"/>
                </p:cNvSpPr>
                <p:nvPr/>
              </p:nvSpPr>
              <p:spPr bwMode="auto">
                <a:xfrm>
                  <a:off x="7509969" y="52519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three concentric arcs">
                <a:extLst>
                  <a:ext uri="{FF2B5EF4-FFF2-40B4-BE49-F238E27FC236}">
                    <a16:creationId xmlns:a16="http://schemas.microsoft.com/office/drawing/2014/main" id="{C8C18832-CB43-4668-B162-049185D820E8}"/>
                  </a:ext>
                </a:extLst>
              </p:cNvPr>
              <p:cNvPicPr>
                <a:picLocks noChangeAspect="1"/>
              </p:cNvPicPr>
              <p:nvPr/>
            </p:nvPicPr>
            <p:blipFill>
              <a:blip r:embed="rId3"/>
              <a:stretch>
                <a:fillRect/>
              </a:stretch>
            </p:blipFill>
            <p:spPr>
              <a:xfrm>
                <a:off x="7617652" y="632395"/>
                <a:ext cx="343794" cy="343794"/>
              </a:xfrm>
              <a:prstGeom prst="rect">
                <a:avLst/>
              </a:prstGeom>
            </p:spPr>
          </p:pic>
        </p:grpSp>
        <p:grpSp>
          <p:nvGrpSpPr>
            <p:cNvPr id="44" name="Group 43">
              <a:extLst>
                <a:ext uri="{FF2B5EF4-FFF2-40B4-BE49-F238E27FC236}">
                  <a16:creationId xmlns:a16="http://schemas.microsoft.com/office/drawing/2014/main" id="{2FA37299-4C2D-444A-81DE-A55D5E652C3F}"/>
                </a:ext>
              </a:extLst>
            </p:cNvPr>
            <p:cNvGrpSpPr/>
            <p:nvPr/>
          </p:nvGrpSpPr>
          <p:grpSpPr>
            <a:xfrm>
              <a:off x="7465384" y="1322346"/>
              <a:ext cx="648329" cy="648421"/>
              <a:chOff x="7465384" y="1322346"/>
              <a:chExt cx="648329" cy="648421"/>
            </a:xfrm>
          </p:grpSpPr>
          <p:grpSp>
            <p:nvGrpSpPr>
              <p:cNvPr id="43" name="Group 42">
                <a:extLst>
                  <a:ext uri="{FF2B5EF4-FFF2-40B4-BE49-F238E27FC236}">
                    <a16:creationId xmlns:a16="http://schemas.microsoft.com/office/drawing/2014/main" id="{ECD12940-0915-47B9-98C6-0D988B69B842}"/>
                  </a:ext>
                </a:extLst>
              </p:cNvPr>
              <p:cNvGrpSpPr/>
              <p:nvPr/>
            </p:nvGrpSpPr>
            <p:grpSpPr>
              <a:xfrm>
                <a:off x="7465384" y="1322346"/>
                <a:ext cx="648329" cy="648421"/>
                <a:chOff x="7465384" y="1322346"/>
                <a:chExt cx="648329" cy="648421"/>
              </a:xfrm>
            </p:grpSpPr>
            <p:sp>
              <p:nvSpPr>
                <p:cNvPr id="201" name="Freeform 5">
                  <a:extLst>
                    <a:ext uri="{FF2B5EF4-FFF2-40B4-BE49-F238E27FC236}">
                      <a16:creationId xmlns:a16="http://schemas.microsoft.com/office/drawing/2014/main" id="{C7DE1906-F80E-405F-AE6A-E2B5F7771A42}"/>
                    </a:ext>
                  </a:extLst>
                </p:cNvPr>
                <p:cNvSpPr>
                  <a:spLocks/>
                </p:cNvSpPr>
                <p:nvPr/>
              </p:nvSpPr>
              <p:spPr bwMode="auto">
                <a:xfrm>
                  <a:off x="7465384" y="1322346"/>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02" name="Freeform 6">
                  <a:extLst>
                    <a:ext uri="{FF2B5EF4-FFF2-40B4-BE49-F238E27FC236}">
                      <a16:creationId xmlns:a16="http://schemas.microsoft.com/office/drawing/2014/main" id="{215198FA-59CE-4083-A98A-E953582E7214}"/>
                    </a:ext>
                  </a:extLst>
                </p:cNvPr>
                <p:cNvSpPr>
                  <a:spLocks noEditPoints="1"/>
                </p:cNvSpPr>
                <p:nvPr/>
              </p:nvSpPr>
              <p:spPr bwMode="auto">
                <a:xfrm>
                  <a:off x="7509969" y="1367463"/>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5" name="Picture 14" descr="Icon of a arrow in a circular path with a timer inside the circle">
                <a:extLst>
                  <a:ext uri="{FF2B5EF4-FFF2-40B4-BE49-F238E27FC236}">
                    <a16:creationId xmlns:a16="http://schemas.microsoft.com/office/drawing/2014/main" id="{E4459D42-4F56-476D-A35F-75CECAC6A057}"/>
                  </a:ext>
                </a:extLst>
              </p:cNvPr>
              <p:cNvPicPr>
                <a:picLocks noChangeAspect="1"/>
              </p:cNvPicPr>
              <p:nvPr/>
            </p:nvPicPr>
            <p:blipFill>
              <a:blip r:embed="rId4"/>
              <a:stretch>
                <a:fillRect/>
              </a:stretch>
            </p:blipFill>
            <p:spPr>
              <a:xfrm>
                <a:off x="7617651" y="1474659"/>
                <a:ext cx="343794" cy="343794"/>
              </a:xfrm>
              <a:prstGeom prst="rect">
                <a:avLst/>
              </a:prstGeom>
            </p:spPr>
          </p:pic>
        </p:grpSp>
        <p:grpSp>
          <p:nvGrpSpPr>
            <p:cNvPr id="42" name="Group 41">
              <a:extLst>
                <a:ext uri="{FF2B5EF4-FFF2-40B4-BE49-F238E27FC236}">
                  <a16:creationId xmlns:a16="http://schemas.microsoft.com/office/drawing/2014/main" id="{1C245463-3230-4B72-8056-DC885406DBBB}"/>
                </a:ext>
              </a:extLst>
            </p:cNvPr>
            <p:cNvGrpSpPr/>
            <p:nvPr/>
          </p:nvGrpSpPr>
          <p:grpSpPr>
            <a:xfrm>
              <a:off x="7465384" y="2164610"/>
              <a:ext cx="648329" cy="648421"/>
              <a:chOff x="7465384" y="2164610"/>
              <a:chExt cx="648329" cy="648421"/>
            </a:xfrm>
          </p:grpSpPr>
          <p:grpSp>
            <p:nvGrpSpPr>
              <p:cNvPr id="41" name="Group 40">
                <a:extLst>
                  <a:ext uri="{FF2B5EF4-FFF2-40B4-BE49-F238E27FC236}">
                    <a16:creationId xmlns:a16="http://schemas.microsoft.com/office/drawing/2014/main" id="{003EFA45-3C02-49BE-99BF-A2C364D8438D}"/>
                  </a:ext>
                </a:extLst>
              </p:cNvPr>
              <p:cNvGrpSpPr/>
              <p:nvPr/>
            </p:nvGrpSpPr>
            <p:grpSpPr>
              <a:xfrm>
                <a:off x="7465384" y="2164610"/>
                <a:ext cx="648329" cy="648421"/>
                <a:chOff x="7465384" y="2164610"/>
                <a:chExt cx="648329" cy="648421"/>
              </a:xfrm>
            </p:grpSpPr>
            <p:sp>
              <p:nvSpPr>
                <p:cNvPr id="275" name="Freeform 5">
                  <a:extLst>
                    <a:ext uri="{FF2B5EF4-FFF2-40B4-BE49-F238E27FC236}">
                      <a16:creationId xmlns:a16="http://schemas.microsoft.com/office/drawing/2014/main" id="{D9F5808C-9B3D-433C-B434-806D1B5FEDA4}"/>
                    </a:ext>
                  </a:extLst>
                </p:cNvPr>
                <p:cNvSpPr>
                  <a:spLocks/>
                </p:cNvSpPr>
                <p:nvPr/>
              </p:nvSpPr>
              <p:spPr bwMode="auto">
                <a:xfrm>
                  <a:off x="7465384" y="2164610"/>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76" name="Freeform 6">
                  <a:extLst>
                    <a:ext uri="{FF2B5EF4-FFF2-40B4-BE49-F238E27FC236}">
                      <a16:creationId xmlns:a16="http://schemas.microsoft.com/office/drawing/2014/main" id="{55675F26-DDB6-4831-BB09-3FFCECC8E39C}"/>
                    </a:ext>
                  </a:extLst>
                </p:cNvPr>
                <p:cNvSpPr>
                  <a:spLocks noEditPoints="1"/>
                </p:cNvSpPr>
                <p:nvPr/>
              </p:nvSpPr>
              <p:spPr bwMode="auto">
                <a:xfrm>
                  <a:off x="7509969" y="2209727"/>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6" name="Picture 15" descr="Icon of a gear inside a circle">
                <a:extLst>
                  <a:ext uri="{FF2B5EF4-FFF2-40B4-BE49-F238E27FC236}">
                    <a16:creationId xmlns:a16="http://schemas.microsoft.com/office/drawing/2014/main" id="{FF57670B-F209-45D7-9C7A-731155FB750B}"/>
                  </a:ext>
                </a:extLst>
              </p:cNvPr>
              <p:cNvPicPr>
                <a:picLocks noChangeAspect="1"/>
              </p:cNvPicPr>
              <p:nvPr/>
            </p:nvPicPr>
            <p:blipFill>
              <a:blip r:embed="rId5"/>
              <a:stretch>
                <a:fillRect/>
              </a:stretch>
            </p:blipFill>
            <p:spPr>
              <a:xfrm>
                <a:off x="7617652" y="2316856"/>
                <a:ext cx="343794" cy="343794"/>
              </a:xfrm>
              <a:prstGeom prst="rect">
                <a:avLst/>
              </a:prstGeom>
            </p:spPr>
          </p:pic>
        </p:grpSp>
        <p:grpSp>
          <p:nvGrpSpPr>
            <p:cNvPr id="40" name="Group 39">
              <a:extLst>
                <a:ext uri="{FF2B5EF4-FFF2-40B4-BE49-F238E27FC236}">
                  <a16:creationId xmlns:a16="http://schemas.microsoft.com/office/drawing/2014/main" id="{CD360B4F-EE2B-4DA6-AB98-B9DB81B9024A}"/>
                </a:ext>
              </a:extLst>
            </p:cNvPr>
            <p:cNvGrpSpPr/>
            <p:nvPr/>
          </p:nvGrpSpPr>
          <p:grpSpPr>
            <a:xfrm>
              <a:off x="7465384" y="3006874"/>
              <a:ext cx="648329" cy="648421"/>
              <a:chOff x="7465384" y="3006874"/>
              <a:chExt cx="648329" cy="648421"/>
            </a:xfrm>
          </p:grpSpPr>
          <p:grpSp>
            <p:nvGrpSpPr>
              <p:cNvPr id="39" name="Group 38">
                <a:extLst>
                  <a:ext uri="{FF2B5EF4-FFF2-40B4-BE49-F238E27FC236}">
                    <a16:creationId xmlns:a16="http://schemas.microsoft.com/office/drawing/2014/main" id="{90D3577D-CE30-4170-A24D-7F611D25D278}"/>
                  </a:ext>
                </a:extLst>
              </p:cNvPr>
              <p:cNvGrpSpPr/>
              <p:nvPr/>
            </p:nvGrpSpPr>
            <p:grpSpPr>
              <a:xfrm>
                <a:off x="7465384" y="3006874"/>
                <a:ext cx="648329" cy="648421"/>
                <a:chOff x="7465384" y="3006874"/>
                <a:chExt cx="648329" cy="648421"/>
              </a:xfrm>
            </p:grpSpPr>
            <p:sp>
              <p:nvSpPr>
                <p:cNvPr id="288" name="Freeform 5">
                  <a:extLst>
                    <a:ext uri="{FF2B5EF4-FFF2-40B4-BE49-F238E27FC236}">
                      <a16:creationId xmlns:a16="http://schemas.microsoft.com/office/drawing/2014/main" id="{A73611B5-BF2A-49C4-B3C4-7A02CA678CE5}"/>
                    </a:ext>
                  </a:extLst>
                </p:cNvPr>
                <p:cNvSpPr>
                  <a:spLocks/>
                </p:cNvSpPr>
                <p:nvPr/>
              </p:nvSpPr>
              <p:spPr bwMode="auto">
                <a:xfrm>
                  <a:off x="7465384" y="300687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89" name="Freeform 6">
                  <a:extLst>
                    <a:ext uri="{FF2B5EF4-FFF2-40B4-BE49-F238E27FC236}">
                      <a16:creationId xmlns:a16="http://schemas.microsoft.com/office/drawing/2014/main" id="{8099A7AA-C1B5-4B98-AAA5-85438FCAFA30}"/>
                    </a:ext>
                  </a:extLst>
                </p:cNvPr>
                <p:cNvSpPr>
                  <a:spLocks noEditPoints="1"/>
                </p:cNvSpPr>
                <p:nvPr/>
              </p:nvSpPr>
              <p:spPr bwMode="auto">
                <a:xfrm>
                  <a:off x="7509969" y="3051991"/>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8" name="Picture 17" descr="Icon of a bulb">
                <a:extLst>
                  <a:ext uri="{FF2B5EF4-FFF2-40B4-BE49-F238E27FC236}">
                    <a16:creationId xmlns:a16="http://schemas.microsoft.com/office/drawing/2014/main" id="{BD13A457-70B7-4884-980F-27ACDD65C9BD}"/>
                  </a:ext>
                </a:extLst>
              </p:cNvPr>
              <p:cNvPicPr>
                <a:picLocks noChangeAspect="1"/>
              </p:cNvPicPr>
              <p:nvPr/>
            </p:nvPicPr>
            <p:blipFill>
              <a:blip r:embed="rId6"/>
              <a:stretch>
                <a:fillRect/>
              </a:stretch>
            </p:blipFill>
            <p:spPr>
              <a:xfrm>
                <a:off x="7665954" y="3159187"/>
                <a:ext cx="247191" cy="343794"/>
              </a:xfrm>
              <a:prstGeom prst="rect">
                <a:avLst/>
              </a:prstGeom>
            </p:spPr>
          </p:pic>
        </p:grpSp>
        <p:grpSp>
          <p:nvGrpSpPr>
            <p:cNvPr id="38" name="Group 37">
              <a:extLst>
                <a:ext uri="{FF2B5EF4-FFF2-40B4-BE49-F238E27FC236}">
                  <a16:creationId xmlns:a16="http://schemas.microsoft.com/office/drawing/2014/main" id="{F92A0205-4849-46DA-94AE-12B53B09EFF2}"/>
                </a:ext>
              </a:extLst>
            </p:cNvPr>
            <p:cNvGrpSpPr/>
            <p:nvPr/>
          </p:nvGrpSpPr>
          <p:grpSpPr>
            <a:xfrm>
              <a:off x="7465384" y="3849138"/>
              <a:ext cx="648329" cy="648421"/>
              <a:chOff x="7465384" y="3849138"/>
              <a:chExt cx="648329" cy="648421"/>
            </a:xfrm>
          </p:grpSpPr>
          <p:grpSp>
            <p:nvGrpSpPr>
              <p:cNvPr id="37" name="Group 36">
                <a:extLst>
                  <a:ext uri="{FF2B5EF4-FFF2-40B4-BE49-F238E27FC236}">
                    <a16:creationId xmlns:a16="http://schemas.microsoft.com/office/drawing/2014/main" id="{BD0BD5A1-A5E2-4AE5-A0DA-7814A59E31B9}"/>
                  </a:ext>
                </a:extLst>
              </p:cNvPr>
              <p:cNvGrpSpPr/>
              <p:nvPr/>
            </p:nvGrpSpPr>
            <p:grpSpPr>
              <a:xfrm>
                <a:off x="7465384" y="3849138"/>
                <a:ext cx="648329" cy="648421"/>
                <a:chOff x="7465384" y="3849138"/>
                <a:chExt cx="648329" cy="648421"/>
              </a:xfrm>
            </p:grpSpPr>
            <p:sp>
              <p:nvSpPr>
                <p:cNvPr id="295" name="Freeform 5">
                  <a:extLst>
                    <a:ext uri="{FF2B5EF4-FFF2-40B4-BE49-F238E27FC236}">
                      <a16:creationId xmlns:a16="http://schemas.microsoft.com/office/drawing/2014/main" id="{AEC8F748-5A1D-48AE-9734-03FB168C7969}"/>
                    </a:ext>
                  </a:extLst>
                </p:cNvPr>
                <p:cNvSpPr>
                  <a:spLocks/>
                </p:cNvSpPr>
                <p:nvPr/>
              </p:nvSpPr>
              <p:spPr bwMode="auto">
                <a:xfrm>
                  <a:off x="7465384" y="3849138"/>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96" name="Freeform 6">
                  <a:extLst>
                    <a:ext uri="{FF2B5EF4-FFF2-40B4-BE49-F238E27FC236}">
                      <a16:creationId xmlns:a16="http://schemas.microsoft.com/office/drawing/2014/main" id="{A052CBFC-AE43-4D3C-90BA-25BE664B3444}"/>
                    </a:ext>
                  </a:extLst>
                </p:cNvPr>
                <p:cNvSpPr>
                  <a:spLocks noEditPoints="1"/>
                </p:cNvSpPr>
                <p:nvPr/>
              </p:nvSpPr>
              <p:spPr bwMode="auto">
                <a:xfrm>
                  <a:off x="7509969" y="3894255"/>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9" name="Picture 18" descr="Icon of a screen with dots">
                <a:extLst>
                  <a:ext uri="{FF2B5EF4-FFF2-40B4-BE49-F238E27FC236}">
                    <a16:creationId xmlns:a16="http://schemas.microsoft.com/office/drawing/2014/main" id="{8E4535D7-6290-48FF-B3F7-FD97910E1A00}"/>
                  </a:ext>
                </a:extLst>
              </p:cNvPr>
              <p:cNvPicPr>
                <a:picLocks noChangeAspect="1"/>
              </p:cNvPicPr>
              <p:nvPr/>
            </p:nvPicPr>
            <p:blipFill>
              <a:blip r:embed="rId7"/>
              <a:stretch>
                <a:fillRect/>
              </a:stretch>
            </p:blipFill>
            <p:spPr>
              <a:xfrm>
                <a:off x="7620683" y="4046628"/>
                <a:ext cx="337732" cy="253437"/>
              </a:xfrm>
              <a:prstGeom prst="rect">
                <a:avLst/>
              </a:prstGeom>
            </p:spPr>
          </p:pic>
        </p:grpSp>
        <p:grpSp>
          <p:nvGrpSpPr>
            <p:cNvPr id="36" name="Group 35">
              <a:extLst>
                <a:ext uri="{FF2B5EF4-FFF2-40B4-BE49-F238E27FC236}">
                  <a16:creationId xmlns:a16="http://schemas.microsoft.com/office/drawing/2014/main" id="{2A9F0983-A4E5-4F2E-ABDE-3712A8CC4BAC}"/>
                </a:ext>
              </a:extLst>
            </p:cNvPr>
            <p:cNvGrpSpPr/>
            <p:nvPr/>
          </p:nvGrpSpPr>
          <p:grpSpPr>
            <a:xfrm>
              <a:off x="7465384" y="4691402"/>
              <a:ext cx="648329" cy="648421"/>
              <a:chOff x="7465384" y="4691402"/>
              <a:chExt cx="648329" cy="648421"/>
            </a:xfrm>
          </p:grpSpPr>
          <p:grpSp>
            <p:nvGrpSpPr>
              <p:cNvPr id="35" name="Group 34">
                <a:extLst>
                  <a:ext uri="{FF2B5EF4-FFF2-40B4-BE49-F238E27FC236}">
                    <a16:creationId xmlns:a16="http://schemas.microsoft.com/office/drawing/2014/main" id="{32443AB6-A107-4118-B16A-3B1B4CF8D71B}"/>
                  </a:ext>
                </a:extLst>
              </p:cNvPr>
              <p:cNvGrpSpPr/>
              <p:nvPr/>
            </p:nvGrpSpPr>
            <p:grpSpPr>
              <a:xfrm>
                <a:off x="7465384" y="4691402"/>
                <a:ext cx="648329" cy="648421"/>
                <a:chOff x="7465384" y="4691402"/>
                <a:chExt cx="648329" cy="648421"/>
              </a:xfrm>
            </p:grpSpPr>
            <p:sp>
              <p:nvSpPr>
                <p:cNvPr id="304" name="Freeform 5">
                  <a:extLst>
                    <a:ext uri="{FF2B5EF4-FFF2-40B4-BE49-F238E27FC236}">
                      <a16:creationId xmlns:a16="http://schemas.microsoft.com/office/drawing/2014/main" id="{891AC3BA-0790-4F0A-8575-DFF660A40A6B}"/>
                    </a:ext>
                  </a:extLst>
                </p:cNvPr>
                <p:cNvSpPr>
                  <a:spLocks/>
                </p:cNvSpPr>
                <p:nvPr/>
              </p:nvSpPr>
              <p:spPr bwMode="auto">
                <a:xfrm>
                  <a:off x="7465384" y="4691402"/>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05" name="Freeform 6">
                  <a:extLst>
                    <a:ext uri="{FF2B5EF4-FFF2-40B4-BE49-F238E27FC236}">
                      <a16:creationId xmlns:a16="http://schemas.microsoft.com/office/drawing/2014/main" id="{1FC70E09-E3D7-498A-8C42-D85A4E25EB9B}"/>
                    </a:ext>
                  </a:extLst>
                </p:cNvPr>
                <p:cNvSpPr>
                  <a:spLocks noEditPoints="1"/>
                </p:cNvSpPr>
                <p:nvPr/>
              </p:nvSpPr>
              <p:spPr bwMode="auto">
                <a:xfrm>
                  <a:off x="7509969" y="4736519"/>
                  <a:ext cx="559158" cy="558187"/>
                </a:xfrm>
                <a:prstGeom prst="ellipse">
                  <a:avLst/>
                </a:prstGeom>
                <a:noFill/>
                <a:ln w="19050">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20" name="Picture 19" descr="Icon of coding brackets">
                <a:extLst>
                  <a:ext uri="{FF2B5EF4-FFF2-40B4-BE49-F238E27FC236}">
                    <a16:creationId xmlns:a16="http://schemas.microsoft.com/office/drawing/2014/main" id="{7D0E81FA-CCC0-43E4-B9A4-F6B048E3322D}"/>
                  </a:ext>
                </a:extLst>
              </p:cNvPr>
              <p:cNvPicPr>
                <a:picLocks noChangeAspect="1"/>
              </p:cNvPicPr>
              <p:nvPr/>
            </p:nvPicPr>
            <p:blipFill>
              <a:blip r:embed="rId8"/>
              <a:stretch>
                <a:fillRect/>
              </a:stretch>
            </p:blipFill>
            <p:spPr>
              <a:xfrm>
                <a:off x="7618031" y="4844095"/>
                <a:ext cx="343035" cy="343035"/>
              </a:xfrm>
              <a:prstGeom prst="rect">
                <a:avLst/>
              </a:prstGeom>
            </p:spPr>
          </p:pic>
        </p:grpSp>
      </p:grpSp>
    </p:spTree>
    <p:extLst>
      <p:ext uri="{BB962C8B-B14F-4D97-AF65-F5344CB8AC3E}">
        <p14:creationId xmlns:p14="http://schemas.microsoft.com/office/powerpoint/2010/main" val="193851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Plan a VPN Gateway</a:t>
            </a:r>
          </a:p>
        </p:txBody>
      </p:sp>
      <p:sp>
        <p:nvSpPr>
          <p:cNvPr id="5" name="Rectangle 4">
            <a:extLst>
              <a:ext uri="{FF2B5EF4-FFF2-40B4-BE49-F238E27FC236}">
                <a16:creationId xmlns:a16="http://schemas.microsoft.com/office/drawing/2014/main" id="{76B7D018-6300-4013-9D3C-C3068AF25DC5}"/>
              </a:ext>
              <a:ext uri="{C183D7F6-B498-43B3-948B-1728B52AA6E4}">
                <adec:decorative xmlns:adec="http://schemas.microsoft.com/office/drawing/2017/decorative" val="1"/>
              </a:ext>
            </a:extLst>
          </p:cNvPr>
          <p:cNvSpPr/>
          <p:nvPr/>
        </p:nvSpPr>
        <p:spPr bwMode="auto">
          <a:xfrm>
            <a:off x="418644" y="1169263"/>
            <a:ext cx="11354714" cy="333046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Freeform: Shape 7">
            <a:extLst>
              <a:ext uri="{FF2B5EF4-FFF2-40B4-BE49-F238E27FC236}">
                <a16:creationId xmlns:a16="http://schemas.microsoft.com/office/drawing/2014/main" id="{D8C96F80-31A9-4368-B1B3-CD285D344AC1}"/>
              </a:ext>
            </a:extLst>
          </p:cNvPr>
          <p:cNvSpPr/>
          <p:nvPr/>
        </p:nvSpPr>
        <p:spPr>
          <a:xfrm>
            <a:off x="418643"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Site-to-site connections connect on-premises datacenters to Azure </a:t>
            </a:r>
            <a:br>
              <a:rPr lang="en-US" sz="2157" dirty="0">
                <a:solidFill>
                  <a:schemeClr val="tx1"/>
                </a:solidFill>
              </a:rPr>
            </a:br>
            <a:r>
              <a:rPr lang="en-US" sz="2157" dirty="0">
                <a:solidFill>
                  <a:schemeClr val="tx1"/>
                </a:solidFill>
              </a:rPr>
              <a:t>virtual networks</a:t>
            </a:r>
          </a:p>
        </p:txBody>
      </p:sp>
      <p:sp>
        <p:nvSpPr>
          <p:cNvPr id="11" name="Freeform: Shape 10">
            <a:extLst>
              <a:ext uri="{FF2B5EF4-FFF2-40B4-BE49-F238E27FC236}">
                <a16:creationId xmlns:a16="http://schemas.microsoft.com/office/drawing/2014/main" id="{79986F28-AA07-40CE-87D6-BC88661A2361}"/>
              </a:ext>
            </a:extLst>
          </p:cNvPr>
          <p:cNvSpPr/>
          <p:nvPr/>
        </p:nvSpPr>
        <p:spPr>
          <a:xfrm>
            <a:off x="4254405"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VNet-to-VNet connections connect Azure virtual networks to each other</a:t>
            </a:r>
          </a:p>
        </p:txBody>
      </p:sp>
      <p:sp>
        <p:nvSpPr>
          <p:cNvPr id="12" name="Freeform: Shape 11">
            <a:extLst>
              <a:ext uri="{FF2B5EF4-FFF2-40B4-BE49-F238E27FC236}">
                <a16:creationId xmlns:a16="http://schemas.microsoft.com/office/drawing/2014/main" id="{53055D80-C25A-40B6-B426-946680177531}"/>
              </a:ext>
            </a:extLst>
          </p:cNvPr>
          <p:cNvSpPr/>
          <p:nvPr/>
        </p:nvSpPr>
        <p:spPr>
          <a:xfrm>
            <a:off x="8090167"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Point-to-site (User VPN) connections connect individual devices to Azure virtual networks</a:t>
            </a:r>
          </a:p>
        </p:txBody>
      </p:sp>
      <p:pic>
        <p:nvPicPr>
          <p:cNvPr id="3" name="Picture 2" descr="Diagram showing a VPN Gateway using and IPsecIKE tunnel to access an on-premises gateway">
            <a:extLst>
              <a:ext uri="{FF2B5EF4-FFF2-40B4-BE49-F238E27FC236}">
                <a16:creationId xmlns:a16="http://schemas.microsoft.com/office/drawing/2014/main" id="{F275919C-565C-4255-A3AA-850EAFA08C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761" y="1610534"/>
            <a:ext cx="10763250" cy="2447925"/>
          </a:xfrm>
          <a:prstGeom prst="rect">
            <a:avLst/>
          </a:prstGeom>
        </p:spPr>
      </p:pic>
    </p:spTree>
    <p:extLst>
      <p:ext uri="{BB962C8B-B14F-4D97-AF65-F5344CB8AC3E}">
        <p14:creationId xmlns:p14="http://schemas.microsoft.com/office/powerpoint/2010/main" val="1860545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B6277-D866-4497-B1B5-33672D0B5973}"/>
              </a:ext>
            </a:extLst>
          </p:cNvPr>
          <p:cNvSpPr>
            <a:spLocks noGrp="1"/>
          </p:cNvSpPr>
          <p:nvPr>
            <p:ph type="title"/>
          </p:nvPr>
        </p:nvSpPr>
        <p:spPr/>
        <p:txBody>
          <a:bodyPr/>
          <a:lstStyle/>
          <a:p>
            <a:r>
              <a:rPr lang="en-US"/>
              <a:t>Create the Gateway Subnet</a:t>
            </a:r>
          </a:p>
        </p:txBody>
      </p:sp>
      <p:sp>
        <p:nvSpPr>
          <p:cNvPr id="7" name="Rectangle 6">
            <a:extLst>
              <a:ext uri="{FF2B5EF4-FFF2-40B4-BE49-F238E27FC236}">
                <a16:creationId xmlns:a16="http://schemas.microsoft.com/office/drawing/2014/main" id="{9E8BCB9C-417A-47A6-8068-538C688A70D2}"/>
              </a:ext>
              <a:ext uri="{C183D7F6-B498-43B3-948B-1728B52AA6E4}">
                <adec:decorative xmlns:adec="http://schemas.microsoft.com/office/drawing/2017/decorative" val="0"/>
              </a:ext>
            </a:extLst>
          </p:cNvPr>
          <p:cNvSpPr/>
          <p:nvPr/>
        </p:nvSpPr>
        <p:spPr bwMode="auto">
          <a:xfrm>
            <a:off x="418641" y="1531122"/>
            <a:ext cx="6305997" cy="103342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The gateway subnet contains the IP addresses; if possible, use a CIDR block of /28 or /27</a:t>
            </a:r>
          </a:p>
        </p:txBody>
      </p:sp>
      <p:sp>
        <p:nvSpPr>
          <p:cNvPr id="8" name="Rectangle 7">
            <a:extLst>
              <a:ext uri="{FF2B5EF4-FFF2-40B4-BE49-F238E27FC236}">
                <a16:creationId xmlns:a16="http://schemas.microsoft.com/office/drawing/2014/main" id="{7F22DA19-40BA-46B2-A454-954C769FD66F}"/>
              </a:ext>
              <a:ext uri="{C183D7F6-B498-43B3-948B-1728B52AA6E4}">
                <adec:decorative xmlns:adec="http://schemas.microsoft.com/office/drawing/2017/decorative" val="0"/>
              </a:ext>
            </a:extLst>
          </p:cNvPr>
          <p:cNvSpPr/>
          <p:nvPr/>
        </p:nvSpPr>
        <p:spPr bwMode="auto">
          <a:xfrm>
            <a:off x="418641" y="2706269"/>
            <a:ext cx="6305997" cy="172238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When you create your gateway subnet, gateway VMs are deployed to the gateway subnet and configured with the required VPN gateway settings</a:t>
            </a:r>
          </a:p>
        </p:txBody>
      </p:sp>
      <p:sp>
        <p:nvSpPr>
          <p:cNvPr id="10" name="Rectangle 9">
            <a:extLst>
              <a:ext uri="{FF2B5EF4-FFF2-40B4-BE49-F238E27FC236}">
                <a16:creationId xmlns:a16="http://schemas.microsoft.com/office/drawing/2014/main" id="{54D199EC-E1DA-46DE-BAAB-19FC4631499D}"/>
              </a:ext>
              <a:ext uri="{C183D7F6-B498-43B3-948B-1728B52AA6E4}">
                <adec:decorative xmlns:adec="http://schemas.microsoft.com/office/drawing/2017/decorative" val="0"/>
              </a:ext>
            </a:extLst>
          </p:cNvPr>
          <p:cNvSpPr/>
          <p:nvPr/>
        </p:nvSpPr>
        <p:spPr bwMode="auto">
          <a:xfrm>
            <a:off x="418641" y="4570368"/>
            <a:ext cx="6305997" cy="103342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Never deploy other resources</a:t>
            </a:r>
            <a:br>
              <a:rPr lang="en-US" sz="1765">
                <a:solidFill>
                  <a:schemeClr val="tx1"/>
                </a:solidFill>
              </a:rPr>
            </a:br>
            <a:r>
              <a:rPr lang="en-US" sz="1765">
                <a:solidFill>
                  <a:schemeClr val="tx1"/>
                </a:solidFill>
              </a:rPr>
              <a:t>(for example, additional VMs) to the gateway subnet</a:t>
            </a:r>
          </a:p>
        </p:txBody>
      </p:sp>
      <p:pic>
        <p:nvPicPr>
          <p:cNvPr id="13" name="Picture 12" descr="Screenshot of the Subnets blade of the Virtual Networking Azure portal . The add Gateway subnet link is highlighted">
            <a:extLst>
              <a:ext uri="{FF2B5EF4-FFF2-40B4-BE49-F238E27FC236}">
                <a16:creationId xmlns:a16="http://schemas.microsoft.com/office/drawing/2014/main" id="{96D7C68E-E3EB-4C9D-911A-69F51489A48A}"/>
              </a:ext>
            </a:extLst>
          </p:cNvPr>
          <p:cNvPicPr>
            <a:picLocks noChangeAspect="1"/>
          </p:cNvPicPr>
          <p:nvPr/>
        </p:nvPicPr>
        <p:blipFill rotWithShape="1">
          <a:blip r:embed="rId3"/>
          <a:srcRect r="-2051"/>
          <a:stretch/>
        </p:blipFill>
        <p:spPr>
          <a:xfrm>
            <a:off x="7305024" y="1285127"/>
            <a:ext cx="3887949" cy="597617"/>
          </a:xfrm>
          <a:prstGeom prst="rect">
            <a:avLst/>
          </a:prstGeom>
          <a:ln>
            <a:solidFill>
              <a:schemeClr val="tx1">
                <a:lumMod val="50000"/>
                <a:lumOff val="50000"/>
              </a:schemeClr>
            </a:solidFill>
          </a:ln>
        </p:spPr>
      </p:pic>
      <p:sp>
        <p:nvSpPr>
          <p:cNvPr id="6" name="Rectangle 5">
            <a:extLst>
              <a:ext uri="{FF2B5EF4-FFF2-40B4-BE49-F238E27FC236}">
                <a16:creationId xmlns:a16="http://schemas.microsoft.com/office/drawing/2014/main" id="{3C4BA5E6-741F-4788-BAE3-A6F4FE7ED8C7}"/>
              </a:ext>
              <a:ext uri="{C183D7F6-B498-43B3-948B-1728B52AA6E4}">
                <adec:decorative xmlns:adec="http://schemas.microsoft.com/office/drawing/2017/decorative" val="1"/>
              </a:ext>
            </a:extLst>
          </p:cNvPr>
          <p:cNvSpPr/>
          <p:nvPr/>
        </p:nvSpPr>
        <p:spPr bwMode="auto">
          <a:xfrm>
            <a:off x="6956630" y="1169264"/>
            <a:ext cx="4816729" cy="506791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4" descr="Screenshot of the add a gateway subnet page. ">
            <a:extLst>
              <a:ext uri="{FF2B5EF4-FFF2-40B4-BE49-F238E27FC236}">
                <a16:creationId xmlns:a16="http://schemas.microsoft.com/office/drawing/2014/main" id="{4C687143-C9E8-4546-9ACB-920BF951C84F}"/>
              </a:ext>
            </a:extLst>
          </p:cNvPr>
          <p:cNvPicPr>
            <a:picLocks noChangeAspect="1"/>
          </p:cNvPicPr>
          <p:nvPr/>
        </p:nvPicPr>
        <p:blipFill>
          <a:blip r:embed="rId4"/>
          <a:stretch>
            <a:fillRect/>
          </a:stretch>
        </p:blipFill>
        <p:spPr>
          <a:xfrm>
            <a:off x="8215671" y="1925462"/>
            <a:ext cx="2651923" cy="4192654"/>
          </a:xfrm>
          <a:prstGeom prst="rect">
            <a:avLst/>
          </a:prstGeom>
        </p:spPr>
      </p:pic>
    </p:spTree>
    <p:extLst>
      <p:ext uri="{BB962C8B-B14F-4D97-AF65-F5344CB8AC3E}">
        <p14:creationId xmlns:p14="http://schemas.microsoft.com/office/powerpoint/2010/main" val="147686457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4AF6A-B26E-4617-BDE4-85264F42D57C}"/>
              </a:ext>
            </a:extLst>
          </p:cNvPr>
          <p:cNvSpPr>
            <a:spLocks noGrp="1"/>
          </p:cNvSpPr>
          <p:nvPr>
            <p:ph type="title"/>
          </p:nvPr>
        </p:nvSpPr>
        <p:spPr/>
        <p:txBody>
          <a:bodyPr/>
          <a:lstStyle/>
          <a:p>
            <a:r>
              <a:rPr lang="en-US"/>
              <a:t>VPN Gateway Configuration requirements </a:t>
            </a:r>
          </a:p>
        </p:txBody>
      </p:sp>
      <p:sp>
        <p:nvSpPr>
          <p:cNvPr id="22" name="Rectangle 21">
            <a:extLst>
              <a:ext uri="{FF2B5EF4-FFF2-40B4-BE49-F238E27FC236}">
                <a16:creationId xmlns:a16="http://schemas.microsoft.com/office/drawing/2014/main" id="{9921E24B-FDF8-4856-B01C-40EA70C068C5}"/>
              </a:ext>
              <a:ext uri="{C183D7F6-B498-43B3-948B-1728B52AA6E4}">
                <adec:decorative xmlns:adec="http://schemas.microsoft.com/office/drawing/2017/decorative" val="0"/>
              </a:ext>
            </a:extLst>
          </p:cNvPr>
          <p:cNvSpPr/>
          <p:nvPr/>
        </p:nvSpPr>
        <p:spPr bwMode="auto">
          <a:xfrm>
            <a:off x="435488" y="1350193"/>
            <a:ext cx="4968130" cy="76690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r>
              <a:rPr lang="en-US" sz="1765">
                <a:solidFill>
                  <a:schemeClr val="tx1"/>
                </a:solidFill>
                <a:cs typeface="Segoe UI Semilight"/>
              </a:rPr>
              <a:t>Most VPN types are Route-based</a:t>
            </a:r>
          </a:p>
        </p:txBody>
      </p:sp>
      <p:sp>
        <p:nvSpPr>
          <p:cNvPr id="23" name="Rectangle 22">
            <a:extLst>
              <a:ext uri="{FF2B5EF4-FFF2-40B4-BE49-F238E27FC236}">
                <a16:creationId xmlns:a16="http://schemas.microsoft.com/office/drawing/2014/main" id="{D028A91A-1B7D-40AB-A00D-EF11AA7F1D79}"/>
              </a:ext>
              <a:ext uri="{C183D7F6-B498-43B3-948B-1728B52AA6E4}">
                <adec:decorative xmlns:adec="http://schemas.microsoft.com/office/drawing/2017/decorative" val="0"/>
              </a:ext>
            </a:extLst>
          </p:cNvPr>
          <p:cNvSpPr/>
          <p:nvPr/>
        </p:nvSpPr>
        <p:spPr bwMode="auto">
          <a:xfrm>
            <a:off x="435487" y="2364765"/>
            <a:ext cx="4968130" cy="83153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07571" bIns="89642" numCol="1" spcCol="0" rtlCol="0" fromWordArt="0" anchor="ctr" anchorCtr="0" forceAA="0" compatLnSpc="1">
            <a:prstTxWarp prst="textNoShape">
              <a:avLst/>
            </a:prstTxWarp>
            <a:noAutofit/>
          </a:bodyPr>
          <a:lstStyle/>
          <a:p>
            <a:r>
              <a:rPr lang="en-US" sz="1765">
                <a:solidFill>
                  <a:schemeClr val="tx1"/>
                </a:solidFill>
                <a:cs typeface="Segoe UI Semilight"/>
              </a:rPr>
              <a:t>Your choice of gateway SKU affects the number of connections you can have and the aggregate throughput benchmark</a:t>
            </a:r>
          </a:p>
        </p:txBody>
      </p:sp>
      <p:sp>
        <p:nvSpPr>
          <p:cNvPr id="24" name="Rectangle 23">
            <a:extLst>
              <a:ext uri="{FF2B5EF4-FFF2-40B4-BE49-F238E27FC236}">
                <a16:creationId xmlns:a16="http://schemas.microsoft.com/office/drawing/2014/main" id="{5DAF04D7-D83D-44A6-97B6-1539B3634D27}"/>
              </a:ext>
              <a:ext uri="{C183D7F6-B498-43B3-948B-1728B52AA6E4}">
                <adec:decorative xmlns:adec="http://schemas.microsoft.com/office/drawing/2017/decorative" val="0"/>
              </a:ext>
            </a:extLst>
          </p:cNvPr>
          <p:cNvSpPr/>
          <p:nvPr/>
        </p:nvSpPr>
        <p:spPr bwMode="auto">
          <a:xfrm>
            <a:off x="418644" y="3443974"/>
            <a:ext cx="4968130" cy="76690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lvl="0"/>
            <a:r>
              <a:rPr lang="en-US" sz="1765">
                <a:solidFill>
                  <a:schemeClr val="tx1"/>
                </a:solidFill>
                <a:cs typeface="Segoe UI Semilight"/>
              </a:rPr>
              <a:t>Associate a virtual network that includes the gateway subnet</a:t>
            </a:r>
          </a:p>
        </p:txBody>
      </p:sp>
      <p:sp>
        <p:nvSpPr>
          <p:cNvPr id="21" name="Rectangle 20">
            <a:extLst>
              <a:ext uri="{FF2B5EF4-FFF2-40B4-BE49-F238E27FC236}">
                <a16:creationId xmlns:a16="http://schemas.microsoft.com/office/drawing/2014/main" id="{96A2976D-6A1A-445E-BB96-84A6CC65070C}"/>
              </a:ext>
              <a:ext uri="{C183D7F6-B498-43B3-948B-1728B52AA6E4}">
                <adec:decorative xmlns:adec="http://schemas.microsoft.com/office/drawing/2017/decorative" val="0"/>
              </a:ext>
            </a:extLst>
          </p:cNvPr>
          <p:cNvSpPr/>
          <p:nvPr/>
        </p:nvSpPr>
        <p:spPr bwMode="auto">
          <a:xfrm>
            <a:off x="418644" y="4458544"/>
            <a:ext cx="4968130" cy="76501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a:solidFill>
                  <a:schemeClr val="tx1"/>
                </a:solidFill>
                <a:cs typeface="Segoe UI Semilight"/>
              </a:rPr>
              <a:t>The gateway needs a public IP address </a:t>
            </a:r>
          </a:p>
        </p:txBody>
      </p:sp>
      <p:sp>
        <p:nvSpPr>
          <p:cNvPr id="7" name="Rectangle 6">
            <a:extLst>
              <a:ext uri="{FF2B5EF4-FFF2-40B4-BE49-F238E27FC236}">
                <a16:creationId xmlns:a16="http://schemas.microsoft.com/office/drawing/2014/main" id="{F38EB964-8F6A-4CD5-BAC0-F9F1EE49BCEB}"/>
              </a:ext>
              <a:ext uri="{C183D7F6-B498-43B3-948B-1728B52AA6E4}">
                <adec:decorative xmlns:adec="http://schemas.microsoft.com/office/drawing/2017/decorative" val="1"/>
              </a:ext>
            </a:extLst>
          </p:cNvPr>
          <p:cNvSpPr/>
          <p:nvPr/>
        </p:nvSpPr>
        <p:spPr bwMode="auto">
          <a:xfrm>
            <a:off x="5477239" y="1169264"/>
            <a:ext cx="6296119" cy="443116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8" name="Picture 7" descr="Screenshot of the create virtual network gateway page. VPN and route-based are selected">
            <a:extLst>
              <a:ext uri="{FF2B5EF4-FFF2-40B4-BE49-F238E27FC236}">
                <a16:creationId xmlns:a16="http://schemas.microsoft.com/office/drawing/2014/main" id="{C5131D97-A438-437B-BF13-227AAFABFFC4}"/>
              </a:ext>
            </a:extLst>
          </p:cNvPr>
          <p:cNvPicPr>
            <a:picLocks noChangeAspect="1"/>
          </p:cNvPicPr>
          <p:nvPr/>
        </p:nvPicPr>
        <p:blipFill>
          <a:blip r:embed="rId3"/>
          <a:stretch>
            <a:fillRect/>
          </a:stretch>
        </p:blipFill>
        <p:spPr>
          <a:xfrm>
            <a:off x="6279369" y="1257570"/>
            <a:ext cx="4887751" cy="4276782"/>
          </a:xfrm>
          <a:prstGeom prst="rect">
            <a:avLst/>
          </a:prstGeom>
        </p:spPr>
      </p:pic>
      <p:pic>
        <p:nvPicPr>
          <p:cNvPr id="11" name="Picture 10" descr="Tick mark">
            <a:extLst>
              <a:ext uri="{FF2B5EF4-FFF2-40B4-BE49-F238E27FC236}">
                <a16:creationId xmlns:a16="http://schemas.microsoft.com/office/drawing/2014/main" id="{F544975C-6697-4F11-A142-D7C31B0CCA30}"/>
              </a:ext>
            </a:extLst>
          </p:cNvPr>
          <p:cNvPicPr>
            <a:picLocks noChangeAspect="1"/>
          </p:cNvPicPr>
          <p:nvPr/>
        </p:nvPicPr>
        <p:blipFill>
          <a:blip r:embed="rId4"/>
          <a:stretch>
            <a:fillRect/>
          </a:stretch>
        </p:blipFill>
        <p:spPr>
          <a:xfrm>
            <a:off x="418644" y="5688739"/>
            <a:ext cx="763711" cy="546997"/>
          </a:xfrm>
          <a:prstGeom prst="rect">
            <a:avLst/>
          </a:prstGeom>
        </p:spPr>
      </p:pic>
      <p:sp>
        <p:nvSpPr>
          <p:cNvPr id="13" name="Freeform: Shape 12">
            <a:extLst>
              <a:ext uri="{FF2B5EF4-FFF2-40B4-BE49-F238E27FC236}">
                <a16:creationId xmlns:a16="http://schemas.microsoft.com/office/drawing/2014/main" id="{B46AD4E7-AB8A-4627-AC38-AF7A796E13F3}"/>
              </a:ext>
            </a:extLst>
          </p:cNvPr>
          <p:cNvSpPr/>
          <p:nvPr/>
        </p:nvSpPr>
        <p:spPr bwMode="auto">
          <a:xfrm>
            <a:off x="1" y="5688738"/>
            <a:ext cx="12076863" cy="548437"/>
          </a:xfrm>
          <a:custGeom>
            <a:avLst/>
            <a:gdLst>
              <a:gd name="connsiteX0" fmla="*/ 1213422 w 12436475"/>
              <a:gd name="connsiteY0" fmla="*/ 0 h 782411"/>
              <a:gd name="connsiteX1" fmla="*/ 12436475 w 12436475"/>
              <a:gd name="connsiteY1" fmla="*/ 0 h 782411"/>
              <a:gd name="connsiteX2" fmla="*/ 12436475 w 12436475"/>
              <a:gd name="connsiteY2" fmla="*/ 782411 h 782411"/>
              <a:gd name="connsiteX3" fmla="*/ 1213422 w 12436475"/>
              <a:gd name="connsiteY3" fmla="*/ 782411 h 782411"/>
              <a:gd name="connsiteX4" fmla="*/ 0 w 12436475"/>
              <a:gd name="connsiteY4" fmla="*/ 0 h 782411"/>
              <a:gd name="connsiteX5" fmla="*/ 427038 w 12436475"/>
              <a:gd name="connsiteY5" fmla="*/ 0 h 782411"/>
              <a:gd name="connsiteX6" fmla="*/ 427038 w 12436475"/>
              <a:gd name="connsiteY6" fmla="*/ 782411 h 782411"/>
              <a:gd name="connsiteX7" fmla="*/ 0 w 12436475"/>
              <a:gd name="connsiteY7" fmla="*/ 782411 h 78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36475" h="782411">
                <a:moveTo>
                  <a:pt x="1213422" y="0"/>
                </a:moveTo>
                <a:lnTo>
                  <a:pt x="12436475" y="0"/>
                </a:lnTo>
                <a:lnTo>
                  <a:pt x="12436475" y="782411"/>
                </a:lnTo>
                <a:lnTo>
                  <a:pt x="1213422" y="782411"/>
                </a:lnTo>
                <a:close/>
                <a:moveTo>
                  <a:pt x="0" y="0"/>
                </a:moveTo>
                <a:lnTo>
                  <a:pt x="427038" y="0"/>
                </a:lnTo>
                <a:lnTo>
                  <a:pt x="427038" y="782411"/>
                </a:lnTo>
                <a:lnTo>
                  <a:pt x="0" y="782411"/>
                </a:lnTo>
                <a:close/>
              </a:path>
            </a:pathLst>
          </a:custGeom>
          <a:solidFill>
            <a:schemeClr val="bg2">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37" tIns="143428" rIns="179285" bIns="143428" numCol="1" spcCol="0" rtlCol="0" fromWordArt="0" anchor="ctr" anchorCtr="0" forceAA="0" compatLnSpc="1">
            <a:prstTxWarp prst="textNoShape">
              <a:avLst/>
            </a:prstTxWarp>
            <a:noAutofit/>
          </a:bodyPr>
          <a:lstStyle/>
          <a:p>
            <a:pPr defTabSz="914102" fontAlgn="base">
              <a:spcBef>
                <a:spcPct val="0"/>
              </a:spcBef>
              <a:spcAft>
                <a:spcPct val="0"/>
              </a:spcAft>
            </a:pPr>
            <a:r>
              <a:rPr lang="en-US" sz="1765">
                <a:solidFill>
                  <a:schemeClr val="tx1"/>
                </a:solidFill>
                <a:latin typeface="+mj-lt"/>
                <a:cs typeface="Segoe UI Semibold" panose="020B0702040204020203" pitchFamily="34" charset="0"/>
              </a:rPr>
              <a:t>It can take up to 45 minutes to provision the VPN gateway</a:t>
            </a:r>
          </a:p>
        </p:txBody>
      </p:sp>
    </p:spTree>
    <p:extLst>
      <p:ext uri="{BB962C8B-B14F-4D97-AF65-F5344CB8AC3E}">
        <p14:creationId xmlns:p14="http://schemas.microsoft.com/office/powerpoint/2010/main" val="380364777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F705B-E787-45A1-BD2F-9E25579CF67E}"/>
              </a:ext>
            </a:extLst>
          </p:cNvPr>
          <p:cNvSpPr>
            <a:spLocks noGrp="1"/>
          </p:cNvSpPr>
          <p:nvPr>
            <p:ph type="title"/>
          </p:nvPr>
        </p:nvSpPr>
        <p:spPr/>
        <p:txBody>
          <a:bodyPr/>
          <a:lstStyle/>
          <a:p>
            <a:r>
              <a:rPr lang="en-US"/>
              <a:t>Choose the appropriate Gateway SKU and Generation</a:t>
            </a:r>
          </a:p>
        </p:txBody>
      </p:sp>
      <p:sp>
        <p:nvSpPr>
          <p:cNvPr id="9" name="Rectangle 8">
            <a:extLst>
              <a:ext uri="{FF2B5EF4-FFF2-40B4-BE49-F238E27FC236}">
                <a16:creationId xmlns:a16="http://schemas.microsoft.com/office/drawing/2014/main" id="{0719889C-6AEF-4E0B-B084-8C2D1485AAA5}"/>
              </a:ext>
              <a:ext uri="{C183D7F6-B498-43B3-948B-1728B52AA6E4}">
                <adec:decorative xmlns:adec="http://schemas.microsoft.com/office/drawing/2017/decorative" val="1"/>
              </a:ext>
            </a:extLst>
          </p:cNvPr>
          <p:cNvSpPr/>
          <p:nvPr/>
        </p:nvSpPr>
        <p:spPr bwMode="auto">
          <a:xfrm>
            <a:off x="418643" y="1621522"/>
            <a:ext cx="3682661" cy="287820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3" name="Picture 2" descr="Screenshot of a form which you can select an option from SKU and Generation. VpnGw1 and Generation 1 selected respectively">
            <a:extLst>
              <a:ext uri="{FF2B5EF4-FFF2-40B4-BE49-F238E27FC236}">
                <a16:creationId xmlns:a16="http://schemas.microsoft.com/office/drawing/2014/main" id="{BC5A3360-0771-4D1A-B773-258546791200}"/>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54146" y="2511866"/>
            <a:ext cx="3402316" cy="1097521"/>
          </a:xfrm>
          <a:prstGeom prst="rect">
            <a:avLst/>
          </a:prstGeom>
        </p:spPr>
      </p:pic>
      <p:sp>
        <p:nvSpPr>
          <p:cNvPr id="7" name="Rectangle 6">
            <a:extLst>
              <a:ext uri="{FF2B5EF4-FFF2-40B4-BE49-F238E27FC236}">
                <a16:creationId xmlns:a16="http://schemas.microsoft.com/office/drawing/2014/main" id="{2E5CAF5A-BC59-4E27-9D9C-575BA8C2A09C}"/>
              </a:ext>
              <a:ext uri="{C183D7F6-B498-43B3-948B-1728B52AA6E4}">
                <adec:decorative xmlns:adec="http://schemas.microsoft.com/office/drawing/2017/decorative" val="1"/>
              </a:ext>
            </a:extLst>
          </p:cNvPr>
          <p:cNvSpPr/>
          <p:nvPr/>
        </p:nvSpPr>
        <p:spPr>
          <a:xfrm>
            <a:off x="4243436" y="1246300"/>
            <a:ext cx="3117929" cy="301727"/>
          </a:xfrm>
          <a:prstGeom prst="rect">
            <a:avLst/>
          </a:prstGeom>
        </p:spPr>
        <p:txBody>
          <a:bodyPr wrap="square" lIns="0" tIns="0" rIns="0" bIns="0">
            <a:spAutoFit/>
          </a:bodyPr>
          <a:lstStyle/>
          <a:p>
            <a:r>
              <a:rPr lang="en-US" sz="1961">
                <a:solidFill>
                  <a:schemeClr val="tx2">
                    <a:lumMod val="50000"/>
                  </a:schemeClr>
                </a:solidFill>
                <a:latin typeface="+mj-lt"/>
              </a:rPr>
              <a:t>Sampling of available SKUs</a:t>
            </a:r>
          </a:p>
        </p:txBody>
      </p:sp>
      <p:graphicFrame>
        <p:nvGraphicFramePr>
          <p:cNvPr id="4" name="Table 3">
            <a:extLst>
              <a:ext uri="{FF2B5EF4-FFF2-40B4-BE49-F238E27FC236}">
                <a16:creationId xmlns:a16="http://schemas.microsoft.com/office/drawing/2014/main" id="{2DE14374-8F94-4B80-819F-499EA1BD3708}"/>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1649073102"/>
              </p:ext>
            </p:extLst>
          </p:nvPr>
        </p:nvGraphicFramePr>
        <p:xfrm>
          <a:off x="4254671" y="1621523"/>
          <a:ext cx="7518690" cy="2878210"/>
        </p:xfrm>
        <a:graphic>
          <a:graphicData uri="http://schemas.openxmlformats.org/drawingml/2006/table">
            <a:tbl>
              <a:tblPr firstRow="1">
                <a:tableStyleId>{69012ECD-51FC-41F1-AA8D-1B2483CD663E}</a:tableStyleId>
              </a:tblPr>
              <a:tblGrid>
                <a:gridCol w="704489">
                  <a:extLst>
                    <a:ext uri="{9D8B030D-6E8A-4147-A177-3AD203B41FA5}">
                      <a16:colId xmlns:a16="http://schemas.microsoft.com/office/drawing/2014/main" val="1007866674"/>
                    </a:ext>
                  </a:extLst>
                </a:gridCol>
                <a:gridCol w="1659188">
                  <a:extLst>
                    <a:ext uri="{9D8B030D-6E8A-4147-A177-3AD203B41FA5}">
                      <a16:colId xmlns:a16="http://schemas.microsoft.com/office/drawing/2014/main" val="1033762339"/>
                    </a:ext>
                  </a:extLst>
                </a:gridCol>
                <a:gridCol w="1854384">
                  <a:extLst>
                    <a:ext uri="{9D8B030D-6E8A-4147-A177-3AD203B41FA5}">
                      <a16:colId xmlns:a16="http://schemas.microsoft.com/office/drawing/2014/main" val="3445487214"/>
                    </a:ext>
                  </a:extLst>
                </a:gridCol>
                <a:gridCol w="1526098">
                  <a:extLst>
                    <a:ext uri="{9D8B030D-6E8A-4147-A177-3AD203B41FA5}">
                      <a16:colId xmlns:a16="http://schemas.microsoft.com/office/drawing/2014/main" val="3869190408"/>
                    </a:ext>
                  </a:extLst>
                </a:gridCol>
                <a:gridCol w="1774531">
                  <a:extLst>
                    <a:ext uri="{9D8B030D-6E8A-4147-A177-3AD203B41FA5}">
                      <a16:colId xmlns:a16="http://schemas.microsoft.com/office/drawing/2014/main" val="1344639747"/>
                    </a:ext>
                  </a:extLst>
                </a:gridCol>
              </a:tblGrid>
              <a:tr h="642100">
                <a:tc>
                  <a:txBody>
                    <a:bodyPr/>
                    <a:lstStyle/>
                    <a:p>
                      <a:pPr marL="0" marR="156845" algn="l" defTabSz="932742" rtl="0" eaLnBrk="1" latinLnBrk="0" hangingPunct="1"/>
                      <a:r>
                        <a:rPr lang="en-US" sz="1600" b="0" kern="1200">
                          <a:solidFill>
                            <a:schemeClr val="bg1"/>
                          </a:solidFill>
                          <a:effectLst/>
                          <a:latin typeface="+mj-lt"/>
                          <a:ea typeface="+mn-ea"/>
                          <a:cs typeface="Segoe UI Semilight" panose="020B0402040204020203" pitchFamily="34" charset="0"/>
                        </a:rPr>
                        <a:t>Gen</a:t>
                      </a:r>
                    </a:p>
                  </a:txBody>
                  <a:tcPr marL="89642" marR="89642" marT="45814" marB="45814"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defTabSz="932742" rtl="0" eaLnBrk="1" latinLnBrk="0" hangingPunct="1"/>
                      <a:r>
                        <a:rPr lang="en-US" sz="1600" b="0" kern="1200">
                          <a:solidFill>
                            <a:schemeClr val="bg1"/>
                          </a:solidFill>
                          <a:effectLst/>
                          <a:latin typeface="+mj-lt"/>
                          <a:ea typeface="+mn-ea"/>
                          <a:cs typeface="Segoe UI Semilight" panose="020B0402040204020203" pitchFamily="34" charset="0"/>
                        </a:rPr>
                        <a:t>SKU</a:t>
                      </a:r>
                    </a:p>
                  </a:txBody>
                  <a:tcPr marL="89642" marR="89642" marT="45814" marB="4581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defTabSz="932742" rtl="0" eaLnBrk="1" latinLnBrk="0" hangingPunct="1"/>
                      <a:r>
                        <a:rPr lang="en-US" sz="1600" b="0" kern="1200">
                          <a:solidFill>
                            <a:schemeClr val="bg1"/>
                          </a:solidFill>
                          <a:effectLst/>
                          <a:latin typeface="+mj-lt"/>
                          <a:ea typeface="+mn-ea"/>
                          <a:cs typeface="Segoe UI Semilight" panose="020B0402040204020203" pitchFamily="34" charset="0"/>
                        </a:rPr>
                        <a:t>S2S/VNet-to-VNet Tunnels</a:t>
                      </a:r>
                    </a:p>
                  </a:txBody>
                  <a:tcPr marL="89642" marR="89642" marT="45814" marB="4581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defTabSz="932742" rtl="0" eaLnBrk="1" latinLnBrk="0" hangingPunct="1"/>
                      <a:r>
                        <a:rPr lang="en-US" sz="1600" b="0" kern="1200">
                          <a:solidFill>
                            <a:schemeClr val="bg1"/>
                          </a:solidFill>
                          <a:effectLst/>
                          <a:latin typeface="+mj-lt"/>
                          <a:ea typeface="+mn-ea"/>
                          <a:cs typeface="Segoe UI Semilight" panose="020B0402040204020203" pitchFamily="34" charset="0"/>
                        </a:rPr>
                        <a:t>P2S IKEv2 Connections</a:t>
                      </a:r>
                    </a:p>
                  </a:txBody>
                  <a:tcPr marL="89642" marR="89642" marT="45814" marB="4581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156845" algn="l" defTabSz="932742" rtl="0" eaLnBrk="1" latinLnBrk="0" hangingPunct="1"/>
                      <a:r>
                        <a:rPr lang="en-US" sz="1600" b="0" kern="1200">
                          <a:solidFill>
                            <a:schemeClr val="bg1"/>
                          </a:solidFill>
                          <a:effectLst/>
                          <a:latin typeface="+mj-lt"/>
                          <a:ea typeface="+mn-ea"/>
                          <a:cs typeface="Segoe UI Semilight" panose="020B0402040204020203" pitchFamily="34" charset="0"/>
                        </a:rPr>
                        <a:t>Throughput Benchmark</a:t>
                      </a:r>
                    </a:p>
                  </a:txBody>
                  <a:tcPr marL="89642" marR="89642" marT="45814" marB="45814"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737813623"/>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1</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VpnGw1Az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250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650 Mbps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0391181"/>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1</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VpnGw2Az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500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1.0 Gbps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1636258"/>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2</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VpnGw2Az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500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1.25 Gbps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1346628"/>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1</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VpnGw3Az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1000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1.25 Gbps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3289066"/>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2</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VpnGw3Az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1000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2.5 Gbps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71337673"/>
                  </a:ext>
                </a:extLst>
              </a:tr>
              <a:tr h="372685">
                <a:tc>
                  <a:txBody>
                    <a:bodyPr/>
                    <a:lstStyle/>
                    <a:p>
                      <a:pPr marL="0" marR="156845" algn="l" defTabSz="932742" rtl="0" eaLnBrk="1" latinLnBrk="0" hangingPunct="1"/>
                      <a:r>
                        <a:rPr lang="en-US" sz="1600" b="0" kern="1200">
                          <a:solidFill>
                            <a:schemeClr val="tx1"/>
                          </a:solidFill>
                          <a:effectLst/>
                          <a:latin typeface="+mj-lt"/>
                          <a:ea typeface="+mn-ea"/>
                          <a:cs typeface="Segoe UI Semilight" panose="020B0402040204020203" pitchFamily="34" charset="0"/>
                        </a:rPr>
                        <a:t>2</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dirty="0">
                          <a:solidFill>
                            <a:schemeClr val="tx1"/>
                          </a:solidFill>
                          <a:effectLst/>
                          <a:latin typeface="+mj-lt"/>
                          <a:ea typeface="+mn-ea"/>
                          <a:cs typeface="Segoe UI Semilight" panose="020B0402040204020203" pitchFamily="34" charset="0"/>
                        </a:rPr>
                        <a:t>VpnGw4Az</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30</a:t>
                      </a:r>
                    </a:p>
                  </a:txBody>
                  <a:tcPr marL="89642" marR="89642" marT="45814" marB="4581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a:solidFill>
                            <a:schemeClr val="tx1"/>
                          </a:solidFill>
                          <a:effectLst/>
                          <a:latin typeface="+mn-lt"/>
                          <a:ea typeface="+mn-ea"/>
                          <a:cs typeface="Segoe UI Semilight" panose="020B0402040204020203" pitchFamily="34" charset="0"/>
                        </a:rPr>
                        <a:t>Max. 5000</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156845" algn="l" defTabSz="932742" rtl="0" eaLnBrk="1" latinLnBrk="0" hangingPunct="1"/>
                      <a:r>
                        <a:rPr lang="en-US" sz="1600" b="0" kern="1200" dirty="0">
                          <a:solidFill>
                            <a:schemeClr val="tx1"/>
                          </a:solidFill>
                          <a:effectLst/>
                          <a:latin typeface="+mn-lt"/>
                          <a:ea typeface="+mn-ea"/>
                          <a:cs typeface="Segoe UI Semilight" panose="020B0402040204020203" pitchFamily="34" charset="0"/>
                        </a:rPr>
                        <a:t>5.0 Gbps</a:t>
                      </a:r>
                    </a:p>
                  </a:txBody>
                  <a:tcPr marL="89642" marR="89642" marT="45814" marB="4581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81276128"/>
                  </a:ext>
                </a:extLst>
              </a:tr>
            </a:tbl>
          </a:graphicData>
        </a:graphic>
      </p:graphicFrame>
      <p:sp>
        <p:nvSpPr>
          <p:cNvPr id="12" name="Rectangle 11">
            <a:extLst>
              <a:ext uri="{FF2B5EF4-FFF2-40B4-BE49-F238E27FC236}">
                <a16:creationId xmlns:a16="http://schemas.microsoft.com/office/drawing/2014/main" id="{5E66404A-AE65-4104-AB50-BC37277D1DA9}"/>
              </a:ext>
            </a:extLst>
          </p:cNvPr>
          <p:cNvSpPr/>
          <p:nvPr/>
        </p:nvSpPr>
        <p:spPr bwMode="auto">
          <a:xfrm>
            <a:off x="418644" y="4646721"/>
            <a:ext cx="3682661" cy="14793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buSzPct val="90000"/>
            </a:pPr>
            <a:r>
              <a:rPr lang="en-US" sz="1961" dirty="0">
                <a:solidFill>
                  <a:schemeClr val="tx1"/>
                </a:solidFill>
                <a:cs typeface="Segoe UI Semilight"/>
              </a:rPr>
              <a:t>The Gateway SKU </a:t>
            </a:r>
            <a:br>
              <a:rPr lang="en-US" sz="1961" dirty="0">
                <a:solidFill>
                  <a:schemeClr val="tx1"/>
                </a:solidFill>
                <a:cs typeface="Segoe UI Semilight"/>
              </a:rPr>
            </a:br>
            <a:r>
              <a:rPr lang="en-US" sz="1961" dirty="0">
                <a:solidFill>
                  <a:schemeClr val="tx1"/>
                </a:solidFill>
                <a:cs typeface="Segoe UI Semilight"/>
              </a:rPr>
              <a:t>affects the connections </a:t>
            </a:r>
            <a:br>
              <a:rPr lang="en-US" sz="1961" dirty="0">
                <a:solidFill>
                  <a:schemeClr val="tx1"/>
                </a:solidFill>
                <a:cs typeface="Segoe UI Semilight"/>
              </a:rPr>
            </a:br>
            <a:r>
              <a:rPr lang="en-US" sz="1961" dirty="0">
                <a:solidFill>
                  <a:schemeClr val="tx1"/>
                </a:solidFill>
                <a:cs typeface="Segoe UI Semilight"/>
              </a:rPr>
              <a:t>and the throughput</a:t>
            </a:r>
          </a:p>
        </p:txBody>
      </p:sp>
      <p:sp>
        <p:nvSpPr>
          <p:cNvPr id="13" name="Rectangle 12">
            <a:extLst>
              <a:ext uri="{FF2B5EF4-FFF2-40B4-BE49-F238E27FC236}">
                <a16:creationId xmlns:a16="http://schemas.microsoft.com/office/drawing/2014/main" id="{A6917006-CF4C-4835-99E2-113D1BD765CF}"/>
              </a:ext>
            </a:extLst>
          </p:cNvPr>
          <p:cNvSpPr/>
          <p:nvPr/>
        </p:nvSpPr>
        <p:spPr bwMode="auto">
          <a:xfrm>
            <a:off x="4267962" y="4646721"/>
            <a:ext cx="3682661" cy="14793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buSzPct val="90000"/>
            </a:pPr>
            <a:r>
              <a:rPr lang="en-US" sz="1961" dirty="0">
                <a:solidFill>
                  <a:schemeClr val="tx1"/>
                </a:solidFill>
                <a:cs typeface="Segoe UI Semilight"/>
              </a:rPr>
              <a:t>Resizing is allowed </a:t>
            </a:r>
            <a:br>
              <a:rPr lang="en-US" sz="1961" dirty="0">
                <a:solidFill>
                  <a:schemeClr val="tx1"/>
                </a:solidFill>
                <a:cs typeface="Segoe UI Semilight"/>
              </a:rPr>
            </a:br>
            <a:r>
              <a:rPr lang="en-US" sz="1961" dirty="0">
                <a:solidFill>
                  <a:schemeClr val="tx1"/>
                </a:solidFill>
                <a:cs typeface="Segoe UI Semilight"/>
              </a:rPr>
              <a:t>within the generation</a:t>
            </a:r>
          </a:p>
        </p:txBody>
      </p:sp>
      <p:sp>
        <p:nvSpPr>
          <p:cNvPr id="14" name="Rectangle 13">
            <a:extLst>
              <a:ext uri="{FF2B5EF4-FFF2-40B4-BE49-F238E27FC236}">
                <a16:creationId xmlns:a16="http://schemas.microsoft.com/office/drawing/2014/main" id="{5FCAF460-5524-4ADE-828D-110F187A7CC2}"/>
              </a:ext>
            </a:extLst>
          </p:cNvPr>
          <p:cNvSpPr/>
          <p:nvPr/>
        </p:nvSpPr>
        <p:spPr bwMode="auto">
          <a:xfrm>
            <a:off x="8090699" y="4646721"/>
            <a:ext cx="3682661" cy="14793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buSzPct val="90000"/>
            </a:pPr>
            <a:r>
              <a:rPr lang="en-US" sz="1961" dirty="0">
                <a:solidFill>
                  <a:schemeClr val="tx1"/>
                </a:solidFill>
                <a:cs typeface="Segoe UI Semilight"/>
              </a:rPr>
              <a:t>The Basic SKU </a:t>
            </a:r>
            <a:br>
              <a:rPr lang="en-US" sz="1961" dirty="0">
                <a:solidFill>
                  <a:schemeClr val="tx1"/>
                </a:solidFill>
                <a:cs typeface="Segoe UI Semilight"/>
              </a:rPr>
            </a:br>
            <a:r>
              <a:rPr lang="en-US" sz="1961" dirty="0">
                <a:solidFill>
                  <a:schemeClr val="tx1"/>
                </a:solidFill>
                <a:cs typeface="Segoe UI Semilight"/>
              </a:rPr>
              <a:t>(not shown) is legacy </a:t>
            </a:r>
            <a:br>
              <a:rPr lang="en-US" sz="1961" dirty="0">
                <a:solidFill>
                  <a:schemeClr val="tx1"/>
                </a:solidFill>
                <a:cs typeface="Segoe UI Semilight"/>
              </a:rPr>
            </a:br>
            <a:r>
              <a:rPr lang="en-US" sz="1961" dirty="0">
                <a:solidFill>
                  <a:schemeClr val="tx1"/>
                </a:solidFill>
                <a:cs typeface="Segoe UI Semilight"/>
              </a:rPr>
              <a:t>and should not be used</a:t>
            </a:r>
          </a:p>
        </p:txBody>
      </p:sp>
    </p:spTree>
    <p:extLst>
      <p:ext uri="{BB962C8B-B14F-4D97-AF65-F5344CB8AC3E}">
        <p14:creationId xmlns:p14="http://schemas.microsoft.com/office/powerpoint/2010/main" val="415611332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the Local Network Gateway</a:t>
            </a:r>
          </a:p>
        </p:txBody>
      </p:sp>
      <p:sp>
        <p:nvSpPr>
          <p:cNvPr id="11" name="Rectangle 10">
            <a:extLst>
              <a:ext uri="{FF2B5EF4-FFF2-40B4-BE49-F238E27FC236}">
                <a16:creationId xmlns:a16="http://schemas.microsoft.com/office/drawing/2014/main" id="{F33F80CD-3D00-427F-A1AF-FD3C2F59FC7E}"/>
              </a:ext>
            </a:extLst>
          </p:cNvPr>
          <p:cNvSpPr/>
          <p:nvPr/>
        </p:nvSpPr>
        <p:spPr>
          <a:xfrm>
            <a:off x="418643" y="1169263"/>
            <a:ext cx="5813643" cy="1061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dirty="0">
                <a:solidFill>
                  <a:schemeClr val="tx1"/>
                </a:solidFill>
                <a:cs typeface="Segoe UI Semilight"/>
              </a:rPr>
              <a:t>Reflects the on-premises network configuration and enables Azure to route to your on-premises network </a:t>
            </a:r>
          </a:p>
        </p:txBody>
      </p:sp>
      <p:sp>
        <p:nvSpPr>
          <p:cNvPr id="12" name="Rectangle 11">
            <a:extLst>
              <a:ext uri="{FF2B5EF4-FFF2-40B4-BE49-F238E27FC236}">
                <a16:creationId xmlns:a16="http://schemas.microsoft.com/office/drawing/2014/main" id="{AFD5FDC0-7D05-49DF-B221-00F06B3BB27C}"/>
              </a:ext>
            </a:extLst>
          </p:cNvPr>
          <p:cNvSpPr/>
          <p:nvPr/>
        </p:nvSpPr>
        <p:spPr>
          <a:xfrm>
            <a:off x="418643" y="2377989"/>
            <a:ext cx="5813643" cy="1061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dirty="0">
                <a:solidFill>
                  <a:schemeClr val="tx1"/>
                </a:solidFill>
                <a:cs typeface="Segoe UI Semilight"/>
              </a:rPr>
              <a:t>Give the site a name by which Azure can refer to it</a:t>
            </a:r>
          </a:p>
        </p:txBody>
      </p:sp>
      <p:sp>
        <p:nvSpPr>
          <p:cNvPr id="13" name="Rectangle 12">
            <a:extLst>
              <a:ext uri="{FF2B5EF4-FFF2-40B4-BE49-F238E27FC236}">
                <a16:creationId xmlns:a16="http://schemas.microsoft.com/office/drawing/2014/main" id="{CD56CF94-34D0-46BE-A823-CE3FA04C0351}"/>
              </a:ext>
            </a:extLst>
          </p:cNvPr>
          <p:cNvSpPr/>
          <p:nvPr/>
        </p:nvSpPr>
        <p:spPr>
          <a:xfrm>
            <a:off x="418643" y="3586715"/>
            <a:ext cx="5813643" cy="1061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Use a public IP address or FQDN for Local Network Gateway Endpoint</a:t>
            </a:r>
          </a:p>
        </p:txBody>
      </p:sp>
      <p:sp>
        <p:nvSpPr>
          <p:cNvPr id="14" name="Rectangle 13">
            <a:extLst>
              <a:ext uri="{FF2B5EF4-FFF2-40B4-BE49-F238E27FC236}">
                <a16:creationId xmlns:a16="http://schemas.microsoft.com/office/drawing/2014/main" id="{B2792773-3048-465C-BF7A-C995ED304E77}"/>
              </a:ext>
            </a:extLst>
          </p:cNvPr>
          <p:cNvSpPr/>
          <p:nvPr/>
        </p:nvSpPr>
        <p:spPr>
          <a:xfrm>
            <a:off x="418643" y="4795439"/>
            <a:ext cx="5813643" cy="1061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Specify the IP address prefixes that will be routed through the gateway to the VPN device</a:t>
            </a:r>
          </a:p>
        </p:txBody>
      </p:sp>
      <p:sp>
        <p:nvSpPr>
          <p:cNvPr id="15" name="Rectangle 14">
            <a:extLst>
              <a:ext uri="{FF2B5EF4-FFF2-40B4-BE49-F238E27FC236}">
                <a16:creationId xmlns:a16="http://schemas.microsoft.com/office/drawing/2014/main" id="{ED177D9D-FC08-4298-B072-46DC89909A39}"/>
              </a:ext>
              <a:ext uri="{C183D7F6-B498-43B3-948B-1728B52AA6E4}">
                <adec:decorative xmlns:adec="http://schemas.microsoft.com/office/drawing/2017/decorative" val="1"/>
              </a:ext>
            </a:extLst>
          </p:cNvPr>
          <p:cNvSpPr/>
          <p:nvPr/>
        </p:nvSpPr>
        <p:spPr bwMode="auto">
          <a:xfrm>
            <a:off x="6374578" y="1169263"/>
            <a:ext cx="5398780" cy="46875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Screenshot of the create local network gateway page">
            <a:extLst>
              <a:ext uri="{FF2B5EF4-FFF2-40B4-BE49-F238E27FC236}">
                <a16:creationId xmlns:a16="http://schemas.microsoft.com/office/drawing/2014/main" id="{69B9E943-0FE4-4371-87CF-157CC784D82D}"/>
              </a:ext>
            </a:extLst>
          </p:cNvPr>
          <p:cNvPicPr>
            <a:picLocks noChangeAspect="1"/>
          </p:cNvPicPr>
          <p:nvPr/>
        </p:nvPicPr>
        <p:blipFill>
          <a:blip r:embed="rId3"/>
          <a:stretch>
            <a:fillRect/>
          </a:stretch>
        </p:blipFill>
        <p:spPr>
          <a:xfrm>
            <a:off x="7010950" y="1194162"/>
            <a:ext cx="4126033" cy="4662656"/>
          </a:xfrm>
          <a:prstGeom prst="rect">
            <a:avLst/>
          </a:prstGeom>
        </p:spPr>
      </p:pic>
    </p:spTree>
    <p:extLst>
      <p:ext uri="{BB962C8B-B14F-4D97-AF65-F5344CB8AC3E}">
        <p14:creationId xmlns:p14="http://schemas.microsoft.com/office/powerpoint/2010/main" val="93945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Configure the On-premises VPN Device</a:t>
            </a:r>
          </a:p>
        </p:txBody>
      </p:sp>
      <p:sp>
        <p:nvSpPr>
          <p:cNvPr id="12" name="Rectangle 11">
            <a:extLst>
              <a:ext uri="{FF2B5EF4-FFF2-40B4-BE49-F238E27FC236}">
                <a16:creationId xmlns:a16="http://schemas.microsoft.com/office/drawing/2014/main" id="{7CC326D0-15F2-4FDB-B132-759197DE6396}"/>
              </a:ext>
              <a:ext uri="{C183D7F6-B498-43B3-948B-1728B52AA6E4}">
                <adec:decorative xmlns:adec="http://schemas.microsoft.com/office/drawing/2017/decorative" val="1"/>
              </a:ext>
            </a:extLst>
          </p:cNvPr>
          <p:cNvSpPr/>
          <p:nvPr/>
        </p:nvSpPr>
        <p:spPr bwMode="auto">
          <a:xfrm>
            <a:off x="6172053" y="755140"/>
            <a:ext cx="5601305" cy="5583029"/>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15" name="Freeform: Shape 14">
            <a:extLst>
              <a:ext uri="{FF2B5EF4-FFF2-40B4-BE49-F238E27FC236}">
                <a16:creationId xmlns:a16="http://schemas.microsoft.com/office/drawing/2014/main" id="{7D746431-6EC4-4424-8CAF-EAC1E7908716}"/>
              </a:ext>
            </a:extLst>
          </p:cNvPr>
          <p:cNvSpPr/>
          <p:nvPr/>
        </p:nvSpPr>
        <p:spPr>
          <a:xfrm>
            <a:off x="418642" y="2888341"/>
            <a:ext cx="2724600" cy="15850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1961" dirty="0">
                <a:solidFill>
                  <a:schemeClr val="tx1"/>
                </a:solidFill>
              </a:rPr>
              <a:t>Remember the shared key for the Azure connection (next step)</a:t>
            </a:r>
          </a:p>
        </p:txBody>
      </p:sp>
      <p:sp>
        <p:nvSpPr>
          <p:cNvPr id="16" name="Freeform: Shape 15">
            <a:extLst>
              <a:ext uri="{FF2B5EF4-FFF2-40B4-BE49-F238E27FC236}">
                <a16:creationId xmlns:a16="http://schemas.microsoft.com/office/drawing/2014/main" id="{01F6DD7F-2DDF-461A-8781-A20678CBA6A7}"/>
              </a:ext>
            </a:extLst>
          </p:cNvPr>
          <p:cNvSpPr/>
          <p:nvPr/>
        </p:nvSpPr>
        <p:spPr>
          <a:xfrm>
            <a:off x="418642" y="4652122"/>
            <a:ext cx="2724600" cy="15850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1961" dirty="0">
                <a:solidFill>
                  <a:schemeClr val="tx1"/>
                </a:solidFill>
              </a:rPr>
              <a:t>Specify the </a:t>
            </a:r>
            <a:br>
              <a:rPr lang="en-US" sz="1961" dirty="0">
                <a:solidFill>
                  <a:schemeClr val="tx1"/>
                </a:solidFill>
              </a:rPr>
            </a:br>
            <a:r>
              <a:rPr lang="en-US" sz="1961" dirty="0">
                <a:solidFill>
                  <a:schemeClr val="tx1"/>
                </a:solidFill>
              </a:rPr>
              <a:t>public IP address </a:t>
            </a:r>
            <a:br>
              <a:rPr lang="en-US" sz="1961" dirty="0">
                <a:solidFill>
                  <a:schemeClr val="tx1"/>
                </a:solidFill>
              </a:rPr>
            </a:br>
            <a:r>
              <a:rPr lang="en-US" sz="1961" dirty="0">
                <a:solidFill>
                  <a:schemeClr val="tx1"/>
                </a:solidFill>
              </a:rPr>
              <a:t>(previous step)</a:t>
            </a:r>
          </a:p>
        </p:txBody>
      </p:sp>
      <p:sp>
        <p:nvSpPr>
          <p:cNvPr id="13" name="Freeform: Shape 12">
            <a:extLst>
              <a:ext uri="{FF2B5EF4-FFF2-40B4-BE49-F238E27FC236}">
                <a16:creationId xmlns:a16="http://schemas.microsoft.com/office/drawing/2014/main" id="{2EAD92D1-BDD1-473D-B58E-2D7764921663}"/>
              </a:ext>
            </a:extLst>
          </p:cNvPr>
          <p:cNvSpPr/>
          <p:nvPr/>
        </p:nvSpPr>
        <p:spPr>
          <a:xfrm>
            <a:off x="3274974" y="2888341"/>
            <a:ext cx="2724600" cy="15850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1961" dirty="0">
                <a:solidFill>
                  <a:schemeClr val="tx1"/>
                </a:solidFill>
              </a:rPr>
              <a:t>Consult the list of supported VPN devices (Cisco, Juniper, Ubiquiti, Barracuda Networks)</a:t>
            </a:r>
          </a:p>
        </p:txBody>
      </p:sp>
      <p:sp>
        <p:nvSpPr>
          <p:cNvPr id="14" name="Freeform: Shape 13">
            <a:extLst>
              <a:ext uri="{FF2B5EF4-FFF2-40B4-BE49-F238E27FC236}">
                <a16:creationId xmlns:a16="http://schemas.microsoft.com/office/drawing/2014/main" id="{6F6606C6-B88C-4C40-BFE8-02CE91156FD0}"/>
              </a:ext>
            </a:extLst>
          </p:cNvPr>
          <p:cNvSpPr/>
          <p:nvPr/>
        </p:nvSpPr>
        <p:spPr>
          <a:xfrm>
            <a:off x="3295349" y="4652122"/>
            <a:ext cx="2724600" cy="158505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1961">
                <a:solidFill>
                  <a:schemeClr val="tx1"/>
                </a:solidFill>
              </a:rPr>
              <a:t>A VPN device configuration script may be available</a:t>
            </a:r>
          </a:p>
        </p:txBody>
      </p:sp>
      <p:pic>
        <p:nvPicPr>
          <p:cNvPr id="1026" name="Picture 2" descr="the steps to configure a Site-to-Site VPN ">
            <a:extLst>
              <a:ext uri="{FF2B5EF4-FFF2-40B4-BE49-F238E27FC236}">
                <a16:creationId xmlns:a16="http://schemas.microsoft.com/office/drawing/2014/main" id="{6767EACE-5B28-4B20-8A14-A69C20DEE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6741" y="1023565"/>
            <a:ext cx="4624033" cy="5079295"/>
          </a:xfrm>
          <a:prstGeom prst="rect">
            <a:avLst/>
          </a:prstGeom>
          <a:noFill/>
        </p:spPr>
      </p:pic>
    </p:spTree>
    <p:extLst>
      <p:ext uri="{BB962C8B-B14F-4D97-AF65-F5344CB8AC3E}">
        <p14:creationId xmlns:p14="http://schemas.microsoft.com/office/powerpoint/2010/main" val="73242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the VPN Connection</a:t>
            </a:r>
          </a:p>
        </p:txBody>
      </p:sp>
      <p:sp>
        <p:nvSpPr>
          <p:cNvPr id="16" name="Rectangle 15">
            <a:extLst>
              <a:ext uri="{FF2B5EF4-FFF2-40B4-BE49-F238E27FC236}">
                <a16:creationId xmlns:a16="http://schemas.microsoft.com/office/drawing/2014/main" id="{2E5C44F0-B819-474A-A9DF-A4410BE91B02}"/>
              </a:ext>
            </a:extLst>
          </p:cNvPr>
          <p:cNvSpPr/>
          <p:nvPr/>
        </p:nvSpPr>
        <p:spPr>
          <a:xfrm>
            <a:off x="418643" y="1169263"/>
            <a:ext cx="5240039" cy="12826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Once your VPN gateways is created and the on-premises device is configured, create a connection object</a:t>
            </a:r>
          </a:p>
        </p:txBody>
      </p:sp>
      <p:sp>
        <p:nvSpPr>
          <p:cNvPr id="18" name="Rectangle 17">
            <a:extLst>
              <a:ext uri="{FF2B5EF4-FFF2-40B4-BE49-F238E27FC236}">
                <a16:creationId xmlns:a16="http://schemas.microsoft.com/office/drawing/2014/main" id="{F1980EC5-B1A7-48B7-8C02-3FFB38F4DE98}"/>
              </a:ext>
            </a:extLst>
          </p:cNvPr>
          <p:cNvSpPr/>
          <p:nvPr/>
        </p:nvSpPr>
        <p:spPr>
          <a:xfrm>
            <a:off x="418643" y="2603372"/>
            <a:ext cx="5240039"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Configure a name for the connection and specify the type as Site-to-site (IPsec)</a:t>
            </a:r>
          </a:p>
        </p:txBody>
      </p:sp>
      <p:sp>
        <p:nvSpPr>
          <p:cNvPr id="19" name="Rectangle 18">
            <a:extLst>
              <a:ext uri="{FF2B5EF4-FFF2-40B4-BE49-F238E27FC236}">
                <a16:creationId xmlns:a16="http://schemas.microsoft.com/office/drawing/2014/main" id="{6ACD3C46-690C-4EF3-9BB6-E6E50C33E8F3}"/>
              </a:ext>
            </a:extLst>
          </p:cNvPr>
          <p:cNvSpPr/>
          <p:nvPr/>
        </p:nvSpPr>
        <p:spPr>
          <a:xfrm>
            <a:off x="418643" y="3839594"/>
            <a:ext cx="5240039"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Select the VPN gateway and the Local Network Gateway</a:t>
            </a:r>
          </a:p>
        </p:txBody>
      </p:sp>
      <p:sp>
        <p:nvSpPr>
          <p:cNvPr id="20" name="Rectangle 19">
            <a:extLst>
              <a:ext uri="{FF2B5EF4-FFF2-40B4-BE49-F238E27FC236}">
                <a16:creationId xmlns:a16="http://schemas.microsoft.com/office/drawing/2014/main" id="{BD8056D9-1F6D-4381-935D-E24AB0D45C99}"/>
              </a:ext>
            </a:extLst>
          </p:cNvPr>
          <p:cNvSpPr/>
          <p:nvPr/>
        </p:nvSpPr>
        <p:spPr>
          <a:xfrm>
            <a:off x="418643" y="5075816"/>
            <a:ext cx="5240039" cy="78100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Enter the Pre-Shared key for the connection </a:t>
            </a:r>
          </a:p>
        </p:txBody>
      </p:sp>
      <p:sp>
        <p:nvSpPr>
          <p:cNvPr id="21" name="Rectangle 20">
            <a:extLst>
              <a:ext uri="{FF2B5EF4-FFF2-40B4-BE49-F238E27FC236}">
                <a16:creationId xmlns:a16="http://schemas.microsoft.com/office/drawing/2014/main" id="{FD21CC35-CB08-4CD8-8FA6-B9715C995AAD}"/>
              </a:ext>
              <a:ext uri="{C183D7F6-B498-43B3-948B-1728B52AA6E4}">
                <adec:decorative xmlns:adec="http://schemas.microsoft.com/office/drawing/2017/decorative" val="1"/>
              </a:ext>
            </a:extLst>
          </p:cNvPr>
          <p:cNvSpPr/>
          <p:nvPr/>
        </p:nvSpPr>
        <p:spPr bwMode="auto">
          <a:xfrm>
            <a:off x="5811075" y="1169263"/>
            <a:ext cx="5962283" cy="468755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2" name="Picture 3" descr="A screenshot of the Add connection blade specifying a name of the connection, the connection type, the vpn gateway, the local network gateway, and the shared key">
            <a:extLst>
              <a:ext uri="{FF2B5EF4-FFF2-40B4-BE49-F238E27FC236}">
                <a16:creationId xmlns:a16="http://schemas.microsoft.com/office/drawing/2014/main" id="{06389EC4-AF76-4FF8-90DE-A68761E71E07}"/>
              </a:ext>
            </a:extLst>
          </p:cNvPr>
          <p:cNvPicPr>
            <a:picLocks noChangeAspect="1"/>
          </p:cNvPicPr>
          <p:nvPr/>
        </p:nvPicPr>
        <p:blipFill>
          <a:blip r:embed="rId3"/>
          <a:stretch>
            <a:fillRect/>
          </a:stretch>
        </p:blipFill>
        <p:spPr>
          <a:xfrm>
            <a:off x="5927333" y="1967642"/>
            <a:ext cx="5729764" cy="3441060"/>
          </a:xfrm>
          <a:prstGeom prst="rect">
            <a:avLst/>
          </a:prstGeom>
        </p:spPr>
      </p:pic>
    </p:spTree>
    <p:extLst>
      <p:ext uri="{BB962C8B-B14F-4D97-AF65-F5344CB8AC3E}">
        <p14:creationId xmlns:p14="http://schemas.microsoft.com/office/powerpoint/2010/main" val="2849124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3B5C-8E89-4EBE-B95C-DA71087FB4CB}"/>
              </a:ext>
            </a:extLst>
          </p:cNvPr>
          <p:cNvSpPr>
            <a:spLocks noGrp="1"/>
          </p:cNvSpPr>
          <p:nvPr>
            <p:ph type="title"/>
          </p:nvPr>
        </p:nvSpPr>
        <p:spPr>
          <a:xfrm>
            <a:off x="455995" y="623224"/>
            <a:ext cx="11306469" cy="397545"/>
          </a:xfrm>
        </p:spPr>
        <p:txBody>
          <a:bodyPr/>
          <a:lstStyle/>
          <a:p>
            <a:r>
              <a:rPr lang="en-US"/>
              <a:t>Verify and troubleshoot the VPN connection </a:t>
            </a:r>
          </a:p>
        </p:txBody>
      </p:sp>
      <p:sp>
        <p:nvSpPr>
          <p:cNvPr id="4" name="Rectangle 3">
            <a:extLst>
              <a:ext uri="{FF2B5EF4-FFF2-40B4-BE49-F238E27FC236}">
                <a16:creationId xmlns:a16="http://schemas.microsoft.com/office/drawing/2014/main" id="{5F028C6E-D289-4340-8915-2FB5845B03AE}"/>
              </a:ext>
            </a:extLst>
          </p:cNvPr>
          <p:cNvSpPr/>
          <p:nvPr/>
        </p:nvSpPr>
        <p:spPr>
          <a:xfrm>
            <a:off x="455996" y="1251670"/>
            <a:ext cx="5012476"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Validate VPN throughput to a VNet</a:t>
            </a:r>
          </a:p>
        </p:txBody>
      </p:sp>
      <p:sp>
        <p:nvSpPr>
          <p:cNvPr id="6" name="Rectangle 5">
            <a:extLst>
              <a:ext uri="{FF2B5EF4-FFF2-40B4-BE49-F238E27FC236}">
                <a16:creationId xmlns:a16="http://schemas.microsoft.com/office/drawing/2014/main" id="{F04F942E-AFFD-4819-A48C-41F419004D96}"/>
              </a:ext>
            </a:extLst>
          </p:cNvPr>
          <p:cNvSpPr/>
          <p:nvPr/>
        </p:nvSpPr>
        <p:spPr>
          <a:xfrm>
            <a:off x="455996" y="2460396"/>
            <a:ext cx="5012476"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dirty="0">
                <a:solidFill>
                  <a:schemeClr val="tx1"/>
                </a:solidFill>
                <a:cs typeface="Segoe UI Semilight"/>
              </a:rPr>
              <a:t>Troubleshoot Azure VPN Gateway using diagnostic logs</a:t>
            </a:r>
          </a:p>
        </p:txBody>
      </p:sp>
      <p:sp>
        <p:nvSpPr>
          <p:cNvPr id="8" name="Rectangle 7">
            <a:extLst>
              <a:ext uri="{FF2B5EF4-FFF2-40B4-BE49-F238E27FC236}">
                <a16:creationId xmlns:a16="http://schemas.microsoft.com/office/drawing/2014/main" id="{D569D68C-F846-446A-8A8A-C42705729E8F}"/>
              </a:ext>
            </a:extLst>
          </p:cNvPr>
          <p:cNvSpPr/>
          <p:nvPr/>
        </p:nvSpPr>
        <p:spPr>
          <a:xfrm>
            <a:off x="455996" y="3669122"/>
            <a:ext cx="5012476"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Check whether the on-premises VPN device is validated</a:t>
            </a:r>
          </a:p>
        </p:txBody>
      </p:sp>
      <p:sp>
        <p:nvSpPr>
          <p:cNvPr id="10" name="Rectangle 9">
            <a:extLst>
              <a:ext uri="{FF2B5EF4-FFF2-40B4-BE49-F238E27FC236}">
                <a16:creationId xmlns:a16="http://schemas.microsoft.com/office/drawing/2014/main" id="{3D982D9B-F4D6-4CA5-AE16-C07A971A03F2}"/>
              </a:ext>
            </a:extLst>
          </p:cNvPr>
          <p:cNvSpPr/>
          <p:nvPr/>
        </p:nvSpPr>
        <p:spPr>
          <a:xfrm>
            <a:off x="455996" y="4877846"/>
            <a:ext cx="5012476"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Verify the shared key and the VPN peer IPs</a:t>
            </a:r>
          </a:p>
        </p:txBody>
      </p:sp>
      <p:sp>
        <p:nvSpPr>
          <p:cNvPr id="12" name="Rectangle 11">
            <a:extLst>
              <a:ext uri="{FF2B5EF4-FFF2-40B4-BE49-F238E27FC236}">
                <a16:creationId xmlns:a16="http://schemas.microsoft.com/office/drawing/2014/main" id="{5BD2F416-1340-4BA3-95CB-F3494D0A7F4E}"/>
              </a:ext>
            </a:extLst>
          </p:cNvPr>
          <p:cNvSpPr/>
          <p:nvPr/>
        </p:nvSpPr>
        <p:spPr>
          <a:xfrm>
            <a:off x="6257365" y="1251670"/>
            <a:ext cx="5505099"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Utilize Network Watcher </a:t>
            </a:r>
          </a:p>
        </p:txBody>
      </p:sp>
      <p:sp>
        <p:nvSpPr>
          <p:cNvPr id="14" name="Rectangle 13">
            <a:extLst>
              <a:ext uri="{FF2B5EF4-FFF2-40B4-BE49-F238E27FC236}">
                <a16:creationId xmlns:a16="http://schemas.microsoft.com/office/drawing/2014/main" id="{0C86D5F8-0B7D-4F18-8331-E68C1843AEA9}"/>
              </a:ext>
            </a:extLst>
          </p:cNvPr>
          <p:cNvSpPr/>
          <p:nvPr/>
        </p:nvSpPr>
        <p:spPr>
          <a:xfrm>
            <a:off x="6257365" y="2460396"/>
            <a:ext cx="5505099"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 Check UDR and NSGs on the gateway subnet</a:t>
            </a:r>
          </a:p>
        </p:txBody>
      </p:sp>
      <p:sp>
        <p:nvSpPr>
          <p:cNvPr id="16" name="Rectangle 15">
            <a:extLst>
              <a:ext uri="{FF2B5EF4-FFF2-40B4-BE49-F238E27FC236}">
                <a16:creationId xmlns:a16="http://schemas.microsoft.com/office/drawing/2014/main" id="{BCB94EDE-34F5-450C-9482-4E37C4C91419}"/>
              </a:ext>
            </a:extLst>
          </p:cNvPr>
          <p:cNvSpPr/>
          <p:nvPr/>
        </p:nvSpPr>
        <p:spPr>
          <a:xfrm>
            <a:off x="6257365" y="3669122"/>
            <a:ext cx="5505099"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dirty="0">
                <a:solidFill>
                  <a:schemeClr val="tx1"/>
                </a:solidFill>
                <a:cs typeface="Segoe UI Semilight"/>
              </a:rPr>
              <a:t> Verify the Azure gateway health probe</a:t>
            </a:r>
          </a:p>
        </p:txBody>
      </p:sp>
      <p:sp>
        <p:nvSpPr>
          <p:cNvPr id="18" name="Rectangle 17">
            <a:extLst>
              <a:ext uri="{FF2B5EF4-FFF2-40B4-BE49-F238E27FC236}">
                <a16:creationId xmlns:a16="http://schemas.microsoft.com/office/drawing/2014/main" id="{AA18D927-76BA-4926-8022-99237E03FA4F}"/>
              </a:ext>
            </a:extLst>
          </p:cNvPr>
          <p:cNvSpPr/>
          <p:nvPr/>
        </p:nvSpPr>
        <p:spPr>
          <a:xfrm>
            <a:off x="6257365" y="4877846"/>
            <a:ext cx="5505099" cy="9599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cs typeface="Segoe UI Semilight"/>
              </a:rPr>
              <a:t>Check whether the on-premises VPN device has the perfect forward secrecy feature enabled</a:t>
            </a:r>
          </a:p>
        </p:txBody>
      </p:sp>
    </p:spTree>
    <p:extLst>
      <p:ext uri="{BB962C8B-B14F-4D97-AF65-F5344CB8AC3E}">
        <p14:creationId xmlns:p14="http://schemas.microsoft.com/office/powerpoint/2010/main" val="986578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FC1D9-0D7A-45AA-970C-9F3EAE7F5CF4}"/>
              </a:ext>
            </a:extLst>
          </p:cNvPr>
          <p:cNvSpPr>
            <a:spLocks noGrp="1"/>
          </p:cNvSpPr>
          <p:nvPr>
            <p:ph type="title"/>
          </p:nvPr>
        </p:nvSpPr>
        <p:spPr/>
        <p:txBody>
          <a:bodyPr/>
          <a:lstStyle/>
          <a:p>
            <a:r>
              <a:rPr lang="en-US"/>
              <a:t>High availability options for VPN connections</a:t>
            </a:r>
          </a:p>
        </p:txBody>
      </p:sp>
      <p:sp>
        <p:nvSpPr>
          <p:cNvPr id="10" name="Rectangle 9">
            <a:extLst>
              <a:ext uri="{FF2B5EF4-FFF2-40B4-BE49-F238E27FC236}">
                <a16:creationId xmlns:a16="http://schemas.microsoft.com/office/drawing/2014/main" id="{3194F236-1BB3-4586-B321-CF7101B8FBBA}"/>
              </a:ext>
              <a:ext uri="{C183D7F6-B498-43B3-948B-1728B52AA6E4}">
                <adec:decorative xmlns:adec="http://schemas.microsoft.com/office/drawing/2017/decorative" val="1"/>
              </a:ext>
            </a:extLst>
          </p:cNvPr>
          <p:cNvSpPr/>
          <p:nvPr/>
        </p:nvSpPr>
        <p:spPr bwMode="auto">
          <a:xfrm>
            <a:off x="418644" y="1169263"/>
            <a:ext cx="11354714" cy="419603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ea typeface="Segoe UI" pitchFamily="34" charset="0"/>
              <a:cs typeface="Segoe UI" pitchFamily="34" charset="0"/>
            </a:endParaRPr>
          </a:p>
        </p:txBody>
      </p:sp>
      <p:sp>
        <p:nvSpPr>
          <p:cNvPr id="19" name="TextBox 18">
            <a:extLst>
              <a:ext uri="{FF2B5EF4-FFF2-40B4-BE49-F238E27FC236}">
                <a16:creationId xmlns:a16="http://schemas.microsoft.com/office/drawing/2014/main" id="{4CBB029C-E033-461A-8CD6-6C88BA798C26}"/>
              </a:ext>
            </a:extLst>
          </p:cNvPr>
          <p:cNvSpPr txBox="1"/>
          <p:nvPr/>
        </p:nvSpPr>
        <p:spPr>
          <a:xfrm>
            <a:off x="1913007" y="1293644"/>
            <a:ext cx="2754448" cy="301727"/>
          </a:xfrm>
          <a:prstGeom prst="rect">
            <a:avLst/>
          </a:prstGeom>
          <a:noFill/>
        </p:spPr>
        <p:txBody>
          <a:bodyPr wrap="square" lIns="0" tIns="0" rIns="0" bIns="0" rtlCol="0">
            <a:spAutoFit/>
          </a:bodyPr>
          <a:lstStyle/>
          <a:p>
            <a:pPr algn="l"/>
            <a:r>
              <a:rPr lang="en-US" sz="1961" dirty="0">
                <a:solidFill>
                  <a:schemeClr val="tx2">
                    <a:lumMod val="50000"/>
                  </a:schemeClr>
                </a:solidFill>
                <a:latin typeface="+mj-lt"/>
              </a:rPr>
              <a:t>Active/standby (default)</a:t>
            </a:r>
          </a:p>
        </p:txBody>
      </p:sp>
      <p:pic>
        <p:nvPicPr>
          <p:cNvPr id="21" name="Picture 20" descr="Diagram showing an active and standby VPN Gateway. The active gateway is connected to an on-premises VPN ">
            <a:extLst>
              <a:ext uri="{FF2B5EF4-FFF2-40B4-BE49-F238E27FC236}">
                <a16:creationId xmlns:a16="http://schemas.microsoft.com/office/drawing/2014/main" id="{45A2B6D8-78FF-4427-8C77-CCBA2475902F}"/>
              </a:ext>
            </a:extLst>
          </p:cNvPr>
          <p:cNvPicPr>
            <a:picLocks noChangeAspect="1"/>
          </p:cNvPicPr>
          <p:nvPr/>
        </p:nvPicPr>
        <p:blipFill>
          <a:blip r:embed="rId3"/>
          <a:stretch>
            <a:fillRect/>
          </a:stretch>
        </p:blipFill>
        <p:spPr>
          <a:xfrm>
            <a:off x="699971" y="1719231"/>
            <a:ext cx="4528148" cy="3429539"/>
          </a:xfrm>
          <a:prstGeom prst="rect">
            <a:avLst/>
          </a:prstGeom>
        </p:spPr>
      </p:pic>
      <p:sp>
        <p:nvSpPr>
          <p:cNvPr id="26" name="Arrow: Right 25" descr="Arrow pointing to the right">
            <a:extLst>
              <a:ext uri="{FF2B5EF4-FFF2-40B4-BE49-F238E27FC236}">
                <a16:creationId xmlns:a16="http://schemas.microsoft.com/office/drawing/2014/main" id="{7DE5FF75-E188-4DAD-8D8D-500BFEA1E4C6}"/>
              </a:ext>
              <a:ext uri="{C183D7F6-B498-43B3-948B-1728B52AA6E4}">
                <adec:decorative xmlns:adec="http://schemas.microsoft.com/office/drawing/2017/decorative" val="0"/>
              </a:ext>
            </a:extLst>
          </p:cNvPr>
          <p:cNvSpPr/>
          <p:nvPr/>
        </p:nvSpPr>
        <p:spPr bwMode="auto">
          <a:xfrm>
            <a:off x="5744011" y="3136924"/>
            <a:ext cx="854672" cy="584153"/>
          </a:xfrm>
          <a:prstGeom prst="rightArrow">
            <a:avLst>
              <a:gd name="adj1" fmla="val 46669"/>
              <a:gd name="adj2" fmla="val 60824"/>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18" name="TextBox 17">
            <a:extLst>
              <a:ext uri="{FF2B5EF4-FFF2-40B4-BE49-F238E27FC236}">
                <a16:creationId xmlns:a16="http://schemas.microsoft.com/office/drawing/2014/main" id="{78FA430B-8A5E-4E3D-9269-A05ED92776B8}"/>
              </a:ext>
            </a:extLst>
          </p:cNvPr>
          <p:cNvSpPr txBox="1"/>
          <p:nvPr/>
        </p:nvSpPr>
        <p:spPr>
          <a:xfrm>
            <a:off x="8581573" y="1293644"/>
            <a:ext cx="1471734" cy="301727"/>
          </a:xfrm>
          <a:prstGeom prst="rect">
            <a:avLst/>
          </a:prstGeom>
          <a:noFill/>
        </p:spPr>
        <p:txBody>
          <a:bodyPr wrap="square" lIns="0" tIns="0" rIns="0" bIns="0" rtlCol="0">
            <a:spAutoFit/>
          </a:bodyPr>
          <a:lstStyle/>
          <a:p>
            <a:r>
              <a:rPr lang="en-US" sz="1961">
                <a:solidFill>
                  <a:schemeClr val="tx2">
                    <a:lumMod val="50000"/>
                  </a:schemeClr>
                </a:solidFill>
                <a:latin typeface="+mj-lt"/>
              </a:rPr>
              <a:t>Active/active</a:t>
            </a:r>
          </a:p>
        </p:txBody>
      </p:sp>
      <p:sp>
        <p:nvSpPr>
          <p:cNvPr id="11" name="Freeform: Shape 10">
            <a:extLst>
              <a:ext uri="{FF2B5EF4-FFF2-40B4-BE49-F238E27FC236}">
                <a16:creationId xmlns:a16="http://schemas.microsoft.com/office/drawing/2014/main" id="{38E1F9F0-061D-488E-80A0-62BB2A8864D0}"/>
              </a:ext>
            </a:extLst>
          </p:cNvPr>
          <p:cNvSpPr/>
          <p:nvPr/>
        </p:nvSpPr>
        <p:spPr>
          <a:xfrm>
            <a:off x="418644" y="5489155"/>
            <a:ext cx="5602011" cy="74801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a:solidFill>
                  <a:schemeClr val="tx1"/>
                </a:solidFill>
              </a:rPr>
              <a:t>VPN gateways are deployed</a:t>
            </a:r>
            <a:br>
              <a:rPr lang="en-US" sz="2157">
                <a:solidFill>
                  <a:schemeClr val="tx1"/>
                </a:solidFill>
              </a:rPr>
            </a:br>
            <a:r>
              <a:rPr lang="en-US" sz="2157">
                <a:solidFill>
                  <a:schemeClr val="tx1"/>
                </a:solidFill>
              </a:rPr>
              <a:t>as two instances </a:t>
            </a:r>
          </a:p>
        </p:txBody>
      </p:sp>
      <p:sp>
        <p:nvSpPr>
          <p:cNvPr id="12" name="Freeform: Shape 11">
            <a:extLst>
              <a:ext uri="{FF2B5EF4-FFF2-40B4-BE49-F238E27FC236}">
                <a16:creationId xmlns:a16="http://schemas.microsoft.com/office/drawing/2014/main" id="{732E3C74-A087-4E96-9A1D-133005C251EC}"/>
              </a:ext>
            </a:extLst>
          </p:cNvPr>
          <p:cNvSpPr/>
          <p:nvPr/>
        </p:nvSpPr>
        <p:spPr>
          <a:xfrm>
            <a:off x="6171348" y="5489155"/>
            <a:ext cx="5602011" cy="74801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Enable </a:t>
            </a:r>
            <a:r>
              <a:rPr lang="en-US" sz="2157" dirty="0">
                <a:solidFill>
                  <a:schemeClr val="tx1"/>
                </a:solidFill>
                <a:latin typeface="+mj-lt"/>
              </a:rPr>
              <a:t>active/active mode </a:t>
            </a:r>
            <a:r>
              <a:rPr lang="en-US" sz="2157" dirty="0">
                <a:solidFill>
                  <a:schemeClr val="tx1"/>
                </a:solidFill>
              </a:rPr>
              <a:t>for</a:t>
            </a:r>
            <a:br>
              <a:rPr lang="en-US" sz="2157" dirty="0">
                <a:solidFill>
                  <a:schemeClr val="tx1"/>
                </a:solidFill>
              </a:rPr>
            </a:br>
            <a:r>
              <a:rPr lang="en-US" sz="2157" dirty="0">
                <a:solidFill>
                  <a:schemeClr val="tx1"/>
                </a:solidFill>
              </a:rPr>
              <a:t>higher availability</a:t>
            </a:r>
          </a:p>
        </p:txBody>
      </p:sp>
      <p:pic>
        <p:nvPicPr>
          <p:cNvPr id="6" name="Picture 5" descr="Diagram showing two active VPN Gateways connecting through multiple paths to two on-premises VPN gateways ">
            <a:extLst>
              <a:ext uri="{FF2B5EF4-FFF2-40B4-BE49-F238E27FC236}">
                <a16:creationId xmlns:a16="http://schemas.microsoft.com/office/drawing/2014/main" id="{EC0A401B-505C-4572-9D7A-C21F2C1BC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5034" y="1780520"/>
            <a:ext cx="4221972" cy="3294974"/>
          </a:xfrm>
          <a:prstGeom prst="rect">
            <a:avLst/>
          </a:prstGeom>
        </p:spPr>
      </p:pic>
    </p:spTree>
    <p:extLst>
      <p:ext uri="{BB962C8B-B14F-4D97-AF65-F5344CB8AC3E}">
        <p14:creationId xmlns:p14="http://schemas.microsoft.com/office/powerpoint/2010/main" val="302586736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31DCB-EACE-415F-83EC-0934277E2AB6}"/>
              </a:ext>
            </a:extLst>
          </p:cNvPr>
          <p:cNvSpPr>
            <a:spLocks noGrp="1"/>
          </p:cNvSpPr>
          <p:nvPr>
            <p:ph type="title"/>
          </p:nvPr>
        </p:nvSpPr>
        <p:spPr/>
        <p:txBody>
          <a:bodyPr/>
          <a:lstStyle/>
          <a:p>
            <a:r>
              <a:rPr lang="en-US" dirty="0"/>
              <a:t>Demonstration – VPN gateways</a:t>
            </a:r>
          </a:p>
        </p:txBody>
      </p:sp>
      <p:pic>
        <p:nvPicPr>
          <p:cNvPr id="44" name="Picture 43" descr="Icon of a magnifying glass with a arrow pointing forward">
            <a:extLst>
              <a:ext uri="{FF2B5EF4-FFF2-40B4-BE49-F238E27FC236}">
                <a16:creationId xmlns:a16="http://schemas.microsoft.com/office/drawing/2014/main" id="{B60A4740-EC33-4077-B6FE-522E2D630568}"/>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3" name="Rectangle 62">
            <a:extLst>
              <a:ext uri="{FF2B5EF4-FFF2-40B4-BE49-F238E27FC236}">
                <a16:creationId xmlns:a16="http://schemas.microsoft.com/office/drawing/2014/main" id="{01B09ADC-96C0-4985-8BEA-AD1A52FA74CB}"/>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Explore the Gateway subnet blade</a:t>
            </a:r>
          </a:p>
        </p:txBody>
      </p:sp>
      <p:cxnSp>
        <p:nvCxnSpPr>
          <p:cNvPr id="73" name="Straight Connector 72">
            <a:extLst>
              <a:ext uri="{FF2B5EF4-FFF2-40B4-BE49-F238E27FC236}">
                <a16:creationId xmlns:a16="http://schemas.microsoft.com/office/drawing/2014/main" id="{BAB1E212-BC14-4D37-B1FA-8B09B9FBCF33}"/>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7" name="Picture 86" descr="Icon of a magnifying glass with circles in hierarchical order">
            <a:extLst>
              <a:ext uri="{FF2B5EF4-FFF2-40B4-BE49-F238E27FC236}">
                <a16:creationId xmlns:a16="http://schemas.microsoft.com/office/drawing/2014/main" id="{6BEA67CE-81C1-49F0-B5FF-CA229CC92615}"/>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90" name="Rectangle 89">
            <a:extLst>
              <a:ext uri="{FF2B5EF4-FFF2-40B4-BE49-F238E27FC236}">
                <a16:creationId xmlns:a16="http://schemas.microsoft.com/office/drawing/2014/main" id="{136A63B6-FE69-4A6F-BADB-3790DC088189}"/>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Explore the Connected Devices blade</a:t>
            </a:r>
          </a:p>
        </p:txBody>
      </p:sp>
      <p:cxnSp>
        <p:nvCxnSpPr>
          <p:cNvPr id="97" name="Straight Connector 96">
            <a:extLst>
              <a:ext uri="{FF2B5EF4-FFF2-40B4-BE49-F238E27FC236}">
                <a16:creationId xmlns:a16="http://schemas.microsoft.com/office/drawing/2014/main" id="{613BA471-060D-486A-A664-FA2E66A02805}"/>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6" name="Picture 105" descr="Icon of a magnifying glass and two people">
            <a:extLst>
              <a:ext uri="{FF2B5EF4-FFF2-40B4-BE49-F238E27FC236}">
                <a16:creationId xmlns:a16="http://schemas.microsoft.com/office/drawing/2014/main" id="{D197C753-B422-40F3-A932-97876D5FBC5A}"/>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108" name="Rectangle 107">
            <a:extLst>
              <a:ext uri="{FF2B5EF4-FFF2-40B4-BE49-F238E27FC236}">
                <a16:creationId xmlns:a16="http://schemas.microsoft.com/office/drawing/2014/main" id="{14C2BBB5-8755-4E8C-990D-EA90FEF4D4AC}"/>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Explore adding a virtual network gateway</a:t>
            </a:r>
          </a:p>
        </p:txBody>
      </p:sp>
      <p:cxnSp>
        <p:nvCxnSpPr>
          <p:cNvPr id="112" name="Straight Connector 111">
            <a:extLst>
              <a:ext uri="{FF2B5EF4-FFF2-40B4-BE49-F238E27FC236}">
                <a16:creationId xmlns:a16="http://schemas.microsoft.com/office/drawing/2014/main" id="{EB095D68-EA40-4388-A2F0-A5309441D762}"/>
              </a:ext>
              <a:ext uri="{C183D7F6-B498-43B3-948B-1728B52AA6E4}">
                <adec:decorative xmlns:adec="http://schemas.microsoft.com/office/drawing/2017/decorative" val="1"/>
              </a:ext>
            </a:extLst>
          </p:cNvPr>
          <p:cNvCxnSpPr>
            <a:cxnSpLocks/>
          </p:cNvCxnSpPr>
          <p:nvPr/>
        </p:nvCxnSpPr>
        <p:spPr>
          <a:xfrm>
            <a:off x="1668346" y="4980281"/>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16" name="Picture 115" descr="Icon of a magnifying glass and a plus sign">
            <a:extLst>
              <a:ext uri="{FF2B5EF4-FFF2-40B4-BE49-F238E27FC236}">
                <a16:creationId xmlns:a16="http://schemas.microsoft.com/office/drawing/2014/main" id="{6A0F2132-FE48-4A7E-83D8-23B27F68388E}"/>
              </a:ext>
            </a:extLst>
          </p:cNvPr>
          <p:cNvPicPr>
            <a:picLocks noChangeAspect="1"/>
          </p:cNvPicPr>
          <p:nvPr/>
        </p:nvPicPr>
        <p:blipFill>
          <a:blip r:embed="rId6"/>
          <a:stretch>
            <a:fillRect/>
          </a:stretch>
        </p:blipFill>
        <p:spPr>
          <a:xfrm>
            <a:off x="455995" y="5087448"/>
            <a:ext cx="1026406" cy="1026406"/>
          </a:xfrm>
          <a:prstGeom prst="rect">
            <a:avLst/>
          </a:prstGeom>
        </p:spPr>
      </p:pic>
      <p:sp>
        <p:nvSpPr>
          <p:cNvPr id="117" name="Rectangle 116">
            <a:extLst>
              <a:ext uri="{FF2B5EF4-FFF2-40B4-BE49-F238E27FC236}">
                <a16:creationId xmlns:a16="http://schemas.microsoft.com/office/drawing/2014/main" id="{024DAB3F-6B9B-4B5C-A6B6-BFAC0390B263}"/>
              </a:ext>
            </a:extLst>
          </p:cNvPr>
          <p:cNvSpPr/>
          <p:nvPr/>
        </p:nvSpPr>
        <p:spPr bwMode="auto">
          <a:xfrm>
            <a:off x="1668346" y="5420362"/>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Explore adding a connection between the virtual networks</a:t>
            </a:r>
          </a:p>
        </p:txBody>
      </p:sp>
    </p:spTree>
    <p:extLst>
      <p:ext uri="{BB962C8B-B14F-4D97-AF65-F5344CB8AC3E}">
        <p14:creationId xmlns:p14="http://schemas.microsoft.com/office/powerpoint/2010/main" val="33457018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solidFill>
                  <a:schemeClr val="tx1"/>
                </a:solidFill>
              </a:rPr>
              <a:t>Design and implement Azure VPN Gateway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BF67270C-AAB1-4DDF-B268-C0B254849C0C}"/>
              </a:ext>
            </a:extLst>
          </p:cNvPr>
          <p:cNvSpPr txBox="1"/>
          <p:nvPr/>
        </p:nvSpPr>
        <p:spPr>
          <a:xfrm>
            <a:off x="4172422" y="2282989"/>
            <a:ext cx="6093994" cy="369332"/>
          </a:xfrm>
          <a:prstGeom prst="rect">
            <a:avLst/>
          </a:prstGeom>
          <a:noFill/>
        </p:spPr>
        <p:txBody>
          <a:bodyPr wrap="square">
            <a:spAutoFit/>
          </a:bodyPr>
          <a:lstStyle/>
          <a:p>
            <a:r>
              <a:rPr lang="en-US" dirty="0">
                <a:hlinkClick r:id="rId4"/>
              </a:rPr>
              <a:t>VPN Gateway documentation | Microsoft Docs</a:t>
            </a:r>
            <a:endParaRPr lang="en-US" dirty="0"/>
          </a:p>
        </p:txBody>
      </p:sp>
      <p:sp>
        <p:nvSpPr>
          <p:cNvPr id="13" name="TextBox 12">
            <a:extLst>
              <a:ext uri="{FF2B5EF4-FFF2-40B4-BE49-F238E27FC236}">
                <a16:creationId xmlns:a16="http://schemas.microsoft.com/office/drawing/2014/main" id="{434BABF5-55E0-4724-B527-BD7136CE77A6}"/>
              </a:ext>
            </a:extLst>
          </p:cNvPr>
          <p:cNvSpPr txBox="1"/>
          <p:nvPr/>
        </p:nvSpPr>
        <p:spPr>
          <a:xfrm>
            <a:off x="4172422" y="2913030"/>
            <a:ext cx="6093994" cy="369332"/>
          </a:xfrm>
          <a:prstGeom prst="rect">
            <a:avLst/>
          </a:prstGeom>
          <a:noFill/>
        </p:spPr>
        <p:txBody>
          <a:bodyPr wrap="square">
            <a:spAutoFit/>
          </a:bodyPr>
          <a:lstStyle/>
          <a:p>
            <a:r>
              <a:rPr lang="en-US" dirty="0">
                <a:hlinkClick r:id="rId5"/>
              </a:rPr>
              <a:t>About Azure VPN Gateway | Microsoft Docs</a:t>
            </a:r>
            <a:endParaRPr lang="en-US" dirty="0"/>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3A1C5F-650B-424F-A825-4BEE2F1DEEFD}"/>
              </a:ext>
            </a:extLst>
          </p:cNvPr>
          <p:cNvSpPr>
            <a:spLocks noGrp="1"/>
          </p:cNvSpPr>
          <p:nvPr>
            <p:ph type="title"/>
          </p:nvPr>
        </p:nvSpPr>
        <p:spPr>
          <a:xfrm>
            <a:off x="585217" y="2940213"/>
            <a:ext cx="8892608" cy="977575"/>
          </a:xfrm>
        </p:spPr>
        <p:txBody>
          <a:bodyPr/>
          <a:lstStyle/>
          <a:p>
            <a:r>
              <a:rPr lang="en-US"/>
              <a:t>Lesson 02: Exercise - Create and configure a Virtual Network Gateway</a:t>
            </a:r>
          </a:p>
        </p:txBody>
      </p:sp>
      <p:grpSp>
        <p:nvGrpSpPr>
          <p:cNvPr id="4" name="Group 3">
            <a:extLst>
              <a:ext uri="{FF2B5EF4-FFF2-40B4-BE49-F238E27FC236}">
                <a16:creationId xmlns:a16="http://schemas.microsoft.com/office/drawing/2014/main" id="{C39E57F3-772E-4F7B-93FC-019A8EFF09AB}"/>
              </a:ext>
              <a:ext uri="{C183D7F6-B498-43B3-948B-1728B52AA6E4}">
                <adec:decorative xmlns:adec="http://schemas.microsoft.com/office/drawing/2017/decorative" val="1"/>
              </a:ext>
            </a:extLst>
          </p:cNvPr>
          <p:cNvGrpSpPr/>
          <p:nvPr/>
        </p:nvGrpSpPr>
        <p:grpSpPr>
          <a:xfrm>
            <a:off x="10366875" y="3070379"/>
            <a:ext cx="717140" cy="717242"/>
            <a:chOff x="418643" y="2287883"/>
            <a:chExt cx="717140" cy="717242"/>
          </a:xfrm>
        </p:grpSpPr>
        <p:grpSp>
          <p:nvGrpSpPr>
            <p:cNvPr id="6" name="Group 5">
              <a:extLst>
                <a:ext uri="{FF2B5EF4-FFF2-40B4-BE49-F238E27FC236}">
                  <a16:creationId xmlns:a16="http://schemas.microsoft.com/office/drawing/2014/main" id="{8F30AB72-4F8D-4DA1-B88D-8C61A62217FD}"/>
                </a:ext>
              </a:extLst>
            </p:cNvPr>
            <p:cNvGrpSpPr/>
            <p:nvPr/>
          </p:nvGrpSpPr>
          <p:grpSpPr>
            <a:xfrm>
              <a:off x="418643" y="2287883"/>
              <a:ext cx="717140" cy="717242"/>
              <a:chOff x="418643" y="2287883"/>
              <a:chExt cx="717140" cy="717242"/>
            </a:xfrm>
          </p:grpSpPr>
          <p:sp>
            <p:nvSpPr>
              <p:cNvPr id="8" name="Freeform 5">
                <a:extLst>
                  <a:ext uri="{FF2B5EF4-FFF2-40B4-BE49-F238E27FC236}">
                    <a16:creationId xmlns:a16="http://schemas.microsoft.com/office/drawing/2014/main" id="{110A7804-EA08-488C-BC71-8CC3B093DF16}"/>
                  </a:ext>
                </a:extLst>
              </p:cNvPr>
              <p:cNvSpPr>
                <a:spLocks/>
              </p:cNvSpPr>
              <p:nvPr/>
            </p:nvSpPr>
            <p:spPr bwMode="auto">
              <a:xfrm>
                <a:off x="418643"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DB7B98ED-B7C1-47AD-8E22-5B65952D462D}"/>
                  </a:ext>
                </a:extLst>
              </p:cNvPr>
              <p:cNvSpPr>
                <a:spLocks noEditPoints="1"/>
              </p:cNvSpPr>
              <p:nvPr/>
            </p:nvSpPr>
            <p:spPr bwMode="auto">
              <a:xfrm>
                <a:off x="467961" y="233778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a arrow in a circular path with a timer inside the circle">
              <a:extLst>
                <a:ext uri="{FF2B5EF4-FFF2-40B4-BE49-F238E27FC236}">
                  <a16:creationId xmlns:a16="http://schemas.microsoft.com/office/drawing/2014/main" id="{45FF720A-ED6A-4CBA-ACBD-A283345D4FDF}"/>
                </a:ext>
              </a:extLst>
            </p:cNvPr>
            <p:cNvPicPr>
              <a:picLocks noChangeAspect="1"/>
            </p:cNvPicPr>
            <p:nvPr/>
          </p:nvPicPr>
          <p:blipFill>
            <a:blip r:embed="rId2"/>
            <a:stretch>
              <a:fillRect/>
            </a:stretch>
          </p:blipFill>
          <p:spPr>
            <a:xfrm>
              <a:off x="588767" y="2458059"/>
              <a:ext cx="376892" cy="376890"/>
            </a:xfrm>
            <a:prstGeom prst="rect">
              <a:avLst/>
            </a:prstGeom>
          </p:spPr>
        </p:pic>
      </p:grpSp>
    </p:spTree>
    <p:extLst>
      <p:ext uri="{BB962C8B-B14F-4D97-AF65-F5344CB8AC3E}">
        <p14:creationId xmlns:p14="http://schemas.microsoft.com/office/powerpoint/2010/main" val="29318835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FE35F-5767-4698-BF6F-5EE8CEAD69CC}"/>
              </a:ext>
            </a:extLst>
          </p:cNvPr>
          <p:cNvSpPr>
            <a:spLocks noGrp="1"/>
          </p:cNvSpPr>
          <p:nvPr>
            <p:ph type="title"/>
          </p:nvPr>
        </p:nvSpPr>
        <p:spPr>
          <a:xfrm>
            <a:off x="442765" y="507694"/>
            <a:ext cx="11306469" cy="403137"/>
          </a:xfrm>
        </p:spPr>
        <p:txBody>
          <a:bodyPr/>
          <a:lstStyle/>
          <a:p>
            <a:r>
              <a:rPr lang="en-US" dirty="0"/>
              <a:t>Exercise –Create and configure a virtual network gateway</a:t>
            </a:r>
          </a:p>
        </p:txBody>
      </p:sp>
      <p:sp>
        <p:nvSpPr>
          <p:cNvPr id="4" name="Rectangle 3">
            <a:extLst>
              <a:ext uri="{FF2B5EF4-FFF2-40B4-BE49-F238E27FC236}">
                <a16:creationId xmlns:a16="http://schemas.microsoft.com/office/drawing/2014/main" id="{6ECDF5B2-E4B0-413A-A31E-728383763C05}"/>
              </a:ext>
              <a:ext uri="{C183D7F6-B498-43B3-948B-1728B52AA6E4}">
                <adec:decorative xmlns:adec="http://schemas.microsoft.com/office/drawing/2017/decorative" val="1"/>
              </a:ext>
            </a:extLst>
          </p:cNvPr>
          <p:cNvSpPr/>
          <p:nvPr/>
        </p:nvSpPr>
        <p:spPr bwMode="auto">
          <a:xfrm>
            <a:off x="4664990" y="1169262"/>
            <a:ext cx="7108368" cy="501456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8" name="Rectangle 7">
            <a:extLst>
              <a:ext uri="{FF2B5EF4-FFF2-40B4-BE49-F238E27FC236}">
                <a16:creationId xmlns:a16="http://schemas.microsoft.com/office/drawing/2014/main" id="{C6612F8B-9589-470C-BFB1-97A744352874}"/>
              </a:ext>
            </a:extLst>
          </p:cNvPr>
          <p:cNvSpPr/>
          <p:nvPr/>
        </p:nvSpPr>
        <p:spPr>
          <a:xfrm>
            <a:off x="418642" y="1397876"/>
            <a:ext cx="3981653" cy="446221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0" bIns="89642" numCol="1" spcCol="1270" anchor="ctr" anchorCtr="0">
            <a:noAutofit/>
          </a:bodyPr>
          <a:lstStyle/>
          <a:p>
            <a:pPr marL="0" lvl="1" defTabSz="914367">
              <a:spcBef>
                <a:spcPts val="200"/>
              </a:spcBef>
              <a:spcAft>
                <a:spcPts val="400"/>
              </a:spcAft>
              <a:buSzPct val="90000"/>
            </a:pPr>
            <a:r>
              <a:rPr lang="en-US" sz="2000" dirty="0">
                <a:solidFill>
                  <a:schemeClr val="tx1"/>
                </a:solidFill>
              </a:rPr>
              <a:t>Configure a virtual network gateway to connect the Contoso Core Services VNet and Manufacturing VNet</a:t>
            </a:r>
          </a:p>
        </p:txBody>
      </p:sp>
      <p:pic>
        <p:nvPicPr>
          <p:cNvPr id="3" name="Picture 2" descr="Network layout for Contoso. &#10;On-premises 10.10.0.0/16&#10;ResearchVNet West India 10.40.40.0/24&#10;CoreServicesVNet West US 10.20.0.0/16&#10;ManufacturingVNet North Europe 10.30.0.0/16">
            <a:extLst>
              <a:ext uri="{FF2B5EF4-FFF2-40B4-BE49-F238E27FC236}">
                <a16:creationId xmlns:a16="http://schemas.microsoft.com/office/drawing/2014/main" id="{83426417-B1E3-471D-A645-E75EBF6F64B3}"/>
              </a:ext>
            </a:extLst>
          </p:cNvPr>
          <p:cNvPicPr>
            <a:picLocks noChangeAspect="1"/>
          </p:cNvPicPr>
          <p:nvPr/>
        </p:nvPicPr>
        <p:blipFill>
          <a:blip r:embed="rId3"/>
          <a:stretch>
            <a:fillRect/>
          </a:stretch>
        </p:blipFill>
        <p:spPr>
          <a:xfrm>
            <a:off x="4957929" y="1898759"/>
            <a:ext cx="6522490" cy="3961329"/>
          </a:xfrm>
          <a:prstGeom prst="rect">
            <a:avLst/>
          </a:prstGeom>
        </p:spPr>
      </p:pic>
    </p:spTree>
    <p:extLst>
      <p:ext uri="{BB962C8B-B14F-4D97-AF65-F5344CB8AC3E}">
        <p14:creationId xmlns:p14="http://schemas.microsoft.com/office/powerpoint/2010/main" val="198328757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F5167F-2595-41DD-A029-69784E17DE89}"/>
              </a:ext>
            </a:extLst>
          </p:cNvPr>
          <p:cNvSpPr>
            <a:spLocks noGrp="1"/>
          </p:cNvSpPr>
          <p:nvPr>
            <p:ph type="title"/>
          </p:nvPr>
        </p:nvSpPr>
        <p:spPr>
          <a:xfrm>
            <a:off x="585217" y="2930402"/>
            <a:ext cx="8892608" cy="997196"/>
          </a:xfrm>
        </p:spPr>
        <p:txBody>
          <a:bodyPr/>
          <a:lstStyle/>
          <a:p>
            <a:r>
              <a:rPr lang="en-US"/>
              <a:t>Lesson 03: </a:t>
            </a:r>
            <a:r>
              <a:rPr lang="en-US" sz="3600"/>
              <a:t>Connect Networks with Site-to-site VPN Connections</a:t>
            </a:r>
            <a:endParaRPr lang="en-US"/>
          </a:p>
        </p:txBody>
      </p:sp>
      <p:grpSp>
        <p:nvGrpSpPr>
          <p:cNvPr id="4" name="Group 3">
            <a:extLst>
              <a:ext uri="{FF2B5EF4-FFF2-40B4-BE49-F238E27FC236}">
                <a16:creationId xmlns:a16="http://schemas.microsoft.com/office/drawing/2014/main" id="{0403AAC9-E2B1-4E29-9007-ADA13696CB8D}"/>
              </a:ext>
              <a:ext uri="{C183D7F6-B498-43B3-948B-1728B52AA6E4}">
                <adec:decorative xmlns:adec="http://schemas.microsoft.com/office/drawing/2017/decorative" val="1"/>
              </a:ext>
            </a:extLst>
          </p:cNvPr>
          <p:cNvGrpSpPr/>
          <p:nvPr/>
        </p:nvGrpSpPr>
        <p:grpSpPr>
          <a:xfrm>
            <a:off x="10344841" y="3070379"/>
            <a:ext cx="717140" cy="717242"/>
            <a:chOff x="418643" y="3134008"/>
            <a:chExt cx="717140" cy="717242"/>
          </a:xfrm>
        </p:grpSpPr>
        <p:grpSp>
          <p:nvGrpSpPr>
            <p:cNvPr id="5" name="Group 4">
              <a:extLst>
                <a:ext uri="{FF2B5EF4-FFF2-40B4-BE49-F238E27FC236}">
                  <a16:creationId xmlns:a16="http://schemas.microsoft.com/office/drawing/2014/main" id="{CE90FDC8-14E7-47E6-B8C3-84414BE71525}"/>
                </a:ext>
              </a:extLst>
            </p:cNvPr>
            <p:cNvGrpSpPr/>
            <p:nvPr/>
          </p:nvGrpSpPr>
          <p:grpSpPr>
            <a:xfrm>
              <a:off x="418643" y="3134008"/>
              <a:ext cx="717140" cy="717242"/>
              <a:chOff x="418643" y="3134008"/>
              <a:chExt cx="717140" cy="717242"/>
            </a:xfrm>
          </p:grpSpPr>
          <p:sp>
            <p:nvSpPr>
              <p:cNvPr id="7" name="Freeform 5">
                <a:extLst>
                  <a:ext uri="{FF2B5EF4-FFF2-40B4-BE49-F238E27FC236}">
                    <a16:creationId xmlns:a16="http://schemas.microsoft.com/office/drawing/2014/main" id="{9F462FC1-1735-4A24-A452-18A12B86E0F4}"/>
                  </a:ext>
                </a:extLst>
              </p:cNvPr>
              <p:cNvSpPr>
                <a:spLocks/>
              </p:cNvSpPr>
              <p:nvPr/>
            </p:nvSpPr>
            <p:spPr bwMode="auto">
              <a:xfrm>
                <a:off x="418643"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28E8455E-5DBB-4177-B812-56E5EC56CDF3}"/>
                  </a:ext>
                </a:extLst>
              </p:cNvPr>
              <p:cNvSpPr>
                <a:spLocks noEditPoints="1"/>
              </p:cNvSpPr>
              <p:nvPr/>
            </p:nvSpPr>
            <p:spPr bwMode="auto">
              <a:xfrm>
                <a:off x="467961" y="318391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2AC011A1-EDB2-4858-A884-F928A9A4C9FA}"/>
                </a:ext>
              </a:extLst>
            </p:cNvPr>
            <p:cNvPicPr>
              <a:picLocks noChangeAspect="1"/>
            </p:cNvPicPr>
            <p:nvPr/>
          </p:nvPicPr>
          <p:blipFill>
            <a:blip r:embed="rId2"/>
            <a:stretch>
              <a:fillRect/>
            </a:stretch>
          </p:blipFill>
          <p:spPr>
            <a:xfrm>
              <a:off x="526606" y="3382030"/>
              <a:ext cx="501214" cy="221198"/>
            </a:xfrm>
            <a:prstGeom prst="rect">
              <a:avLst/>
            </a:prstGeom>
          </p:spPr>
        </p:pic>
      </p:grpSp>
    </p:spTree>
    <p:extLst>
      <p:ext uri="{BB962C8B-B14F-4D97-AF65-F5344CB8AC3E}">
        <p14:creationId xmlns:p14="http://schemas.microsoft.com/office/powerpoint/2010/main" val="18040373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72955" y="1023582"/>
            <a:ext cx="2414226" cy="5063319"/>
          </a:xfrm>
        </p:spPr>
        <p:txBody>
          <a:bodyPr/>
          <a:lstStyle/>
          <a:p>
            <a:r>
              <a:rPr lang="en-US" dirty="0"/>
              <a:t>Connect Networks with Site-to-site VPN Connections overview</a:t>
            </a:r>
          </a:p>
        </p:txBody>
      </p:sp>
      <p:sp>
        <p:nvSpPr>
          <p:cNvPr id="6" name="Text Placeholder 5"/>
          <p:cNvSpPr>
            <a:spLocks noGrp="1"/>
          </p:cNvSpPr>
          <p:nvPr>
            <p:ph type="body" sz="quarter" idx="21"/>
          </p:nvPr>
        </p:nvSpPr>
        <p:spPr>
          <a:xfrm>
            <a:off x="4078287" y="1945718"/>
            <a:ext cx="7695069" cy="1224436"/>
          </a:xfrm>
        </p:spPr>
        <p:txBody>
          <a:bodyPr/>
          <a:lstStyle/>
          <a:p>
            <a:pPr lvl="1"/>
            <a:r>
              <a:rPr lang="en-US" dirty="0"/>
              <a:t>Site-to-site VPN Connections</a:t>
            </a:r>
          </a:p>
        </p:txBody>
      </p:sp>
      <p:sp>
        <p:nvSpPr>
          <p:cNvPr id="3" name="Text Placeholder 2"/>
          <p:cNvSpPr>
            <a:spLocks noGrp="1"/>
          </p:cNvSpPr>
          <p:nvPr>
            <p:ph type="body" sz="quarter" idx="23"/>
          </p:nvPr>
        </p:nvSpPr>
        <p:spPr>
          <a:xfrm>
            <a:off x="4078287" y="3336730"/>
            <a:ext cx="7695069" cy="1224436"/>
          </a:xfrm>
        </p:spPr>
        <p:txBody>
          <a:bodyPr/>
          <a:lstStyle/>
          <a:p>
            <a:pPr lvl="1"/>
            <a:r>
              <a:rPr lang="en-US" dirty="0"/>
              <a:t>Review</a:t>
            </a:r>
          </a:p>
        </p:txBody>
      </p:sp>
      <p:grpSp>
        <p:nvGrpSpPr>
          <p:cNvPr id="21" name="Group 20">
            <a:extLst>
              <a:ext uri="{FF2B5EF4-FFF2-40B4-BE49-F238E27FC236}">
                <a16:creationId xmlns:a16="http://schemas.microsoft.com/office/drawing/2014/main" id="{7F0EA0D2-F5BD-4609-9E3A-21CFB6B3C81C}"/>
              </a:ext>
              <a:ext uri="{C183D7F6-B498-43B3-948B-1728B52AA6E4}">
                <adec:decorative xmlns:adec="http://schemas.microsoft.com/office/drawing/2017/decorative" val="1"/>
              </a:ext>
            </a:extLst>
          </p:cNvPr>
          <p:cNvGrpSpPr/>
          <p:nvPr/>
        </p:nvGrpSpPr>
        <p:grpSpPr>
          <a:xfrm>
            <a:off x="3031668" y="2206821"/>
            <a:ext cx="702132" cy="702232"/>
            <a:chOff x="3031668" y="1620002"/>
            <a:chExt cx="702132" cy="702232"/>
          </a:xfrm>
        </p:grpSpPr>
        <p:grpSp>
          <p:nvGrpSpPr>
            <p:cNvPr id="14" name="Group 13">
              <a:extLst>
                <a:ext uri="{FF2B5EF4-FFF2-40B4-BE49-F238E27FC236}">
                  <a16:creationId xmlns:a16="http://schemas.microsoft.com/office/drawing/2014/main" id="{2A3BFF39-13AE-4902-A9D8-31EA3D524816}"/>
                </a:ext>
              </a:extLst>
            </p:cNvPr>
            <p:cNvGrpSpPr/>
            <p:nvPr/>
          </p:nvGrpSpPr>
          <p:grpSpPr>
            <a:xfrm>
              <a:off x="3031668" y="1620002"/>
              <a:ext cx="702132" cy="702232"/>
              <a:chOff x="3031668" y="1620002"/>
              <a:chExt cx="702132" cy="702232"/>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3031668" y="162000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3080522" y="1670000"/>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C8C1464E-38F7-429A-A682-48FE4C614C97}"/>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19" name="Group 18">
            <a:extLst>
              <a:ext uri="{FF2B5EF4-FFF2-40B4-BE49-F238E27FC236}">
                <a16:creationId xmlns:a16="http://schemas.microsoft.com/office/drawing/2014/main" id="{2A83C786-B00D-490E-B37F-A04BFDFD3BB3}"/>
              </a:ext>
              <a:ext uri="{C183D7F6-B498-43B3-948B-1728B52AA6E4}">
                <adec:decorative xmlns:adec="http://schemas.microsoft.com/office/drawing/2017/decorative" val="1"/>
              </a:ext>
            </a:extLst>
          </p:cNvPr>
          <p:cNvGrpSpPr/>
          <p:nvPr/>
        </p:nvGrpSpPr>
        <p:grpSpPr>
          <a:xfrm>
            <a:off x="3031668" y="3572434"/>
            <a:ext cx="702132" cy="702232"/>
            <a:chOff x="3031668" y="4535768"/>
            <a:chExt cx="702132" cy="702232"/>
          </a:xfrm>
        </p:grpSpPr>
        <p:grpSp>
          <p:nvGrpSpPr>
            <p:cNvPr id="18" name="Group 17">
              <a:extLst>
                <a:ext uri="{FF2B5EF4-FFF2-40B4-BE49-F238E27FC236}">
                  <a16:creationId xmlns:a16="http://schemas.microsoft.com/office/drawing/2014/main" id="{17CC6BFE-662E-4AEF-9ACC-A5A3A466EBAB}"/>
                </a:ext>
              </a:extLst>
            </p:cNvPr>
            <p:cNvGrpSpPr/>
            <p:nvPr/>
          </p:nvGrpSpPr>
          <p:grpSpPr>
            <a:xfrm>
              <a:off x="3031668" y="4535768"/>
              <a:ext cx="702132" cy="702232"/>
              <a:chOff x="3031668" y="4535768"/>
              <a:chExt cx="702132" cy="702232"/>
            </a:xfrm>
          </p:grpSpPr>
          <p:sp>
            <p:nvSpPr>
              <p:cNvPr id="44" name="Freeform 5">
                <a:extLst>
                  <a:ext uri="{FF2B5EF4-FFF2-40B4-BE49-F238E27FC236}">
                    <a16:creationId xmlns:a16="http://schemas.microsoft.com/office/drawing/2014/main" id="{68545A57-D254-4040-9131-B81B012B454C}"/>
                  </a:ext>
                </a:extLst>
              </p:cNvPr>
              <p:cNvSpPr>
                <a:spLocks/>
              </p:cNvSpPr>
              <p:nvPr/>
            </p:nvSpPr>
            <p:spPr bwMode="auto">
              <a:xfrm>
                <a:off x="3031668" y="453576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6">
                <a:extLst>
                  <a:ext uri="{FF2B5EF4-FFF2-40B4-BE49-F238E27FC236}">
                    <a16:creationId xmlns:a16="http://schemas.microsoft.com/office/drawing/2014/main" id="{A37A0F79-C2EA-4568-BF05-E46B9DFE0A0D}"/>
                  </a:ext>
                </a:extLst>
              </p:cNvPr>
              <p:cNvSpPr>
                <a:spLocks noEditPoints="1"/>
              </p:cNvSpPr>
              <p:nvPr/>
            </p:nvSpPr>
            <p:spPr bwMode="auto">
              <a:xfrm>
                <a:off x="3080522" y="458576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gear inside a circle">
              <a:extLst>
                <a:ext uri="{FF2B5EF4-FFF2-40B4-BE49-F238E27FC236}">
                  <a16:creationId xmlns:a16="http://schemas.microsoft.com/office/drawing/2014/main" id="{65C31315-C27D-41F3-9F94-06BF61084599}"/>
                </a:ext>
              </a:extLst>
            </p:cNvPr>
            <p:cNvPicPr>
              <a:picLocks noChangeAspect="1"/>
            </p:cNvPicPr>
            <p:nvPr/>
          </p:nvPicPr>
          <p:blipFill>
            <a:blip r:embed="rId4"/>
            <a:stretch>
              <a:fillRect/>
            </a:stretch>
          </p:blipFill>
          <p:spPr>
            <a:xfrm>
              <a:off x="3196572" y="4700650"/>
              <a:ext cx="372325" cy="372325"/>
            </a:xfrm>
            <a:prstGeom prst="rect">
              <a:avLst/>
            </a:prstGeom>
          </p:spPr>
        </p:pic>
      </p:grpSp>
    </p:spTree>
    <p:extLst>
      <p:ext uri="{BB962C8B-B14F-4D97-AF65-F5344CB8AC3E}">
        <p14:creationId xmlns:p14="http://schemas.microsoft.com/office/powerpoint/2010/main" val="424467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84F5-327D-4ABC-9C50-55514C1AC641}"/>
              </a:ext>
            </a:extLst>
          </p:cNvPr>
          <p:cNvSpPr>
            <a:spLocks noGrp="1"/>
          </p:cNvSpPr>
          <p:nvPr>
            <p:ph type="title"/>
          </p:nvPr>
        </p:nvSpPr>
        <p:spPr>
          <a:xfrm>
            <a:off x="455995" y="623224"/>
            <a:ext cx="11306469" cy="397545"/>
          </a:xfrm>
        </p:spPr>
        <p:txBody>
          <a:bodyPr/>
          <a:lstStyle/>
          <a:p>
            <a:r>
              <a:rPr lang="en-US"/>
              <a:t>Site-to-site VPN connections</a:t>
            </a:r>
          </a:p>
        </p:txBody>
      </p:sp>
      <p:pic>
        <p:nvPicPr>
          <p:cNvPr id="3" name="Picture 2" descr="Site-to-site VPN Gateway architecture.">
            <a:extLst>
              <a:ext uri="{FF2B5EF4-FFF2-40B4-BE49-F238E27FC236}">
                <a16:creationId xmlns:a16="http://schemas.microsoft.com/office/drawing/2014/main" id="{E6BAA9BC-5E6B-4A8C-B2F6-4A3006357D32}"/>
              </a:ext>
            </a:extLst>
          </p:cNvPr>
          <p:cNvPicPr/>
          <p:nvPr/>
        </p:nvPicPr>
        <p:blipFill>
          <a:blip r:embed="rId3"/>
          <a:stretch>
            <a:fillRect/>
          </a:stretch>
        </p:blipFill>
        <p:spPr bwMode="auto">
          <a:xfrm>
            <a:off x="1605788" y="1545027"/>
            <a:ext cx="8703624" cy="4351444"/>
          </a:xfrm>
          <a:prstGeom prst="rect">
            <a:avLst/>
          </a:prstGeom>
          <a:noFill/>
          <a:ln>
            <a:noFill/>
          </a:ln>
        </p:spPr>
      </p:pic>
    </p:spTree>
    <p:extLst>
      <p:ext uri="{BB962C8B-B14F-4D97-AF65-F5344CB8AC3E}">
        <p14:creationId xmlns:p14="http://schemas.microsoft.com/office/powerpoint/2010/main" val="284192942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solidFill>
                  <a:schemeClr val="tx1"/>
                </a:solidFill>
              </a:rPr>
              <a:t>Site</a:t>
            </a:r>
            <a:r>
              <a:rPr lang="en-US" sz="2800"/>
              <a:t>-to-Site VPN Connections</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Lst>
          </p:cNvPr>
          <p:cNvSpPr/>
          <p:nvPr/>
        </p:nvSpPr>
        <p:spPr>
          <a:xfrm>
            <a:off x="4189871" y="2195907"/>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r>
              <a:rPr lang="en-US" sz="1600" dirty="0"/>
              <a:t>C</a:t>
            </a:r>
            <a:endParaRPr lang="en-US" sz="1765" dirty="0">
              <a:solidFill>
                <a:schemeClr val="tx1"/>
              </a:solidFill>
            </a:endParaRP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1" name="TextBox 10">
            <a:extLst>
              <a:ext uri="{FF2B5EF4-FFF2-40B4-BE49-F238E27FC236}">
                <a16:creationId xmlns:a16="http://schemas.microsoft.com/office/drawing/2014/main" id="{FFD19555-863D-4552-8810-60F2A73458EB}"/>
              </a:ext>
            </a:extLst>
          </p:cNvPr>
          <p:cNvSpPr txBox="1"/>
          <p:nvPr/>
        </p:nvSpPr>
        <p:spPr>
          <a:xfrm>
            <a:off x="4189871" y="2129643"/>
            <a:ext cx="6093994" cy="646331"/>
          </a:xfrm>
          <a:prstGeom prst="rect">
            <a:avLst/>
          </a:prstGeom>
          <a:noFill/>
        </p:spPr>
        <p:txBody>
          <a:bodyPr wrap="square">
            <a:spAutoFit/>
          </a:bodyPr>
          <a:lstStyle/>
          <a:p>
            <a:r>
              <a:rPr lang="en-US" dirty="0">
                <a:hlinkClick r:id="rId4"/>
              </a:rPr>
              <a:t>Tutorial - Connect on-premises network to virtual network: Azure portal - Azure VPN Gateway | Microsoft Docs</a:t>
            </a:r>
            <a:endParaRPr lang="en-US" dirty="0"/>
          </a:p>
        </p:txBody>
      </p:sp>
    </p:spTree>
    <p:extLst>
      <p:ext uri="{BB962C8B-B14F-4D97-AF65-F5344CB8AC3E}">
        <p14:creationId xmlns:p14="http://schemas.microsoft.com/office/powerpoint/2010/main" val="9064065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541524-D7A5-4D6E-90BA-37FDB33E079B}"/>
              </a:ext>
            </a:extLst>
          </p:cNvPr>
          <p:cNvSpPr>
            <a:spLocks noGrp="1"/>
          </p:cNvSpPr>
          <p:nvPr>
            <p:ph type="title"/>
          </p:nvPr>
        </p:nvSpPr>
        <p:spPr>
          <a:xfrm>
            <a:off x="585217" y="2940213"/>
            <a:ext cx="8892608" cy="977575"/>
          </a:xfrm>
        </p:spPr>
        <p:txBody>
          <a:bodyPr/>
          <a:lstStyle/>
          <a:p>
            <a:r>
              <a:rPr lang="en-US"/>
              <a:t>Lesson 04: Connect devices to networks with Point-to-site VPN connections</a:t>
            </a:r>
          </a:p>
        </p:txBody>
      </p:sp>
      <p:grpSp>
        <p:nvGrpSpPr>
          <p:cNvPr id="4" name="Group 3">
            <a:extLst>
              <a:ext uri="{FF2B5EF4-FFF2-40B4-BE49-F238E27FC236}">
                <a16:creationId xmlns:a16="http://schemas.microsoft.com/office/drawing/2014/main" id="{04A30B38-FF7F-4699-ABA6-902C869CD8E9}"/>
              </a:ext>
              <a:ext uri="{C183D7F6-B498-43B3-948B-1728B52AA6E4}">
                <adec:decorative xmlns:adec="http://schemas.microsoft.com/office/drawing/2017/decorative" val="1"/>
              </a:ext>
            </a:extLst>
          </p:cNvPr>
          <p:cNvGrpSpPr/>
          <p:nvPr/>
        </p:nvGrpSpPr>
        <p:grpSpPr>
          <a:xfrm>
            <a:off x="10278739" y="3070379"/>
            <a:ext cx="717140" cy="717242"/>
            <a:chOff x="418643" y="3980133"/>
            <a:chExt cx="717140" cy="717242"/>
          </a:xfrm>
        </p:grpSpPr>
        <p:grpSp>
          <p:nvGrpSpPr>
            <p:cNvPr id="5" name="Group 4">
              <a:extLst>
                <a:ext uri="{FF2B5EF4-FFF2-40B4-BE49-F238E27FC236}">
                  <a16:creationId xmlns:a16="http://schemas.microsoft.com/office/drawing/2014/main" id="{62683AF7-3526-4651-9D9F-A50F0518929D}"/>
                </a:ext>
              </a:extLst>
            </p:cNvPr>
            <p:cNvGrpSpPr/>
            <p:nvPr/>
          </p:nvGrpSpPr>
          <p:grpSpPr>
            <a:xfrm>
              <a:off x="418643" y="3980133"/>
              <a:ext cx="717140" cy="717242"/>
              <a:chOff x="418643" y="3980133"/>
              <a:chExt cx="717140" cy="717242"/>
            </a:xfrm>
          </p:grpSpPr>
          <p:sp>
            <p:nvSpPr>
              <p:cNvPr id="7" name="Freeform 5">
                <a:extLst>
                  <a:ext uri="{FF2B5EF4-FFF2-40B4-BE49-F238E27FC236}">
                    <a16:creationId xmlns:a16="http://schemas.microsoft.com/office/drawing/2014/main" id="{E05072ED-E651-469B-9AF7-79BB00DC74DD}"/>
                  </a:ext>
                </a:extLst>
              </p:cNvPr>
              <p:cNvSpPr>
                <a:spLocks/>
              </p:cNvSpPr>
              <p:nvPr/>
            </p:nvSpPr>
            <p:spPr bwMode="auto">
              <a:xfrm>
                <a:off x="418643" y="3980133"/>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16BDC8B0-21D7-496A-B795-3BD50179DB62}"/>
                  </a:ext>
                </a:extLst>
              </p:cNvPr>
              <p:cNvSpPr>
                <a:spLocks noEditPoints="1"/>
              </p:cNvSpPr>
              <p:nvPr/>
            </p:nvSpPr>
            <p:spPr bwMode="auto">
              <a:xfrm>
                <a:off x="468541" y="403119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480B20DE-6D63-48C5-ABEE-F9E487E15A2E}"/>
                </a:ext>
              </a:extLst>
            </p:cNvPr>
            <p:cNvPicPr>
              <a:picLocks noChangeAspect="1"/>
            </p:cNvPicPr>
            <p:nvPr/>
          </p:nvPicPr>
          <p:blipFill>
            <a:blip r:embed="rId2"/>
            <a:stretch>
              <a:fillRect/>
            </a:stretch>
          </p:blipFill>
          <p:spPr>
            <a:xfrm>
              <a:off x="641719" y="4150309"/>
              <a:ext cx="270988" cy="376890"/>
            </a:xfrm>
            <a:prstGeom prst="rect">
              <a:avLst/>
            </a:prstGeom>
          </p:spPr>
        </p:pic>
      </p:grpSp>
    </p:spTree>
    <p:extLst>
      <p:ext uri="{BB962C8B-B14F-4D97-AF65-F5344CB8AC3E}">
        <p14:creationId xmlns:p14="http://schemas.microsoft.com/office/powerpoint/2010/main" val="270848648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45659" y="637831"/>
            <a:ext cx="2329909" cy="5527343"/>
          </a:xfrm>
        </p:spPr>
        <p:txBody>
          <a:bodyPr/>
          <a:lstStyle/>
          <a:p>
            <a:r>
              <a:rPr lang="en-US" dirty="0"/>
              <a:t>Connect devices to networks with Point-to-site VPN connections overview</a:t>
            </a:r>
          </a:p>
        </p:txBody>
      </p:sp>
      <p:sp>
        <p:nvSpPr>
          <p:cNvPr id="6" name="Text Placeholder 5"/>
          <p:cNvSpPr>
            <a:spLocks noGrp="1"/>
          </p:cNvSpPr>
          <p:nvPr>
            <p:ph type="body" sz="quarter" idx="11"/>
          </p:nvPr>
        </p:nvSpPr>
        <p:spPr/>
        <p:txBody>
          <a:bodyPr/>
          <a:lstStyle/>
          <a:p>
            <a:pPr lvl="1"/>
            <a:r>
              <a:rPr lang="en-US" dirty="0"/>
              <a:t>Point-to-site protocols</a:t>
            </a:r>
          </a:p>
        </p:txBody>
      </p:sp>
      <p:sp>
        <p:nvSpPr>
          <p:cNvPr id="2" name="Text Placeholder 1"/>
          <p:cNvSpPr>
            <a:spLocks noGrp="1"/>
          </p:cNvSpPr>
          <p:nvPr>
            <p:ph type="body" sz="quarter" idx="15"/>
          </p:nvPr>
        </p:nvSpPr>
        <p:spPr/>
        <p:txBody>
          <a:bodyPr/>
          <a:lstStyle/>
          <a:p>
            <a:pPr lvl="1"/>
            <a:r>
              <a:rPr lang="en-US" dirty="0"/>
              <a:t>Point-to-site authentication methods</a:t>
            </a:r>
          </a:p>
        </p:txBody>
      </p:sp>
      <p:sp>
        <p:nvSpPr>
          <p:cNvPr id="3" name="Text Placeholder 2"/>
          <p:cNvSpPr>
            <a:spLocks noGrp="1"/>
          </p:cNvSpPr>
          <p:nvPr>
            <p:ph type="body" sz="quarter" idx="17"/>
          </p:nvPr>
        </p:nvSpPr>
        <p:spPr/>
        <p:txBody>
          <a:bodyPr/>
          <a:lstStyle/>
          <a:p>
            <a:pPr lvl="1"/>
            <a:r>
              <a:rPr lang="en-US" dirty="0"/>
              <a:t>Configure Point-to-site clients</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21"/>
          </p:nvPr>
        </p:nvSpPr>
        <p:spPr/>
        <p:txBody>
          <a:bodyPr/>
          <a:lstStyle/>
          <a:p>
            <a:pPr lvl="1"/>
            <a:r>
              <a:rPr lang="en-US" dirty="0"/>
              <a:t>Review</a:t>
            </a:r>
          </a:p>
        </p:txBody>
      </p:sp>
      <p:grpSp>
        <p:nvGrpSpPr>
          <p:cNvPr id="5" name="Group 4">
            <a:extLst>
              <a:ext uri="{FF2B5EF4-FFF2-40B4-BE49-F238E27FC236}">
                <a16:creationId xmlns:a16="http://schemas.microsoft.com/office/drawing/2014/main" id="{3D96C5C0-D690-418F-8D1D-091320228A80}"/>
              </a:ext>
              <a:ext uri="{C183D7F6-B498-43B3-948B-1728B52AA6E4}">
                <adec:decorative xmlns:adec="http://schemas.microsoft.com/office/drawing/2017/decorative" val="1"/>
              </a:ext>
            </a:extLst>
          </p:cNvPr>
          <p:cNvGrpSpPr/>
          <p:nvPr/>
        </p:nvGrpSpPr>
        <p:grpSpPr>
          <a:xfrm>
            <a:off x="3031668" y="1045773"/>
            <a:ext cx="702132" cy="4381567"/>
            <a:chOff x="3031668" y="1045773"/>
            <a:chExt cx="702132" cy="4381567"/>
          </a:xfrm>
        </p:grpSpPr>
        <p:grpSp>
          <p:nvGrpSpPr>
            <p:cNvPr id="15" name="Group 14">
              <a:extLst>
                <a:ext uri="{FF2B5EF4-FFF2-40B4-BE49-F238E27FC236}">
                  <a16:creationId xmlns:a16="http://schemas.microsoft.com/office/drawing/2014/main" id="{7403CD60-83C2-4F7E-BCA7-2B7C55B1FFAC}"/>
                </a:ext>
              </a:extLst>
            </p:cNvPr>
            <p:cNvGrpSpPr/>
            <p:nvPr/>
          </p:nvGrpSpPr>
          <p:grpSpPr>
            <a:xfrm>
              <a:off x="3031668" y="1045773"/>
              <a:ext cx="702132" cy="702232"/>
              <a:chOff x="3031668" y="1045773"/>
              <a:chExt cx="702132" cy="702232"/>
            </a:xfrm>
          </p:grpSpPr>
          <p:grpSp>
            <p:nvGrpSpPr>
              <p:cNvPr id="11" name="Group 10">
                <a:extLst>
                  <a:ext uri="{FF2B5EF4-FFF2-40B4-BE49-F238E27FC236}">
                    <a16:creationId xmlns:a16="http://schemas.microsoft.com/office/drawing/2014/main" id="{438E17F6-4130-4B22-967F-3025A3FB14F0}"/>
                  </a:ext>
                </a:extLst>
              </p:cNvPr>
              <p:cNvGrpSpPr/>
              <p:nvPr/>
            </p:nvGrpSpPr>
            <p:grpSpPr>
              <a:xfrm>
                <a:off x="3031668" y="1045773"/>
                <a:ext cx="702132" cy="702232"/>
                <a:chOff x="3031668" y="1045773"/>
                <a:chExt cx="702132" cy="702232"/>
              </a:xfrm>
            </p:grpSpPr>
            <p:sp>
              <p:nvSpPr>
                <p:cNvPr id="39" name="Freeform 5">
                  <a:extLst>
                    <a:ext uri="{FF2B5EF4-FFF2-40B4-BE49-F238E27FC236}">
                      <a16:creationId xmlns:a16="http://schemas.microsoft.com/office/drawing/2014/main" id="{0ACE14DD-2FF6-43F0-A08C-5CD4C0B7BF1C}"/>
                    </a:ext>
                  </a:extLst>
                </p:cNvPr>
                <p:cNvSpPr>
                  <a:spLocks/>
                </p:cNvSpPr>
                <p:nvPr/>
              </p:nvSpPr>
              <p:spPr bwMode="auto">
                <a:xfrm>
                  <a:off x="3031668" y="104577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0" name="Freeform 6">
                  <a:extLst>
                    <a:ext uri="{FF2B5EF4-FFF2-40B4-BE49-F238E27FC236}">
                      <a16:creationId xmlns:a16="http://schemas.microsoft.com/office/drawing/2014/main" id="{F37E8C3B-2DF2-4F1B-8FD6-36506ADCCE3D}"/>
                    </a:ext>
                  </a:extLst>
                </p:cNvPr>
                <p:cNvSpPr>
                  <a:spLocks noEditPoints="1"/>
                </p:cNvSpPr>
                <p:nvPr/>
              </p:nvSpPr>
              <p:spPr bwMode="auto">
                <a:xfrm>
                  <a:off x="3080522" y="109577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8652296A-D3A2-448E-819B-C8C32005F581}"/>
                  </a:ext>
                </a:extLst>
              </p:cNvPr>
              <p:cNvPicPr>
                <a:picLocks noChangeAspect="1"/>
              </p:cNvPicPr>
              <p:nvPr/>
            </p:nvPicPr>
            <p:blipFill>
              <a:blip r:embed="rId3"/>
              <a:stretch>
                <a:fillRect/>
              </a:stretch>
            </p:blipFill>
            <p:spPr>
              <a:xfrm>
                <a:off x="3196572" y="1210727"/>
                <a:ext cx="372325" cy="372325"/>
              </a:xfrm>
              <a:prstGeom prst="rect">
                <a:avLst/>
              </a:prstGeom>
            </p:spPr>
          </p:pic>
        </p:grpSp>
        <p:grpSp>
          <p:nvGrpSpPr>
            <p:cNvPr id="16" name="Group 15">
              <a:extLst>
                <a:ext uri="{FF2B5EF4-FFF2-40B4-BE49-F238E27FC236}">
                  <a16:creationId xmlns:a16="http://schemas.microsoft.com/office/drawing/2014/main" id="{B342EB39-18E2-43D8-8590-8D580CE3CAD7}"/>
                </a:ext>
              </a:extLst>
            </p:cNvPr>
            <p:cNvGrpSpPr/>
            <p:nvPr/>
          </p:nvGrpSpPr>
          <p:grpSpPr>
            <a:xfrm>
              <a:off x="3031668" y="2272218"/>
              <a:ext cx="702132" cy="702232"/>
              <a:chOff x="3031668" y="2272218"/>
              <a:chExt cx="702132" cy="702232"/>
            </a:xfrm>
          </p:grpSpPr>
          <p:grpSp>
            <p:nvGrpSpPr>
              <p:cNvPr id="12" name="Group 11">
                <a:extLst>
                  <a:ext uri="{FF2B5EF4-FFF2-40B4-BE49-F238E27FC236}">
                    <a16:creationId xmlns:a16="http://schemas.microsoft.com/office/drawing/2014/main" id="{28351FB6-3E23-4C63-9B46-683ECBA5ECEB}"/>
                  </a:ext>
                </a:extLst>
              </p:cNvPr>
              <p:cNvGrpSpPr/>
              <p:nvPr/>
            </p:nvGrpSpPr>
            <p:grpSpPr>
              <a:xfrm>
                <a:off x="3031668" y="2272218"/>
                <a:ext cx="702132" cy="702232"/>
                <a:chOff x="3031668" y="2272218"/>
                <a:chExt cx="702132" cy="702232"/>
              </a:xfrm>
            </p:grpSpPr>
            <p:sp>
              <p:nvSpPr>
                <p:cNvPr id="55" name="Freeform 5">
                  <a:extLst>
                    <a:ext uri="{FF2B5EF4-FFF2-40B4-BE49-F238E27FC236}">
                      <a16:creationId xmlns:a16="http://schemas.microsoft.com/office/drawing/2014/main" id="{C38D0AF8-061C-4F9F-9491-28BBF70A89E9}"/>
                    </a:ext>
                  </a:extLst>
                </p:cNvPr>
                <p:cNvSpPr>
                  <a:spLocks/>
                </p:cNvSpPr>
                <p:nvPr/>
              </p:nvSpPr>
              <p:spPr bwMode="auto">
                <a:xfrm>
                  <a:off x="3031668" y="227221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56" name="Freeform 6">
                  <a:extLst>
                    <a:ext uri="{FF2B5EF4-FFF2-40B4-BE49-F238E27FC236}">
                      <a16:creationId xmlns:a16="http://schemas.microsoft.com/office/drawing/2014/main" id="{34FEA54E-4069-4201-BAA1-B8D61035BBB0}"/>
                    </a:ext>
                  </a:extLst>
                </p:cNvPr>
                <p:cNvSpPr>
                  <a:spLocks noEditPoints="1"/>
                </p:cNvSpPr>
                <p:nvPr/>
              </p:nvSpPr>
              <p:spPr bwMode="auto">
                <a:xfrm>
                  <a:off x="3080522" y="232221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a arrow in a circular path with a timer inside the circle">
                <a:extLst>
                  <a:ext uri="{FF2B5EF4-FFF2-40B4-BE49-F238E27FC236}">
                    <a16:creationId xmlns:a16="http://schemas.microsoft.com/office/drawing/2014/main" id="{F74D1AD5-AD28-4530-8E05-5F445670A21C}"/>
                  </a:ext>
                </a:extLst>
              </p:cNvPr>
              <p:cNvPicPr>
                <a:picLocks noChangeAspect="1"/>
              </p:cNvPicPr>
              <p:nvPr/>
            </p:nvPicPr>
            <p:blipFill>
              <a:blip r:embed="rId4"/>
              <a:stretch>
                <a:fillRect/>
              </a:stretch>
            </p:blipFill>
            <p:spPr>
              <a:xfrm>
                <a:off x="3196572" y="2437172"/>
                <a:ext cx="372325" cy="372325"/>
              </a:xfrm>
              <a:prstGeom prst="rect">
                <a:avLst/>
              </a:prstGeom>
            </p:spPr>
          </p:pic>
        </p:grpSp>
        <p:grpSp>
          <p:nvGrpSpPr>
            <p:cNvPr id="18" name="Group 17">
              <a:extLst>
                <a:ext uri="{FF2B5EF4-FFF2-40B4-BE49-F238E27FC236}">
                  <a16:creationId xmlns:a16="http://schemas.microsoft.com/office/drawing/2014/main" id="{C7B39E84-E8FE-4BED-9C9C-E5905E0B3F06}"/>
                </a:ext>
              </a:extLst>
            </p:cNvPr>
            <p:cNvGrpSpPr/>
            <p:nvPr/>
          </p:nvGrpSpPr>
          <p:grpSpPr>
            <a:xfrm>
              <a:off x="3031668" y="3498663"/>
              <a:ext cx="702132" cy="702232"/>
              <a:chOff x="3031668" y="3498663"/>
              <a:chExt cx="702132" cy="702232"/>
            </a:xfrm>
          </p:grpSpPr>
          <p:grpSp>
            <p:nvGrpSpPr>
              <p:cNvPr id="13" name="Group 12">
                <a:extLst>
                  <a:ext uri="{FF2B5EF4-FFF2-40B4-BE49-F238E27FC236}">
                    <a16:creationId xmlns:a16="http://schemas.microsoft.com/office/drawing/2014/main" id="{F23DFA05-31C9-446E-8AE4-77D0991F3CC4}"/>
                  </a:ext>
                </a:extLst>
              </p:cNvPr>
              <p:cNvGrpSpPr/>
              <p:nvPr/>
            </p:nvGrpSpPr>
            <p:grpSpPr>
              <a:xfrm>
                <a:off x="3031668" y="3498663"/>
                <a:ext cx="702132" cy="702232"/>
                <a:chOff x="3031668" y="3498663"/>
                <a:chExt cx="702132" cy="702232"/>
              </a:xfrm>
            </p:grpSpPr>
            <p:sp>
              <p:nvSpPr>
                <p:cNvPr id="62" name="Freeform 5">
                  <a:extLst>
                    <a:ext uri="{FF2B5EF4-FFF2-40B4-BE49-F238E27FC236}">
                      <a16:creationId xmlns:a16="http://schemas.microsoft.com/office/drawing/2014/main" id="{5006225B-4396-4525-AB55-9913674500E5}"/>
                    </a:ext>
                  </a:extLst>
                </p:cNvPr>
                <p:cNvSpPr>
                  <a:spLocks/>
                </p:cNvSpPr>
                <p:nvPr/>
              </p:nvSpPr>
              <p:spPr bwMode="auto">
                <a:xfrm>
                  <a:off x="3031668" y="349866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63" name="Freeform 6">
                  <a:extLst>
                    <a:ext uri="{FF2B5EF4-FFF2-40B4-BE49-F238E27FC236}">
                      <a16:creationId xmlns:a16="http://schemas.microsoft.com/office/drawing/2014/main" id="{AB3EFC98-34E6-4B81-BA39-77E612CE99DB}"/>
                    </a:ext>
                  </a:extLst>
                </p:cNvPr>
                <p:cNvSpPr>
                  <a:spLocks noEditPoints="1"/>
                </p:cNvSpPr>
                <p:nvPr/>
              </p:nvSpPr>
              <p:spPr bwMode="auto">
                <a:xfrm>
                  <a:off x="3080522" y="354866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gear inside a circle">
                <a:extLst>
                  <a:ext uri="{FF2B5EF4-FFF2-40B4-BE49-F238E27FC236}">
                    <a16:creationId xmlns:a16="http://schemas.microsoft.com/office/drawing/2014/main" id="{2F30D263-79FE-4058-94AE-F1CA909DAE0A}"/>
                  </a:ext>
                </a:extLst>
              </p:cNvPr>
              <p:cNvPicPr>
                <a:picLocks noChangeAspect="1"/>
              </p:cNvPicPr>
              <p:nvPr/>
            </p:nvPicPr>
            <p:blipFill>
              <a:blip r:embed="rId5"/>
              <a:stretch>
                <a:fillRect/>
              </a:stretch>
            </p:blipFill>
            <p:spPr>
              <a:xfrm>
                <a:off x="3196572" y="3663617"/>
                <a:ext cx="372325" cy="372325"/>
              </a:xfrm>
              <a:prstGeom prst="rect">
                <a:avLst/>
              </a:prstGeom>
            </p:spPr>
          </p:pic>
        </p:grpSp>
        <p:grpSp>
          <p:nvGrpSpPr>
            <p:cNvPr id="19" name="Group 18">
              <a:extLst>
                <a:ext uri="{FF2B5EF4-FFF2-40B4-BE49-F238E27FC236}">
                  <a16:creationId xmlns:a16="http://schemas.microsoft.com/office/drawing/2014/main" id="{04EA41AE-66FC-4562-BD52-83262BF29AAF}"/>
                </a:ext>
              </a:extLst>
            </p:cNvPr>
            <p:cNvGrpSpPr/>
            <p:nvPr/>
          </p:nvGrpSpPr>
          <p:grpSpPr>
            <a:xfrm>
              <a:off x="3031668" y="4725108"/>
              <a:ext cx="702132" cy="702232"/>
              <a:chOff x="3031668" y="4725108"/>
              <a:chExt cx="702132" cy="702232"/>
            </a:xfrm>
          </p:grpSpPr>
          <p:grpSp>
            <p:nvGrpSpPr>
              <p:cNvPr id="14" name="Group 13">
                <a:extLst>
                  <a:ext uri="{FF2B5EF4-FFF2-40B4-BE49-F238E27FC236}">
                    <a16:creationId xmlns:a16="http://schemas.microsoft.com/office/drawing/2014/main" id="{F73677D7-9B45-4357-A08F-C849E68113A6}"/>
                  </a:ext>
                </a:extLst>
              </p:cNvPr>
              <p:cNvGrpSpPr/>
              <p:nvPr/>
            </p:nvGrpSpPr>
            <p:grpSpPr>
              <a:xfrm>
                <a:off x="3031668" y="4725108"/>
                <a:ext cx="702132" cy="702232"/>
                <a:chOff x="3031668" y="4725108"/>
                <a:chExt cx="702132" cy="702232"/>
              </a:xfrm>
            </p:grpSpPr>
            <p:sp>
              <p:nvSpPr>
                <p:cNvPr id="25" name="Freeform 5">
                  <a:extLst>
                    <a:ext uri="{FF2B5EF4-FFF2-40B4-BE49-F238E27FC236}">
                      <a16:creationId xmlns:a16="http://schemas.microsoft.com/office/drawing/2014/main" id="{176F770A-F08D-4439-952C-9F4034E2A163}"/>
                    </a:ext>
                  </a:extLst>
                </p:cNvPr>
                <p:cNvSpPr>
                  <a:spLocks/>
                </p:cNvSpPr>
                <p:nvPr/>
              </p:nvSpPr>
              <p:spPr bwMode="auto">
                <a:xfrm>
                  <a:off x="3031668" y="472510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B4A5B2AA-4B40-4633-8696-F894CB71F10E}"/>
                    </a:ext>
                  </a:extLst>
                </p:cNvPr>
                <p:cNvSpPr>
                  <a:spLocks noEditPoints="1"/>
                </p:cNvSpPr>
                <p:nvPr/>
              </p:nvSpPr>
              <p:spPr bwMode="auto">
                <a:xfrm>
                  <a:off x="3080522" y="477510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bulb">
                <a:extLst>
                  <a:ext uri="{FF2B5EF4-FFF2-40B4-BE49-F238E27FC236}">
                    <a16:creationId xmlns:a16="http://schemas.microsoft.com/office/drawing/2014/main" id="{BD8A27FC-C3FC-4D9B-AED7-5D4C9191B0AA}"/>
                  </a:ext>
                </a:extLst>
              </p:cNvPr>
              <p:cNvPicPr>
                <a:picLocks noChangeAspect="1"/>
              </p:cNvPicPr>
              <p:nvPr/>
            </p:nvPicPr>
            <p:blipFill>
              <a:blip r:embed="rId6"/>
              <a:stretch>
                <a:fillRect/>
              </a:stretch>
            </p:blipFill>
            <p:spPr>
              <a:xfrm>
                <a:off x="3248882" y="4890062"/>
                <a:ext cx="267705" cy="372325"/>
              </a:xfrm>
              <a:prstGeom prst="rect">
                <a:avLst/>
              </a:prstGeom>
            </p:spPr>
          </p:pic>
        </p:grpSp>
      </p:grpSp>
    </p:spTree>
    <p:extLst>
      <p:ext uri="{BB962C8B-B14F-4D97-AF65-F5344CB8AC3E}">
        <p14:creationId xmlns:p14="http://schemas.microsoft.com/office/powerpoint/2010/main" val="12393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84F5-327D-4ABC-9C50-55514C1AC641}"/>
              </a:ext>
            </a:extLst>
          </p:cNvPr>
          <p:cNvSpPr>
            <a:spLocks noGrp="1"/>
          </p:cNvSpPr>
          <p:nvPr>
            <p:ph type="title"/>
          </p:nvPr>
        </p:nvSpPr>
        <p:spPr>
          <a:xfrm>
            <a:off x="455995" y="623224"/>
            <a:ext cx="11306469" cy="397545"/>
          </a:xfrm>
        </p:spPr>
        <p:txBody>
          <a:bodyPr/>
          <a:lstStyle/>
          <a:p>
            <a:r>
              <a:rPr lang="en-US" sz="2800"/>
              <a:t>Point-to-site protocols</a:t>
            </a:r>
            <a:endParaRPr lang="en-US"/>
          </a:p>
        </p:txBody>
      </p:sp>
      <p:sp>
        <p:nvSpPr>
          <p:cNvPr id="5" name="Rectangle 4">
            <a:extLst>
              <a:ext uri="{FF2B5EF4-FFF2-40B4-BE49-F238E27FC236}">
                <a16:creationId xmlns:a16="http://schemas.microsoft.com/office/drawing/2014/main" id="{DCE4520A-D8B5-4E31-8DDE-6598F3B0D078}"/>
              </a:ext>
            </a:extLst>
          </p:cNvPr>
          <p:cNvSpPr/>
          <p:nvPr/>
        </p:nvSpPr>
        <p:spPr>
          <a:xfrm>
            <a:off x="418644" y="1778863"/>
            <a:ext cx="3083720" cy="12826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OpenVPN® Protocol</a:t>
            </a:r>
          </a:p>
        </p:txBody>
      </p:sp>
      <p:sp>
        <p:nvSpPr>
          <p:cNvPr id="7" name="Rectangle 6">
            <a:extLst>
              <a:ext uri="{FF2B5EF4-FFF2-40B4-BE49-F238E27FC236}">
                <a16:creationId xmlns:a16="http://schemas.microsoft.com/office/drawing/2014/main" id="{D7BD693F-CECA-4944-9855-8CFB6A694833}"/>
              </a:ext>
            </a:extLst>
          </p:cNvPr>
          <p:cNvSpPr/>
          <p:nvPr/>
        </p:nvSpPr>
        <p:spPr>
          <a:xfrm>
            <a:off x="418644" y="3212972"/>
            <a:ext cx="3044084"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sv-SE" sz="1961">
                <a:solidFill>
                  <a:schemeClr val="tx1"/>
                </a:solidFill>
              </a:rPr>
              <a:t>Secure Socket Tunneling Protocol (SSTP)</a:t>
            </a:r>
            <a:endParaRPr lang="en-US" sz="1961">
              <a:solidFill>
                <a:schemeClr val="tx1"/>
              </a:solidFill>
            </a:endParaRPr>
          </a:p>
        </p:txBody>
      </p:sp>
      <p:sp>
        <p:nvSpPr>
          <p:cNvPr id="9" name="Rectangle 8">
            <a:extLst>
              <a:ext uri="{FF2B5EF4-FFF2-40B4-BE49-F238E27FC236}">
                <a16:creationId xmlns:a16="http://schemas.microsoft.com/office/drawing/2014/main" id="{36B24633-9F50-41DA-8738-93ABFC0ED09C}"/>
              </a:ext>
            </a:extLst>
          </p:cNvPr>
          <p:cNvSpPr/>
          <p:nvPr/>
        </p:nvSpPr>
        <p:spPr>
          <a:xfrm>
            <a:off x="418644" y="4449194"/>
            <a:ext cx="3083720"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IKEv2 VPN</a:t>
            </a:r>
          </a:p>
        </p:txBody>
      </p:sp>
      <p:sp>
        <p:nvSpPr>
          <p:cNvPr id="14" name="Rectangle 13">
            <a:extLst>
              <a:ext uri="{FF2B5EF4-FFF2-40B4-BE49-F238E27FC236}">
                <a16:creationId xmlns:a16="http://schemas.microsoft.com/office/drawing/2014/main" id="{77BEB3B9-A418-47E7-BAAC-D5E912221369}"/>
              </a:ext>
              <a:ext uri="{C183D7F6-B498-43B3-948B-1728B52AA6E4}">
                <adec:decorative xmlns:adec="http://schemas.microsoft.com/office/drawing/2017/decorative" val="1"/>
              </a:ext>
            </a:extLst>
          </p:cNvPr>
          <p:cNvSpPr/>
          <p:nvPr/>
        </p:nvSpPr>
        <p:spPr bwMode="auto">
          <a:xfrm>
            <a:off x="3762532" y="1778863"/>
            <a:ext cx="8155872" cy="375513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4" name="Picture 3" descr="Connect from a computer to an Azure VNet - point-to-site connection diagram">
            <a:extLst>
              <a:ext uri="{FF2B5EF4-FFF2-40B4-BE49-F238E27FC236}">
                <a16:creationId xmlns:a16="http://schemas.microsoft.com/office/drawing/2014/main" id="{2EDA285B-2D5C-4880-97CD-0D56BE3B80E1}"/>
              </a:ext>
            </a:extLst>
          </p:cNvPr>
          <p:cNvPicPr>
            <a:picLocks noChangeAspect="1"/>
          </p:cNvPicPr>
          <p:nvPr/>
        </p:nvPicPr>
        <p:blipFill>
          <a:blip r:embed="rId3"/>
          <a:stretch>
            <a:fillRect/>
          </a:stretch>
        </p:blipFill>
        <p:spPr>
          <a:xfrm>
            <a:off x="4025373" y="2057200"/>
            <a:ext cx="7613073" cy="3126519"/>
          </a:xfrm>
          <a:prstGeom prst="rect">
            <a:avLst/>
          </a:prstGeom>
        </p:spPr>
      </p:pic>
    </p:spTree>
    <p:extLst>
      <p:ext uri="{BB962C8B-B14F-4D97-AF65-F5344CB8AC3E}">
        <p14:creationId xmlns:p14="http://schemas.microsoft.com/office/powerpoint/2010/main" val="257396849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147D-90AC-46D9-BCF0-212C967CA4ED}"/>
              </a:ext>
            </a:extLst>
          </p:cNvPr>
          <p:cNvSpPr>
            <a:spLocks noGrp="1"/>
          </p:cNvSpPr>
          <p:nvPr>
            <p:ph type="title"/>
          </p:nvPr>
        </p:nvSpPr>
        <p:spPr/>
        <p:txBody>
          <a:bodyPr/>
          <a:lstStyle/>
          <a:p>
            <a:r>
              <a:rPr lang="en-US"/>
              <a:t>Point-to-site authentication methods</a:t>
            </a:r>
          </a:p>
        </p:txBody>
      </p:sp>
      <p:sp>
        <p:nvSpPr>
          <p:cNvPr id="8" name="Freeform: Shape 7">
            <a:extLst>
              <a:ext uri="{FF2B5EF4-FFF2-40B4-BE49-F238E27FC236}">
                <a16:creationId xmlns:a16="http://schemas.microsoft.com/office/drawing/2014/main" id="{B986FA23-526D-45E2-8318-F7CFE22A2610}"/>
              </a:ext>
            </a:extLst>
          </p:cNvPr>
          <p:cNvSpPr/>
          <p:nvPr/>
        </p:nvSpPr>
        <p:spPr>
          <a:xfrm>
            <a:off x="418643"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Azure certificate authentication</a:t>
            </a:r>
          </a:p>
        </p:txBody>
      </p:sp>
      <p:sp>
        <p:nvSpPr>
          <p:cNvPr id="10" name="Freeform: Shape 9">
            <a:extLst>
              <a:ext uri="{FF2B5EF4-FFF2-40B4-BE49-F238E27FC236}">
                <a16:creationId xmlns:a16="http://schemas.microsoft.com/office/drawing/2014/main" id="{7B7C7AE4-C9D0-4407-BF2F-EE0DFF420AFA}"/>
              </a:ext>
            </a:extLst>
          </p:cNvPr>
          <p:cNvSpPr/>
          <p:nvPr/>
        </p:nvSpPr>
        <p:spPr>
          <a:xfrm>
            <a:off x="4254405"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Native Azure Active Directory authentication</a:t>
            </a:r>
          </a:p>
        </p:txBody>
      </p:sp>
      <p:sp>
        <p:nvSpPr>
          <p:cNvPr id="12" name="Freeform: Shape 11">
            <a:extLst>
              <a:ext uri="{FF2B5EF4-FFF2-40B4-BE49-F238E27FC236}">
                <a16:creationId xmlns:a16="http://schemas.microsoft.com/office/drawing/2014/main" id="{C154811D-0936-43C5-B2F5-C82184F35956}"/>
              </a:ext>
            </a:extLst>
          </p:cNvPr>
          <p:cNvSpPr/>
          <p:nvPr/>
        </p:nvSpPr>
        <p:spPr>
          <a:xfrm>
            <a:off x="8090167" y="4645087"/>
            <a:ext cx="3683191" cy="159208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rPr>
              <a:t>Active Directory (AD) Domain Server</a:t>
            </a:r>
          </a:p>
        </p:txBody>
      </p:sp>
      <p:pic>
        <p:nvPicPr>
          <p:cNvPr id="13" name="Picture 12" descr="RADIUS authentication of client.">
            <a:extLst>
              <a:ext uri="{FF2B5EF4-FFF2-40B4-BE49-F238E27FC236}">
                <a16:creationId xmlns:a16="http://schemas.microsoft.com/office/drawing/2014/main" id="{47A84690-A66D-4EC0-B28F-3A0EF0BFB0F4}"/>
              </a:ext>
            </a:extLst>
          </p:cNvPr>
          <p:cNvPicPr/>
          <p:nvPr/>
        </p:nvPicPr>
        <p:blipFill>
          <a:blip r:embed="rId3"/>
          <a:stretch>
            <a:fillRect/>
          </a:stretch>
        </p:blipFill>
        <p:spPr bwMode="auto">
          <a:xfrm>
            <a:off x="2868705" y="1585345"/>
            <a:ext cx="7302583" cy="2574279"/>
          </a:xfrm>
          <a:prstGeom prst="rect">
            <a:avLst/>
          </a:prstGeom>
          <a:noFill/>
          <a:ln>
            <a:noFill/>
          </a:ln>
        </p:spPr>
      </p:pic>
      <p:sp>
        <p:nvSpPr>
          <p:cNvPr id="15" name="Rectangle 14">
            <a:extLst>
              <a:ext uri="{FF2B5EF4-FFF2-40B4-BE49-F238E27FC236}">
                <a16:creationId xmlns:a16="http://schemas.microsoft.com/office/drawing/2014/main" id="{84603BB5-A7EA-42ED-8B4F-BBCA646906C7}"/>
              </a:ext>
              <a:ext uri="{C183D7F6-B498-43B3-948B-1728B52AA6E4}">
                <adec:decorative xmlns:adec="http://schemas.microsoft.com/office/drawing/2017/decorative" val="1"/>
              </a:ext>
            </a:extLst>
          </p:cNvPr>
          <p:cNvSpPr/>
          <p:nvPr/>
        </p:nvSpPr>
        <p:spPr bwMode="auto">
          <a:xfrm>
            <a:off x="867580" y="1169263"/>
            <a:ext cx="11050823" cy="323989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
        <p:nvSpPr>
          <p:cNvPr id="5" name="Rectangle 4">
            <a:extLst>
              <a:ext uri="{FF2B5EF4-FFF2-40B4-BE49-F238E27FC236}">
                <a16:creationId xmlns:a16="http://schemas.microsoft.com/office/drawing/2014/main" id="{E79D9B1A-64EE-475E-8D6F-BE28741C6F69}"/>
              </a:ext>
              <a:ext uri="{C183D7F6-B498-43B3-948B-1728B52AA6E4}">
                <adec:decorative xmlns:adec="http://schemas.microsoft.com/office/drawing/2017/decorative" val="1"/>
              </a:ext>
            </a:extLst>
          </p:cNvPr>
          <p:cNvSpPr/>
          <p:nvPr/>
        </p:nvSpPr>
        <p:spPr bwMode="auto">
          <a:xfrm>
            <a:off x="5842000" y="1439647"/>
            <a:ext cx="3793067" cy="1083420"/>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17042015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E28F-31D1-4FD9-8E3A-96DA0EBCB03F}"/>
              </a:ext>
            </a:extLst>
          </p:cNvPr>
          <p:cNvSpPr>
            <a:spLocks noGrp="1"/>
          </p:cNvSpPr>
          <p:nvPr>
            <p:ph type="title"/>
          </p:nvPr>
        </p:nvSpPr>
        <p:spPr/>
        <p:txBody>
          <a:bodyPr/>
          <a:lstStyle/>
          <a:p>
            <a:r>
              <a:rPr lang="en-US" dirty="0"/>
              <a:t>Prepare Point-to-site configuration in Azure</a:t>
            </a:r>
          </a:p>
        </p:txBody>
      </p:sp>
      <p:sp>
        <p:nvSpPr>
          <p:cNvPr id="4" name="Rectangle 3">
            <a:extLst>
              <a:ext uri="{FF2B5EF4-FFF2-40B4-BE49-F238E27FC236}">
                <a16:creationId xmlns:a16="http://schemas.microsoft.com/office/drawing/2014/main" id="{5EA60A62-0EC3-464B-9229-936E05E8BE85}"/>
              </a:ext>
              <a:ext uri="{C183D7F6-B498-43B3-948B-1728B52AA6E4}">
                <adec:decorative xmlns:adec="http://schemas.microsoft.com/office/drawing/2017/decorative" val="1"/>
              </a:ext>
            </a:extLst>
          </p:cNvPr>
          <p:cNvSpPr/>
          <p:nvPr/>
        </p:nvSpPr>
        <p:spPr bwMode="auto">
          <a:xfrm>
            <a:off x="6533319" y="1169263"/>
            <a:ext cx="5385084" cy="494343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5" name="Picture 4" descr="configuration window in the azure portal for a point to site connection">
            <a:extLst>
              <a:ext uri="{FF2B5EF4-FFF2-40B4-BE49-F238E27FC236}">
                <a16:creationId xmlns:a16="http://schemas.microsoft.com/office/drawing/2014/main" id="{C637DCEC-738A-41BD-893A-ADBEDD96B76F}"/>
              </a:ext>
            </a:extLst>
          </p:cNvPr>
          <p:cNvPicPr/>
          <p:nvPr/>
        </p:nvPicPr>
        <p:blipFill>
          <a:blip r:embed="rId3"/>
          <a:stretch>
            <a:fillRect/>
          </a:stretch>
        </p:blipFill>
        <p:spPr bwMode="auto">
          <a:xfrm>
            <a:off x="6914368" y="1517574"/>
            <a:ext cx="4493189" cy="3822852"/>
          </a:xfrm>
          <a:prstGeom prst="rect">
            <a:avLst/>
          </a:prstGeom>
          <a:noFill/>
          <a:ln>
            <a:noFill/>
          </a:ln>
        </p:spPr>
      </p:pic>
      <p:sp>
        <p:nvSpPr>
          <p:cNvPr id="7" name="Rectangle 6">
            <a:extLst>
              <a:ext uri="{FF2B5EF4-FFF2-40B4-BE49-F238E27FC236}">
                <a16:creationId xmlns:a16="http://schemas.microsoft.com/office/drawing/2014/main" id="{74AA6510-3C02-4957-88EC-1BA4DDDAA597}"/>
              </a:ext>
            </a:extLst>
          </p:cNvPr>
          <p:cNvSpPr/>
          <p:nvPr/>
        </p:nvSpPr>
        <p:spPr>
          <a:xfrm>
            <a:off x="418643" y="1169263"/>
            <a:ext cx="5240039" cy="128268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Navigate to the </a:t>
            </a:r>
            <a:r>
              <a:rPr lang="en-US" sz="1961" b="1">
                <a:solidFill>
                  <a:schemeClr val="tx1"/>
                </a:solidFill>
              </a:rPr>
              <a:t>Settings</a:t>
            </a:r>
            <a:r>
              <a:rPr lang="en-US" sz="1961">
                <a:solidFill>
                  <a:schemeClr val="tx1"/>
                </a:solidFill>
              </a:rPr>
              <a:t> section of the virtual network gateway page</a:t>
            </a:r>
          </a:p>
        </p:txBody>
      </p:sp>
      <p:sp>
        <p:nvSpPr>
          <p:cNvPr id="9" name="Rectangle 8">
            <a:extLst>
              <a:ext uri="{FF2B5EF4-FFF2-40B4-BE49-F238E27FC236}">
                <a16:creationId xmlns:a16="http://schemas.microsoft.com/office/drawing/2014/main" id="{41C64E8B-14CF-4434-B42B-00CA51371B8E}"/>
              </a:ext>
            </a:extLst>
          </p:cNvPr>
          <p:cNvSpPr/>
          <p:nvPr/>
        </p:nvSpPr>
        <p:spPr>
          <a:xfrm>
            <a:off x="455995" y="2597648"/>
            <a:ext cx="5240039"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Select </a:t>
            </a:r>
            <a:r>
              <a:rPr lang="en-US" sz="1961" b="1">
                <a:solidFill>
                  <a:schemeClr val="tx1"/>
                </a:solidFill>
              </a:rPr>
              <a:t>Point-to-site configuration</a:t>
            </a:r>
            <a:r>
              <a:rPr lang="en-US" sz="1961">
                <a:solidFill>
                  <a:schemeClr val="tx1"/>
                </a:solidFill>
              </a:rPr>
              <a:t>. Select </a:t>
            </a:r>
            <a:r>
              <a:rPr lang="en-US" sz="1961" b="1">
                <a:solidFill>
                  <a:schemeClr val="tx1"/>
                </a:solidFill>
              </a:rPr>
              <a:t>Configure</a:t>
            </a:r>
            <a:r>
              <a:rPr lang="en-US" sz="1961">
                <a:solidFill>
                  <a:schemeClr val="tx1"/>
                </a:solidFill>
              </a:rPr>
              <a:t> </a:t>
            </a:r>
            <a:r>
              <a:rPr lang="en-US" sz="1961" b="1">
                <a:solidFill>
                  <a:schemeClr val="tx1"/>
                </a:solidFill>
              </a:rPr>
              <a:t>now</a:t>
            </a:r>
            <a:r>
              <a:rPr lang="en-US" sz="1961">
                <a:solidFill>
                  <a:schemeClr val="tx1"/>
                </a:solidFill>
              </a:rPr>
              <a:t> to open the configuration page</a:t>
            </a:r>
          </a:p>
        </p:txBody>
      </p:sp>
      <p:sp>
        <p:nvSpPr>
          <p:cNvPr id="11" name="Rectangle 10">
            <a:extLst>
              <a:ext uri="{FF2B5EF4-FFF2-40B4-BE49-F238E27FC236}">
                <a16:creationId xmlns:a16="http://schemas.microsoft.com/office/drawing/2014/main" id="{BE4B1915-CF09-4835-9937-0C700FBE76BB}"/>
              </a:ext>
            </a:extLst>
          </p:cNvPr>
          <p:cNvSpPr/>
          <p:nvPr/>
        </p:nvSpPr>
        <p:spPr>
          <a:xfrm>
            <a:off x="418643" y="3839594"/>
            <a:ext cx="5240039" cy="10848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On the </a:t>
            </a:r>
            <a:r>
              <a:rPr lang="en-US" sz="1961" b="1">
                <a:solidFill>
                  <a:schemeClr val="tx1"/>
                </a:solidFill>
              </a:rPr>
              <a:t>Point-to-site configuration </a:t>
            </a:r>
            <a:r>
              <a:rPr lang="en-US" sz="1961">
                <a:solidFill>
                  <a:schemeClr val="tx1"/>
                </a:solidFill>
              </a:rPr>
              <a:t>page, in the </a:t>
            </a:r>
            <a:r>
              <a:rPr lang="en-US" sz="1961" b="1">
                <a:solidFill>
                  <a:schemeClr val="tx1"/>
                </a:solidFill>
              </a:rPr>
              <a:t>Address pool</a:t>
            </a:r>
            <a:r>
              <a:rPr lang="en-US" sz="1961">
                <a:solidFill>
                  <a:schemeClr val="tx1"/>
                </a:solidFill>
              </a:rPr>
              <a:t> box, add the private IP address range that you want to use</a:t>
            </a:r>
          </a:p>
        </p:txBody>
      </p:sp>
      <p:sp>
        <p:nvSpPr>
          <p:cNvPr id="15" name="Rectangle 14">
            <a:extLst>
              <a:ext uri="{FF2B5EF4-FFF2-40B4-BE49-F238E27FC236}">
                <a16:creationId xmlns:a16="http://schemas.microsoft.com/office/drawing/2014/main" id="{0E8B5F8F-1B54-47B6-BC1A-35E9E2B4DB20}"/>
              </a:ext>
            </a:extLst>
          </p:cNvPr>
          <p:cNvSpPr/>
          <p:nvPr/>
        </p:nvSpPr>
        <p:spPr>
          <a:xfrm>
            <a:off x="455995" y="5070092"/>
            <a:ext cx="5240039" cy="150607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spcBef>
                <a:spcPts val="1176"/>
              </a:spcBef>
            </a:pPr>
            <a:r>
              <a:rPr lang="en-US" sz="1961">
                <a:solidFill>
                  <a:schemeClr val="tx1"/>
                </a:solidFill>
              </a:rPr>
              <a:t>VPN clients dynamically receive an IP address from the range that you specify. The minimum subnet mask is 29 bit for active/passive and 28 bit for active/active configuration.</a:t>
            </a:r>
          </a:p>
        </p:txBody>
      </p:sp>
    </p:spTree>
    <p:extLst>
      <p:ext uri="{BB962C8B-B14F-4D97-AF65-F5344CB8AC3E}">
        <p14:creationId xmlns:p14="http://schemas.microsoft.com/office/powerpoint/2010/main" val="113474439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a:solidFill>
                  <a:schemeClr val="tx1"/>
                </a:solidFill>
              </a:rPr>
              <a:t>Summary – </a:t>
            </a:r>
            <a:r>
              <a:rPr lang="en-US" sz="2800"/>
              <a:t>Point-to-Site VPN Connections</a:t>
            </a:r>
            <a:endParaRPr lang="en-US">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758011F4-6ADA-4D30-97CD-2684C343A016}"/>
              </a:ext>
            </a:extLst>
          </p:cNvPr>
          <p:cNvSpPr txBox="1"/>
          <p:nvPr/>
        </p:nvSpPr>
        <p:spPr>
          <a:xfrm>
            <a:off x="4172422" y="2109460"/>
            <a:ext cx="7209452" cy="646331"/>
          </a:xfrm>
          <a:prstGeom prst="rect">
            <a:avLst/>
          </a:prstGeom>
          <a:noFill/>
        </p:spPr>
        <p:txBody>
          <a:bodyPr wrap="square">
            <a:spAutoFit/>
          </a:bodyPr>
          <a:lstStyle/>
          <a:p>
            <a:r>
              <a:rPr lang="en-US" dirty="0">
                <a:hlinkClick r:id="rId4"/>
              </a:rPr>
              <a:t>Connect to a VNet using P2S VPN &amp; certificate authentication: portal - Azure VPN Gateway | Microsoft Docs</a:t>
            </a:r>
            <a:endParaRPr lang="en-US" dirty="0"/>
          </a:p>
        </p:txBody>
      </p:sp>
      <p:sp>
        <p:nvSpPr>
          <p:cNvPr id="13" name="TextBox 12">
            <a:extLst>
              <a:ext uri="{FF2B5EF4-FFF2-40B4-BE49-F238E27FC236}">
                <a16:creationId xmlns:a16="http://schemas.microsoft.com/office/drawing/2014/main" id="{984DC5D9-3B34-45D5-BFA9-4C4DAB64812B}"/>
              </a:ext>
            </a:extLst>
          </p:cNvPr>
          <p:cNvSpPr txBox="1"/>
          <p:nvPr/>
        </p:nvSpPr>
        <p:spPr>
          <a:xfrm>
            <a:off x="4172422" y="2913030"/>
            <a:ext cx="7426020" cy="369332"/>
          </a:xfrm>
          <a:prstGeom prst="rect">
            <a:avLst/>
          </a:prstGeom>
          <a:noFill/>
        </p:spPr>
        <p:txBody>
          <a:bodyPr wrap="square">
            <a:spAutoFit/>
          </a:bodyPr>
          <a:lstStyle/>
          <a:p>
            <a:r>
              <a:rPr lang="en-US" dirty="0">
                <a:hlinkClick r:id="rId5"/>
              </a:rPr>
              <a:t>Configure an Always-On VPN tunnel - Azure VPN Gateway | Microsoft Docs</a:t>
            </a:r>
            <a:endParaRPr lang="en-US" dirty="0"/>
          </a:p>
        </p:txBody>
      </p:sp>
    </p:spTree>
    <p:extLst>
      <p:ext uri="{BB962C8B-B14F-4D97-AF65-F5344CB8AC3E}">
        <p14:creationId xmlns:p14="http://schemas.microsoft.com/office/powerpoint/2010/main" val="365526283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EB8582-2591-46F3-ADD8-28C26E449D0A}"/>
              </a:ext>
            </a:extLst>
          </p:cNvPr>
          <p:cNvSpPr>
            <a:spLocks noGrp="1"/>
          </p:cNvSpPr>
          <p:nvPr>
            <p:ph type="title"/>
          </p:nvPr>
        </p:nvSpPr>
        <p:spPr>
          <a:xfrm>
            <a:off x="585217" y="2930402"/>
            <a:ext cx="8892608" cy="997196"/>
          </a:xfrm>
        </p:spPr>
        <p:txBody>
          <a:bodyPr/>
          <a:lstStyle/>
          <a:p>
            <a:r>
              <a:rPr lang="en-US" dirty="0"/>
              <a:t>Lesson 05: </a:t>
            </a:r>
            <a:r>
              <a:rPr lang="en-US" sz="3600" dirty="0"/>
              <a:t>Connect remote resources by using Azure Virtual WANs</a:t>
            </a:r>
            <a:endParaRPr lang="en-US" dirty="0"/>
          </a:p>
        </p:txBody>
      </p:sp>
      <p:grpSp>
        <p:nvGrpSpPr>
          <p:cNvPr id="4" name="Group 3">
            <a:extLst>
              <a:ext uri="{FF2B5EF4-FFF2-40B4-BE49-F238E27FC236}">
                <a16:creationId xmlns:a16="http://schemas.microsoft.com/office/drawing/2014/main" id="{D7180BBD-B172-4DED-A44A-D29F20B86D11}"/>
              </a:ext>
              <a:ext uri="{C183D7F6-B498-43B3-948B-1728B52AA6E4}">
                <adec:decorative xmlns:adec="http://schemas.microsoft.com/office/drawing/2017/decorative" val="1"/>
              </a:ext>
            </a:extLst>
          </p:cNvPr>
          <p:cNvGrpSpPr/>
          <p:nvPr/>
        </p:nvGrpSpPr>
        <p:grpSpPr>
          <a:xfrm>
            <a:off x="10371693" y="3070379"/>
            <a:ext cx="717140" cy="717242"/>
            <a:chOff x="6229350" y="1441758"/>
            <a:chExt cx="717140" cy="717242"/>
          </a:xfrm>
        </p:grpSpPr>
        <p:grpSp>
          <p:nvGrpSpPr>
            <p:cNvPr id="5" name="Group 4">
              <a:extLst>
                <a:ext uri="{FF2B5EF4-FFF2-40B4-BE49-F238E27FC236}">
                  <a16:creationId xmlns:a16="http://schemas.microsoft.com/office/drawing/2014/main" id="{B96F2AA6-5B24-4283-BDD3-012FC98CD92A}"/>
                </a:ext>
              </a:extLst>
            </p:cNvPr>
            <p:cNvGrpSpPr/>
            <p:nvPr/>
          </p:nvGrpSpPr>
          <p:grpSpPr>
            <a:xfrm>
              <a:off x="6229350" y="1441758"/>
              <a:ext cx="717140" cy="717242"/>
              <a:chOff x="6229350" y="1441758"/>
              <a:chExt cx="717140" cy="717242"/>
            </a:xfrm>
          </p:grpSpPr>
          <p:sp>
            <p:nvSpPr>
              <p:cNvPr id="7" name="Freeform 5">
                <a:extLst>
                  <a:ext uri="{FF2B5EF4-FFF2-40B4-BE49-F238E27FC236}">
                    <a16:creationId xmlns:a16="http://schemas.microsoft.com/office/drawing/2014/main" id="{19F7B852-68BD-41CB-A019-95D21607DCB2}"/>
                  </a:ext>
                </a:extLst>
              </p:cNvPr>
              <p:cNvSpPr>
                <a:spLocks/>
              </p:cNvSpPr>
              <p:nvPr/>
            </p:nvSpPr>
            <p:spPr bwMode="auto">
              <a:xfrm>
                <a:off x="6229350" y="144175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A2E40F8-12A5-4A42-AAEE-C40931ECBBED}"/>
                  </a:ext>
                </a:extLst>
              </p:cNvPr>
              <p:cNvSpPr>
                <a:spLocks noEditPoints="1"/>
              </p:cNvSpPr>
              <p:nvPr/>
            </p:nvSpPr>
            <p:spPr bwMode="auto">
              <a:xfrm>
                <a:off x="6279248" y="149282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concentric arcs">
              <a:extLst>
                <a:ext uri="{FF2B5EF4-FFF2-40B4-BE49-F238E27FC236}">
                  <a16:creationId xmlns:a16="http://schemas.microsoft.com/office/drawing/2014/main" id="{C99DBCD9-C6B6-45B3-A03E-06FFA173B032}"/>
                </a:ext>
              </a:extLst>
            </p:cNvPr>
            <p:cNvPicPr>
              <a:picLocks noChangeAspect="1"/>
            </p:cNvPicPr>
            <p:nvPr/>
          </p:nvPicPr>
          <p:blipFill>
            <a:blip r:embed="rId2"/>
            <a:stretch>
              <a:fillRect/>
            </a:stretch>
          </p:blipFill>
          <p:spPr>
            <a:xfrm>
              <a:off x="6399474" y="1611934"/>
              <a:ext cx="376892" cy="376890"/>
            </a:xfrm>
            <a:prstGeom prst="rect">
              <a:avLst/>
            </a:prstGeom>
          </p:spPr>
        </p:pic>
      </p:grpSp>
    </p:spTree>
    <p:extLst>
      <p:ext uri="{BB962C8B-B14F-4D97-AF65-F5344CB8AC3E}">
        <p14:creationId xmlns:p14="http://schemas.microsoft.com/office/powerpoint/2010/main" val="221777498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Connect remote resources by using Azure Virtual WANs overview</a:t>
            </a:r>
          </a:p>
        </p:txBody>
      </p:sp>
      <p:sp>
        <p:nvSpPr>
          <p:cNvPr id="6" name="Text Placeholder 5"/>
          <p:cNvSpPr>
            <a:spLocks noGrp="1"/>
          </p:cNvSpPr>
          <p:nvPr>
            <p:ph type="body" sz="quarter" idx="11"/>
          </p:nvPr>
        </p:nvSpPr>
        <p:spPr/>
        <p:txBody>
          <a:bodyPr/>
          <a:lstStyle/>
          <a:p>
            <a:pPr lvl="1"/>
            <a:r>
              <a:rPr lang="en-US" dirty="0"/>
              <a:t>What is Azure Virtual WAN?</a:t>
            </a:r>
          </a:p>
        </p:txBody>
      </p:sp>
      <p:sp>
        <p:nvSpPr>
          <p:cNvPr id="2" name="Text Placeholder 1"/>
          <p:cNvSpPr>
            <a:spLocks noGrp="1"/>
          </p:cNvSpPr>
          <p:nvPr>
            <p:ph type="body" sz="quarter" idx="15"/>
          </p:nvPr>
        </p:nvSpPr>
        <p:spPr/>
        <p:txBody>
          <a:bodyPr/>
          <a:lstStyle/>
          <a:p>
            <a:pPr lvl="1"/>
            <a:r>
              <a:rPr lang="en-US" dirty="0"/>
              <a:t>Choose a Virtual WAN SKU </a:t>
            </a:r>
          </a:p>
        </p:txBody>
      </p:sp>
      <p:sp>
        <p:nvSpPr>
          <p:cNvPr id="3" name="Text Placeholder 2"/>
          <p:cNvSpPr>
            <a:spLocks noGrp="1"/>
          </p:cNvSpPr>
          <p:nvPr>
            <p:ph type="body" sz="quarter" idx="17"/>
          </p:nvPr>
        </p:nvSpPr>
        <p:spPr/>
        <p:txBody>
          <a:bodyPr/>
          <a:lstStyle/>
          <a:p>
            <a:pPr lvl="1"/>
            <a:r>
              <a:rPr lang="en-US" dirty="0"/>
              <a:t>Hub private address space</a:t>
            </a:r>
          </a:p>
        </p:txBody>
      </p:sp>
      <p:sp>
        <p:nvSpPr>
          <p:cNvPr id="4" name="Text Placeholder 3"/>
          <p:cNvSpPr>
            <a:spLocks noGrp="1"/>
          </p:cNvSpPr>
          <p:nvPr>
            <p:ph type="body" sz="quarter" idx="19"/>
          </p:nvPr>
        </p:nvSpPr>
        <p:spPr/>
        <p:txBody>
          <a:bodyPr/>
          <a:lstStyle/>
          <a:p>
            <a:pPr lvl="1"/>
            <a:r>
              <a:rPr lang="en-US" dirty="0"/>
              <a:t>Connect cross-tenant </a:t>
            </a:r>
            <a:r>
              <a:rPr lang="en-US" dirty="0" err="1"/>
              <a:t>VNets</a:t>
            </a:r>
            <a:r>
              <a:rPr lang="en-US" dirty="0"/>
              <a:t> to a virtual WAN hub </a:t>
            </a:r>
          </a:p>
        </p:txBody>
      </p:sp>
      <p:sp>
        <p:nvSpPr>
          <p:cNvPr id="5" name="Text Placeholder 4"/>
          <p:cNvSpPr>
            <a:spLocks noGrp="1"/>
          </p:cNvSpPr>
          <p:nvPr>
            <p:ph type="body" sz="quarter" idx="21"/>
          </p:nvPr>
        </p:nvSpPr>
        <p:spPr/>
        <p:txBody>
          <a:bodyPr/>
          <a:lstStyle/>
          <a:p>
            <a:pPr lvl="1"/>
            <a:r>
              <a:rPr lang="en-US" dirty="0"/>
              <a:t>Virtual Hub routing </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Demonstration </a:t>
            </a:r>
          </a:p>
        </p:txBody>
      </p:sp>
      <p:sp>
        <p:nvSpPr>
          <p:cNvPr id="32" name="Text Placeholder 31">
            <a:extLst>
              <a:ext uri="{FF2B5EF4-FFF2-40B4-BE49-F238E27FC236}">
                <a16:creationId xmlns:a16="http://schemas.microsoft.com/office/drawing/2014/main" id="{0EABA8D5-0A1B-4505-8E5A-DF6F2BF63FC3}"/>
              </a:ext>
            </a:extLst>
          </p:cNvPr>
          <p:cNvSpPr>
            <a:spLocks noGrp="1"/>
          </p:cNvSpPr>
          <p:nvPr>
            <p:ph type="body" sz="quarter" idx="23"/>
          </p:nvPr>
        </p:nvSpPr>
        <p:spPr/>
        <p:txBody>
          <a:bodyPr/>
          <a:lstStyle/>
          <a:p>
            <a:pPr lvl="1"/>
            <a:r>
              <a:rPr lang="en-US" dirty="0"/>
              <a:t>Review</a:t>
            </a:r>
          </a:p>
        </p:txBody>
      </p:sp>
      <p:grpSp>
        <p:nvGrpSpPr>
          <p:cNvPr id="15" name="Group 14">
            <a:extLst>
              <a:ext uri="{FF2B5EF4-FFF2-40B4-BE49-F238E27FC236}">
                <a16:creationId xmlns:a16="http://schemas.microsoft.com/office/drawing/2014/main" id="{3EBC9BBB-968B-4A06-86A2-9CB7E9C5273B}"/>
              </a:ext>
              <a:ext uri="{C183D7F6-B498-43B3-948B-1728B52AA6E4}">
                <adec:decorative xmlns:adec="http://schemas.microsoft.com/office/drawing/2017/decorative" val="1"/>
              </a:ext>
            </a:extLst>
          </p:cNvPr>
          <p:cNvGrpSpPr/>
          <p:nvPr/>
        </p:nvGrpSpPr>
        <p:grpSpPr>
          <a:xfrm>
            <a:off x="3088645" y="480082"/>
            <a:ext cx="648329" cy="5024333"/>
            <a:chOff x="3088645" y="480082"/>
            <a:chExt cx="648329" cy="5024333"/>
          </a:xfrm>
        </p:grpSpPr>
        <p:grpSp>
          <p:nvGrpSpPr>
            <p:cNvPr id="25" name="Group 24">
              <a:extLst>
                <a:ext uri="{FF2B5EF4-FFF2-40B4-BE49-F238E27FC236}">
                  <a16:creationId xmlns:a16="http://schemas.microsoft.com/office/drawing/2014/main" id="{22D9ADD6-F6B0-4B5D-B1E7-4FAE29F3C87F}"/>
                </a:ext>
              </a:extLst>
            </p:cNvPr>
            <p:cNvGrpSpPr/>
            <p:nvPr/>
          </p:nvGrpSpPr>
          <p:grpSpPr>
            <a:xfrm>
              <a:off x="3088645" y="480082"/>
              <a:ext cx="648328" cy="648421"/>
              <a:chOff x="3088645" y="480082"/>
              <a:chExt cx="648328" cy="648421"/>
            </a:xfrm>
          </p:grpSpPr>
          <p:grpSp>
            <p:nvGrpSpPr>
              <p:cNvPr id="23" name="Group 22">
                <a:extLst>
                  <a:ext uri="{FF2B5EF4-FFF2-40B4-BE49-F238E27FC236}">
                    <a16:creationId xmlns:a16="http://schemas.microsoft.com/office/drawing/2014/main" id="{487252BB-E014-404B-A18B-AE3FFC133111}"/>
                  </a:ext>
                </a:extLst>
              </p:cNvPr>
              <p:cNvGrpSpPr/>
              <p:nvPr/>
            </p:nvGrpSpPr>
            <p:grpSpPr>
              <a:xfrm>
                <a:off x="3088645" y="480082"/>
                <a:ext cx="648328" cy="648421"/>
                <a:chOff x="3088645" y="480082"/>
                <a:chExt cx="648328" cy="648421"/>
              </a:xfrm>
            </p:grpSpPr>
            <p:sp>
              <p:nvSpPr>
                <p:cNvPr id="140" name="Freeform 5">
                  <a:extLst>
                    <a:ext uri="{FF2B5EF4-FFF2-40B4-BE49-F238E27FC236}">
                      <a16:creationId xmlns:a16="http://schemas.microsoft.com/office/drawing/2014/main" id="{DE8AF025-2E98-4B44-A38C-BC241F037DD7}"/>
                    </a:ext>
                  </a:extLst>
                </p:cNvPr>
                <p:cNvSpPr>
                  <a:spLocks/>
                </p:cNvSpPr>
                <p:nvPr/>
              </p:nvSpPr>
              <p:spPr bwMode="auto">
                <a:xfrm>
                  <a:off x="3088645" y="480082"/>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41" name="Freeform 6">
                  <a:extLst>
                    <a:ext uri="{FF2B5EF4-FFF2-40B4-BE49-F238E27FC236}">
                      <a16:creationId xmlns:a16="http://schemas.microsoft.com/office/drawing/2014/main" id="{7A727523-B56D-47D9-AA13-3FECAE967935}"/>
                    </a:ext>
                  </a:extLst>
                </p:cNvPr>
                <p:cNvSpPr>
                  <a:spLocks noEditPoints="1"/>
                </p:cNvSpPr>
                <p:nvPr/>
              </p:nvSpPr>
              <p:spPr bwMode="auto">
                <a:xfrm>
                  <a:off x="3133231" y="525199"/>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8506289D-CBBD-4B48-A547-C4E511F8A6A5}"/>
                  </a:ext>
                </a:extLst>
              </p:cNvPr>
              <p:cNvPicPr>
                <a:picLocks noChangeAspect="1"/>
              </p:cNvPicPr>
              <p:nvPr/>
            </p:nvPicPr>
            <p:blipFill>
              <a:blip r:embed="rId3"/>
              <a:stretch>
                <a:fillRect/>
              </a:stretch>
            </p:blipFill>
            <p:spPr>
              <a:xfrm>
                <a:off x="3241436" y="633445"/>
                <a:ext cx="343794" cy="343794"/>
              </a:xfrm>
              <a:prstGeom prst="rect">
                <a:avLst/>
              </a:prstGeom>
            </p:spPr>
          </p:pic>
        </p:grpSp>
        <p:grpSp>
          <p:nvGrpSpPr>
            <p:cNvPr id="26" name="Group 25">
              <a:extLst>
                <a:ext uri="{FF2B5EF4-FFF2-40B4-BE49-F238E27FC236}">
                  <a16:creationId xmlns:a16="http://schemas.microsoft.com/office/drawing/2014/main" id="{1AD2D33C-6D93-452C-8019-D0903D89CC87}"/>
                </a:ext>
              </a:extLst>
            </p:cNvPr>
            <p:cNvGrpSpPr/>
            <p:nvPr/>
          </p:nvGrpSpPr>
          <p:grpSpPr>
            <a:xfrm>
              <a:off x="3088645" y="1209401"/>
              <a:ext cx="648328" cy="648421"/>
              <a:chOff x="3088645" y="1209401"/>
              <a:chExt cx="648328" cy="648421"/>
            </a:xfrm>
          </p:grpSpPr>
          <p:grpSp>
            <p:nvGrpSpPr>
              <p:cNvPr id="24" name="Group 23">
                <a:extLst>
                  <a:ext uri="{FF2B5EF4-FFF2-40B4-BE49-F238E27FC236}">
                    <a16:creationId xmlns:a16="http://schemas.microsoft.com/office/drawing/2014/main" id="{0D57C996-6806-4E9F-834B-818FEDEA0E03}"/>
                  </a:ext>
                </a:extLst>
              </p:cNvPr>
              <p:cNvGrpSpPr/>
              <p:nvPr/>
            </p:nvGrpSpPr>
            <p:grpSpPr>
              <a:xfrm>
                <a:off x="3088645" y="1209401"/>
                <a:ext cx="648328" cy="648421"/>
                <a:chOff x="3088645" y="1209401"/>
                <a:chExt cx="648328" cy="648421"/>
              </a:xfrm>
            </p:grpSpPr>
            <p:sp>
              <p:nvSpPr>
                <p:cNvPr id="153" name="Freeform 5">
                  <a:extLst>
                    <a:ext uri="{FF2B5EF4-FFF2-40B4-BE49-F238E27FC236}">
                      <a16:creationId xmlns:a16="http://schemas.microsoft.com/office/drawing/2014/main" id="{46ED99BD-CDF6-4126-AC63-CC6947FF46CB}"/>
                    </a:ext>
                  </a:extLst>
                </p:cNvPr>
                <p:cNvSpPr>
                  <a:spLocks/>
                </p:cNvSpPr>
                <p:nvPr/>
              </p:nvSpPr>
              <p:spPr bwMode="auto">
                <a:xfrm>
                  <a:off x="3088645" y="1209401"/>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54" name="Freeform 6">
                  <a:extLst>
                    <a:ext uri="{FF2B5EF4-FFF2-40B4-BE49-F238E27FC236}">
                      <a16:creationId xmlns:a16="http://schemas.microsoft.com/office/drawing/2014/main" id="{AB179D2D-51C2-4D79-8395-7BB633939BA6}"/>
                    </a:ext>
                  </a:extLst>
                </p:cNvPr>
                <p:cNvSpPr>
                  <a:spLocks noEditPoints="1"/>
                </p:cNvSpPr>
                <p:nvPr/>
              </p:nvSpPr>
              <p:spPr bwMode="auto">
                <a:xfrm>
                  <a:off x="3133231" y="1254518"/>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DECEC8E4-1C93-4D14-8D9C-B9E0F9962EFD}"/>
                  </a:ext>
                </a:extLst>
              </p:cNvPr>
              <p:cNvPicPr>
                <a:picLocks noChangeAspect="1"/>
              </p:cNvPicPr>
              <p:nvPr/>
            </p:nvPicPr>
            <p:blipFill>
              <a:blip r:embed="rId4"/>
              <a:stretch>
                <a:fillRect/>
              </a:stretch>
            </p:blipFill>
            <p:spPr>
              <a:xfrm>
                <a:off x="3240912" y="1361714"/>
                <a:ext cx="343794" cy="343794"/>
              </a:xfrm>
              <a:prstGeom prst="rect">
                <a:avLst/>
              </a:prstGeom>
            </p:spPr>
          </p:pic>
        </p:grpSp>
        <p:grpSp>
          <p:nvGrpSpPr>
            <p:cNvPr id="29" name="Group 28">
              <a:extLst>
                <a:ext uri="{FF2B5EF4-FFF2-40B4-BE49-F238E27FC236}">
                  <a16:creationId xmlns:a16="http://schemas.microsoft.com/office/drawing/2014/main" id="{5F3A4ACE-4E4D-472B-AE1D-23E2E88B8BBE}"/>
                </a:ext>
              </a:extLst>
            </p:cNvPr>
            <p:cNvGrpSpPr/>
            <p:nvPr/>
          </p:nvGrpSpPr>
          <p:grpSpPr>
            <a:xfrm>
              <a:off x="3088645" y="1938720"/>
              <a:ext cx="648328" cy="648421"/>
              <a:chOff x="3088645" y="1938720"/>
              <a:chExt cx="648328" cy="648421"/>
            </a:xfrm>
          </p:grpSpPr>
          <p:grpSp>
            <p:nvGrpSpPr>
              <p:cNvPr id="21" name="Group 20">
                <a:extLst>
                  <a:ext uri="{FF2B5EF4-FFF2-40B4-BE49-F238E27FC236}">
                    <a16:creationId xmlns:a16="http://schemas.microsoft.com/office/drawing/2014/main" id="{1C4A1083-D448-46B3-93FF-8AD131110189}"/>
                  </a:ext>
                </a:extLst>
              </p:cNvPr>
              <p:cNvGrpSpPr/>
              <p:nvPr/>
            </p:nvGrpSpPr>
            <p:grpSpPr>
              <a:xfrm>
                <a:off x="3088645" y="1938720"/>
                <a:ext cx="648328" cy="648421"/>
                <a:chOff x="3088645" y="1938720"/>
                <a:chExt cx="648328" cy="648421"/>
              </a:xfrm>
            </p:grpSpPr>
            <p:sp>
              <p:nvSpPr>
                <p:cNvPr id="160" name="Freeform 5">
                  <a:extLst>
                    <a:ext uri="{FF2B5EF4-FFF2-40B4-BE49-F238E27FC236}">
                      <a16:creationId xmlns:a16="http://schemas.microsoft.com/office/drawing/2014/main" id="{522F9478-7E82-4490-8F10-BE0EDAB7924A}"/>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61" name="Freeform 6">
                  <a:extLst>
                    <a:ext uri="{FF2B5EF4-FFF2-40B4-BE49-F238E27FC236}">
                      <a16:creationId xmlns:a16="http://schemas.microsoft.com/office/drawing/2014/main" id="{849B0907-1A59-46CF-8A32-AAEA6C32F03E}"/>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C6D1CD6F-A4C9-4FB9-9845-6349BC117CE4}"/>
                  </a:ext>
                </a:extLst>
              </p:cNvPr>
              <p:cNvPicPr>
                <a:picLocks noChangeAspect="1"/>
              </p:cNvPicPr>
              <p:nvPr/>
            </p:nvPicPr>
            <p:blipFill>
              <a:blip r:embed="rId5"/>
              <a:stretch>
                <a:fillRect/>
              </a:stretch>
            </p:blipFill>
            <p:spPr>
              <a:xfrm>
                <a:off x="3240912" y="2091033"/>
                <a:ext cx="343794" cy="343794"/>
              </a:xfrm>
              <a:prstGeom prst="rect">
                <a:avLst/>
              </a:prstGeom>
            </p:spPr>
          </p:pic>
        </p:grpSp>
        <p:grpSp>
          <p:nvGrpSpPr>
            <p:cNvPr id="30" name="Group 29">
              <a:extLst>
                <a:ext uri="{FF2B5EF4-FFF2-40B4-BE49-F238E27FC236}">
                  <a16:creationId xmlns:a16="http://schemas.microsoft.com/office/drawing/2014/main" id="{386BC80C-13C3-48C1-B8A0-CB1818C4B28B}"/>
                </a:ext>
              </a:extLst>
            </p:cNvPr>
            <p:cNvGrpSpPr/>
            <p:nvPr/>
          </p:nvGrpSpPr>
          <p:grpSpPr>
            <a:xfrm>
              <a:off x="3088645" y="2668039"/>
              <a:ext cx="648328" cy="648421"/>
              <a:chOff x="3088645" y="2668039"/>
              <a:chExt cx="648328" cy="648421"/>
            </a:xfrm>
          </p:grpSpPr>
          <p:grpSp>
            <p:nvGrpSpPr>
              <p:cNvPr id="28" name="Group 27">
                <a:extLst>
                  <a:ext uri="{FF2B5EF4-FFF2-40B4-BE49-F238E27FC236}">
                    <a16:creationId xmlns:a16="http://schemas.microsoft.com/office/drawing/2014/main" id="{90B6DB06-A21C-4370-AA75-9444BE3ACCB9}"/>
                  </a:ext>
                </a:extLst>
              </p:cNvPr>
              <p:cNvGrpSpPr/>
              <p:nvPr/>
            </p:nvGrpSpPr>
            <p:grpSpPr>
              <a:xfrm>
                <a:off x="3088645" y="2668039"/>
                <a:ext cx="648328" cy="648421"/>
                <a:chOff x="3088645" y="2668039"/>
                <a:chExt cx="648328" cy="648421"/>
              </a:xfrm>
            </p:grpSpPr>
            <p:sp>
              <p:nvSpPr>
                <p:cNvPr id="173" name="Freeform 5">
                  <a:extLst>
                    <a:ext uri="{FF2B5EF4-FFF2-40B4-BE49-F238E27FC236}">
                      <a16:creationId xmlns:a16="http://schemas.microsoft.com/office/drawing/2014/main" id="{3D4F9CBC-E9AC-4281-96C3-BFB5FEE97E7E}"/>
                    </a:ext>
                  </a:extLst>
                </p:cNvPr>
                <p:cNvSpPr>
                  <a:spLocks/>
                </p:cNvSpPr>
                <p:nvPr/>
              </p:nvSpPr>
              <p:spPr bwMode="auto">
                <a:xfrm>
                  <a:off x="3088645" y="2668039"/>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74" name="Freeform 6">
                  <a:extLst>
                    <a:ext uri="{FF2B5EF4-FFF2-40B4-BE49-F238E27FC236}">
                      <a16:creationId xmlns:a16="http://schemas.microsoft.com/office/drawing/2014/main" id="{DDA8F4C3-1DE2-4CF2-B4A6-08572A50AD69}"/>
                    </a:ext>
                  </a:extLst>
                </p:cNvPr>
                <p:cNvSpPr>
                  <a:spLocks noEditPoints="1"/>
                </p:cNvSpPr>
                <p:nvPr/>
              </p:nvSpPr>
              <p:spPr bwMode="auto">
                <a:xfrm>
                  <a:off x="3133231" y="2713156"/>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F2CCC079-C0AA-4EB6-B85B-1E14898C8737}"/>
                  </a:ext>
                </a:extLst>
              </p:cNvPr>
              <p:cNvPicPr>
                <a:picLocks noChangeAspect="1"/>
              </p:cNvPicPr>
              <p:nvPr/>
            </p:nvPicPr>
            <p:blipFill>
              <a:blip r:embed="rId6"/>
              <a:stretch>
                <a:fillRect/>
              </a:stretch>
            </p:blipFill>
            <p:spPr>
              <a:xfrm>
                <a:off x="3289214" y="2820352"/>
                <a:ext cx="247191" cy="343794"/>
              </a:xfrm>
              <a:prstGeom prst="rect">
                <a:avLst/>
              </a:prstGeom>
            </p:spPr>
          </p:pic>
        </p:grpSp>
        <p:grpSp>
          <p:nvGrpSpPr>
            <p:cNvPr id="31" name="Group 30">
              <a:extLst>
                <a:ext uri="{FF2B5EF4-FFF2-40B4-BE49-F238E27FC236}">
                  <a16:creationId xmlns:a16="http://schemas.microsoft.com/office/drawing/2014/main" id="{7D80C3C3-9306-46CE-AEC2-3E77179C221C}"/>
                </a:ext>
              </a:extLst>
            </p:cNvPr>
            <p:cNvGrpSpPr/>
            <p:nvPr/>
          </p:nvGrpSpPr>
          <p:grpSpPr>
            <a:xfrm>
              <a:off x="3088645" y="3397358"/>
              <a:ext cx="648328" cy="648421"/>
              <a:chOff x="3088645" y="3397358"/>
              <a:chExt cx="648328" cy="648421"/>
            </a:xfrm>
          </p:grpSpPr>
          <p:grpSp>
            <p:nvGrpSpPr>
              <p:cNvPr id="19" name="Group 18">
                <a:extLst>
                  <a:ext uri="{FF2B5EF4-FFF2-40B4-BE49-F238E27FC236}">
                    <a16:creationId xmlns:a16="http://schemas.microsoft.com/office/drawing/2014/main" id="{95117CE3-0E9B-4447-A3C8-E159CB3F92E5}"/>
                  </a:ext>
                </a:extLst>
              </p:cNvPr>
              <p:cNvGrpSpPr/>
              <p:nvPr/>
            </p:nvGrpSpPr>
            <p:grpSpPr>
              <a:xfrm>
                <a:off x="3088645" y="3397358"/>
                <a:ext cx="648328" cy="648421"/>
                <a:chOff x="3088645" y="3397358"/>
                <a:chExt cx="648328" cy="648421"/>
              </a:xfrm>
            </p:grpSpPr>
            <p:sp>
              <p:nvSpPr>
                <p:cNvPr id="107" name="Freeform 5">
                  <a:extLst>
                    <a:ext uri="{FF2B5EF4-FFF2-40B4-BE49-F238E27FC236}">
                      <a16:creationId xmlns:a16="http://schemas.microsoft.com/office/drawing/2014/main" id="{9474CA11-8D78-4EC6-A276-679EF16D3D96}"/>
                    </a:ext>
                  </a:extLst>
                </p:cNvPr>
                <p:cNvSpPr>
                  <a:spLocks/>
                </p:cNvSpPr>
                <p:nvPr/>
              </p:nvSpPr>
              <p:spPr bwMode="auto">
                <a:xfrm>
                  <a:off x="3088645" y="3397358"/>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08" name="Freeform 6">
                  <a:extLst>
                    <a:ext uri="{FF2B5EF4-FFF2-40B4-BE49-F238E27FC236}">
                      <a16:creationId xmlns:a16="http://schemas.microsoft.com/office/drawing/2014/main" id="{9B2D8782-888C-4CF5-9681-D1A1887683D0}"/>
                    </a:ext>
                  </a:extLst>
                </p:cNvPr>
                <p:cNvSpPr>
                  <a:spLocks noEditPoints="1"/>
                </p:cNvSpPr>
                <p:nvPr/>
              </p:nvSpPr>
              <p:spPr bwMode="auto">
                <a:xfrm>
                  <a:off x="3133231" y="3442475"/>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490EA50-A693-4AC6-84FD-4D2DB9090CBD}"/>
                  </a:ext>
                </a:extLst>
              </p:cNvPr>
              <p:cNvPicPr>
                <a:picLocks noChangeAspect="1"/>
              </p:cNvPicPr>
              <p:nvPr/>
            </p:nvPicPr>
            <p:blipFill>
              <a:blip r:embed="rId7"/>
              <a:stretch>
                <a:fillRect/>
              </a:stretch>
            </p:blipFill>
            <p:spPr>
              <a:xfrm>
                <a:off x="3243943" y="3594850"/>
                <a:ext cx="337732" cy="253437"/>
              </a:xfrm>
              <a:prstGeom prst="rect">
                <a:avLst/>
              </a:prstGeom>
            </p:spPr>
          </p:pic>
        </p:grpSp>
        <p:grpSp>
          <p:nvGrpSpPr>
            <p:cNvPr id="33" name="Group 32">
              <a:extLst>
                <a:ext uri="{FF2B5EF4-FFF2-40B4-BE49-F238E27FC236}">
                  <a16:creationId xmlns:a16="http://schemas.microsoft.com/office/drawing/2014/main" id="{90917E78-AD9A-4BD2-A0DE-1468FBEFD828}"/>
                </a:ext>
              </a:extLst>
            </p:cNvPr>
            <p:cNvGrpSpPr/>
            <p:nvPr/>
          </p:nvGrpSpPr>
          <p:grpSpPr>
            <a:xfrm>
              <a:off x="3088645" y="4126677"/>
              <a:ext cx="648328" cy="648421"/>
              <a:chOff x="3088645" y="4126677"/>
              <a:chExt cx="648328" cy="648421"/>
            </a:xfrm>
          </p:grpSpPr>
          <p:grpSp>
            <p:nvGrpSpPr>
              <p:cNvPr id="18" name="Group 17">
                <a:extLst>
                  <a:ext uri="{FF2B5EF4-FFF2-40B4-BE49-F238E27FC236}">
                    <a16:creationId xmlns:a16="http://schemas.microsoft.com/office/drawing/2014/main" id="{5D3BD2C7-2A7D-4F86-9D6E-B86CB2DBFE6A}"/>
                  </a:ext>
                </a:extLst>
              </p:cNvPr>
              <p:cNvGrpSpPr/>
              <p:nvPr/>
            </p:nvGrpSpPr>
            <p:grpSpPr>
              <a:xfrm>
                <a:off x="3088645" y="4126677"/>
                <a:ext cx="648328" cy="648421"/>
                <a:chOff x="3088645" y="4126677"/>
                <a:chExt cx="648328" cy="648421"/>
              </a:xfrm>
            </p:grpSpPr>
            <p:sp>
              <p:nvSpPr>
                <p:cNvPr id="133" name="Freeform 5">
                  <a:extLst>
                    <a:ext uri="{FF2B5EF4-FFF2-40B4-BE49-F238E27FC236}">
                      <a16:creationId xmlns:a16="http://schemas.microsoft.com/office/drawing/2014/main" id="{61B7FE4E-A54C-4AB3-B855-6A86D033CE0F}"/>
                    </a:ext>
                  </a:extLst>
                </p:cNvPr>
                <p:cNvSpPr>
                  <a:spLocks/>
                </p:cNvSpPr>
                <p:nvPr/>
              </p:nvSpPr>
              <p:spPr bwMode="auto">
                <a:xfrm>
                  <a:off x="3088645" y="4126677"/>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134" name="Freeform 6">
                  <a:extLst>
                    <a:ext uri="{FF2B5EF4-FFF2-40B4-BE49-F238E27FC236}">
                      <a16:creationId xmlns:a16="http://schemas.microsoft.com/office/drawing/2014/main" id="{212CD6A7-0C2A-4CB7-B2D0-E7E7F037253C}"/>
                    </a:ext>
                  </a:extLst>
                </p:cNvPr>
                <p:cNvSpPr>
                  <a:spLocks noEditPoints="1"/>
                </p:cNvSpPr>
                <p:nvPr/>
              </p:nvSpPr>
              <p:spPr bwMode="auto">
                <a:xfrm>
                  <a:off x="3133231" y="4171794"/>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AA290B3-ADDF-431A-9250-5322DBA77ED6}"/>
                  </a:ext>
                </a:extLst>
              </p:cNvPr>
              <p:cNvPicPr>
                <a:picLocks noChangeAspect="1"/>
              </p:cNvPicPr>
              <p:nvPr/>
            </p:nvPicPr>
            <p:blipFill>
              <a:blip r:embed="rId8"/>
              <a:stretch>
                <a:fillRect/>
              </a:stretch>
            </p:blipFill>
            <p:spPr>
              <a:xfrm>
                <a:off x="3241292" y="4279370"/>
                <a:ext cx="343035" cy="343035"/>
              </a:xfrm>
              <a:prstGeom prst="rect">
                <a:avLst/>
              </a:prstGeom>
            </p:spPr>
          </p:pic>
        </p:grpSp>
        <p:grpSp>
          <p:nvGrpSpPr>
            <p:cNvPr id="34" name="Group 33">
              <a:extLst>
                <a:ext uri="{FF2B5EF4-FFF2-40B4-BE49-F238E27FC236}">
                  <a16:creationId xmlns:a16="http://schemas.microsoft.com/office/drawing/2014/main" id="{AC684AC9-6518-4DC6-A1AA-30095D06C456}"/>
                </a:ext>
              </a:extLst>
            </p:cNvPr>
            <p:cNvGrpSpPr/>
            <p:nvPr/>
          </p:nvGrpSpPr>
          <p:grpSpPr>
            <a:xfrm>
              <a:off x="3088645" y="4855994"/>
              <a:ext cx="648329" cy="648421"/>
              <a:chOff x="3088645" y="4855994"/>
              <a:chExt cx="648329" cy="648421"/>
            </a:xfrm>
          </p:grpSpPr>
          <p:grpSp>
            <p:nvGrpSpPr>
              <p:cNvPr id="16" name="Group 15">
                <a:extLst>
                  <a:ext uri="{FF2B5EF4-FFF2-40B4-BE49-F238E27FC236}">
                    <a16:creationId xmlns:a16="http://schemas.microsoft.com/office/drawing/2014/main" id="{3F7D0CAC-211F-459F-B1EB-52595A1A6323}"/>
                  </a:ext>
                </a:extLst>
              </p:cNvPr>
              <p:cNvGrpSpPr/>
              <p:nvPr/>
            </p:nvGrpSpPr>
            <p:grpSpPr>
              <a:xfrm>
                <a:off x="3088645" y="4855994"/>
                <a:ext cx="648329" cy="648421"/>
                <a:chOff x="3088645" y="4855994"/>
                <a:chExt cx="648329" cy="648421"/>
              </a:xfrm>
            </p:grpSpPr>
            <p:sp>
              <p:nvSpPr>
                <p:cNvPr id="94" name="Freeform 5">
                  <a:extLst>
                    <a:ext uri="{FF2B5EF4-FFF2-40B4-BE49-F238E27FC236}">
                      <a16:creationId xmlns:a16="http://schemas.microsoft.com/office/drawing/2014/main" id="{2B5E6A94-C6D5-42AF-B89B-310056DC042A}"/>
                    </a:ext>
                  </a:extLst>
                </p:cNvPr>
                <p:cNvSpPr>
                  <a:spLocks/>
                </p:cNvSpPr>
                <p:nvPr/>
              </p:nvSpPr>
              <p:spPr bwMode="auto">
                <a:xfrm>
                  <a:off x="3088645" y="485599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1D0893B1-8F26-4D9A-AEE0-0CF8243D6CB2}"/>
                    </a:ext>
                  </a:extLst>
                </p:cNvPr>
                <p:cNvSpPr>
                  <a:spLocks noEditPoints="1"/>
                </p:cNvSpPr>
                <p:nvPr/>
              </p:nvSpPr>
              <p:spPr bwMode="auto">
                <a:xfrm>
                  <a:off x="3133230" y="4901111"/>
                  <a:ext cx="559158"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4" name="Picture 13" descr="Icon of a screen with a square enclosed by outward pointing chevrons on left and right">
                <a:extLst>
                  <a:ext uri="{FF2B5EF4-FFF2-40B4-BE49-F238E27FC236}">
                    <a16:creationId xmlns:a16="http://schemas.microsoft.com/office/drawing/2014/main" id="{A0B80851-ACFB-44ED-90C5-B1BDCD71114F}"/>
                  </a:ext>
                </a:extLst>
              </p:cNvPr>
              <p:cNvPicPr>
                <a:picLocks noChangeAspect="1"/>
              </p:cNvPicPr>
              <p:nvPr/>
            </p:nvPicPr>
            <p:blipFill>
              <a:blip r:embed="rId9"/>
              <a:stretch>
                <a:fillRect/>
              </a:stretch>
            </p:blipFill>
            <p:spPr>
              <a:xfrm>
                <a:off x="3231869" y="5044425"/>
                <a:ext cx="361881" cy="271559"/>
              </a:xfrm>
              <a:prstGeom prst="rect">
                <a:avLst/>
              </a:prstGeom>
            </p:spPr>
          </p:pic>
        </p:grpSp>
      </p:grpSp>
    </p:spTree>
    <p:extLst>
      <p:ext uri="{BB962C8B-B14F-4D97-AF65-F5344CB8AC3E}">
        <p14:creationId xmlns:p14="http://schemas.microsoft.com/office/powerpoint/2010/main" val="307521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7814-42E4-4CF8-AFEE-9DDE54BE572B}"/>
              </a:ext>
            </a:extLst>
          </p:cNvPr>
          <p:cNvSpPr>
            <a:spLocks noGrp="1"/>
          </p:cNvSpPr>
          <p:nvPr>
            <p:ph type="title"/>
          </p:nvPr>
        </p:nvSpPr>
        <p:spPr/>
        <p:txBody>
          <a:bodyPr/>
          <a:lstStyle/>
          <a:p>
            <a:pPr defTabSz="435743">
              <a:spcBef>
                <a:spcPct val="0"/>
              </a:spcBef>
              <a:spcAft>
                <a:spcPct val="35000"/>
              </a:spcAft>
            </a:pPr>
            <a:r>
              <a:rPr lang="en-US" sz="2800" dirty="0">
                <a:solidFill>
                  <a:schemeClr val="tx1"/>
                </a:solidFill>
              </a:rPr>
              <a:t>What is Azure Virtual WAN?</a:t>
            </a:r>
          </a:p>
        </p:txBody>
      </p:sp>
      <p:sp>
        <p:nvSpPr>
          <p:cNvPr id="7" name="Rectangle 6">
            <a:extLst>
              <a:ext uri="{FF2B5EF4-FFF2-40B4-BE49-F238E27FC236}">
                <a16:creationId xmlns:a16="http://schemas.microsoft.com/office/drawing/2014/main" id="{C74617C4-A1E9-4D26-9756-9130D2B3381A}"/>
              </a:ext>
              <a:ext uri="{C183D7F6-B498-43B3-948B-1728B52AA6E4}">
                <adec:decorative xmlns:adec="http://schemas.microsoft.com/office/drawing/2017/decorative" val="0"/>
              </a:ext>
            </a:extLst>
          </p:cNvPr>
          <p:cNvSpPr/>
          <p:nvPr/>
        </p:nvSpPr>
        <p:spPr bwMode="auto">
          <a:xfrm>
            <a:off x="424867" y="1169263"/>
            <a:ext cx="4903881" cy="81249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Brings together S2S, P2S, and ExpressRoute</a:t>
            </a:r>
          </a:p>
        </p:txBody>
      </p:sp>
      <p:sp>
        <p:nvSpPr>
          <p:cNvPr id="8" name="Rectangle 7">
            <a:extLst>
              <a:ext uri="{FF2B5EF4-FFF2-40B4-BE49-F238E27FC236}">
                <a16:creationId xmlns:a16="http://schemas.microsoft.com/office/drawing/2014/main" id="{F0803D96-D8F1-4A9E-B1A9-832FC0192406}"/>
              </a:ext>
              <a:ext uri="{C183D7F6-B498-43B3-948B-1728B52AA6E4}">
                <adec:decorative xmlns:adec="http://schemas.microsoft.com/office/drawing/2017/decorative" val="0"/>
              </a:ext>
            </a:extLst>
          </p:cNvPr>
          <p:cNvSpPr/>
          <p:nvPr/>
        </p:nvSpPr>
        <p:spPr bwMode="auto">
          <a:xfrm>
            <a:off x="424867" y="2124496"/>
            <a:ext cx="4903881" cy="10390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Integrated connectivity using a hub-and-spoke connectivity model</a:t>
            </a:r>
          </a:p>
        </p:txBody>
      </p:sp>
      <p:sp>
        <p:nvSpPr>
          <p:cNvPr id="9" name="Rectangle 8">
            <a:extLst>
              <a:ext uri="{FF2B5EF4-FFF2-40B4-BE49-F238E27FC236}">
                <a16:creationId xmlns:a16="http://schemas.microsoft.com/office/drawing/2014/main" id="{06EB6E4A-82BB-45C8-8367-3AA4E24F25FF}"/>
              </a:ext>
              <a:ext uri="{C183D7F6-B498-43B3-948B-1728B52AA6E4}">
                <adec:decorative xmlns:adec="http://schemas.microsoft.com/office/drawing/2017/decorative" val="0"/>
              </a:ext>
            </a:extLst>
          </p:cNvPr>
          <p:cNvSpPr/>
          <p:nvPr/>
        </p:nvSpPr>
        <p:spPr bwMode="auto">
          <a:xfrm>
            <a:off x="424867" y="3350824"/>
            <a:ext cx="4903881" cy="103906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Connect virtual networks and workloads to the Azure hub automatically</a:t>
            </a:r>
          </a:p>
        </p:txBody>
      </p:sp>
      <p:sp>
        <p:nvSpPr>
          <p:cNvPr id="10" name="Rectangle 9">
            <a:extLst>
              <a:ext uri="{FF2B5EF4-FFF2-40B4-BE49-F238E27FC236}">
                <a16:creationId xmlns:a16="http://schemas.microsoft.com/office/drawing/2014/main" id="{08FFF58F-3575-4A4F-8856-66998DF3B695}"/>
              </a:ext>
              <a:ext uri="{C183D7F6-B498-43B3-948B-1728B52AA6E4}">
                <adec:decorative xmlns:adec="http://schemas.microsoft.com/office/drawing/2017/decorative" val="0"/>
              </a:ext>
            </a:extLst>
          </p:cNvPr>
          <p:cNvSpPr/>
          <p:nvPr/>
        </p:nvSpPr>
        <p:spPr bwMode="auto">
          <a:xfrm>
            <a:off x="424867" y="4573957"/>
            <a:ext cx="4903881" cy="81249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Visualize the end-to-end flow within Azure</a:t>
            </a:r>
          </a:p>
        </p:txBody>
      </p:sp>
      <p:sp>
        <p:nvSpPr>
          <p:cNvPr id="6" name="Rectangle 5">
            <a:extLst>
              <a:ext uri="{FF2B5EF4-FFF2-40B4-BE49-F238E27FC236}">
                <a16:creationId xmlns:a16="http://schemas.microsoft.com/office/drawing/2014/main" id="{D6D3DC25-2E75-4E74-909F-DBA04DE27933}"/>
              </a:ext>
              <a:ext uri="{C183D7F6-B498-43B3-948B-1728B52AA6E4}">
                <adec:decorative xmlns:adec="http://schemas.microsoft.com/office/drawing/2017/decorative" val="0"/>
              </a:ext>
            </a:extLst>
          </p:cNvPr>
          <p:cNvSpPr/>
          <p:nvPr/>
        </p:nvSpPr>
        <p:spPr bwMode="auto">
          <a:xfrm>
            <a:off x="424867" y="5570522"/>
            <a:ext cx="4903881" cy="66665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Two types: Basic and Standard</a:t>
            </a:r>
          </a:p>
        </p:txBody>
      </p:sp>
      <p:sp>
        <p:nvSpPr>
          <p:cNvPr id="11" name="Rectangle 10">
            <a:extLst>
              <a:ext uri="{FF2B5EF4-FFF2-40B4-BE49-F238E27FC236}">
                <a16:creationId xmlns:a16="http://schemas.microsoft.com/office/drawing/2014/main" id="{7D95E6E9-0F97-437D-9C0B-77FA29228CF1}"/>
              </a:ext>
              <a:ext uri="{C183D7F6-B498-43B3-948B-1728B52AA6E4}">
                <adec:decorative xmlns:adec="http://schemas.microsoft.com/office/drawing/2017/decorative" val="1"/>
              </a:ext>
            </a:extLst>
          </p:cNvPr>
          <p:cNvSpPr/>
          <p:nvPr/>
        </p:nvSpPr>
        <p:spPr bwMode="auto">
          <a:xfrm>
            <a:off x="5481141" y="1169263"/>
            <a:ext cx="6292219" cy="506791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2" name="Picture 11" descr="Azure Virtual WAN with two regional hubs, several VNets, and multiple remote connections including Site-to-Site VPN, Point-to-Site VPN, and ExpressRoute.">
            <a:extLst>
              <a:ext uri="{FF2B5EF4-FFF2-40B4-BE49-F238E27FC236}">
                <a16:creationId xmlns:a16="http://schemas.microsoft.com/office/drawing/2014/main" id="{972D9A8A-D913-418B-B131-BABCDAF815CC}"/>
              </a:ext>
            </a:extLst>
          </p:cNvPr>
          <p:cNvPicPr/>
          <p:nvPr/>
        </p:nvPicPr>
        <p:blipFill>
          <a:blip r:embed="rId3"/>
          <a:stretch>
            <a:fillRect/>
          </a:stretch>
        </p:blipFill>
        <p:spPr bwMode="auto">
          <a:xfrm>
            <a:off x="5749112" y="2241886"/>
            <a:ext cx="5756275" cy="3444875"/>
          </a:xfrm>
          <a:prstGeom prst="rect">
            <a:avLst/>
          </a:prstGeom>
          <a:noFill/>
          <a:ln>
            <a:noFill/>
          </a:ln>
        </p:spPr>
      </p:pic>
    </p:spTree>
    <p:extLst>
      <p:ext uri="{BB962C8B-B14F-4D97-AF65-F5344CB8AC3E}">
        <p14:creationId xmlns:p14="http://schemas.microsoft.com/office/powerpoint/2010/main" val="361652602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B27D-E804-4077-9551-60A7DDC12AE6}"/>
              </a:ext>
            </a:extLst>
          </p:cNvPr>
          <p:cNvSpPr>
            <a:spLocks noGrp="1"/>
          </p:cNvSpPr>
          <p:nvPr>
            <p:ph type="title"/>
          </p:nvPr>
        </p:nvSpPr>
        <p:spPr/>
        <p:txBody>
          <a:bodyPr/>
          <a:lstStyle/>
          <a:p>
            <a:r>
              <a:rPr lang="en-US"/>
              <a:t>Choose Virtual WAN SKU</a:t>
            </a:r>
          </a:p>
        </p:txBody>
      </p:sp>
      <p:graphicFrame>
        <p:nvGraphicFramePr>
          <p:cNvPr id="3" name="Table 2">
            <a:extLst>
              <a:ext uri="{FF2B5EF4-FFF2-40B4-BE49-F238E27FC236}">
                <a16:creationId xmlns:a16="http://schemas.microsoft.com/office/drawing/2014/main" id="{A3377DEC-C4E2-4D31-83A9-C28FA1891418}"/>
              </a:ext>
            </a:extLst>
          </p:cNvPr>
          <p:cNvGraphicFramePr>
            <a:graphicFrameLocks noGrp="1"/>
          </p:cNvGraphicFramePr>
          <p:nvPr>
            <p:extLst>
              <p:ext uri="{D42A27DB-BD31-4B8C-83A1-F6EECF244321}">
                <p14:modId xmlns:p14="http://schemas.microsoft.com/office/powerpoint/2010/main" val="1453378021"/>
              </p:ext>
            </p:extLst>
          </p:nvPr>
        </p:nvGraphicFramePr>
        <p:xfrm>
          <a:off x="455995" y="1714613"/>
          <a:ext cx="5640006" cy="4425048"/>
        </p:xfrm>
        <a:graphic>
          <a:graphicData uri="http://schemas.openxmlformats.org/drawingml/2006/table">
            <a:tbl>
              <a:tblPr firstRow="1" bandRow="1">
                <a:tableStyleId>{69012ECD-51FC-41F1-AA8D-1B2483CD663E}</a:tableStyleId>
              </a:tblPr>
              <a:tblGrid>
                <a:gridCol w="1571282">
                  <a:extLst>
                    <a:ext uri="{9D8B030D-6E8A-4147-A177-3AD203B41FA5}">
                      <a16:colId xmlns:a16="http://schemas.microsoft.com/office/drawing/2014/main" val="828115051"/>
                    </a:ext>
                  </a:extLst>
                </a:gridCol>
                <a:gridCol w="1757210">
                  <a:extLst>
                    <a:ext uri="{9D8B030D-6E8A-4147-A177-3AD203B41FA5}">
                      <a16:colId xmlns:a16="http://schemas.microsoft.com/office/drawing/2014/main" val="2036691416"/>
                    </a:ext>
                  </a:extLst>
                </a:gridCol>
                <a:gridCol w="2311514">
                  <a:extLst>
                    <a:ext uri="{9D8B030D-6E8A-4147-A177-3AD203B41FA5}">
                      <a16:colId xmlns:a16="http://schemas.microsoft.com/office/drawing/2014/main" val="3335721742"/>
                    </a:ext>
                  </a:extLst>
                </a:gridCol>
              </a:tblGrid>
              <a:tr h="997612">
                <a:tc>
                  <a:txBody>
                    <a:bodyPr/>
                    <a:lstStyle/>
                    <a:p>
                      <a:pPr marL="0" marR="0" algn="l" fontAlgn="t">
                        <a:spcBef>
                          <a:spcPts val="0"/>
                        </a:spcBef>
                        <a:spcAft>
                          <a:spcPts val="1000"/>
                        </a:spcAft>
                      </a:pPr>
                      <a:r>
                        <a:rPr lang="en-US" sz="1800" u="none" strike="noStrike">
                          <a:effectLst/>
                        </a:rPr>
                        <a:t>Virtual WAN type</a:t>
                      </a:r>
                      <a:endParaRPr lang="en-US" sz="2800" b="0" i="0" u="none" strike="noStrike">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dirty="0">
                          <a:effectLst/>
                        </a:rPr>
                        <a:t>Hub type</a:t>
                      </a:r>
                      <a:endParaRPr lang="en-US" sz="2800" b="0" i="0" u="none" strike="noStrike" dirty="0">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a:effectLst/>
                        </a:rPr>
                        <a:t>Available configuration</a:t>
                      </a:r>
                      <a:endParaRPr lang="en-US" sz="2800" b="0" i="0" u="none" strike="noStrike">
                        <a:effectLst/>
                        <a:latin typeface="Arial" panose="020B0604020202020204" pitchFamily="34" charset="0"/>
                      </a:endParaRPr>
                    </a:p>
                  </a:txBody>
                  <a:tcPr/>
                </a:tc>
                <a:extLst>
                  <a:ext uri="{0D108BD9-81ED-4DB2-BD59-A6C34878D82A}">
                    <a16:rowId xmlns:a16="http://schemas.microsoft.com/office/drawing/2014/main" val="1009128339"/>
                  </a:ext>
                </a:extLst>
              </a:tr>
              <a:tr h="1011467">
                <a:tc>
                  <a:txBody>
                    <a:bodyPr/>
                    <a:lstStyle/>
                    <a:p>
                      <a:pPr marL="0" marR="0" algn="l" fontAlgn="t">
                        <a:spcBef>
                          <a:spcPts val="0"/>
                        </a:spcBef>
                        <a:spcAft>
                          <a:spcPts val="1000"/>
                        </a:spcAft>
                      </a:pPr>
                      <a:r>
                        <a:rPr lang="en-US" sz="1800" u="none" strike="noStrike">
                          <a:effectLst/>
                        </a:rPr>
                        <a:t>Basic</a:t>
                      </a:r>
                      <a:endParaRPr lang="en-US" sz="2800" b="0" i="0" u="none" strike="noStrike">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a:effectLst/>
                        </a:rPr>
                        <a:t>Basic</a:t>
                      </a:r>
                      <a:endParaRPr lang="en-US" sz="2800" b="0" i="0" u="none" strike="noStrike">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a:effectLst/>
                        </a:rPr>
                        <a:t>Site-to-site VPN only</a:t>
                      </a:r>
                      <a:endParaRPr lang="en-US" sz="2800" b="0" i="0" u="none" strike="noStrike">
                        <a:effectLst/>
                        <a:latin typeface="Arial" panose="020B0604020202020204" pitchFamily="34" charset="0"/>
                      </a:endParaRPr>
                    </a:p>
                  </a:txBody>
                  <a:tcPr/>
                </a:tc>
                <a:extLst>
                  <a:ext uri="{0D108BD9-81ED-4DB2-BD59-A6C34878D82A}">
                    <a16:rowId xmlns:a16="http://schemas.microsoft.com/office/drawing/2014/main" val="601834156"/>
                  </a:ext>
                </a:extLst>
              </a:tr>
              <a:tr h="2415969">
                <a:tc>
                  <a:txBody>
                    <a:bodyPr/>
                    <a:lstStyle/>
                    <a:p>
                      <a:pPr marL="0" marR="0" algn="l" fontAlgn="t">
                        <a:spcBef>
                          <a:spcPts val="0"/>
                        </a:spcBef>
                        <a:spcAft>
                          <a:spcPts val="1000"/>
                        </a:spcAft>
                      </a:pPr>
                      <a:r>
                        <a:rPr lang="en-US" sz="1800" u="none" strike="noStrike">
                          <a:effectLst/>
                        </a:rPr>
                        <a:t>Standard</a:t>
                      </a:r>
                      <a:endParaRPr lang="en-US" sz="2800" b="0" i="0" u="none" strike="noStrike">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a:effectLst/>
                        </a:rPr>
                        <a:t>Standard</a:t>
                      </a:r>
                      <a:endParaRPr lang="en-US" sz="2800" b="0" i="0" u="none" strike="noStrike">
                        <a:effectLst/>
                        <a:latin typeface="Arial" panose="020B0604020202020204" pitchFamily="34" charset="0"/>
                      </a:endParaRPr>
                    </a:p>
                  </a:txBody>
                  <a:tcPr/>
                </a:tc>
                <a:tc>
                  <a:txBody>
                    <a:bodyPr/>
                    <a:lstStyle/>
                    <a:p>
                      <a:pPr marL="0" marR="0" algn="l" fontAlgn="t">
                        <a:spcBef>
                          <a:spcPts val="0"/>
                        </a:spcBef>
                        <a:spcAft>
                          <a:spcPts val="1000"/>
                        </a:spcAft>
                      </a:pPr>
                      <a:r>
                        <a:rPr lang="en-US" sz="1800" u="none" strike="noStrike" dirty="0">
                          <a:effectLst/>
                        </a:rPr>
                        <a:t>ExpressRoute</a:t>
                      </a:r>
                      <a:br>
                        <a:rPr lang="en-US" sz="1800" u="none" strike="noStrike" dirty="0">
                          <a:effectLst/>
                        </a:rPr>
                      </a:br>
                      <a:r>
                        <a:rPr lang="en-US" sz="1800" u="none" strike="noStrike" dirty="0">
                          <a:effectLst/>
                        </a:rPr>
                        <a:t>User VPN (P2S)</a:t>
                      </a:r>
                      <a:br>
                        <a:rPr lang="en-US" sz="1800" u="none" strike="noStrike" dirty="0">
                          <a:effectLst/>
                        </a:rPr>
                      </a:br>
                      <a:r>
                        <a:rPr lang="en-US" sz="1800" u="none" strike="noStrike" dirty="0">
                          <a:effectLst/>
                        </a:rPr>
                        <a:t>VPN (Site-to-site)</a:t>
                      </a:r>
                      <a:br>
                        <a:rPr lang="en-US" sz="1800" u="none" strike="noStrike" dirty="0">
                          <a:effectLst/>
                        </a:rPr>
                      </a:br>
                      <a:r>
                        <a:rPr lang="en-US" sz="1800" u="none" strike="noStrike" dirty="0">
                          <a:effectLst/>
                        </a:rPr>
                        <a:t>Inter-hub and VNet-to-VNet transiting through the virtual hub</a:t>
                      </a:r>
                      <a:endParaRPr lang="en-US" sz="2800" b="0" i="0" u="none" strike="noStrike" dirty="0">
                        <a:effectLst/>
                        <a:latin typeface="Arial" panose="020B0604020202020204" pitchFamily="34" charset="0"/>
                      </a:endParaRPr>
                    </a:p>
                  </a:txBody>
                  <a:tcPr/>
                </a:tc>
                <a:extLst>
                  <a:ext uri="{0D108BD9-81ED-4DB2-BD59-A6C34878D82A}">
                    <a16:rowId xmlns:a16="http://schemas.microsoft.com/office/drawing/2014/main" val="104354189"/>
                  </a:ext>
                </a:extLst>
              </a:tr>
            </a:tbl>
          </a:graphicData>
        </a:graphic>
      </p:graphicFrame>
      <p:pic>
        <p:nvPicPr>
          <p:cNvPr id="6146" name="Picture 2" descr="Azure portal screenshot creating a WAN basics tab">
            <a:extLst>
              <a:ext uri="{FF2B5EF4-FFF2-40B4-BE49-F238E27FC236}">
                <a16:creationId xmlns:a16="http://schemas.microsoft.com/office/drawing/2014/main" id="{C61992A6-EB2B-435C-9EB3-64313634A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5992" y="2113148"/>
            <a:ext cx="5100381" cy="3232954"/>
          </a:xfrm>
          <a:prstGeom prst="rect">
            <a:avLst/>
          </a:prstGeom>
          <a:noFill/>
        </p:spPr>
      </p:pic>
      <p:sp>
        <p:nvSpPr>
          <p:cNvPr id="4" name="Rectangle 3">
            <a:extLst>
              <a:ext uri="{FF2B5EF4-FFF2-40B4-BE49-F238E27FC236}">
                <a16:creationId xmlns:a16="http://schemas.microsoft.com/office/drawing/2014/main" id="{920DB9B5-A7D7-4AF1-B6CA-974030C46E97}"/>
              </a:ext>
              <a:ext uri="{C183D7F6-B498-43B3-948B-1728B52AA6E4}">
                <adec:decorative xmlns:adec="http://schemas.microsoft.com/office/drawing/2017/decorative" val="1"/>
              </a:ext>
            </a:extLst>
          </p:cNvPr>
          <p:cNvSpPr/>
          <p:nvPr/>
        </p:nvSpPr>
        <p:spPr bwMode="auto">
          <a:xfrm>
            <a:off x="6378029" y="1812523"/>
            <a:ext cx="5540374" cy="442504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427690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6FCCA-59B1-4656-B963-ACC4F00463A8}"/>
              </a:ext>
            </a:extLst>
          </p:cNvPr>
          <p:cNvSpPr>
            <a:spLocks noGrp="1"/>
          </p:cNvSpPr>
          <p:nvPr>
            <p:ph type="title"/>
          </p:nvPr>
        </p:nvSpPr>
        <p:spPr>
          <a:xfrm>
            <a:off x="455995" y="623224"/>
            <a:ext cx="11306469" cy="397545"/>
          </a:xfrm>
        </p:spPr>
        <p:txBody>
          <a:bodyPr/>
          <a:lstStyle/>
          <a:p>
            <a:r>
              <a:rPr lang="en-US" sz="2800">
                <a:solidFill>
                  <a:schemeClr val="tx1"/>
                </a:solidFill>
              </a:rPr>
              <a:t>Hub private address space</a:t>
            </a:r>
            <a:endParaRPr lang="en-US"/>
          </a:p>
        </p:txBody>
      </p:sp>
      <p:pic>
        <p:nvPicPr>
          <p:cNvPr id="7170" name="Picture 2" descr="Azure portal screenshot creating a virtual hub basics tab ">
            <a:extLst>
              <a:ext uri="{FF2B5EF4-FFF2-40B4-BE49-F238E27FC236}">
                <a16:creationId xmlns:a16="http://schemas.microsoft.com/office/drawing/2014/main" id="{2B5D9F2A-3848-41DC-9102-2F35934CA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4811" y="1114816"/>
            <a:ext cx="5399327" cy="5214642"/>
          </a:xfrm>
          <a:prstGeom prst="rect">
            <a:avLst/>
          </a:prstGeom>
          <a:noFill/>
        </p:spPr>
      </p:pic>
      <p:sp>
        <p:nvSpPr>
          <p:cNvPr id="3" name="Rectangle 2">
            <a:extLst>
              <a:ext uri="{FF2B5EF4-FFF2-40B4-BE49-F238E27FC236}">
                <a16:creationId xmlns:a16="http://schemas.microsoft.com/office/drawing/2014/main" id="{961ADFD8-FD16-4F72-8AB4-B52871A4AD94}"/>
              </a:ext>
              <a:ext uri="{C183D7F6-B498-43B3-948B-1728B52AA6E4}">
                <adec:decorative xmlns:adec="http://schemas.microsoft.com/office/drawing/2017/decorative" val="0"/>
              </a:ext>
            </a:extLst>
          </p:cNvPr>
          <p:cNvSpPr/>
          <p:nvPr/>
        </p:nvSpPr>
        <p:spPr bwMode="auto">
          <a:xfrm>
            <a:off x="455995" y="1372934"/>
            <a:ext cx="4903881" cy="10390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Minimum address space is /24 to create a hub</a:t>
            </a:r>
          </a:p>
        </p:txBody>
      </p:sp>
      <p:sp>
        <p:nvSpPr>
          <p:cNvPr id="5" name="Rectangle 4">
            <a:extLst>
              <a:ext uri="{FF2B5EF4-FFF2-40B4-BE49-F238E27FC236}">
                <a16:creationId xmlns:a16="http://schemas.microsoft.com/office/drawing/2014/main" id="{81AFC5AA-CE73-4094-B0AB-4EF598CF52D5}"/>
              </a:ext>
              <a:ext uri="{C183D7F6-B498-43B3-948B-1728B52AA6E4}">
                <adec:decorative xmlns:adec="http://schemas.microsoft.com/office/drawing/2017/decorative" val="0"/>
              </a:ext>
            </a:extLst>
          </p:cNvPr>
          <p:cNvSpPr/>
          <p:nvPr/>
        </p:nvSpPr>
        <p:spPr bwMode="auto">
          <a:xfrm>
            <a:off x="455995" y="2599262"/>
            <a:ext cx="4903881" cy="103906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No need to explicitly plan the subnet address space for the services in the virtual hub</a:t>
            </a:r>
          </a:p>
        </p:txBody>
      </p:sp>
      <p:sp>
        <p:nvSpPr>
          <p:cNvPr id="7" name="Rectangle 6">
            <a:extLst>
              <a:ext uri="{FF2B5EF4-FFF2-40B4-BE49-F238E27FC236}">
                <a16:creationId xmlns:a16="http://schemas.microsoft.com/office/drawing/2014/main" id="{E33D2BF2-D878-438B-B457-0E08C73F00E2}"/>
              </a:ext>
              <a:ext uri="{C183D7F6-B498-43B3-948B-1728B52AA6E4}">
                <adec:decorative xmlns:adec="http://schemas.microsoft.com/office/drawing/2017/decorative" val="0"/>
              </a:ext>
            </a:extLst>
          </p:cNvPr>
          <p:cNvSpPr/>
          <p:nvPr/>
        </p:nvSpPr>
        <p:spPr bwMode="auto">
          <a:xfrm>
            <a:off x="455995" y="3822395"/>
            <a:ext cx="4903881" cy="99656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dirty="0">
                <a:solidFill>
                  <a:schemeClr val="tx1"/>
                </a:solidFill>
              </a:rPr>
              <a:t>Azure Virtual WAN is a managed service, it creates the appropriate subnets in the virtual hub for the different gateways/services </a:t>
            </a:r>
          </a:p>
        </p:txBody>
      </p:sp>
      <p:sp>
        <p:nvSpPr>
          <p:cNvPr id="9" name="Rectangle 8">
            <a:extLst>
              <a:ext uri="{FF2B5EF4-FFF2-40B4-BE49-F238E27FC236}">
                <a16:creationId xmlns:a16="http://schemas.microsoft.com/office/drawing/2014/main" id="{837F70D6-840C-4089-BA95-2298066F55C9}"/>
              </a:ext>
              <a:ext uri="{C183D7F6-B498-43B3-948B-1728B52AA6E4}">
                <adec:decorative xmlns:adec="http://schemas.microsoft.com/office/drawing/2017/decorative" val="0"/>
              </a:ext>
            </a:extLst>
          </p:cNvPr>
          <p:cNvSpPr/>
          <p:nvPr/>
        </p:nvSpPr>
        <p:spPr bwMode="auto">
          <a:xfrm>
            <a:off x="455995" y="5003028"/>
            <a:ext cx="4903881" cy="9965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For example, VPN gateways, ExpressRoute gateways, User VPN Point-to-site gateways, Firewall, routing, etc.</a:t>
            </a:r>
          </a:p>
        </p:txBody>
      </p:sp>
      <p:sp>
        <p:nvSpPr>
          <p:cNvPr id="4" name="Rectangle 3">
            <a:extLst>
              <a:ext uri="{FF2B5EF4-FFF2-40B4-BE49-F238E27FC236}">
                <a16:creationId xmlns:a16="http://schemas.microsoft.com/office/drawing/2014/main" id="{6651F2AF-81BC-4B18-AE56-492F46A424E7}"/>
              </a:ext>
              <a:ext uri="{C183D7F6-B498-43B3-948B-1728B52AA6E4}">
                <adec:decorative xmlns:adec="http://schemas.microsoft.com/office/drawing/2017/decorative" val="1"/>
              </a:ext>
            </a:extLst>
          </p:cNvPr>
          <p:cNvSpPr/>
          <p:nvPr/>
        </p:nvSpPr>
        <p:spPr bwMode="auto">
          <a:xfrm>
            <a:off x="5681272" y="1020768"/>
            <a:ext cx="5816184" cy="540273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83577157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E315B-A5C1-4A9F-AE46-F6137EBF9A3A}"/>
              </a:ext>
            </a:extLst>
          </p:cNvPr>
          <p:cNvSpPr>
            <a:spLocks noGrp="1"/>
          </p:cNvSpPr>
          <p:nvPr>
            <p:ph type="title"/>
          </p:nvPr>
        </p:nvSpPr>
        <p:spPr/>
        <p:txBody>
          <a:bodyPr/>
          <a:lstStyle/>
          <a:p>
            <a:r>
              <a:rPr lang="en-US"/>
              <a:t>Connect cross-tenant VNets to a Virtual WAN hub</a:t>
            </a:r>
          </a:p>
        </p:txBody>
      </p:sp>
      <p:pic>
        <p:nvPicPr>
          <p:cNvPr id="3" name="Picture 2" descr="Connect a non-Contoso VNet (the Remote Tenant) to a Contoso virtual hub (the Parent Tenant).">
            <a:extLst>
              <a:ext uri="{FF2B5EF4-FFF2-40B4-BE49-F238E27FC236}">
                <a16:creationId xmlns:a16="http://schemas.microsoft.com/office/drawing/2014/main" id="{A1A63235-76CD-4868-9CDD-EA8F397CA37B}"/>
              </a:ext>
            </a:extLst>
          </p:cNvPr>
          <p:cNvPicPr/>
          <p:nvPr/>
        </p:nvPicPr>
        <p:blipFill>
          <a:blip r:embed="rId3"/>
          <a:stretch>
            <a:fillRect/>
          </a:stretch>
        </p:blipFill>
        <p:spPr bwMode="auto">
          <a:xfrm>
            <a:off x="3420004" y="1632371"/>
            <a:ext cx="5378450" cy="2115185"/>
          </a:xfrm>
          <a:prstGeom prst="rect">
            <a:avLst/>
          </a:prstGeom>
          <a:noFill/>
          <a:ln>
            <a:noFill/>
          </a:ln>
        </p:spPr>
      </p:pic>
      <p:sp>
        <p:nvSpPr>
          <p:cNvPr id="5" name="Freeform: Shape 4">
            <a:extLst>
              <a:ext uri="{FF2B5EF4-FFF2-40B4-BE49-F238E27FC236}">
                <a16:creationId xmlns:a16="http://schemas.microsoft.com/office/drawing/2014/main" id="{DFD6F9A6-6987-4AA5-84A9-0293DCA1A26B}"/>
              </a:ext>
            </a:extLst>
          </p:cNvPr>
          <p:cNvSpPr/>
          <p:nvPr/>
        </p:nvSpPr>
        <p:spPr>
          <a:xfrm>
            <a:off x="117660" y="4555654"/>
            <a:ext cx="3683190" cy="168191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latin typeface="Calibri" panose="020F0502020204030204" pitchFamily="34" charset="0"/>
                <a:cs typeface="Calibri" panose="020F0502020204030204" pitchFamily="34" charset="0"/>
              </a:rPr>
              <a:t>A Virtual WAN and virtual hub in the parent subscription</a:t>
            </a:r>
          </a:p>
        </p:txBody>
      </p:sp>
      <p:sp>
        <p:nvSpPr>
          <p:cNvPr id="7" name="Freeform: Shape 6">
            <a:extLst>
              <a:ext uri="{FF2B5EF4-FFF2-40B4-BE49-F238E27FC236}">
                <a16:creationId xmlns:a16="http://schemas.microsoft.com/office/drawing/2014/main" id="{779F824B-5068-40C0-BBA9-E23A2747B30F}"/>
              </a:ext>
            </a:extLst>
          </p:cNvPr>
          <p:cNvSpPr/>
          <p:nvPr/>
        </p:nvSpPr>
        <p:spPr>
          <a:xfrm>
            <a:off x="4105597" y="4555654"/>
            <a:ext cx="3523884" cy="168191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latin typeface="Calibri" panose="020F0502020204030204" pitchFamily="34" charset="0"/>
                <a:cs typeface="Calibri" panose="020F0502020204030204" pitchFamily="34" charset="0"/>
              </a:rPr>
              <a:t>A virtual network configured in a subscription in the remote tenant</a:t>
            </a:r>
          </a:p>
        </p:txBody>
      </p:sp>
      <p:sp>
        <p:nvSpPr>
          <p:cNvPr id="9" name="Freeform: Shape 8">
            <a:extLst>
              <a:ext uri="{FF2B5EF4-FFF2-40B4-BE49-F238E27FC236}">
                <a16:creationId xmlns:a16="http://schemas.microsoft.com/office/drawing/2014/main" id="{B4EA26CB-419E-4610-A16B-51B8803F0E63}"/>
              </a:ext>
            </a:extLst>
          </p:cNvPr>
          <p:cNvSpPr/>
          <p:nvPr/>
        </p:nvSpPr>
        <p:spPr>
          <a:xfrm>
            <a:off x="7934228" y="4555654"/>
            <a:ext cx="3828236" cy="168191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spcBef>
                <a:spcPts val="1176"/>
              </a:spcBef>
            </a:pPr>
            <a:r>
              <a:rPr lang="en-US" sz="2157" dirty="0">
                <a:solidFill>
                  <a:schemeClr val="tx1"/>
                </a:solidFill>
                <a:latin typeface="Calibri" panose="020F0502020204030204" pitchFamily="34" charset="0"/>
                <a:cs typeface="Calibri" panose="020F0502020204030204" pitchFamily="34" charset="0"/>
              </a:rPr>
              <a:t>Non-overlapping address spaces in the remote tenant and address spaces within any other VNets already connected to the parent virtual hub</a:t>
            </a:r>
          </a:p>
        </p:txBody>
      </p:sp>
      <p:sp>
        <p:nvSpPr>
          <p:cNvPr id="13" name="Rectangle 12">
            <a:extLst>
              <a:ext uri="{FF2B5EF4-FFF2-40B4-BE49-F238E27FC236}">
                <a16:creationId xmlns:a16="http://schemas.microsoft.com/office/drawing/2014/main" id="{4A5E759F-D2E5-4004-BBC3-1990D2A5E335}"/>
              </a:ext>
              <a:ext uri="{C183D7F6-B498-43B3-948B-1728B52AA6E4}">
                <adec:decorative xmlns:adec="http://schemas.microsoft.com/office/drawing/2017/decorative" val="1"/>
              </a:ext>
            </a:extLst>
          </p:cNvPr>
          <p:cNvSpPr/>
          <p:nvPr/>
        </p:nvSpPr>
        <p:spPr bwMode="auto">
          <a:xfrm>
            <a:off x="2830882" y="1169660"/>
            <a:ext cx="6688899" cy="297645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79003313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4A6D-10AA-424E-855D-A3762DA53C29}"/>
              </a:ext>
            </a:extLst>
          </p:cNvPr>
          <p:cNvSpPr>
            <a:spLocks noGrp="1"/>
          </p:cNvSpPr>
          <p:nvPr>
            <p:ph type="title"/>
          </p:nvPr>
        </p:nvSpPr>
        <p:spPr/>
        <p:txBody>
          <a:bodyPr/>
          <a:lstStyle/>
          <a:p>
            <a:r>
              <a:rPr lang="en-US" dirty="0"/>
              <a:t>Virtual Hub Routing </a:t>
            </a:r>
          </a:p>
        </p:txBody>
      </p:sp>
      <p:pic>
        <p:nvPicPr>
          <p:cNvPr id="3" name="Picture 2" descr="Association - default routing table.">
            <a:extLst>
              <a:ext uri="{FF2B5EF4-FFF2-40B4-BE49-F238E27FC236}">
                <a16:creationId xmlns:a16="http://schemas.microsoft.com/office/drawing/2014/main" id="{2B9C1F87-64F2-458F-86C8-0B404CD8F9F1}"/>
              </a:ext>
            </a:extLst>
          </p:cNvPr>
          <p:cNvPicPr/>
          <p:nvPr/>
        </p:nvPicPr>
        <p:blipFill>
          <a:blip r:embed="rId3"/>
          <a:stretch>
            <a:fillRect/>
          </a:stretch>
        </p:blipFill>
        <p:spPr bwMode="auto">
          <a:xfrm>
            <a:off x="2384584" y="1409076"/>
            <a:ext cx="9640402" cy="4387656"/>
          </a:xfrm>
          <a:prstGeom prst="rect">
            <a:avLst/>
          </a:prstGeom>
          <a:noFill/>
          <a:ln>
            <a:noFill/>
          </a:ln>
        </p:spPr>
      </p:pic>
      <p:sp>
        <p:nvSpPr>
          <p:cNvPr id="6" name="Rectangle 5">
            <a:extLst>
              <a:ext uri="{FF2B5EF4-FFF2-40B4-BE49-F238E27FC236}">
                <a16:creationId xmlns:a16="http://schemas.microsoft.com/office/drawing/2014/main" id="{089D92E2-D226-446A-95B2-825F62BDBF8D}"/>
              </a:ext>
              <a:ext uri="{C183D7F6-B498-43B3-948B-1728B52AA6E4}">
                <adec:decorative xmlns:adec="http://schemas.microsoft.com/office/drawing/2017/decorative" val="0"/>
              </a:ext>
            </a:extLst>
          </p:cNvPr>
          <p:cNvSpPr/>
          <p:nvPr/>
        </p:nvSpPr>
        <p:spPr bwMode="auto">
          <a:xfrm>
            <a:off x="424867" y="1169263"/>
            <a:ext cx="1748707" cy="81249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Hub route table </a:t>
            </a:r>
          </a:p>
        </p:txBody>
      </p:sp>
      <p:sp>
        <p:nvSpPr>
          <p:cNvPr id="8" name="Rectangle 7">
            <a:extLst>
              <a:ext uri="{FF2B5EF4-FFF2-40B4-BE49-F238E27FC236}">
                <a16:creationId xmlns:a16="http://schemas.microsoft.com/office/drawing/2014/main" id="{A2BDC452-889D-438E-ADB0-B3AEBBCDE1BB}"/>
              </a:ext>
              <a:ext uri="{C183D7F6-B498-43B3-948B-1728B52AA6E4}">
                <adec:decorative xmlns:adec="http://schemas.microsoft.com/office/drawing/2017/decorative" val="0"/>
              </a:ext>
            </a:extLst>
          </p:cNvPr>
          <p:cNvSpPr/>
          <p:nvPr/>
        </p:nvSpPr>
        <p:spPr bwMode="auto">
          <a:xfrm>
            <a:off x="424867" y="2124496"/>
            <a:ext cx="1748707" cy="66880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Connections</a:t>
            </a:r>
          </a:p>
        </p:txBody>
      </p:sp>
      <p:sp>
        <p:nvSpPr>
          <p:cNvPr id="10" name="Rectangle 9">
            <a:extLst>
              <a:ext uri="{FF2B5EF4-FFF2-40B4-BE49-F238E27FC236}">
                <a16:creationId xmlns:a16="http://schemas.microsoft.com/office/drawing/2014/main" id="{04BA8E41-4EF7-4B44-AB5C-8C2B7A84260B}"/>
              </a:ext>
              <a:ext uri="{C183D7F6-B498-43B3-948B-1728B52AA6E4}">
                <adec:decorative xmlns:adec="http://schemas.microsoft.com/office/drawing/2017/decorative" val="0"/>
              </a:ext>
            </a:extLst>
          </p:cNvPr>
          <p:cNvSpPr/>
          <p:nvPr/>
        </p:nvSpPr>
        <p:spPr bwMode="auto">
          <a:xfrm>
            <a:off x="424867" y="2962639"/>
            <a:ext cx="1748707" cy="66880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Association</a:t>
            </a:r>
          </a:p>
        </p:txBody>
      </p:sp>
      <p:sp>
        <p:nvSpPr>
          <p:cNvPr id="12" name="Rectangle 11">
            <a:extLst>
              <a:ext uri="{FF2B5EF4-FFF2-40B4-BE49-F238E27FC236}">
                <a16:creationId xmlns:a16="http://schemas.microsoft.com/office/drawing/2014/main" id="{9FAF0357-E6C9-4D3C-A46C-287809625152}"/>
              </a:ext>
              <a:ext uri="{C183D7F6-B498-43B3-948B-1728B52AA6E4}">
                <adec:decorative xmlns:adec="http://schemas.microsoft.com/office/drawing/2017/decorative" val="0"/>
              </a:ext>
            </a:extLst>
          </p:cNvPr>
          <p:cNvSpPr/>
          <p:nvPr/>
        </p:nvSpPr>
        <p:spPr bwMode="auto">
          <a:xfrm>
            <a:off x="424868" y="3800783"/>
            <a:ext cx="1748708" cy="66665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Propagation </a:t>
            </a:r>
          </a:p>
        </p:txBody>
      </p:sp>
      <p:sp>
        <p:nvSpPr>
          <p:cNvPr id="14" name="Rectangle 13">
            <a:extLst>
              <a:ext uri="{FF2B5EF4-FFF2-40B4-BE49-F238E27FC236}">
                <a16:creationId xmlns:a16="http://schemas.microsoft.com/office/drawing/2014/main" id="{74E36449-5402-428D-AAD1-C9E99416E5C6}"/>
              </a:ext>
              <a:ext uri="{C183D7F6-B498-43B3-948B-1728B52AA6E4}">
                <adec:decorative xmlns:adec="http://schemas.microsoft.com/office/drawing/2017/decorative" val="0"/>
              </a:ext>
            </a:extLst>
          </p:cNvPr>
          <p:cNvSpPr/>
          <p:nvPr/>
        </p:nvSpPr>
        <p:spPr bwMode="auto">
          <a:xfrm>
            <a:off x="424867" y="4605917"/>
            <a:ext cx="1748708" cy="66665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Labels </a:t>
            </a:r>
          </a:p>
        </p:txBody>
      </p:sp>
      <p:sp>
        <p:nvSpPr>
          <p:cNvPr id="16" name="Rectangle 15">
            <a:extLst>
              <a:ext uri="{FF2B5EF4-FFF2-40B4-BE49-F238E27FC236}">
                <a16:creationId xmlns:a16="http://schemas.microsoft.com/office/drawing/2014/main" id="{70F07A9E-460D-469D-A9CB-11009157AB26}"/>
              </a:ext>
              <a:ext uri="{C183D7F6-B498-43B3-948B-1728B52AA6E4}">
                <adec:decorative xmlns:adec="http://schemas.microsoft.com/office/drawing/2017/decorative" val="0"/>
              </a:ext>
            </a:extLst>
          </p:cNvPr>
          <p:cNvSpPr/>
          <p:nvPr/>
        </p:nvSpPr>
        <p:spPr bwMode="auto">
          <a:xfrm>
            <a:off x="455996" y="5411050"/>
            <a:ext cx="1748708" cy="66665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Static routes </a:t>
            </a:r>
          </a:p>
        </p:txBody>
      </p:sp>
      <p:sp>
        <p:nvSpPr>
          <p:cNvPr id="18" name="Rectangle 17">
            <a:extLst>
              <a:ext uri="{FF2B5EF4-FFF2-40B4-BE49-F238E27FC236}">
                <a16:creationId xmlns:a16="http://schemas.microsoft.com/office/drawing/2014/main" id="{EA991D37-6362-41E0-BDA3-A2E5F9C32D55}"/>
              </a:ext>
              <a:ext uri="{C183D7F6-B498-43B3-948B-1728B52AA6E4}">
                <adec:decorative xmlns:adec="http://schemas.microsoft.com/office/drawing/2017/decorative" val="1"/>
              </a:ext>
            </a:extLst>
          </p:cNvPr>
          <p:cNvSpPr/>
          <p:nvPr/>
        </p:nvSpPr>
        <p:spPr bwMode="auto">
          <a:xfrm>
            <a:off x="2353456" y="1169264"/>
            <a:ext cx="9671530" cy="506830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66055123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ADB66-3C09-4E47-9EF4-2081CB6BEF7A}"/>
              </a:ext>
            </a:extLst>
          </p:cNvPr>
          <p:cNvSpPr>
            <a:spLocks noGrp="1"/>
          </p:cNvSpPr>
          <p:nvPr>
            <p:ph type="title"/>
          </p:nvPr>
        </p:nvSpPr>
        <p:spPr/>
        <p:txBody>
          <a:bodyPr/>
          <a:lstStyle/>
          <a:p>
            <a:r>
              <a:rPr lang="en-US" dirty="0"/>
              <a:t>Virtual Hub Routing – continued </a:t>
            </a:r>
          </a:p>
        </p:txBody>
      </p:sp>
      <p:pic>
        <p:nvPicPr>
          <p:cNvPr id="4" name="Picture 3" descr="Propagation - default routing table.">
            <a:extLst>
              <a:ext uri="{FF2B5EF4-FFF2-40B4-BE49-F238E27FC236}">
                <a16:creationId xmlns:a16="http://schemas.microsoft.com/office/drawing/2014/main" id="{F52F1BF9-5357-41FE-B4D2-22220105D2BF}"/>
              </a:ext>
            </a:extLst>
          </p:cNvPr>
          <p:cNvPicPr/>
          <p:nvPr/>
        </p:nvPicPr>
        <p:blipFill>
          <a:blip r:embed="rId3"/>
          <a:stretch>
            <a:fillRect/>
          </a:stretch>
        </p:blipFill>
        <p:spPr bwMode="auto">
          <a:xfrm>
            <a:off x="706906" y="1435110"/>
            <a:ext cx="11055558" cy="4802462"/>
          </a:xfrm>
          <a:prstGeom prst="rect">
            <a:avLst/>
          </a:prstGeom>
          <a:noFill/>
          <a:ln>
            <a:noFill/>
          </a:ln>
        </p:spPr>
      </p:pic>
      <p:sp>
        <p:nvSpPr>
          <p:cNvPr id="3" name="Rectangle 2">
            <a:extLst>
              <a:ext uri="{FF2B5EF4-FFF2-40B4-BE49-F238E27FC236}">
                <a16:creationId xmlns:a16="http://schemas.microsoft.com/office/drawing/2014/main" id="{88ACABF1-815E-49DB-B872-CE41486BACD8}"/>
              </a:ext>
              <a:ext uri="{C183D7F6-B498-43B3-948B-1728B52AA6E4}">
                <adec:decorative xmlns:adec="http://schemas.microsoft.com/office/drawing/2017/decorative" val="1"/>
              </a:ext>
            </a:extLst>
          </p:cNvPr>
          <p:cNvSpPr/>
          <p:nvPr/>
        </p:nvSpPr>
        <p:spPr bwMode="auto">
          <a:xfrm>
            <a:off x="429536" y="1169264"/>
            <a:ext cx="11332928" cy="506830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105651201"/>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C356C-8BED-4C4A-83C2-1712B97B40EA}"/>
              </a:ext>
            </a:extLst>
          </p:cNvPr>
          <p:cNvSpPr>
            <a:spLocks noGrp="1"/>
          </p:cNvSpPr>
          <p:nvPr>
            <p:ph type="title"/>
          </p:nvPr>
        </p:nvSpPr>
        <p:spPr/>
        <p:txBody>
          <a:bodyPr/>
          <a:lstStyle/>
          <a:p>
            <a:r>
              <a:rPr lang="en-US" dirty="0"/>
              <a:t>Demonstration – route to shared services using an ARM template </a:t>
            </a:r>
          </a:p>
        </p:txBody>
      </p:sp>
      <p:pic>
        <p:nvPicPr>
          <p:cNvPr id="4" name="Picture 3" descr="Icon of two gears">
            <a:extLst>
              <a:ext uri="{FF2B5EF4-FFF2-40B4-BE49-F238E27FC236}">
                <a16:creationId xmlns:a16="http://schemas.microsoft.com/office/drawing/2014/main" id="{7E68BEB9-52ED-49A8-BAB1-F980E0477FE9}"/>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9FF5A022-7A2E-4A5A-806A-C94BF876124A}"/>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Review and deploy the ARM template</a:t>
            </a:r>
          </a:p>
        </p:txBody>
      </p:sp>
      <p:cxnSp>
        <p:nvCxnSpPr>
          <p:cNvPr id="8" name="Straight Connector 7">
            <a:extLst>
              <a:ext uri="{FF2B5EF4-FFF2-40B4-BE49-F238E27FC236}">
                <a16:creationId xmlns:a16="http://schemas.microsoft.com/office/drawing/2014/main" id="{305DA2FE-B09A-4BEC-A4EC-7996958C000D}"/>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F6926333-AC5E-4236-943B-A3A96372BEC2}"/>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D809A901-B32C-42FA-9046-FB021DEFC3C4}"/>
              </a:ext>
            </a:extLst>
          </p:cNvPr>
          <p:cNvSpPr/>
          <p:nvPr/>
        </p:nvSpPr>
        <p:spPr bwMode="auto">
          <a:xfrm>
            <a:off x="1668346" y="2935896"/>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Complete the hybrid configuration</a:t>
            </a:r>
          </a:p>
        </p:txBody>
      </p:sp>
      <p:cxnSp>
        <p:nvCxnSpPr>
          <p:cNvPr id="14" name="Straight Connector 13">
            <a:extLst>
              <a:ext uri="{FF2B5EF4-FFF2-40B4-BE49-F238E27FC236}">
                <a16:creationId xmlns:a16="http://schemas.microsoft.com/office/drawing/2014/main" id="{7631F5F6-5363-469B-9211-163FBC3664A6}"/>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629305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Connect remote resources by using Azure Virtual WANs Review</a:t>
            </a: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solidFill>
                  <a:schemeClr val="bg1"/>
                </a:solidFill>
                <a:latin typeface="+mj-lt"/>
              </a:rPr>
              <a:t>Knowledge Check Questions</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12" name="Rectangle 11">
            <a:extLst>
              <a:ext uri="{FF2B5EF4-FFF2-40B4-BE49-F238E27FC236}">
                <a16:creationId xmlns:a16="http://schemas.microsoft.com/office/drawing/2014/main" id="{ACF8A76B-7FBD-4048-9860-A742DD5D6DB3}"/>
              </a:ext>
              <a:ext uri="{C183D7F6-B498-43B3-948B-1728B52AA6E4}">
                <adec:decorative xmlns:adec="http://schemas.microsoft.com/office/drawing/2017/decorative" val="1"/>
              </a:ext>
            </a:extLst>
          </p:cNvPr>
          <p:cNvSpPr/>
          <p:nvPr/>
        </p:nvSpPr>
        <p:spPr>
          <a:xfrm>
            <a:off x="4189871" y="2271340"/>
            <a:ext cx="7590042" cy="76196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sp>
        <p:nvSpPr>
          <p:cNvPr id="16" name="TextBox 15">
            <a:extLst>
              <a:ext uri="{FF2B5EF4-FFF2-40B4-BE49-F238E27FC236}">
                <a16:creationId xmlns:a16="http://schemas.microsoft.com/office/drawing/2014/main" id="{CD5155F8-85A2-4D87-A248-11C965EF072A}"/>
              </a:ext>
            </a:extLst>
          </p:cNvPr>
          <p:cNvSpPr txBox="1"/>
          <p:nvPr/>
        </p:nvSpPr>
        <p:spPr>
          <a:xfrm>
            <a:off x="4217987" y="3330411"/>
            <a:ext cx="6094763" cy="338554"/>
          </a:xfrm>
          <a:prstGeom prst="rect">
            <a:avLst/>
          </a:prstGeom>
          <a:noFill/>
        </p:spPr>
        <p:txBody>
          <a:bodyPr wrap="square">
            <a:spAutoFit/>
          </a:bodyPr>
          <a:lstStyle/>
          <a:p>
            <a:r>
              <a:rPr lang="en-US" sz="1600" dirty="0">
                <a:hlinkClick r:id="rId3"/>
              </a:rPr>
              <a:t>Azure Virtual WAN Overview | Microsoft Docs</a:t>
            </a:r>
            <a:endParaRPr lang="en-US" sz="1765" dirty="0"/>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207320" y="317824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93646" y="2652321"/>
            <a:ext cx="1465263" cy="2130976"/>
          </a:xfrm>
          <a:prstGeom prst="rect">
            <a:avLst/>
          </a:prstGeom>
        </p:spPr>
      </p:pic>
      <p:cxnSp>
        <p:nvCxnSpPr>
          <p:cNvPr id="5" name="Straight Connector 4">
            <a:extLst>
              <a:ext uri="{FF2B5EF4-FFF2-40B4-BE49-F238E27FC236}">
                <a16:creationId xmlns:a16="http://schemas.microsoft.com/office/drawing/2014/main" id="{454DC8C7-C45F-482D-868A-EA213B189908}"/>
              </a:ext>
              <a:ext uri="{C183D7F6-B498-43B3-948B-1728B52AA6E4}">
                <adec:decorative xmlns:adec="http://schemas.microsoft.com/office/drawing/2017/decorative" val="1"/>
              </a:ext>
            </a:extLst>
          </p:cNvPr>
          <p:cNvCxnSpPr>
            <a:cxnSpLocks/>
          </p:cNvCxnSpPr>
          <p:nvPr/>
        </p:nvCxnSpPr>
        <p:spPr>
          <a:xfrm>
            <a:off x="4207320" y="386365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F273F4E-9654-4443-B060-3B34AFEC0D58}"/>
              </a:ext>
            </a:extLst>
          </p:cNvPr>
          <p:cNvSpPr txBox="1"/>
          <p:nvPr/>
        </p:nvSpPr>
        <p:spPr>
          <a:xfrm>
            <a:off x="4189871" y="2413068"/>
            <a:ext cx="6093994" cy="369332"/>
          </a:xfrm>
          <a:prstGeom prst="rect">
            <a:avLst/>
          </a:prstGeom>
          <a:noFill/>
        </p:spPr>
        <p:txBody>
          <a:bodyPr wrap="square">
            <a:spAutoFit/>
          </a:bodyPr>
          <a:lstStyle/>
          <a:p>
            <a:r>
              <a:rPr lang="en-US" dirty="0">
                <a:hlinkClick r:id="rId5"/>
              </a:rPr>
              <a:t>Virtual WAN documentation | Microsoft Docs</a:t>
            </a:r>
            <a:endParaRPr lang="en-US" dirty="0"/>
          </a:p>
        </p:txBody>
      </p:sp>
    </p:spTree>
    <p:extLst>
      <p:ext uri="{BB962C8B-B14F-4D97-AF65-F5344CB8AC3E}">
        <p14:creationId xmlns:p14="http://schemas.microsoft.com/office/powerpoint/2010/main" val="227549662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55BCA8-2E9F-41E6-894C-C7C95CF8904B}"/>
              </a:ext>
            </a:extLst>
          </p:cNvPr>
          <p:cNvSpPr>
            <a:spLocks noGrp="1"/>
          </p:cNvSpPr>
          <p:nvPr>
            <p:ph type="title"/>
          </p:nvPr>
        </p:nvSpPr>
        <p:spPr>
          <a:xfrm>
            <a:off x="585217" y="2940213"/>
            <a:ext cx="8892608" cy="977575"/>
          </a:xfrm>
        </p:spPr>
        <p:txBody>
          <a:bodyPr/>
          <a:lstStyle/>
          <a:p>
            <a:r>
              <a:rPr lang="en-US" dirty="0"/>
              <a:t>Lesson 06: Exercise: create a virtual WAN by using the Azure portal </a:t>
            </a:r>
          </a:p>
        </p:txBody>
      </p:sp>
      <p:grpSp>
        <p:nvGrpSpPr>
          <p:cNvPr id="4" name="Group 3">
            <a:extLst>
              <a:ext uri="{FF2B5EF4-FFF2-40B4-BE49-F238E27FC236}">
                <a16:creationId xmlns:a16="http://schemas.microsoft.com/office/drawing/2014/main" id="{E4968AD0-4690-425E-95AD-2619501B6BB6}"/>
              </a:ext>
              <a:ext uri="{C183D7F6-B498-43B3-948B-1728B52AA6E4}">
                <adec:decorative xmlns:adec="http://schemas.microsoft.com/office/drawing/2017/decorative" val="1"/>
              </a:ext>
            </a:extLst>
          </p:cNvPr>
          <p:cNvGrpSpPr/>
          <p:nvPr/>
        </p:nvGrpSpPr>
        <p:grpSpPr>
          <a:xfrm>
            <a:off x="10349659" y="3070379"/>
            <a:ext cx="717140" cy="717242"/>
            <a:chOff x="6229350" y="2287883"/>
            <a:chExt cx="717140" cy="717242"/>
          </a:xfrm>
        </p:grpSpPr>
        <p:grpSp>
          <p:nvGrpSpPr>
            <p:cNvPr id="5" name="Group 4">
              <a:extLst>
                <a:ext uri="{FF2B5EF4-FFF2-40B4-BE49-F238E27FC236}">
                  <a16:creationId xmlns:a16="http://schemas.microsoft.com/office/drawing/2014/main" id="{78FA4442-40A2-4E08-935E-B69FB1683513}"/>
                </a:ext>
              </a:extLst>
            </p:cNvPr>
            <p:cNvGrpSpPr/>
            <p:nvPr/>
          </p:nvGrpSpPr>
          <p:grpSpPr>
            <a:xfrm>
              <a:off x="6229350" y="2287883"/>
              <a:ext cx="717140" cy="717242"/>
              <a:chOff x="6229350" y="2287883"/>
              <a:chExt cx="717140" cy="717242"/>
            </a:xfrm>
          </p:grpSpPr>
          <p:sp>
            <p:nvSpPr>
              <p:cNvPr id="7" name="Freeform 5">
                <a:extLst>
                  <a:ext uri="{FF2B5EF4-FFF2-40B4-BE49-F238E27FC236}">
                    <a16:creationId xmlns:a16="http://schemas.microsoft.com/office/drawing/2014/main" id="{96895A2D-EAC2-4A2C-B0B5-79C61025CD2C}"/>
                  </a:ext>
                </a:extLst>
              </p:cNvPr>
              <p:cNvSpPr>
                <a:spLocks/>
              </p:cNvSpPr>
              <p:nvPr/>
            </p:nvSpPr>
            <p:spPr bwMode="auto">
              <a:xfrm>
                <a:off x="6229350" y="2287883"/>
                <a:ext cx="717140" cy="717242"/>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898775A9-E8CF-413F-9078-7C8BD220A437}"/>
                  </a:ext>
                </a:extLst>
              </p:cNvPr>
              <p:cNvSpPr>
                <a:spLocks noEditPoints="1"/>
              </p:cNvSpPr>
              <p:nvPr/>
            </p:nvSpPr>
            <p:spPr bwMode="auto">
              <a:xfrm>
                <a:off x="6279248" y="2338949"/>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C643216A-76DF-4260-B26E-988AEE677C7D}"/>
                </a:ext>
              </a:extLst>
            </p:cNvPr>
            <p:cNvPicPr>
              <a:picLocks noChangeAspect="1"/>
            </p:cNvPicPr>
            <p:nvPr/>
          </p:nvPicPr>
          <p:blipFill>
            <a:blip r:embed="rId2"/>
            <a:stretch>
              <a:fillRect/>
            </a:stretch>
          </p:blipFill>
          <p:spPr>
            <a:xfrm>
              <a:off x="6399474" y="2458059"/>
              <a:ext cx="376892" cy="376890"/>
            </a:xfrm>
            <a:prstGeom prst="rect">
              <a:avLst/>
            </a:prstGeom>
          </p:spPr>
        </p:pic>
      </p:grpSp>
    </p:spTree>
    <p:extLst>
      <p:ext uri="{BB962C8B-B14F-4D97-AF65-F5344CB8AC3E}">
        <p14:creationId xmlns:p14="http://schemas.microsoft.com/office/powerpoint/2010/main" val="403596129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p:txBody>
          <a:bodyPr/>
          <a:lstStyle/>
          <a:p>
            <a:r>
              <a:rPr lang="en-US" dirty="0"/>
              <a:t>Exercise – Create a Virtual WAN by using Azure Portal </a:t>
            </a:r>
          </a:p>
        </p:txBody>
      </p:sp>
      <p:sp>
        <p:nvSpPr>
          <p:cNvPr id="9" name="Text Placeholder 2">
            <a:extLst>
              <a:ext uri="{FF2B5EF4-FFF2-40B4-BE49-F238E27FC236}">
                <a16:creationId xmlns:a16="http://schemas.microsoft.com/office/drawing/2014/main" id="{43BA7460-A038-41F9-BB3E-DC845C92162D}"/>
              </a:ext>
            </a:extLst>
          </p:cNvPr>
          <p:cNvSpPr txBox="1">
            <a:spLocks/>
          </p:cNvSpPr>
          <p:nvPr/>
        </p:nvSpPr>
        <p:spPr>
          <a:xfrm>
            <a:off x="418644" y="3406345"/>
            <a:ext cx="11354714" cy="39224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549" spc="0">
                <a:solidFill>
                  <a:schemeClr val="tx2">
                    <a:lumMod val="50000"/>
                  </a:schemeClr>
                </a:solidFill>
                <a:cs typeface="Segoe UI Semilight"/>
              </a:rPr>
              <a:t>Objectives</a:t>
            </a:r>
          </a:p>
        </p:txBody>
      </p:sp>
      <p:sp>
        <p:nvSpPr>
          <p:cNvPr id="10" name="Rectangle 9">
            <a:extLst>
              <a:ext uri="{FF2B5EF4-FFF2-40B4-BE49-F238E27FC236}">
                <a16:creationId xmlns:a16="http://schemas.microsoft.com/office/drawing/2014/main" id="{E837A414-E8D5-4CBA-93AD-06BEA10E37C6}"/>
              </a:ext>
            </a:extLst>
          </p:cNvPr>
          <p:cNvSpPr/>
          <p:nvPr/>
        </p:nvSpPr>
        <p:spPr bwMode="auto">
          <a:xfrm>
            <a:off x="418642" y="3947245"/>
            <a:ext cx="368364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spcBef>
                <a:spcPts val="392"/>
              </a:spcBef>
              <a:buSzPct val="90000"/>
            </a:pPr>
            <a:r>
              <a:rPr lang="en-US" sz="2157" dirty="0">
                <a:solidFill>
                  <a:schemeClr val="tx2">
                    <a:lumMod val="50000"/>
                  </a:schemeClr>
                </a:solidFill>
                <a:latin typeface="+mj-lt"/>
                <a:cs typeface="Segoe UI Semilight"/>
              </a:rPr>
              <a:t>Task 1:</a:t>
            </a:r>
            <a:endParaRPr lang="en-US" sz="1961" dirty="0">
              <a:solidFill>
                <a:schemeClr val="tx2">
                  <a:lumMod val="50000"/>
                </a:schemeClr>
              </a:solidFill>
              <a:latin typeface="+mj-lt"/>
              <a:cs typeface="Segoe UI Semilight"/>
            </a:endParaRPr>
          </a:p>
          <a:p>
            <a:pPr>
              <a:spcBef>
                <a:spcPts val="392"/>
              </a:spcBef>
              <a:buSzPct val="90000"/>
            </a:pPr>
            <a:r>
              <a:rPr lang="en-US" sz="2157" dirty="0">
                <a:solidFill>
                  <a:schemeClr val="tx1"/>
                </a:solidFill>
                <a:cs typeface="Segoe UI Semilight"/>
              </a:rPr>
              <a:t>Create a Virtual WAN</a:t>
            </a:r>
            <a:endParaRPr lang="en-US" sz="1961" dirty="0">
              <a:solidFill>
                <a:schemeClr val="tx1"/>
              </a:solidFill>
              <a:cs typeface="Segoe UI Semilight"/>
            </a:endParaRPr>
          </a:p>
        </p:txBody>
      </p:sp>
      <p:sp>
        <p:nvSpPr>
          <p:cNvPr id="11" name="Rectangle 10">
            <a:extLst>
              <a:ext uri="{FF2B5EF4-FFF2-40B4-BE49-F238E27FC236}">
                <a16:creationId xmlns:a16="http://schemas.microsoft.com/office/drawing/2014/main" id="{B01FDC13-AD03-4A28-8568-CEB85FDA7CB4}"/>
              </a:ext>
            </a:extLst>
          </p:cNvPr>
          <p:cNvSpPr/>
          <p:nvPr/>
        </p:nvSpPr>
        <p:spPr bwMode="auto">
          <a:xfrm>
            <a:off x="4271114" y="3947245"/>
            <a:ext cx="368364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spcBef>
                <a:spcPts val="392"/>
              </a:spcBef>
              <a:buSzPct val="90000"/>
            </a:pPr>
            <a:r>
              <a:rPr lang="en-US" sz="2157" dirty="0">
                <a:solidFill>
                  <a:schemeClr val="tx2">
                    <a:lumMod val="50000"/>
                  </a:schemeClr>
                </a:solidFill>
                <a:latin typeface="+mj-lt"/>
                <a:cs typeface="Segoe UI Semilight"/>
              </a:rPr>
              <a:t>Task 2:</a:t>
            </a:r>
          </a:p>
          <a:p>
            <a:pPr>
              <a:spcBef>
                <a:spcPts val="392"/>
              </a:spcBef>
              <a:buSzPct val="90000"/>
            </a:pPr>
            <a:r>
              <a:rPr lang="en-US" sz="2157" dirty="0">
                <a:solidFill>
                  <a:schemeClr val="tx1"/>
                </a:solidFill>
                <a:cs typeface="Segoe UI Semilight"/>
              </a:rPr>
              <a:t>Create a hub</a:t>
            </a:r>
          </a:p>
        </p:txBody>
      </p:sp>
      <p:sp>
        <p:nvSpPr>
          <p:cNvPr id="12" name="Rectangle 11">
            <a:extLst>
              <a:ext uri="{FF2B5EF4-FFF2-40B4-BE49-F238E27FC236}">
                <a16:creationId xmlns:a16="http://schemas.microsoft.com/office/drawing/2014/main" id="{F63C5C72-2518-4F8D-901F-69B6AF256B2E}"/>
              </a:ext>
            </a:extLst>
          </p:cNvPr>
          <p:cNvSpPr/>
          <p:nvPr/>
        </p:nvSpPr>
        <p:spPr bwMode="auto">
          <a:xfrm>
            <a:off x="8089716" y="3947245"/>
            <a:ext cx="3683642" cy="131195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t" anchorCtr="0">
            <a:noAutofit/>
          </a:bodyPr>
          <a:lstStyle/>
          <a:p>
            <a:pPr>
              <a:spcBef>
                <a:spcPts val="392"/>
              </a:spcBef>
              <a:buSzPct val="90000"/>
            </a:pPr>
            <a:r>
              <a:rPr lang="en-US" sz="2157" dirty="0">
                <a:solidFill>
                  <a:schemeClr val="tx2">
                    <a:lumMod val="50000"/>
                  </a:schemeClr>
                </a:solidFill>
                <a:latin typeface="+mj-lt"/>
                <a:cs typeface="Segoe UI Semilight"/>
              </a:rPr>
              <a:t>Task 3:</a:t>
            </a:r>
          </a:p>
          <a:p>
            <a:pPr>
              <a:spcBef>
                <a:spcPts val="392"/>
              </a:spcBef>
              <a:buSzPct val="90000"/>
            </a:pPr>
            <a:r>
              <a:rPr lang="en-US" sz="2157" dirty="0">
                <a:solidFill>
                  <a:schemeClr val="tx1"/>
                </a:solidFill>
                <a:cs typeface="Segoe UI Semilight"/>
              </a:rPr>
              <a:t>Connect a VNet to the Virtual Hub</a:t>
            </a:r>
          </a:p>
          <a:p>
            <a:pPr>
              <a:spcBef>
                <a:spcPts val="392"/>
              </a:spcBef>
              <a:buSzPct val="90000"/>
            </a:pPr>
            <a:r>
              <a:rPr lang="en-US" sz="2157" dirty="0">
                <a:solidFill>
                  <a:schemeClr val="tx1"/>
                </a:solidFill>
                <a:cs typeface="Segoe UI Semilight"/>
              </a:rPr>
              <a:t> </a:t>
            </a:r>
          </a:p>
        </p:txBody>
      </p:sp>
      <p:pic>
        <p:nvPicPr>
          <p:cNvPr id="3" name="Picture 2" descr="Connect a non-Contoso VNet (the Remote Tenant) to a Contoso virtual hub (the Parent Tenant).">
            <a:extLst>
              <a:ext uri="{FF2B5EF4-FFF2-40B4-BE49-F238E27FC236}">
                <a16:creationId xmlns:a16="http://schemas.microsoft.com/office/drawing/2014/main" id="{C7E70A5B-9D7C-4CFB-9260-36A62874D518}"/>
              </a:ext>
            </a:extLst>
          </p:cNvPr>
          <p:cNvPicPr/>
          <p:nvPr/>
        </p:nvPicPr>
        <p:blipFill rotWithShape="1">
          <a:blip r:embed="rId3"/>
          <a:srcRect l="-316" r="45644"/>
          <a:stretch/>
        </p:blipFill>
        <p:spPr bwMode="auto">
          <a:xfrm>
            <a:off x="3625942" y="1023565"/>
            <a:ext cx="4586725" cy="2808572"/>
          </a:xfrm>
          <a:prstGeom prst="rect">
            <a:avLst/>
          </a:prstGeom>
          <a:noFill/>
          <a:ln>
            <a:noFill/>
          </a:ln>
        </p:spPr>
      </p:pic>
      <p:sp>
        <p:nvSpPr>
          <p:cNvPr id="4" name="Rectangle 3">
            <a:extLst>
              <a:ext uri="{FF2B5EF4-FFF2-40B4-BE49-F238E27FC236}">
                <a16:creationId xmlns:a16="http://schemas.microsoft.com/office/drawing/2014/main" id="{06A790E2-74DA-4C81-85B7-E595A73E4FC1}"/>
              </a:ext>
              <a:ext uri="{C183D7F6-B498-43B3-948B-1728B52AA6E4}">
                <adec:decorative xmlns:adec="http://schemas.microsoft.com/office/drawing/2017/decorative" val="1"/>
              </a:ext>
            </a:extLst>
          </p:cNvPr>
          <p:cNvSpPr/>
          <p:nvPr/>
        </p:nvSpPr>
        <p:spPr bwMode="auto">
          <a:xfrm>
            <a:off x="3625942" y="1172219"/>
            <a:ext cx="4963422" cy="238044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51460835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55BCA8-2E9F-41E6-894C-C7C95CF8904B}"/>
              </a:ext>
            </a:extLst>
          </p:cNvPr>
          <p:cNvSpPr>
            <a:spLocks noGrp="1"/>
          </p:cNvSpPr>
          <p:nvPr>
            <p:ph type="title"/>
          </p:nvPr>
        </p:nvSpPr>
        <p:spPr>
          <a:xfrm>
            <a:off x="585217" y="2940213"/>
            <a:ext cx="8892608" cy="977575"/>
          </a:xfrm>
        </p:spPr>
        <p:txBody>
          <a:bodyPr/>
          <a:lstStyle/>
          <a:p>
            <a:r>
              <a:rPr lang="en-US"/>
              <a:t>Lesson 07: Create a network virtual appliance (NVA) in a virtual hub</a:t>
            </a:r>
          </a:p>
        </p:txBody>
      </p:sp>
      <p:grpSp>
        <p:nvGrpSpPr>
          <p:cNvPr id="4" name="Group 3">
            <a:extLst>
              <a:ext uri="{FF2B5EF4-FFF2-40B4-BE49-F238E27FC236}">
                <a16:creationId xmlns:a16="http://schemas.microsoft.com/office/drawing/2014/main" id="{B116713C-ED97-414E-9C70-A1241327E0CA}"/>
              </a:ext>
              <a:ext uri="{C183D7F6-B498-43B3-948B-1728B52AA6E4}">
                <adec:decorative xmlns:adec="http://schemas.microsoft.com/office/drawing/2017/decorative" val="1"/>
              </a:ext>
            </a:extLst>
          </p:cNvPr>
          <p:cNvGrpSpPr/>
          <p:nvPr/>
        </p:nvGrpSpPr>
        <p:grpSpPr>
          <a:xfrm>
            <a:off x="10327625" y="3070379"/>
            <a:ext cx="717140" cy="717242"/>
            <a:chOff x="6229350" y="3134008"/>
            <a:chExt cx="717140" cy="717242"/>
          </a:xfrm>
        </p:grpSpPr>
        <p:grpSp>
          <p:nvGrpSpPr>
            <p:cNvPr id="5" name="Group 4">
              <a:extLst>
                <a:ext uri="{FF2B5EF4-FFF2-40B4-BE49-F238E27FC236}">
                  <a16:creationId xmlns:a16="http://schemas.microsoft.com/office/drawing/2014/main" id="{7DF7A186-CA63-47EA-9773-607D4BCE42AC}"/>
                </a:ext>
              </a:extLst>
            </p:cNvPr>
            <p:cNvGrpSpPr/>
            <p:nvPr/>
          </p:nvGrpSpPr>
          <p:grpSpPr>
            <a:xfrm>
              <a:off x="6229350" y="3134008"/>
              <a:ext cx="717140" cy="717242"/>
              <a:chOff x="6229350" y="3134008"/>
              <a:chExt cx="717140" cy="717242"/>
            </a:xfrm>
          </p:grpSpPr>
          <p:sp>
            <p:nvSpPr>
              <p:cNvPr id="7" name="Freeform 5">
                <a:extLst>
                  <a:ext uri="{FF2B5EF4-FFF2-40B4-BE49-F238E27FC236}">
                    <a16:creationId xmlns:a16="http://schemas.microsoft.com/office/drawing/2014/main" id="{B60C81CE-414F-49BF-A3CC-73D904C17693}"/>
                  </a:ext>
                </a:extLst>
              </p:cNvPr>
              <p:cNvSpPr>
                <a:spLocks/>
              </p:cNvSpPr>
              <p:nvPr/>
            </p:nvSpPr>
            <p:spPr bwMode="auto">
              <a:xfrm>
                <a:off x="6229350" y="3134008"/>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778103D8-A7AA-4310-A201-3E6B34B0B26D}"/>
                  </a:ext>
                </a:extLst>
              </p:cNvPr>
              <p:cNvSpPr>
                <a:spLocks noEditPoints="1"/>
              </p:cNvSpPr>
              <p:nvPr/>
            </p:nvSpPr>
            <p:spPr bwMode="auto">
              <a:xfrm>
                <a:off x="6279248" y="3185074"/>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EAD3F066-EB36-4D73-9516-AAC57920F430}"/>
                </a:ext>
              </a:extLst>
            </p:cNvPr>
            <p:cNvPicPr>
              <a:picLocks noChangeAspect="1"/>
            </p:cNvPicPr>
            <p:nvPr/>
          </p:nvPicPr>
          <p:blipFill>
            <a:blip r:embed="rId3"/>
            <a:stretch>
              <a:fillRect/>
            </a:stretch>
          </p:blipFill>
          <p:spPr>
            <a:xfrm>
              <a:off x="6337313" y="3382030"/>
              <a:ext cx="501214" cy="221198"/>
            </a:xfrm>
            <a:prstGeom prst="rect">
              <a:avLst/>
            </a:prstGeom>
          </p:spPr>
        </p:pic>
      </p:grpSp>
    </p:spTree>
    <p:extLst>
      <p:ext uri="{BB962C8B-B14F-4D97-AF65-F5344CB8AC3E}">
        <p14:creationId xmlns:p14="http://schemas.microsoft.com/office/powerpoint/2010/main" val="294418842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 network virtual appliance (NVA) in a virtual hub overview</a:t>
            </a:r>
          </a:p>
        </p:txBody>
      </p:sp>
      <p:sp>
        <p:nvSpPr>
          <p:cNvPr id="6" name="Text Placeholder 5"/>
          <p:cNvSpPr>
            <a:spLocks noGrp="1"/>
          </p:cNvSpPr>
          <p:nvPr>
            <p:ph type="body" sz="quarter" idx="21"/>
          </p:nvPr>
        </p:nvSpPr>
        <p:spPr/>
        <p:txBody>
          <a:bodyPr/>
          <a:lstStyle/>
          <a:p>
            <a:pPr lvl="1"/>
            <a:r>
              <a:rPr lang="en-US" dirty="0"/>
              <a:t>Manage an NVA in a Virtual Hub</a:t>
            </a:r>
          </a:p>
        </p:txBody>
      </p:sp>
      <p:sp>
        <p:nvSpPr>
          <p:cNvPr id="2" name="Text Placeholder 1"/>
          <p:cNvSpPr>
            <a:spLocks noGrp="1"/>
          </p:cNvSpPr>
          <p:nvPr>
            <p:ph type="body" sz="quarter" idx="22"/>
          </p:nvPr>
        </p:nvSpPr>
        <p:spPr/>
        <p:txBody>
          <a:bodyPr/>
          <a:lstStyle/>
          <a:p>
            <a:pPr lvl="1"/>
            <a:r>
              <a:rPr lang="en-US" dirty="0"/>
              <a:t>Deploy an NVA in your Virtual Hub </a:t>
            </a:r>
          </a:p>
        </p:txBody>
      </p:sp>
      <p:sp>
        <p:nvSpPr>
          <p:cNvPr id="3" name="Text Placeholder 2"/>
          <p:cNvSpPr>
            <a:spLocks noGrp="1"/>
          </p:cNvSpPr>
          <p:nvPr>
            <p:ph type="body" sz="quarter" idx="23"/>
          </p:nvPr>
        </p:nvSpPr>
        <p:spPr/>
        <p:txBody>
          <a:bodyPr/>
          <a:lstStyle/>
          <a:p>
            <a:pPr lvl="1"/>
            <a:r>
              <a:rPr lang="en-US" dirty="0"/>
              <a:t>Review</a:t>
            </a:r>
          </a:p>
        </p:txBody>
      </p:sp>
      <p:grpSp>
        <p:nvGrpSpPr>
          <p:cNvPr id="4" name="Group 3">
            <a:extLst>
              <a:ext uri="{FF2B5EF4-FFF2-40B4-BE49-F238E27FC236}">
                <a16:creationId xmlns:a16="http://schemas.microsoft.com/office/drawing/2014/main" id="{E1A972FE-756D-4C31-9EB2-1DC035FB6EB4}"/>
              </a:ext>
              <a:ext uri="{C183D7F6-B498-43B3-948B-1728B52AA6E4}">
                <adec:decorative xmlns:adec="http://schemas.microsoft.com/office/drawing/2017/decorative" val="1"/>
              </a:ext>
            </a:extLst>
          </p:cNvPr>
          <p:cNvGrpSpPr/>
          <p:nvPr/>
        </p:nvGrpSpPr>
        <p:grpSpPr>
          <a:xfrm>
            <a:off x="3031668" y="1620002"/>
            <a:ext cx="702132" cy="3617998"/>
            <a:chOff x="3031668" y="1620002"/>
            <a:chExt cx="702132" cy="3617998"/>
          </a:xfrm>
        </p:grpSpPr>
        <p:grpSp>
          <p:nvGrpSpPr>
            <p:cNvPr id="21" name="Group 20">
              <a:extLst>
                <a:ext uri="{FF2B5EF4-FFF2-40B4-BE49-F238E27FC236}">
                  <a16:creationId xmlns:a16="http://schemas.microsoft.com/office/drawing/2014/main" id="{7F0EA0D2-F5BD-4609-9E3A-21CFB6B3C81C}"/>
                </a:ext>
              </a:extLst>
            </p:cNvPr>
            <p:cNvGrpSpPr/>
            <p:nvPr/>
          </p:nvGrpSpPr>
          <p:grpSpPr>
            <a:xfrm>
              <a:off x="3031668" y="1620002"/>
              <a:ext cx="702132" cy="702232"/>
              <a:chOff x="3031668" y="1620002"/>
              <a:chExt cx="702132" cy="702232"/>
            </a:xfrm>
          </p:grpSpPr>
          <p:grpSp>
            <p:nvGrpSpPr>
              <p:cNvPr id="14" name="Group 13">
                <a:extLst>
                  <a:ext uri="{FF2B5EF4-FFF2-40B4-BE49-F238E27FC236}">
                    <a16:creationId xmlns:a16="http://schemas.microsoft.com/office/drawing/2014/main" id="{2A3BFF39-13AE-4902-A9D8-31EA3D524816}"/>
                  </a:ext>
                </a:extLst>
              </p:cNvPr>
              <p:cNvGrpSpPr/>
              <p:nvPr/>
            </p:nvGrpSpPr>
            <p:grpSpPr>
              <a:xfrm>
                <a:off x="3031668" y="1620002"/>
                <a:ext cx="702132" cy="702232"/>
                <a:chOff x="3031668" y="1620002"/>
                <a:chExt cx="702132" cy="702232"/>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3031668" y="1620002"/>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3080522" y="1670000"/>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0" name="Picture 9" descr="Icon of three concentric arcs">
                <a:extLst>
                  <a:ext uri="{FF2B5EF4-FFF2-40B4-BE49-F238E27FC236}">
                    <a16:creationId xmlns:a16="http://schemas.microsoft.com/office/drawing/2014/main" id="{C8C1464E-38F7-429A-A682-48FE4C614C97}"/>
                  </a:ext>
                </a:extLst>
              </p:cNvPr>
              <p:cNvPicPr>
                <a:picLocks noChangeAspect="1"/>
              </p:cNvPicPr>
              <p:nvPr/>
            </p:nvPicPr>
            <p:blipFill>
              <a:blip r:embed="rId3"/>
              <a:stretch>
                <a:fillRect/>
              </a:stretch>
            </p:blipFill>
            <p:spPr>
              <a:xfrm>
                <a:off x="3196572" y="1784956"/>
                <a:ext cx="372325" cy="372325"/>
              </a:xfrm>
              <a:prstGeom prst="rect">
                <a:avLst/>
              </a:prstGeom>
            </p:spPr>
          </p:pic>
        </p:grpSp>
        <p:grpSp>
          <p:nvGrpSpPr>
            <p:cNvPr id="20" name="Group 19">
              <a:extLst>
                <a:ext uri="{FF2B5EF4-FFF2-40B4-BE49-F238E27FC236}">
                  <a16:creationId xmlns:a16="http://schemas.microsoft.com/office/drawing/2014/main" id="{AA12E8A0-A5D4-4407-A411-404DA18AB8A9}"/>
                </a:ext>
              </a:extLst>
            </p:cNvPr>
            <p:cNvGrpSpPr/>
            <p:nvPr/>
          </p:nvGrpSpPr>
          <p:grpSpPr>
            <a:xfrm>
              <a:off x="3031668" y="3077885"/>
              <a:ext cx="702132" cy="702232"/>
              <a:chOff x="3031668" y="3077885"/>
              <a:chExt cx="702132" cy="702232"/>
            </a:xfrm>
          </p:grpSpPr>
          <p:grpSp>
            <p:nvGrpSpPr>
              <p:cNvPr id="15" name="Group 14">
                <a:extLst>
                  <a:ext uri="{FF2B5EF4-FFF2-40B4-BE49-F238E27FC236}">
                    <a16:creationId xmlns:a16="http://schemas.microsoft.com/office/drawing/2014/main" id="{6D4D717F-AEA5-416B-89E3-66232A50CCDC}"/>
                  </a:ext>
                </a:extLst>
              </p:cNvPr>
              <p:cNvGrpSpPr/>
              <p:nvPr/>
            </p:nvGrpSpPr>
            <p:grpSpPr>
              <a:xfrm>
                <a:off x="3031668" y="3077885"/>
                <a:ext cx="702132" cy="702232"/>
                <a:chOff x="3031668" y="3077885"/>
                <a:chExt cx="702132" cy="702232"/>
              </a:xfrm>
            </p:grpSpPr>
            <p:sp>
              <p:nvSpPr>
                <p:cNvPr id="36" name="Freeform 5">
                  <a:extLst>
                    <a:ext uri="{FF2B5EF4-FFF2-40B4-BE49-F238E27FC236}">
                      <a16:creationId xmlns:a16="http://schemas.microsoft.com/office/drawing/2014/main" id="{3F8F9610-0EC3-452C-8CD8-3BB282908543}"/>
                    </a:ext>
                  </a:extLst>
                </p:cNvPr>
                <p:cNvSpPr>
                  <a:spLocks/>
                </p:cNvSpPr>
                <p:nvPr/>
              </p:nvSpPr>
              <p:spPr bwMode="auto">
                <a:xfrm>
                  <a:off x="3031668" y="3077885"/>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37" name="Freeform 6">
                  <a:extLst>
                    <a:ext uri="{FF2B5EF4-FFF2-40B4-BE49-F238E27FC236}">
                      <a16:creationId xmlns:a16="http://schemas.microsoft.com/office/drawing/2014/main" id="{E126B067-1DDD-4966-9349-1E5FD0A6CBB1}"/>
                    </a:ext>
                  </a:extLst>
                </p:cNvPr>
                <p:cNvSpPr>
                  <a:spLocks noEditPoints="1"/>
                </p:cNvSpPr>
                <p:nvPr/>
              </p:nvSpPr>
              <p:spPr bwMode="auto">
                <a:xfrm>
                  <a:off x="3080522" y="3127883"/>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2" name="Picture 11" descr="Icon of a arrow in a circular path with a timer inside the circle">
                <a:extLst>
                  <a:ext uri="{FF2B5EF4-FFF2-40B4-BE49-F238E27FC236}">
                    <a16:creationId xmlns:a16="http://schemas.microsoft.com/office/drawing/2014/main" id="{AF3FD806-281B-4DF3-9F37-7A3996F827BC}"/>
                  </a:ext>
                </a:extLst>
              </p:cNvPr>
              <p:cNvPicPr>
                <a:picLocks noChangeAspect="1"/>
              </p:cNvPicPr>
              <p:nvPr/>
            </p:nvPicPr>
            <p:blipFill>
              <a:blip r:embed="rId4"/>
              <a:stretch>
                <a:fillRect/>
              </a:stretch>
            </p:blipFill>
            <p:spPr>
              <a:xfrm>
                <a:off x="3196572" y="3242839"/>
                <a:ext cx="372325" cy="372325"/>
              </a:xfrm>
              <a:prstGeom prst="rect">
                <a:avLst/>
              </a:prstGeom>
            </p:spPr>
          </p:pic>
        </p:grpSp>
        <p:grpSp>
          <p:nvGrpSpPr>
            <p:cNvPr id="19" name="Group 18">
              <a:extLst>
                <a:ext uri="{FF2B5EF4-FFF2-40B4-BE49-F238E27FC236}">
                  <a16:creationId xmlns:a16="http://schemas.microsoft.com/office/drawing/2014/main" id="{2A83C786-B00D-490E-B37F-A04BFDFD3BB3}"/>
                </a:ext>
              </a:extLst>
            </p:cNvPr>
            <p:cNvGrpSpPr/>
            <p:nvPr/>
          </p:nvGrpSpPr>
          <p:grpSpPr>
            <a:xfrm>
              <a:off x="3031668" y="4535768"/>
              <a:ext cx="702132" cy="702232"/>
              <a:chOff x="3031668" y="4535768"/>
              <a:chExt cx="702132" cy="702232"/>
            </a:xfrm>
          </p:grpSpPr>
          <p:grpSp>
            <p:nvGrpSpPr>
              <p:cNvPr id="18" name="Group 17">
                <a:extLst>
                  <a:ext uri="{FF2B5EF4-FFF2-40B4-BE49-F238E27FC236}">
                    <a16:creationId xmlns:a16="http://schemas.microsoft.com/office/drawing/2014/main" id="{17CC6BFE-662E-4AEF-9ACC-A5A3A466EBAB}"/>
                  </a:ext>
                </a:extLst>
              </p:cNvPr>
              <p:cNvGrpSpPr/>
              <p:nvPr/>
            </p:nvGrpSpPr>
            <p:grpSpPr>
              <a:xfrm>
                <a:off x="3031668" y="4535768"/>
                <a:ext cx="702132" cy="702232"/>
                <a:chOff x="3031668" y="4535768"/>
                <a:chExt cx="702132" cy="702232"/>
              </a:xfrm>
            </p:grpSpPr>
            <p:sp>
              <p:nvSpPr>
                <p:cNvPr id="44" name="Freeform 5">
                  <a:extLst>
                    <a:ext uri="{FF2B5EF4-FFF2-40B4-BE49-F238E27FC236}">
                      <a16:creationId xmlns:a16="http://schemas.microsoft.com/office/drawing/2014/main" id="{68545A57-D254-4040-9131-B81B012B454C}"/>
                    </a:ext>
                  </a:extLst>
                </p:cNvPr>
                <p:cNvSpPr>
                  <a:spLocks/>
                </p:cNvSpPr>
                <p:nvPr/>
              </p:nvSpPr>
              <p:spPr bwMode="auto">
                <a:xfrm>
                  <a:off x="3031668" y="453576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sp>
              <p:nvSpPr>
                <p:cNvPr id="45" name="Freeform 6">
                  <a:extLst>
                    <a:ext uri="{FF2B5EF4-FFF2-40B4-BE49-F238E27FC236}">
                      <a16:creationId xmlns:a16="http://schemas.microsoft.com/office/drawing/2014/main" id="{A37A0F79-C2EA-4568-BF05-E46B9DFE0A0D}"/>
                    </a:ext>
                  </a:extLst>
                </p:cNvPr>
                <p:cNvSpPr>
                  <a:spLocks noEditPoints="1"/>
                </p:cNvSpPr>
                <p:nvPr/>
              </p:nvSpPr>
              <p:spPr bwMode="auto">
                <a:xfrm>
                  <a:off x="3080522" y="458576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a:ln>
                      <a:noFill/>
                    </a:ln>
                    <a:solidFill>
                      <a:srgbClr val="000000"/>
                    </a:solidFill>
                    <a:effectLst/>
                    <a:uLnTx/>
                    <a:uFillTx/>
                    <a:latin typeface="Segoe UI"/>
                    <a:ea typeface="+mn-ea"/>
                    <a:cs typeface="+mn-cs"/>
                  </a:endParaRPr>
                </a:p>
              </p:txBody>
            </p:sp>
          </p:grpSp>
          <p:pic>
            <p:nvPicPr>
              <p:cNvPr id="13" name="Picture 12" descr="Icon of a gear inside a circle">
                <a:extLst>
                  <a:ext uri="{FF2B5EF4-FFF2-40B4-BE49-F238E27FC236}">
                    <a16:creationId xmlns:a16="http://schemas.microsoft.com/office/drawing/2014/main" id="{65C31315-C27D-41F3-9F94-06BF61084599}"/>
                  </a:ext>
                </a:extLst>
              </p:cNvPr>
              <p:cNvPicPr>
                <a:picLocks noChangeAspect="1"/>
              </p:cNvPicPr>
              <p:nvPr/>
            </p:nvPicPr>
            <p:blipFill>
              <a:blip r:embed="rId5"/>
              <a:stretch>
                <a:fillRect/>
              </a:stretch>
            </p:blipFill>
            <p:spPr>
              <a:xfrm>
                <a:off x="3196572" y="4700650"/>
                <a:ext cx="372325" cy="372325"/>
              </a:xfrm>
              <a:prstGeom prst="rect">
                <a:avLst/>
              </a:prstGeom>
            </p:spPr>
          </p:pic>
        </p:grpSp>
      </p:grpSp>
    </p:spTree>
    <p:extLst>
      <p:ext uri="{BB962C8B-B14F-4D97-AF65-F5344CB8AC3E}">
        <p14:creationId xmlns:p14="http://schemas.microsoft.com/office/powerpoint/2010/main" val="133865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BC93E7-29A9-4DF8-8CD3-36616EC93DFD}"/>
              </a:ext>
            </a:extLst>
          </p:cNvPr>
          <p:cNvSpPr>
            <a:spLocks noGrp="1"/>
          </p:cNvSpPr>
          <p:nvPr>
            <p:ph type="title"/>
          </p:nvPr>
        </p:nvSpPr>
        <p:spPr/>
        <p:txBody>
          <a:bodyPr/>
          <a:lstStyle/>
          <a:p>
            <a:r>
              <a:rPr lang="en-US"/>
              <a:t>Manage an NVA in a Virtual Hub</a:t>
            </a:r>
          </a:p>
        </p:txBody>
      </p:sp>
      <p:pic>
        <p:nvPicPr>
          <p:cNvPr id="4" name="Picture 3" descr="NVA deployment process.">
            <a:extLst>
              <a:ext uri="{FF2B5EF4-FFF2-40B4-BE49-F238E27FC236}">
                <a16:creationId xmlns:a16="http://schemas.microsoft.com/office/drawing/2014/main" id="{8C10344A-4F8D-46A8-AE4A-049C80EDE424}"/>
              </a:ext>
            </a:extLst>
          </p:cNvPr>
          <p:cNvPicPr/>
          <p:nvPr/>
        </p:nvPicPr>
        <p:blipFill>
          <a:blip r:embed="rId3"/>
          <a:stretch>
            <a:fillRect/>
          </a:stretch>
        </p:blipFill>
        <p:spPr bwMode="auto">
          <a:xfrm>
            <a:off x="2782646" y="2390905"/>
            <a:ext cx="7188596" cy="2076189"/>
          </a:xfrm>
          <a:prstGeom prst="rect">
            <a:avLst/>
          </a:prstGeom>
          <a:noFill/>
          <a:ln>
            <a:noFill/>
          </a:ln>
        </p:spPr>
      </p:pic>
      <p:sp>
        <p:nvSpPr>
          <p:cNvPr id="7" name="Rectangle 6">
            <a:extLst>
              <a:ext uri="{FF2B5EF4-FFF2-40B4-BE49-F238E27FC236}">
                <a16:creationId xmlns:a16="http://schemas.microsoft.com/office/drawing/2014/main" id="{0600584B-56DB-4495-A911-63E6C7B2556C}"/>
              </a:ext>
              <a:ext uri="{C183D7F6-B498-43B3-948B-1728B52AA6E4}">
                <adec:decorative xmlns:adec="http://schemas.microsoft.com/office/drawing/2017/decorative" val="1"/>
              </a:ext>
            </a:extLst>
          </p:cNvPr>
          <p:cNvSpPr/>
          <p:nvPr/>
        </p:nvSpPr>
        <p:spPr bwMode="auto">
          <a:xfrm>
            <a:off x="2220758" y="1627622"/>
            <a:ext cx="8543275" cy="360275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91079453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9910-8EB4-4ED9-8A7E-AC432F2532F6}"/>
              </a:ext>
            </a:extLst>
          </p:cNvPr>
          <p:cNvSpPr>
            <a:spLocks noGrp="1"/>
          </p:cNvSpPr>
          <p:nvPr>
            <p:ph type="title"/>
          </p:nvPr>
        </p:nvSpPr>
        <p:spPr/>
        <p:txBody>
          <a:bodyPr/>
          <a:lstStyle/>
          <a:p>
            <a:r>
              <a:rPr lang="en-US"/>
              <a:t>Deploy an NVA in your Virtual Hub</a:t>
            </a:r>
          </a:p>
        </p:txBody>
      </p:sp>
      <p:sp>
        <p:nvSpPr>
          <p:cNvPr id="3" name="Rectangle 2">
            <a:extLst>
              <a:ext uri="{FF2B5EF4-FFF2-40B4-BE49-F238E27FC236}">
                <a16:creationId xmlns:a16="http://schemas.microsoft.com/office/drawing/2014/main" id="{39EA88EE-AD8E-4D5E-9D51-FE4C27832C1F}"/>
              </a:ext>
              <a:ext uri="{C183D7F6-B498-43B3-948B-1728B52AA6E4}">
                <adec:decorative xmlns:adec="http://schemas.microsoft.com/office/drawing/2017/decorative" val="0"/>
              </a:ext>
            </a:extLst>
          </p:cNvPr>
          <p:cNvSpPr/>
          <p:nvPr/>
        </p:nvSpPr>
        <p:spPr bwMode="auto">
          <a:xfrm>
            <a:off x="455995" y="1372934"/>
            <a:ext cx="4903881" cy="10390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Locate the Virtual WAN hub you created in the previous step and open it</a:t>
            </a:r>
          </a:p>
        </p:txBody>
      </p:sp>
      <p:sp>
        <p:nvSpPr>
          <p:cNvPr id="5" name="Rectangle 4">
            <a:extLst>
              <a:ext uri="{FF2B5EF4-FFF2-40B4-BE49-F238E27FC236}">
                <a16:creationId xmlns:a16="http://schemas.microsoft.com/office/drawing/2014/main" id="{C779B646-21C1-47AC-8E2B-7C1BDDE853E8}"/>
              </a:ext>
              <a:ext uri="{C183D7F6-B498-43B3-948B-1728B52AA6E4}">
                <adec:decorative xmlns:adec="http://schemas.microsoft.com/office/drawing/2017/decorative" val="0"/>
              </a:ext>
            </a:extLst>
          </p:cNvPr>
          <p:cNvSpPr/>
          <p:nvPr/>
        </p:nvSpPr>
        <p:spPr bwMode="auto">
          <a:xfrm>
            <a:off x="455995" y="2599262"/>
            <a:ext cx="4903881" cy="103906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Find the Network Virtual Appliances tile and select the Create link.</a:t>
            </a:r>
          </a:p>
        </p:txBody>
      </p:sp>
      <p:sp>
        <p:nvSpPr>
          <p:cNvPr id="7" name="Rectangle 6">
            <a:extLst>
              <a:ext uri="{FF2B5EF4-FFF2-40B4-BE49-F238E27FC236}">
                <a16:creationId xmlns:a16="http://schemas.microsoft.com/office/drawing/2014/main" id="{EBFC0EDE-1EB1-4C00-B2D7-42D10483D01A}"/>
              </a:ext>
              <a:ext uri="{C183D7F6-B498-43B3-948B-1728B52AA6E4}">
                <adec:decorative xmlns:adec="http://schemas.microsoft.com/office/drawing/2017/decorative" val="0"/>
              </a:ext>
            </a:extLst>
          </p:cNvPr>
          <p:cNvSpPr/>
          <p:nvPr/>
        </p:nvSpPr>
        <p:spPr bwMode="auto">
          <a:xfrm>
            <a:off x="455995" y="3822395"/>
            <a:ext cx="4903881" cy="99656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On the </a:t>
            </a:r>
            <a:r>
              <a:rPr lang="en-US" sz="1765" b="1">
                <a:solidFill>
                  <a:schemeClr val="tx1"/>
                </a:solidFill>
              </a:rPr>
              <a:t>Network Virtual Appliance </a:t>
            </a:r>
            <a:r>
              <a:rPr lang="en-US" sz="1765">
                <a:solidFill>
                  <a:schemeClr val="tx1"/>
                </a:solidFill>
              </a:rPr>
              <a:t>blade, select your preferred provider based on available selections, then select the </a:t>
            </a:r>
            <a:r>
              <a:rPr lang="en-US" sz="1765" b="1">
                <a:solidFill>
                  <a:schemeClr val="tx1"/>
                </a:solidFill>
              </a:rPr>
              <a:t>Create </a:t>
            </a:r>
            <a:r>
              <a:rPr lang="en-US" sz="1765">
                <a:solidFill>
                  <a:schemeClr val="tx1"/>
                </a:solidFill>
              </a:rPr>
              <a:t>button</a:t>
            </a:r>
          </a:p>
        </p:txBody>
      </p:sp>
      <p:sp>
        <p:nvSpPr>
          <p:cNvPr id="4" name="Rectangle 3">
            <a:extLst>
              <a:ext uri="{FF2B5EF4-FFF2-40B4-BE49-F238E27FC236}">
                <a16:creationId xmlns:a16="http://schemas.microsoft.com/office/drawing/2014/main" id="{44CACF87-598D-4935-896A-49E0B77AB406}"/>
              </a:ext>
              <a:ext uri="{C183D7F6-B498-43B3-948B-1728B52AA6E4}">
                <adec:decorative xmlns:adec="http://schemas.microsoft.com/office/drawing/2017/decorative" val="1"/>
              </a:ext>
            </a:extLst>
          </p:cNvPr>
          <p:cNvSpPr/>
          <p:nvPr/>
        </p:nvSpPr>
        <p:spPr bwMode="auto">
          <a:xfrm>
            <a:off x="6832126" y="620428"/>
            <a:ext cx="5218841" cy="550162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pic>
        <p:nvPicPr>
          <p:cNvPr id="12" name="Picture 11" descr="Network virtual appliance options in the Azure portal for Virtual Hub deployments ">
            <a:extLst>
              <a:ext uri="{FF2B5EF4-FFF2-40B4-BE49-F238E27FC236}">
                <a16:creationId xmlns:a16="http://schemas.microsoft.com/office/drawing/2014/main" id="{CDC0EAC2-B7AB-42AA-965B-3B628810C805}"/>
              </a:ext>
            </a:extLst>
          </p:cNvPr>
          <p:cNvPicPr>
            <a:picLocks noChangeAspect="1"/>
          </p:cNvPicPr>
          <p:nvPr/>
        </p:nvPicPr>
        <p:blipFill>
          <a:blip r:embed="rId3"/>
          <a:stretch>
            <a:fillRect/>
          </a:stretch>
        </p:blipFill>
        <p:spPr>
          <a:xfrm>
            <a:off x="6988858" y="1285266"/>
            <a:ext cx="4905375" cy="4171950"/>
          </a:xfrm>
          <a:prstGeom prst="rect">
            <a:avLst/>
          </a:prstGeom>
        </p:spPr>
      </p:pic>
    </p:spTree>
    <p:extLst>
      <p:ext uri="{BB962C8B-B14F-4D97-AF65-F5344CB8AC3E}">
        <p14:creationId xmlns:p14="http://schemas.microsoft.com/office/powerpoint/2010/main" val="226264460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9910-8EB4-4ED9-8A7E-AC432F2532F6}"/>
              </a:ext>
            </a:extLst>
          </p:cNvPr>
          <p:cNvSpPr>
            <a:spLocks noGrp="1"/>
          </p:cNvSpPr>
          <p:nvPr>
            <p:ph type="title"/>
          </p:nvPr>
        </p:nvSpPr>
        <p:spPr/>
        <p:txBody>
          <a:bodyPr/>
          <a:lstStyle/>
          <a:p>
            <a:r>
              <a:rPr lang="en-US"/>
              <a:t>Deploy an NVA in your Virtual Hub Cont. </a:t>
            </a:r>
          </a:p>
        </p:txBody>
      </p:sp>
      <p:sp>
        <p:nvSpPr>
          <p:cNvPr id="3" name="Rectangle 2">
            <a:extLst>
              <a:ext uri="{FF2B5EF4-FFF2-40B4-BE49-F238E27FC236}">
                <a16:creationId xmlns:a16="http://schemas.microsoft.com/office/drawing/2014/main" id="{39EA88EE-AD8E-4D5E-9D51-FE4C27832C1F}"/>
              </a:ext>
              <a:ext uri="{C183D7F6-B498-43B3-948B-1728B52AA6E4}">
                <adec:decorative xmlns:adec="http://schemas.microsoft.com/office/drawing/2017/decorative" val="0"/>
              </a:ext>
            </a:extLst>
          </p:cNvPr>
          <p:cNvSpPr/>
          <p:nvPr/>
        </p:nvSpPr>
        <p:spPr bwMode="auto">
          <a:xfrm>
            <a:off x="455995" y="1372934"/>
            <a:ext cx="4903881" cy="1039064"/>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a:solidFill>
                  <a:schemeClr val="tx1"/>
                </a:solidFill>
              </a:rPr>
              <a:t>Virtual WAN Hub - The Virtual WAN hub you want to deploy this NVA into</a:t>
            </a:r>
          </a:p>
        </p:txBody>
      </p:sp>
      <p:sp>
        <p:nvSpPr>
          <p:cNvPr id="5" name="Rectangle 4">
            <a:extLst>
              <a:ext uri="{FF2B5EF4-FFF2-40B4-BE49-F238E27FC236}">
                <a16:creationId xmlns:a16="http://schemas.microsoft.com/office/drawing/2014/main" id="{C779B646-21C1-47AC-8E2B-7C1BDDE853E8}"/>
              </a:ext>
              <a:ext uri="{C183D7F6-B498-43B3-948B-1728B52AA6E4}">
                <adec:decorative xmlns:adec="http://schemas.microsoft.com/office/drawing/2017/decorative" val="0"/>
              </a:ext>
            </a:extLst>
          </p:cNvPr>
          <p:cNvSpPr/>
          <p:nvPr/>
        </p:nvSpPr>
        <p:spPr bwMode="auto">
          <a:xfrm>
            <a:off x="455995" y="2599262"/>
            <a:ext cx="4903881" cy="221969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765" b="1">
                <a:solidFill>
                  <a:schemeClr val="tx1"/>
                </a:solidFill>
              </a:rPr>
              <a:t>NVA Infrastructure Units </a:t>
            </a:r>
            <a:r>
              <a:rPr lang="en-US" sz="1765">
                <a:solidFill>
                  <a:schemeClr val="tx1"/>
                </a:solidFill>
              </a:rPr>
              <a:t>- Indicate the number of NVA Infrastructure Units you want to deploy this NVA with. Choose the amount of aggregate bandwidth capacity you want to provide across all the branch sites that will be connecting to this hub through this NVA.</a:t>
            </a:r>
          </a:p>
        </p:txBody>
      </p:sp>
      <p:sp>
        <p:nvSpPr>
          <p:cNvPr id="9" name="Rectangle 8">
            <a:extLst>
              <a:ext uri="{FF2B5EF4-FFF2-40B4-BE49-F238E27FC236}">
                <a16:creationId xmlns:a16="http://schemas.microsoft.com/office/drawing/2014/main" id="{FA5AAA32-C795-4C60-ACE1-16949F552D0C}"/>
              </a:ext>
              <a:ext uri="{C183D7F6-B498-43B3-948B-1728B52AA6E4}">
                <adec:decorative xmlns:adec="http://schemas.microsoft.com/office/drawing/2017/decorative" val="0"/>
              </a:ext>
            </a:extLst>
          </p:cNvPr>
          <p:cNvSpPr/>
          <p:nvPr/>
        </p:nvSpPr>
        <p:spPr bwMode="auto">
          <a:xfrm>
            <a:off x="455995" y="5003027"/>
            <a:ext cx="4903881" cy="147292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r>
              <a:rPr lang="en-US" sz="1765">
                <a:solidFill>
                  <a:schemeClr val="tx1"/>
                </a:solidFill>
              </a:rPr>
              <a:t>Token - Barracuda requires that you provide an authentication token here in order to identify yourself as a registered user of this product. You'll need to obtain this from Barracuda.</a:t>
            </a:r>
          </a:p>
        </p:txBody>
      </p:sp>
      <p:pic>
        <p:nvPicPr>
          <p:cNvPr id="9218" name="Picture 2" descr="Azure portal screenshot configuring CloudGen WAN gateway">
            <a:extLst>
              <a:ext uri="{FF2B5EF4-FFF2-40B4-BE49-F238E27FC236}">
                <a16:creationId xmlns:a16="http://schemas.microsoft.com/office/drawing/2014/main" id="{1A31264A-D796-4B76-BA9D-E62FF7BD6B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2126" y="1372934"/>
            <a:ext cx="4522983" cy="4436478"/>
          </a:xfrm>
          <a:prstGeom prst="rect">
            <a:avLst/>
          </a:prstGeom>
          <a:noFill/>
        </p:spPr>
      </p:pic>
      <p:sp>
        <p:nvSpPr>
          <p:cNvPr id="4" name="Rectangle 3">
            <a:extLst>
              <a:ext uri="{FF2B5EF4-FFF2-40B4-BE49-F238E27FC236}">
                <a16:creationId xmlns:a16="http://schemas.microsoft.com/office/drawing/2014/main" id="{65C53EE3-20C7-4EA8-96D0-12F88527CFA8}"/>
              </a:ext>
              <a:ext uri="{C183D7F6-B498-43B3-948B-1728B52AA6E4}">
                <adec:decorative xmlns:adec="http://schemas.microsoft.com/office/drawing/2017/decorative" val="1"/>
              </a:ext>
            </a:extLst>
          </p:cNvPr>
          <p:cNvSpPr/>
          <p:nvPr/>
        </p:nvSpPr>
        <p:spPr bwMode="auto">
          <a:xfrm>
            <a:off x="6241050" y="1199213"/>
            <a:ext cx="5676130" cy="495956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45269272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Create a network virtual appliance (NVA) in a virtual hub - </a:t>
            </a:r>
            <a:r>
              <a:rPr lang="en-US" dirty="0">
                <a:solidFill>
                  <a:schemeClr val="tx1"/>
                </a:solidFill>
              </a:rPr>
              <a:t>Review</a:t>
            </a: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lgn="ctr"/>
            <a:r>
              <a:rPr lang="en-US" sz="1961">
                <a:solidFill>
                  <a:schemeClr val="bg1"/>
                </a:solidFill>
                <a:latin typeface="+mj-lt"/>
              </a:rPr>
              <a:t>Knowledge Check Questions</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a:solidFill>
                  <a:schemeClr val="bg1"/>
                </a:solidFill>
                <a:latin typeface="+mj-lt"/>
              </a:rPr>
              <a:t>Microsoft Learn Modules (docs.microsoft.com/Learn)</a:t>
            </a:r>
          </a:p>
        </p:txBody>
      </p:sp>
      <p:sp>
        <p:nvSpPr>
          <p:cNvPr id="12" name="Rectangle 11">
            <a:extLst>
              <a:ext uri="{FF2B5EF4-FFF2-40B4-BE49-F238E27FC236}">
                <a16:creationId xmlns:a16="http://schemas.microsoft.com/office/drawing/2014/main" id="{ACF8A76B-7FBD-4048-9860-A742DD5D6DB3}"/>
              </a:ext>
              <a:ext uri="{C183D7F6-B498-43B3-948B-1728B52AA6E4}">
                <adec:decorative xmlns:adec="http://schemas.microsoft.com/office/drawing/2017/decorative" val="1"/>
              </a:ext>
            </a:extLst>
          </p:cNvPr>
          <p:cNvSpPr/>
          <p:nvPr/>
        </p:nvSpPr>
        <p:spPr>
          <a:xfrm>
            <a:off x="4189871" y="2271340"/>
            <a:ext cx="7590042" cy="76196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207320" y="317824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493646" y="2652321"/>
            <a:ext cx="1465263" cy="2130976"/>
          </a:xfrm>
          <a:prstGeom prst="rect">
            <a:avLst/>
          </a:prstGeom>
        </p:spPr>
      </p:pic>
      <p:cxnSp>
        <p:nvCxnSpPr>
          <p:cNvPr id="5" name="Straight Connector 4">
            <a:extLst>
              <a:ext uri="{FF2B5EF4-FFF2-40B4-BE49-F238E27FC236}">
                <a16:creationId xmlns:a16="http://schemas.microsoft.com/office/drawing/2014/main" id="{454DC8C7-C45F-482D-868A-EA213B189908}"/>
              </a:ext>
              <a:ext uri="{C183D7F6-B498-43B3-948B-1728B52AA6E4}">
                <adec:decorative xmlns:adec="http://schemas.microsoft.com/office/drawing/2017/decorative" val="1"/>
              </a:ext>
            </a:extLst>
          </p:cNvPr>
          <p:cNvCxnSpPr>
            <a:cxnSpLocks/>
          </p:cNvCxnSpPr>
          <p:nvPr/>
        </p:nvCxnSpPr>
        <p:spPr>
          <a:xfrm>
            <a:off x="4207320" y="386365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C753C45-E1DB-4422-AD39-F7FDDECE382D}"/>
              </a:ext>
            </a:extLst>
          </p:cNvPr>
          <p:cNvSpPr txBox="1"/>
          <p:nvPr/>
        </p:nvSpPr>
        <p:spPr>
          <a:xfrm>
            <a:off x="4207320" y="2337224"/>
            <a:ext cx="6093994" cy="646331"/>
          </a:xfrm>
          <a:prstGeom prst="rect">
            <a:avLst/>
          </a:prstGeom>
          <a:noFill/>
        </p:spPr>
        <p:txBody>
          <a:bodyPr wrap="square">
            <a:spAutoFit/>
          </a:bodyPr>
          <a:lstStyle/>
          <a:p>
            <a:r>
              <a:rPr lang="en-US" dirty="0">
                <a:hlinkClick r:id="rId4"/>
              </a:rPr>
              <a:t>Azure Virtual WAN: About Network Virtual Appliance in the hub | Microsoft Docs</a:t>
            </a:r>
            <a:endParaRPr lang="en-US" dirty="0"/>
          </a:p>
        </p:txBody>
      </p:sp>
      <p:sp>
        <p:nvSpPr>
          <p:cNvPr id="15" name="TextBox 14">
            <a:extLst>
              <a:ext uri="{FF2B5EF4-FFF2-40B4-BE49-F238E27FC236}">
                <a16:creationId xmlns:a16="http://schemas.microsoft.com/office/drawing/2014/main" id="{B8C7AC7B-0D7B-4F44-8727-C437B57B271A}"/>
              </a:ext>
            </a:extLst>
          </p:cNvPr>
          <p:cNvSpPr txBox="1"/>
          <p:nvPr/>
        </p:nvSpPr>
        <p:spPr>
          <a:xfrm>
            <a:off x="4207320" y="3348477"/>
            <a:ext cx="6093994" cy="369332"/>
          </a:xfrm>
          <a:prstGeom prst="rect">
            <a:avLst/>
          </a:prstGeom>
          <a:noFill/>
        </p:spPr>
        <p:txBody>
          <a:bodyPr wrap="square">
            <a:spAutoFit/>
          </a:bodyPr>
          <a:lstStyle/>
          <a:p>
            <a:r>
              <a:rPr lang="en-US" dirty="0">
                <a:hlinkClick r:id="rId5"/>
              </a:rPr>
              <a:t>What is a secured virtual hub? | Microsoft Docs</a:t>
            </a:r>
            <a:endParaRPr lang="en-US" dirty="0"/>
          </a:p>
        </p:txBody>
      </p:sp>
    </p:spTree>
    <p:extLst>
      <p:ext uri="{BB962C8B-B14F-4D97-AF65-F5344CB8AC3E}">
        <p14:creationId xmlns:p14="http://schemas.microsoft.com/office/powerpoint/2010/main" val="81327923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59D499C-F62B-441F-8F48-B6ECBE23E3B5}">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3795589-E38F-4033-B423-D85BBB96F38D}">
  <ds:schemaRefs>
    <ds:schemaRef ds:uri="http://schemas.microsoft.com/sharepoint/v3/contenttype/forms"/>
  </ds:schemaRefs>
</ds:datastoreItem>
</file>

<file path=customXml/itemProps3.xml><?xml version="1.0" encoding="utf-8"?>
<ds:datastoreItem xmlns:ds="http://schemas.openxmlformats.org/officeDocument/2006/customXml" ds:itemID="{89AF64BA-CA5F-4AD1-9A3D-27CC31AE0DC2}">
  <ds:schemaRefs>
    <ds:schemaRef ds:uri="1d16016b-1e11-4dbd-8bd0-b44cb6539c58"/>
    <ds:schemaRef ds:uri="e8bab37c-6053-4066-b569-fd9fbae908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161</TotalTime>
  <Words>6823</Words>
  <Application>Microsoft Office PowerPoint</Application>
  <PresentationFormat>Widescreen</PresentationFormat>
  <Paragraphs>568</Paragraphs>
  <Slides>46</Slides>
  <Notes>39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46</vt:i4>
      </vt:variant>
    </vt:vector>
  </HeadingPairs>
  <TitlesOfParts>
    <vt:vector size="58" baseType="lpstr">
      <vt:lpstr>Arial</vt:lpstr>
      <vt:lpstr>Calibri</vt:lpstr>
      <vt:lpstr>Calibri Light</vt:lpstr>
      <vt:lpstr>Consolas</vt:lpstr>
      <vt:lpstr>Courier New</vt:lpstr>
      <vt:lpstr>Segoe UI</vt:lpstr>
      <vt:lpstr>Segoe UI Semibold</vt:lpstr>
      <vt:lpstr>Segoe UI VSS (Regular)</vt:lpstr>
      <vt:lpstr>Symbol</vt:lpstr>
      <vt:lpstr>Wingdings</vt:lpstr>
      <vt:lpstr>Office Theme</vt:lpstr>
      <vt:lpstr>Microsoft Azure Template</vt:lpstr>
      <vt:lpstr>AZ-700T00A  Module 02: Design and Implement Hybrid Networking</vt:lpstr>
      <vt:lpstr>Module Overview</vt:lpstr>
      <vt:lpstr>Lesson 01: Design and implement Azure VPN gateway</vt:lpstr>
      <vt:lpstr>Design and implement Azure VPN Gateway overview</vt:lpstr>
      <vt:lpstr>Plan a VPN Gateway</vt:lpstr>
      <vt:lpstr>Create the Gateway Subnet</vt:lpstr>
      <vt:lpstr>VPN Gateway Configuration requirements </vt:lpstr>
      <vt:lpstr>Choose the appropriate Gateway SKU and Generation</vt:lpstr>
      <vt:lpstr>Create the Local Network Gateway</vt:lpstr>
      <vt:lpstr>Configure the On-premises VPN Device</vt:lpstr>
      <vt:lpstr>Create the VPN Connection</vt:lpstr>
      <vt:lpstr>Verify and troubleshoot the VPN connection </vt:lpstr>
      <vt:lpstr>High availability options for VPN connections</vt:lpstr>
      <vt:lpstr>Demonstration – VPN gateways</vt:lpstr>
      <vt:lpstr>Summary – Design and implement Azure VPN Gateway </vt:lpstr>
      <vt:lpstr>Lesson 02: Exercise - Create and configure a Virtual Network Gateway</vt:lpstr>
      <vt:lpstr>Exercise –Create and configure a virtual network gateway</vt:lpstr>
      <vt:lpstr>Lesson 03: Connect Networks with Site-to-site VPN Connections</vt:lpstr>
      <vt:lpstr>Connect Networks with Site-to-site VPN Connections overview</vt:lpstr>
      <vt:lpstr>Site-to-site VPN connections</vt:lpstr>
      <vt:lpstr>Summary – Site-to-Site VPN Connections</vt:lpstr>
      <vt:lpstr>Lesson 04: Connect devices to networks with Point-to-site VPN connections</vt:lpstr>
      <vt:lpstr>Connect devices to networks with Point-to-site VPN connections overview</vt:lpstr>
      <vt:lpstr>Point-to-site protocols</vt:lpstr>
      <vt:lpstr>Point-to-site authentication methods</vt:lpstr>
      <vt:lpstr>Prepare Point-to-site configuration in Azure</vt:lpstr>
      <vt:lpstr>Summary – Point-to-Site VPN Connections</vt:lpstr>
      <vt:lpstr>Lesson 05: Connect remote resources by using Azure Virtual WANs</vt:lpstr>
      <vt:lpstr>Connect remote resources by using Azure Virtual WANs overview</vt:lpstr>
      <vt:lpstr>What is Azure Virtual WAN?</vt:lpstr>
      <vt:lpstr>Choose Virtual WAN SKU</vt:lpstr>
      <vt:lpstr>Hub private address space</vt:lpstr>
      <vt:lpstr>Connect cross-tenant VNets to a Virtual WAN hub</vt:lpstr>
      <vt:lpstr>Virtual Hub Routing </vt:lpstr>
      <vt:lpstr>Virtual Hub Routing – continued </vt:lpstr>
      <vt:lpstr>Demonstration – route to shared services using an ARM template </vt:lpstr>
      <vt:lpstr>Connect remote resources by using Azure Virtual WANs Review</vt:lpstr>
      <vt:lpstr>Lesson 06: Exercise: create a virtual WAN by using the Azure portal </vt:lpstr>
      <vt:lpstr>Exercise – Create a Virtual WAN by using Azure Portal </vt:lpstr>
      <vt:lpstr>Lesson 07: Create a network virtual appliance (NVA) in a virtual hub</vt:lpstr>
      <vt:lpstr>Create a network virtual appliance (NVA) in a virtual hub overview</vt:lpstr>
      <vt:lpstr>Manage an NVA in a Virtual Hub</vt:lpstr>
      <vt:lpstr>Deploy an NVA in your Virtual Hub</vt:lpstr>
      <vt:lpstr>Deploy an NVA in your Virtual Hub Cont. </vt:lpstr>
      <vt:lpstr>Create a network virtual appliance (NVA) in a virtual hub - Review</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6</cp:revision>
  <dcterms:created xsi:type="dcterms:W3CDTF">2021-03-31T15:21:38Z</dcterms:created>
  <dcterms:modified xsi:type="dcterms:W3CDTF">2022-02-10T03:26:27Z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
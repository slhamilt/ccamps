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52"/>
  </p:notesMasterIdLst>
  <p:sldIdLst>
    <p:sldId id="2076138181" r:id="rId2"/>
    <p:sldId id="1684" r:id="rId3"/>
    <p:sldId id="2147479969" r:id="rId4"/>
    <p:sldId id="2147479921" r:id="rId5"/>
    <p:sldId id="2147480004" r:id="rId6"/>
    <p:sldId id="2147480005" r:id="rId7"/>
    <p:sldId id="2147480006" r:id="rId8"/>
    <p:sldId id="2147480007" r:id="rId9"/>
    <p:sldId id="2147480008" r:id="rId10"/>
    <p:sldId id="2147480009" r:id="rId11"/>
    <p:sldId id="2147480010" r:id="rId12"/>
    <p:sldId id="2147480011" r:id="rId13"/>
    <p:sldId id="2147480013" r:id="rId14"/>
    <p:sldId id="2147480014" r:id="rId15"/>
    <p:sldId id="2147480015" r:id="rId16"/>
    <p:sldId id="2147480016" r:id="rId17"/>
    <p:sldId id="2147480017" r:id="rId18"/>
    <p:sldId id="2147480018" r:id="rId19"/>
    <p:sldId id="2147480019" r:id="rId20"/>
    <p:sldId id="2147480020" r:id="rId21"/>
    <p:sldId id="2147480021" r:id="rId22"/>
    <p:sldId id="2147480022" r:id="rId23"/>
    <p:sldId id="2147480023" r:id="rId24"/>
    <p:sldId id="2147480025" r:id="rId25"/>
    <p:sldId id="2147480026" r:id="rId26"/>
    <p:sldId id="2147480028" r:id="rId27"/>
    <p:sldId id="2147480027" r:id="rId28"/>
    <p:sldId id="2147480024" r:id="rId29"/>
    <p:sldId id="2147480029" r:id="rId30"/>
    <p:sldId id="2147480030" r:id="rId31"/>
    <p:sldId id="2147480031" r:id="rId32"/>
    <p:sldId id="2147480032" r:id="rId33"/>
    <p:sldId id="2147480033" r:id="rId34"/>
    <p:sldId id="2147480034" r:id="rId35"/>
    <p:sldId id="2147480035" r:id="rId36"/>
    <p:sldId id="2147480036" r:id="rId37"/>
    <p:sldId id="2147480037" r:id="rId38"/>
    <p:sldId id="2147480141" r:id="rId39"/>
    <p:sldId id="2147479655" r:id="rId40"/>
    <p:sldId id="2147480002" r:id="rId41"/>
    <p:sldId id="2147480142" r:id="rId42"/>
    <p:sldId id="2147479894" r:id="rId43"/>
    <p:sldId id="2147480143" r:id="rId44"/>
    <p:sldId id="2147480144" r:id="rId45"/>
    <p:sldId id="2147480145" r:id="rId46"/>
    <p:sldId id="2147480146" r:id="rId47"/>
    <p:sldId id="2147480147" r:id="rId48"/>
    <p:sldId id="2147480148" r:id="rId49"/>
    <p:sldId id="2147480149" r:id="rId50"/>
    <p:sldId id="2147479832"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E4C41"/>
    <a:srgbClr val="AB37CB"/>
    <a:srgbClr val="000000"/>
    <a:srgbClr val="F5F3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7FB3D0-EBB2-7544-9434-ADD5EDF2FAF2}" v="192" dt="2025-06-02T19:16:17.4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717" autoAdjust="0"/>
    <p:restoredTop sz="65306"/>
  </p:normalViewPr>
  <p:slideViewPr>
    <p:cSldViewPr snapToGrid="0">
      <p:cViewPr varScale="1">
        <p:scale>
          <a:sx n="63" d="100"/>
          <a:sy n="63" d="100"/>
        </p:scale>
        <p:origin x="1251"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E8E0B2-FE8F-AE4D-AC2C-4F69FA812173}" type="datetimeFigureOut">
              <a:rPr lang="en-US" smtClean="0"/>
              <a:t>6/12/2025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63B14B-137B-724E-A334-9B66D0E4422B}" type="slidenum">
              <a:rPr lang="en-US" smtClean="0"/>
              <a:t>‹#›</a:t>
            </a:fld>
            <a:endParaRPr lang="en-US"/>
          </a:p>
        </p:txBody>
      </p:sp>
    </p:spTree>
    <p:extLst>
      <p:ext uri="{BB962C8B-B14F-4D97-AF65-F5344CB8AC3E}">
        <p14:creationId xmlns:p14="http://schemas.microsoft.com/office/powerpoint/2010/main" val="1873615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learn.microsoft.com/en-us/training/modules/github-actions-automate-tasks/3-exercise-create-container-action" TargetMode="External"/><Relationship Id="rId3" Type="http://schemas.openxmlformats.org/officeDocument/2006/relationships/hyperlink" Target="https://learn.microsoft.com/en-us/training/paths/github-actions/?wt.mc_id=github_inproduct_actions_mslearn_ghcertregistration" TargetMode="External"/><Relationship Id="rId7" Type="http://schemas.openxmlformats.org/officeDocument/2006/relationships/hyperlink" Target="https://learn.microsoft.com/en-us/training/modules/github-actions-automate-tasks/2c-configure-github-actions-workflow" TargetMode="External"/><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hyperlink" Target="https://learn.microsoft.com/en-us/training/modules/github-actions-automate-tasks/2b-identify-components-workflow" TargetMode="External"/><Relationship Id="rId5" Type="http://schemas.openxmlformats.org/officeDocument/2006/relationships/hyperlink" Target="https://learn.microsoft.com/en-us/training/modules/github-actions-automate-tasks/2-github-actions-automate-development-tasks" TargetMode="External"/><Relationship Id="rId10" Type="http://schemas.openxmlformats.org/officeDocument/2006/relationships/hyperlink" Target="https://learn.microsoft.com/en-us/training/modules/github-actions-automate-tasks/5-summary" TargetMode="External"/><Relationship Id="rId4" Type="http://schemas.openxmlformats.org/officeDocument/2006/relationships/hyperlink" Target="https://learn.microsoft.com/en-us/training/modules/github-actions-automate-tasks/1-introduction" TargetMode="External"/><Relationship Id="rId9" Type="http://schemas.openxmlformats.org/officeDocument/2006/relationships/hyperlink" Target="https://learn.microsoft.com/en-us/training/modules/github-actions-automate-tasks/4-knowledge-check"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docs.github.com/en/actions/using-github-hosted-runners/using-larger-runners/about-larger-runners#machine-sizes-for-larger-runners"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a:t>
            </a:r>
            <a:r>
              <a:rPr lang="en-US" dirty="0" err="1"/>
              <a:t>learn.microsoft.com</a:t>
            </a:r>
            <a:r>
              <a:rPr lang="en-US" dirty="0"/>
              <a:t>/</a:t>
            </a:r>
            <a:r>
              <a:rPr lang="en-US" dirty="0" err="1"/>
              <a:t>en</a:t>
            </a:r>
            <a:r>
              <a:rPr lang="en-US" dirty="0"/>
              <a:t>-us/training/paths/</a:t>
            </a:r>
            <a:r>
              <a:rPr lang="en-US" dirty="0" err="1"/>
              <a:t>github</a:t>
            </a:r>
            <a:r>
              <a:rPr lang="en-US" dirty="0"/>
              <a:t>-actions/</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1373201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b="1" dirty="0"/>
              <a:t>Title: </a:t>
            </a:r>
            <a:r>
              <a:rPr lang="en-US" sz="1200" dirty="0">
                <a:hlinkClick r:id="rId3">
                  <a:extLst>
                    <a:ext uri="{A12FA001-AC4F-418D-AE19-62706E023703}">
                      <ahyp:hlinkClr xmlns:ahyp="http://schemas.microsoft.com/office/drawing/2018/hyperlinkcolor" val="tx"/>
                    </a:ext>
                  </a:extLst>
                </a:hlinkClick>
              </a:rPr>
              <a:t>Module 1: Automate development tasks by using GitHub Actions</a:t>
            </a:r>
            <a:endParaRPr lang="en-US" dirty="0">
              <a:latin typeface="Quattrocento Sans" panose="020B0502050000020003" pitchFamily="34" charset="0"/>
            </a:endParaRPr>
          </a:p>
          <a:p>
            <a:pPr marL="0" indent="0" algn="l">
              <a:buFont typeface="+mj-lt"/>
              <a:buNone/>
            </a:pPr>
            <a:r>
              <a:rPr lang="en-US" b="1" dirty="0"/>
              <a:t>Learning Objectives:</a:t>
            </a:r>
          </a:p>
          <a:p>
            <a:pPr marL="0" indent="0" algn="l">
              <a:buFont typeface="+mj-lt"/>
              <a:buNone/>
            </a:pPr>
            <a:r>
              <a:rPr lang="en-US" dirty="0"/>
              <a:t>By the end of this unit, you'll be able to:</a:t>
            </a:r>
          </a:p>
          <a:p>
            <a:pPr marL="171450" indent="-171450" algn="l">
              <a:buFont typeface="Arial" panose="020B0604020202020204" pitchFamily="34" charset="0"/>
              <a:buChar char="•"/>
            </a:pPr>
            <a:r>
              <a:rPr lang="en-US" dirty="0"/>
              <a:t>Identify GitHub Action types and where to find them </a:t>
            </a:r>
          </a:p>
          <a:p>
            <a:pPr marL="171450" indent="-171450" algn="l">
              <a:buFont typeface="Arial" panose="020B0604020202020204" pitchFamily="34" charset="0"/>
              <a:buChar char="•"/>
            </a:pPr>
            <a:r>
              <a:rPr lang="en-US" dirty="0"/>
              <a:t>Break down the components of a workflow YAML file </a:t>
            </a:r>
          </a:p>
          <a:p>
            <a:pPr marL="171450" indent="-171450" algn="l">
              <a:buFont typeface="Arial" panose="020B0604020202020204" pitchFamily="34" charset="0"/>
              <a:buChar char="•"/>
            </a:pPr>
            <a:r>
              <a:rPr lang="en-US" dirty="0"/>
              <a:t>Design CI/CD and </a:t>
            </a:r>
            <a:r>
              <a:rPr lang="en-US" dirty="0" err="1"/>
              <a:t>IaC</a:t>
            </a:r>
            <a:r>
              <a:rPr lang="en-US" dirty="0"/>
              <a:t> automation strategies </a:t>
            </a:r>
          </a:p>
          <a:p>
            <a:pPr marL="171450" indent="-171450" algn="l">
              <a:buFont typeface="Arial" panose="020B0604020202020204" pitchFamily="34" charset="0"/>
              <a:buChar char="•"/>
            </a:pPr>
            <a:r>
              <a:rPr lang="en-US" dirty="0"/>
              <a:t>Build and trigger a custom container action on push</a:t>
            </a:r>
          </a:p>
          <a:p>
            <a:pPr marL="0" indent="0" algn="l">
              <a:buFont typeface="+mj-lt"/>
              <a:buNone/>
            </a:pPr>
            <a:r>
              <a:rPr lang="en-US" b="1" dirty="0"/>
              <a:t>Module Units</a:t>
            </a:r>
          </a:p>
          <a:p>
            <a:pPr algn="l">
              <a:buFont typeface="Arial" panose="020B0604020202020204" pitchFamily="34" charset="0"/>
              <a:buChar char="•"/>
            </a:pPr>
            <a:r>
              <a:rPr lang="en-US" b="0" i="0" u="none" strike="noStrike" dirty="0">
                <a:solidFill>
                  <a:srgbClr val="161616"/>
                </a:solidFill>
                <a:effectLst/>
                <a:highlight>
                  <a:srgbClr val="FFFFFF"/>
                </a:highlight>
                <a:latin typeface="Segoe UI" panose="020B0502040204020203" pitchFamily="34" charset="0"/>
                <a:hlinkClick r:id="rId4"/>
              </a:rPr>
              <a:t>Introduction</a:t>
            </a:r>
            <a:r>
              <a:rPr lang="en-US" b="0" i="0" dirty="0">
                <a:solidFill>
                  <a:srgbClr val="161616"/>
                </a:solidFill>
                <a:effectLst/>
                <a:highlight>
                  <a:srgbClr val="FFFFFF"/>
                </a:highlight>
                <a:latin typeface="Segoe UI" panose="020B0502040204020203" pitchFamily="34" charset="0"/>
              </a:rPr>
              <a:t>2 min</a:t>
            </a:r>
          </a:p>
          <a:p>
            <a:pPr algn="l">
              <a:buFont typeface="Arial" panose="020B0604020202020204" pitchFamily="34" charset="0"/>
              <a:buChar char="•"/>
            </a:pPr>
            <a:r>
              <a:rPr lang="en-US" b="0" i="0" u="none" strike="noStrike" dirty="0">
                <a:solidFill>
                  <a:srgbClr val="161616"/>
                </a:solidFill>
                <a:effectLst/>
                <a:highlight>
                  <a:srgbClr val="FFFFFF"/>
                </a:highlight>
                <a:latin typeface="Segoe UI" panose="020B0502040204020203" pitchFamily="34" charset="0"/>
                <a:hlinkClick r:id="rId5"/>
              </a:rPr>
              <a:t>How does GitHub Actions automate development tasks?</a:t>
            </a:r>
            <a:r>
              <a:rPr lang="en-US" b="0" i="0" dirty="0">
                <a:solidFill>
                  <a:srgbClr val="161616"/>
                </a:solidFill>
                <a:effectLst/>
                <a:highlight>
                  <a:srgbClr val="FFFFFF"/>
                </a:highlight>
                <a:latin typeface="Segoe UI" panose="020B0502040204020203" pitchFamily="34" charset="0"/>
              </a:rPr>
              <a:t>10 min</a:t>
            </a:r>
          </a:p>
          <a:p>
            <a:pPr algn="l">
              <a:buFont typeface="Arial" panose="020B0604020202020204" pitchFamily="34" charset="0"/>
              <a:buChar char="•"/>
            </a:pPr>
            <a:r>
              <a:rPr lang="en-US" b="0" i="0" u="none" strike="noStrike" dirty="0">
                <a:solidFill>
                  <a:srgbClr val="161616"/>
                </a:solidFill>
                <a:effectLst/>
                <a:highlight>
                  <a:srgbClr val="FFFFFF"/>
                </a:highlight>
                <a:latin typeface="Segoe UI" panose="020B0502040204020203" pitchFamily="34" charset="0"/>
                <a:hlinkClick r:id="rId6"/>
              </a:rPr>
              <a:t>Identify the components of GitHub Actions</a:t>
            </a:r>
            <a:r>
              <a:rPr lang="en-US" b="0" i="0" dirty="0">
                <a:solidFill>
                  <a:srgbClr val="161616"/>
                </a:solidFill>
                <a:effectLst/>
                <a:highlight>
                  <a:srgbClr val="FFFFFF"/>
                </a:highlight>
                <a:latin typeface="Segoe UI" panose="020B0502040204020203" pitchFamily="34" charset="0"/>
              </a:rPr>
              <a:t>3 min</a:t>
            </a:r>
          </a:p>
          <a:p>
            <a:pPr algn="l">
              <a:buFont typeface="Arial" panose="020B0604020202020204" pitchFamily="34" charset="0"/>
              <a:buChar char="•"/>
            </a:pPr>
            <a:r>
              <a:rPr lang="en-US" b="0" i="0" u="none" strike="noStrike" dirty="0">
                <a:solidFill>
                  <a:srgbClr val="161616"/>
                </a:solidFill>
                <a:effectLst/>
                <a:highlight>
                  <a:srgbClr val="FFFFFF"/>
                </a:highlight>
                <a:latin typeface="Segoe UI" panose="020B0502040204020203" pitchFamily="34" charset="0"/>
                <a:hlinkClick r:id="rId7"/>
              </a:rPr>
              <a:t>Configure a GitHub Actions workflow</a:t>
            </a:r>
            <a:r>
              <a:rPr lang="en-US" b="0" i="0" dirty="0">
                <a:solidFill>
                  <a:srgbClr val="161616"/>
                </a:solidFill>
                <a:effectLst/>
                <a:highlight>
                  <a:srgbClr val="FFFFFF"/>
                </a:highlight>
                <a:latin typeface="Segoe UI" panose="020B0502040204020203" pitchFamily="34" charset="0"/>
              </a:rPr>
              <a:t>10 min</a:t>
            </a:r>
          </a:p>
          <a:p>
            <a:pPr algn="l">
              <a:buFont typeface="Arial" panose="020B0604020202020204" pitchFamily="34" charset="0"/>
              <a:buChar char="•"/>
            </a:pPr>
            <a:r>
              <a:rPr lang="en-US" b="0" i="0" u="none" strike="noStrike" dirty="0">
                <a:solidFill>
                  <a:srgbClr val="161616"/>
                </a:solidFill>
                <a:effectLst/>
                <a:highlight>
                  <a:srgbClr val="FFFFFF"/>
                </a:highlight>
                <a:latin typeface="Segoe UI" panose="020B0502040204020203" pitchFamily="34" charset="0"/>
                <a:hlinkClick r:id="rId8"/>
              </a:rPr>
              <a:t>Exercise - Create and run a basic GitHub Actions workflow</a:t>
            </a:r>
            <a:r>
              <a:rPr lang="en-US" b="0" i="0" dirty="0">
                <a:solidFill>
                  <a:srgbClr val="161616"/>
                </a:solidFill>
                <a:effectLst/>
                <a:highlight>
                  <a:srgbClr val="FFFFFF"/>
                </a:highlight>
                <a:latin typeface="Segoe UI" panose="020B0502040204020203" pitchFamily="34" charset="0"/>
              </a:rPr>
              <a:t>20 min</a:t>
            </a:r>
          </a:p>
          <a:p>
            <a:pPr algn="l">
              <a:buFont typeface="Arial" panose="020B0604020202020204" pitchFamily="34" charset="0"/>
              <a:buChar char="•"/>
            </a:pPr>
            <a:r>
              <a:rPr lang="en-US" b="0" i="0" u="sng" dirty="0">
                <a:solidFill>
                  <a:srgbClr val="161616"/>
                </a:solidFill>
                <a:effectLst/>
                <a:highlight>
                  <a:srgbClr val="FFFFFF"/>
                </a:highlight>
                <a:latin typeface="Segoe UI" panose="020B0502040204020203" pitchFamily="34" charset="0"/>
                <a:hlinkClick r:id="rId9"/>
              </a:rPr>
              <a:t>Module assessment</a:t>
            </a:r>
            <a:r>
              <a:rPr lang="en-US" b="0" i="0" dirty="0">
                <a:solidFill>
                  <a:srgbClr val="161616"/>
                </a:solidFill>
                <a:effectLst/>
                <a:highlight>
                  <a:srgbClr val="FFFFFF"/>
                </a:highlight>
                <a:latin typeface="Segoe UI" panose="020B0502040204020203" pitchFamily="34" charset="0"/>
              </a:rPr>
              <a:t>10 min</a:t>
            </a:r>
          </a:p>
          <a:p>
            <a:pPr algn="l">
              <a:buFont typeface="Arial" panose="020B0604020202020204" pitchFamily="34" charset="0"/>
              <a:buChar char="•"/>
            </a:pPr>
            <a:r>
              <a:rPr lang="en-US" b="0" i="0" u="none" strike="noStrike" dirty="0">
                <a:solidFill>
                  <a:srgbClr val="161616"/>
                </a:solidFill>
                <a:effectLst/>
                <a:highlight>
                  <a:srgbClr val="FFFFFF"/>
                </a:highlight>
                <a:latin typeface="Segoe UI" panose="020B0502040204020203" pitchFamily="34" charset="0"/>
                <a:hlinkClick r:id="rId10"/>
              </a:rPr>
              <a:t>Summary</a:t>
            </a:r>
            <a:r>
              <a:rPr lang="en-US" b="0" i="0" dirty="0">
                <a:solidFill>
                  <a:srgbClr val="161616"/>
                </a:solidFill>
                <a:effectLst/>
                <a:highlight>
                  <a:srgbClr val="FFFFFF"/>
                </a:highlight>
                <a:latin typeface="Segoe UI" panose="020B0502040204020203" pitchFamily="34" charset="0"/>
              </a:rPr>
              <a:t>1 min</a:t>
            </a:r>
          </a:p>
          <a:p>
            <a:pPr marL="0" indent="0" algn="l">
              <a:buFont typeface="+mj-lt"/>
              <a:buNone/>
            </a:pPr>
            <a:endParaRPr lang="en-US" b="1"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209868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diving into GitHub Actions—the native automation platform built right into your repositories. With Actions, you can streamline everything from running tests and building artifacts to deploying applications and spinning up infrastructure, all in response to events in your code. By the end of this module, you’ll understand how to define and manage these workflows so your team can deliver high-quality features faster and more reliably.</a:t>
            </a:r>
          </a:p>
          <a:p>
            <a:endParaRPr lang="en-US" dirty="0"/>
          </a:p>
          <a:p>
            <a:r>
              <a:rPr lang="en-US" b="1" dirty="0"/>
              <a:t>Learning Objectives</a:t>
            </a:r>
            <a:endParaRPr lang="en-US" dirty="0"/>
          </a:p>
          <a:p>
            <a:pPr marL="228600" indent="-228600">
              <a:buFont typeface="+mj-lt"/>
              <a:buAutoNum type="arabicPeriod"/>
            </a:pPr>
            <a:r>
              <a:rPr lang="en-US" b="1" dirty="0"/>
              <a:t>Identify GitHub Action types and where to find them - </a:t>
            </a:r>
            <a:r>
              <a:rPr lang="en-US" dirty="0"/>
              <a:t>We’ll explore the three action formats—JavaScript, container, and composite—and show you how to discover both built-in and community-contributed Actions in the GitHub Marketplace or your own organization’s repos.</a:t>
            </a:r>
          </a:p>
          <a:p>
            <a:pPr marL="228600" indent="-228600">
              <a:buFont typeface="+mj-lt"/>
              <a:buAutoNum type="arabicPeriod"/>
            </a:pPr>
            <a:endParaRPr lang="en-US" dirty="0"/>
          </a:p>
          <a:p>
            <a:pPr marL="228600" indent="-228600">
              <a:buFont typeface="+mj-lt"/>
              <a:buAutoNum type="arabicPeriod"/>
            </a:pPr>
            <a:r>
              <a:rPr lang="en-US" b="1" dirty="0"/>
              <a:t>Break down the components of a workflow YAML file - </a:t>
            </a:r>
            <a:r>
              <a:rPr lang="en-US" dirty="0"/>
              <a:t>You’ll learn the anatomy of a workflow: triggers (on:), jobs (jobs:), steps, and runner specifications (runs-on:). This foundation lets you read, write, and customize any workflow file confidently.</a:t>
            </a:r>
          </a:p>
          <a:p>
            <a:pPr marL="228600" indent="-228600">
              <a:buFont typeface="+mj-lt"/>
              <a:buAutoNum type="arabicPeriod"/>
            </a:pPr>
            <a:endParaRPr lang="en-US" dirty="0"/>
          </a:p>
          <a:p>
            <a:pPr marL="228600" indent="-228600">
              <a:buFont typeface="+mj-lt"/>
              <a:buAutoNum type="arabicPeriod"/>
            </a:pPr>
            <a:r>
              <a:rPr lang="en-US" b="1" dirty="0"/>
              <a:t>Design CI/CD and </a:t>
            </a:r>
            <a:r>
              <a:rPr lang="en-US" b="1" dirty="0" err="1"/>
              <a:t>IaC</a:t>
            </a:r>
            <a:r>
              <a:rPr lang="en-US" b="1" dirty="0"/>
              <a:t> automation strategies - </a:t>
            </a:r>
            <a:r>
              <a:rPr lang="en-US" dirty="0"/>
              <a:t>We’ll discuss best practices for mapping your development lifecycle—unit tests, integration tests, builds, and deployments—into automated workflows, as well as how to integrate Infrastructure as Code steps to provision and tear down environments.</a:t>
            </a:r>
          </a:p>
          <a:p>
            <a:pPr marL="228600" indent="-228600">
              <a:buFont typeface="+mj-lt"/>
              <a:buAutoNum type="arabicPeriod"/>
            </a:pPr>
            <a:endParaRPr lang="en-US" dirty="0"/>
          </a:p>
          <a:p>
            <a:pPr marL="228600" indent="-228600">
              <a:buFont typeface="+mj-lt"/>
              <a:buAutoNum type="arabicPeriod"/>
            </a:pPr>
            <a:r>
              <a:rPr lang="en-US" b="1" dirty="0"/>
              <a:t>Build and trigger a custom container action on push - </a:t>
            </a:r>
            <a:r>
              <a:rPr lang="en-US" dirty="0"/>
              <a:t>Finally, you’ll author a simple container-based Action, package it with an </a:t>
            </a:r>
            <a:r>
              <a:rPr lang="en-US" dirty="0" err="1"/>
              <a:t>action.yml</a:t>
            </a:r>
            <a:r>
              <a:rPr lang="en-US" dirty="0"/>
              <a:t> manifest, and configure a workflow to execute it automatically when you push code changes—giving you hands-on experience with creating and running custom automation.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get started by examining </a:t>
            </a:r>
            <a:r>
              <a:rPr lang="en-US" b="0" i="0" dirty="0">
                <a:solidFill>
                  <a:srgbClr val="161616"/>
                </a:solidFill>
                <a:effectLst/>
                <a:highlight>
                  <a:srgbClr val="FFFFFF"/>
                </a:highlight>
                <a:latin typeface="Segoe UI" panose="020B0502040204020203" pitchFamily="34" charset="0"/>
              </a:rPr>
              <a:t>How GitHub Actions automate development tasks.</a:t>
            </a:r>
          </a:p>
          <a:p>
            <a:endParaRPr lang="en-US" dirty="0"/>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1518081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pPr algn="l"/>
            <a:r>
              <a:rPr lang="en-US" b="0" i="0" dirty="0">
                <a:solidFill>
                  <a:srgbClr val="161616"/>
                </a:solidFill>
                <a:effectLst/>
                <a:highlight>
                  <a:srgbClr val="FFFFFF"/>
                </a:highlight>
                <a:latin typeface="Segoe UI" panose="020B0502040204020203" pitchFamily="34" charset="0"/>
              </a:rPr>
              <a:t>Here, we'll introduce GitHub Actions and workflows. You'll learn the types of actions you can use and where to find them. You'll also look at examples of these types of actions and how they fit in a workflow.</a:t>
            </a:r>
          </a:p>
          <a:p>
            <a:br>
              <a:rPr lang="en-US" dirty="0"/>
            </a:br>
            <a:r>
              <a:rPr lang="en-US" dirty="0"/>
              <a:t>GitHub accelerates software delivery by combining two core pillars:</a:t>
            </a:r>
          </a:p>
          <a:p>
            <a:endParaRPr lang="en-US" dirty="0"/>
          </a:p>
          <a:p>
            <a:pPr marL="228600" indent="-228600">
              <a:buFont typeface="+mj-lt"/>
              <a:buAutoNum type="arabicPeriod"/>
            </a:pPr>
            <a:r>
              <a:rPr lang="en-US" b="1" dirty="0"/>
              <a:t>Communication:</a:t>
            </a:r>
            <a:r>
              <a:rPr lang="en-US" dirty="0"/>
              <a:t> GitHub provides a rich set of collaboration tools—pull-request reviews, issue tracking, project boards, wikis, and real-time notifications—that streamline team discussion and decision making. When everyone can see code changes, leave comments, and track work in one place, blockers get removed faster.</a:t>
            </a:r>
          </a:p>
          <a:p>
            <a:pPr marL="228600" indent="-228600">
              <a:buFont typeface="+mj-lt"/>
              <a:buAutoNum type="arabicPeriod"/>
            </a:pPr>
            <a:endParaRPr lang="en-US" dirty="0"/>
          </a:p>
          <a:p>
            <a:pPr marL="228600" indent="-228600">
              <a:buFont typeface="+mj-lt"/>
              <a:buAutoNum type="arabicPeriod"/>
            </a:pPr>
            <a:r>
              <a:rPr lang="en-US" b="1" dirty="0"/>
              <a:t>Automation:</a:t>
            </a:r>
            <a:r>
              <a:rPr lang="en-US" dirty="0"/>
              <a:t> With GitHub Actions, you can automate every stage of your development workflow—from running unit tests on every push and enforcing code-quality checks to packaging your application and deploying it to production. You can even automate routine housekeeping tasks like labeling pull requests or closing stale issues.</a:t>
            </a:r>
          </a:p>
          <a:p>
            <a:endParaRPr lang="en-US" dirty="0"/>
          </a:p>
          <a:p>
            <a:r>
              <a:rPr lang="en-US" dirty="0"/>
              <a:t>By uniting clear, centralized communication with powerful, flexible automation, thousands of teams have slashed their cycle times, turning ideas into production-ready features more rapidly and reliably than ever before.</a:t>
            </a:r>
          </a:p>
          <a:p>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6:17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3323808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61616"/>
                </a:solidFill>
                <a:effectLst/>
                <a:highlight>
                  <a:srgbClr val="FFFFFF"/>
                </a:highlight>
                <a:latin typeface="Segoe UI" panose="020B0502040204020203" pitchFamily="34" charset="0"/>
              </a:rPr>
              <a:t>We'll focus on automation in this module. Let's take a moment to understand how teams can use automation to reduce the amount of time it takes to complete a typical development and deployment workflow.</a:t>
            </a:r>
          </a:p>
          <a:p>
            <a:pPr algn="l"/>
            <a:endParaRPr lang="en-US" b="0" i="0" dirty="0">
              <a:solidFill>
                <a:srgbClr val="161616"/>
              </a:solidFill>
              <a:effectLst/>
              <a:highlight>
                <a:srgbClr val="FFFFFF"/>
              </a:highlight>
              <a:latin typeface="Segoe UI" panose="020B0502040204020203" pitchFamily="34" charset="0"/>
            </a:endParaRPr>
          </a:p>
          <a:p>
            <a:pPr algn="l"/>
            <a:r>
              <a:rPr lang="en-US" b="0" i="0" dirty="0">
                <a:solidFill>
                  <a:srgbClr val="161616"/>
                </a:solidFill>
                <a:effectLst/>
                <a:highlight>
                  <a:srgbClr val="FFFFFF"/>
                </a:highlight>
                <a:latin typeface="Segoe UI" panose="020B0502040204020203" pitchFamily="34" charset="0"/>
              </a:rPr>
              <a:t>Consider all of the tasks that must happen </a:t>
            </a:r>
            <a:r>
              <a:rPr lang="en-US" b="0" i="1" dirty="0">
                <a:solidFill>
                  <a:srgbClr val="161616"/>
                </a:solidFill>
                <a:effectLst/>
                <a:highlight>
                  <a:srgbClr val="FFFFFF"/>
                </a:highlight>
                <a:latin typeface="Segoe UI" panose="020B0502040204020203" pitchFamily="34" charset="0"/>
              </a:rPr>
              <a:t>after</a:t>
            </a:r>
            <a:r>
              <a:rPr lang="en-US" b="0" i="0" dirty="0">
                <a:solidFill>
                  <a:srgbClr val="161616"/>
                </a:solidFill>
                <a:effectLst/>
                <a:highlight>
                  <a:srgbClr val="FFFFFF"/>
                </a:highlight>
                <a:latin typeface="Segoe UI" panose="020B0502040204020203" pitchFamily="34" charset="0"/>
              </a:rPr>
              <a:t> the code is written, but before you can reliably use the code for its intended purpose. Depending on your organization's goals, you'll likely need to perform one or more of the following tasks:</a:t>
            </a:r>
            <a:endParaRPr lang="en-US" dirty="0"/>
          </a:p>
          <a:p>
            <a:endParaRPr lang="en-US" dirty="0"/>
          </a:p>
          <a:p>
            <a:r>
              <a:rPr lang="en-US" dirty="0"/>
              <a:t>After developers push code, you need reliable, repeatable steps before that code reaches production. Typically, those steps include: running all unit tests to verify basic functionality; performing code-quality and compliance checks to ensure the code meets your organization’s standards; scanning for known security vulnerabilities in the code and its dependencies; and building the application by integrating contributions from multiple developers.</a:t>
            </a:r>
          </a:p>
          <a:p>
            <a:endParaRPr lang="en-US" dirty="0"/>
          </a:p>
          <a:p>
            <a:r>
              <a:rPr lang="en-US" dirty="0"/>
              <a:t>Next, you run integration tests to confirm components work together, then increment the version number of the build for traceability. Once validated, you deliver the binaries to the correct storage or artifact repository and finally deploy them to one or more servers. If any task fails—whether a test, a compliance check, or a scan—you must immediately alert the responsible developer or team so they can remediate the issue before moving forward.</a:t>
            </a:r>
          </a:p>
          <a:p>
            <a:pPr algn="l"/>
            <a:endParaRPr lang="en-US" b="1" i="0" dirty="0">
              <a:solidFill>
                <a:srgbClr val="161616"/>
              </a:solidFill>
              <a:effectLst/>
              <a:latin typeface="Segoe UI" panose="020B0502040204020203" pitchFamily="34" charset="0"/>
            </a:endParaRPr>
          </a:p>
          <a:p>
            <a:pPr algn="l"/>
            <a:r>
              <a:rPr lang="en-US" b="0" i="0" dirty="0">
                <a:solidFill>
                  <a:srgbClr val="161616"/>
                </a:solidFill>
                <a:effectLst/>
                <a:highlight>
                  <a:srgbClr val="FFFFFF"/>
                </a:highlight>
                <a:latin typeface="Segoe UI" panose="020B0502040204020203" pitchFamily="34" charset="0"/>
              </a:rPr>
              <a:t>The challenge is to do these tasks reliably, consistently, and in a sustainable manner. This is an ideal job for workflow automation. If you're already relying on GitHub, you'll likely want to set up your workflow automation using GitHub Actions.</a:t>
            </a:r>
          </a:p>
          <a:p>
            <a:br>
              <a:rPr lang="en-US" dirty="0"/>
            </a:br>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4047656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pPr algn="l">
              <a:spcBef>
                <a:spcPts val="2400"/>
              </a:spcBef>
              <a:spcAft>
                <a:spcPts val="900"/>
              </a:spcAft>
            </a:pPr>
            <a:r>
              <a:rPr lang="en-US" b="0" i="0" dirty="0">
                <a:solidFill>
                  <a:srgbClr val="161616"/>
                </a:solidFill>
                <a:effectLst/>
                <a:latin typeface="Segoe UI" panose="020B0502040204020203" pitchFamily="34" charset="0"/>
              </a:rPr>
              <a:t>So, what is GitHub Actions?</a:t>
            </a:r>
          </a:p>
          <a:p>
            <a:pPr algn="l">
              <a:spcBef>
                <a:spcPts val="2400"/>
              </a:spcBef>
              <a:spcAft>
                <a:spcPts val="900"/>
              </a:spcAft>
            </a:pPr>
            <a:endParaRPr lang="en-US" b="0" i="0" dirty="0">
              <a:solidFill>
                <a:srgbClr val="161616"/>
              </a:solidFill>
              <a:effectLst/>
              <a:latin typeface="Segoe UI" panose="020B0502040204020203" pitchFamily="34" charset="0"/>
            </a:endParaRPr>
          </a:p>
          <a:p>
            <a:pPr algn="l"/>
            <a:r>
              <a:rPr lang="en-US" b="0" i="1" dirty="0">
                <a:solidFill>
                  <a:srgbClr val="161616"/>
                </a:solidFill>
                <a:effectLst/>
                <a:highlight>
                  <a:srgbClr val="FFFFFF"/>
                </a:highlight>
                <a:latin typeface="Segoe UI" panose="020B0502040204020203" pitchFamily="34" charset="0"/>
              </a:rPr>
              <a:t>GitHub Actions</a:t>
            </a:r>
            <a:r>
              <a:rPr lang="en-US" b="0" i="0" dirty="0">
                <a:solidFill>
                  <a:srgbClr val="161616"/>
                </a:solidFill>
                <a:effectLst/>
                <a:highlight>
                  <a:srgbClr val="FFFFFF"/>
                </a:highlight>
                <a:latin typeface="Segoe UI" panose="020B0502040204020203" pitchFamily="34" charset="0"/>
              </a:rPr>
              <a:t> are packaged scripts to automate tasks in a software-development workflow in GitHub. You can configure GitHub Actions to trigger complex workflows that meet your organization's needs. The trigger can happen each time developers check new source code into a specific branch, at timed intervals, or manually. The result is a reliable and sustainable automated workflow, which leads to a significant decrease in development time.</a:t>
            </a:r>
          </a:p>
          <a:p>
            <a:br>
              <a:rPr lang="en-US" dirty="0"/>
            </a:b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6:17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20692003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check out where to discover and initialize GitHub Actions workflows directly within your repositories.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GitHub Actions are defined in YAML files, and every repository features an </a:t>
            </a:r>
            <a:r>
              <a:rPr lang="en-US" b="1" dirty="0"/>
              <a:t>Actions</a:t>
            </a:r>
            <a:r>
              <a:rPr lang="en-US" dirty="0"/>
              <a:t> tab up in the navigation. When you click that tab, GitHub presents starter workflow templates tailored to your project’s language or framework. If you spot a workflow you’d like to use, just hit </a:t>
            </a:r>
            <a:r>
              <a:rPr lang="en-US" b="1" dirty="0"/>
              <a:t>Configure</a:t>
            </a:r>
            <a:r>
              <a:rPr lang="en-US" dirty="0"/>
              <a:t>, and GitHub will create a new .</a:t>
            </a:r>
            <a:r>
              <a:rPr lang="en-US" dirty="0" err="1"/>
              <a:t>yml</a:t>
            </a:r>
            <a:r>
              <a:rPr lang="en-US" dirty="0"/>
              <a:t> file in your .</a:t>
            </a:r>
            <a:r>
              <a:rPr lang="en-US" dirty="0" err="1"/>
              <a:t>github</a:t>
            </a:r>
            <a:r>
              <a:rPr lang="en-US" dirty="0"/>
              <a:t>/workflows directory, ready for you to customize and commit.</a:t>
            </a:r>
          </a:p>
          <a:p>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6:17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100290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pPr algn="l">
              <a:spcBef>
                <a:spcPts val="2400"/>
              </a:spcBef>
              <a:spcAft>
                <a:spcPts val="900"/>
              </a:spcAft>
            </a:pPr>
            <a:r>
              <a:rPr lang="en-US" b="0" i="0" dirty="0">
                <a:solidFill>
                  <a:srgbClr val="161616"/>
                </a:solidFill>
                <a:effectLst/>
                <a:latin typeface="Segoe UI" panose="020B0502040204020203" pitchFamily="34" charset="0"/>
              </a:rPr>
              <a:t>You can also h</a:t>
            </a:r>
            <a:r>
              <a:rPr lang="en-US" dirty="0"/>
              <a:t>ead over to the GitHub Marketplace to browse hundreds of community- and GitHub-authored Actions that can solve common tasks—think testing frameworks, deployment scripts, or even chat notifications. </a:t>
            </a:r>
          </a:p>
          <a:p>
            <a:pPr algn="l">
              <a:spcBef>
                <a:spcPts val="2400"/>
              </a:spcBef>
              <a:spcAft>
                <a:spcPts val="900"/>
              </a:spcAft>
            </a:pPr>
            <a:endParaRPr lang="en-US" dirty="0"/>
          </a:p>
          <a:p>
            <a:pPr algn="l">
              <a:spcBef>
                <a:spcPts val="2400"/>
              </a:spcBef>
              <a:spcAft>
                <a:spcPts val="900"/>
              </a:spcAft>
            </a:pPr>
            <a:r>
              <a:rPr lang="en-US" dirty="0"/>
              <a:t>If you prefer open-source, check out the official actions organization on GitHub for popular, vetted repositories you can drop right into your workflow. </a:t>
            </a:r>
          </a:p>
          <a:p>
            <a:pPr algn="l">
              <a:spcBef>
                <a:spcPts val="2400"/>
              </a:spcBef>
              <a:spcAft>
                <a:spcPts val="900"/>
              </a:spcAft>
            </a:pPr>
            <a:endParaRPr lang="en-US" dirty="0"/>
          </a:p>
          <a:p>
            <a:pPr algn="l">
              <a:spcBef>
                <a:spcPts val="2400"/>
              </a:spcBef>
              <a:spcAft>
                <a:spcPts val="900"/>
              </a:spcAft>
            </a:pPr>
            <a:r>
              <a:rPr lang="en-US" dirty="0"/>
              <a:t>And when none of those fit the bill? Roll up your sleeves and build your own Action from scratch—you can even share it back with the community on the Marketplace!</a:t>
            </a: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6:17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3323808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When you tap into community-built Actions, you get a huge head start—but you also take on some risk, so always vet what you’re importing. First, open the Action’s </a:t>
            </a:r>
            <a:r>
              <a:rPr lang="en-US" b="1" dirty="0" err="1"/>
              <a:t>action.yml</a:t>
            </a:r>
            <a:r>
              <a:rPr lang="en-US" dirty="0"/>
              <a:t> file and review its inputs, outputs, and underlying code to ensure it behaves as advertised.</a:t>
            </a:r>
          </a:p>
          <a:p>
            <a:endParaRPr lang="en-US" dirty="0"/>
          </a:p>
          <a:p>
            <a:r>
              <a:rPr lang="en-US" dirty="0"/>
              <a:t>Next, check whether it’s listed on the GitHub Marketplace. Even if it isn’t required, Marketplace entries go through an additional review layer. If it’s </a:t>
            </a:r>
            <a:r>
              <a:rPr lang="en-US" b="1" dirty="0"/>
              <a:t>verified</a:t>
            </a:r>
            <a:r>
              <a:rPr lang="en-US" dirty="0"/>
              <a:t>, that’s a bonus endorsement—but don’t skip your own code review.</a:t>
            </a:r>
          </a:p>
          <a:p>
            <a:endParaRPr lang="en-US" dirty="0"/>
          </a:p>
          <a:p>
            <a:r>
              <a:rPr lang="en-US" dirty="0"/>
              <a:t>Finally, pin to a specific version by using a Git ref, SHA, or tag instead of @latest. That way, you lock in a known good revision and avoid unexpected changes when the author updates the Action.</a:t>
            </a: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4028088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r>
              <a:rPr lang="en-US" dirty="0"/>
              <a:t>GitHub supports three action formats, each designed for different needs:</a:t>
            </a:r>
          </a:p>
          <a:p>
            <a:endParaRPr lang="en-US" dirty="0"/>
          </a:p>
          <a:p>
            <a:pPr marL="228600" indent="-228600">
              <a:buFont typeface="+mj-lt"/>
              <a:buAutoNum type="arabicPeriod"/>
            </a:pPr>
            <a:r>
              <a:rPr lang="en-US" b="1" dirty="0"/>
              <a:t>Container Actions</a:t>
            </a:r>
            <a:r>
              <a:rPr lang="en-US" dirty="0"/>
              <a:t> 📦</a:t>
            </a:r>
            <a:br>
              <a:rPr lang="en-US" dirty="0"/>
            </a:br>
            <a:r>
              <a:rPr lang="en-US" dirty="0"/>
              <a:t>These bundle the entire runtime environment into a Docker image. You define your dependencies, OS libraries, and language runtime inside the container, and GitHub spins it up on a Linux host. Container Actions are great when you need full control over the execution environment or must include native binaries.</a:t>
            </a:r>
          </a:p>
          <a:p>
            <a:pPr>
              <a:buFont typeface="+mj-lt"/>
              <a:buAutoNum type="arabicPeriod"/>
            </a:pPr>
            <a:endParaRPr lang="en-US" dirty="0"/>
          </a:p>
          <a:p>
            <a:pPr marL="228600" indent="-228600">
              <a:buFont typeface="+mj-lt"/>
              <a:buAutoNum type="arabicPeriod"/>
            </a:pPr>
            <a:r>
              <a:rPr lang="en-US" b="1" dirty="0"/>
              <a:t>JavaScript Actions</a:t>
            </a:r>
            <a:r>
              <a:rPr lang="en-US" dirty="0"/>
              <a:t> {}</a:t>
            </a:r>
            <a:br>
              <a:rPr lang="en-US" dirty="0"/>
            </a:br>
            <a:r>
              <a:rPr lang="en-US" dirty="0"/>
              <a:t>These package your logic as a JavaScript module that runs on GitHub-hosted virtual machines—Linux, macOS, or Windows. Since the environment isn’t embedded, you must specify your runtime (Node.js version) in the workflow. JavaScript Actions are quick to write and perfect for interacting with the GitHub API or manipulating text and files.</a:t>
            </a:r>
          </a:p>
          <a:p>
            <a:pPr>
              <a:buFont typeface="+mj-lt"/>
              <a:buAutoNum type="arabicPeriod"/>
            </a:pPr>
            <a:endParaRPr lang="en-US" dirty="0"/>
          </a:p>
          <a:p>
            <a:pPr marL="228600" indent="-228600">
              <a:buFont typeface="+mj-lt"/>
              <a:buAutoNum type="arabicPeriod"/>
            </a:pPr>
            <a:r>
              <a:rPr lang="en-US" b="1" dirty="0"/>
              <a:t>Composite Actions</a:t>
            </a:r>
            <a:r>
              <a:rPr lang="en-US" dirty="0"/>
              <a:t> 🧩</a:t>
            </a:r>
            <a:br>
              <a:rPr lang="en-US" dirty="0"/>
            </a:br>
            <a:r>
              <a:rPr lang="en-US" dirty="0"/>
              <a:t>Think of these as macros for your workflow: you can string together multiple steps—checkout, build, test, lint—into a single, reusable action. Composite Actions simplify complex pipelines by encapsulating common sequences, making your workflows DRY and easier to maintain.</a:t>
            </a:r>
          </a:p>
          <a:p>
            <a:endParaRPr lang="en-US" dirty="0"/>
          </a:p>
          <a:p>
            <a:r>
              <a:rPr lang="en-US" dirty="0"/>
              <a:t>By choosing the right action type—container for full environments, JavaScript for code-driven tasks, or composite for step orchestration—you can build flexible, maintainable automation tailored to your project’s requirements.</a:t>
            </a:r>
          </a:p>
          <a:p>
            <a:pPr algn="l">
              <a:spcBef>
                <a:spcPts val="2400"/>
              </a:spcBef>
              <a:spcAft>
                <a:spcPts val="900"/>
              </a:spcAft>
            </a:pP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6:17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42790193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A GitHub Actions workflow is simply a YAML-defined process in your repository that automates any step of the software-development lifecycle—building, testing, packaging, releasing, and deploying your code. You define workflows by placing one or more .</a:t>
            </a:r>
            <a:r>
              <a:rPr lang="en-US" dirty="0" err="1"/>
              <a:t>yml</a:t>
            </a:r>
            <a:r>
              <a:rPr lang="en-US" dirty="0"/>
              <a:t> files under the .</a:t>
            </a:r>
            <a:r>
              <a:rPr lang="en-US" dirty="0" err="1"/>
              <a:t>github</a:t>
            </a:r>
            <a:r>
              <a:rPr lang="en-US" dirty="0"/>
              <a:t>/workflows/ directory.</a:t>
            </a:r>
          </a:p>
          <a:p>
            <a:endParaRPr lang="en-US" dirty="0"/>
          </a:p>
          <a:p>
            <a:r>
              <a:rPr lang="en-US" dirty="0"/>
              <a:t>Let’s look at a basic example: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top-level on: push line tells GitHub to trigger this workflow whenever someone pushes to the repository.</a:t>
            </a:r>
          </a:p>
          <a:p>
            <a:pPr marL="171450" indent="-171450">
              <a:buFont typeface="Arial" panose="020B0604020202020204" pitchFamily="34" charset="0"/>
              <a:buChar char="•"/>
            </a:pPr>
            <a:r>
              <a:rPr lang="en-US" dirty="0"/>
              <a:t>Under jobs, we define one job named build that runs on the latest Ubuntu runner.</a:t>
            </a:r>
          </a:p>
          <a:p>
            <a:pPr marL="171450" indent="-171450">
              <a:buFont typeface="Arial" panose="020B0604020202020204" pitchFamily="34" charset="0"/>
              <a:buChar char="•"/>
            </a:pPr>
            <a:r>
              <a:rPr lang="en-US" dirty="0"/>
              <a:t>In the steps section, we first check out the repo code, then invoke our custom container action (./action-a), passing in the MY_NAME input.</a:t>
            </a:r>
          </a:p>
          <a:p>
            <a:endParaRPr lang="en-US" dirty="0"/>
          </a:p>
          <a:p>
            <a:r>
              <a:rPr lang="en-US" dirty="0"/>
              <a:t>By chaining together triggers, jobs, and steps in this YAML file, you create a repeatable, automated pipeline that runs whenever the specified event occurs—ensuring your code is validated and deployed consistently.</a:t>
            </a:r>
          </a:p>
          <a:p>
            <a:endParaRPr lang="en-US" dirty="0"/>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29337727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Workflows can be triggered in several ways:</a:t>
            </a:r>
          </a:p>
          <a:p>
            <a:pPr marL="171450" indent="-171450">
              <a:buFont typeface="Arial" panose="020B0604020202020204" pitchFamily="34" charset="0"/>
              <a:buChar char="•"/>
            </a:pPr>
            <a:r>
              <a:rPr lang="en-US" b="1" dirty="0"/>
              <a:t>Single event</a:t>
            </a:r>
            <a:r>
              <a:rPr lang="en-US" dirty="0"/>
              <a:t>: on: push means run on every push.</a:t>
            </a:r>
          </a:p>
          <a:p>
            <a:pPr marL="171450" indent="-171450">
              <a:buFont typeface="Arial" panose="020B0604020202020204" pitchFamily="34" charset="0"/>
              <a:buChar char="•"/>
            </a:pPr>
            <a:r>
              <a:rPr lang="en-US" b="1" dirty="0"/>
              <a:t>Multiple events</a:t>
            </a:r>
            <a:r>
              <a:rPr lang="en-US" dirty="0"/>
              <a:t>: on: [push, </a:t>
            </a:r>
            <a:r>
              <a:rPr lang="en-US" dirty="0" err="1"/>
              <a:t>pull_request</a:t>
            </a:r>
            <a:r>
              <a:rPr lang="en-US" dirty="0"/>
              <a:t>] runs for pushes and pull requests.</a:t>
            </a:r>
          </a:p>
          <a:p>
            <a:r>
              <a:rPr lang="en-US" dirty="0"/>
              <a:t>For more control, use an </a:t>
            </a:r>
            <a:r>
              <a:rPr lang="en-US" b="1" dirty="0"/>
              <a:t>event-configuration map</a:t>
            </a:r>
            <a:r>
              <a:rPr lang="en-US" dirty="0"/>
              <a:t>. For example:</a:t>
            </a:r>
          </a:p>
          <a:p>
            <a:endParaRPr lang="en-US" b="1" i="0" dirty="0">
              <a:solidFill>
                <a:srgbClr val="161616"/>
              </a:solidFill>
              <a:effectLst/>
              <a:latin typeface="Segoe UI" panose="020B0502040204020203" pitchFamily="34" charset="0"/>
            </a:endParaRPr>
          </a:p>
          <a:p>
            <a:pPr marL="171450" indent="-171450">
              <a:buFont typeface="Arial" panose="020B0604020202020204" pitchFamily="34" charset="0"/>
              <a:buChar char="•"/>
            </a:pPr>
            <a:r>
              <a:rPr lang="en-US" dirty="0"/>
              <a:t>Here, </a:t>
            </a:r>
            <a:r>
              <a:rPr lang="en-US" b="1" dirty="0"/>
              <a:t>push</a:t>
            </a:r>
            <a:r>
              <a:rPr lang="en-US" dirty="0"/>
              <a:t> and </a:t>
            </a:r>
            <a:r>
              <a:rPr lang="en-US" b="1" dirty="0" err="1"/>
              <a:t>pull_request</a:t>
            </a:r>
            <a:r>
              <a:rPr lang="en-US" dirty="0"/>
              <a:t> only trigger when changes hit the main branch.</a:t>
            </a:r>
          </a:p>
          <a:p>
            <a:pPr marL="171450" indent="-171450">
              <a:buFont typeface="Arial" panose="020B0604020202020204" pitchFamily="34" charset="0"/>
              <a:buChar char="•"/>
            </a:pPr>
            <a:r>
              <a:rPr lang="en-US" b="1" dirty="0" err="1"/>
              <a:t>page_build</a:t>
            </a:r>
            <a:r>
              <a:rPr lang="en-US" dirty="0"/>
              <a:t> fires on every Pages build event.</a:t>
            </a:r>
          </a:p>
          <a:p>
            <a:pPr marL="171450" indent="-171450">
              <a:buFont typeface="Arial" panose="020B0604020202020204" pitchFamily="34" charset="0"/>
              <a:buChar char="•"/>
            </a:pPr>
            <a:r>
              <a:rPr lang="en-US" b="1" dirty="0"/>
              <a:t>release</a:t>
            </a:r>
            <a:r>
              <a:rPr lang="en-US" dirty="0"/>
              <a:t> fires only on newly </a:t>
            </a:r>
            <a:r>
              <a:rPr lang="en-US" b="1" dirty="0"/>
              <a:t>created</a:t>
            </a:r>
            <a:r>
              <a:rPr lang="en-US" dirty="0"/>
              <a:t> releases.</a:t>
            </a:r>
          </a:p>
          <a:p>
            <a:endParaRPr lang="en-US" dirty="0"/>
          </a:p>
          <a:p>
            <a:r>
              <a:rPr lang="en-US" dirty="0"/>
              <a:t>By narrowing triggers, you ensure workflows run only when relevant—reducing unnecessary runs and speeding up your CI/CD process. </a:t>
            </a:r>
          </a:p>
          <a:p>
            <a:endParaRPr lang="en-US" dirty="0"/>
          </a:p>
          <a:p>
            <a:r>
              <a:rPr lang="en-US" dirty="0"/>
              <a:t>For the full list of supported events and their options, refer to the GitHub documentation on workflow events.</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4083074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r>
              <a:rPr lang="en-US" dirty="0"/>
              <a:t>A workflow must contain at least one </a:t>
            </a:r>
            <a:r>
              <a:rPr lang="en-US" b="1" dirty="0"/>
              <a:t>job</a:t>
            </a:r>
            <a:r>
              <a:rPr lang="en-US" dirty="0"/>
              <a:t>, which groups together a series of </a:t>
            </a:r>
            <a:r>
              <a:rPr lang="en-US" b="1" dirty="0"/>
              <a:t>steps</a:t>
            </a:r>
            <a:r>
              <a:rPr lang="en-US" dirty="0"/>
              <a:t> running on a specific </a:t>
            </a:r>
            <a:r>
              <a:rPr lang="en-US" b="1" dirty="0"/>
              <a:t>runner</a:t>
            </a:r>
            <a:r>
              <a:rPr lang="en-US" dirty="0"/>
              <a:t>. Runners can be GitHub-hosted or self-hosted, and they execute jobs either in a VM or inside a container. You choose the runner by setting the runs-on: attribute—here we use ubuntu-latest, which is a GitHub-hosted Ubuntu VM.</a:t>
            </a:r>
          </a:p>
          <a:p>
            <a:endParaRPr lang="en-US" dirty="0"/>
          </a:p>
          <a:p>
            <a:r>
              <a:rPr lang="en-US" dirty="0"/>
              <a:t>Inside each job, you define </a:t>
            </a:r>
            <a:r>
              <a:rPr lang="en-US" b="1" dirty="0"/>
              <a:t>steps</a:t>
            </a:r>
            <a:r>
              <a:rPr lang="en-US" dirty="0"/>
              <a:t> that run sequentially. In our example, the first step uses actions/checkout@v1 to pull down the repository. The second step runs our custom container action by referencing uses: ./action-a—this path points to the </a:t>
            </a:r>
            <a:r>
              <a:rPr lang="en-US" dirty="0" err="1"/>
              <a:t>action.yml</a:t>
            </a:r>
            <a:r>
              <a:rPr lang="en-US" dirty="0"/>
              <a:t> manifest you created for the container action.</a:t>
            </a:r>
          </a:p>
          <a:p>
            <a:endParaRPr lang="en-US" dirty="0"/>
          </a:p>
          <a:p>
            <a:r>
              <a:rPr lang="en-US" dirty="0"/>
              <a:t>Finally, we pass an </a:t>
            </a:r>
            <a:r>
              <a:rPr lang="en-US" b="1" dirty="0"/>
              <a:t>input variable</a:t>
            </a:r>
            <a:r>
              <a:rPr lang="en-US" dirty="0"/>
              <a:t>, MY_NAME, to the container action. This matches the inputs section in </a:t>
            </a:r>
            <a:r>
              <a:rPr lang="en-US" dirty="0" err="1"/>
              <a:t>action.yml</a:t>
            </a:r>
            <a:r>
              <a:rPr lang="en-US" dirty="0"/>
              <a:t>, allowing us to parameterize behavior at runtime.</a:t>
            </a:r>
          </a:p>
          <a:p>
            <a:endParaRPr lang="en-US" dirty="0"/>
          </a:p>
          <a:p>
            <a:r>
              <a:rPr lang="en-US" dirty="0"/>
              <a:t>For deep dives on all workflow keywords and syntax options, refer to the </a:t>
            </a:r>
            <a:r>
              <a:rPr lang="en-US" b="1" dirty="0"/>
              <a:t>Workflow syntax for GitHub Actions</a:t>
            </a:r>
            <a:r>
              <a:rPr lang="en-US" dirty="0"/>
              <a:t> documentation.</a:t>
            </a:r>
          </a:p>
          <a:p>
            <a:pPr algn="l">
              <a:spcBef>
                <a:spcPts val="2400"/>
              </a:spcBef>
              <a:spcAft>
                <a:spcPts val="900"/>
              </a:spcAft>
            </a:pP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6:17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3988514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Quattrocento Sans" panose="020B0502050000020003" pitchFamily="34" charset="0"/>
              </a:rPr>
              <a:t>We briefly mentioned runners as being associated with a job. A runner is simply a server that has the GitHub Actions runner application installed. In the previous workflow example, there was a runs-on: ubuntu-latest attribute within the jobs block, which told the workflow that the job will run using the GitHub-hosted runner that's running in the ubuntu-latest environment.</a:t>
            </a:r>
          </a:p>
          <a:p>
            <a:pPr marL="171450" indent="-171450" algn="l">
              <a:buFont typeface="Arial" panose="020B0604020202020204" pitchFamily="34" charset="0"/>
              <a:buChar char="•"/>
            </a:pPr>
            <a:endParaRPr lang="en-US" b="1" i="0" dirty="0">
              <a:solidFill>
                <a:srgbClr val="161616"/>
              </a:solidFill>
              <a:effectLst/>
              <a:latin typeface="Segoe UI" panose="020B0502040204020203" pitchFamily="34" charset="0"/>
            </a:endParaRPr>
          </a:p>
          <a:p>
            <a:pPr marL="171450" indent="-171450">
              <a:buFont typeface="Arial" panose="020B0604020202020204" pitchFamily="34" charset="0"/>
              <a:buChar char="•"/>
            </a:pPr>
            <a:r>
              <a:rPr lang="en-US" b="1" dirty="0"/>
              <a:t>GitHub-Hosted Runners</a:t>
            </a:r>
            <a:r>
              <a:rPr lang="en-US" dirty="0"/>
              <a:t> spin up a fresh virtual machine for each job. By setting runs-on: ubuntu-latest (or windows-latest, </a:t>
            </a:r>
            <a:r>
              <a:rPr lang="en-US" dirty="0" err="1"/>
              <a:t>macos</a:t>
            </a:r>
            <a:r>
              <a:rPr lang="en-US" dirty="0"/>
              <a:t>-latest), you get a clean, up-to-date environment out of the box, without any maintenance. This is the fastest way to get started, though you’re limited to the OS versions and preinstalled tools that GitHub provides.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Self-Hosted Runners</a:t>
            </a:r>
            <a:r>
              <a:rPr lang="en-US" dirty="0"/>
              <a:t> let you bring your own machines—physical servers, VMs, or cloud instances. You tag them with labels like self-hosted, </a:t>
            </a:r>
            <a:r>
              <a:rPr lang="en-US" dirty="0" err="1"/>
              <a:t>linux</a:t>
            </a:r>
            <a:r>
              <a:rPr lang="en-US" dirty="0"/>
              <a:t>, and ARM32, for example. This gives you full control over hardware specs, installed software, and network access. It’s ideal for heavy workloads, specialty toolchains, or proprietary dependencies that need on-premise access.</a:t>
            </a:r>
          </a:p>
          <a:p>
            <a:endParaRPr lang="en-US" dirty="0"/>
          </a:p>
          <a:p>
            <a:r>
              <a:rPr lang="en-US" dirty="0"/>
              <a:t>When deciding, weigh speed and simplicity against custom requirements. For most workflows, GitHub-hosted runners offer immediate, zero-maintenance execution. But if you need custom libraries, specific OS versions, or extra CPU and memory, a self-hosted runner is the way to go.</a:t>
            </a: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25333017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GitHub-hosted runners offer convenience, they come with built-in usage quotas that vary by plan—for example, GitHub Free includes a set number of free Action minutes per month. Self-hosted runners aren’t subject to these minute quotas, but you’ll need to monitor your own infrastructure costs and performance.</a:t>
            </a:r>
          </a:p>
          <a:p>
            <a:endParaRPr lang="en-US" dirty="0"/>
          </a:p>
          <a:p>
            <a:r>
              <a:rPr lang="en-US" dirty="0"/>
              <a:t>To understand the exact limits—such as included minutes, storage allowances, and billing rates—refer to the </a:t>
            </a:r>
            <a:r>
              <a:rPr lang="en-US" b="1" dirty="0"/>
              <a:t>Usage limits, billing, and administration</a:t>
            </a:r>
            <a:r>
              <a:rPr lang="en-US" dirty="0"/>
              <a:t> section in the GitHub documentation. This will help you plan capacity and avoid unexpected overages.</a:t>
            </a:r>
          </a:p>
          <a:p>
            <a:pPr algn="l"/>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3791964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r>
              <a:rPr lang="en-US" dirty="0"/>
              <a:t>GitHub offers </a:t>
            </a:r>
            <a:r>
              <a:rPr lang="en-US" b="1" dirty="0"/>
              <a:t>larger hosted runners</a:t>
            </a:r>
            <a:r>
              <a:rPr lang="en-US" dirty="0"/>
              <a:t> to support resource-intensive workflows that go beyond the capacity of standard runners. These upgraded runners come with more vCPUs, RAM, and SSD storage, providing the performance needed for complex or large-scale automation tasks.</a:t>
            </a:r>
          </a:p>
          <a:p>
            <a:endParaRPr lang="en-US" dirty="0"/>
          </a:p>
          <a:p>
            <a:r>
              <a:rPr lang="en-US" b="1" dirty="0"/>
              <a:t>Runner Sizes and Use Cases</a:t>
            </a:r>
          </a:p>
          <a:p>
            <a:r>
              <a:rPr lang="en-US" dirty="0"/>
              <a:t>Larger runners are available in several configurations, each designed to meet specific workflow demands. They’re especially useful for:</a:t>
            </a:r>
          </a:p>
          <a:p>
            <a:pPr marL="171450" indent="-171450">
              <a:buFont typeface="Arial" panose="020B0604020202020204" pitchFamily="34" charset="0"/>
              <a:buChar char="•"/>
            </a:pPr>
            <a:r>
              <a:rPr lang="en-US" dirty="0"/>
              <a:t>Compiling large codebases</a:t>
            </a:r>
          </a:p>
          <a:p>
            <a:pPr marL="171450" indent="-171450">
              <a:buFont typeface="Arial" panose="020B0604020202020204" pitchFamily="34" charset="0"/>
              <a:buChar char="•"/>
            </a:pPr>
            <a:r>
              <a:rPr lang="en-US" dirty="0"/>
              <a:t>Running full integration or end-to-end test suites</a:t>
            </a:r>
          </a:p>
          <a:p>
            <a:pPr marL="171450" indent="-171450">
              <a:buFont typeface="Arial" panose="020B0604020202020204" pitchFamily="34" charset="0"/>
              <a:buChar char="•"/>
            </a:pPr>
            <a:r>
              <a:rPr lang="en-US" dirty="0"/>
              <a:t>Processing big data or training machine learning models</a:t>
            </a:r>
          </a:p>
          <a:p>
            <a:pPr marL="171450" indent="-171450">
              <a:buFont typeface="Arial" panose="020B0604020202020204" pitchFamily="34" charset="0"/>
              <a:buChar char="•"/>
            </a:pPr>
            <a:r>
              <a:rPr lang="en-US" dirty="0"/>
              <a:t>Building apps with large binaries or complex dependencies</a:t>
            </a:r>
          </a:p>
          <a:p>
            <a:pPr marL="171450" indent="-171450">
              <a:buFont typeface="Arial" panose="020B0604020202020204" pitchFamily="34" charset="0"/>
              <a:buChar char="•"/>
            </a:pPr>
            <a:r>
              <a:rPr lang="en-US" dirty="0"/>
              <a:t>Performing simulations or scientific computations</a:t>
            </a:r>
          </a:p>
          <a:p>
            <a:pPr marL="171450" indent="-171450">
              <a:buFont typeface="Arial" panose="020B0604020202020204" pitchFamily="34" charset="0"/>
              <a:buChar char="•"/>
            </a:pPr>
            <a:r>
              <a:rPr lang="en-US" dirty="0"/>
              <a:t>Encoding video and rendering media assets</a:t>
            </a:r>
          </a:p>
          <a:p>
            <a:pPr>
              <a:buFont typeface="Arial" panose="020B0604020202020204" pitchFamily="34" charset="0"/>
              <a:buChar char="•"/>
            </a:pPr>
            <a:endParaRPr lang="en-US" dirty="0"/>
          </a:p>
          <a:p>
            <a:r>
              <a:rPr lang="en-US" dirty="0"/>
              <a:t>These runners ensure that even the most demanding jobs execute efficiently without performance bottlenecks.</a:t>
            </a:r>
          </a:p>
          <a:p>
            <a:pPr algn="l">
              <a:spcBef>
                <a:spcPts val="2400"/>
              </a:spcBef>
              <a:spcAft>
                <a:spcPts val="900"/>
              </a:spcAft>
            </a:pP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6:17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25950087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pPr algn="l">
              <a:spcBef>
                <a:spcPts val="2400"/>
              </a:spcBef>
              <a:spcAft>
                <a:spcPts val="900"/>
              </a:spcAft>
            </a:pPr>
            <a:r>
              <a:rPr lang="en-US" dirty="0"/>
              <a:t>To use a larger runner, specify the appropriate runner label in the runs-on field of your workflow file. For instance, to request a runner with </a:t>
            </a:r>
            <a:r>
              <a:rPr lang="en-US" b="1" dirty="0"/>
              <a:t>16 vCPUs and 64 GB of RAM</a:t>
            </a:r>
            <a:r>
              <a:rPr lang="en-US" dirty="0"/>
              <a:t>, use the label ubuntu-latest-16core:</a:t>
            </a:r>
          </a:p>
          <a:p>
            <a:pPr algn="l">
              <a:spcBef>
                <a:spcPts val="2400"/>
              </a:spcBef>
              <a:spcAft>
                <a:spcPts val="900"/>
              </a:spcAft>
            </a:pPr>
            <a:endParaRPr lang="en-US" b="0" i="0" dirty="0">
              <a:solidFill>
                <a:srgbClr val="161616"/>
              </a:solidFill>
              <a:effectLst/>
              <a:latin typeface="Segoe UI" panose="020B0502040204020203" pitchFamily="34" charset="0"/>
            </a:endParaRPr>
          </a:p>
          <a:p>
            <a:r>
              <a:rPr lang="en-US" dirty="0"/>
              <a:t>Larger runners are fully compatible with existing workflows and include the same preinstalled tools as the standard ubuntu-latest runners.</a:t>
            </a:r>
          </a:p>
          <a:p>
            <a:endParaRPr lang="en-US" dirty="0"/>
          </a:p>
          <a:p>
            <a:r>
              <a:rPr lang="en-US" dirty="0"/>
              <a:t>For a full list of available runner sizes and labels, see the </a:t>
            </a:r>
            <a:r>
              <a:rPr lang="en-US" dirty="0">
                <a:hlinkClick r:id="rId3"/>
              </a:rPr>
              <a:t>GitHub documentation</a:t>
            </a:r>
            <a:r>
              <a:rPr lang="en-US" dirty="0"/>
              <a:t>.</a:t>
            </a:r>
          </a:p>
          <a:p>
            <a:pPr algn="l">
              <a:spcBef>
                <a:spcPts val="2400"/>
              </a:spcBef>
              <a:spcAft>
                <a:spcPts val="900"/>
              </a:spcAft>
            </a:pP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6:17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41049284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how to manage larger GitHub-hosted runners effectively.</a:t>
            </a:r>
          </a:p>
          <a:p>
            <a:endParaRPr lang="en-US" dirty="0"/>
          </a:p>
          <a:p>
            <a:r>
              <a:rPr lang="en-US" dirty="0"/>
              <a:t>GitHub gives us the flexibility to use more powerful runners, but with that power comes the need for thoughtful oversight—especially around usage and cost. So here are a few key areas to stay on top of:</a:t>
            </a:r>
          </a:p>
          <a:p>
            <a:endParaRPr lang="en-US" b="1" dirty="0"/>
          </a:p>
          <a:p>
            <a:r>
              <a:rPr lang="en-US" b="1" dirty="0"/>
              <a:t>Monitoring Usage</a:t>
            </a:r>
          </a:p>
          <a:p>
            <a:r>
              <a:rPr lang="en-US" dirty="0"/>
              <a:t>First, you'll want to keep an eye on how often these runners are being used.</a:t>
            </a:r>
            <a:br>
              <a:rPr lang="en-US" dirty="0"/>
            </a:br>
            <a:r>
              <a:rPr lang="en-US" dirty="0"/>
              <a:t>You can do that through the </a:t>
            </a:r>
            <a:r>
              <a:rPr lang="en-US" b="1" dirty="0"/>
              <a:t>Actions usage page</a:t>
            </a:r>
            <a:r>
              <a:rPr lang="en-US" dirty="0"/>
              <a:t> in your repository or organization settings.</a:t>
            </a:r>
            <a:br>
              <a:rPr lang="en-US" dirty="0"/>
            </a:br>
            <a:r>
              <a:rPr lang="en-US" dirty="0"/>
              <a:t>This page gives you visibility into how many jobs ran, how long they took, and what they cost. It’s your go-to dashboard for resource tracking.</a:t>
            </a:r>
          </a:p>
          <a:p>
            <a:endParaRPr lang="en-US" b="1" dirty="0"/>
          </a:p>
          <a:p>
            <a:r>
              <a:rPr lang="en-US" b="1" dirty="0"/>
              <a:t>Managing Access</a:t>
            </a:r>
          </a:p>
          <a:p>
            <a:r>
              <a:rPr lang="en-US" dirty="0"/>
              <a:t>Next up: access control.</a:t>
            </a:r>
            <a:br>
              <a:rPr lang="en-US" dirty="0"/>
            </a:br>
            <a:r>
              <a:rPr lang="en-US" dirty="0"/>
              <a:t>Not every team or workflow needs a high-powered runner, so it’s a good idea to </a:t>
            </a:r>
            <a:r>
              <a:rPr lang="en-US" b="1" dirty="0"/>
              <a:t>set policies at the repo or org level</a:t>
            </a:r>
            <a:r>
              <a:rPr lang="en-US" dirty="0"/>
              <a:t> to limit access.</a:t>
            </a:r>
            <a:br>
              <a:rPr lang="en-US" dirty="0"/>
            </a:br>
            <a:r>
              <a:rPr lang="en-US" dirty="0"/>
              <a:t>This helps make sure only the right workflows—like those running large test suites or builds—can use these resources.</a:t>
            </a:r>
          </a:p>
          <a:p>
            <a:endParaRPr lang="en-US" b="1" dirty="0"/>
          </a:p>
          <a:p>
            <a:r>
              <a:rPr lang="en-US" b="1" dirty="0"/>
              <a:t>Cost Management</a:t>
            </a:r>
          </a:p>
          <a:p>
            <a:r>
              <a:rPr lang="en-US" dirty="0"/>
              <a:t>Now let’s talk about cost.</a:t>
            </a:r>
            <a:br>
              <a:rPr lang="en-US" dirty="0"/>
            </a:br>
            <a:r>
              <a:rPr lang="en-US" dirty="0"/>
              <a:t>Larger runners incur </a:t>
            </a:r>
            <a:r>
              <a:rPr lang="en-US" b="1" dirty="0"/>
              <a:t>additional charges based on runtime</a:t>
            </a:r>
            <a:r>
              <a:rPr lang="en-US" dirty="0"/>
              <a:t>, so if you're on a budget, here are a few tips:</a:t>
            </a:r>
          </a:p>
          <a:p>
            <a:pPr marL="171450" indent="-171450">
              <a:buFont typeface="Arial" panose="020B0604020202020204" pitchFamily="34" charset="0"/>
              <a:buChar char="•"/>
            </a:pPr>
            <a:r>
              <a:rPr lang="en-US" dirty="0"/>
              <a:t>Only use them when absolutely necessary.</a:t>
            </a:r>
          </a:p>
          <a:p>
            <a:pPr marL="171450" indent="-171450">
              <a:buFont typeface="Arial" panose="020B0604020202020204" pitchFamily="34" charset="0"/>
              <a:buChar char="•"/>
            </a:pPr>
            <a:r>
              <a:rPr lang="en-US" dirty="0"/>
              <a:t>Streamline your workflows—cut out any inefficiencies that extend runtime.</a:t>
            </a:r>
          </a:p>
          <a:p>
            <a:pPr marL="171450" indent="-171450">
              <a:buFont typeface="Arial" panose="020B0604020202020204" pitchFamily="34" charset="0"/>
              <a:buChar char="•"/>
            </a:pPr>
            <a:r>
              <a:rPr lang="en-US" dirty="0"/>
              <a:t>Check your </a:t>
            </a:r>
            <a:r>
              <a:rPr lang="en-US" b="1" dirty="0"/>
              <a:t>billing dashboard</a:t>
            </a:r>
            <a:r>
              <a:rPr lang="en-US" dirty="0"/>
              <a:t> regularly so there are no surprises at the end of the month.</a:t>
            </a:r>
          </a:p>
          <a:p>
            <a:endParaRPr lang="en-US" b="1" dirty="0"/>
          </a:p>
          <a:p>
            <a:r>
              <a:rPr lang="en-US" b="1" dirty="0"/>
              <a:t>Scaling Workflows</a:t>
            </a:r>
          </a:p>
          <a:p>
            <a:r>
              <a:rPr lang="en-US" dirty="0"/>
              <a:t>Finally, if you find yourself reaching for larger runners often, it may be time to scale strategically.</a:t>
            </a:r>
            <a:br>
              <a:rPr lang="en-US" dirty="0"/>
            </a:br>
            <a:r>
              <a:rPr lang="en-US" dirty="0"/>
              <a:t>Here are two options:</a:t>
            </a:r>
          </a:p>
          <a:p>
            <a:pPr marL="171450" indent="-171450">
              <a:buFont typeface="Arial" panose="020B0604020202020204" pitchFamily="34" charset="0"/>
              <a:buChar char="•"/>
            </a:pPr>
            <a:r>
              <a:rPr lang="en-US" b="1" dirty="0"/>
              <a:t>Self-hosted runners</a:t>
            </a:r>
            <a:r>
              <a:rPr lang="en-US" dirty="0"/>
              <a:t> might be a better fit for predictable, heavy workloads.</a:t>
            </a:r>
          </a:p>
          <a:p>
            <a:pPr marL="171450" indent="-171450">
              <a:buFont typeface="Arial" panose="020B0604020202020204" pitchFamily="34" charset="0"/>
              <a:buChar char="•"/>
            </a:pPr>
            <a:r>
              <a:rPr lang="en-US" dirty="0"/>
              <a:t>Or, break up your workflows into smaller jobs and run them on standard runners in parallel.</a:t>
            </a:r>
          </a:p>
          <a:p>
            <a:endParaRPr lang="en-US" dirty="0"/>
          </a:p>
          <a:p>
            <a:r>
              <a:rPr lang="en-US" dirty="0"/>
              <a:t>By managing usage, access, and cost—and thinking proactively about scale—you can get the most out of GitHub’s larger runners without overextending your resources.</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19657405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r>
              <a:rPr lang="en-US" dirty="0"/>
              <a:t>In GitHub Actions, several components work together to automate tasks in your CI/CD pipeline. Here’s how they connect:</a:t>
            </a:r>
          </a:p>
          <a:p>
            <a:endParaRPr lang="en-US" dirty="0"/>
          </a:p>
          <a:p>
            <a:pPr marL="228600" indent="-228600">
              <a:buFont typeface="+mj-lt"/>
              <a:buAutoNum type="arabicPeriod"/>
            </a:pPr>
            <a:r>
              <a:rPr lang="en-US" b="1" dirty="0"/>
              <a:t>Event</a:t>
            </a:r>
            <a:br>
              <a:rPr lang="en-US" dirty="0"/>
            </a:br>
            <a:r>
              <a:rPr lang="en-US" dirty="0"/>
              <a:t>An </a:t>
            </a:r>
            <a:r>
              <a:rPr lang="en-US" b="1" dirty="0"/>
              <a:t>event</a:t>
            </a:r>
            <a:r>
              <a:rPr lang="en-US" dirty="0"/>
              <a:t> is what triggers the workflow to run. This could be something like a push to a branch, a pull request, or a scheduled time.</a:t>
            </a:r>
          </a:p>
          <a:p>
            <a:pPr marL="228600" indent="-228600">
              <a:buFont typeface="+mj-lt"/>
              <a:buAutoNum type="arabicPeriod"/>
            </a:pPr>
            <a:r>
              <a:rPr lang="en-US" b="1" dirty="0"/>
              <a:t>Workflow</a:t>
            </a:r>
            <a:br>
              <a:rPr lang="en-US" dirty="0"/>
            </a:br>
            <a:r>
              <a:rPr lang="en-US" dirty="0"/>
              <a:t>A </a:t>
            </a:r>
            <a:r>
              <a:rPr lang="en-US" b="1" dirty="0"/>
              <a:t>workflow</a:t>
            </a:r>
            <a:r>
              <a:rPr lang="en-US" dirty="0"/>
              <a:t> is defined in a YAML file within the .</a:t>
            </a:r>
            <a:r>
              <a:rPr lang="en-US" dirty="0" err="1"/>
              <a:t>github</a:t>
            </a:r>
            <a:r>
              <a:rPr lang="en-US" dirty="0"/>
              <a:t>/workflows/ directory of your repository. It contains all the automation instructions and is the top-level configuration file.</a:t>
            </a:r>
          </a:p>
          <a:p>
            <a:pPr marL="228600" indent="-228600">
              <a:buFont typeface="+mj-lt"/>
              <a:buAutoNum type="arabicPeriod"/>
            </a:pPr>
            <a:r>
              <a:rPr lang="en-US" b="1" dirty="0"/>
              <a:t>Job</a:t>
            </a:r>
            <a:br>
              <a:rPr lang="en-US" dirty="0"/>
            </a:br>
            <a:r>
              <a:rPr lang="en-US" dirty="0"/>
              <a:t>A </a:t>
            </a:r>
            <a:r>
              <a:rPr lang="en-US" b="1" dirty="0"/>
              <a:t>job</a:t>
            </a:r>
            <a:r>
              <a:rPr lang="en-US" dirty="0"/>
              <a:t> is a set of steps that run in the same runner environment. Each job runs independently by default unless you define dependencies.</a:t>
            </a:r>
          </a:p>
          <a:p>
            <a:pPr marL="228600" indent="-228600">
              <a:buFont typeface="+mj-lt"/>
              <a:buAutoNum type="arabicPeriod"/>
            </a:pPr>
            <a:r>
              <a:rPr lang="en-US" b="1" dirty="0"/>
              <a:t>Steps</a:t>
            </a:r>
            <a:br>
              <a:rPr lang="en-US" dirty="0"/>
            </a:br>
            <a:r>
              <a:rPr lang="en-US" b="1" dirty="0"/>
              <a:t>Steps</a:t>
            </a:r>
            <a:r>
              <a:rPr lang="en-US" dirty="0"/>
              <a:t> are individual tasks within a job. They run sequentially and can run commands or reference actions.</a:t>
            </a:r>
          </a:p>
          <a:p>
            <a:pPr marL="228600" indent="-228600">
              <a:buFont typeface="+mj-lt"/>
              <a:buAutoNum type="arabicPeriod"/>
            </a:pPr>
            <a:r>
              <a:rPr lang="en-US" b="1" dirty="0"/>
              <a:t>Action</a:t>
            </a:r>
            <a:br>
              <a:rPr lang="en-US" dirty="0"/>
            </a:br>
            <a:r>
              <a:rPr lang="en-US" dirty="0"/>
              <a:t>An </a:t>
            </a:r>
            <a:r>
              <a:rPr lang="en-US" b="1" dirty="0"/>
              <a:t>action</a:t>
            </a:r>
            <a:r>
              <a:rPr lang="en-US" dirty="0"/>
              <a:t> is a reusable extension that performs a specific task—like checking out code, setting up a language environment, or deploying to the cloud. Steps can either use built-in shell commands or reference public or custom actions.</a:t>
            </a:r>
          </a:p>
          <a:p>
            <a:endParaRPr lang="en-US" b="1" dirty="0"/>
          </a:p>
          <a:p>
            <a:r>
              <a:rPr lang="en-US" b="1" dirty="0"/>
              <a:t>How It Flows</a:t>
            </a:r>
          </a:p>
          <a:p>
            <a:pPr marL="171450" indent="-171450">
              <a:buFont typeface="Arial" panose="020B0604020202020204" pitchFamily="34" charset="0"/>
              <a:buChar char="•"/>
            </a:pPr>
            <a:r>
              <a:rPr lang="en-US" dirty="0"/>
              <a:t>An </a:t>
            </a:r>
            <a:r>
              <a:rPr lang="en-US" b="1" dirty="0"/>
              <a:t>event</a:t>
            </a:r>
            <a:r>
              <a:rPr lang="en-US" dirty="0"/>
              <a:t> triggers a </a:t>
            </a:r>
            <a:r>
              <a:rPr lang="en-US" b="1" dirty="0"/>
              <a:t>workflow</a:t>
            </a:r>
            <a:r>
              <a:rPr lang="en-US" dirty="0"/>
              <a:t>.</a:t>
            </a:r>
          </a:p>
          <a:p>
            <a:pPr marL="171450" indent="-171450">
              <a:buFont typeface="Arial" panose="020B0604020202020204" pitchFamily="34" charset="0"/>
              <a:buChar char="•"/>
            </a:pPr>
            <a:r>
              <a:rPr lang="en-US" dirty="0"/>
              <a:t>That workflow contains one or more </a:t>
            </a:r>
            <a:r>
              <a:rPr lang="en-US" b="1" dirty="0"/>
              <a:t>jobs</a:t>
            </a:r>
            <a:r>
              <a:rPr lang="en-US" dirty="0"/>
              <a:t>.</a:t>
            </a:r>
          </a:p>
          <a:p>
            <a:pPr marL="171450" indent="-171450">
              <a:buFont typeface="Arial" panose="020B0604020202020204" pitchFamily="34" charset="0"/>
              <a:buChar char="•"/>
            </a:pPr>
            <a:r>
              <a:rPr lang="en-US" dirty="0"/>
              <a:t>Each job includes a series of </a:t>
            </a:r>
            <a:r>
              <a:rPr lang="en-US" b="1" dirty="0"/>
              <a:t>steps</a:t>
            </a:r>
            <a:r>
              <a:rPr lang="en-US" dirty="0"/>
              <a:t>.</a:t>
            </a:r>
          </a:p>
          <a:p>
            <a:pPr marL="171450" indent="-171450">
              <a:buFont typeface="Arial" panose="020B0604020202020204" pitchFamily="34" charset="0"/>
              <a:buChar char="•"/>
            </a:pPr>
            <a:r>
              <a:rPr lang="en-US" dirty="0"/>
              <a:t>Some steps run </a:t>
            </a:r>
            <a:r>
              <a:rPr lang="en-US" b="1" dirty="0"/>
              <a:t>actions</a:t>
            </a:r>
            <a:r>
              <a:rPr lang="en-US" dirty="0"/>
              <a:t>, while others run commands directly.</a:t>
            </a:r>
          </a:p>
          <a:p>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6:17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4173500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r>
              <a:rPr lang="en-US" dirty="0"/>
              <a:t>Let’s start by looking at the two foundational components of any GitHub Actions automation: </a:t>
            </a:r>
            <a:r>
              <a:rPr lang="en-US" b="1" dirty="0"/>
              <a:t>Workflows</a:t>
            </a:r>
            <a:r>
              <a:rPr lang="en-US" dirty="0"/>
              <a:t> and </a:t>
            </a:r>
            <a:r>
              <a:rPr lang="en-US" b="1" dirty="0"/>
              <a:t>Jobs</a:t>
            </a:r>
            <a:r>
              <a:rPr lang="en-US" dirty="0"/>
              <a:t>.</a:t>
            </a:r>
          </a:p>
          <a:p>
            <a:endParaRPr lang="en-US" b="1" dirty="0"/>
          </a:p>
          <a:p>
            <a:r>
              <a:rPr lang="en-US" b="1" dirty="0"/>
              <a:t>Workflows</a:t>
            </a:r>
          </a:p>
          <a:p>
            <a:r>
              <a:rPr lang="en-US" dirty="0"/>
              <a:t>A </a:t>
            </a:r>
            <a:r>
              <a:rPr lang="en-US" b="1" dirty="0"/>
              <a:t>workflow</a:t>
            </a:r>
            <a:r>
              <a:rPr lang="en-US" dirty="0"/>
              <a:t> is an automated process you define in your repository.</a:t>
            </a:r>
            <a:br>
              <a:rPr lang="en-US" dirty="0"/>
            </a:br>
            <a:r>
              <a:rPr lang="en-US" dirty="0"/>
              <a:t>Think of it as the blueprint for what you want GitHub Actions to do—whether that's building, testing, packaging, releasing, or deploying your project.</a:t>
            </a:r>
            <a:br>
              <a:rPr lang="en-US" dirty="0"/>
            </a:br>
            <a:r>
              <a:rPr lang="en-US" dirty="0"/>
              <a:t>Every workflow needs at least one </a:t>
            </a:r>
            <a:r>
              <a:rPr lang="en-US" b="1" dirty="0"/>
              <a:t>job</a:t>
            </a:r>
            <a:r>
              <a:rPr lang="en-US" dirty="0"/>
              <a:t> to function, and it can be triggered by different </a:t>
            </a:r>
            <a:r>
              <a:rPr lang="en-US" b="1" dirty="0"/>
              <a:t>events</a:t>
            </a:r>
            <a:r>
              <a:rPr lang="en-US" dirty="0"/>
              <a:t>, like a push to a branch or a pull request.</a:t>
            </a:r>
          </a:p>
          <a:p>
            <a:endParaRPr lang="en-US" b="1" dirty="0"/>
          </a:p>
          <a:p>
            <a:r>
              <a:rPr lang="en-US" b="1" dirty="0"/>
              <a:t>Jobs</a:t>
            </a:r>
          </a:p>
          <a:p>
            <a:r>
              <a:rPr lang="en-US" dirty="0"/>
              <a:t>Inside the workflow, you define one or more </a:t>
            </a:r>
            <a:r>
              <a:rPr lang="en-US" b="1" dirty="0"/>
              <a:t>jobs</a:t>
            </a:r>
            <a:r>
              <a:rPr lang="en-US" dirty="0"/>
              <a:t>.</a:t>
            </a:r>
            <a:br>
              <a:rPr lang="en-US" dirty="0"/>
            </a:br>
            <a:r>
              <a:rPr lang="en-US" dirty="0"/>
              <a:t>A job is a unit of work that runs on a </a:t>
            </a:r>
            <a:r>
              <a:rPr lang="en-US" b="1" dirty="0"/>
              <a:t>runner</a:t>
            </a:r>
            <a:r>
              <a:rPr lang="en-US" dirty="0"/>
              <a:t>—which can be GitHub-hosted or self-hosted.</a:t>
            </a:r>
            <a:br>
              <a:rPr lang="en-US" dirty="0"/>
            </a:br>
            <a:r>
              <a:rPr lang="en-US" dirty="0"/>
              <a:t>Each job runs in its own isolated environment, either on a virtual machine or in a container.</a:t>
            </a:r>
          </a:p>
          <a:p>
            <a:endParaRPr lang="en-US" dirty="0"/>
          </a:p>
          <a:p>
            <a:r>
              <a:rPr lang="en-US" dirty="0"/>
              <a:t>You specify which environment the job runs on using the runs-on: attribute.</a:t>
            </a:r>
            <a:br>
              <a:rPr lang="en-US" dirty="0"/>
            </a:br>
            <a:r>
              <a:rPr lang="en-US" dirty="0"/>
              <a:t>For example: runs-on: ubuntu-latest </a:t>
            </a:r>
          </a:p>
          <a:p>
            <a:r>
              <a:rPr lang="en-US" dirty="0"/>
              <a:t>This tells GitHub to execute the job on a Linux-based virtual machine hosted by GitHub.</a:t>
            </a:r>
          </a:p>
          <a:p>
            <a:endParaRPr lang="en-US" dirty="0"/>
          </a:p>
          <a:p>
            <a:r>
              <a:rPr lang="en-US" dirty="0"/>
              <a:t>We’ll go deeper into runners in the next section, but for now, just remember:</a:t>
            </a:r>
          </a:p>
          <a:p>
            <a:r>
              <a:rPr lang="en-US" b="1" dirty="0"/>
              <a:t>Workflows contain jobs, and jobs define what tasks will be run and where.</a:t>
            </a:r>
            <a:endParaRPr lang="en-US" dirty="0"/>
          </a:p>
          <a:p>
            <a:pPr algn="l">
              <a:spcBef>
                <a:spcPts val="2400"/>
              </a:spcBef>
              <a:spcAft>
                <a:spcPts val="900"/>
              </a:spcAft>
            </a:pP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6:17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15924570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r>
              <a:rPr lang="en-US" dirty="0"/>
              <a:t>Now let’s talk about </a:t>
            </a:r>
            <a:r>
              <a:rPr lang="en-US" b="1" dirty="0"/>
              <a:t>Steps</a:t>
            </a:r>
            <a:r>
              <a:rPr lang="en-US" dirty="0"/>
              <a:t> and </a:t>
            </a:r>
            <a:r>
              <a:rPr lang="en-US" b="1" dirty="0"/>
              <a:t>Actions</a:t>
            </a:r>
            <a:r>
              <a:rPr lang="en-US" dirty="0"/>
              <a:t>—the building blocks of what actually happens inside a job.</a:t>
            </a:r>
          </a:p>
          <a:p>
            <a:endParaRPr lang="en-US" b="1" dirty="0"/>
          </a:p>
          <a:p>
            <a:r>
              <a:rPr lang="en-US" b="1" dirty="0"/>
              <a:t>Steps</a:t>
            </a:r>
          </a:p>
          <a:p>
            <a:r>
              <a:rPr lang="en-US" dirty="0"/>
              <a:t>A </a:t>
            </a:r>
            <a:r>
              <a:rPr lang="en-US" b="1" dirty="0"/>
              <a:t>step</a:t>
            </a:r>
            <a:r>
              <a:rPr lang="en-US" dirty="0"/>
              <a:t> is a single task within a job.</a:t>
            </a:r>
            <a:br>
              <a:rPr lang="en-US" dirty="0"/>
            </a:br>
            <a:r>
              <a:rPr lang="en-US" dirty="0"/>
              <a:t>Steps can either run shell commands directly or reference reusable </a:t>
            </a:r>
            <a:r>
              <a:rPr lang="en-US" b="1" dirty="0"/>
              <a:t>actions</a:t>
            </a:r>
            <a:r>
              <a:rPr lang="en-US" dirty="0"/>
              <a:t>.</a:t>
            </a:r>
          </a:p>
          <a:p>
            <a:endParaRPr lang="en-US" dirty="0"/>
          </a:p>
          <a:p>
            <a:r>
              <a:rPr lang="en-US" dirty="0"/>
              <a:t>In this example:</a:t>
            </a:r>
          </a:p>
          <a:p>
            <a:pPr rtl="0"/>
            <a:r>
              <a:rPr lang="en-US" dirty="0"/>
              <a:t>steps: - uses: actions/checkout@v2 </a:t>
            </a:r>
          </a:p>
          <a:p>
            <a:r>
              <a:rPr lang="en-US" dirty="0"/>
              <a:t>This step uses the popular actions/checkout@v2 action to check out the repository code.</a:t>
            </a:r>
          </a:p>
          <a:p>
            <a:r>
              <a:rPr lang="en-US" dirty="0"/>
              <a:t>You might also see something like uses: ./action-a, which means the step is calling a </a:t>
            </a:r>
            <a:r>
              <a:rPr lang="en-US" b="1" dirty="0"/>
              <a:t>local custom action</a:t>
            </a:r>
            <a:r>
              <a:rPr lang="en-US" dirty="0"/>
              <a:t>—one that you’ve defined in your repo using an </a:t>
            </a:r>
            <a:r>
              <a:rPr lang="en-US" dirty="0" err="1"/>
              <a:t>action.yml</a:t>
            </a:r>
            <a:r>
              <a:rPr lang="en-US" dirty="0"/>
              <a:t> file.</a:t>
            </a:r>
          </a:p>
          <a:p>
            <a:endParaRPr lang="en-US" b="1" dirty="0"/>
          </a:p>
          <a:p>
            <a:r>
              <a:rPr lang="en-US" b="1" dirty="0"/>
              <a:t>Actions</a:t>
            </a:r>
          </a:p>
          <a:p>
            <a:r>
              <a:rPr lang="en-US" dirty="0"/>
              <a:t>An </a:t>
            </a:r>
            <a:r>
              <a:rPr lang="en-US" b="1" dirty="0"/>
              <a:t>action</a:t>
            </a:r>
            <a:r>
              <a:rPr lang="en-US" dirty="0"/>
              <a:t> is a standalone script or container that performs a specific function.</a:t>
            </a:r>
            <a:br>
              <a:rPr lang="en-US" dirty="0"/>
            </a:br>
            <a:r>
              <a:rPr lang="en-US" dirty="0"/>
              <a:t>You can:</a:t>
            </a:r>
          </a:p>
          <a:p>
            <a:pPr marL="171450" indent="-171450">
              <a:buFont typeface="Arial" panose="020B0604020202020204" pitchFamily="34" charset="0"/>
              <a:buChar char="•"/>
            </a:pPr>
            <a:r>
              <a:rPr lang="en-US" dirty="0"/>
              <a:t>Use </a:t>
            </a:r>
            <a:r>
              <a:rPr lang="en-US" b="1" dirty="0"/>
              <a:t>official GitHub actions</a:t>
            </a:r>
            <a:r>
              <a:rPr lang="en-US" dirty="0"/>
              <a:t>, like actions/checkout@v2.</a:t>
            </a:r>
          </a:p>
          <a:p>
            <a:pPr marL="171450" indent="-171450">
              <a:buFont typeface="Arial" panose="020B0604020202020204" pitchFamily="34" charset="0"/>
              <a:buChar char="•"/>
            </a:pPr>
            <a:r>
              <a:rPr lang="en-US" dirty="0"/>
              <a:t>Use </a:t>
            </a:r>
            <a:r>
              <a:rPr lang="en-US" b="1" dirty="0"/>
              <a:t>community-contributed actions</a:t>
            </a:r>
            <a:r>
              <a:rPr lang="en-US" dirty="0"/>
              <a:t> from the GitHub Marketplace.</a:t>
            </a:r>
          </a:p>
          <a:p>
            <a:pPr marL="171450" indent="-171450">
              <a:buFont typeface="Arial" panose="020B0604020202020204" pitchFamily="34" charset="0"/>
              <a:buChar char="•"/>
            </a:pPr>
            <a:r>
              <a:rPr lang="en-US" dirty="0"/>
              <a:t>Create and use your </a:t>
            </a:r>
            <a:r>
              <a:rPr lang="en-US" b="1" dirty="0"/>
              <a:t>own custom actions</a:t>
            </a:r>
            <a:r>
              <a:rPr lang="en-US" dirty="0"/>
              <a:t>—either JavaScript-based or Docker-based.</a:t>
            </a:r>
          </a:p>
          <a:p>
            <a:endParaRPr lang="en-US" dirty="0"/>
          </a:p>
          <a:p>
            <a:r>
              <a:rPr lang="en-US" dirty="0"/>
              <a:t>You can also skip using an action entirely and just run commands directly:</a:t>
            </a:r>
          </a:p>
          <a:p>
            <a:pPr rtl="0"/>
            <a:r>
              <a:rPr lang="en-US" dirty="0"/>
              <a:t>- run: </a:t>
            </a:r>
            <a:r>
              <a:rPr lang="en-US" dirty="0" err="1"/>
              <a:t>npm</a:t>
            </a:r>
            <a:r>
              <a:rPr lang="en-US" dirty="0"/>
              <a:t> install -g bats </a:t>
            </a:r>
          </a:p>
          <a:p>
            <a:endParaRPr lang="en-US" dirty="0"/>
          </a:p>
          <a:p>
            <a:r>
              <a:rPr lang="en-US" dirty="0"/>
              <a:t>So, to recap:</a:t>
            </a:r>
            <a:br>
              <a:rPr lang="en-US" dirty="0"/>
            </a:br>
            <a:r>
              <a:rPr lang="en-US" b="1" dirty="0"/>
              <a:t>Steps are the tasks. Actions are the tools.</a:t>
            </a:r>
            <a:r>
              <a:rPr lang="en-US" dirty="0"/>
              <a:t> And your workflow is where it all comes together.</a:t>
            </a:r>
          </a:p>
          <a:p>
            <a:pPr algn="l">
              <a:spcBef>
                <a:spcPts val="2400"/>
              </a:spcBef>
              <a:spcAft>
                <a:spcPts val="900"/>
              </a:spcAft>
            </a:pP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6:17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17807068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pPr algn="l"/>
            <a:r>
              <a:rPr lang="en-US" b="0" i="0" dirty="0">
                <a:solidFill>
                  <a:srgbClr val="161616"/>
                </a:solidFill>
                <a:effectLst/>
                <a:highlight>
                  <a:srgbClr val="FFFFFF"/>
                </a:highlight>
                <a:latin typeface="Segoe UI" panose="020B0502040204020203" pitchFamily="34" charset="0"/>
              </a:rPr>
              <a:t>Here, you'll learn some common configurations within a workflow file. You'll also explore the categories of event types, disabling and deleting workflows, and using specific versions of an action for security best practices.</a:t>
            </a:r>
          </a:p>
          <a:p>
            <a:br>
              <a:rPr lang="en-US" dirty="0"/>
            </a:br>
            <a:r>
              <a:rPr lang="en-US" dirty="0"/>
              <a:t>In addition to reacting to GitHub events like pushes or pull requests, you can also configure workflows to run on a schedule.</a:t>
            </a:r>
          </a:p>
          <a:p>
            <a:r>
              <a:rPr lang="en-US" dirty="0"/>
              <a:t>This is done using the schedule event, which triggers your workflow at specific </a:t>
            </a:r>
            <a:r>
              <a:rPr lang="en-US" b="1" dirty="0"/>
              <a:t>UTC times</a:t>
            </a:r>
            <a:r>
              <a:rPr lang="en-US" dirty="0"/>
              <a:t> based on </a:t>
            </a:r>
            <a:r>
              <a:rPr lang="en-US" b="1" dirty="0"/>
              <a:t>POSIX </a:t>
            </a:r>
            <a:r>
              <a:rPr lang="en-US" b="1" dirty="0" err="1"/>
              <a:t>cron</a:t>
            </a:r>
            <a:r>
              <a:rPr lang="en-US" b="1" dirty="0"/>
              <a:t> syntax</a:t>
            </a:r>
            <a:r>
              <a:rPr lang="en-US" dirty="0"/>
              <a:t>.</a:t>
            </a:r>
          </a:p>
          <a:p>
            <a:endParaRPr lang="en-US" b="1" dirty="0"/>
          </a:p>
          <a:p>
            <a:r>
              <a:rPr lang="en-US" b="1" dirty="0"/>
              <a:t>Cron Syntax Basics</a:t>
            </a:r>
          </a:p>
          <a:p>
            <a:r>
              <a:rPr lang="en-US" dirty="0"/>
              <a:t>Cron expressions in GitHub Actions use </a:t>
            </a:r>
            <a:r>
              <a:rPr lang="en-US" b="1" dirty="0"/>
              <a:t>five asterisk fields</a:t>
            </a:r>
            <a:r>
              <a:rPr lang="en-US" dirty="0"/>
              <a:t>, each representing a unit of 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***Diagram of the five unit-of-time fields for scheduling an event in a workflow file.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This is especially useful for:</a:t>
            </a:r>
          </a:p>
          <a:p>
            <a:pPr marL="171450" indent="-171450">
              <a:buFont typeface="Arial" panose="020B0604020202020204" pitchFamily="34" charset="0"/>
              <a:buChar char="•"/>
            </a:pPr>
            <a:r>
              <a:rPr lang="en-US" dirty="0"/>
              <a:t>Running nightly builds</a:t>
            </a:r>
          </a:p>
          <a:p>
            <a:pPr marL="171450" indent="-171450">
              <a:buFont typeface="Arial" panose="020B0604020202020204" pitchFamily="34" charset="0"/>
              <a:buChar char="•"/>
            </a:pPr>
            <a:r>
              <a:rPr lang="en-US" dirty="0"/>
              <a:t>Performing routine maintenance tasks</a:t>
            </a:r>
          </a:p>
          <a:p>
            <a:pPr marL="171450" indent="-171450">
              <a:buFont typeface="Arial" panose="020B0604020202020204" pitchFamily="34" charset="0"/>
              <a:buChar char="•"/>
            </a:pPr>
            <a:r>
              <a:rPr lang="en-US" dirty="0"/>
              <a:t>Syncing data or checking dependencies regularly</a:t>
            </a:r>
          </a:p>
          <a:p>
            <a:pPr>
              <a:buFont typeface="Arial" panose="020B0604020202020204" pitchFamily="34" charset="0"/>
              <a:buChar char="•"/>
            </a:pPr>
            <a:endParaRPr lang="en-US" dirty="0"/>
          </a:p>
          <a:p>
            <a:r>
              <a:rPr lang="en-US" dirty="0"/>
              <a:t>Just keep in mind: all times are in </a:t>
            </a:r>
            <a:r>
              <a:rPr lang="en-US" b="1" dirty="0"/>
              <a:t>UTC</a:t>
            </a:r>
            <a:r>
              <a:rPr lang="en-US" dirty="0"/>
              <a:t>, so plan accordingly if your team works across different time zones.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6:17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36124201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a few practical examples of how to schedule workflows using </a:t>
            </a:r>
            <a:r>
              <a:rPr lang="en-US" dirty="0" err="1"/>
              <a:t>cron</a:t>
            </a:r>
            <a:r>
              <a:rPr lang="en-US" dirty="0"/>
              <a:t> syntax in GitHub Actions.</a:t>
            </a:r>
          </a:p>
          <a:p>
            <a:endParaRPr lang="en-US" b="1" dirty="0"/>
          </a:p>
          <a:p>
            <a:r>
              <a:rPr lang="en-US" b="1" dirty="0"/>
              <a:t>Running a Workflow Every 15 Minutes</a:t>
            </a:r>
          </a:p>
          <a:p>
            <a:r>
              <a:rPr lang="en-US" dirty="0"/>
              <a:t>If you want your workflow to run every 15 minutes, use this expression:</a:t>
            </a:r>
          </a:p>
          <a:p>
            <a:pPr rtl="0"/>
            <a:r>
              <a:rPr lang="en-US" dirty="0"/>
              <a:t>on: schedule: - </a:t>
            </a:r>
            <a:r>
              <a:rPr lang="en-US" dirty="0" err="1"/>
              <a:t>cron</a:t>
            </a:r>
            <a:r>
              <a:rPr lang="en-US" dirty="0"/>
              <a:t>: '*/15 * * * *' </a:t>
            </a:r>
          </a:p>
          <a:p>
            <a:r>
              <a:rPr lang="en-US" dirty="0"/>
              <a:t>This tells GitHub to run the workflow at the 0th, 15th, 30th, and 45th minute of every hour.</a:t>
            </a:r>
          </a:p>
          <a:p>
            <a:endParaRPr lang="en-US" b="1" dirty="0"/>
          </a:p>
          <a:p>
            <a:r>
              <a:rPr lang="en-US" b="1" dirty="0"/>
              <a:t>Running a Workflow Every Sunday at 3:00 AM (UTC)</a:t>
            </a:r>
          </a:p>
          <a:p>
            <a:r>
              <a:rPr lang="en-US" dirty="0"/>
              <a:t>To schedule a weekly workflow on Sunday mornings at 3:00 AM UTC, use:</a:t>
            </a:r>
          </a:p>
          <a:p>
            <a:pPr rtl="0"/>
            <a:r>
              <a:rPr lang="en-US" dirty="0"/>
              <a:t>on: schedule: - </a:t>
            </a:r>
            <a:r>
              <a:rPr lang="en-US" dirty="0" err="1"/>
              <a:t>cron</a:t>
            </a:r>
            <a:r>
              <a:rPr lang="en-US" dirty="0"/>
              <a:t>: '0 3 * * SUN’ </a:t>
            </a:r>
          </a:p>
          <a:p>
            <a:endParaRPr lang="en-US" dirty="0"/>
          </a:p>
          <a:p>
            <a:r>
              <a:rPr lang="en-US" dirty="0"/>
              <a:t>This can be useful for weekly maintenance tasks, backup scripts, or report generation.</a:t>
            </a:r>
          </a:p>
          <a:p>
            <a:endParaRPr lang="en-US" dirty="0"/>
          </a:p>
          <a:p>
            <a:r>
              <a:rPr lang="en-US" b="1" dirty="0"/>
              <a:t>Additional Tips</a:t>
            </a:r>
          </a:p>
          <a:p>
            <a:pPr marL="171450" indent="-171450">
              <a:buFont typeface="Arial" panose="020B0604020202020204" pitchFamily="34" charset="0"/>
              <a:buChar char="•"/>
            </a:pPr>
            <a:r>
              <a:rPr lang="en-US" dirty="0"/>
              <a:t>You can use </a:t>
            </a:r>
            <a:r>
              <a:rPr lang="en-US" b="1" dirty="0"/>
              <a:t>ranges</a:t>
            </a:r>
            <a:r>
              <a:rPr lang="en-US" dirty="0"/>
              <a:t>, </a:t>
            </a:r>
            <a:r>
              <a:rPr lang="en-US" b="1" dirty="0"/>
              <a:t>lists</a:t>
            </a:r>
            <a:r>
              <a:rPr lang="en-US" dirty="0"/>
              <a:t>, and </a:t>
            </a:r>
            <a:r>
              <a:rPr lang="en-US" b="1" dirty="0"/>
              <a:t>step values</a:t>
            </a:r>
            <a:r>
              <a:rPr lang="en-US" dirty="0"/>
              <a:t> in your </a:t>
            </a:r>
            <a:r>
              <a:rPr lang="en-US" dirty="0" err="1"/>
              <a:t>cron</a:t>
            </a:r>
            <a:r>
              <a:rPr lang="en-US" dirty="0"/>
              <a:t> expression to fine-tune the schedule.</a:t>
            </a:r>
          </a:p>
          <a:p>
            <a:pPr marL="171450" indent="-171450">
              <a:buFont typeface="Arial" panose="020B0604020202020204" pitchFamily="34" charset="0"/>
              <a:buChar char="•"/>
            </a:pPr>
            <a:r>
              <a:rPr lang="en-US" dirty="0"/>
              <a:t>The </a:t>
            </a:r>
            <a:r>
              <a:rPr lang="en-US" b="1" dirty="0"/>
              <a:t>shortest supported interval</a:t>
            </a:r>
            <a:r>
              <a:rPr lang="en-US" dirty="0"/>
              <a:t> for scheduled workflows is </a:t>
            </a:r>
            <a:r>
              <a:rPr lang="en-US" b="1" dirty="0"/>
              <a:t>every 5 minutes</a:t>
            </a:r>
            <a:r>
              <a:rPr lang="en-US" dirty="0"/>
              <a:t>.</a:t>
            </a:r>
          </a:p>
          <a:p>
            <a:pPr marL="171450" indent="-171450">
              <a:buFont typeface="Arial" panose="020B0604020202020204" pitchFamily="34" charset="0"/>
              <a:buChar char="•"/>
            </a:pPr>
            <a:r>
              <a:rPr lang="en-US" dirty="0"/>
              <a:t>Scheduled workflows always run on the </a:t>
            </a:r>
            <a:r>
              <a:rPr lang="en-US" b="1" dirty="0"/>
              <a:t>latest commit</a:t>
            </a:r>
            <a:r>
              <a:rPr lang="en-US" dirty="0"/>
              <a:t> of the </a:t>
            </a:r>
            <a:r>
              <a:rPr lang="en-US" b="1" dirty="0"/>
              <a:t>default or base branch</a:t>
            </a:r>
            <a:r>
              <a:rPr lang="en-US" dirty="0"/>
              <a:t>—so keep that in mind when scheduling frequent runs.</a:t>
            </a:r>
          </a:p>
          <a:p>
            <a:endParaRPr lang="en-US" dirty="0"/>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23</a:t>
            </a:fld>
            <a:endParaRPr lang="en-US" dirty="0"/>
          </a:p>
        </p:txBody>
      </p:sp>
    </p:spTree>
    <p:extLst>
      <p:ext uri="{BB962C8B-B14F-4D97-AF65-F5344CB8AC3E}">
        <p14:creationId xmlns:p14="http://schemas.microsoft.com/office/powerpoint/2010/main" val="2620497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a:t>
            </a:r>
            <a:r>
              <a:rPr lang="en-US" dirty="0" err="1"/>
              <a:t>workflow_dispatch</a:t>
            </a:r>
            <a:r>
              <a:rPr lang="en-US" dirty="0"/>
              <a:t> lets you manually trigger workflows from </a:t>
            </a:r>
            <a:r>
              <a:rPr lang="en-US" b="1" dirty="0"/>
              <a:t>within</a:t>
            </a:r>
            <a:r>
              <a:rPr lang="en-US" dirty="0"/>
              <a:t> GitHub, there’s another option for triggering workflows from </a:t>
            </a:r>
            <a:r>
              <a:rPr lang="en-US" b="1" dirty="0"/>
              <a:t>outside</a:t>
            </a:r>
            <a:r>
              <a:rPr lang="en-US" dirty="0"/>
              <a:t> GitHub: the </a:t>
            </a:r>
            <a:r>
              <a:rPr lang="en-US" dirty="0" err="1"/>
              <a:t>repository_dispatch</a:t>
            </a:r>
            <a:r>
              <a:rPr lang="en-US" dirty="0"/>
              <a:t> event.</a:t>
            </a:r>
          </a:p>
          <a:p>
            <a:endParaRPr lang="en-US" b="1" dirty="0"/>
          </a:p>
          <a:p>
            <a:r>
              <a:rPr lang="en-US" b="1" dirty="0"/>
              <a:t>What is </a:t>
            </a:r>
            <a:r>
              <a:rPr lang="en-US" b="1" dirty="0" err="1"/>
              <a:t>repository_dispatch</a:t>
            </a:r>
            <a:r>
              <a:rPr lang="en-US" b="1" dirty="0"/>
              <a:t>?</a:t>
            </a:r>
          </a:p>
          <a:p>
            <a:r>
              <a:rPr lang="en-US" dirty="0"/>
              <a:t>This event allows you to trigger a workflow by sending a </a:t>
            </a:r>
            <a:r>
              <a:rPr lang="en-US" b="1" dirty="0"/>
              <a:t>POST request</a:t>
            </a:r>
            <a:r>
              <a:rPr lang="en-US" dirty="0"/>
              <a:t> to the GitHub API.</a:t>
            </a:r>
            <a:br>
              <a:rPr lang="en-US" dirty="0"/>
            </a:br>
            <a:r>
              <a:rPr lang="en-US" dirty="0"/>
              <a:t>Think of it as a webhook that you control—it listens for custom events initiated from external tools, scripts, or platforms outside of GitHub.</a:t>
            </a:r>
          </a:p>
          <a:p>
            <a:endParaRPr lang="en-US" b="1" dirty="0"/>
          </a:p>
          <a:p>
            <a:r>
              <a:rPr lang="en-US" b="1" dirty="0"/>
              <a:t>How to Trigger It</a:t>
            </a:r>
          </a:p>
          <a:p>
            <a:pPr marL="228600" indent="-228600">
              <a:buFont typeface="+mj-lt"/>
              <a:buAutoNum type="arabicPeriod"/>
            </a:pPr>
            <a:r>
              <a:rPr lang="en-US" b="1" dirty="0"/>
              <a:t>Send a POST request</a:t>
            </a:r>
            <a:r>
              <a:rPr lang="en-US" dirty="0"/>
              <a:t> to the following endpoint:</a:t>
            </a:r>
          </a:p>
          <a:p>
            <a:pPr rtl="0">
              <a:buFont typeface="+mj-lt"/>
              <a:buNone/>
            </a:pPr>
            <a:r>
              <a:rPr lang="en-US" dirty="0"/>
              <a:t>POST /repos/{owner}/{repo}/dispatches </a:t>
            </a:r>
          </a:p>
          <a:p>
            <a:pPr>
              <a:buFont typeface="+mj-lt"/>
              <a:buNone/>
            </a:pPr>
            <a:endParaRPr lang="en-US" dirty="0"/>
          </a:p>
          <a:p>
            <a:pPr>
              <a:buFont typeface="+mj-lt"/>
              <a:buNone/>
            </a:pPr>
            <a:r>
              <a:rPr lang="en-US" dirty="0"/>
              <a:t>Here’s an example using curl:</a:t>
            </a:r>
          </a:p>
          <a:p>
            <a:pPr rtl="0">
              <a:buFont typeface="+mj-lt"/>
              <a:buNone/>
            </a:pPr>
            <a:r>
              <a:rPr lang="en-US" dirty="0"/>
              <a:t>curl \ -X POST \ -H "Accept: application/vnd.github.v3+json" \ https://</a:t>
            </a:r>
            <a:r>
              <a:rPr lang="en-US" dirty="0" err="1"/>
              <a:t>api.github.com</a:t>
            </a:r>
            <a:r>
              <a:rPr lang="en-US" dirty="0"/>
              <a:t>/repos/</a:t>
            </a:r>
            <a:r>
              <a:rPr lang="en-US" dirty="0" err="1"/>
              <a:t>octocat</a:t>
            </a:r>
            <a:r>
              <a:rPr lang="en-US" dirty="0"/>
              <a:t>/hello-world/dispatches \ -d '{"event_type":"</a:t>
            </a:r>
            <a:r>
              <a:rPr lang="en-US" dirty="0" err="1"/>
              <a:t>event_type</a:t>
            </a:r>
            <a:r>
              <a:rPr lang="en-US" dirty="0"/>
              <a:t>"}’ </a:t>
            </a:r>
          </a:p>
          <a:p>
            <a:pPr>
              <a:buFont typeface="+mj-lt"/>
              <a:buAutoNum type="arabicPeriod"/>
            </a:pPr>
            <a:endParaRPr lang="en-US" b="1" dirty="0"/>
          </a:p>
          <a:p>
            <a:pPr marL="0" indent="0">
              <a:buFont typeface="+mj-lt"/>
              <a:buNone/>
            </a:pPr>
            <a:r>
              <a:rPr lang="en-US" b="1" dirty="0"/>
              <a:t>2. Configure your workflow</a:t>
            </a:r>
            <a:r>
              <a:rPr lang="en-US" dirty="0"/>
              <a:t> to listen for </a:t>
            </a:r>
            <a:r>
              <a:rPr lang="en-US" dirty="0" err="1"/>
              <a:t>repository_dispatch</a:t>
            </a:r>
            <a:r>
              <a:rPr lang="en-US" dirty="0"/>
              <a:t> events:</a:t>
            </a:r>
          </a:p>
          <a:p>
            <a:pPr rtl="0">
              <a:buFont typeface="+mj-lt"/>
              <a:buNone/>
            </a:pPr>
            <a:r>
              <a:rPr lang="en-US" dirty="0"/>
              <a:t>on: </a:t>
            </a:r>
            <a:r>
              <a:rPr lang="en-US" dirty="0" err="1"/>
              <a:t>repository_dispatch</a:t>
            </a:r>
            <a:r>
              <a:rPr lang="en-US" dirty="0"/>
              <a:t>: types: [opened, deleted] </a:t>
            </a:r>
          </a:p>
          <a:p>
            <a:pPr>
              <a:buFont typeface="+mj-lt"/>
              <a:buNone/>
            </a:pPr>
            <a:endParaRPr lang="en-US" dirty="0"/>
          </a:p>
          <a:p>
            <a:pPr>
              <a:buFont typeface="+mj-lt"/>
              <a:buNone/>
            </a:pPr>
            <a:r>
              <a:rPr lang="en-US" dirty="0"/>
              <a:t>This listens for events named opened or deleted as defined in the API call’s </a:t>
            </a:r>
            <a:r>
              <a:rPr lang="en-US" dirty="0" err="1"/>
              <a:t>event_type</a:t>
            </a:r>
            <a:r>
              <a:rPr lang="en-US" dirty="0"/>
              <a:t>.</a:t>
            </a:r>
          </a:p>
          <a:p>
            <a:endParaRPr lang="en-US" b="1" dirty="0"/>
          </a:p>
          <a:p>
            <a:r>
              <a:rPr lang="en-US" b="1" dirty="0"/>
              <a:t>Use Cases</a:t>
            </a:r>
          </a:p>
          <a:p>
            <a:pPr marL="171450" indent="-171450">
              <a:buFont typeface="Arial" panose="020B0604020202020204" pitchFamily="34" charset="0"/>
              <a:buChar char="•"/>
            </a:pPr>
            <a:r>
              <a:rPr lang="en-US" dirty="0"/>
              <a:t>Integrating GitHub workflows with external systems (e.g., CI tools, chatbots, form submissions)</a:t>
            </a:r>
          </a:p>
          <a:p>
            <a:pPr marL="171450" indent="-171450">
              <a:buFont typeface="Arial" panose="020B0604020202020204" pitchFamily="34" charset="0"/>
              <a:buChar char="•"/>
            </a:pPr>
            <a:r>
              <a:rPr lang="en-US" dirty="0"/>
              <a:t>Automating workflows based on custom triggers from outside services</a:t>
            </a:r>
          </a:p>
          <a:p>
            <a:pPr marL="171450" indent="-171450">
              <a:buFont typeface="Arial" panose="020B0604020202020204" pitchFamily="34" charset="0"/>
              <a:buChar char="•"/>
            </a:pPr>
            <a:r>
              <a:rPr lang="en-US" dirty="0"/>
              <a:t>Creating a bridge between non-GitHub systems and your repo's automation</a:t>
            </a:r>
          </a:p>
          <a:p>
            <a:endParaRPr lang="en-US" dirty="0"/>
          </a:p>
          <a:p>
            <a:r>
              <a:rPr lang="en-US" dirty="0"/>
              <a:t>This method gives you a lot of flexibility—but keep in mind that it requires authentication and careful event naming to ensure secure and predictable execution.</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38234920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Lastly, you can configure a workflow to run when specific </a:t>
            </a:r>
            <a:r>
              <a:rPr lang="en-US" b="1" dirty="0"/>
              <a:t>webhook events</a:t>
            </a:r>
            <a:r>
              <a:rPr lang="en-US" dirty="0"/>
              <a:t> occur on GitHub.</a:t>
            </a:r>
          </a:p>
          <a:p>
            <a:r>
              <a:rPr lang="en-US" dirty="0"/>
              <a:t>Most webhook events can be triggered by multiple types of activity. If that's the case, you can narrow it down by specifying an </a:t>
            </a:r>
            <a:r>
              <a:rPr lang="en-US" b="1" dirty="0"/>
              <a:t>activity type</a:t>
            </a:r>
            <a:r>
              <a:rPr lang="en-US" dirty="0"/>
              <a:t>.</a:t>
            </a:r>
          </a:p>
          <a:p>
            <a:endParaRPr lang="en-US" dirty="0"/>
          </a:p>
          <a:p>
            <a:r>
              <a:rPr lang="en-US" dirty="0"/>
              <a:t>For example, with the </a:t>
            </a:r>
            <a:r>
              <a:rPr lang="en-US" dirty="0" err="1"/>
              <a:t>check_run</a:t>
            </a:r>
            <a:r>
              <a:rPr lang="en-US" dirty="0"/>
              <a:t> event, you can trigger a workflow only when the activity is either </a:t>
            </a:r>
            <a:r>
              <a:rPr lang="en-US" dirty="0" err="1"/>
              <a:t>rerequested</a:t>
            </a:r>
            <a:r>
              <a:rPr lang="en-US" dirty="0"/>
              <a:t> or </a:t>
            </a:r>
            <a:r>
              <a:rPr lang="en-US" dirty="0" err="1"/>
              <a:t>requested_action</a:t>
            </a:r>
            <a:r>
              <a:rPr lang="en-US" dirty="0"/>
              <a:t>, like this:</a:t>
            </a:r>
          </a:p>
          <a:p>
            <a:pPr rtl="0"/>
            <a:r>
              <a:rPr lang="en-US" dirty="0"/>
              <a:t>on: </a:t>
            </a:r>
          </a:p>
          <a:p>
            <a:pPr rtl="0"/>
            <a:r>
              <a:rPr lang="en-US" dirty="0" err="1"/>
              <a:t>check_run</a:t>
            </a:r>
            <a:r>
              <a:rPr lang="en-US" dirty="0"/>
              <a:t>: </a:t>
            </a:r>
          </a:p>
          <a:p>
            <a:pPr rtl="0"/>
            <a:r>
              <a:rPr lang="en-US" dirty="0"/>
              <a:t>types: [</a:t>
            </a:r>
            <a:r>
              <a:rPr lang="en-US" dirty="0" err="1"/>
              <a:t>rerequested</a:t>
            </a:r>
            <a:r>
              <a:rPr lang="en-US" dirty="0"/>
              <a:t>, </a:t>
            </a:r>
            <a:r>
              <a:rPr lang="en-US" dirty="0" err="1"/>
              <a:t>requested_action</a:t>
            </a:r>
            <a:r>
              <a:rPr lang="en-US" dirty="0"/>
              <a:t>] </a:t>
            </a:r>
          </a:p>
          <a:p>
            <a:endParaRPr lang="en-US" dirty="0"/>
          </a:p>
          <a:p>
            <a:r>
              <a:rPr lang="en-US" dirty="0"/>
              <a:t>This gives you more control over exactly </a:t>
            </a:r>
            <a:r>
              <a:rPr lang="en-US" b="1" dirty="0"/>
              <a:t>when</a:t>
            </a:r>
            <a:r>
              <a:rPr lang="en-US" dirty="0"/>
              <a:t> a workflow should run in response to GitHub events.</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29437645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Besides scheduled or automatic events, GitHub Actions also supports </a:t>
            </a:r>
            <a:r>
              <a:rPr lang="en-US" b="1" dirty="0"/>
              <a:t>manual workflow triggers</a:t>
            </a:r>
            <a:r>
              <a:rPr lang="en-US" dirty="0"/>
              <a:t> using the </a:t>
            </a:r>
            <a:r>
              <a:rPr lang="en-US" dirty="0" err="1"/>
              <a:t>workflow_dispatch</a:t>
            </a:r>
            <a:r>
              <a:rPr lang="en-US" dirty="0"/>
              <a:t> event.</a:t>
            </a:r>
          </a:p>
          <a:p>
            <a:r>
              <a:rPr lang="en-US" dirty="0"/>
              <a:t>This allows users to kick off a workflow by:</a:t>
            </a:r>
          </a:p>
          <a:p>
            <a:endParaRPr lang="en-US" dirty="0"/>
          </a:p>
          <a:p>
            <a:pPr marL="171450" indent="-171450">
              <a:buFont typeface="Arial" panose="020B0604020202020204" pitchFamily="34" charset="0"/>
              <a:buChar char="•"/>
            </a:pPr>
            <a:r>
              <a:rPr lang="en-US" dirty="0"/>
              <a:t>Clicking the </a:t>
            </a:r>
            <a:r>
              <a:rPr lang="en-US" b="1" dirty="0"/>
              <a:t>“Run workflow”</a:t>
            </a:r>
            <a:r>
              <a:rPr lang="en-US" dirty="0"/>
              <a:t> button in the </a:t>
            </a:r>
            <a:r>
              <a:rPr lang="en-US" b="1" dirty="0"/>
              <a:t>Actions tab</a:t>
            </a:r>
            <a:r>
              <a:rPr lang="en-US" dirty="0"/>
              <a:t> of the repository, or</a:t>
            </a:r>
          </a:p>
          <a:p>
            <a:pPr marL="171450" indent="-171450">
              <a:buFont typeface="Arial" panose="020B0604020202020204" pitchFamily="34" charset="0"/>
              <a:buChar char="•"/>
            </a:pPr>
            <a:r>
              <a:rPr lang="en-US" dirty="0"/>
              <a:t>Calling the GitHub </a:t>
            </a:r>
            <a:r>
              <a:rPr lang="en-US" b="1" dirty="0"/>
              <a:t>REST API</a:t>
            </a:r>
            <a:r>
              <a:rPr lang="en-US" dirty="0"/>
              <a:t>.</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This is especially useful for:</a:t>
            </a:r>
          </a:p>
          <a:p>
            <a:pPr marL="171450" indent="-171450">
              <a:buFont typeface="Arial" panose="020B0604020202020204" pitchFamily="34" charset="0"/>
              <a:buChar char="•"/>
            </a:pPr>
            <a:r>
              <a:rPr lang="en-US" dirty="0"/>
              <a:t>On-demand testing</a:t>
            </a:r>
          </a:p>
          <a:p>
            <a:pPr marL="171450" indent="-171450">
              <a:buFont typeface="Arial" panose="020B0604020202020204" pitchFamily="34" charset="0"/>
              <a:buChar char="•"/>
            </a:pPr>
            <a:r>
              <a:rPr lang="en-US" dirty="0"/>
              <a:t>Deployments</a:t>
            </a:r>
          </a:p>
          <a:p>
            <a:pPr marL="171450" indent="-171450">
              <a:buFont typeface="Arial" panose="020B0604020202020204" pitchFamily="34" charset="0"/>
              <a:buChar char="•"/>
            </a:pPr>
            <a:r>
              <a:rPr lang="en-US" dirty="0"/>
              <a:t>Triggering scripts with custom input values</a:t>
            </a:r>
          </a:p>
          <a:p>
            <a:pPr>
              <a:buFont typeface="Arial" panose="020B0604020202020204" pitchFamily="34" charset="0"/>
              <a:buChar char="•"/>
            </a:pPr>
            <a:endParaRPr lang="en-US" dirty="0"/>
          </a:p>
          <a:p>
            <a:r>
              <a:rPr lang="en-US" b="1" dirty="0"/>
              <a:t>Example: Manual Trigger with Inputs</a:t>
            </a:r>
          </a:p>
          <a:p>
            <a:r>
              <a:rPr lang="en-US" dirty="0"/>
              <a:t>Here’s a basic example of a workflow that includes manual inputs:</a:t>
            </a:r>
          </a:p>
          <a:p>
            <a:pPr rtl="0"/>
            <a:r>
              <a:rPr lang="en-US" dirty="0"/>
              <a:t>on: </a:t>
            </a:r>
            <a:r>
              <a:rPr lang="en-US" dirty="0" err="1"/>
              <a:t>workflow_dispatch</a:t>
            </a:r>
            <a:r>
              <a:rPr lang="en-US" dirty="0"/>
              <a:t>: inputs: </a:t>
            </a:r>
            <a:r>
              <a:rPr lang="en-US" dirty="0" err="1"/>
              <a:t>logLevel</a:t>
            </a:r>
            <a:r>
              <a:rPr lang="en-US" dirty="0"/>
              <a:t>: description: 'Log level' required: true default: 'warning' tags: description: 'Test scenario tags’ </a:t>
            </a:r>
          </a:p>
          <a:p>
            <a:endParaRPr lang="en-US" dirty="0"/>
          </a:p>
          <a:p>
            <a:r>
              <a:rPr lang="en-US" dirty="0"/>
              <a:t>In this setup:</a:t>
            </a:r>
          </a:p>
          <a:p>
            <a:pPr marL="171450" indent="-171450">
              <a:buFont typeface="Arial" panose="020B0604020202020204" pitchFamily="34" charset="0"/>
              <a:buChar char="•"/>
            </a:pPr>
            <a:r>
              <a:rPr lang="en-US" dirty="0"/>
              <a:t>The user is prompted to enter a </a:t>
            </a:r>
            <a:r>
              <a:rPr lang="en-US" b="1" dirty="0"/>
              <a:t>log level</a:t>
            </a:r>
            <a:r>
              <a:rPr lang="en-US" dirty="0"/>
              <a:t> (which is required),</a:t>
            </a:r>
          </a:p>
          <a:p>
            <a:pPr marL="171450" indent="-171450">
              <a:buFont typeface="Arial" panose="020B0604020202020204" pitchFamily="34" charset="0"/>
              <a:buChar char="•"/>
            </a:pPr>
            <a:r>
              <a:rPr lang="en-US" dirty="0"/>
              <a:t>And optional </a:t>
            </a:r>
            <a:r>
              <a:rPr lang="en-US" b="1" dirty="0"/>
              <a:t>test scenario tags</a:t>
            </a:r>
            <a:r>
              <a:rPr lang="en-US" dirty="0"/>
              <a:t> before starting the workflow.</a:t>
            </a:r>
          </a:p>
          <a:p>
            <a:endParaRPr lang="en-US" dirty="0"/>
          </a:p>
          <a:p>
            <a:r>
              <a:rPr lang="en-US" dirty="0"/>
              <a:t>You can also specify which </a:t>
            </a:r>
            <a:r>
              <a:rPr lang="en-US" b="1" dirty="0"/>
              <a:t>branch</a:t>
            </a:r>
            <a:r>
              <a:rPr lang="en-US" dirty="0"/>
              <a:t> to run the workflow on during manual trigger.</a:t>
            </a:r>
          </a:p>
          <a:p>
            <a:endParaRPr lang="en-US" dirty="0"/>
          </a:p>
          <a:p>
            <a:r>
              <a:rPr lang="en-US" dirty="0"/>
              <a:t>Using </a:t>
            </a:r>
            <a:r>
              <a:rPr lang="en-US" dirty="0" err="1"/>
              <a:t>workflow_dispatch</a:t>
            </a:r>
            <a:r>
              <a:rPr lang="en-US" dirty="0"/>
              <a:t> gives your team more </a:t>
            </a:r>
            <a:r>
              <a:rPr lang="en-US" b="1" dirty="0"/>
              <a:t>control and flexibility</a:t>
            </a:r>
            <a:r>
              <a:rPr lang="en-US" dirty="0"/>
              <a:t>, making workflows easier to test, rerun, or use for ad hoc processes without relying on automatic triggers.</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18346006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repository_dispatch</a:t>
            </a:r>
            <a:r>
              <a:rPr lang="en-US" dirty="0"/>
              <a:t> event is a </a:t>
            </a:r>
            <a:r>
              <a:rPr lang="en-US" b="1" dirty="0"/>
              <a:t>custom trigger</a:t>
            </a:r>
            <a:r>
              <a:rPr lang="en-US" dirty="0"/>
              <a:t> in GitHub Actions that allows </a:t>
            </a:r>
            <a:r>
              <a:rPr lang="en-US" b="1" dirty="0"/>
              <a:t>external systems</a:t>
            </a:r>
            <a:r>
              <a:rPr lang="en-US" dirty="0"/>
              <a:t>—or even other GitHub workflows—to </a:t>
            </a:r>
            <a:r>
              <a:rPr lang="en-US" b="1" dirty="0"/>
              <a:t>manually trigger a workflow</a:t>
            </a:r>
            <a:r>
              <a:rPr lang="en-US" dirty="0"/>
              <a:t> by sending a </a:t>
            </a:r>
            <a:r>
              <a:rPr lang="en-US" b="1" dirty="0"/>
              <a:t>POST request</a:t>
            </a:r>
            <a:r>
              <a:rPr lang="en-US" dirty="0"/>
              <a:t> to the GitHub API.</a:t>
            </a:r>
          </a:p>
          <a:p>
            <a:endParaRPr lang="en-US" dirty="0"/>
          </a:p>
          <a:p>
            <a:r>
              <a:rPr lang="en-US" dirty="0"/>
              <a:t>This opens the door to much more </a:t>
            </a:r>
            <a:r>
              <a:rPr lang="en-US" b="1" dirty="0"/>
              <a:t>flexible automation</a:t>
            </a:r>
            <a:r>
              <a:rPr lang="en-US" dirty="0"/>
              <a:t>, especially when GitHub needs to respond to activity that happens </a:t>
            </a:r>
            <a:r>
              <a:rPr lang="en-US" b="1" dirty="0"/>
              <a:t>outside</a:t>
            </a:r>
            <a:r>
              <a:rPr lang="en-US" dirty="0"/>
              <a:t> the platform.</a:t>
            </a:r>
          </a:p>
          <a:p>
            <a:endParaRPr lang="en-US" b="1" dirty="0"/>
          </a:p>
          <a:p>
            <a:r>
              <a:rPr lang="en-US" b="1" dirty="0"/>
              <a:t>Use Cases</a:t>
            </a:r>
          </a:p>
          <a:p>
            <a:pPr marL="171450" indent="-171450">
              <a:buFont typeface="Arial" panose="020B0604020202020204" pitchFamily="34" charset="0"/>
              <a:buChar char="•"/>
            </a:pPr>
            <a:r>
              <a:rPr lang="en-US" b="1" dirty="0"/>
              <a:t>Trigger workflows from external CI/CD tools</a:t>
            </a:r>
            <a:r>
              <a:rPr lang="en-US" dirty="0"/>
              <a:t>, allowing seamless integration across your toolchain.</a:t>
            </a:r>
          </a:p>
          <a:p>
            <a:pPr marL="171450" indent="-171450">
              <a:buFont typeface="Arial" panose="020B0604020202020204" pitchFamily="34" charset="0"/>
              <a:buChar char="•"/>
            </a:pPr>
            <a:r>
              <a:rPr lang="en-US" b="1" dirty="0"/>
              <a:t>Coordinate multi-repo deployments</a:t>
            </a:r>
            <a:r>
              <a:rPr lang="en-US" dirty="0"/>
              <a:t>—for example, when a build finishes in Repo A, it triggers a deployment in Repo B.</a:t>
            </a:r>
          </a:p>
          <a:p>
            <a:pPr marL="171450" indent="-171450">
              <a:buFont typeface="Arial" panose="020B0604020202020204" pitchFamily="34" charset="0"/>
              <a:buChar char="•"/>
            </a:pPr>
            <a:r>
              <a:rPr lang="en-US" b="1" dirty="0"/>
              <a:t>Start workflows from external events</a:t>
            </a:r>
            <a:r>
              <a:rPr lang="en-US" dirty="0"/>
              <a:t>, like webhook notifications, monitoring alerts, or CRON jobs that run outside GitHub.</a:t>
            </a:r>
          </a:p>
          <a:p>
            <a:pPr marL="171450" indent="-171450">
              <a:buFont typeface="Arial" panose="020B0604020202020204" pitchFamily="34" charset="0"/>
              <a:buChar char="•"/>
            </a:pPr>
            <a:r>
              <a:rPr lang="en-US" b="1" dirty="0"/>
              <a:t>Chain workflow executions</a:t>
            </a:r>
            <a:r>
              <a:rPr lang="en-US" dirty="0"/>
              <a:t> across multiple repositories or even within a </a:t>
            </a:r>
            <a:r>
              <a:rPr lang="en-US" dirty="0" err="1"/>
              <a:t>monorepo</a:t>
            </a:r>
            <a:r>
              <a:rPr lang="en-US" dirty="0"/>
              <a:t> to create a controlled sequence of automation.</a:t>
            </a:r>
          </a:p>
          <a:p>
            <a:endParaRPr lang="en-US" dirty="0"/>
          </a:p>
          <a:p>
            <a:r>
              <a:rPr lang="en-US" dirty="0"/>
              <a:t>This is a powerful way to make your GitHub Actions workflows part of a </a:t>
            </a:r>
            <a:r>
              <a:rPr lang="en-US" b="1" dirty="0"/>
              <a:t>larger automation ecosystem</a:t>
            </a:r>
            <a:r>
              <a:rPr lang="en-US" dirty="0"/>
              <a:t>.</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33499102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simple example of a workflow that listens for a </a:t>
            </a:r>
            <a:r>
              <a:rPr lang="en-US" dirty="0" err="1"/>
              <a:t>repository_dispatch</a:t>
            </a:r>
            <a:r>
              <a:rPr lang="en-US" dirty="0"/>
              <a:t> event:</a:t>
            </a:r>
          </a:p>
          <a:p>
            <a:pPr rtl="0"/>
            <a:endParaRPr lang="en-US" dirty="0"/>
          </a:p>
          <a:p>
            <a:pPr rtl="0"/>
            <a:r>
              <a:rPr lang="en-US" dirty="0"/>
              <a:t>name: Custom Dispatch Listener </a:t>
            </a:r>
          </a:p>
          <a:p>
            <a:pPr rtl="0"/>
            <a:r>
              <a:rPr lang="en-US" dirty="0"/>
              <a:t>on: </a:t>
            </a:r>
            <a:r>
              <a:rPr lang="en-US" dirty="0" err="1"/>
              <a:t>repository_dispatch</a:t>
            </a:r>
            <a:r>
              <a:rPr lang="en-US" dirty="0"/>
              <a:t>: </a:t>
            </a:r>
          </a:p>
          <a:p>
            <a:pPr rtl="0"/>
            <a:r>
              <a:rPr lang="en-US" dirty="0"/>
              <a:t>types: [run-tests, deploy-to-prod] # Optional filtering </a:t>
            </a:r>
          </a:p>
          <a:p>
            <a:pPr rtl="0"/>
            <a:r>
              <a:rPr lang="en-US" dirty="0"/>
              <a:t>jobs: </a:t>
            </a:r>
          </a:p>
          <a:p>
            <a:pPr rtl="0"/>
            <a:r>
              <a:rPr lang="en-US" dirty="0"/>
              <a:t>run: </a:t>
            </a:r>
          </a:p>
          <a:p>
            <a:pPr rtl="0"/>
            <a:r>
              <a:rPr lang="en-US" dirty="0"/>
              <a:t>runs-on: ubuntu-latest </a:t>
            </a:r>
          </a:p>
          <a:p>
            <a:pPr rtl="0"/>
            <a:r>
              <a:rPr lang="en-US" dirty="0"/>
              <a:t>steps: </a:t>
            </a:r>
          </a:p>
          <a:p>
            <a:pPr marL="171450" indent="-171450" rtl="0">
              <a:buFontTx/>
              <a:buChar char="-"/>
            </a:pPr>
            <a:r>
              <a:rPr lang="en-US" dirty="0"/>
              <a:t>name: Echo the payload </a:t>
            </a:r>
          </a:p>
          <a:p>
            <a:pPr marL="457200" lvl="1" indent="0" rtl="0">
              <a:buFontTx/>
              <a:buNone/>
            </a:pPr>
            <a:r>
              <a:rPr lang="en-US" dirty="0"/>
              <a:t>run: | </a:t>
            </a:r>
          </a:p>
          <a:p>
            <a:pPr marL="457200" lvl="1" indent="0" rtl="0">
              <a:buFontTx/>
              <a:buNone/>
            </a:pPr>
            <a:r>
              <a:rPr lang="en-US" dirty="0"/>
              <a:t>echo "Event type: ${{ </a:t>
            </a:r>
            <a:r>
              <a:rPr lang="en-US" dirty="0" err="1"/>
              <a:t>github.event.action</a:t>
            </a:r>
            <a:r>
              <a:rPr lang="en-US" dirty="0"/>
              <a:t> }}" </a:t>
            </a:r>
          </a:p>
          <a:p>
            <a:pPr marL="457200" lvl="1" indent="0" rtl="0">
              <a:buFontTx/>
              <a:buNone/>
            </a:pPr>
            <a:r>
              <a:rPr lang="en-US" dirty="0"/>
              <a:t>echo "Payload value: ${{ </a:t>
            </a:r>
            <a:r>
              <a:rPr lang="en-US" dirty="0" err="1"/>
              <a:t>github.event.client_payload.env</a:t>
            </a:r>
            <a:r>
              <a:rPr lang="en-US" dirty="0"/>
              <a:t> }}" </a:t>
            </a:r>
          </a:p>
          <a:p>
            <a:endParaRPr lang="en-US" b="1" dirty="0"/>
          </a:p>
          <a:p>
            <a:r>
              <a:rPr lang="en-US" b="1" dirty="0"/>
              <a:t>Key Elements to Know:</a:t>
            </a:r>
          </a:p>
          <a:p>
            <a:pPr marL="171450" indent="-171450">
              <a:buFont typeface="Arial" panose="020B0604020202020204" pitchFamily="34" charset="0"/>
              <a:buChar char="•"/>
            </a:pPr>
            <a:r>
              <a:rPr lang="en-US" dirty="0"/>
              <a:t>types: is optional but helpful. It lets you filter for specific custom event types—like run-tests or deploy-to-prod.</a:t>
            </a:r>
          </a:p>
          <a:p>
            <a:pPr marL="171450" indent="-171450">
              <a:buFont typeface="Arial" panose="020B0604020202020204" pitchFamily="34" charset="0"/>
              <a:buChar char="•"/>
            </a:pPr>
            <a:r>
              <a:rPr lang="en-US" dirty="0"/>
              <a:t>${{ </a:t>
            </a:r>
            <a:r>
              <a:rPr lang="en-US" dirty="0" err="1"/>
              <a:t>github.event.action</a:t>
            </a:r>
            <a:r>
              <a:rPr lang="en-US" dirty="0"/>
              <a:t> }} gives you the name of the event type that triggered the workflow.</a:t>
            </a:r>
          </a:p>
          <a:p>
            <a:pPr marL="171450" indent="-171450">
              <a:buFont typeface="Arial" panose="020B0604020202020204" pitchFamily="34" charset="0"/>
              <a:buChar char="•"/>
            </a:pPr>
            <a:r>
              <a:rPr lang="en-US" dirty="0"/>
              <a:t>${{ </a:t>
            </a:r>
            <a:r>
              <a:rPr lang="en-US" dirty="0" err="1"/>
              <a:t>github.event.client_payload.env</a:t>
            </a:r>
            <a:r>
              <a:rPr lang="en-US" dirty="0"/>
              <a:t> }} accesses custom data passed in when the POST request was sent—like environment settings, flags, or version numbers.</a:t>
            </a:r>
          </a:p>
          <a:p>
            <a:endParaRPr lang="en-US" dirty="0"/>
          </a:p>
          <a:p>
            <a:r>
              <a:rPr lang="en-US" dirty="0"/>
              <a:t>This structure lets you </a:t>
            </a:r>
            <a:r>
              <a:rPr lang="en-US" b="1" dirty="0"/>
              <a:t>respond dynamically</a:t>
            </a:r>
            <a:r>
              <a:rPr lang="en-US" dirty="0"/>
              <a:t> based on what the external system sent in the payload.</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28</a:t>
            </a:fld>
            <a:endParaRPr lang="en-US" dirty="0"/>
          </a:p>
        </p:txBody>
      </p:sp>
    </p:spTree>
    <p:extLst>
      <p:ext uri="{BB962C8B-B14F-4D97-AF65-F5344CB8AC3E}">
        <p14:creationId xmlns:p14="http://schemas.microsoft.com/office/powerpoint/2010/main" val="6141974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manually trigger a </a:t>
            </a:r>
            <a:r>
              <a:rPr lang="en-US" dirty="0" err="1"/>
              <a:t>repository_dispatch</a:t>
            </a:r>
            <a:r>
              <a:rPr lang="en-US" dirty="0"/>
              <a:t> event, you need to send a </a:t>
            </a:r>
            <a:r>
              <a:rPr lang="en-US" b="1" dirty="0"/>
              <a:t>POST request</a:t>
            </a:r>
            <a:r>
              <a:rPr lang="en-US" dirty="0"/>
              <a:t> to the GitHub REST API v3:</a:t>
            </a:r>
          </a:p>
          <a:p>
            <a:pPr rtl="0"/>
            <a:r>
              <a:rPr lang="en-US" dirty="0"/>
              <a:t>POST https://</a:t>
            </a:r>
            <a:r>
              <a:rPr lang="en-US" dirty="0" err="1"/>
              <a:t>api.github.com</a:t>
            </a:r>
            <a:r>
              <a:rPr lang="en-US" dirty="0"/>
              <a:t>/repos/OWNER/REPO/dispatches </a:t>
            </a:r>
          </a:p>
          <a:p>
            <a:endParaRPr lang="en-US" b="1" dirty="0"/>
          </a:p>
          <a:p>
            <a:r>
              <a:rPr lang="en-US" b="1" dirty="0"/>
              <a:t>Authorization</a:t>
            </a:r>
          </a:p>
          <a:p>
            <a:r>
              <a:rPr lang="en-US" dirty="0"/>
              <a:t>This request requires a </a:t>
            </a:r>
            <a:r>
              <a:rPr lang="en-US" b="1" dirty="0"/>
              <a:t>Personal Access Token (PAT)</a:t>
            </a:r>
            <a:r>
              <a:rPr lang="en-US" dirty="0"/>
              <a:t> with repo scope.</a:t>
            </a:r>
            <a:br>
              <a:rPr lang="en-US" dirty="0"/>
            </a:br>
            <a:r>
              <a:rPr lang="en-US" dirty="0"/>
              <a:t>If you’re triggering this for an </a:t>
            </a:r>
            <a:r>
              <a:rPr lang="en-US" b="1" dirty="0"/>
              <a:t>organization</a:t>
            </a:r>
            <a:r>
              <a:rPr lang="en-US" dirty="0"/>
              <a:t>, make sure the token has the correct access permissions for that org’s repositories.</a:t>
            </a:r>
          </a:p>
          <a:p>
            <a:endParaRPr lang="en-US" b="1" dirty="0"/>
          </a:p>
          <a:p>
            <a:r>
              <a:rPr lang="en-US" b="1" dirty="0"/>
              <a:t>Sample curl Command</a:t>
            </a:r>
          </a:p>
          <a:p>
            <a:r>
              <a:rPr lang="en-US" dirty="0"/>
              <a:t>Here’s what the API call looks like:</a:t>
            </a:r>
          </a:p>
          <a:p>
            <a:pPr rtl="0"/>
            <a:r>
              <a:rPr lang="en-US" dirty="0"/>
              <a:t>curl -X POST \ </a:t>
            </a:r>
          </a:p>
          <a:p>
            <a:pPr rtl="0"/>
            <a:r>
              <a:rPr lang="en-US" dirty="0"/>
              <a:t>-H "Accept: application/</a:t>
            </a:r>
            <a:r>
              <a:rPr lang="en-US" dirty="0" err="1"/>
              <a:t>vnd.github+json</a:t>
            </a:r>
            <a:r>
              <a:rPr lang="en-US" dirty="0"/>
              <a:t>" \ </a:t>
            </a:r>
          </a:p>
          <a:p>
            <a:pPr rtl="0"/>
            <a:r>
              <a:rPr lang="en-US" dirty="0"/>
              <a:t>-H "Authorization: token YOUR_GITHUB_TOKEN" \ </a:t>
            </a:r>
          </a:p>
          <a:p>
            <a:pPr rtl="0"/>
            <a:r>
              <a:rPr lang="en-US" dirty="0"/>
              <a:t>https://</a:t>
            </a:r>
            <a:r>
              <a:rPr lang="en-US" dirty="0" err="1"/>
              <a:t>api.github.com</a:t>
            </a:r>
            <a:r>
              <a:rPr lang="en-US" dirty="0"/>
              <a:t>/repos/OWNER/REPO/dispatches \ </a:t>
            </a:r>
          </a:p>
          <a:p>
            <a:pPr rtl="0"/>
            <a:r>
              <a:rPr lang="en-US" dirty="0"/>
              <a:t>-d '{"event_type":"run-tests","</a:t>
            </a:r>
            <a:r>
              <a:rPr lang="en-US" dirty="0" err="1"/>
              <a:t>client_payload</a:t>
            </a:r>
            <a:r>
              <a:rPr lang="en-US" dirty="0"/>
              <a:t>":{"</a:t>
            </a:r>
            <a:r>
              <a:rPr lang="en-US" dirty="0" err="1"/>
              <a:t>env":"staging</a:t>
            </a:r>
            <a:r>
              <a:rPr lang="en-US" dirty="0"/>
              <a:t>"}}’ </a:t>
            </a:r>
          </a:p>
          <a:p>
            <a:endParaRPr lang="en-US" dirty="0"/>
          </a:p>
          <a:p>
            <a:r>
              <a:rPr lang="en-US" dirty="0"/>
              <a:t>This sends:</a:t>
            </a:r>
          </a:p>
          <a:p>
            <a:pPr marL="171450" indent="-171450">
              <a:buFont typeface="Arial" panose="020B0604020202020204" pitchFamily="34" charset="0"/>
              <a:buChar char="•"/>
            </a:pPr>
            <a:r>
              <a:rPr lang="en-US" dirty="0"/>
              <a:t>An </a:t>
            </a:r>
            <a:r>
              <a:rPr lang="en-US" dirty="0" err="1"/>
              <a:t>event_type</a:t>
            </a:r>
            <a:r>
              <a:rPr lang="en-US" dirty="0"/>
              <a:t> of run-tests (which matches your workflow listener), and</a:t>
            </a:r>
          </a:p>
          <a:p>
            <a:pPr marL="171450" indent="-171450">
              <a:buFont typeface="Arial" panose="020B0604020202020204" pitchFamily="34" charset="0"/>
              <a:buChar char="•"/>
            </a:pPr>
            <a:r>
              <a:rPr lang="en-US" dirty="0"/>
              <a:t>A </a:t>
            </a:r>
            <a:r>
              <a:rPr lang="en-US" dirty="0" err="1"/>
              <a:t>client_payload</a:t>
            </a:r>
            <a:r>
              <a:rPr lang="en-US" dirty="0"/>
              <a:t> with custom data—in this case, "env": "staging".</a:t>
            </a:r>
          </a:p>
          <a:p>
            <a:endParaRPr lang="en-US" dirty="0"/>
          </a:p>
          <a:p>
            <a:r>
              <a:rPr lang="en-US" dirty="0"/>
              <a:t>Your GitHub Action can then access this payload to tailor what it does during execution.</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29</a:t>
            </a:fld>
            <a:endParaRPr lang="en-US" dirty="0"/>
          </a:p>
        </p:txBody>
      </p:sp>
    </p:spTree>
    <p:extLst>
      <p:ext uri="{BB962C8B-B14F-4D97-AF65-F5344CB8AC3E}">
        <p14:creationId xmlns:p14="http://schemas.microsoft.com/office/powerpoint/2010/main" val="27557371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triggering a </a:t>
            </a:r>
            <a:r>
              <a:rPr lang="en-US" dirty="0" err="1"/>
              <a:t>repository_dispatch</a:t>
            </a:r>
            <a:r>
              <a:rPr lang="en-US" dirty="0"/>
              <a:t> event, the payload you send must follow a specific JSON structure.</a:t>
            </a:r>
          </a:p>
          <a:p>
            <a:r>
              <a:rPr lang="en-US" dirty="0"/>
              <a:t>Here’s an example:</a:t>
            </a:r>
          </a:p>
          <a:p>
            <a:pPr rtl="0"/>
            <a:endParaRPr lang="en-US" dirty="0"/>
          </a:p>
          <a:p>
            <a:pPr rtl="0"/>
            <a:r>
              <a:rPr lang="en-US" dirty="0"/>
              <a:t>{ </a:t>
            </a:r>
          </a:p>
          <a:p>
            <a:pPr rtl="0"/>
            <a:r>
              <a:rPr lang="en-US" dirty="0"/>
              <a:t>"</a:t>
            </a:r>
            <a:r>
              <a:rPr lang="en-US" dirty="0" err="1"/>
              <a:t>event_type</a:t>
            </a:r>
            <a:r>
              <a:rPr lang="en-US" dirty="0"/>
              <a:t>": "run-tests", </a:t>
            </a:r>
          </a:p>
          <a:p>
            <a:pPr rtl="0"/>
            <a:r>
              <a:rPr lang="en-US" dirty="0"/>
              <a:t>"</a:t>
            </a:r>
            <a:r>
              <a:rPr lang="en-US" dirty="0" err="1"/>
              <a:t>client_payload</a:t>
            </a:r>
            <a:r>
              <a:rPr lang="en-US" dirty="0"/>
              <a:t>": { </a:t>
            </a:r>
          </a:p>
          <a:p>
            <a:pPr rtl="0"/>
            <a:r>
              <a:rPr lang="en-US" dirty="0"/>
              <a:t>"env": "staging" </a:t>
            </a:r>
          </a:p>
          <a:p>
            <a:pPr rtl="0"/>
            <a:r>
              <a:rPr lang="en-US" dirty="0"/>
              <a:t>} </a:t>
            </a:r>
          </a:p>
          <a:p>
            <a:pPr rtl="0"/>
            <a:r>
              <a:rPr lang="en-US" dirty="0"/>
              <a:t>}</a:t>
            </a:r>
          </a:p>
          <a:p>
            <a:endParaRPr lang="en-US" b="1" i="0" dirty="0">
              <a:solidFill>
                <a:srgbClr val="161616"/>
              </a:solidFill>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payload used to trigger a </a:t>
            </a:r>
            <a:r>
              <a:rPr lang="en-US" dirty="0" err="1"/>
              <a:t>repository_dispatch</a:t>
            </a:r>
            <a:r>
              <a:rPr lang="en-US" dirty="0"/>
              <a:t> event contains two key parameters. The first is </a:t>
            </a:r>
            <a:r>
              <a:rPr lang="en-US" dirty="0" err="1"/>
              <a:t>event_type</a:t>
            </a:r>
            <a:r>
              <a:rPr lang="en-US" dirty="0"/>
              <a:t>, a required string that defines the custom name of the event. This name must match a value specified in the types field of your workflow’s trigger. The second parameter is </a:t>
            </a:r>
            <a:r>
              <a:rPr lang="en-US" dirty="0" err="1"/>
              <a:t>client_payload</a:t>
            </a:r>
            <a:r>
              <a:rPr lang="en-US" dirty="0"/>
              <a:t>, an optional object that allows you to send additional custom data to the workflow. This data can be accessed within the workflow using </a:t>
            </a:r>
            <a:r>
              <a:rPr lang="en-US" dirty="0" err="1"/>
              <a:t>github.event.client_payload</a:t>
            </a:r>
            <a:r>
              <a:rPr lang="en-US" dirty="0"/>
              <a:t>, enabling more dynamic and flexible automation based on external inputs.</a:t>
            </a:r>
          </a:p>
          <a:p>
            <a:endParaRPr lang="en-US" b="1" i="0" dirty="0">
              <a:solidFill>
                <a:srgbClr val="161616"/>
              </a:solidFill>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structure gives you the flexibility to pass custom, dynamic values—such as environment settings, feature flags, or version numbers—making your workflows more adaptable and context-aware.</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30</a:t>
            </a:fld>
            <a:endParaRPr lang="en-US" dirty="0"/>
          </a:p>
        </p:txBody>
      </p:sp>
    </p:spTree>
    <p:extLst>
      <p:ext uri="{BB962C8B-B14F-4D97-AF65-F5344CB8AC3E}">
        <p14:creationId xmlns:p14="http://schemas.microsoft.com/office/powerpoint/2010/main" val="19728294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EACA-91F2-947E-5311-77D1C398D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43248-3BA9-91FD-23FD-CF63DF385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F7C6-D9B5-5102-72DC-22CFCF848785}"/>
              </a:ext>
            </a:extLst>
          </p:cNvPr>
          <p:cNvSpPr>
            <a:spLocks noGrp="1"/>
          </p:cNvSpPr>
          <p:nvPr>
            <p:ph type="body" idx="1"/>
          </p:nvPr>
        </p:nvSpPr>
        <p:spPr/>
        <p:txBody>
          <a:bodyPr/>
          <a:lstStyle/>
          <a:p>
            <a:r>
              <a:rPr lang="en-US" dirty="0"/>
              <a:t>When triggering a </a:t>
            </a:r>
            <a:r>
              <a:rPr lang="en-US" dirty="0" err="1"/>
              <a:t>repository_dispatch</a:t>
            </a:r>
            <a:r>
              <a:rPr lang="en-US" dirty="0"/>
              <a:t> event via a POST request to the GitHub API, your JSON body must include two main parameters: </a:t>
            </a:r>
            <a:r>
              <a:rPr lang="en-US" dirty="0" err="1"/>
              <a:t>event_type</a:t>
            </a:r>
            <a:r>
              <a:rPr lang="en-US" dirty="0"/>
              <a:t> and </a:t>
            </a:r>
            <a:r>
              <a:rPr lang="en-US" dirty="0" err="1"/>
              <a:t>client_payload</a:t>
            </a:r>
            <a:r>
              <a:rPr lang="en-US" dirty="0"/>
              <a:t>.</a:t>
            </a:r>
          </a:p>
          <a:p>
            <a:endParaRPr lang="en-US" b="1" dirty="0"/>
          </a:p>
          <a:p>
            <a:r>
              <a:rPr lang="en-US" b="1" dirty="0" err="1"/>
              <a:t>event_type</a:t>
            </a:r>
            <a:endParaRPr lang="en-US" b="1" dirty="0"/>
          </a:p>
          <a:p>
            <a:r>
              <a:rPr lang="en-US" dirty="0"/>
              <a:t>This is a </a:t>
            </a:r>
            <a:r>
              <a:rPr lang="en-US" b="1" dirty="0"/>
              <a:t>required</a:t>
            </a:r>
            <a:r>
              <a:rPr lang="en-US" dirty="0"/>
              <a:t> string that GitHub uses to identify what triggered the workflow.</a:t>
            </a:r>
            <a:br>
              <a:rPr lang="en-US" dirty="0"/>
            </a:br>
            <a:r>
              <a:rPr lang="en-US" dirty="0"/>
              <a:t>It acts like a custom action name that your workflow can listen for and respond to.</a:t>
            </a:r>
          </a:p>
          <a:p>
            <a:pPr marL="171450" indent="-171450">
              <a:buFont typeface="Arial" panose="020B0604020202020204" pitchFamily="34" charset="0"/>
              <a:buChar char="•"/>
            </a:pPr>
            <a:r>
              <a:rPr lang="en-US" b="1" dirty="0"/>
              <a:t>Type:</a:t>
            </a:r>
            <a:r>
              <a:rPr lang="en-US" dirty="0"/>
              <a:t> string</a:t>
            </a:r>
          </a:p>
          <a:p>
            <a:pPr marL="171450" indent="-171450">
              <a:buFont typeface="Arial" panose="020B0604020202020204" pitchFamily="34" charset="0"/>
              <a:buChar char="•"/>
            </a:pPr>
            <a:r>
              <a:rPr lang="en-US" b="1" dirty="0"/>
              <a:t>Examples:</a:t>
            </a:r>
            <a:r>
              <a:rPr lang="en-US" dirty="0"/>
              <a:t> "deploy", "run-tests", "sync-</a:t>
            </a:r>
            <a:r>
              <a:rPr lang="en-US" dirty="0" err="1"/>
              <a:t>db</a:t>
            </a:r>
            <a:r>
              <a:rPr lang="en-US" dirty="0"/>
              <a:t>", "build-docker"</a:t>
            </a:r>
          </a:p>
          <a:p>
            <a:pPr marL="171450" indent="-171450">
              <a:buFont typeface="Arial" panose="020B0604020202020204" pitchFamily="34" charset="0"/>
              <a:buChar char="•"/>
            </a:pPr>
            <a:r>
              <a:rPr lang="en-US" b="1" dirty="0"/>
              <a:t>Usage in Workflow:</a:t>
            </a:r>
            <a:br>
              <a:rPr lang="en-US" dirty="0"/>
            </a:br>
            <a:r>
              <a:rPr lang="en-US" dirty="0"/>
              <a:t>You can access this value using ${{ </a:t>
            </a:r>
            <a:r>
              <a:rPr lang="en-US" dirty="0" err="1"/>
              <a:t>github.event.action</a:t>
            </a:r>
            <a:r>
              <a:rPr lang="en-US" dirty="0"/>
              <a:t> }}, which helps you build reusable workflows that behave differently based on the triggering event.</a:t>
            </a:r>
          </a:p>
          <a:p>
            <a:endParaRPr lang="en-US" b="1" dirty="0"/>
          </a:p>
          <a:p>
            <a:r>
              <a:rPr lang="en-US" b="1" dirty="0"/>
              <a:t>Example step:</a:t>
            </a:r>
            <a:endParaRPr lang="en-US" dirty="0"/>
          </a:p>
          <a:p>
            <a:pPr marL="171450" indent="-171450" rtl="0">
              <a:buFontTx/>
              <a:buChar char="-"/>
            </a:pPr>
            <a:r>
              <a:rPr lang="en-US" dirty="0"/>
              <a:t>name: Print event type </a:t>
            </a:r>
          </a:p>
          <a:p>
            <a:pPr marL="171450" indent="-171450" rtl="0">
              <a:buFontTx/>
              <a:buChar char="-"/>
            </a:pPr>
            <a:r>
              <a:rPr lang="en-US" dirty="0"/>
              <a:t>run: echo "Event type: ${{ </a:t>
            </a:r>
            <a:r>
              <a:rPr lang="en-US" dirty="0" err="1"/>
              <a:t>github.event.action</a:t>
            </a:r>
            <a:r>
              <a:rPr lang="en-US" dirty="0"/>
              <a:t> }}" </a:t>
            </a:r>
          </a:p>
          <a:p>
            <a:endParaRPr lang="en-US" b="1" dirty="0"/>
          </a:p>
          <a:p>
            <a:r>
              <a:rPr lang="en-US" b="1" dirty="0" err="1"/>
              <a:t>client_payload</a:t>
            </a:r>
            <a:endParaRPr lang="en-US" b="1" dirty="0"/>
          </a:p>
          <a:p>
            <a:r>
              <a:rPr lang="en-US" dirty="0"/>
              <a:t>This is an </a:t>
            </a:r>
            <a:r>
              <a:rPr lang="en-US" b="1" dirty="0"/>
              <a:t>optional</a:t>
            </a:r>
            <a:r>
              <a:rPr lang="en-US" dirty="0"/>
              <a:t> object that lets you send custom data along with the dispatch.</a:t>
            </a:r>
            <a:br>
              <a:rPr lang="en-US" dirty="0"/>
            </a:br>
            <a:r>
              <a:rPr lang="en-US" dirty="0"/>
              <a:t>You define the structure—think of it like input parameters for your workflow.</a:t>
            </a:r>
          </a:p>
          <a:p>
            <a:pPr marL="171450" indent="-171450">
              <a:buFont typeface="Arial" panose="020B0604020202020204" pitchFamily="34" charset="0"/>
              <a:buChar char="•"/>
            </a:pPr>
            <a:r>
              <a:rPr lang="en-US" b="1" dirty="0"/>
              <a:t>Type:</a:t>
            </a:r>
            <a:r>
              <a:rPr lang="en-US" dirty="0"/>
              <a:t> object</a:t>
            </a:r>
          </a:p>
          <a:p>
            <a:pPr marL="171450" indent="-171450">
              <a:buFont typeface="Arial" panose="020B0604020202020204" pitchFamily="34" charset="0"/>
              <a:buChar char="•"/>
            </a:pPr>
            <a:r>
              <a:rPr lang="en-US" b="1" dirty="0"/>
              <a:t>Use Cases:</a:t>
            </a:r>
            <a:r>
              <a:rPr lang="en-US" dirty="0"/>
              <a:t> Multi-environment deployments, versioned releases, or passing values from another system or pipeline</a:t>
            </a:r>
          </a:p>
          <a:p>
            <a:pPr marL="171450" indent="-171450">
              <a:buFont typeface="Arial" panose="020B0604020202020204" pitchFamily="34" charset="0"/>
              <a:buChar char="•"/>
            </a:pPr>
            <a:r>
              <a:rPr lang="en-US" b="1" dirty="0"/>
              <a:t>Usage in Workflow:</a:t>
            </a:r>
            <a:r>
              <a:rPr lang="en-US" dirty="0"/>
              <a:t> Access it via ${{ </a:t>
            </a:r>
            <a:r>
              <a:rPr lang="en-US" dirty="0" err="1"/>
              <a:t>github.event.client_payload.KEY</a:t>
            </a:r>
            <a:r>
              <a:rPr lang="en-US" dirty="0"/>
              <a:t> }} for each custom field you include.</a:t>
            </a:r>
          </a:p>
          <a:p>
            <a:endParaRPr lang="en-US" b="1" dirty="0"/>
          </a:p>
          <a:p>
            <a:r>
              <a:rPr lang="en-US" b="1" dirty="0"/>
              <a:t>Example step:</a:t>
            </a:r>
            <a:endParaRPr lang="en-US" dirty="0"/>
          </a:p>
          <a:p>
            <a:pPr marL="171450" indent="-171450" rtl="0">
              <a:buFontTx/>
              <a:buChar char="-"/>
            </a:pPr>
            <a:r>
              <a:rPr lang="en-US" dirty="0"/>
              <a:t>name: Show payload values </a:t>
            </a:r>
          </a:p>
          <a:p>
            <a:pPr marL="0" indent="0" rtl="0">
              <a:buFontTx/>
              <a:buNone/>
            </a:pPr>
            <a:r>
              <a:rPr lang="en-US" dirty="0"/>
              <a:t>run: | </a:t>
            </a:r>
          </a:p>
          <a:p>
            <a:pPr marL="0" indent="0" rtl="0">
              <a:buFontTx/>
              <a:buNone/>
            </a:pPr>
            <a:r>
              <a:rPr lang="en-US" dirty="0"/>
              <a:t>echo "Environment: ${{ </a:t>
            </a:r>
            <a:r>
              <a:rPr lang="en-US" dirty="0" err="1"/>
              <a:t>github.event.client_payload.env</a:t>
            </a:r>
            <a:r>
              <a:rPr lang="en-US" dirty="0"/>
              <a:t> }}" </a:t>
            </a:r>
          </a:p>
          <a:p>
            <a:pPr marL="0" indent="0" rtl="0">
              <a:buFontTx/>
              <a:buNone/>
            </a:pPr>
            <a:r>
              <a:rPr lang="en-US" dirty="0"/>
              <a:t>echo "Version: ${{ </a:t>
            </a:r>
            <a:r>
              <a:rPr lang="en-US" dirty="0" err="1"/>
              <a:t>github.event.client_payload.version</a:t>
            </a:r>
            <a:r>
              <a:rPr lang="en-US" dirty="0"/>
              <a:t> }}" </a:t>
            </a:r>
          </a:p>
          <a:p>
            <a:pPr marL="0" indent="0" rtl="0">
              <a:buFontTx/>
              <a:buNone/>
            </a:pPr>
            <a:endParaRPr lang="en-US" dirty="0"/>
          </a:p>
          <a:p>
            <a:r>
              <a:rPr lang="en-US" dirty="0"/>
              <a:t>Together, </a:t>
            </a:r>
            <a:r>
              <a:rPr lang="en-US" dirty="0" err="1"/>
              <a:t>event_type</a:t>
            </a:r>
            <a:r>
              <a:rPr lang="en-US" dirty="0"/>
              <a:t> and </a:t>
            </a:r>
            <a:r>
              <a:rPr lang="en-US" dirty="0" err="1"/>
              <a:t>client_payload</a:t>
            </a:r>
            <a:r>
              <a:rPr lang="en-US" dirty="0"/>
              <a:t> make your workflows more </a:t>
            </a:r>
            <a:r>
              <a:rPr lang="en-US" b="1" dirty="0"/>
              <a:t>flexible, event-driven, and parameterized</a:t>
            </a:r>
            <a:r>
              <a:rPr lang="en-US" dirty="0"/>
              <a:t>, giving you powerful control over automation across systems.</a:t>
            </a:r>
          </a:p>
          <a:p>
            <a:pPr algn="l">
              <a:spcBef>
                <a:spcPts val="2400"/>
              </a:spcBef>
              <a:spcAft>
                <a:spcPts val="900"/>
              </a:spcAft>
            </a:pPr>
            <a:endParaRPr lang="en-US" b="0" i="0" dirty="0">
              <a:solidFill>
                <a:srgbClr val="161616"/>
              </a:solidFill>
              <a:effectLst/>
              <a:latin typeface="Segoe UI" panose="020B0502040204020203" pitchFamily="34" charset="0"/>
            </a:endParaRPr>
          </a:p>
        </p:txBody>
      </p:sp>
      <p:sp>
        <p:nvSpPr>
          <p:cNvPr id="4" name="Header Placeholder 3">
            <a:extLst>
              <a:ext uri="{FF2B5EF4-FFF2-40B4-BE49-F238E27FC236}">
                <a16:creationId xmlns:a16="http://schemas.microsoft.com/office/drawing/2014/main" id="{7229F097-4FFE-0FC6-B3D7-BF35B761E832}"/>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735845DA-44AE-5EE8-0252-4E3D5F7DABB7}"/>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70461713-7AB6-80D0-F7BE-822FF0FD6BD1}"/>
              </a:ext>
            </a:extLst>
          </p:cNvPr>
          <p:cNvSpPr>
            <a:spLocks noGrp="1"/>
          </p:cNvSpPr>
          <p:nvPr>
            <p:ph type="dt" idx="1"/>
          </p:nvPr>
        </p:nvSpPr>
        <p:spPr/>
        <p:txBody>
          <a:bodyPr/>
          <a:lstStyle/>
          <a:p>
            <a:fld id="{61486BA7-839C-4D2B-BD52-EF0BBA8433FD}" type="datetime8">
              <a:rPr lang="en-US" smtClean="0"/>
              <a:t>6/12/2025 6:17 AM</a:t>
            </a:fld>
            <a:endParaRPr lang="en-US" dirty="0"/>
          </a:p>
        </p:txBody>
      </p:sp>
      <p:sp>
        <p:nvSpPr>
          <p:cNvPr id="7" name="Slide Number Placeholder 6">
            <a:extLst>
              <a:ext uri="{FF2B5EF4-FFF2-40B4-BE49-F238E27FC236}">
                <a16:creationId xmlns:a16="http://schemas.microsoft.com/office/drawing/2014/main" id="{32FA517E-2E70-5620-B27B-F5C5420B2D9D}"/>
              </a:ext>
            </a:extLst>
          </p:cNvPr>
          <p:cNvSpPr>
            <a:spLocks noGrp="1"/>
          </p:cNvSpPr>
          <p:nvPr>
            <p:ph type="sldNum" sz="quarter" idx="5"/>
          </p:nvPr>
        </p:nvSpPr>
        <p:spPr/>
        <p:txBody>
          <a:bodyPr/>
          <a:lstStyle/>
          <a:p>
            <a:fld id="{B4008EB6-D09E-4580-8CD6-DDB14511944F}" type="slidenum">
              <a:rPr lang="en-US" smtClean="0"/>
              <a:pPr/>
              <a:t>31</a:t>
            </a:fld>
            <a:endParaRPr lang="en-US" dirty="0"/>
          </a:p>
        </p:txBody>
      </p:sp>
    </p:spTree>
    <p:extLst>
      <p:ext uri="{BB962C8B-B14F-4D97-AF65-F5344CB8AC3E}">
        <p14:creationId xmlns:p14="http://schemas.microsoft.com/office/powerpoint/2010/main" val="9527898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an example of a </a:t>
            </a:r>
            <a:r>
              <a:rPr lang="en-US" dirty="0" err="1"/>
              <a:t>repository_dispatch</a:t>
            </a:r>
            <a:r>
              <a:rPr lang="en-US" dirty="0"/>
              <a:t> payload and break down what each part means:</a:t>
            </a:r>
          </a:p>
          <a:p>
            <a:pPr rtl="0"/>
            <a:r>
              <a:rPr lang="en-US" dirty="0"/>
              <a:t>{</a:t>
            </a:r>
          </a:p>
          <a:p>
            <a:pPr rtl="0"/>
            <a:r>
              <a:rPr lang="en-US" dirty="0"/>
              <a:t> "</a:t>
            </a:r>
            <a:r>
              <a:rPr lang="en-US" dirty="0" err="1"/>
              <a:t>event_type</a:t>
            </a:r>
            <a:r>
              <a:rPr lang="en-US" dirty="0"/>
              <a:t>": "deploy-to-prod", </a:t>
            </a:r>
          </a:p>
          <a:p>
            <a:pPr rtl="0"/>
            <a:r>
              <a:rPr lang="en-US" dirty="0"/>
              <a:t>"</a:t>
            </a:r>
            <a:r>
              <a:rPr lang="en-US" dirty="0" err="1"/>
              <a:t>client_payload</a:t>
            </a:r>
            <a:r>
              <a:rPr lang="en-US" dirty="0"/>
              <a:t>": { </a:t>
            </a:r>
          </a:p>
          <a:p>
            <a:pPr rtl="0"/>
            <a:r>
              <a:rPr lang="en-US" dirty="0"/>
              <a:t>"env": "production", </a:t>
            </a:r>
          </a:p>
          <a:p>
            <a:pPr rtl="0"/>
            <a:r>
              <a:rPr lang="en-US" dirty="0"/>
              <a:t>"</a:t>
            </a:r>
            <a:r>
              <a:rPr lang="en-US" dirty="0" err="1"/>
              <a:t>build_id</a:t>
            </a:r>
            <a:r>
              <a:rPr lang="en-US" dirty="0"/>
              <a:t>": "build-456", </a:t>
            </a:r>
          </a:p>
          <a:p>
            <a:pPr rtl="0"/>
            <a:r>
              <a:rPr lang="en-US" dirty="0"/>
              <a:t>"initiator": "</a:t>
            </a:r>
            <a:r>
              <a:rPr lang="en-US" dirty="0" err="1"/>
              <a:t>admin_user</a:t>
            </a:r>
            <a:r>
              <a:rPr lang="en-US" dirty="0"/>
              <a:t>", </a:t>
            </a:r>
          </a:p>
          <a:p>
            <a:pPr rtl="0"/>
            <a:r>
              <a:rPr lang="en-US" dirty="0"/>
              <a:t>"services": ["web", "</a:t>
            </a:r>
            <a:r>
              <a:rPr lang="en-US" dirty="0" err="1"/>
              <a:t>api</a:t>
            </a:r>
            <a:r>
              <a:rPr lang="en-US" dirty="0"/>
              <a:t>", "worker"] </a:t>
            </a:r>
          </a:p>
          <a:p>
            <a:pPr rtl="0"/>
            <a:r>
              <a:rPr lang="en-US" dirty="0"/>
              <a:t>} </a:t>
            </a:r>
          </a:p>
          <a:p>
            <a:pPr rtl="0"/>
            <a:r>
              <a:rPr lang="en-US" dirty="0"/>
              <a:t>} </a:t>
            </a:r>
          </a:p>
          <a:p>
            <a:endParaRPr lang="en-US" b="1" dirty="0"/>
          </a:p>
          <a:p>
            <a:r>
              <a:rPr lang="en-US" b="1" dirty="0" err="1"/>
              <a:t>event_type</a:t>
            </a:r>
            <a:r>
              <a:rPr lang="en-US" b="1" dirty="0"/>
              <a:t>: "deploy-to-prod"</a:t>
            </a:r>
          </a:p>
          <a:p>
            <a:r>
              <a:rPr lang="en-US" dirty="0"/>
              <a:t>This is the </a:t>
            </a:r>
            <a:r>
              <a:rPr lang="en-US" b="1" dirty="0"/>
              <a:t>custom trigger name</a:t>
            </a:r>
            <a:r>
              <a:rPr lang="en-US" dirty="0"/>
              <a:t>. Your workflow must be listening for this exact event type in the types list under </a:t>
            </a:r>
            <a:r>
              <a:rPr lang="en-US" dirty="0" err="1"/>
              <a:t>repository_dispatch</a:t>
            </a:r>
            <a:r>
              <a:rPr lang="en-US" dirty="0"/>
              <a:t>.</a:t>
            </a:r>
          </a:p>
          <a:p>
            <a:endParaRPr lang="en-US" b="1" dirty="0"/>
          </a:p>
          <a:p>
            <a:r>
              <a:rPr lang="en-US" b="1" dirty="0" err="1"/>
              <a:t>client_payload</a:t>
            </a:r>
            <a:endParaRPr lang="en-US" b="1" dirty="0"/>
          </a:p>
          <a:p>
            <a:r>
              <a:rPr lang="en-US" dirty="0"/>
              <a:t>This is where you pass </a:t>
            </a:r>
            <a:r>
              <a:rPr lang="en-US" b="1" dirty="0"/>
              <a:t>custom, structured data</a:t>
            </a:r>
            <a:r>
              <a:rPr lang="en-US" dirty="0"/>
              <a:t> into the workflow:</a:t>
            </a:r>
          </a:p>
          <a:p>
            <a:pPr marL="171450" indent="-171450">
              <a:buFont typeface="Arial" panose="020B0604020202020204" pitchFamily="34" charset="0"/>
              <a:buChar char="•"/>
            </a:pPr>
            <a:r>
              <a:rPr lang="en-US" dirty="0"/>
              <a:t>"env": "production" – The environment you’re deploying to.</a:t>
            </a:r>
          </a:p>
          <a:p>
            <a:pPr marL="171450" indent="-171450">
              <a:buFont typeface="Arial" panose="020B0604020202020204" pitchFamily="34" charset="0"/>
              <a:buChar char="•"/>
            </a:pPr>
            <a:r>
              <a:rPr lang="en-US" dirty="0"/>
              <a:t>"</a:t>
            </a:r>
            <a:r>
              <a:rPr lang="en-US" dirty="0" err="1"/>
              <a:t>build_id</a:t>
            </a:r>
            <a:r>
              <a:rPr lang="en-US" dirty="0"/>
              <a:t>": "build-456" – The unique build identifier for this deployment.</a:t>
            </a:r>
          </a:p>
          <a:p>
            <a:pPr marL="171450" indent="-171450">
              <a:buFont typeface="Arial" panose="020B0604020202020204" pitchFamily="34" charset="0"/>
              <a:buChar char="•"/>
            </a:pPr>
            <a:r>
              <a:rPr lang="en-US" dirty="0"/>
              <a:t>"initiator": "</a:t>
            </a:r>
            <a:r>
              <a:rPr lang="en-US" dirty="0" err="1"/>
              <a:t>admin_user</a:t>
            </a:r>
            <a:r>
              <a:rPr lang="en-US" dirty="0"/>
              <a:t>" – The user or system that triggered the dispatch.</a:t>
            </a:r>
          </a:p>
          <a:p>
            <a:pPr marL="171450" indent="-171450">
              <a:buFont typeface="Arial" panose="020B0604020202020204" pitchFamily="34" charset="0"/>
              <a:buChar char="•"/>
            </a:pPr>
            <a:r>
              <a:rPr lang="en-US" dirty="0"/>
              <a:t>"services": ["web", "</a:t>
            </a:r>
            <a:r>
              <a:rPr lang="en-US" dirty="0" err="1"/>
              <a:t>api</a:t>
            </a:r>
            <a:r>
              <a:rPr lang="en-US" dirty="0"/>
              <a:t>", "worker"] – A list of services being deployed, useful for selective deployment or status reporting.</a:t>
            </a:r>
          </a:p>
          <a:p>
            <a:endParaRPr lang="en-US" dirty="0"/>
          </a:p>
          <a:p>
            <a:r>
              <a:rPr lang="en-US" dirty="0"/>
              <a:t>These values can all be accessed inside the workflow using ${{ </a:t>
            </a:r>
            <a:r>
              <a:rPr lang="en-US" dirty="0" err="1"/>
              <a:t>github.event.client_payload.env</a:t>
            </a:r>
            <a:r>
              <a:rPr lang="en-US" dirty="0"/>
              <a:t> }}, ${{ </a:t>
            </a:r>
            <a:r>
              <a:rPr lang="en-US" dirty="0" err="1"/>
              <a:t>github.event.client_payload.build_id</a:t>
            </a:r>
            <a:r>
              <a:rPr lang="en-US" dirty="0"/>
              <a:t> }}, and so on.</a:t>
            </a:r>
          </a:p>
          <a:p>
            <a:r>
              <a:rPr lang="en-US" dirty="0"/>
              <a:t>This approach allows your workflow to behave differently based on real-time data—making it </a:t>
            </a:r>
            <a:r>
              <a:rPr lang="en-US" b="1" dirty="0"/>
              <a:t>dynamic, customizable, and highly reusable</a:t>
            </a:r>
            <a:r>
              <a:rPr lang="en-US" dirty="0"/>
              <a:t>.</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32</a:t>
            </a:fld>
            <a:endParaRPr lang="en-US" dirty="0"/>
          </a:p>
        </p:txBody>
      </p:sp>
    </p:spTree>
    <p:extLst>
      <p:ext uri="{BB962C8B-B14F-4D97-AF65-F5344CB8AC3E}">
        <p14:creationId xmlns:p14="http://schemas.microsoft.com/office/powerpoint/2010/main" val="35631972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In GitHub Actions, you can use </a:t>
            </a:r>
            <a:r>
              <a:rPr lang="en-US" b="1" dirty="0"/>
              <a:t>conditional logic</a:t>
            </a:r>
            <a:r>
              <a:rPr lang="en-US" dirty="0"/>
              <a:t> to control when certain steps or jobs run within your workflow file.</a:t>
            </a:r>
          </a:p>
          <a:p>
            <a:r>
              <a:rPr lang="en-US" dirty="0"/>
              <a:t>These conditions are typically written using the if keyword, along with an </a:t>
            </a:r>
            <a:r>
              <a:rPr lang="en-US" b="1" dirty="0"/>
              <a:t>expression</a:t>
            </a:r>
            <a:r>
              <a:rPr lang="en-US" dirty="0"/>
              <a:t> that GitHub evaluates to either true or false.</a:t>
            </a:r>
          </a:p>
          <a:p>
            <a:endParaRPr lang="en-US" b="1" dirty="0"/>
          </a:p>
          <a:p>
            <a:r>
              <a:rPr lang="en-US" b="1" dirty="0"/>
              <a:t>Expressions and Syntax</a:t>
            </a:r>
          </a:p>
          <a:p>
            <a:r>
              <a:rPr lang="en-US" dirty="0"/>
              <a:t>Expressions use the ${{ }} syntax to signal that GitHub should </a:t>
            </a:r>
            <a:r>
              <a:rPr lang="en-US" b="1" dirty="0"/>
              <a:t>evaluate</a:t>
            </a:r>
            <a:r>
              <a:rPr lang="en-US" dirty="0"/>
              <a:t> the content as logic—not as a plain string.</a:t>
            </a:r>
          </a:p>
          <a:p>
            <a:endParaRPr lang="en-US" dirty="0"/>
          </a:p>
          <a:p>
            <a:r>
              <a:rPr lang="en-US" dirty="0"/>
              <a:t>For example:</a:t>
            </a:r>
          </a:p>
          <a:p>
            <a:pPr rtl="0"/>
            <a:r>
              <a:rPr lang="en-US" dirty="0"/>
              <a:t>if: ${{ </a:t>
            </a:r>
            <a:r>
              <a:rPr lang="en-US" dirty="0" err="1"/>
              <a:t>githubref</a:t>
            </a:r>
            <a:r>
              <a:rPr lang="en-US" dirty="0"/>
              <a:t> == 'refs/heads/main' }} </a:t>
            </a:r>
          </a:p>
          <a:p>
            <a:endParaRPr lang="en-US" dirty="0"/>
          </a:p>
          <a:p>
            <a:r>
              <a:rPr lang="en-US" dirty="0"/>
              <a:t>This tells the workflow to only proceed if the push happened on the main branch.</a:t>
            </a:r>
          </a:p>
          <a:p>
            <a:endParaRPr lang="en-US" b="1" dirty="0"/>
          </a:p>
          <a:p>
            <a:r>
              <a:rPr lang="en-US" b="1" dirty="0"/>
              <a:t>Shortcut: Omitting ${{ }}</a:t>
            </a:r>
          </a:p>
          <a:p>
            <a:r>
              <a:rPr lang="en-US" dirty="0"/>
              <a:t>In some cases, like with the if: condition, GitHub will automatically evaluate the expression—so the ${{ }} can be </a:t>
            </a:r>
            <a:r>
              <a:rPr lang="en-US" b="1" dirty="0"/>
              <a:t>omitted</a:t>
            </a:r>
            <a:r>
              <a:rPr lang="en-US" dirty="0"/>
              <a:t>:</a:t>
            </a:r>
          </a:p>
          <a:p>
            <a:pPr rtl="0"/>
            <a:r>
              <a:rPr lang="en-US" dirty="0"/>
              <a:t>if: </a:t>
            </a:r>
            <a:r>
              <a:rPr lang="en-US" dirty="0" err="1"/>
              <a:t>github.ref</a:t>
            </a:r>
            <a:r>
              <a:rPr lang="en-US" dirty="0"/>
              <a:t> == 'refs/heads/main’ </a:t>
            </a:r>
          </a:p>
          <a:p>
            <a:endParaRPr lang="en-US" dirty="0"/>
          </a:p>
          <a:p>
            <a:r>
              <a:rPr lang="en-US" dirty="0"/>
              <a:t>Both versions work, but using ${{ }} explicitly can help avoid confusion and makes your logic easier to spot.</a:t>
            </a:r>
          </a:p>
          <a:p>
            <a:endParaRPr lang="en-US" dirty="0"/>
          </a:p>
          <a:p>
            <a:r>
              <a:rPr lang="en-US" dirty="0"/>
              <a:t>Conditionals are powerful tools for customizing your workflow’s behavior, allowing you to skip steps, branch logic, or trigger actions only in specific environments or under certain conditions.</a:t>
            </a:r>
          </a:p>
          <a:p>
            <a:endParaRPr lang="en-US" dirty="0"/>
          </a:p>
          <a:p>
            <a:r>
              <a:rPr lang="en-US" dirty="0"/>
              <a:t>For more complex scenarios, you can combine expressions with </a:t>
            </a:r>
            <a:r>
              <a:rPr lang="en-US" b="1" dirty="0"/>
              <a:t>context variables</a:t>
            </a:r>
            <a:r>
              <a:rPr lang="en-US" dirty="0"/>
              <a:t>, like </a:t>
            </a:r>
            <a:r>
              <a:rPr lang="en-US" dirty="0" err="1"/>
              <a:t>github.event</a:t>
            </a:r>
            <a:r>
              <a:rPr lang="en-US" dirty="0"/>
              <a:t>, env, or inputs.</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33</a:t>
            </a:fld>
            <a:endParaRPr lang="en-US" dirty="0"/>
          </a:p>
        </p:txBody>
      </p:sp>
    </p:spTree>
    <p:extLst>
      <p:ext uri="{BB962C8B-B14F-4D97-AF65-F5344CB8AC3E}">
        <p14:creationId xmlns:p14="http://schemas.microsoft.com/office/powerpoint/2010/main" val="28192538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Sometimes, you may need to temporarily </a:t>
            </a:r>
            <a:r>
              <a:rPr lang="en-US" b="1" dirty="0"/>
              <a:t>pause or stop a workflow</a:t>
            </a:r>
            <a:r>
              <a:rPr lang="en-US" dirty="0"/>
              <a:t> without deleting it from your repository. GitHub makes this easy by allowing you to </a:t>
            </a:r>
            <a:r>
              <a:rPr lang="en-US" b="1" dirty="0"/>
              <a:t>disable a workflow</a:t>
            </a:r>
            <a:r>
              <a:rPr lang="en-US" dirty="0"/>
              <a:t> either from the </a:t>
            </a:r>
            <a:r>
              <a:rPr lang="en-US" b="1" dirty="0"/>
              <a:t>GitHub UI</a:t>
            </a:r>
            <a:r>
              <a:rPr lang="en-US" dirty="0"/>
              <a:t> or by using the </a:t>
            </a:r>
            <a:r>
              <a:rPr lang="en-US" b="1" dirty="0"/>
              <a:t>GitHub REST API</a:t>
            </a:r>
            <a:r>
              <a:rPr lang="en-US" dirty="0"/>
              <a:t>.</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34</a:t>
            </a:fld>
            <a:endParaRPr lang="en-US" dirty="0"/>
          </a:p>
        </p:txBody>
      </p:sp>
    </p:spTree>
    <p:extLst>
      <p:ext uri="{BB962C8B-B14F-4D97-AF65-F5344CB8AC3E}">
        <p14:creationId xmlns:p14="http://schemas.microsoft.com/office/powerpoint/2010/main" val="30333707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Why Disable a Workflow?</a:t>
            </a:r>
          </a:p>
          <a:p>
            <a:r>
              <a:rPr lang="en-US" dirty="0"/>
              <a:t>Here are some common reasons you might want to disable a workflow:</a:t>
            </a:r>
          </a:p>
          <a:p>
            <a:pPr marL="171450" indent="-171450">
              <a:buFont typeface="Arial" panose="020B0604020202020204" pitchFamily="34" charset="0"/>
              <a:buChar char="•"/>
            </a:pPr>
            <a:r>
              <a:rPr lang="en-US" dirty="0"/>
              <a:t>It’s producing too many or incorrect requests, negatively impacting external services.</a:t>
            </a:r>
          </a:p>
          <a:p>
            <a:pPr marL="171450" indent="-171450">
              <a:buFont typeface="Arial" panose="020B0604020202020204" pitchFamily="34" charset="0"/>
              <a:buChar char="•"/>
            </a:pPr>
            <a:r>
              <a:rPr lang="en-US" dirty="0"/>
              <a:t>You want to reduce usage of Actions minutes for non-critical workflows.</a:t>
            </a:r>
          </a:p>
          <a:p>
            <a:pPr marL="171450" indent="-171450">
              <a:buFont typeface="Arial" panose="020B0604020202020204" pitchFamily="34" charset="0"/>
              <a:buChar char="•"/>
            </a:pPr>
            <a:r>
              <a:rPr lang="en-US" dirty="0"/>
              <a:t>The workflow interacts with a service that’s temporarily down.</a:t>
            </a:r>
          </a:p>
          <a:p>
            <a:pPr marL="171450" indent="-171450">
              <a:buFont typeface="Arial" panose="020B0604020202020204" pitchFamily="34" charset="0"/>
              <a:buChar char="•"/>
            </a:pPr>
            <a:r>
              <a:rPr lang="en-US" dirty="0"/>
              <a:t>You’re working on a </a:t>
            </a:r>
            <a:r>
              <a:rPr lang="en-US" b="1" dirty="0"/>
              <a:t>fork</a:t>
            </a:r>
            <a:r>
              <a:rPr lang="en-US" dirty="0"/>
              <a:t> and don’t need every workflow—like those triggered on a schedule.</a:t>
            </a:r>
          </a:p>
          <a:p>
            <a:endParaRPr lang="en-US" dirty="0"/>
          </a:p>
          <a:p>
            <a:r>
              <a:rPr lang="en-US" dirty="0"/>
              <a:t>Disabling the workflow </a:t>
            </a:r>
            <a:r>
              <a:rPr lang="en-US" b="1" dirty="0"/>
              <a:t>prevents it from being triggered</a:t>
            </a:r>
            <a:r>
              <a:rPr lang="en-US" dirty="0"/>
              <a:t> but keeps the file intact, so you can easily re-enable it later when needed.</a:t>
            </a:r>
          </a:p>
          <a:p>
            <a:endParaRPr lang="en-US" b="1" dirty="0"/>
          </a:p>
          <a:p>
            <a:r>
              <a:rPr lang="en-US" b="1" dirty="0"/>
              <a:t>Canceling In-Progress Runs</a:t>
            </a:r>
          </a:p>
          <a:p>
            <a:r>
              <a:rPr lang="en-US" dirty="0"/>
              <a:t>If a workflow is already running, you can </a:t>
            </a:r>
            <a:r>
              <a:rPr lang="en-US" b="1" dirty="0"/>
              <a:t>cancel it</a:t>
            </a:r>
            <a:r>
              <a:rPr lang="en-US" dirty="0"/>
              <a:t> via:</a:t>
            </a:r>
          </a:p>
          <a:p>
            <a:pPr>
              <a:buFont typeface="Arial" panose="020B0604020202020204" pitchFamily="34" charset="0"/>
              <a:buChar char="•"/>
            </a:pPr>
            <a:r>
              <a:rPr lang="en-US" dirty="0"/>
              <a:t>The GitHub UI → </a:t>
            </a:r>
            <a:r>
              <a:rPr lang="en-US" i="1" dirty="0"/>
              <a:t>Actions tab → Select the run → Click “Cancel run”</a:t>
            </a:r>
            <a:r>
              <a:rPr lang="en-US" dirty="0"/>
              <a:t>, or</a:t>
            </a:r>
          </a:p>
          <a:p>
            <a:pPr>
              <a:buFont typeface="Arial" panose="020B0604020202020204" pitchFamily="34" charset="0"/>
              <a:buChar char="•"/>
            </a:pPr>
            <a:r>
              <a:rPr lang="en-US" dirty="0"/>
              <a:t>The REST API using the following endpoint:</a:t>
            </a:r>
          </a:p>
          <a:p>
            <a:pPr rtl="0">
              <a:buFont typeface="Arial" panose="020B0604020202020204" pitchFamily="34" charset="0"/>
              <a:buChar char="•"/>
            </a:pPr>
            <a:r>
              <a:rPr lang="en-US" dirty="0"/>
              <a:t>DELETE /repos/{owner}/{repo}/actions/runs/{</a:t>
            </a:r>
            <a:r>
              <a:rPr lang="en-US" dirty="0" err="1"/>
              <a:t>run_id</a:t>
            </a:r>
            <a:r>
              <a:rPr lang="en-US" dirty="0"/>
              <a:t>} </a:t>
            </a:r>
          </a:p>
          <a:p>
            <a:r>
              <a:rPr lang="en-US" dirty="0"/>
              <a:t>Canceling a workflow stops </a:t>
            </a:r>
            <a:r>
              <a:rPr lang="en-US" b="1" dirty="0"/>
              <a:t>all jobs and steps</a:t>
            </a:r>
            <a:r>
              <a:rPr lang="en-US" dirty="0"/>
              <a:t> tied to that run.</a:t>
            </a:r>
          </a:p>
          <a:p>
            <a:endParaRPr lang="en-US" dirty="0"/>
          </a:p>
          <a:p>
            <a:r>
              <a:rPr lang="en-US" dirty="0"/>
              <a:t>This is especially helpful for managing </a:t>
            </a:r>
            <a:r>
              <a:rPr lang="en-US" b="1" dirty="0"/>
              <a:t>resource usage</a:t>
            </a:r>
            <a:r>
              <a:rPr lang="en-US" dirty="0"/>
              <a:t>, minimizing </a:t>
            </a:r>
            <a:r>
              <a:rPr lang="en-US" b="1" dirty="0"/>
              <a:t>external impact</a:t>
            </a:r>
            <a:r>
              <a:rPr lang="en-US" dirty="0"/>
              <a:t>, or </a:t>
            </a:r>
            <a:r>
              <a:rPr lang="en-US" b="1" dirty="0"/>
              <a:t>debugging</a:t>
            </a:r>
            <a:r>
              <a:rPr lang="en-US" dirty="0"/>
              <a:t> complex automation without needing to delete and restore your workflow files.</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35</a:t>
            </a:fld>
            <a:endParaRPr lang="en-US" dirty="0"/>
          </a:p>
        </p:txBody>
      </p:sp>
    </p:spTree>
    <p:extLst>
      <p:ext uri="{BB962C8B-B14F-4D97-AF65-F5344CB8AC3E}">
        <p14:creationId xmlns:p14="http://schemas.microsoft.com/office/powerpoint/2010/main" val="36169722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promote consistency and save time, GitHub allows organizations to define </a:t>
            </a:r>
            <a:r>
              <a:rPr lang="en-US" b="1" dirty="0"/>
              <a:t>reusable workflow templates</a:t>
            </a:r>
            <a:r>
              <a:rPr lang="en-US" dirty="0"/>
              <a:t> in their centralized </a:t>
            </a:r>
            <a:r>
              <a:rPr lang="en-US" b="1" dirty="0"/>
              <a:t>.</a:t>
            </a:r>
            <a:r>
              <a:rPr lang="en-US" b="1" dirty="0" err="1"/>
              <a:t>github</a:t>
            </a:r>
            <a:r>
              <a:rPr lang="en-US" b="1" dirty="0"/>
              <a:t> repository</a:t>
            </a:r>
            <a:r>
              <a:rPr lang="en-US" dirty="0"/>
              <a:t>.</a:t>
            </a:r>
          </a:p>
          <a:p>
            <a:r>
              <a:rPr lang="en-US" dirty="0"/>
              <a:t>Instead of recreating the same workflow across multiple repos, teams can simply use a shared template—ensuring best practices and standards are followed across the board.</a:t>
            </a:r>
          </a:p>
          <a:p>
            <a:endParaRPr lang="en-US" b="1" dirty="0"/>
          </a:p>
          <a:p>
            <a:r>
              <a:rPr lang="en-US" b="1" dirty="0"/>
              <a:t>How It Works</a:t>
            </a:r>
          </a:p>
          <a:p>
            <a:r>
              <a:rPr lang="en-US" dirty="0"/>
              <a:t>Any repository within the organization has access to these templates, and </a:t>
            </a:r>
            <a:r>
              <a:rPr lang="en-US" b="1" dirty="0"/>
              <a:t>any org member</a:t>
            </a:r>
            <a:r>
              <a:rPr lang="en-US" dirty="0"/>
              <a:t> can use them.</a:t>
            </a:r>
          </a:p>
          <a:p>
            <a:r>
              <a:rPr lang="en-US" dirty="0"/>
              <a:t>To use a templated workflow:</a:t>
            </a:r>
          </a:p>
          <a:p>
            <a:pPr marL="228600" indent="-228600">
              <a:buFont typeface="+mj-lt"/>
              <a:buAutoNum type="arabicPeriod"/>
            </a:pPr>
            <a:r>
              <a:rPr lang="en-US" dirty="0"/>
              <a:t>Go to the </a:t>
            </a:r>
            <a:r>
              <a:rPr lang="en-US" b="1" dirty="0"/>
              <a:t>Actions</a:t>
            </a:r>
            <a:r>
              <a:rPr lang="en-US" dirty="0"/>
              <a:t> tab of a repository.</a:t>
            </a:r>
          </a:p>
          <a:p>
            <a:pPr marL="228600" indent="-228600">
              <a:buFont typeface="+mj-lt"/>
              <a:buAutoNum type="arabicPeriod"/>
            </a:pPr>
            <a:r>
              <a:rPr lang="en-US" dirty="0"/>
              <a:t>Click </a:t>
            </a:r>
            <a:r>
              <a:rPr lang="en-US" b="1" dirty="0"/>
              <a:t>“New workflow.”</a:t>
            </a:r>
            <a:endParaRPr lang="en-US" dirty="0"/>
          </a:p>
          <a:p>
            <a:pPr marL="228600" indent="-228600">
              <a:buFont typeface="+mj-lt"/>
              <a:buAutoNum type="arabicPeriod"/>
            </a:pPr>
            <a:r>
              <a:rPr lang="en-US" dirty="0"/>
              <a:t>Look for a section titled </a:t>
            </a:r>
            <a:r>
              <a:rPr lang="en-US" b="1" dirty="0"/>
              <a:t>“Workflows created by [Organization Name]”</a:t>
            </a:r>
            <a:r>
              <a:rPr lang="en-US" dirty="0"/>
              <a:t>.</a:t>
            </a:r>
          </a:p>
          <a:p>
            <a:endParaRPr lang="en-US" dirty="0"/>
          </a:p>
          <a:p>
            <a:r>
              <a:rPr lang="en-US" dirty="0"/>
              <a:t>For example, if your org is named </a:t>
            </a:r>
            <a:r>
              <a:rPr lang="en-US" i="1" dirty="0"/>
              <a:t>Mona</a:t>
            </a:r>
            <a:r>
              <a:rPr lang="en-US" dirty="0"/>
              <a:t>, you’ll see templates under </a:t>
            </a:r>
            <a:r>
              <a:rPr lang="en-US" b="1" dirty="0"/>
              <a:t>"Workflows created by Mona."</a:t>
            </a:r>
            <a:endParaRPr lang="en-US" dirty="0"/>
          </a:p>
          <a:p>
            <a:endParaRPr lang="en-US" dirty="0"/>
          </a:p>
          <a:p>
            <a:r>
              <a:rPr lang="en-US" dirty="0"/>
              <a:t>This is a great way to:</a:t>
            </a:r>
          </a:p>
          <a:p>
            <a:pPr marL="171450" indent="-171450">
              <a:buFont typeface="Arial" panose="020B0604020202020204" pitchFamily="34" charset="0"/>
              <a:buChar char="•"/>
            </a:pPr>
            <a:r>
              <a:rPr lang="en-US" dirty="0"/>
              <a:t>Reduce duplication</a:t>
            </a:r>
          </a:p>
          <a:p>
            <a:pPr marL="171450" indent="-171450">
              <a:buFont typeface="Arial" panose="020B0604020202020204" pitchFamily="34" charset="0"/>
              <a:buChar char="•"/>
            </a:pPr>
            <a:r>
              <a:rPr lang="en-US" dirty="0"/>
              <a:t>Standardize CI/CD pipelines</a:t>
            </a:r>
          </a:p>
          <a:p>
            <a:pPr marL="171450" indent="-171450">
              <a:buFont typeface="Arial" panose="020B0604020202020204" pitchFamily="34" charset="0"/>
              <a:buChar char="•"/>
            </a:pPr>
            <a:r>
              <a:rPr lang="en-US" dirty="0"/>
              <a:t>Empower teams with proven, ready-to-use automation</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36</a:t>
            </a:fld>
            <a:endParaRPr lang="en-US" dirty="0"/>
          </a:p>
        </p:txBody>
      </p:sp>
    </p:spTree>
    <p:extLst>
      <p:ext uri="{BB962C8B-B14F-4D97-AF65-F5344CB8AC3E}">
        <p14:creationId xmlns:p14="http://schemas.microsoft.com/office/powerpoint/2010/main" val="30841803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referencing actions in your workflow, it's best practice to </a:t>
            </a:r>
            <a:r>
              <a:rPr lang="en-US" b="1" dirty="0"/>
              <a:t>use a specific version</a:t>
            </a:r>
            <a:r>
              <a:rPr lang="en-US" dirty="0"/>
              <a:t> instead of a general or default reference. This helps you avoid unexpected behavior caused by changes to the action that might break your workflow.</a:t>
            </a:r>
          </a:p>
          <a:p>
            <a:endParaRPr lang="en-US" b="1" dirty="0"/>
          </a:p>
          <a:p>
            <a:r>
              <a:rPr lang="en-US" b="1" dirty="0"/>
              <a:t>Why It Matters</a:t>
            </a:r>
          </a:p>
          <a:p>
            <a:r>
              <a:rPr lang="en-US" dirty="0"/>
              <a:t>Using a specific version acts as a </a:t>
            </a:r>
            <a:r>
              <a:rPr lang="en-US" b="1" dirty="0"/>
              <a:t>safeguard</a:t>
            </a:r>
            <a:r>
              <a:rPr lang="en-US" dirty="0"/>
              <a:t>—it locks in the exact behavior you’ve tested and approved. Without this, an update to the action (even a minor one) could introduce bugs or compatibility issues.</a:t>
            </a:r>
          </a:p>
          <a:p>
            <a:endParaRPr lang="en-US" b="1" dirty="0"/>
          </a:p>
          <a:p>
            <a:r>
              <a:rPr lang="en-US" b="1" dirty="0"/>
              <a:t>Recommended Ways to Reference an Action</a:t>
            </a:r>
          </a:p>
          <a:p>
            <a:pPr rtl="0"/>
            <a:r>
              <a:rPr lang="en-US" dirty="0"/>
              <a:t>steps: </a:t>
            </a:r>
          </a:p>
          <a:p>
            <a:pPr rtl="0"/>
            <a:r>
              <a:rPr lang="en-US" dirty="0"/>
              <a:t># Most stable: specific commit SHA </a:t>
            </a:r>
          </a:p>
          <a:p>
            <a:pPr marL="171450" indent="-171450" rtl="0">
              <a:buFontTx/>
              <a:buChar char="-"/>
            </a:pPr>
            <a:r>
              <a:rPr lang="en-US" dirty="0"/>
              <a:t>uses: actions/setup-node@c46424eee26de4078d34105d3de3cc4992202b1e </a:t>
            </a:r>
          </a:p>
          <a:p>
            <a:pPr marL="0" indent="0" rtl="0">
              <a:buFontTx/>
              <a:buNone/>
            </a:pPr>
            <a:r>
              <a:rPr lang="en-US" dirty="0"/>
              <a:t># Major version (e.g., v1) — may include updates but avoids breaking changes </a:t>
            </a:r>
          </a:p>
          <a:p>
            <a:pPr marL="171450" indent="-171450" rtl="0">
              <a:buFontTx/>
              <a:buChar char="-"/>
            </a:pPr>
            <a:r>
              <a:rPr lang="en-US" dirty="0"/>
              <a:t>- uses: actions/setup-node@v1 </a:t>
            </a:r>
          </a:p>
          <a:p>
            <a:pPr marL="0" indent="0" rtl="0">
              <a:buFontTx/>
              <a:buNone/>
            </a:pPr>
            <a:r>
              <a:rPr lang="en-US" dirty="0"/>
              <a:t># Minor version — a bit more specific, still not immune to patches </a:t>
            </a:r>
          </a:p>
          <a:p>
            <a:pPr marL="171450" indent="-171450" rtl="0">
              <a:buFontTx/>
              <a:buChar char="-"/>
            </a:pPr>
            <a:r>
              <a:rPr lang="en-US" dirty="0"/>
              <a:t>- uses: actions/setup-node@v1.2 </a:t>
            </a:r>
          </a:p>
          <a:p>
            <a:pPr marL="0" indent="0" rtl="0">
              <a:buFontTx/>
              <a:buNone/>
            </a:pPr>
            <a:r>
              <a:rPr lang="en-US" dirty="0"/>
              <a:t># Least stable: branch reference </a:t>
            </a:r>
          </a:p>
          <a:p>
            <a:pPr marL="171450" indent="-171450" rtl="0">
              <a:buFontTx/>
              <a:buChar char="-"/>
            </a:pPr>
            <a:r>
              <a:rPr lang="en-US" dirty="0"/>
              <a:t>- uses: actions/</a:t>
            </a:r>
            <a:r>
              <a:rPr lang="en-US" dirty="0" err="1"/>
              <a:t>setup-node@main</a:t>
            </a:r>
            <a:r>
              <a:rPr lang="en-US" dirty="0"/>
              <a:t> </a:t>
            </a:r>
          </a:p>
          <a:p>
            <a:pPr marL="171450" indent="-171450" rtl="0">
              <a:buFontTx/>
              <a:buChar char="-"/>
            </a:pPr>
            <a:endParaRPr lang="en-US" dirty="0"/>
          </a:p>
          <a:p>
            <a:r>
              <a:rPr lang="en-US" dirty="0"/>
              <a:t>Referencing a </a:t>
            </a:r>
            <a:r>
              <a:rPr lang="en-US" b="1" dirty="0"/>
              <a:t>commit SHA</a:t>
            </a:r>
            <a:r>
              <a:rPr lang="en-US" dirty="0"/>
              <a:t> is the most stable and secure method, especially for production workflows. In contrast, using a branch like main means your workflow could unexpectedly change anytime the branch is updated.</a:t>
            </a:r>
          </a:p>
          <a:p>
            <a:endParaRPr lang="en-US" dirty="0"/>
          </a:p>
          <a:p>
            <a:r>
              <a:rPr lang="en-US" dirty="0"/>
              <a:t>For long-term reliability, always prefer </a:t>
            </a:r>
            <a:r>
              <a:rPr lang="en-US" b="1" dirty="0"/>
              <a:t>commit SHAs</a:t>
            </a:r>
            <a:r>
              <a:rPr lang="en-US" dirty="0"/>
              <a:t> for actions you rely on. It’s a small detail that can save you a lot of debugging time later.</a:t>
            </a:r>
          </a:p>
          <a:p>
            <a:endParaRPr lang="en-US" b="1" i="0" dirty="0">
              <a:solidFill>
                <a:srgbClr val="161616"/>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37</a:t>
            </a:fld>
            <a:endParaRPr lang="en-US" dirty="0"/>
          </a:p>
        </p:txBody>
      </p:sp>
    </p:spTree>
    <p:extLst>
      <p:ext uri="{BB962C8B-B14F-4D97-AF65-F5344CB8AC3E}">
        <p14:creationId xmlns:p14="http://schemas.microsoft.com/office/powerpoint/2010/main" val="12230305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hands-on exercise, you’ll practice creating and running a GitHub Actions workflow using a public template repository.</a:t>
            </a:r>
          </a:p>
          <a:p>
            <a:endParaRPr lang="en-US" b="1" dirty="0"/>
          </a:p>
          <a:p>
            <a:r>
              <a:rPr lang="en-US" b="1" dirty="0"/>
              <a:t>Getting Started</a:t>
            </a:r>
          </a:p>
          <a:p>
            <a:pPr marL="171450" indent="-171450">
              <a:buFont typeface="Arial" panose="020B0604020202020204" pitchFamily="34" charset="0"/>
              <a:buChar char="•"/>
            </a:pPr>
            <a:r>
              <a:rPr lang="en-US" dirty="0"/>
              <a:t>First, click the </a:t>
            </a:r>
            <a:r>
              <a:rPr lang="en-US" b="1" dirty="0"/>
              <a:t>Start the exercise on GitHub</a:t>
            </a:r>
            <a:r>
              <a:rPr lang="en-US" dirty="0"/>
              <a:t> button. This takes you to a </a:t>
            </a:r>
            <a:r>
              <a:rPr lang="en-US" b="1" dirty="0"/>
              <a:t>template repository</a:t>
            </a:r>
            <a:r>
              <a:rPr lang="en-US" dirty="0"/>
              <a:t>.</a:t>
            </a:r>
          </a:p>
          <a:p>
            <a:pPr marL="171450" indent="-171450">
              <a:buFont typeface="Arial" panose="020B0604020202020204" pitchFamily="34" charset="0"/>
              <a:buChar char="•"/>
            </a:pPr>
            <a:r>
              <a:rPr lang="en-US" dirty="0"/>
              <a:t>From there, either click </a:t>
            </a:r>
            <a:r>
              <a:rPr lang="en-US" b="1" dirty="0"/>
              <a:t>Start course</a:t>
            </a:r>
            <a:r>
              <a:rPr lang="en-US" dirty="0"/>
              <a:t> or use the </a:t>
            </a:r>
            <a:r>
              <a:rPr lang="en-US" b="1" dirty="0"/>
              <a:t>Use this template</a:t>
            </a:r>
            <a:r>
              <a:rPr lang="en-US" dirty="0"/>
              <a:t> button to create your own copy of the repo.</a:t>
            </a:r>
          </a:p>
          <a:p>
            <a:pPr marL="171450" indent="-171450">
              <a:buFont typeface="Arial" panose="020B0604020202020204" pitchFamily="34" charset="0"/>
              <a:buChar char="•"/>
            </a:pPr>
            <a:r>
              <a:rPr lang="en-US" b="1" dirty="0"/>
              <a:t>Tip:</a:t>
            </a:r>
            <a:r>
              <a:rPr lang="en-US" dirty="0"/>
              <a:t> We recommend making your new repo </a:t>
            </a:r>
            <a:r>
              <a:rPr lang="en-US" b="1" dirty="0"/>
              <a:t>public</a:t>
            </a:r>
            <a:r>
              <a:rPr lang="en-US" dirty="0"/>
              <a:t>, since private repositories consume Actions minutes.</a:t>
            </a:r>
          </a:p>
          <a:p>
            <a:pPr marL="171450" indent="-171450">
              <a:buFont typeface="Arial" panose="020B0604020202020204" pitchFamily="34" charset="0"/>
              <a:buChar char="•"/>
            </a:pPr>
            <a:r>
              <a:rPr lang="en-US" dirty="0"/>
              <a:t>Once your repo is created, wait about </a:t>
            </a:r>
            <a:r>
              <a:rPr lang="en-US" b="1" dirty="0"/>
              <a:t>20 seconds</a:t>
            </a:r>
            <a:r>
              <a:rPr lang="en-US" dirty="0"/>
              <a:t>, then refresh the page.</a:t>
            </a:r>
          </a:p>
          <a:p>
            <a:endParaRPr lang="en-US" b="1" dirty="0"/>
          </a:p>
          <a:p>
            <a:r>
              <a:rPr lang="en-US" b="1" dirty="0"/>
              <a:t>Follow the Instructions</a:t>
            </a:r>
          </a:p>
          <a:p>
            <a:r>
              <a:rPr lang="en-US" dirty="0"/>
              <a:t>The template’s </a:t>
            </a:r>
            <a:r>
              <a:rPr lang="en-US" b="1" dirty="0"/>
              <a:t>README</a:t>
            </a:r>
            <a:r>
              <a:rPr lang="en-US" dirty="0"/>
              <a:t> file will guide you through a series of small challenges to help you understand how the exercise works.</a:t>
            </a:r>
            <a:br>
              <a:rPr lang="en-US" dirty="0"/>
            </a:br>
            <a:r>
              <a:rPr lang="en-US" dirty="0"/>
              <a:t>It outlines the </a:t>
            </a:r>
            <a:r>
              <a:rPr lang="en-US" b="1" dirty="0"/>
              <a:t>learning objectives</a:t>
            </a:r>
            <a:r>
              <a:rPr lang="en-US" dirty="0"/>
              <a:t> and what’s needed to complete the workflow successfully.</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6/12/2025 6:17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38</a:t>
            </a:fld>
            <a:endParaRPr lang="en-US" dirty="0"/>
          </a:p>
        </p:txBody>
      </p:sp>
    </p:spTree>
    <p:extLst>
      <p:ext uri="{BB962C8B-B14F-4D97-AF65-F5344CB8AC3E}">
        <p14:creationId xmlns:p14="http://schemas.microsoft.com/office/powerpoint/2010/main" val="2248013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t>
            </a:r>
            <a:r>
              <a:rPr lang="en-US" b="1" dirty="0"/>
              <a:t>don’t need to modify</a:t>
            </a:r>
            <a:r>
              <a:rPr lang="en-US" dirty="0"/>
              <a:t> any of the workflow files.</a:t>
            </a:r>
            <a:br>
              <a:rPr lang="en-US" dirty="0"/>
            </a:br>
            <a:r>
              <a:rPr lang="en-US" dirty="0"/>
              <a:t>Changing the contents could break the validation process, prevent feedback, or cause the exercise to fail.</a:t>
            </a:r>
          </a:p>
          <a:p>
            <a:r>
              <a:rPr lang="en-US" dirty="0"/>
              <a:t>Once you complete the steps on GitHub, come back here for:</a:t>
            </a:r>
          </a:p>
          <a:p>
            <a:pPr marL="171450" indent="-171450">
              <a:buFont typeface="Arial" panose="020B0604020202020204" pitchFamily="34" charset="0"/>
              <a:buChar char="•"/>
            </a:pPr>
            <a:r>
              <a:rPr lang="en-US" dirty="0"/>
              <a:t>A quick knowledge check</a:t>
            </a:r>
          </a:p>
          <a:p>
            <a:pPr marL="171450" indent="-171450">
              <a:buFont typeface="Arial" panose="020B0604020202020204" pitchFamily="34" charset="0"/>
              <a:buChar char="•"/>
            </a:pPr>
            <a:r>
              <a:rPr lang="en-US" dirty="0"/>
              <a:t>A summary of what you’ve learned</a:t>
            </a:r>
          </a:p>
          <a:p>
            <a:pPr marL="171450" indent="-171450">
              <a:buFont typeface="Arial" panose="020B0604020202020204" pitchFamily="34" charset="0"/>
              <a:buChar char="•"/>
            </a:pPr>
            <a:r>
              <a:rPr lang="en-US" dirty="0"/>
              <a:t>And a badge for completing the module </a:t>
            </a:r>
          </a:p>
          <a:p>
            <a:endParaRPr lang="en-US" dirty="0"/>
          </a:p>
          <a:p>
            <a:r>
              <a:rPr lang="en-US" dirty="0"/>
              <a:t>Click </a:t>
            </a:r>
            <a:r>
              <a:rPr lang="en-US" b="1" dirty="0"/>
              <a:t>Start the exercise on GitHub </a:t>
            </a:r>
            <a:r>
              <a:rPr lang="en-US" dirty="0"/>
              <a:t>to continue. </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6/12/2025 6:17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39</a:t>
            </a:fld>
            <a:endParaRPr lang="en-US" dirty="0"/>
          </a:p>
        </p:txBody>
      </p:sp>
    </p:spTree>
    <p:extLst>
      <p:ext uri="{BB962C8B-B14F-4D97-AF65-F5344CB8AC3E}">
        <p14:creationId xmlns:p14="http://schemas.microsoft.com/office/powerpoint/2010/main" val="6196947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covered the core concepts in this module, it's time to put your knowledge to the test.</a:t>
            </a:r>
          </a:p>
          <a:p>
            <a:endParaRPr lang="en-US" dirty="0"/>
          </a:p>
          <a:p>
            <a:r>
              <a:rPr lang="en-US" dirty="0"/>
              <a:t>You’ll complete a series of </a:t>
            </a:r>
            <a:r>
              <a:rPr lang="en-US" b="1" dirty="0"/>
              <a:t>knowledge checks</a:t>
            </a:r>
            <a:r>
              <a:rPr lang="en-US" dirty="0"/>
              <a:t> designed to reinforce what you've learned about GitHub Actions—everything from workflow components and triggers to conditional logic and advanced configurations.</a:t>
            </a:r>
          </a:p>
          <a:p>
            <a:endParaRPr lang="en-US" dirty="0"/>
          </a:p>
          <a:p>
            <a:r>
              <a:rPr lang="en-US" dirty="0"/>
              <a:t>These questions aren’t just about memorization—they’ll help you </a:t>
            </a:r>
            <a:r>
              <a:rPr lang="en-US" b="1" dirty="0"/>
              <a:t>apply concepts</a:t>
            </a:r>
            <a:r>
              <a:rPr lang="en-US" dirty="0"/>
              <a:t> in practical situations, so you feel confident using GitHub Actions in real projects.</a:t>
            </a:r>
          </a:p>
          <a:p>
            <a:endParaRPr lang="en-US" dirty="0"/>
          </a:p>
          <a:p>
            <a:r>
              <a:rPr lang="en-US" dirty="0"/>
              <a:t>Take your time, read each question carefully, and don’t worry—this is all part of the learning process. Let’s see what you’ve got!</a:t>
            </a:r>
          </a:p>
          <a:p>
            <a:pPr marL="0" indent="0" algn="l">
              <a:buFont typeface="+mj-lt"/>
              <a:buNone/>
            </a:pP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40</a:t>
            </a:fld>
            <a:endParaRPr lang="en-US" dirty="0"/>
          </a:p>
        </p:txBody>
      </p:sp>
    </p:spTree>
    <p:extLst>
      <p:ext uri="{BB962C8B-B14F-4D97-AF65-F5344CB8AC3E}">
        <p14:creationId xmlns:p14="http://schemas.microsoft.com/office/powerpoint/2010/main" val="199192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r>
              <a:rPr lang="en-US" sz="9600" b="1" dirty="0"/>
              <a:t>1. You want to create a container action that runs Docker images. What key information must be specified in the </a:t>
            </a:r>
            <a:r>
              <a:rPr lang="en-US" sz="9600" b="1" dirty="0" err="1"/>
              <a:t>action.yml</a:t>
            </a:r>
            <a:r>
              <a:rPr lang="en-US" sz="9600" b="1" dirty="0"/>
              <a:t> file to ensure the correct Docker image is used?</a:t>
            </a:r>
          </a:p>
          <a:p>
            <a:pPr marL="0" indent="0">
              <a:buFont typeface="+mj-lt"/>
              <a:buNone/>
            </a:pPr>
            <a:r>
              <a:rPr lang="en-US" sz="9600" b="1" dirty="0"/>
              <a:t>a.</a:t>
            </a:r>
            <a:r>
              <a:rPr lang="en-US" sz="9600" dirty="0"/>
              <a:t> inputs section with '</a:t>
            </a:r>
            <a:r>
              <a:rPr lang="en-US" sz="9600" dirty="0" err="1"/>
              <a:t>Dockerfile</a:t>
            </a:r>
            <a:r>
              <a:rPr lang="en-US" sz="9600" dirty="0"/>
              <a:t>' as a default value</a:t>
            </a:r>
            <a:br>
              <a:rPr lang="en-US" sz="9600" dirty="0"/>
            </a:br>
            <a:r>
              <a:rPr lang="en-US" sz="9600" b="1" dirty="0"/>
              <a:t>Explanation:</a:t>
            </a:r>
            <a:r>
              <a:rPr lang="en-US" sz="9600" dirty="0"/>
              <a:t> Inputs are used to pass custom values into the action, not to define how or where the Docker image is built.</a:t>
            </a:r>
          </a:p>
          <a:p>
            <a:pPr marL="0" indent="0">
              <a:buFont typeface="+mj-lt"/>
              <a:buNone/>
            </a:pPr>
            <a:r>
              <a:rPr lang="en-US" sz="9600" b="1" dirty="0"/>
              <a:t>b.</a:t>
            </a:r>
            <a:r>
              <a:rPr lang="en-US" sz="9600" dirty="0"/>
              <a:t> runs section with 'uses' attribute set to 'docker' and 'image' attribute pointing to the </a:t>
            </a:r>
            <a:r>
              <a:rPr lang="en-US" sz="9600" dirty="0" err="1"/>
              <a:t>Dockerfile</a:t>
            </a:r>
            <a:br>
              <a:rPr lang="en-US" sz="9600" dirty="0"/>
            </a:br>
            <a:r>
              <a:rPr lang="en-US" sz="9600" b="1" dirty="0"/>
              <a:t>Explanation:</a:t>
            </a:r>
            <a:r>
              <a:rPr lang="en-US" sz="9600" dirty="0"/>
              <a:t> This is the correct way to configure a container action. It tells GitHub to use Docker and defines the image or </a:t>
            </a:r>
            <a:r>
              <a:rPr lang="en-US" sz="9600" dirty="0" err="1"/>
              <a:t>Dockerfile</a:t>
            </a:r>
            <a:r>
              <a:rPr lang="en-US" sz="9600" dirty="0"/>
              <a:t> to run.</a:t>
            </a:r>
          </a:p>
          <a:p>
            <a:pPr marL="0" indent="0">
              <a:buFont typeface="+mj-lt"/>
              <a:buNone/>
            </a:pPr>
            <a:r>
              <a:rPr lang="en-US" sz="9600" b="1" dirty="0"/>
              <a:t>c.</a:t>
            </a:r>
            <a:r>
              <a:rPr lang="en-US" sz="9600" dirty="0"/>
              <a:t> steps section with 'uses' attribute set to '</a:t>
            </a:r>
            <a:r>
              <a:rPr lang="en-US" sz="9600" dirty="0" err="1"/>
              <a:t>Dockerfile</a:t>
            </a:r>
            <a:r>
              <a:rPr lang="en-US" sz="9600" dirty="0"/>
              <a:t>'</a:t>
            </a:r>
            <a:br>
              <a:rPr lang="en-US" sz="9600" dirty="0"/>
            </a:br>
            <a:r>
              <a:rPr lang="en-US" sz="9600" b="1" dirty="0"/>
              <a:t>Explanation:</a:t>
            </a:r>
            <a:r>
              <a:rPr lang="en-US" sz="9600" dirty="0"/>
              <a:t> steps belong to workflow files, not </a:t>
            </a:r>
            <a:r>
              <a:rPr lang="en-US" sz="9600" dirty="0" err="1"/>
              <a:t>action.yml</a:t>
            </a:r>
            <a:r>
              <a:rPr lang="en-US" sz="9600" dirty="0"/>
              <a:t>, and don’t accept </a:t>
            </a:r>
            <a:r>
              <a:rPr lang="en-US" sz="9600" dirty="0" err="1"/>
              <a:t>Dockerfile</a:t>
            </a:r>
            <a:r>
              <a:rPr lang="en-US" sz="9600" dirty="0"/>
              <a:t> references directly.</a:t>
            </a:r>
          </a:p>
          <a:p>
            <a:endParaRPr lang="en-US" sz="9600" b="1" dirty="0"/>
          </a:p>
          <a:p>
            <a:r>
              <a:rPr lang="en-US" sz="9600" b="1" dirty="0"/>
              <a:t>Correct answer: b</a:t>
            </a:r>
            <a:endParaRPr lang="en-US" sz="9600" dirty="0"/>
          </a:p>
          <a:p>
            <a:endParaRPr lang="en-US" sz="8000"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41</a:t>
            </a:fld>
            <a:endParaRPr lang="en-US" dirty="0"/>
          </a:p>
        </p:txBody>
      </p:sp>
    </p:spTree>
    <p:extLst>
      <p:ext uri="{BB962C8B-B14F-4D97-AF65-F5344CB8AC3E}">
        <p14:creationId xmlns:p14="http://schemas.microsoft.com/office/powerpoint/2010/main" val="15104291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r>
              <a:rPr lang="en-US" sz="9600" b="1" dirty="0"/>
              <a:t>2. Your organization plans to automate the software development lifecycle using GitHub Actions. Which of the following benefits does GitHub Actions provide?</a:t>
            </a:r>
          </a:p>
          <a:p>
            <a:endParaRPr lang="en-US" sz="9600" b="1" dirty="0"/>
          </a:p>
          <a:p>
            <a:r>
              <a:rPr lang="en-US" sz="9600" b="1" dirty="0"/>
              <a:t>a.</a:t>
            </a:r>
            <a:r>
              <a:rPr lang="en-US" sz="9600" dirty="0"/>
              <a:t> Enables direct funding for open-source projects</a:t>
            </a:r>
            <a:br>
              <a:rPr lang="en-US" sz="9600" dirty="0"/>
            </a:br>
            <a:r>
              <a:rPr lang="en-US" sz="9600" b="1" dirty="0"/>
              <a:t>Explanation:</a:t>
            </a:r>
            <a:r>
              <a:rPr lang="en-US" sz="9600" dirty="0"/>
              <a:t> This is a feature of GitHub Sponsors, not GitHub Actions.</a:t>
            </a:r>
          </a:p>
          <a:p>
            <a:r>
              <a:rPr lang="en-US" sz="9600" b="1" dirty="0"/>
              <a:t>b.</a:t>
            </a:r>
            <a:r>
              <a:rPr lang="en-US" sz="9600" dirty="0"/>
              <a:t> Decreases time from idea to deployment</a:t>
            </a:r>
            <a:br>
              <a:rPr lang="en-US" sz="9600" dirty="0"/>
            </a:br>
            <a:r>
              <a:rPr lang="en-US" sz="9600" b="1" dirty="0"/>
              <a:t>Explanation:</a:t>
            </a:r>
            <a:r>
              <a:rPr lang="en-US" sz="9600" dirty="0"/>
              <a:t> GitHub Actions automates workflows like build, test, and deployment—streamlining the entire development cycle.</a:t>
            </a:r>
          </a:p>
          <a:p>
            <a:r>
              <a:rPr lang="en-US" sz="9600" b="1" dirty="0"/>
              <a:t>c.</a:t>
            </a:r>
            <a:r>
              <a:rPr lang="en-US" sz="9600" dirty="0"/>
              <a:t> Provides free hosting for static websites</a:t>
            </a:r>
            <a:br>
              <a:rPr lang="en-US" sz="9600" dirty="0"/>
            </a:br>
            <a:r>
              <a:rPr lang="en-US" sz="9600" b="1" dirty="0"/>
              <a:t>Explanation:</a:t>
            </a:r>
            <a:r>
              <a:rPr lang="en-US" sz="9600" dirty="0"/>
              <a:t> This is a feature of GitHub Pages, not GitHub Actions.</a:t>
            </a:r>
          </a:p>
          <a:p>
            <a:endParaRPr lang="en-US" sz="9600" b="1" dirty="0"/>
          </a:p>
          <a:p>
            <a:r>
              <a:rPr lang="en-US" sz="9600" b="1" dirty="0"/>
              <a:t>Correct answer: b</a:t>
            </a:r>
            <a:endParaRPr lang="en-US" sz="9600" dirty="0"/>
          </a:p>
          <a:p>
            <a:endParaRPr lang="en-US" sz="8000"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42</a:t>
            </a:fld>
            <a:endParaRPr lang="en-US" dirty="0"/>
          </a:p>
        </p:txBody>
      </p:sp>
    </p:spTree>
    <p:extLst>
      <p:ext uri="{BB962C8B-B14F-4D97-AF65-F5344CB8AC3E}">
        <p14:creationId xmlns:p14="http://schemas.microsoft.com/office/powerpoint/2010/main" val="35540129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r>
              <a:rPr lang="en-US" sz="9600" b="1" dirty="0"/>
              <a:t>3. Which component in a GitHub Actions workflow is responsible for executing the standalone commands within the workflow?</a:t>
            </a:r>
          </a:p>
          <a:p>
            <a:endParaRPr lang="en-US" sz="9600" b="1" dirty="0"/>
          </a:p>
          <a:p>
            <a:r>
              <a:rPr lang="en-US" sz="9600" b="1" dirty="0"/>
              <a:t>a.</a:t>
            </a:r>
            <a:r>
              <a:rPr lang="en-US" sz="9600" dirty="0"/>
              <a:t> Steps</a:t>
            </a:r>
            <a:br>
              <a:rPr lang="en-US" sz="9600" dirty="0"/>
            </a:br>
            <a:r>
              <a:rPr lang="en-US" sz="9600" b="1" dirty="0"/>
              <a:t>Explanation:</a:t>
            </a:r>
            <a:r>
              <a:rPr lang="en-US" sz="9600" dirty="0"/>
              <a:t> Steps are individual tasks within a job and are where commands or actions are run.</a:t>
            </a:r>
          </a:p>
          <a:p>
            <a:r>
              <a:rPr lang="en-US" sz="9600" b="1" dirty="0"/>
              <a:t>b.</a:t>
            </a:r>
            <a:r>
              <a:rPr lang="en-US" sz="9600" dirty="0"/>
              <a:t> Actions</a:t>
            </a:r>
            <a:br>
              <a:rPr lang="en-US" sz="9600" dirty="0"/>
            </a:br>
            <a:r>
              <a:rPr lang="en-US" sz="9600" b="1" dirty="0"/>
              <a:t>Explanation:</a:t>
            </a:r>
            <a:r>
              <a:rPr lang="en-US" sz="9600" dirty="0"/>
              <a:t> Actions are tools or scripts that can be used </a:t>
            </a:r>
            <a:r>
              <a:rPr lang="en-US" sz="9600" i="1" dirty="0"/>
              <a:t>within</a:t>
            </a:r>
            <a:r>
              <a:rPr lang="en-US" sz="9600" dirty="0"/>
              <a:t> a step, but they aren’t responsible for executing the step itself.</a:t>
            </a:r>
          </a:p>
          <a:p>
            <a:r>
              <a:rPr lang="en-US" sz="9600" b="1" dirty="0"/>
              <a:t>c.</a:t>
            </a:r>
            <a:r>
              <a:rPr lang="en-US" sz="9600" dirty="0"/>
              <a:t> Jobs</a:t>
            </a:r>
            <a:br>
              <a:rPr lang="en-US" sz="9600" dirty="0"/>
            </a:br>
            <a:r>
              <a:rPr lang="en-US" sz="9600" b="1" dirty="0"/>
              <a:t>Explanation:</a:t>
            </a:r>
            <a:r>
              <a:rPr lang="en-US" sz="9600" dirty="0"/>
              <a:t> Jobs contain steps and define the runner environment but don’t execute commands themselves.</a:t>
            </a:r>
          </a:p>
          <a:p>
            <a:endParaRPr lang="en-US" sz="9600" b="1" dirty="0"/>
          </a:p>
          <a:p>
            <a:r>
              <a:rPr lang="en-US" sz="9600" b="1" dirty="0"/>
              <a:t>Correct answer: a</a:t>
            </a:r>
            <a:endParaRPr lang="en-US" sz="9600" dirty="0"/>
          </a:p>
          <a:p>
            <a:endParaRPr lang="en-US" sz="8000"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43</a:t>
            </a:fld>
            <a:endParaRPr lang="en-US" dirty="0"/>
          </a:p>
        </p:txBody>
      </p:sp>
    </p:spTree>
    <p:extLst>
      <p:ext uri="{BB962C8B-B14F-4D97-AF65-F5344CB8AC3E}">
        <p14:creationId xmlns:p14="http://schemas.microsoft.com/office/powerpoint/2010/main" val="12333649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r>
              <a:rPr lang="en-US" sz="9600" b="1" dirty="0"/>
              <a:t>4. What is the role of the on attribute in a GitHub Actions workflow file?</a:t>
            </a:r>
          </a:p>
          <a:p>
            <a:endParaRPr lang="en-US" sz="9600" b="1" dirty="0"/>
          </a:p>
          <a:p>
            <a:r>
              <a:rPr lang="en-US" sz="9600" b="1" dirty="0"/>
              <a:t>a.</a:t>
            </a:r>
            <a:r>
              <a:rPr lang="en-US" sz="9600" dirty="0"/>
              <a:t> To define the environment for running jobs</a:t>
            </a:r>
            <a:br>
              <a:rPr lang="en-US" sz="9600" dirty="0"/>
            </a:br>
            <a:r>
              <a:rPr lang="en-US" sz="9600" b="1" dirty="0"/>
              <a:t>Explanation:</a:t>
            </a:r>
            <a:r>
              <a:rPr lang="en-US" sz="9600" dirty="0"/>
              <a:t> That’s what the runs-on attribute does.</a:t>
            </a:r>
          </a:p>
          <a:p>
            <a:r>
              <a:rPr lang="en-US" sz="9600" b="1" dirty="0"/>
              <a:t>b.</a:t>
            </a:r>
            <a:r>
              <a:rPr lang="en-US" sz="9600" dirty="0"/>
              <a:t> To list the steps involved in a job</a:t>
            </a:r>
            <a:br>
              <a:rPr lang="en-US" sz="9600" dirty="0"/>
            </a:br>
            <a:r>
              <a:rPr lang="en-US" sz="9600" b="1" dirty="0"/>
              <a:t>Explanation:</a:t>
            </a:r>
            <a:r>
              <a:rPr lang="en-US" sz="9600" dirty="0"/>
              <a:t> Steps are defined inside jobs, not under on.</a:t>
            </a:r>
          </a:p>
          <a:p>
            <a:r>
              <a:rPr lang="en-US" sz="9600" b="1" dirty="0"/>
              <a:t>c.</a:t>
            </a:r>
            <a:r>
              <a:rPr lang="en-US" sz="9600" dirty="0"/>
              <a:t> To specify the events that trigger the workflow</a:t>
            </a:r>
            <a:br>
              <a:rPr lang="en-US" sz="9600" dirty="0"/>
            </a:br>
            <a:r>
              <a:rPr lang="en-US" sz="9600" b="1" dirty="0"/>
              <a:t>Explanation:</a:t>
            </a:r>
            <a:r>
              <a:rPr lang="en-US" sz="9600" dirty="0"/>
              <a:t> The on attribute defines the event or events (e.g., push, </a:t>
            </a:r>
            <a:r>
              <a:rPr lang="en-US" sz="9600" dirty="0" err="1"/>
              <a:t>pull_request</a:t>
            </a:r>
            <a:r>
              <a:rPr lang="en-US" sz="9600" dirty="0"/>
              <a:t>) that cause the workflow to run.</a:t>
            </a:r>
          </a:p>
          <a:p>
            <a:endParaRPr lang="en-US" sz="9600" b="1" dirty="0"/>
          </a:p>
          <a:p>
            <a:r>
              <a:rPr lang="en-US" sz="9600" b="1" dirty="0"/>
              <a:t>Correct answer: c</a:t>
            </a:r>
            <a:endParaRPr lang="en-US" sz="9600" dirty="0"/>
          </a:p>
          <a:p>
            <a:endParaRPr lang="en-US" sz="8000"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44</a:t>
            </a:fld>
            <a:endParaRPr lang="en-US" dirty="0"/>
          </a:p>
        </p:txBody>
      </p:sp>
    </p:spTree>
    <p:extLst>
      <p:ext uri="{BB962C8B-B14F-4D97-AF65-F5344CB8AC3E}">
        <p14:creationId xmlns:p14="http://schemas.microsoft.com/office/powerpoint/2010/main" val="14083752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r>
              <a:rPr lang="en-US" sz="9600" b="1" dirty="0"/>
              <a:t>5. Which attribute in a GitHub Actions workflow file determines the event that triggers the workflow?</a:t>
            </a:r>
          </a:p>
          <a:p>
            <a:endParaRPr lang="en-US" sz="9600" b="1" dirty="0"/>
          </a:p>
          <a:p>
            <a:r>
              <a:rPr lang="en-US" sz="9600" b="1" dirty="0"/>
              <a:t>a.</a:t>
            </a:r>
            <a:r>
              <a:rPr lang="en-US" sz="9600" dirty="0"/>
              <a:t> runs-on</a:t>
            </a:r>
            <a:br>
              <a:rPr lang="en-US" sz="9600" dirty="0"/>
            </a:br>
            <a:r>
              <a:rPr lang="en-US" sz="9600" b="1" dirty="0"/>
              <a:t>Explanation:</a:t>
            </a:r>
            <a:r>
              <a:rPr lang="en-US" sz="9600" dirty="0"/>
              <a:t> This specifies the runner environment (like ubuntu-latest), not the trigger event.</a:t>
            </a:r>
          </a:p>
          <a:p>
            <a:r>
              <a:rPr lang="en-US" sz="9600" b="1" dirty="0"/>
              <a:t>b.</a:t>
            </a:r>
            <a:r>
              <a:rPr lang="en-US" sz="9600" dirty="0"/>
              <a:t> jobs</a:t>
            </a:r>
            <a:br>
              <a:rPr lang="en-US" sz="9600" dirty="0"/>
            </a:br>
            <a:r>
              <a:rPr lang="en-US" sz="9600" b="1" dirty="0"/>
              <a:t>Explanation:</a:t>
            </a:r>
            <a:r>
              <a:rPr lang="en-US" sz="9600" dirty="0"/>
              <a:t> The jobs section defines what happens after the workflow is triggered.</a:t>
            </a:r>
          </a:p>
          <a:p>
            <a:r>
              <a:rPr lang="en-US" sz="9600" b="1" dirty="0"/>
              <a:t>c.</a:t>
            </a:r>
            <a:r>
              <a:rPr lang="en-US" sz="9600" dirty="0"/>
              <a:t> on</a:t>
            </a:r>
            <a:br>
              <a:rPr lang="en-US" sz="9600" dirty="0"/>
            </a:br>
            <a:r>
              <a:rPr lang="en-US" sz="9600" b="1" dirty="0"/>
              <a:t>Explanation:</a:t>
            </a:r>
            <a:r>
              <a:rPr lang="en-US" sz="9600" dirty="0"/>
              <a:t> The on field is where you define the GitHub event that triggers the workflow.</a:t>
            </a:r>
          </a:p>
          <a:p>
            <a:endParaRPr lang="en-US" sz="9600" b="1" dirty="0"/>
          </a:p>
          <a:p>
            <a:r>
              <a:rPr lang="en-US" sz="9600" b="1" dirty="0"/>
              <a:t>Correct answer: c</a:t>
            </a:r>
            <a:endParaRPr lang="en-US" sz="9600" dirty="0"/>
          </a:p>
          <a:p>
            <a:endParaRPr lang="en-US" sz="8000"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45</a:t>
            </a:fld>
            <a:endParaRPr lang="en-US" dirty="0"/>
          </a:p>
        </p:txBody>
      </p:sp>
    </p:spTree>
    <p:extLst>
      <p:ext uri="{BB962C8B-B14F-4D97-AF65-F5344CB8AC3E}">
        <p14:creationId xmlns:p14="http://schemas.microsoft.com/office/powerpoint/2010/main" val="7752218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r>
              <a:rPr lang="en-US" sz="9600" b="1" dirty="0"/>
              <a:t>6. You are tasked with setting up an automated workflow for your software development lifecycle using GitHub Actions. Which type of GitHub Action would you choose to ensure the environment is part of the action's code and runs specifically in a Linux environment hosted by GitHub?</a:t>
            </a:r>
          </a:p>
          <a:p>
            <a:endParaRPr lang="en-US" sz="9600" b="1" dirty="0"/>
          </a:p>
          <a:p>
            <a:r>
              <a:rPr lang="en-US" sz="9600" b="1" dirty="0"/>
              <a:t>a.</a:t>
            </a:r>
            <a:r>
              <a:rPr lang="en-US" sz="9600" dirty="0"/>
              <a:t> Container Action</a:t>
            </a:r>
            <a:br>
              <a:rPr lang="en-US" sz="9600" dirty="0"/>
            </a:br>
            <a:r>
              <a:rPr lang="en-US" sz="9600" b="1" dirty="0"/>
              <a:t>Explanation:</a:t>
            </a:r>
            <a:r>
              <a:rPr lang="en-US" sz="9600" dirty="0"/>
              <a:t> Container actions run in a Docker container, allowing you to bundle a custom environment with your code.</a:t>
            </a:r>
          </a:p>
          <a:p>
            <a:r>
              <a:rPr lang="en-US" sz="9600" b="1" dirty="0"/>
              <a:t>b.</a:t>
            </a:r>
            <a:r>
              <a:rPr lang="en-US" sz="9600" dirty="0"/>
              <a:t> Composite Action</a:t>
            </a:r>
            <a:br>
              <a:rPr lang="en-US" sz="9600" dirty="0"/>
            </a:br>
            <a:r>
              <a:rPr lang="en-US" sz="9600" b="1" dirty="0"/>
              <a:t>Explanation:</a:t>
            </a:r>
            <a:r>
              <a:rPr lang="en-US" sz="9600" dirty="0"/>
              <a:t> Composite actions are built from other steps and scripts but don’t run inside a container.</a:t>
            </a:r>
          </a:p>
          <a:p>
            <a:r>
              <a:rPr lang="en-US" sz="9600" b="1" dirty="0"/>
              <a:t>c.</a:t>
            </a:r>
            <a:r>
              <a:rPr lang="en-US" sz="9600" dirty="0"/>
              <a:t> JavaScript Action</a:t>
            </a:r>
            <a:br>
              <a:rPr lang="en-US" sz="9600" dirty="0"/>
            </a:br>
            <a:r>
              <a:rPr lang="en-US" sz="9600" b="1" dirty="0"/>
              <a:t>Explanation:</a:t>
            </a:r>
            <a:r>
              <a:rPr lang="en-US" sz="9600" dirty="0"/>
              <a:t> JavaScript actions run on the runner’s native environment, not inside a Docker container.</a:t>
            </a:r>
          </a:p>
          <a:p>
            <a:endParaRPr lang="en-US" sz="9600" b="1" dirty="0"/>
          </a:p>
          <a:p>
            <a:r>
              <a:rPr lang="en-US" sz="9600" b="1" dirty="0"/>
              <a:t>Correct answer: a</a:t>
            </a:r>
            <a:endParaRPr lang="en-US" sz="9600" dirty="0"/>
          </a:p>
          <a:p>
            <a:endParaRPr lang="en-US" sz="8000"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46</a:t>
            </a:fld>
            <a:endParaRPr lang="en-US" dirty="0"/>
          </a:p>
        </p:txBody>
      </p:sp>
    </p:spTree>
    <p:extLst>
      <p:ext uri="{BB962C8B-B14F-4D97-AF65-F5344CB8AC3E}">
        <p14:creationId xmlns:p14="http://schemas.microsoft.com/office/powerpoint/2010/main" val="28510654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r>
              <a:rPr lang="en-US" sz="9600" b="1" dirty="0"/>
              <a:t>7. A container action fails to execute due to missing input parameters. Which section of the action metadata should you review?</a:t>
            </a:r>
          </a:p>
          <a:p>
            <a:endParaRPr lang="en-US" sz="9600" b="1" dirty="0"/>
          </a:p>
          <a:p>
            <a:r>
              <a:rPr lang="en-US" sz="9600" b="1" dirty="0"/>
              <a:t>a.</a:t>
            </a:r>
            <a:r>
              <a:rPr lang="en-US" sz="9600" dirty="0"/>
              <a:t> outputs</a:t>
            </a:r>
            <a:br>
              <a:rPr lang="en-US" sz="9600" dirty="0"/>
            </a:br>
            <a:r>
              <a:rPr lang="en-US" sz="9600" b="1" dirty="0"/>
              <a:t>Explanation:</a:t>
            </a:r>
            <a:r>
              <a:rPr lang="en-US" sz="9600" dirty="0"/>
              <a:t> This section defines what values are returned from the action, not what inputs are required.</a:t>
            </a:r>
          </a:p>
          <a:p>
            <a:r>
              <a:rPr lang="en-US" sz="9600" b="1" dirty="0"/>
              <a:t>b.</a:t>
            </a:r>
            <a:r>
              <a:rPr lang="en-US" sz="9600" dirty="0"/>
              <a:t> inputs</a:t>
            </a:r>
            <a:br>
              <a:rPr lang="en-US" sz="9600" dirty="0"/>
            </a:br>
            <a:r>
              <a:rPr lang="en-US" sz="9600" b="1" dirty="0"/>
              <a:t>Explanation:</a:t>
            </a:r>
            <a:r>
              <a:rPr lang="en-US" sz="9600" dirty="0"/>
              <a:t> The inputs section defines the parameters your action expects—if an input is missing or misconfigured, the action may fail.</a:t>
            </a:r>
          </a:p>
          <a:p>
            <a:r>
              <a:rPr lang="en-US" sz="9600" b="1" dirty="0"/>
              <a:t>c.</a:t>
            </a:r>
            <a:r>
              <a:rPr lang="en-US" sz="9600" dirty="0"/>
              <a:t> branding</a:t>
            </a:r>
            <a:br>
              <a:rPr lang="en-US" sz="9600" dirty="0"/>
            </a:br>
            <a:r>
              <a:rPr lang="en-US" sz="9600" b="1" dirty="0"/>
              <a:t>Explanation:</a:t>
            </a:r>
            <a:r>
              <a:rPr lang="en-US" sz="9600" dirty="0"/>
              <a:t> This affects how the action appears on the GitHub Marketplace but has no impact on execution.</a:t>
            </a:r>
          </a:p>
          <a:p>
            <a:endParaRPr lang="en-US" sz="9600" b="1" dirty="0"/>
          </a:p>
          <a:p>
            <a:r>
              <a:rPr lang="en-US" sz="9600" b="1" dirty="0"/>
              <a:t>Correct answer: b</a:t>
            </a:r>
            <a:endParaRPr lang="en-US" sz="9600" dirty="0"/>
          </a:p>
          <a:p>
            <a:endParaRPr lang="en-US" sz="8000"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47</a:t>
            </a:fld>
            <a:endParaRPr lang="en-US" dirty="0"/>
          </a:p>
        </p:txBody>
      </p:sp>
    </p:spTree>
    <p:extLst>
      <p:ext uri="{BB962C8B-B14F-4D97-AF65-F5344CB8AC3E}">
        <p14:creationId xmlns:p14="http://schemas.microsoft.com/office/powerpoint/2010/main" val="23056718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r>
              <a:rPr lang="en-US" sz="9600" b="1" dirty="0"/>
              <a:t>8. What is the role of the jobs section in a GitHub Actions workflow?</a:t>
            </a:r>
          </a:p>
          <a:p>
            <a:endParaRPr lang="en-US" sz="9600" b="1" dirty="0"/>
          </a:p>
          <a:p>
            <a:r>
              <a:rPr lang="en-US" sz="9600" b="1" dirty="0"/>
              <a:t>a.</a:t>
            </a:r>
            <a:r>
              <a:rPr lang="en-US" sz="9600" dirty="0"/>
              <a:t> To organize steps and define their execution environment</a:t>
            </a:r>
            <a:br>
              <a:rPr lang="en-US" sz="9600" dirty="0"/>
            </a:br>
            <a:r>
              <a:rPr lang="en-US" sz="9600" b="1" dirty="0"/>
              <a:t>Explanation:</a:t>
            </a:r>
            <a:r>
              <a:rPr lang="en-US" sz="9600" dirty="0"/>
              <a:t> The jobs section defines what each job does, how it runs, and on which runner.</a:t>
            </a:r>
          </a:p>
          <a:p>
            <a:r>
              <a:rPr lang="en-US" sz="9600" b="1" dirty="0"/>
              <a:t>b.</a:t>
            </a:r>
            <a:r>
              <a:rPr lang="en-US" sz="9600" dirty="0"/>
              <a:t> To specify the events that trigger the workflow</a:t>
            </a:r>
            <a:br>
              <a:rPr lang="en-US" sz="9600" dirty="0"/>
            </a:br>
            <a:r>
              <a:rPr lang="en-US" sz="9600" b="1" dirty="0"/>
              <a:t>Explanation:</a:t>
            </a:r>
            <a:r>
              <a:rPr lang="en-US" sz="9600" dirty="0"/>
              <a:t> That’s the purpose of the on attribute.</a:t>
            </a:r>
          </a:p>
          <a:p>
            <a:r>
              <a:rPr lang="en-US" sz="9600" b="1" dirty="0"/>
              <a:t>c.</a:t>
            </a:r>
            <a:r>
              <a:rPr lang="en-US" sz="9600" dirty="0"/>
              <a:t> To define input values for container actions</a:t>
            </a:r>
            <a:br>
              <a:rPr lang="en-US" sz="9600" dirty="0"/>
            </a:br>
            <a:r>
              <a:rPr lang="en-US" sz="9600" b="1" dirty="0"/>
              <a:t>Explanation:</a:t>
            </a:r>
            <a:r>
              <a:rPr lang="en-US" sz="9600" dirty="0"/>
              <a:t> Inputs for actions are defined in the </a:t>
            </a:r>
            <a:r>
              <a:rPr lang="en-US" sz="9600" dirty="0" err="1"/>
              <a:t>action.yml</a:t>
            </a:r>
            <a:r>
              <a:rPr lang="en-US" sz="9600" dirty="0"/>
              <a:t> file, not in the jobs section of a workflow.</a:t>
            </a:r>
          </a:p>
          <a:p>
            <a:endParaRPr lang="en-US" sz="9600" b="1" dirty="0"/>
          </a:p>
          <a:p>
            <a:r>
              <a:rPr lang="en-US" sz="9600" b="1" dirty="0"/>
              <a:t>Correct answer: a</a:t>
            </a:r>
            <a:endParaRPr lang="en-US" sz="9600" dirty="0"/>
          </a:p>
          <a:p>
            <a:endParaRPr lang="en-US" sz="8000"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48</a:t>
            </a:fld>
            <a:endParaRPr lang="en-US" dirty="0"/>
          </a:p>
        </p:txBody>
      </p:sp>
    </p:spTree>
    <p:extLst>
      <p:ext uri="{BB962C8B-B14F-4D97-AF65-F5344CB8AC3E}">
        <p14:creationId xmlns:p14="http://schemas.microsoft.com/office/powerpoint/2010/main" val="38167714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5746-B942-A847-454D-2942E8021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3B24C-79BA-0546-A136-5A578257D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8716-1DAB-8B55-8E2A-C09313907012}"/>
              </a:ext>
            </a:extLst>
          </p:cNvPr>
          <p:cNvSpPr>
            <a:spLocks noGrp="1"/>
          </p:cNvSpPr>
          <p:nvPr>
            <p:ph type="body" idx="1"/>
          </p:nvPr>
        </p:nvSpPr>
        <p:spPr/>
        <p:txBody>
          <a:bodyPr/>
          <a:lstStyle/>
          <a:p>
            <a:r>
              <a:rPr lang="en-US" sz="9600" b="1" dirty="0"/>
              <a:t>9. In GitHub Actions, what is the primary function of the steps component within a job?</a:t>
            </a:r>
          </a:p>
          <a:p>
            <a:endParaRPr lang="en-US" sz="9600" b="1" dirty="0"/>
          </a:p>
          <a:p>
            <a:r>
              <a:rPr lang="en-US" sz="9600" b="1" dirty="0"/>
              <a:t>a.</a:t>
            </a:r>
            <a:r>
              <a:rPr lang="en-US" sz="9600" dirty="0"/>
              <a:t> To define the sequence of actions to be executed</a:t>
            </a:r>
            <a:br>
              <a:rPr lang="en-US" sz="9600" dirty="0"/>
            </a:br>
            <a:r>
              <a:rPr lang="en-US" sz="9600" b="1" dirty="0"/>
              <a:t>Explanation:</a:t>
            </a:r>
            <a:r>
              <a:rPr lang="en-US" sz="9600" dirty="0"/>
              <a:t> Steps represent the actual tasks or commands that run in order within a job.</a:t>
            </a:r>
          </a:p>
          <a:p>
            <a:r>
              <a:rPr lang="en-US" sz="9600" b="1" dirty="0"/>
              <a:t>b.</a:t>
            </a:r>
            <a:r>
              <a:rPr lang="en-US" sz="9600" dirty="0"/>
              <a:t> To specify the environment where the job will run</a:t>
            </a:r>
            <a:br>
              <a:rPr lang="en-US" sz="9600" dirty="0"/>
            </a:br>
            <a:r>
              <a:rPr lang="en-US" sz="9600" b="1" dirty="0"/>
              <a:t>Explanation:</a:t>
            </a:r>
            <a:r>
              <a:rPr lang="en-US" sz="9600" dirty="0"/>
              <a:t> That’s the job-level runs-on key.</a:t>
            </a:r>
          </a:p>
          <a:p>
            <a:r>
              <a:rPr lang="en-US" sz="9600" b="1" dirty="0"/>
              <a:t>c.</a:t>
            </a:r>
            <a:r>
              <a:rPr lang="en-US" sz="9600" dirty="0"/>
              <a:t> To outline the trigger events for the workflow</a:t>
            </a:r>
            <a:br>
              <a:rPr lang="en-US" sz="9600" dirty="0"/>
            </a:br>
            <a:r>
              <a:rPr lang="en-US" sz="9600" b="1" dirty="0"/>
              <a:t>Explanation:</a:t>
            </a:r>
            <a:r>
              <a:rPr lang="en-US" sz="9600" dirty="0"/>
              <a:t> Workflow triggers are defined using the on key at the top of the workflow file.</a:t>
            </a:r>
          </a:p>
          <a:p>
            <a:endParaRPr lang="en-US" sz="9600" b="1" dirty="0"/>
          </a:p>
          <a:p>
            <a:r>
              <a:rPr lang="en-US" sz="9600" b="1" dirty="0"/>
              <a:t>Correct answer: a</a:t>
            </a:r>
            <a:endParaRPr lang="en-US" sz="9600" dirty="0"/>
          </a:p>
          <a:p>
            <a:endParaRPr lang="en-US" sz="8000" dirty="0"/>
          </a:p>
        </p:txBody>
      </p:sp>
      <p:sp>
        <p:nvSpPr>
          <p:cNvPr id="4" name="Header Placeholder 3">
            <a:extLst>
              <a:ext uri="{FF2B5EF4-FFF2-40B4-BE49-F238E27FC236}">
                <a16:creationId xmlns:a16="http://schemas.microsoft.com/office/drawing/2014/main" id="{2022B298-2B69-AE91-F745-B661A2FF3A7F}"/>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ACB22FA2-7FB6-F1E5-6CD0-3003B3A0E013}"/>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B4A9D1F-654F-5833-1CA9-F6B5EF2AB48B}"/>
              </a:ext>
            </a:extLst>
          </p:cNvPr>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a:extLst>
              <a:ext uri="{FF2B5EF4-FFF2-40B4-BE49-F238E27FC236}">
                <a16:creationId xmlns:a16="http://schemas.microsoft.com/office/drawing/2014/main" id="{127D4B0B-92D4-172A-6F39-ABB1E6B9C75C}"/>
              </a:ext>
            </a:extLst>
          </p:cNvPr>
          <p:cNvSpPr>
            <a:spLocks noGrp="1"/>
          </p:cNvSpPr>
          <p:nvPr>
            <p:ph type="sldNum" sz="quarter" idx="13"/>
          </p:nvPr>
        </p:nvSpPr>
        <p:spPr/>
        <p:txBody>
          <a:bodyPr/>
          <a:lstStyle/>
          <a:p>
            <a:fld id="{B4008EB6-D09E-4580-8CD6-DDB14511944F}" type="slidenum">
              <a:rPr lang="en-US" smtClean="0"/>
              <a:pPr/>
              <a:t>49</a:t>
            </a:fld>
            <a:endParaRPr lang="en-US" dirty="0"/>
          </a:p>
        </p:txBody>
      </p:sp>
    </p:spTree>
    <p:extLst>
      <p:ext uri="{BB962C8B-B14F-4D97-AF65-F5344CB8AC3E}">
        <p14:creationId xmlns:p14="http://schemas.microsoft.com/office/powerpoint/2010/main" val="918067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319AD-6128-488E-45F4-0B4C569D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2F98D2-6844-54A6-5319-F8433A9D2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B4409B-9BAB-046B-0894-60247B59902D}"/>
              </a:ext>
            </a:extLst>
          </p:cNvPr>
          <p:cNvSpPr>
            <a:spLocks noGrp="1"/>
          </p:cNvSpPr>
          <p:nvPr>
            <p:ph type="body" idx="1"/>
          </p:nvPr>
        </p:nvSpPr>
        <p:spPr/>
        <p:txBody>
          <a:bodyPr/>
          <a:lstStyle/>
          <a:p>
            <a:r>
              <a:rPr lang="en-US" dirty="0"/>
              <a:t>You’ve completed this module on GitHub Actions and taken your first steps toward automating workflows directly within your GitHub repository.</a:t>
            </a:r>
          </a:p>
          <a:p>
            <a:endParaRPr lang="en-US" b="1" dirty="0"/>
          </a:p>
          <a:p>
            <a:r>
              <a:rPr lang="en-US" b="1" dirty="0"/>
              <a:t>What You Learned</a:t>
            </a:r>
          </a:p>
          <a:p>
            <a:r>
              <a:rPr lang="en-US" dirty="0"/>
              <a:t>By now, you should be able to:</a:t>
            </a:r>
          </a:p>
          <a:p>
            <a:pPr marL="171450" indent="-171450">
              <a:buFont typeface="Arial" panose="020B0604020202020204" pitchFamily="34" charset="0"/>
              <a:buChar char="•"/>
            </a:pPr>
            <a:r>
              <a:rPr lang="en-US" b="1" dirty="0"/>
              <a:t>Describe GitHub Actions</a:t>
            </a:r>
            <a:r>
              <a:rPr lang="en-US" dirty="0"/>
              <a:t>—including the different types (JavaScript, container, composite) and where to find them.</a:t>
            </a:r>
          </a:p>
          <a:p>
            <a:pPr marL="171450" indent="-171450">
              <a:buFont typeface="Arial" panose="020B0604020202020204" pitchFamily="34" charset="0"/>
              <a:buChar char="•"/>
            </a:pPr>
            <a:r>
              <a:rPr lang="en-US" b="1" dirty="0"/>
              <a:t>Use workflows</a:t>
            </a:r>
            <a:r>
              <a:rPr lang="en-US" dirty="0"/>
              <a:t> to automate stages of your software development lifecycle—from testing to deployment.</a:t>
            </a:r>
          </a:p>
          <a:p>
            <a:pPr marL="171450" indent="-171450">
              <a:buFont typeface="Arial" panose="020B0604020202020204" pitchFamily="34" charset="0"/>
              <a:buChar char="•"/>
            </a:pPr>
            <a:r>
              <a:rPr lang="en-US" b="1" dirty="0"/>
              <a:t>Create and trigger a container action</a:t>
            </a:r>
            <a:r>
              <a:rPr lang="en-US" dirty="0"/>
              <a:t> that runs when a push event occurs in your repository.</a:t>
            </a:r>
          </a:p>
          <a:p>
            <a:endParaRPr lang="en-US" b="1" dirty="0"/>
          </a:p>
          <a:p>
            <a:r>
              <a:rPr lang="en-US" b="1" dirty="0"/>
              <a:t>What’s Next?</a:t>
            </a:r>
          </a:p>
          <a:p>
            <a:r>
              <a:rPr lang="en-US" dirty="0"/>
              <a:t>Keep the momentum going! In the next two modules, you’ll build on what you’ve learned and apply GitHub Actions in more advanced use cases like:</a:t>
            </a:r>
          </a:p>
          <a:p>
            <a:pPr marL="171450" indent="-171450">
              <a:buFont typeface="Arial" panose="020B0604020202020204" pitchFamily="34" charset="0"/>
              <a:buChar char="•"/>
            </a:pPr>
            <a:r>
              <a:rPr lang="en-US" b="1" dirty="0"/>
              <a:t>Continuous Integration (CI)</a:t>
            </a:r>
            <a:endParaRPr lang="en-US" dirty="0"/>
          </a:p>
          <a:p>
            <a:pPr marL="171450" indent="-171450">
              <a:buFont typeface="Arial" panose="020B0604020202020204" pitchFamily="34" charset="0"/>
              <a:buChar char="•"/>
            </a:pPr>
            <a:r>
              <a:rPr lang="en-US" b="1" dirty="0"/>
              <a:t>Continuous Delivery (CD)</a:t>
            </a:r>
            <a:endParaRPr lang="en-US" dirty="0"/>
          </a:p>
          <a:p>
            <a:pPr marL="171450" indent="-171450">
              <a:buFont typeface="Arial" panose="020B0604020202020204" pitchFamily="34" charset="0"/>
              <a:buChar char="•"/>
            </a:pPr>
            <a:r>
              <a:rPr lang="en-US" b="1" dirty="0"/>
              <a:t>Infrastructure as Code (</a:t>
            </a:r>
            <a:r>
              <a:rPr lang="en-US" b="1" dirty="0" err="1"/>
              <a:t>IaC</a:t>
            </a:r>
            <a:r>
              <a:rPr lang="en-US" b="1" dirty="0"/>
              <a:t>)</a:t>
            </a:r>
            <a:endParaRPr lang="en-US" dirty="0"/>
          </a:p>
          <a:p>
            <a:endParaRPr lang="en-US" dirty="0"/>
          </a:p>
          <a:p>
            <a:r>
              <a:rPr lang="en-US" dirty="0"/>
              <a:t>These next steps will help you deepen your automation skills and streamline real-world development workflows.</a:t>
            </a:r>
          </a:p>
          <a:p>
            <a:pPr marL="0" indent="0">
              <a:buNone/>
            </a:pPr>
            <a:endParaRPr lang="en-US" sz="1200" dirty="0">
              <a:solidFill>
                <a:schemeClr val="tx2">
                  <a:lumMod val="75000"/>
                  <a:lumOff val="25000"/>
                </a:schemeClr>
              </a:solidFill>
              <a:effectLst/>
              <a:ea typeface="Aptos" panose="020B0004020202020204" pitchFamily="34" charset="0"/>
              <a:cs typeface="Times New Roman" panose="02020603050405020304" pitchFamily="18" charset="0"/>
            </a:endParaRPr>
          </a:p>
        </p:txBody>
      </p:sp>
      <p:sp>
        <p:nvSpPr>
          <p:cNvPr id="4" name="Header Placeholder 3">
            <a:extLst>
              <a:ext uri="{FF2B5EF4-FFF2-40B4-BE49-F238E27FC236}">
                <a16:creationId xmlns:a16="http://schemas.microsoft.com/office/drawing/2014/main" id="{76CE4D83-7232-2EA7-A68E-962BBC5B171A}"/>
              </a:ext>
            </a:extLst>
          </p:cNvPr>
          <p:cNvSpPr>
            <a:spLocks noGrp="1"/>
          </p:cNvSpPr>
          <p:nvPr>
            <p:ph type="hdr" sz="quarter" idx="10"/>
          </p:nvPr>
        </p:nvSpPr>
        <p:spPr/>
        <p:txBody>
          <a:bodyPr/>
          <a:lstStyle/>
          <a:p>
            <a:endParaRPr lang="en-US" dirty="0"/>
          </a:p>
        </p:txBody>
      </p:sp>
      <p:sp>
        <p:nvSpPr>
          <p:cNvPr id="5" name="Footer Placeholder 4">
            <a:extLst>
              <a:ext uri="{FF2B5EF4-FFF2-40B4-BE49-F238E27FC236}">
                <a16:creationId xmlns:a16="http://schemas.microsoft.com/office/drawing/2014/main" id="{E13100AD-4ADC-4F9F-913D-B9020847E11C}"/>
              </a:ext>
            </a:extLst>
          </p:cNvPr>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37279995-C4F4-293A-9CFC-AD663F4AE390}"/>
              </a:ext>
            </a:extLst>
          </p:cNvPr>
          <p:cNvSpPr>
            <a:spLocks noGrp="1"/>
          </p:cNvSpPr>
          <p:nvPr>
            <p:ph type="dt" idx="12"/>
          </p:nvPr>
        </p:nvSpPr>
        <p:spPr/>
        <p:txBody>
          <a:bodyPr/>
          <a:lstStyle/>
          <a:p>
            <a:fld id="{C9F26854-F9AE-4E32-B2A5-59EE421C280D}" type="datetime8">
              <a:rPr lang="en-US" smtClean="0"/>
              <a:t>6/12/2025 6:17 AM</a:t>
            </a:fld>
            <a:endParaRPr lang="en-US" dirty="0"/>
          </a:p>
        </p:txBody>
      </p:sp>
      <p:sp>
        <p:nvSpPr>
          <p:cNvPr id="7" name="Slide Number Placeholder 6">
            <a:extLst>
              <a:ext uri="{FF2B5EF4-FFF2-40B4-BE49-F238E27FC236}">
                <a16:creationId xmlns:a16="http://schemas.microsoft.com/office/drawing/2014/main" id="{1401B23B-D90F-7C7D-D96B-9C157228C999}"/>
              </a:ext>
            </a:extLst>
          </p:cNvPr>
          <p:cNvSpPr>
            <a:spLocks noGrp="1"/>
          </p:cNvSpPr>
          <p:nvPr>
            <p:ph type="sldNum" sz="quarter" idx="13"/>
          </p:nvPr>
        </p:nvSpPr>
        <p:spPr/>
        <p:txBody>
          <a:bodyPr/>
          <a:lstStyle/>
          <a:p>
            <a:fld id="{B4008EB6-D09E-4580-8CD6-DDB14511944F}" type="slidenum">
              <a:rPr lang="en-US" smtClean="0"/>
              <a:pPr/>
              <a:t>50</a:t>
            </a:fld>
            <a:endParaRPr lang="en-US" dirty="0"/>
          </a:p>
        </p:txBody>
      </p:sp>
    </p:spTree>
    <p:extLst>
      <p:ext uri="{BB962C8B-B14F-4D97-AF65-F5344CB8AC3E}">
        <p14:creationId xmlns:p14="http://schemas.microsoft.com/office/powerpoint/2010/main" val="1799716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07471-4F74-C0BE-AAED-767EEF6033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94EAFA-CB15-4BEC-9F8F-1FE4F310C4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344645-CFC9-A72A-F572-7ACA4192F182}"/>
              </a:ext>
            </a:extLst>
          </p:cNvPr>
          <p:cNvSpPr>
            <a:spLocks noGrp="1"/>
          </p:cNvSpPr>
          <p:nvPr>
            <p:ph type="dt" sz="half" idx="10"/>
          </p:nvPr>
        </p:nvSpPr>
        <p:spPr/>
        <p:txBody>
          <a:bodyPr/>
          <a:lstStyle/>
          <a:p>
            <a:fld id="{FC232794-777C-7640-9FB1-72B12E1225F6}" type="datetimeFigureOut">
              <a:rPr lang="en-US" smtClean="0"/>
              <a:t>6/12/2025</a:t>
            </a:fld>
            <a:endParaRPr lang="en-US"/>
          </a:p>
        </p:txBody>
      </p:sp>
      <p:sp>
        <p:nvSpPr>
          <p:cNvPr id="5" name="Footer Placeholder 4">
            <a:extLst>
              <a:ext uri="{FF2B5EF4-FFF2-40B4-BE49-F238E27FC236}">
                <a16:creationId xmlns:a16="http://schemas.microsoft.com/office/drawing/2014/main" id="{51232377-73A9-D3EF-ABB8-016D7C1BA7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0842B7-4E82-8C56-0CB7-F3FBAAF93551}"/>
              </a:ext>
            </a:extLst>
          </p:cNvPr>
          <p:cNvSpPr>
            <a:spLocks noGrp="1"/>
          </p:cNvSpPr>
          <p:nvPr>
            <p:ph type="sldNum" sz="quarter" idx="12"/>
          </p:nvPr>
        </p:nvSpPr>
        <p:spPr/>
        <p:txBody>
          <a:bodyPr/>
          <a:lstStyle/>
          <a:p>
            <a:fld id="{DA93BEBE-71B7-B943-A81E-C96E7E55833E}" type="slidenum">
              <a:rPr lang="en-US" smtClean="0"/>
              <a:t>‹#›</a:t>
            </a:fld>
            <a:endParaRPr lang="en-US"/>
          </a:p>
        </p:txBody>
      </p:sp>
    </p:spTree>
    <p:extLst>
      <p:ext uri="{BB962C8B-B14F-4D97-AF65-F5344CB8AC3E}">
        <p14:creationId xmlns:p14="http://schemas.microsoft.com/office/powerpoint/2010/main" val="3883092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7909C-E3CC-67B9-34C3-5D4588E382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33ADD7-B904-EF18-19DE-DB59A9A9E4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0824ED-FD27-03D1-27DE-870DC320F9F0}"/>
              </a:ext>
            </a:extLst>
          </p:cNvPr>
          <p:cNvSpPr>
            <a:spLocks noGrp="1"/>
          </p:cNvSpPr>
          <p:nvPr>
            <p:ph type="dt" sz="half" idx="10"/>
          </p:nvPr>
        </p:nvSpPr>
        <p:spPr/>
        <p:txBody>
          <a:bodyPr/>
          <a:lstStyle/>
          <a:p>
            <a:fld id="{FC232794-777C-7640-9FB1-72B12E1225F6}" type="datetimeFigureOut">
              <a:rPr lang="en-US" smtClean="0"/>
              <a:t>6/12/2025</a:t>
            </a:fld>
            <a:endParaRPr lang="en-US"/>
          </a:p>
        </p:txBody>
      </p:sp>
      <p:sp>
        <p:nvSpPr>
          <p:cNvPr id="5" name="Footer Placeholder 4">
            <a:extLst>
              <a:ext uri="{FF2B5EF4-FFF2-40B4-BE49-F238E27FC236}">
                <a16:creationId xmlns:a16="http://schemas.microsoft.com/office/drawing/2014/main" id="{627329B1-3BDF-1C0B-3064-8905F2F003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B497B1-86A4-854C-353E-4BB0C4A2B243}"/>
              </a:ext>
            </a:extLst>
          </p:cNvPr>
          <p:cNvSpPr>
            <a:spLocks noGrp="1"/>
          </p:cNvSpPr>
          <p:nvPr>
            <p:ph type="sldNum" sz="quarter" idx="12"/>
          </p:nvPr>
        </p:nvSpPr>
        <p:spPr/>
        <p:txBody>
          <a:bodyPr/>
          <a:lstStyle/>
          <a:p>
            <a:fld id="{DA93BEBE-71B7-B943-A81E-C96E7E55833E}" type="slidenum">
              <a:rPr lang="en-US" smtClean="0"/>
              <a:t>‹#›</a:t>
            </a:fld>
            <a:endParaRPr lang="en-US"/>
          </a:p>
        </p:txBody>
      </p:sp>
    </p:spTree>
    <p:extLst>
      <p:ext uri="{BB962C8B-B14F-4D97-AF65-F5344CB8AC3E}">
        <p14:creationId xmlns:p14="http://schemas.microsoft.com/office/powerpoint/2010/main" val="2447127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D9CBC-1DEB-0DEC-9ADF-A54E022699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F69DD2-2BA9-72DC-C437-34CC408871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B03B27-ADDC-A070-ACE8-F65C2C95702C}"/>
              </a:ext>
            </a:extLst>
          </p:cNvPr>
          <p:cNvSpPr>
            <a:spLocks noGrp="1"/>
          </p:cNvSpPr>
          <p:nvPr>
            <p:ph type="dt" sz="half" idx="10"/>
          </p:nvPr>
        </p:nvSpPr>
        <p:spPr/>
        <p:txBody>
          <a:bodyPr/>
          <a:lstStyle/>
          <a:p>
            <a:fld id="{FC232794-777C-7640-9FB1-72B12E1225F6}" type="datetimeFigureOut">
              <a:rPr lang="en-US" smtClean="0"/>
              <a:t>6/12/2025</a:t>
            </a:fld>
            <a:endParaRPr lang="en-US"/>
          </a:p>
        </p:txBody>
      </p:sp>
      <p:sp>
        <p:nvSpPr>
          <p:cNvPr id="5" name="Footer Placeholder 4">
            <a:extLst>
              <a:ext uri="{FF2B5EF4-FFF2-40B4-BE49-F238E27FC236}">
                <a16:creationId xmlns:a16="http://schemas.microsoft.com/office/drawing/2014/main" id="{1E6CAA61-B50A-45C0-4F89-ABF48551B1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C58EAB-D57A-BE98-0D3F-02854A95291A}"/>
              </a:ext>
            </a:extLst>
          </p:cNvPr>
          <p:cNvSpPr>
            <a:spLocks noGrp="1"/>
          </p:cNvSpPr>
          <p:nvPr>
            <p:ph type="sldNum" sz="quarter" idx="12"/>
          </p:nvPr>
        </p:nvSpPr>
        <p:spPr/>
        <p:txBody>
          <a:bodyPr/>
          <a:lstStyle/>
          <a:p>
            <a:fld id="{DA93BEBE-71B7-B943-A81E-C96E7E55833E}" type="slidenum">
              <a:rPr lang="en-US" smtClean="0"/>
              <a:t>‹#›</a:t>
            </a:fld>
            <a:endParaRPr lang="en-US"/>
          </a:p>
        </p:txBody>
      </p:sp>
    </p:spTree>
    <p:extLst>
      <p:ext uri="{BB962C8B-B14F-4D97-AF65-F5344CB8AC3E}">
        <p14:creationId xmlns:p14="http://schemas.microsoft.com/office/powerpoint/2010/main" val="547421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4417F-B8CE-1A7B-0934-4D0A010E47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1B46EA-4B96-B084-EBBA-684E6CA796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27023-7CD1-5732-4D4D-C461ECDECA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61B770-F683-0E98-DCCB-57ACADE683FF}"/>
              </a:ext>
            </a:extLst>
          </p:cNvPr>
          <p:cNvSpPr>
            <a:spLocks noGrp="1"/>
          </p:cNvSpPr>
          <p:nvPr>
            <p:ph type="dt" sz="half" idx="10"/>
          </p:nvPr>
        </p:nvSpPr>
        <p:spPr/>
        <p:txBody>
          <a:bodyPr/>
          <a:lstStyle/>
          <a:p>
            <a:fld id="{FC232794-777C-7640-9FB1-72B12E1225F6}" type="datetimeFigureOut">
              <a:rPr lang="en-US" smtClean="0"/>
              <a:t>6/12/2025</a:t>
            </a:fld>
            <a:endParaRPr lang="en-US"/>
          </a:p>
        </p:txBody>
      </p:sp>
      <p:sp>
        <p:nvSpPr>
          <p:cNvPr id="6" name="Footer Placeholder 5">
            <a:extLst>
              <a:ext uri="{FF2B5EF4-FFF2-40B4-BE49-F238E27FC236}">
                <a16:creationId xmlns:a16="http://schemas.microsoft.com/office/drawing/2014/main" id="{9C22EAA2-B39E-9D8F-63B3-56A46C30BC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E3F165-3FD8-0694-E5F4-DEBD811C675B}"/>
              </a:ext>
            </a:extLst>
          </p:cNvPr>
          <p:cNvSpPr>
            <a:spLocks noGrp="1"/>
          </p:cNvSpPr>
          <p:nvPr>
            <p:ph type="sldNum" sz="quarter" idx="12"/>
          </p:nvPr>
        </p:nvSpPr>
        <p:spPr/>
        <p:txBody>
          <a:bodyPr/>
          <a:lstStyle/>
          <a:p>
            <a:fld id="{DA93BEBE-71B7-B943-A81E-C96E7E55833E}" type="slidenum">
              <a:rPr lang="en-US" smtClean="0"/>
              <a:t>‹#›</a:t>
            </a:fld>
            <a:endParaRPr lang="en-US"/>
          </a:p>
        </p:txBody>
      </p:sp>
    </p:spTree>
    <p:extLst>
      <p:ext uri="{BB962C8B-B14F-4D97-AF65-F5344CB8AC3E}">
        <p14:creationId xmlns:p14="http://schemas.microsoft.com/office/powerpoint/2010/main" val="3278436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91F92-DB40-35D7-F115-4FF138C5EEC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D00115-E55A-BE29-F0A2-789BD7F434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8AB28A-DBD0-61A9-D3E1-4B5BD8DF09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69A0AC-FF2E-9B73-6CD6-E21908D710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18EA01-AC55-0AE2-5B9D-B77382D9F4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F9B4F7-5ED4-3016-DB3C-24ABB1FEF61C}"/>
              </a:ext>
            </a:extLst>
          </p:cNvPr>
          <p:cNvSpPr>
            <a:spLocks noGrp="1"/>
          </p:cNvSpPr>
          <p:nvPr>
            <p:ph type="dt" sz="half" idx="10"/>
          </p:nvPr>
        </p:nvSpPr>
        <p:spPr/>
        <p:txBody>
          <a:bodyPr/>
          <a:lstStyle/>
          <a:p>
            <a:fld id="{FC232794-777C-7640-9FB1-72B12E1225F6}" type="datetimeFigureOut">
              <a:rPr lang="en-US" smtClean="0"/>
              <a:t>6/12/2025</a:t>
            </a:fld>
            <a:endParaRPr lang="en-US"/>
          </a:p>
        </p:txBody>
      </p:sp>
      <p:sp>
        <p:nvSpPr>
          <p:cNvPr id="8" name="Footer Placeholder 7">
            <a:extLst>
              <a:ext uri="{FF2B5EF4-FFF2-40B4-BE49-F238E27FC236}">
                <a16:creationId xmlns:a16="http://schemas.microsoft.com/office/drawing/2014/main" id="{7BA93480-30DA-3F7B-8E55-8ABCE870F5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902C04-389D-7314-AEBA-EF3D955D8DDA}"/>
              </a:ext>
            </a:extLst>
          </p:cNvPr>
          <p:cNvSpPr>
            <a:spLocks noGrp="1"/>
          </p:cNvSpPr>
          <p:nvPr>
            <p:ph type="sldNum" sz="quarter" idx="12"/>
          </p:nvPr>
        </p:nvSpPr>
        <p:spPr/>
        <p:txBody>
          <a:bodyPr/>
          <a:lstStyle/>
          <a:p>
            <a:fld id="{DA93BEBE-71B7-B943-A81E-C96E7E55833E}" type="slidenum">
              <a:rPr lang="en-US" smtClean="0"/>
              <a:t>‹#›</a:t>
            </a:fld>
            <a:endParaRPr lang="en-US"/>
          </a:p>
        </p:txBody>
      </p:sp>
    </p:spTree>
    <p:extLst>
      <p:ext uri="{BB962C8B-B14F-4D97-AF65-F5344CB8AC3E}">
        <p14:creationId xmlns:p14="http://schemas.microsoft.com/office/powerpoint/2010/main" val="3098328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4F471-BEA0-23A7-C9C7-21D8BC8CFD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57607B-A7DE-0395-533E-EFE7B151051E}"/>
              </a:ext>
            </a:extLst>
          </p:cNvPr>
          <p:cNvSpPr>
            <a:spLocks noGrp="1"/>
          </p:cNvSpPr>
          <p:nvPr>
            <p:ph type="dt" sz="half" idx="10"/>
          </p:nvPr>
        </p:nvSpPr>
        <p:spPr/>
        <p:txBody>
          <a:bodyPr/>
          <a:lstStyle/>
          <a:p>
            <a:fld id="{FC232794-777C-7640-9FB1-72B12E1225F6}" type="datetimeFigureOut">
              <a:rPr lang="en-US" smtClean="0"/>
              <a:t>6/12/2025</a:t>
            </a:fld>
            <a:endParaRPr lang="en-US"/>
          </a:p>
        </p:txBody>
      </p:sp>
      <p:sp>
        <p:nvSpPr>
          <p:cNvPr id="4" name="Footer Placeholder 3">
            <a:extLst>
              <a:ext uri="{FF2B5EF4-FFF2-40B4-BE49-F238E27FC236}">
                <a16:creationId xmlns:a16="http://schemas.microsoft.com/office/drawing/2014/main" id="{16ECEFC4-4844-7F12-366D-B5CE3972B6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317301-99F1-E217-77BD-380333DC8DCA}"/>
              </a:ext>
            </a:extLst>
          </p:cNvPr>
          <p:cNvSpPr>
            <a:spLocks noGrp="1"/>
          </p:cNvSpPr>
          <p:nvPr>
            <p:ph type="sldNum" sz="quarter" idx="12"/>
          </p:nvPr>
        </p:nvSpPr>
        <p:spPr/>
        <p:txBody>
          <a:bodyPr/>
          <a:lstStyle/>
          <a:p>
            <a:fld id="{DA93BEBE-71B7-B943-A81E-C96E7E55833E}" type="slidenum">
              <a:rPr lang="en-US" smtClean="0"/>
              <a:t>‹#›</a:t>
            </a:fld>
            <a:endParaRPr lang="en-US"/>
          </a:p>
        </p:txBody>
      </p:sp>
    </p:spTree>
    <p:extLst>
      <p:ext uri="{BB962C8B-B14F-4D97-AF65-F5344CB8AC3E}">
        <p14:creationId xmlns:p14="http://schemas.microsoft.com/office/powerpoint/2010/main" val="1391938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42F6C5-0B87-9464-63F9-C1B4BE619AF2}"/>
              </a:ext>
            </a:extLst>
          </p:cNvPr>
          <p:cNvSpPr>
            <a:spLocks noGrp="1"/>
          </p:cNvSpPr>
          <p:nvPr>
            <p:ph type="dt" sz="half" idx="10"/>
          </p:nvPr>
        </p:nvSpPr>
        <p:spPr/>
        <p:txBody>
          <a:bodyPr/>
          <a:lstStyle/>
          <a:p>
            <a:fld id="{FC232794-777C-7640-9FB1-72B12E1225F6}" type="datetimeFigureOut">
              <a:rPr lang="en-US" smtClean="0"/>
              <a:t>6/12/2025</a:t>
            </a:fld>
            <a:endParaRPr lang="en-US"/>
          </a:p>
        </p:txBody>
      </p:sp>
      <p:sp>
        <p:nvSpPr>
          <p:cNvPr id="3" name="Footer Placeholder 2">
            <a:extLst>
              <a:ext uri="{FF2B5EF4-FFF2-40B4-BE49-F238E27FC236}">
                <a16:creationId xmlns:a16="http://schemas.microsoft.com/office/drawing/2014/main" id="{03470FDF-D7C7-E8AD-47AA-8529F21A944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888CA8-85E7-D325-D1CD-2D9A3E1E73C8}"/>
              </a:ext>
            </a:extLst>
          </p:cNvPr>
          <p:cNvSpPr>
            <a:spLocks noGrp="1"/>
          </p:cNvSpPr>
          <p:nvPr>
            <p:ph type="sldNum" sz="quarter" idx="12"/>
          </p:nvPr>
        </p:nvSpPr>
        <p:spPr/>
        <p:txBody>
          <a:bodyPr/>
          <a:lstStyle/>
          <a:p>
            <a:fld id="{DA93BEBE-71B7-B943-A81E-C96E7E55833E}" type="slidenum">
              <a:rPr lang="en-US" smtClean="0"/>
              <a:t>‹#›</a:t>
            </a:fld>
            <a:endParaRPr lang="en-US"/>
          </a:p>
        </p:txBody>
      </p:sp>
    </p:spTree>
    <p:extLst>
      <p:ext uri="{BB962C8B-B14F-4D97-AF65-F5344CB8AC3E}">
        <p14:creationId xmlns:p14="http://schemas.microsoft.com/office/powerpoint/2010/main" val="677336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2C3CA-35B7-7B2C-FEDB-BFDC06A550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E1C6A2-3BD9-0A7B-AB39-BCE52106AA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D0E5E1-8A06-E4C5-69A0-6420A4886E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CE8E73-E8BA-8CD3-BCAA-8F40A9074C82}"/>
              </a:ext>
            </a:extLst>
          </p:cNvPr>
          <p:cNvSpPr>
            <a:spLocks noGrp="1"/>
          </p:cNvSpPr>
          <p:nvPr>
            <p:ph type="dt" sz="half" idx="10"/>
          </p:nvPr>
        </p:nvSpPr>
        <p:spPr/>
        <p:txBody>
          <a:bodyPr/>
          <a:lstStyle/>
          <a:p>
            <a:fld id="{FC232794-777C-7640-9FB1-72B12E1225F6}" type="datetimeFigureOut">
              <a:rPr lang="en-US" smtClean="0"/>
              <a:t>6/12/2025</a:t>
            </a:fld>
            <a:endParaRPr lang="en-US"/>
          </a:p>
        </p:txBody>
      </p:sp>
      <p:sp>
        <p:nvSpPr>
          <p:cNvPr id="6" name="Footer Placeholder 5">
            <a:extLst>
              <a:ext uri="{FF2B5EF4-FFF2-40B4-BE49-F238E27FC236}">
                <a16:creationId xmlns:a16="http://schemas.microsoft.com/office/drawing/2014/main" id="{5F55ABFD-047E-56D6-9459-D8FA063BEE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EFF640-24CA-D7A9-0930-3C08222CEFF0}"/>
              </a:ext>
            </a:extLst>
          </p:cNvPr>
          <p:cNvSpPr>
            <a:spLocks noGrp="1"/>
          </p:cNvSpPr>
          <p:nvPr>
            <p:ph type="sldNum" sz="quarter" idx="12"/>
          </p:nvPr>
        </p:nvSpPr>
        <p:spPr/>
        <p:txBody>
          <a:bodyPr/>
          <a:lstStyle/>
          <a:p>
            <a:fld id="{DA93BEBE-71B7-B943-A81E-C96E7E55833E}" type="slidenum">
              <a:rPr lang="en-US" smtClean="0"/>
              <a:t>‹#›</a:t>
            </a:fld>
            <a:endParaRPr lang="en-US"/>
          </a:p>
        </p:txBody>
      </p:sp>
    </p:spTree>
    <p:extLst>
      <p:ext uri="{BB962C8B-B14F-4D97-AF65-F5344CB8AC3E}">
        <p14:creationId xmlns:p14="http://schemas.microsoft.com/office/powerpoint/2010/main" val="566145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D9206-1A9C-EE9E-4EA2-8986D7F9FD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FF26C9E-1687-9755-2A18-967C465B38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4C0B8F-8A9D-754A-2CB4-BD0CD70278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C877C0-D5A0-C7E6-F8E0-612C7F07A5A5}"/>
              </a:ext>
            </a:extLst>
          </p:cNvPr>
          <p:cNvSpPr>
            <a:spLocks noGrp="1"/>
          </p:cNvSpPr>
          <p:nvPr>
            <p:ph type="dt" sz="half" idx="10"/>
          </p:nvPr>
        </p:nvSpPr>
        <p:spPr/>
        <p:txBody>
          <a:bodyPr/>
          <a:lstStyle/>
          <a:p>
            <a:fld id="{FC232794-777C-7640-9FB1-72B12E1225F6}" type="datetimeFigureOut">
              <a:rPr lang="en-US" smtClean="0"/>
              <a:t>6/12/2025</a:t>
            </a:fld>
            <a:endParaRPr lang="en-US"/>
          </a:p>
        </p:txBody>
      </p:sp>
      <p:sp>
        <p:nvSpPr>
          <p:cNvPr id="6" name="Footer Placeholder 5">
            <a:extLst>
              <a:ext uri="{FF2B5EF4-FFF2-40B4-BE49-F238E27FC236}">
                <a16:creationId xmlns:a16="http://schemas.microsoft.com/office/drawing/2014/main" id="{EB71108A-E6BF-C9C0-19EF-6A27159DAC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A681E4-FDDE-6E2E-7CF6-E2F999F36CC0}"/>
              </a:ext>
            </a:extLst>
          </p:cNvPr>
          <p:cNvSpPr>
            <a:spLocks noGrp="1"/>
          </p:cNvSpPr>
          <p:nvPr>
            <p:ph type="sldNum" sz="quarter" idx="12"/>
          </p:nvPr>
        </p:nvSpPr>
        <p:spPr/>
        <p:txBody>
          <a:bodyPr/>
          <a:lstStyle/>
          <a:p>
            <a:fld id="{DA93BEBE-71B7-B943-A81E-C96E7E55833E}" type="slidenum">
              <a:rPr lang="en-US" smtClean="0"/>
              <a:t>‹#›</a:t>
            </a:fld>
            <a:endParaRPr lang="en-US"/>
          </a:p>
        </p:txBody>
      </p:sp>
    </p:spTree>
    <p:extLst>
      <p:ext uri="{BB962C8B-B14F-4D97-AF65-F5344CB8AC3E}">
        <p14:creationId xmlns:p14="http://schemas.microsoft.com/office/powerpoint/2010/main" val="3603991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919DA-02F3-B90E-55E0-7D242E9E03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3CAAD7-8D63-BEDA-DBB7-A90474ABE1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7046E-3881-6E4B-6141-DE0030C82D68}"/>
              </a:ext>
            </a:extLst>
          </p:cNvPr>
          <p:cNvSpPr>
            <a:spLocks noGrp="1"/>
          </p:cNvSpPr>
          <p:nvPr>
            <p:ph type="dt" sz="half" idx="10"/>
          </p:nvPr>
        </p:nvSpPr>
        <p:spPr/>
        <p:txBody>
          <a:bodyPr/>
          <a:lstStyle/>
          <a:p>
            <a:fld id="{FC232794-777C-7640-9FB1-72B12E1225F6}" type="datetimeFigureOut">
              <a:rPr lang="en-US" smtClean="0"/>
              <a:t>6/12/2025</a:t>
            </a:fld>
            <a:endParaRPr lang="en-US"/>
          </a:p>
        </p:txBody>
      </p:sp>
      <p:sp>
        <p:nvSpPr>
          <p:cNvPr id="5" name="Footer Placeholder 4">
            <a:extLst>
              <a:ext uri="{FF2B5EF4-FFF2-40B4-BE49-F238E27FC236}">
                <a16:creationId xmlns:a16="http://schemas.microsoft.com/office/drawing/2014/main" id="{57385BF7-DF87-2BA0-052A-699EC85110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DF28D6-1920-6491-F022-487CA7B0BD37}"/>
              </a:ext>
            </a:extLst>
          </p:cNvPr>
          <p:cNvSpPr>
            <a:spLocks noGrp="1"/>
          </p:cNvSpPr>
          <p:nvPr>
            <p:ph type="sldNum" sz="quarter" idx="12"/>
          </p:nvPr>
        </p:nvSpPr>
        <p:spPr/>
        <p:txBody>
          <a:bodyPr/>
          <a:lstStyle/>
          <a:p>
            <a:fld id="{DA93BEBE-71B7-B943-A81E-C96E7E55833E}" type="slidenum">
              <a:rPr lang="en-US" smtClean="0"/>
              <a:t>‹#›</a:t>
            </a:fld>
            <a:endParaRPr lang="en-US"/>
          </a:p>
        </p:txBody>
      </p:sp>
    </p:spTree>
    <p:extLst>
      <p:ext uri="{BB962C8B-B14F-4D97-AF65-F5344CB8AC3E}">
        <p14:creationId xmlns:p14="http://schemas.microsoft.com/office/powerpoint/2010/main" val="660129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EBF942-51AC-4816-54AA-A5483D3485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FB3D05-DF19-E42A-C378-8C023DBFEC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115F02-D456-3784-D19F-EAAA42B2DAEC}"/>
              </a:ext>
            </a:extLst>
          </p:cNvPr>
          <p:cNvSpPr>
            <a:spLocks noGrp="1"/>
          </p:cNvSpPr>
          <p:nvPr>
            <p:ph type="dt" sz="half" idx="10"/>
          </p:nvPr>
        </p:nvSpPr>
        <p:spPr/>
        <p:txBody>
          <a:bodyPr/>
          <a:lstStyle/>
          <a:p>
            <a:fld id="{FC232794-777C-7640-9FB1-72B12E1225F6}" type="datetimeFigureOut">
              <a:rPr lang="en-US" smtClean="0"/>
              <a:t>6/12/2025</a:t>
            </a:fld>
            <a:endParaRPr lang="en-US"/>
          </a:p>
        </p:txBody>
      </p:sp>
      <p:sp>
        <p:nvSpPr>
          <p:cNvPr id="5" name="Footer Placeholder 4">
            <a:extLst>
              <a:ext uri="{FF2B5EF4-FFF2-40B4-BE49-F238E27FC236}">
                <a16:creationId xmlns:a16="http://schemas.microsoft.com/office/drawing/2014/main" id="{02FFDD53-8693-197D-D7DA-6A51FC6A6B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77276-7C8B-279B-D147-FAE99F8B6382}"/>
              </a:ext>
            </a:extLst>
          </p:cNvPr>
          <p:cNvSpPr>
            <a:spLocks noGrp="1"/>
          </p:cNvSpPr>
          <p:nvPr>
            <p:ph type="sldNum" sz="quarter" idx="12"/>
          </p:nvPr>
        </p:nvSpPr>
        <p:spPr/>
        <p:txBody>
          <a:bodyPr/>
          <a:lstStyle/>
          <a:p>
            <a:fld id="{DA93BEBE-71B7-B943-A81E-C96E7E55833E}" type="slidenum">
              <a:rPr lang="en-US" smtClean="0"/>
              <a:t>‹#›</a:t>
            </a:fld>
            <a:endParaRPr lang="en-US"/>
          </a:p>
        </p:txBody>
      </p:sp>
    </p:spTree>
    <p:extLst>
      <p:ext uri="{BB962C8B-B14F-4D97-AF65-F5344CB8AC3E}">
        <p14:creationId xmlns:p14="http://schemas.microsoft.com/office/powerpoint/2010/main" val="411049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40479434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9829501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401078266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35625789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9642197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252607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50BADD-CDAA-4F4D-7A5F-904072C895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BCFF11-F5FB-2429-8E9A-C2B9AEC877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99A66C-E451-CDDB-86E7-0519185613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232794-777C-7640-9FB1-72B12E1225F6}" type="datetimeFigureOut">
              <a:rPr lang="en-US" smtClean="0"/>
              <a:t>6/12/2025</a:t>
            </a:fld>
            <a:endParaRPr lang="en-US"/>
          </a:p>
        </p:txBody>
      </p:sp>
      <p:sp>
        <p:nvSpPr>
          <p:cNvPr id="5" name="Footer Placeholder 4">
            <a:extLst>
              <a:ext uri="{FF2B5EF4-FFF2-40B4-BE49-F238E27FC236}">
                <a16:creationId xmlns:a16="http://schemas.microsoft.com/office/drawing/2014/main" id="{08DB2480-EB9D-F8FF-AE72-535F52C538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2F595A-E10D-66B5-9223-48D49E6DDD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93BEBE-71B7-B943-A81E-C96E7E55833E}" type="slidenum">
              <a:rPr lang="en-US" smtClean="0"/>
              <a:t>‹#›</a:t>
            </a:fld>
            <a:endParaRPr lang="en-US"/>
          </a:p>
        </p:txBody>
      </p:sp>
    </p:spTree>
    <p:extLst>
      <p:ext uri="{BB962C8B-B14F-4D97-AF65-F5344CB8AC3E}">
        <p14:creationId xmlns:p14="http://schemas.microsoft.com/office/powerpoint/2010/main" val="783026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learn.microsoft.com/en-us/training/paths/github-actions/?wt.mc_id=github_inproduct_actions_mslearn_ghcertregistration"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learn.microsoft.com/en-us/training/paths/github-administration-products/"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learn.microsoft.com/en-us/training/paths/github-actions/?wt.mc_id=github_inproduct_actions_mslearn_ghcertregistrati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hyperlink" Target="https://github.com/marketplace?type=actions" TargetMode="External"/><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hyperlink" Target="https://github.com/actions" TargetMode="External"/><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5.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hyperlink" Target="https://docs.github.com/actions/using-workflows/events-that-trigger-workflows" TargetMode="External"/><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 Id="rId9" Type="http://schemas.openxmlformats.org/officeDocument/2006/relationships/hyperlink" Target="https://docs.github.com/actions/using-workflows/workflow-syntax-for-github-actions"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hyperlink" Target="https://docs.github.com/actions/reference/usage-limits-billing-and-administration" TargetMode="External"/><Relationship Id="rId2" Type="http://schemas.openxmlformats.org/officeDocument/2006/relationships/notesSlide" Target="../notesSlides/notesSlide15.xml"/><Relationship Id="rId1" Type="http://schemas.openxmlformats.org/officeDocument/2006/relationships/slideLayout" Target="../slideLayouts/slideLayout14.xml"/><Relationship Id="rId5" Type="http://schemas.openxmlformats.org/officeDocument/2006/relationships/image" Target="../media/image33.sv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hyperlink" Target="https://docs.github.com/en/actions/using-github-hosted-runners/using-larger-runners/about-larger-runners#machine-sizes-for-larger-runners" TargetMode="External"/><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5.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29.sv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15.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slides/_rels/slide22.xml.rels><?xml version="1.0" encoding="UTF-8" standalone="yes"?>
<Relationships xmlns="http://schemas.openxmlformats.org/package/2006/relationships"><Relationship Id="rId3" Type="http://schemas.openxmlformats.org/officeDocument/2006/relationships/hyperlink" Target="https://pubs.opengroup.org/onlinepubs/9699919799/utilities/crontab.html#tag_20_25_07" TargetMode="External"/><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hyperlink" Target="https://docs.github.com/actions/reference/workflow-syntax-for-github-actions#jobsjob_idstepsif" TargetMode="External"/><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8.xml"/><Relationship Id="rId1" Type="http://schemas.openxmlformats.org/officeDocument/2006/relationships/slideLayout" Target="../slideLayouts/slideLayout16.xml"/><Relationship Id="rId5" Type="http://schemas.openxmlformats.org/officeDocument/2006/relationships/image" Target="../media/image12.png"/><Relationship Id="rId4" Type="http://schemas.openxmlformats.org/officeDocument/2006/relationships/image" Target="../media/image45.svg"/></Relationships>
</file>

<file path=ppt/slides/_rels/slide39.xml.rels><?xml version="1.0" encoding="UTF-8" standalone="yes"?>
<Relationships xmlns="http://schemas.openxmlformats.org/package/2006/relationships"><Relationship Id="rId3" Type="http://schemas.openxmlformats.org/officeDocument/2006/relationships/hyperlink" Target="https://github.com/skills/hello-github-actions" TargetMode="External"/><Relationship Id="rId2" Type="http://schemas.openxmlformats.org/officeDocument/2006/relationships/notesSlide" Target="../notesSlides/notesSlide39.xml"/><Relationship Id="rId1" Type="http://schemas.openxmlformats.org/officeDocument/2006/relationships/slideLayout" Target="../slideLayouts/slideLayout16.xml"/><Relationship Id="rId5" Type="http://schemas.openxmlformats.org/officeDocument/2006/relationships/image" Target="../media/image45.svg"/><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1CB59B-EF9E-4E47-BF33-B8075EB6C7A1}"/>
              </a:ext>
            </a:extLst>
          </p:cNvPr>
          <p:cNvSpPr>
            <a:spLocks noGrp="1"/>
          </p:cNvSpPr>
          <p:nvPr>
            <p:ph type="title"/>
          </p:nvPr>
        </p:nvSpPr>
        <p:spPr>
          <a:xfrm>
            <a:off x="569911" y="2992149"/>
            <a:ext cx="5748827" cy="1667957"/>
          </a:xfrm>
        </p:spPr>
        <p:txBody>
          <a:bodyPr/>
          <a:lstStyle/>
          <a:p>
            <a:r>
              <a:rPr lang="en-US" dirty="0">
                <a:latin typeface="Quattrocento Sans" panose="020B0502050000020003" pitchFamily="34" charset="0"/>
              </a:rPr>
              <a:t>GH-200: Automate your workflow with GitHub Actions Part 1 of 2</a:t>
            </a:r>
            <a:endParaRPr lang="en-US" sz="3600" dirty="0">
              <a:latin typeface="Quattrocento Sans" panose="020B0502050000020003" pitchFamily="34" charset="0"/>
            </a:endParaRPr>
          </a:p>
        </p:txBody>
      </p:sp>
      <p:sp>
        <p:nvSpPr>
          <p:cNvPr id="6" name="Text Placeholder 5">
            <a:extLst>
              <a:ext uri="{FF2B5EF4-FFF2-40B4-BE49-F238E27FC236}">
                <a16:creationId xmlns:a16="http://schemas.microsoft.com/office/drawing/2014/main" id="{A885462E-AC6B-3006-FA4D-1CE744FBA46E}"/>
              </a:ext>
            </a:extLst>
          </p:cNvPr>
          <p:cNvSpPr>
            <a:spLocks noGrp="1"/>
          </p:cNvSpPr>
          <p:nvPr>
            <p:ph type="body" sz="quarter" idx="13"/>
          </p:nvPr>
        </p:nvSpPr>
        <p:spPr>
          <a:xfrm>
            <a:off x="569911" y="5681324"/>
            <a:ext cx="7434032" cy="250903"/>
          </a:xfrm>
        </p:spPr>
        <p:txBody>
          <a:bodyPr/>
          <a:lstStyle/>
          <a:p>
            <a:r>
              <a:rPr lang="en-US" sz="1800" dirty="0">
                <a:hlinkClick r:id="rId3">
                  <a:extLst>
                    <a:ext uri="{A12FA001-AC4F-418D-AE19-62706E023703}">
                      <ahyp:hlinkClr xmlns:ahyp="http://schemas.microsoft.com/office/drawing/2018/hyperlinkcolor" val="tx"/>
                    </a:ext>
                  </a:extLst>
                </a:hlinkClick>
              </a:rPr>
              <a:t>GH-200: Automate your workflow with GitHub Actions Part 1 of 2</a:t>
            </a:r>
            <a:endParaRPr lang="en-US" sz="1800" dirty="0"/>
          </a:p>
        </p:txBody>
      </p:sp>
      <p:sp>
        <p:nvSpPr>
          <p:cNvPr id="2" name="Footer Placeholder 1">
            <a:extLst>
              <a:ext uri="{FF2B5EF4-FFF2-40B4-BE49-F238E27FC236}">
                <a16:creationId xmlns:a16="http://schemas.microsoft.com/office/drawing/2014/main" id="{B4842410-2607-E871-3A7B-A6BFCD364DDB}"/>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4046885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2332206"/>
            <a:ext cx="6345239" cy="1667957"/>
          </a:xfrm>
        </p:spPr>
        <p:txBody>
          <a:bodyPr/>
          <a:lstStyle/>
          <a:p>
            <a:r>
              <a:rPr lang="en-US" dirty="0">
                <a:latin typeface="Quattrocento Sans" panose="020B0502050000020003" pitchFamily="34" charset="0"/>
              </a:rPr>
              <a:t>Module 1: Automate development tasks by using GitHub Actions</a:t>
            </a:r>
          </a:p>
        </p:txBody>
      </p:sp>
      <p:sp>
        <p:nvSpPr>
          <p:cNvPr id="2" name="Rectangle 1">
            <a:extLst>
              <a:ext uri="{FF2B5EF4-FFF2-40B4-BE49-F238E27FC236}">
                <a16:creationId xmlns:a16="http://schemas.microsoft.com/office/drawing/2014/main" id="{AAB7FFCE-6487-F91B-58CE-9BC1E7AA76E9}"/>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Footer Placeholder 2">
            <a:extLst>
              <a:ext uri="{FF2B5EF4-FFF2-40B4-BE49-F238E27FC236}">
                <a16:creationId xmlns:a16="http://schemas.microsoft.com/office/drawing/2014/main" id="{D2B19A9A-3D8F-0FA5-9D68-D7FBEDB29414}"/>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4" name="Text Placeholder 5">
            <a:extLst>
              <a:ext uri="{FF2B5EF4-FFF2-40B4-BE49-F238E27FC236}">
                <a16:creationId xmlns:a16="http://schemas.microsoft.com/office/drawing/2014/main" id="{069BC8C8-2CF6-9B7C-E605-EA01F8A1CB3B}"/>
              </a:ext>
            </a:extLst>
          </p:cNvPr>
          <p:cNvSpPr txBox="1">
            <a:spLocks/>
          </p:cNvSpPr>
          <p:nvPr/>
        </p:nvSpPr>
        <p:spPr>
          <a:xfrm>
            <a:off x="569911" y="5570675"/>
            <a:ext cx="7434032" cy="5010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latin typeface="Quattrocento Sans" panose="020B0502050000020003" pitchFamily="34" charset="0"/>
              <a:hlinkClick r:id="rId3">
                <a:extLst>
                  <a:ext uri="{A12FA001-AC4F-418D-AE19-62706E023703}">
                    <ahyp:hlinkClr xmlns:ahyp="http://schemas.microsoft.com/office/drawing/2018/hyperlinkcolor" val="tx"/>
                  </a:ext>
                </a:extLst>
              </a:hlinkClick>
            </a:endParaRPr>
          </a:p>
        </p:txBody>
      </p:sp>
      <p:sp>
        <p:nvSpPr>
          <p:cNvPr id="6" name="Text Placeholder 5">
            <a:extLst>
              <a:ext uri="{FF2B5EF4-FFF2-40B4-BE49-F238E27FC236}">
                <a16:creationId xmlns:a16="http://schemas.microsoft.com/office/drawing/2014/main" id="{EF7C51BB-3258-4B78-DAC5-65709610A1D2}"/>
              </a:ext>
            </a:extLst>
          </p:cNvPr>
          <p:cNvSpPr txBox="1">
            <a:spLocks/>
          </p:cNvSpPr>
          <p:nvPr/>
        </p:nvSpPr>
        <p:spPr>
          <a:xfrm>
            <a:off x="569911" y="5681324"/>
            <a:ext cx="6582729" cy="5010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hlinkClick r:id="rId4">
                  <a:extLst>
                    <a:ext uri="{A12FA001-AC4F-418D-AE19-62706E023703}">
                      <ahyp:hlinkClr xmlns:ahyp="http://schemas.microsoft.com/office/drawing/2018/hyperlinkcolor" val="tx"/>
                    </a:ext>
                  </a:extLst>
                </a:hlinkClick>
              </a:rPr>
              <a:t>GH-200: Automate development tasks by using GitHub Actions</a:t>
            </a:r>
            <a:endParaRPr lang="en-US" sz="2400" dirty="0"/>
          </a:p>
        </p:txBody>
      </p:sp>
    </p:spTree>
    <p:extLst>
      <p:ext uri="{BB962C8B-B14F-4D97-AF65-F5344CB8AC3E}">
        <p14:creationId xmlns:p14="http://schemas.microsoft.com/office/powerpoint/2010/main" val="228175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Introduction</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52657" y="1498282"/>
            <a:ext cx="10384538"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dirty="0">
                <a:latin typeface="Quattrocento Sans" panose="020B0502050000020003" pitchFamily="34" charset="0"/>
              </a:rPr>
              <a:t>In this module, you will learn: GitHub Actions optimize code-delivery time, from idea to deployment, on a community-powered platform. You'll explore how GitHub Actions can automate testing, building, deploying, and managing infrastructure—laying the foundation for implementing CI, CD, and </a:t>
            </a:r>
            <a:r>
              <a:rPr lang="en-US" sz="2400" dirty="0" err="1">
                <a:latin typeface="Quattrocento Sans" panose="020B0502050000020003" pitchFamily="34" charset="0"/>
              </a:rPr>
              <a:t>IaC</a:t>
            </a:r>
            <a:r>
              <a:rPr lang="en-US" sz="2400" dirty="0">
                <a:latin typeface="Quattrocento Sans" panose="020B0502050000020003" pitchFamily="34" charset="0"/>
              </a:rPr>
              <a:t> in future modules.</a:t>
            </a:r>
          </a:p>
        </p:txBody>
      </p:sp>
      <p:sp>
        <p:nvSpPr>
          <p:cNvPr id="7" name="TextBox 6">
            <a:extLst>
              <a:ext uri="{FF2B5EF4-FFF2-40B4-BE49-F238E27FC236}">
                <a16:creationId xmlns:a16="http://schemas.microsoft.com/office/drawing/2014/main" id="{6AF3F449-AFE6-897F-FE61-E28EC8F3FEFB}"/>
              </a:ext>
            </a:extLst>
          </p:cNvPr>
          <p:cNvSpPr txBox="1"/>
          <p:nvPr/>
        </p:nvSpPr>
        <p:spPr>
          <a:xfrm>
            <a:off x="652657" y="2840434"/>
            <a:ext cx="10049856" cy="800219"/>
          </a:xfrm>
          <a:prstGeom prst="rect">
            <a:avLst/>
          </a:prstGeom>
          <a:noFill/>
        </p:spPr>
        <p:txBody>
          <a:bodyPr wrap="square" lIns="0" tIns="0" rIns="0" bIns="0" rtlCol="0">
            <a:spAutoFit/>
          </a:bodyPr>
          <a:lstStyle/>
          <a:p>
            <a:pPr algn="l"/>
            <a:r>
              <a:rPr lang="en-US" sz="2400" dirty="0">
                <a:latin typeface="Quattrocento Sans" panose="020B0502050000020003" pitchFamily="34" charset="0"/>
                <a:cs typeface="Segoe UI" panose="020B0502040204020203" pitchFamily="34" charset="0"/>
              </a:rPr>
              <a:t>By the end of this unit, you'll be able to:</a:t>
            </a:r>
          </a:p>
          <a:p>
            <a:pPr algn="l"/>
            <a:endParaRPr lang="en-US" sz="2800" dirty="0">
              <a:latin typeface="Quattrocento Sans" panose="020B0502050000020003" pitchFamily="34" charset="0"/>
              <a:cs typeface="Segoe UI" panose="020B0502040204020203" pitchFamily="34" charset="0"/>
            </a:endParaRPr>
          </a:p>
        </p:txBody>
      </p:sp>
      <p:sp>
        <p:nvSpPr>
          <p:cNvPr id="9" name="TextBox 8">
            <a:extLst>
              <a:ext uri="{FF2B5EF4-FFF2-40B4-BE49-F238E27FC236}">
                <a16:creationId xmlns:a16="http://schemas.microsoft.com/office/drawing/2014/main" id="{9BE325B2-D04E-CD42-D966-4B58FFB3A17E}"/>
              </a:ext>
            </a:extLst>
          </p:cNvPr>
          <p:cNvSpPr txBox="1"/>
          <p:nvPr/>
        </p:nvSpPr>
        <p:spPr>
          <a:xfrm>
            <a:off x="652657" y="3429000"/>
            <a:ext cx="9858608" cy="1785104"/>
          </a:xfrm>
          <a:prstGeom prst="rect">
            <a:avLst/>
          </a:prstGeom>
          <a:noFill/>
        </p:spPr>
        <p:txBody>
          <a:bodyPr wrap="square">
            <a:spAutoFit/>
          </a:bodyPr>
          <a:lstStyle/>
          <a:p>
            <a:pPr marL="342900" indent="-342900" algn="l">
              <a:spcAft>
                <a:spcPts val="1200"/>
              </a:spcAft>
              <a:buFont typeface="Arial" panose="020B0604020202020204" pitchFamily="34" charset="0"/>
              <a:buChar char="•"/>
            </a:pPr>
            <a:r>
              <a:rPr lang="en-US" sz="2000" dirty="0">
                <a:latin typeface="Quattrocento Sans" panose="020B0502050000020003" pitchFamily="34" charset="0"/>
                <a:cs typeface="Segoe UI" panose="020B0502040204020203" pitchFamily="34" charset="0"/>
              </a:rPr>
              <a:t>Identify GitHub Action types and where to find them</a:t>
            </a:r>
          </a:p>
          <a:p>
            <a:pPr marL="342900" indent="-342900" algn="l">
              <a:spcAft>
                <a:spcPts val="1200"/>
              </a:spcAft>
              <a:buFont typeface="Arial" panose="020B0604020202020204" pitchFamily="34" charset="0"/>
              <a:buChar char="•"/>
            </a:pPr>
            <a:r>
              <a:rPr lang="en-US" sz="2000" dirty="0">
                <a:latin typeface="Quattrocento Sans" panose="020B0502050000020003" pitchFamily="34" charset="0"/>
                <a:cs typeface="Segoe UI" panose="020B0502040204020203" pitchFamily="34" charset="0"/>
              </a:rPr>
              <a:t>Break down the components of a workflow YAML file</a:t>
            </a:r>
          </a:p>
          <a:p>
            <a:pPr marL="342900" indent="-342900" algn="l">
              <a:spcAft>
                <a:spcPts val="1200"/>
              </a:spcAft>
              <a:buFont typeface="Arial" panose="020B0604020202020204" pitchFamily="34" charset="0"/>
              <a:buChar char="•"/>
            </a:pPr>
            <a:r>
              <a:rPr lang="en-US" sz="2000" dirty="0">
                <a:latin typeface="Quattrocento Sans" panose="020B0502050000020003" pitchFamily="34" charset="0"/>
                <a:cs typeface="Segoe UI" panose="020B0502040204020203" pitchFamily="34" charset="0"/>
              </a:rPr>
              <a:t>Design CI/CD and </a:t>
            </a:r>
            <a:r>
              <a:rPr lang="en-US" sz="2000" dirty="0" err="1">
                <a:latin typeface="Quattrocento Sans" panose="020B0502050000020003" pitchFamily="34" charset="0"/>
                <a:cs typeface="Segoe UI" panose="020B0502040204020203" pitchFamily="34" charset="0"/>
              </a:rPr>
              <a:t>IaC</a:t>
            </a:r>
            <a:r>
              <a:rPr lang="en-US" sz="2000" dirty="0">
                <a:latin typeface="Quattrocento Sans" panose="020B0502050000020003" pitchFamily="34" charset="0"/>
                <a:cs typeface="Segoe UI" panose="020B0502040204020203" pitchFamily="34" charset="0"/>
              </a:rPr>
              <a:t> automation strategies</a:t>
            </a:r>
          </a:p>
          <a:p>
            <a:pPr marL="342900" indent="-342900" algn="l">
              <a:spcAft>
                <a:spcPts val="1200"/>
              </a:spcAft>
              <a:buFont typeface="Arial" panose="020B0604020202020204" pitchFamily="34" charset="0"/>
              <a:buChar char="•"/>
            </a:pPr>
            <a:r>
              <a:rPr lang="en-US" sz="2000" dirty="0">
                <a:latin typeface="Quattrocento Sans" panose="020B0502050000020003" pitchFamily="34" charset="0"/>
                <a:cs typeface="Segoe UI" panose="020B0502040204020203" pitchFamily="34" charset="0"/>
              </a:rPr>
              <a:t>Build and trigger a custom container action on push</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209470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1" y="591772"/>
            <a:ext cx="10115897" cy="307777"/>
          </a:xfrm>
        </p:spPr>
        <p:txBody>
          <a:bodyPr>
            <a:normAutofit fontScale="90000"/>
          </a:bodyPr>
          <a:lstStyle/>
          <a:p>
            <a:r>
              <a:rPr lang="en-US" sz="3200" dirty="0">
                <a:latin typeface="Quattrocento Sans" panose="020B0502050000020003" pitchFamily="34" charset="0"/>
              </a:rPr>
              <a:t>How does GitHub Actions automate development tasks?</a:t>
            </a:r>
          </a:p>
        </p:txBody>
      </p:sp>
      <p:sp>
        <p:nvSpPr>
          <p:cNvPr id="9" name="Rectangle 8">
            <a:extLst>
              <a:ext uri="{FF2B5EF4-FFF2-40B4-BE49-F238E27FC236}">
                <a16:creationId xmlns:a16="http://schemas.microsoft.com/office/drawing/2014/main" id="{413D2103-2C97-2DBC-43AA-3494CD1262C7}"/>
              </a:ext>
            </a:extLst>
          </p:cNvPr>
          <p:cNvSpPr/>
          <p:nvPr/>
        </p:nvSpPr>
        <p:spPr>
          <a:xfrm>
            <a:off x="2737781" y="1921011"/>
            <a:ext cx="880014" cy="6492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8" name="Rectangle 17">
            <a:extLst>
              <a:ext uri="{FF2B5EF4-FFF2-40B4-BE49-F238E27FC236}">
                <a16:creationId xmlns:a16="http://schemas.microsoft.com/office/drawing/2014/main" id="{D112965E-9E60-4F9C-A92E-602A93804B31}"/>
              </a:ext>
            </a:extLst>
          </p:cNvPr>
          <p:cNvSpPr>
            <a:spLocks/>
          </p:cNvSpPr>
          <p:nvPr/>
        </p:nvSpPr>
        <p:spPr>
          <a:xfrm>
            <a:off x="6705363" y="2399823"/>
            <a:ext cx="4605640" cy="2360067"/>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20" name="TextBox 19">
            <a:extLst>
              <a:ext uri="{FF2B5EF4-FFF2-40B4-BE49-F238E27FC236}">
                <a16:creationId xmlns:a16="http://schemas.microsoft.com/office/drawing/2014/main" id="{93D75FCB-5BFF-66AC-DF4C-23F5FB7F322D}"/>
              </a:ext>
            </a:extLst>
          </p:cNvPr>
          <p:cNvSpPr txBox="1"/>
          <p:nvPr/>
        </p:nvSpPr>
        <p:spPr>
          <a:xfrm>
            <a:off x="6975103" y="2613325"/>
            <a:ext cx="4458479" cy="369332"/>
          </a:xfrm>
          <a:prstGeom prst="rect">
            <a:avLst/>
          </a:prstGeom>
          <a:noFill/>
        </p:spPr>
        <p:txBody>
          <a:bodyPr wrap="square" rtlCol="0">
            <a:spAutoFit/>
          </a:bodyPr>
          <a:lstStyle/>
          <a:p>
            <a:r>
              <a:rPr lang="en-US" b="1" dirty="0">
                <a:latin typeface="Quattrocento Sans" panose="020B0502050000020003" pitchFamily="34" charset="0"/>
                <a:cs typeface="Segoe UI"/>
              </a:rPr>
              <a:t>Automation</a:t>
            </a:r>
            <a:endParaRPr lang="en-US" dirty="0">
              <a:latin typeface="Quattrocento Sans" panose="020B0502050000020003" pitchFamily="34" charset="0"/>
              <a:cs typeface="Segoe UI"/>
            </a:endParaRPr>
          </a:p>
        </p:txBody>
      </p:sp>
      <p:sp>
        <p:nvSpPr>
          <p:cNvPr id="21" name="TextBox 20">
            <a:extLst>
              <a:ext uri="{FF2B5EF4-FFF2-40B4-BE49-F238E27FC236}">
                <a16:creationId xmlns:a16="http://schemas.microsoft.com/office/drawing/2014/main" id="{2E6695B6-E71F-2F9A-582E-2F4B8865116E}"/>
              </a:ext>
            </a:extLst>
          </p:cNvPr>
          <p:cNvSpPr txBox="1"/>
          <p:nvPr/>
        </p:nvSpPr>
        <p:spPr>
          <a:xfrm>
            <a:off x="6975103" y="3027949"/>
            <a:ext cx="4020665" cy="1384995"/>
          </a:xfrm>
          <a:prstGeom prst="rect">
            <a:avLst/>
          </a:prstGeom>
          <a:noFill/>
        </p:spPr>
        <p:txBody>
          <a:bodyPr wrap="square" rtlCol="0">
            <a:spAutoFit/>
          </a:bodyPr>
          <a:lstStyle/>
          <a:p>
            <a:pPr algn="just">
              <a:spcAft>
                <a:spcPts val="1200"/>
              </a:spcAft>
            </a:pPr>
            <a:r>
              <a:rPr lang="en-US" sz="1400" b="0" i="0" dirty="0">
                <a:effectLst/>
                <a:latin typeface="Quattrocento Sans" panose="020B0502050000020003" pitchFamily="34" charset="0"/>
              </a:rPr>
              <a:t>GitHub Actions lets your team automate workflows at every step in the software-development process, from integration to delivery to deployment. It even lets you automate adding labels to pull requests and checking for stale issues and pull requests.</a:t>
            </a:r>
          </a:p>
        </p:txBody>
      </p:sp>
      <p:sp>
        <p:nvSpPr>
          <p:cNvPr id="7" name="Rectangle 6">
            <a:extLst>
              <a:ext uri="{FF2B5EF4-FFF2-40B4-BE49-F238E27FC236}">
                <a16:creationId xmlns:a16="http://schemas.microsoft.com/office/drawing/2014/main" id="{16FBC55A-B94F-DD46-C213-E904FB0D3CD8}"/>
              </a:ext>
            </a:extLst>
          </p:cNvPr>
          <p:cNvSpPr/>
          <p:nvPr/>
        </p:nvSpPr>
        <p:spPr>
          <a:xfrm>
            <a:off x="5606872" y="1859501"/>
            <a:ext cx="880014" cy="5848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5499" y="1171976"/>
            <a:ext cx="1073550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b="0" i="0" dirty="0">
                <a:effectLst/>
                <a:latin typeface="Quattrocento Sans" panose="020B0502050000020003" pitchFamily="34" charset="0"/>
              </a:rPr>
              <a:t>GitHub decreases time from idea to deployment: GitHub is designed to help teams of developers and DevOps engineers build and deploy applications quickly. There are many features in GitHub that enable this, but they generally fall into one of two categories:</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Rectangle 4">
            <a:extLst>
              <a:ext uri="{FF2B5EF4-FFF2-40B4-BE49-F238E27FC236}">
                <a16:creationId xmlns:a16="http://schemas.microsoft.com/office/drawing/2014/main" id="{9CF0D869-0D35-6213-A19D-220F363577CE}"/>
              </a:ext>
            </a:extLst>
          </p:cNvPr>
          <p:cNvSpPr>
            <a:spLocks/>
          </p:cNvSpPr>
          <p:nvPr/>
        </p:nvSpPr>
        <p:spPr>
          <a:xfrm>
            <a:off x="878653" y="2399823"/>
            <a:ext cx="4605640" cy="2360067"/>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6" name="TextBox 5">
            <a:extLst>
              <a:ext uri="{FF2B5EF4-FFF2-40B4-BE49-F238E27FC236}">
                <a16:creationId xmlns:a16="http://schemas.microsoft.com/office/drawing/2014/main" id="{00770E4C-777D-82BA-CDC6-91727AF50FE5}"/>
              </a:ext>
            </a:extLst>
          </p:cNvPr>
          <p:cNvSpPr txBox="1"/>
          <p:nvPr/>
        </p:nvSpPr>
        <p:spPr>
          <a:xfrm>
            <a:off x="1148393" y="2613325"/>
            <a:ext cx="4458479" cy="369332"/>
          </a:xfrm>
          <a:prstGeom prst="rect">
            <a:avLst/>
          </a:prstGeom>
          <a:noFill/>
        </p:spPr>
        <p:txBody>
          <a:bodyPr wrap="square" rtlCol="0">
            <a:spAutoFit/>
          </a:bodyPr>
          <a:lstStyle/>
          <a:p>
            <a:r>
              <a:rPr lang="en-US" b="1" dirty="0">
                <a:latin typeface="Quattrocento Sans" panose="020B0502050000020003" pitchFamily="34" charset="0"/>
                <a:cs typeface="Segoe UI"/>
              </a:rPr>
              <a:t>Communication</a:t>
            </a:r>
            <a:endParaRPr lang="en-US" dirty="0">
              <a:latin typeface="Quattrocento Sans" panose="020B0502050000020003" pitchFamily="34" charset="0"/>
              <a:cs typeface="Segoe UI"/>
            </a:endParaRPr>
          </a:p>
        </p:txBody>
      </p:sp>
      <p:sp>
        <p:nvSpPr>
          <p:cNvPr id="10" name="TextBox 9">
            <a:extLst>
              <a:ext uri="{FF2B5EF4-FFF2-40B4-BE49-F238E27FC236}">
                <a16:creationId xmlns:a16="http://schemas.microsoft.com/office/drawing/2014/main" id="{CD61455C-9500-CC9C-93B8-4E32ADE4301D}"/>
              </a:ext>
            </a:extLst>
          </p:cNvPr>
          <p:cNvSpPr txBox="1"/>
          <p:nvPr/>
        </p:nvSpPr>
        <p:spPr>
          <a:xfrm>
            <a:off x="1167455" y="3027950"/>
            <a:ext cx="4020665" cy="1169551"/>
          </a:xfrm>
          <a:prstGeom prst="rect">
            <a:avLst/>
          </a:prstGeom>
          <a:noFill/>
        </p:spPr>
        <p:txBody>
          <a:bodyPr wrap="square" rtlCol="0">
            <a:spAutoFit/>
          </a:bodyPr>
          <a:lstStyle/>
          <a:p>
            <a:pPr algn="just">
              <a:spcAft>
                <a:spcPts val="1200"/>
              </a:spcAft>
            </a:pPr>
            <a:r>
              <a:rPr lang="en-US" sz="1400" b="0" i="0" dirty="0">
                <a:effectLst/>
                <a:latin typeface="Quattrocento Sans" panose="020B0502050000020003" pitchFamily="34" charset="0"/>
              </a:rPr>
              <a:t>Consider all of the ways that GitHub makes it easy for a team of developers to communicate about the software development project: code reviews in pull requests, GitHub issues, project boards, wikis, notifications, and so on.</a:t>
            </a:r>
          </a:p>
        </p:txBody>
      </p:sp>
      <p:sp>
        <p:nvSpPr>
          <p:cNvPr id="11" name="Rectangle 10">
            <a:extLst>
              <a:ext uri="{FF2B5EF4-FFF2-40B4-BE49-F238E27FC236}">
                <a16:creationId xmlns:a16="http://schemas.microsoft.com/office/drawing/2014/main" id="{9926AA4F-4948-0186-445A-43AEF08B767C}"/>
              </a:ext>
            </a:extLst>
          </p:cNvPr>
          <p:cNvSpPr/>
          <p:nvPr/>
        </p:nvSpPr>
        <p:spPr>
          <a:xfrm>
            <a:off x="8568176" y="1690198"/>
            <a:ext cx="880014" cy="6492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pic>
        <p:nvPicPr>
          <p:cNvPr id="17" name="Graphic 16" descr="Chat outline">
            <a:extLst>
              <a:ext uri="{FF2B5EF4-FFF2-40B4-BE49-F238E27FC236}">
                <a16:creationId xmlns:a16="http://schemas.microsoft.com/office/drawing/2014/main" id="{96377879-AC94-518D-DE45-302AA1B3BE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40556" y="1687139"/>
            <a:ext cx="690038" cy="690038"/>
          </a:xfrm>
          <a:prstGeom prst="rect">
            <a:avLst/>
          </a:prstGeom>
        </p:spPr>
      </p:pic>
      <p:pic>
        <p:nvPicPr>
          <p:cNvPr id="26" name="Graphic 25" descr="Magic Wand Auto outline">
            <a:extLst>
              <a:ext uri="{FF2B5EF4-FFF2-40B4-BE49-F238E27FC236}">
                <a16:creationId xmlns:a16="http://schemas.microsoft.com/office/drawing/2014/main" id="{4571F71A-8506-54AD-182D-3D3CD25D9CA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63164" y="1669791"/>
            <a:ext cx="690038" cy="690038"/>
          </a:xfrm>
          <a:prstGeom prst="rect">
            <a:avLst/>
          </a:prstGeom>
        </p:spPr>
      </p:pic>
      <p:sp>
        <p:nvSpPr>
          <p:cNvPr id="28" name="Rectangle 27">
            <a:extLst>
              <a:ext uri="{FF2B5EF4-FFF2-40B4-BE49-F238E27FC236}">
                <a16:creationId xmlns:a16="http://schemas.microsoft.com/office/drawing/2014/main" id="{A1C11377-0075-B928-B9C8-6A33546129EC}"/>
              </a:ext>
            </a:extLst>
          </p:cNvPr>
          <p:cNvSpPr>
            <a:spLocks/>
          </p:cNvSpPr>
          <p:nvPr/>
        </p:nvSpPr>
        <p:spPr>
          <a:xfrm>
            <a:off x="878653" y="5251817"/>
            <a:ext cx="10432350" cy="677339"/>
          </a:xfrm>
          <a:prstGeom prst="rect">
            <a:avLst/>
          </a:prstGeom>
          <a:solidFill>
            <a:srgbClr val="C1D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Quattrocento Sans" panose="020B0502050000020003" pitchFamily="34" charset="0"/>
            </a:endParaRPr>
          </a:p>
        </p:txBody>
      </p:sp>
      <p:sp>
        <p:nvSpPr>
          <p:cNvPr id="29" name="TextBox 28">
            <a:extLst>
              <a:ext uri="{FF2B5EF4-FFF2-40B4-BE49-F238E27FC236}">
                <a16:creationId xmlns:a16="http://schemas.microsoft.com/office/drawing/2014/main" id="{ABC8FD4E-70E5-7E5B-B7AD-C99D065A810E}"/>
              </a:ext>
            </a:extLst>
          </p:cNvPr>
          <p:cNvSpPr txBox="1"/>
          <p:nvPr/>
        </p:nvSpPr>
        <p:spPr>
          <a:xfrm>
            <a:off x="1190124" y="5319306"/>
            <a:ext cx="10008143" cy="523220"/>
          </a:xfrm>
          <a:prstGeom prst="rect">
            <a:avLst/>
          </a:prstGeom>
          <a:noFill/>
        </p:spPr>
        <p:txBody>
          <a:bodyPr wrap="square" rtlCol="0">
            <a:spAutoFit/>
          </a:bodyPr>
          <a:lstStyle/>
          <a:p>
            <a:pPr algn="just">
              <a:spcAft>
                <a:spcPts val="1200"/>
              </a:spcAft>
            </a:pPr>
            <a:r>
              <a:rPr lang="en-US" sz="1400" i="0" dirty="0">
                <a:effectLst/>
                <a:latin typeface="Quattrocento Sans" panose="020B0502050000020003" pitchFamily="34" charset="0"/>
              </a:rPr>
              <a:t>When combined, these features have allowed thousands of development teams to effectively </a:t>
            </a:r>
            <a:r>
              <a:rPr lang="en-US" sz="1400" b="1" i="0" dirty="0">
                <a:effectLst/>
                <a:latin typeface="Quattrocento Sans" panose="020B0502050000020003" pitchFamily="34" charset="0"/>
              </a:rPr>
              <a:t>decrease the amount of time it takes from their initial idea to deployment</a:t>
            </a:r>
            <a:r>
              <a:rPr lang="en-US" sz="1400" i="0" dirty="0">
                <a:effectLst/>
                <a:latin typeface="Quattrocento Sans" panose="020B0502050000020003" pitchFamily="34" charset="0"/>
              </a:rPr>
              <a:t>.</a:t>
            </a:r>
          </a:p>
        </p:txBody>
      </p:sp>
      <p:sp>
        <p:nvSpPr>
          <p:cNvPr id="30" name="Oval 29">
            <a:extLst>
              <a:ext uri="{FF2B5EF4-FFF2-40B4-BE49-F238E27FC236}">
                <a16:creationId xmlns:a16="http://schemas.microsoft.com/office/drawing/2014/main" id="{F1959641-582C-9C1D-3EB3-4027CE995A29}"/>
              </a:ext>
            </a:extLst>
          </p:cNvPr>
          <p:cNvSpPr>
            <a:spLocks/>
          </p:cNvSpPr>
          <p:nvPr/>
        </p:nvSpPr>
        <p:spPr>
          <a:xfrm>
            <a:off x="698677" y="5319306"/>
            <a:ext cx="452309" cy="52322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Quattrocento Sans" panose="020B0502050000020003" pitchFamily="34" charset="0"/>
            </a:endParaRPr>
          </a:p>
        </p:txBody>
      </p:sp>
      <p:pic>
        <p:nvPicPr>
          <p:cNvPr id="31" name="Graphic 30" descr="Lightbulb outline">
            <a:extLst>
              <a:ext uri="{FF2B5EF4-FFF2-40B4-BE49-F238E27FC236}">
                <a16:creationId xmlns:a16="http://schemas.microsoft.com/office/drawing/2014/main" id="{98C2B13F-A94B-4EDB-FEA4-9B9CD072EEE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6292" y="5368493"/>
            <a:ext cx="421541" cy="421541"/>
          </a:xfrm>
          <a:prstGeom prst="rect">
            <a:avLst/>
          </a:prstGeom>
          <a:effectLst>
            <a:glow rad="12700">
              <a:srgbClr val="FFFF00"/>
            </a:glow>
          </a:effectLst>
        </p:spPr>
      </p:pic>
    </p:spTree>
    <p:extLst>
      <p:ext uri="{BB962C8B-B14F-4D97-AF65-F5344CB8AC3E}">
        <p14:creationId xmlns:p14="http://schemas.microsoft.com/office/powerpoint/2010/main" val="80721952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Use workflow automation to decrease development time</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9D030901-830F-E483-BA77-449EDAD50BC7}"/>
              </a:ext>
            </a:extLst>
          </p:cNvPr>
          <p:cNvSpPr/>
          <p:nvPr/>
        </p:nvSpPr>
        <p:spPr>
          <a:xfrm>
            <a:off x="579438" y="1271105"/>
            <a:ext cx="4531181" cy="3949808"/>
          </a:xfrm>
          <a:prstGeom prst="rect">
            <a:avLst/>
          </a:prstGeom>
          <a:solidFill>
            <a:srgbClr val="F5F3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843033" y="1484010"/>
            <a:ext cx="4003990" cy="296087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spcAft>
                <a:spcPts val="1200"/>
              </a:spcAft>
            </a:pPr>
            <a:r>
              <a:rPr lang="en-US" sz="1800" dirty="0">
                <a:latin typeface="Quattrocento Sans" panose="020B0502050000020003" pitchFamily="34" charset="0"/>
              </a:rPr>
              <a:t>Ensure the code passes all unit tests.</a:t>
            </a:r>
          </a:p>
          <a:p>
            <a:pPr>
              <a:spcBef>
                <a:spcPts val="0"/>
              </a:spcBef>
              <a:spcAft>
                <a:spcPts val="1200"/>
              </a:spcAft>
            </a:pPr>
            <a:r>
              <a:rPr lang="en-US" sz="1800" dirty="0">
                <a:latin typeface="Quattrocento Sans" panose="020B0502050000020003" pitchFamily="34" charset="0"/>
              </a:rPr>
              <a:t>Perform code quality and compliance checks to make sure the source code meets the organization's standards.</a:t>
            </a:r>
          </a:p>
          <a:p>
            <a:pPr>
              <a:spcBef>
                <a:spcPts val="0"/>
              </a:spcBef>
              <a:spcAft>
                <a:spcPts val="1200"/>
              </a:spcAft>
            </a:pPr>
            <a:r>
              <a:rPr lang="en-US" sz="1800" dirty="0">
                <a:latin typeface="Quattrocento Sans" panose="020B0502050000020003" pitchFamily="34" charset="0"/>
              </a:rPr>
              <a:t>Check the code and its dependencies for known security issues.</a:t>
            </a:r>
          </a:p>
          <a:p>
            <a:pPr>
              <a:spcBef>
                <a:spcPts val="0"/>
              </a:spcBef>
              <a:spcAft>
                <a:spcPts val="1200"/>
              </a:spcAft>
            </a:pPr>
            <a:r>
              <a:rPr lang="en-US" sz="1800" dirty="0">
                <a:latin typeface="Quattrocento Sans" panose="020B0502050000020003" pitchFamily="34" charset="0"/>
              </a:rPr>
              <a:t>Build the code integrating new source from (potentially) multiple contributors.</a:t>
            </a:r>
          </a:p>
        </p:txBody>
      </p:sp>
      <p:sp>
        <p:nvSpPr>
          <p:cNvPr id="5" name="Rectangle 4">
            <a:extLst>
              <a:ext uri="{FF2B5EF4-FFF2-40B4-BE49-F238E27FC236}">
                <a16:creationId xmlns:a16="http://schemas.microsoft.com/office/drawing/2014/main" id="{D2F36581-E014-5469-E27D-F6306FDAED8D}"/>
              </a:ext>
            </a:extLst>
          </p:cNvPr>
          <p:cNvSpPr/>
          <p:nvPr/>
        </p:nvSpPr>
        <p:spPr>
          <a:xfrm>
            <a:off x="6280650" y="1271104"/>
            <a:ext cx="4531181" cy="3949808"/>
          </a:xfrm>
          <a:prstGeom prst="rect">
            <a:avLst/>
          </a:prstGeom>
          <a:solidFill>
            <a:srgbClr val="F5F3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6543119" y="1484010"/>
            <a:ext cx="4006241" cy="3348558"/>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spcAft>
                <a:spcPts val="1200"/>
              </a:spcAft>
            </a:pPr>
            <a:r>
              <a:rPr lang="en-US" sz="1800" dirty="0">
                <a:latin typeface="Quattrocento Sans" panose="020B0502050000020003" pitchFamily="34" charset="0"/>
              </a:rPr>
              <a:t>Ensure the software passes integration tests.</a:t>
            </a:r>
          </a:p>
          <a:p>
            <a:pPr>
              <a:spcBef>
                <a:spcPts val="0"/>
              </a:spcBef>
              <a:spcAft>
                <a:spcPts val="1200"/>
              </a:spcAft>
            </a:pPr>
            <a:r>
              <a:rPr lang="en-US" sz="1800" dirty="0">
                <a:latin typeface="Quattrocento Sans" panose="020B0502050000020003" pitchFamily="34" charset="0"/>
              </a:rPr>
              <a:t>Version the new build.</a:t>
            </a:r>
          </a:p>
          <a:p>
            <a:pPr>
              <a:spcBef>
                <a:spcPts val="0"/>
              </a:spcBef>
              <a:spcAft>
                <a:spcPts val="1200"/>
              </a:spcAft>
            </a:pPr>
            <a:r>
              <a:rPr lang="en-US" sz="1800" dirty="0">
                <a:latin typeface="Quattrocento Sans" panose="020B0502050000020003" pitchFamily="34" charset="0"/>
              </a:rPr>
              <a:t>Deliver the new binaries to the appropriate filesystem location.</a:t>
            </a:r>
          </a:p>
          <a:p>
            <a:pPr>
              <a:spcBef>
                <a:spcPts val="0"/>
              </a:spcBef>
              <a:spcAft>
                <a:spcPts val="1200"/>
              </a:spcAft>
            </a:pPr>
            <a:r>
              <a:rPr lang="en-US" sz="1800" dirty="0">
                <a:latin typeface="Quattrocento Sans" panose="020B0502050000020003" pitchFamily="34" charset="0"/>
              </a:rPr>
              <a:t>Deploy the new binaries to one or more servers.</a:t>
            </a:r>
          </a:p>
          <a:p>
            <a:pPr>
              <a:spcBef>
                <a:spcPts val="0"/>
              </a:spcBef>
              <a:spcAft>
                <a:spcPts val="1200"/>
              </a:spcAft>
            </a:pPr>
            <a:r>
              <a:rPr lang="en-US" sz="1800" dirty="0">
                <a:latin typeface="Quattrocento Sans" panose="020B0502050000020003" pitchFamily="34" charset="0"/>
              </a:rPr>
              <a:t>If any of these tasks don't pass, report the issue to the proper individual or team for resolution.</a:t>
            </a:r>
          </a:p>
        </p:txBody>
      </p:sp>
    </p:spTree>
    <p:extLst>
      <p:ext uri="{BB962C8B-B14F-4D97-AF65-F5344CB8AC3E}">
        <p14:creationId xmlns:p14="http://schemas.microsoft.com/office/powerpoint/2010/main" val="1909797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3EBFD75A-2FDF-5996-FF22-1FC482EA7B36}"/>
              </a:ext>
            </a:extLst>
          </p:cNvPr>
          <p:cNvSpPr/>
          <p:nvPr/>
        </p:nvSpPr>
        <p:spPr>
          <a:xfrm>
            <a:off x="7564680" y="1"/>
            <a:ext cx="4047882" cy="4697260"/>
          </a:xfrm>
          <a:prstGeom prst="rect">
            <a:avLst/>
          </a:prstGeom>
          <a:solidFill>
            <a:schemeClr val="bg1">
              <a:lumMod val="9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0984310-567E-BA41-204B-7AF50592C95E}"/>
              </a:ext>
            </a:extLst>
          </p:cNvPr>
          <p:cNvSpPr/>
          <p:nvPr/>
        </p:nvSpPr>
        <p:spPr>
          <a:xfrm>
            <a:off x="481122" y="1204115"/>
            <a:ext cx="1713910" cy="1510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a:latin typeface="Quattrocento Sans" panose="020B0502050000020003" pitchFamily="34" charset="0"/>
              </a:rPr>
              <a:t>What is GitHub Actions?</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9438" y="2135345"/>
            <a:ext cx="5813658" cy="877505"/>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1800" b="0" i="0" dirty="0">
                <a:effectLst/>
                <a:latin typeface="Quattrocento Sans" panose="020B0502050000020003" pitchFamily="34" charset="0"/>
              </a:rPr>
              <a:t>GitHub Actions are packaged scripts to automate tasks in a software-development workflow in GitHub. You can configure GitHub Actions to trigger complex workflows that meet your organization's needs. The trigger can happen each time developers check new source code into a specific branch, at timed intervals, or manually. The result is a reliable and sustainable automated workflow, which leads to a significant decrease in development time.</a:t>
            </a:r>
          </a:p>
          <a:p>
            <a:pPr marL="0" indent="0" algn="just">
              <a:spcAft>
                <a:spcPts val="1200"/>
              </a:spcAft>
              <a:buNone/>
            </a:pPr>
            <a:endParaRPr lang="en-US" sz="1800" b="0" i="0" dirty="0">
              <a:effectLst/>
              <a:latin typeface="Quattrocento Sans" panose="020B0502050000020003" pitchFamily="34" charset="0"/>
            </a:endParaRPr>
          </a:p>
        </p:txBody>
      </p:sp>
      <p:pic>
        <p:nvPicPr>
          <p:cNvPr id="10" name="Picture 9">
            <a:extLst>
              <a:ext uri="{FF2B5EF4-FFF2-40B4-BE49-F238E27FC236}">
                <a16:creationId xmlns:a16="http://schemas.microsoft.com/office/drawing/2014/main" id="{231F23A3-B0AA-1676-1C2D-0C0910617C14}"/>
              </a:ext>
            </a:extLst>
          </p:cNvPr>
          <p:cNvPicPr>
            <a:picLocks noChangeAspect="1"/>
          </p:cNvPicPr>
          <p:nvPr/>
        </p:nvPicPr>
        <p:blipFill>
          <a:blip r:embed="rId3"/>
          <a:stretch>
            <a:fillRect/>
          </a:stretch>
        </p:blipFill>
        <p:spPr>
          <a:xfrm>
            <a:off x="8083783" y="1204115"/>
            <a:ext cx="3018142" cy="3018142"/>
          </a:xfrm>
          <a:prstGeom prst="rect">
            <a:avLst/>
          </a:prstGeom>
          <a:effectLst>
            <a:outerShdw blurRad="59278" dist="38100" dir="2700000" algn="tl" rotWithShape="0">
              <a:schemeClr val="tx1">
                <a:alpha val="49000"/>
              </a:schemeClr>
            </a:outerShdw>
          </a:effectLst>
        </p:spPr>
      </p:pic>
    </p:spTree>
    <p:extLst>
      <p:ext uri="{BB962C8B-B14F-4D97-AF65-F5344CB8AC3E}">
        <p14:creationId xmlns:p14="http://schemas.microsoft.com/office/powerpoint/2010/main" val="412089004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30984310-567E-BA41-204B-7AF50592C95E}"/>
              </a:ext>
            </a:extLst>
          </p:cNvPr>
          <p:cNvSpPr/>
          <p:nvPr/>
        </p:nvSpPr>
        <p:spPr>
          <a:xfrm>
            <a:off x="481122" y="1204115"/>
            <a:ext cx="1713910" cy="1510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a:latin typeface="Quattrocento Sans" panose="020B0502050000020003" pitchFamily="34" charset="0"/>
              </a:rPr>
              <a:t>Where can you find GitHub Actions?</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7129593" y="2051990"/>
            <a:ext cx="4581285" cy="877505"/>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1800" b="0" i="0" dirty="0">
                <a:effectLst/>
                <a:latin typeface="Quattrocento Sans" panose="020B0502050000020003" pitchFamily="34" charset="0"/>
              </a:rPr>
              <a:t>GitHub Actions are scripts that adhere to a </a:t>
            </a:r>
            <a:r>
              <a:rPr lang="en-US" sz="1800" b="0" i="0" dirty="0" err="1">
                <a:effectLst/>
                <a:latin typeface="Quattrocento Sans" panose="020B0502050000020003" pitchFamily="34" charset="0"/>
              </a:rPr>
              <a:t>yml</a:t>
            </a:r>
            <a:r>
              <a:rPr lang="en-US" sz="1800" b="0" i="0" dirty="0">
                <a:effectLst/>
                <a:latin typeface="Quattrocento Sans" panose="020B0502050000020003" pitchFamily="34" charset="0"/>
              </a:rPr>
              <a:t> data format. Each repository has an </a:t>
            </a:r>
            <a:r>
              <a:rPr lang="en-US" sz="1800" b="1" i="0" dirty="0">
                <a:effectLst/>
                <a:latin typeface="Quattrocento Sans" panose="020B0502050000020003" pitchFamily="34" charset="0"/>
              </a:rPr>
              <a:t>Actions</a:t>
            </a:r>
            <a:r>
              <a:rPr lang="en-US" sz="1800" b="0" i="0" dirty="0">
                <a:effectLst/>
                <a:latin typeface="Quattrocento Sans" panose="020B0502050000020003" pitchFamily="34" charset="0"/>
              </a:rPr>
              <a:t> tab that provides a quick and easy way to get started with setting up your first script. </a:t>
            </a:r>
          </a:p>
          <a:p>
            <a:pPr marL="0" indent="0" algn="just">
              <a:spcAft>
                <a:spcPts val="1200"/>
              </a:spcAft>
              <a:buNone/>
            </a:pPr>
            <a:r>
              <a:rPr lang="en-US" sz="1800" b="0" i="0" dirty="0">
                <a:effectLst/>
                <a:latin typeface="Quattrocento Sans" panose="020B0502050000020003" pitchFamily="34" charset="0"/>
              </a:rPr>
              <a:t>If you see a workflow that you think might be a great starting point, just select the </a:t>
            </a:r>
            <a:r>
              <a:rPr lang="en-US" sz="1800" b="1" i="0" dirty="0">
                <a:effectLst/>
                <a:latin typeface="Quattrocento Sans" panose="020B0502050000020003" pitchFamily="34" charset="0"/>
              </a:rPr>
              <a:t>Configure</a:t>
            </a:r>
            <a:r>
              <a:rPr lang="en-US" sz="1800" b="0" i="0" dirty="0">
                <a:effectLst/>
                <a:latin typeface="Quattrocento Sans" panose="020B0502050000020003" pitchFamily="34" charset="0"/>
              </a:rPr>
              <a:t> button to add the script and begin editing the source </a:t>
            </a:r>
            <a:r>
              <a:rPr lang="en-US" sz="1800" b="0" i="0" dirty="0" err="1">
                <a:effectLst/>
                <a:latin typeface="Quattrocento Sans" panose="020B0502050000020003" pitchFamily="34" charset="0"/>
              </a:rPr>
              <a:t>yml</a:t>
            </a:r>
            <a:r>
              <a:rPr lang="en-US" sz="1800" b="0" i="0" dirty="0">
                <a:effectLst/>
                <a:latin typeface="Quattrocento Sans" panose="020B0502050000020003" pitchFamily="34" charset="0"/>
              </a:rPr>
              <a:t>.</a:t>
            </a:r>
          </a:p>
        </p:txBody>
      </p:sp>
      <p:pic>
        <p:nvPicPr>
          <p:cNvPr id="3074" name="Picture 2" descr="Screenshot of the *Actions tab* in GitHub Actions displaying a simple workflow and a button to set up this workflow.">
            <a:extLst>
              <a:ext uri="{FF2B5EF4-FFF2-40B4-BE49-F238E27FC236}">
                <a16:creationId xmlns:a16="http://schemas.microsoft.com/office/drawing/2014/main" id="{0AB66558-5612-3FB8-DEE8-24BDA856D4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122" y="1204115"/>
            <a:ext cx="6094375" cy="2976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507499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a:latin typeface="Quattrocento Sans" panose="020B0502050000020003" pitchFamily="34" charset="0"/>
              </a:rPr>
              <a:t>Where can you find GitHub Actions? </a:t>
            </a:r>
            <a:r>
              <a:rPr lang="en-US" sz="2700" dirty="0">
                <a:latin typeface="Quattrocento Sans" panose="020B0502050000020003" pitchFamily="34" charset="0"/>
              </a:rPr>
              <a:t>(continued)</a:t>
            </a:r>
          </a:p>
        </p:txBody>
      </p:sp>
      <p:sp>
        <p:nvSpPr>
          <p:cNvPr id="9" name="Rectangle 8">
            <a:extLst>
              <a:ext uri="{FF2B5EF4-FFF2-40B4-BE49-F238E27FC236}">
                <a16:creationId xmlns:a16="http://schemas.microsoft.com/office/drawing/2014/main" id="{413D2103-2C97-2DBC-43AA-3494CD1262C7}"/>
              </a:ext>
            </a:extLst>
          </p:cNvPr>
          <p:cNvSpPr/>
          <p:nvPr/>
        </p:nvSpPr>
        <p:spPr>
          <a:xfrm>
            <a:off x="1998745" y="1836517"/>
            <a:ext cx="880014" cy="6492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900254" y="2444341"/>
            <a:ext cx="3076996" cy="2829118"/>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3" name="TextBox 12">
            <a:extLst>
              <a:ext uri="{FF2B5EF4-FFF2-40B4-BE49-F238E27FC236}">
                <a16:creationId xmlns:a16="http://schemas.microsoft.com/office/drawing/2014/main" id="{1851AE00-0FF8-8A51-3EB7-117E591F2211}"/>
              </a:ext>
            </a:extLst>
          </p:cNvPr>
          <p:cNvSpPr txBox="1"/>
          <p:nvPr/>
        </p:nvSpPr>
        <p:spPr>
          <a:xfrm>
            <a:off x="1121150" y="2657841"/>
            <a:ext cx="2746890" cy="369332"/>
          </a:xfrm>
          <a:prstGeom prst="rect">
            <a:avLst/>
          </a:prstGeom>
          <a:noFill/>
        </p:spPr>
        <p:txBody>
          <a:bodyPr wrap="square" rtlCol="0">
            <a:spAutoFit/>
          </a:bodyPr>
          <a:lstStyle/>
          <a:p>
            <a:r>
              <a:rPr lang="en-US" b="1" dirty="0">
                <a:latin typeface="Quattrocento Sans" panose="020B0502050000020003" pitchFamily="34" charset="0"/>
                <a:cs typeface="Segoe UI"/>
              </a:rPr>
              <a:t>GitHub Marketplace</a:t>
            </a:r>
            <a:endParaRPr lang="en-US" dirty="0">
              <a:latin typeface="Quattrocento Sans" panose="020B0502050000020003" pitchFamily="34" charset="0"/>
              <a:cs typeface="Segoe UI"/>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1121150" y="3027173"/>
            <a:ext cx="2636658" cy="1569660"/>
          </a:xfrm>
          <a:prstGeom prst="rect">
            <a:avLst/>
          </a:prstGeom>
          <a:noFill/>
        </p:spPr>
        <p:txBody>
          <a:bodyPr wrap="square" rtlCol="0">
            <a:spAutoFit/>
          </a:bodyPr>
          <a:lstStyle/>
          <a:p>
            <a:pPr algn="just"/>
            <a:r>
              <a:rPr lang="en-US" sz="1600" b="0" i="0" dirty="0">
                <a:solidFill>
                  <a:srgbClr val="161616"/>
                </a:solidFill>
                <a:effectLst/>
                <a:latin typeface="Quattrocento Sans" panose="020B0502050000020003" pitchFamily="34" charset="0"/>
              </a:rPr>
              <a:t>Search for GitHub Actions in the </a:t>
            </a:r>
            <a:r>
              <a:rPr lang="en-US" sz="1600" b="0" i="0" u="none" strike="noStrike" dirty="0">
                <a:solidFill>
                  <a:srgbClr val="00B0F0"/>
                </a:solidFill>
                <a:effectLst/>
                <a:latin typeface="Quattrocento Sans" panose="020B0502050000020003" pitchFamily="34" charset="0"/>
                <a:hlinkClick r:id="rId3">
                  <a:extLst>
                    <a:ext uri="{A12FA001-AC4F-418D-AE19-62706E023703}">
                      <ahyp:hlinkClr xmlns:ahyp="http://schemas.microsoft.com/office/drawing/2018/hyperlinkcolor" val="tx"/>
                    </a:ext>
                  </a:extLst>
                </a:hlinkClick>
              </a:rPr>
              <a:t>GitHub Marketplace</a:t>
            </a:r>
            <a:r>
              <a:rPr lang="en-US" sz="1600" b="0" i="0" dirty="0">
                <a:solidFill>
                  <a:srgbClr val="161616"/>
                </a:solidFill>
                <a:effectLst/>
                <a:latin typeface="Quattrocento Sans" panose="020B0502050000020003" pitchFamily="34" charset="0"/>
              </a:rPr>
              <a:t>. The GitHub Marketplace allows you to discover and purchase tools that extend your workflow.</a:t>
            </a:r>
          </a:p>
        </p:txBody>
      </p:sp>
      <p:sp>
        <p:nvSpPr>
          <p:cNvPr id="18" name="Rectangle 17">
            <a:extLst>
              <a:ext uri="{FF2B5EF4-FFF2-40B4-BE49-F238E27FC236}">
                <a16:creationId xmlns:a16="http://schemas.microsoft.com/office/drawing/2014/main" id="{D112965E-9E60-4F9C-A92E-602A93804B31}"/>
              </a:ext>
            </a:extLst>
          </p:cNvPr>
          <p:cNvSpPr>
            <a:spLocks/>
          </p:cNvSpPr>
          <p:nvPr/>
        </p:nvSpPr>
        <p:spPr>
          <a:xfrm>
            <a:off x="4509726" y="2444339"/>
            <a:ext cx="3076996" cy="2829119"/>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20" name="TextBox 19">
            <a:extLst>
              <a:ext uri="{FF2B5EF4-FFF2-40B4-BE49-F238E27FC236}">
                <a16:creationId xmlns:a16="http://schemas.microsoft.com/office/drawing/2014/main" id="{93D75FCB-5BFF-66AC-DF4C-23F5FB7F322D}"/>
              </a:ext>
            </a:extLst>
          </p:cNvPr>
          <p:cNvSpPr txBox="1"/>
          <p:nvPr/>
        </p:nvSpPr>
        <p:spPr>
          <a:xfrm>
            <a:off x="4730622" y="2657841"/>
            <a:ext cx="2978679" cy="369332"/>
          </a:xfrm>
          <a:prstGeom prst="rect">
            <a:avLst/>
          </a:prstGeom>
          <a:noFill/>
        </p:spPr>
        <p:txBody>
          <a:bodyPr wrap="square" rtlCol="0">
            <a:spAutoFit/>
          </a:bodyPr>
          <a:lstStyle/>
          <a:p>
            <a:r>
              <a:rPr lang="en-US" b="1" dirty="0">
                <a:latin typeface="Quattrocento Sans" panose="020B0502050000020003" pitchFamily="34" charset="0"/>
                <a:cs typeface="Segoe UI"/>
              </a:rPr>
              <a:t>Open-Source Projects</a:t>
            </a:r>
            <a:endParaRPr lang="en-US" dirty="0">
              <a:latin typeface="Quattrocento Sans" panose="020B0502050000020003" pitchFamily="34" charset="0"/>
              <a:cs typeface="Segoe UI"/>
            </a:endParaRPr>
          </a:p>
        </p:txBody>
      </p:sp>
      <p:sp>
        <p:nvSpPr>
          <p:cNvPr id="21" name="TextBox 20">
            <a:extLst>
              <a:ext uri="{FF2B5EF4-FFF2-40B4-BE49-F238E27FC236}">
                <a16:creationId xmlns:a16="http://schemas.microsoft.com/office/drawing/2014/main" id="{2E6695B6-E71F-2F9A-582E-2F4B8865116E}"/>
              </a:ext>
            </a:extLst>
          </p:cNvPr>
          <p:cNvSpPr txBox="1"/>
          <p:nvPr/>
        </p:nvSpPr>
        <p:spPr>
          <a:xfrm>
            <a:off x="4730622" y="3027173"/>
            <a:ext cx="2634682" cy="2062103"/>
          </a:xfrm>
          <a:prstGeom prst="rect">
            <a:avLst/>
          </a:prstGeom>
          <a:noFill/>
        </p:spPr>
        <p:txBody>
          <a:bodyPr wrap="square" rtlCol="0">
            <a:spAutoFit/>
          </a:bodyPr>
          <a:lstStyle/>
          <a:p>
            <a:pPr algn="l"/>
            <a:r>
              <a:rPr lang="en-US" sz="1600" b="0" i="0" dirty="0">
                <a:solidFill>
                  <a:srgbClr val="161616"/>
                </a:solidFill>
                <a:effectLst/>
                <a:latin typeface="Quattrocento Sans" panose="020B0502050000020003" pitchFamily="34" charset="0"/>
              </a:rPr>
              <a:t>Search for open-source projects. For example, the </a:t>
            </a:r>
            <a:r>
              <a:rPr lang="en-US" sz="1600" b="0" i="0" u="none" strike="noStrike" dirty="0">
                <a:solidFill>
                  <a:srgbClr val="00B0F0"/>
                </a:solidFill>
                <a:effectLst/>
                <a:latin typeface="Quattrocento Sans" panose="020B0502050000020003" pitchFamily="34" charset="0"/>
                <a:hlinkClick r:id="rId4">
                  <a:extLst>
                    <a:ext uri="{A12FA001-AC4F-418D-AE19-62706E023703}">
                      <ahyp:hlinkClr xmlns:ahyp="http://schemas.microsoft.com/office/drawing/2018/hyperlinkcolor" val="tx"/>
                    </a:ext>
                  </a:extLst>
                </a:hlinkClick>
              </a:rPr>
              <a:t>GitHub Actions</a:t>
            </a:r>
            <a:r>
              <a:rPr lang="en-US" sz="1600" b="0" i="0" dirty="0">
                <a:solidFill>
                  <a:srgbClr val="00B0F0"/>
                </a:solidFill>
                <a:effectLst/>
                <a:latin typeface="Quattrocento Sans" panose="020B0502050000020003" pitchFamily="34" charset="0"/>
              </a:rPr>
              <a:t> </a:t>
            </a:r>
            <a:r>
              <a:rPr lang="en-US" sz="1600" b="0" i="0" dirty="0">
                <a:solidFill>
                  <a:srgbClr val="161616"/>
                </a:solidFill>
                <a:effectLst/>
                <a:latin typeface="Quattrocento Sans" panose="020B0502050000020003" pitchFamily="34" charset="0"/>
              </a:rPr>
              <a:t>organization features many popular open-source repos containing GitHub Actions you can use.</a:t>
            </a:r>
          </a:p>
        </p:txBody>
      </p:sp>
      <p:sp>
        <p:nvSpPr>
          <p:cNvPr id="22" name="Rectangle 21">
            <a:extLst>
              <a:ext uri="{FF2B5EF4-FFF2-40B4-BE49-F238E27FC236}">
                <a16:creationId xmlns:a16="http://schemas.microsoft.com/office/drawing/2014/main" id="{5635AB01-1EA6-59E6-2D8F-EC1B1BE15C5D}"/>
              </a:ext>
            </a:extLst>
          </p:cNvPr>
          <p:cNvSpPr>
            <a:spLocks/>
          </p:cNvSpPr>
          <p:nvPr/>
        </p:nvSpPr>
        <p:spPr>
          <a:xfrm>
            <a:off x="8116509" y="2444339"/>
            <a:ext cx="3076996" cy="2829119"/>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23" name="TextBox 22">
            <a:extLst>
              <a:ext uri="{FF2B5EF4-FFF2-40B4-BE49-F238E27FC236}">
                <a16:creationId xmlns:a16="http://schemas.microsoft.com/office/drawing/2014/main" id="{0955F2A6-C187-ABE9-EA58-81D63AE7FD82}"/>
              </a:ext>
            </a:extLst>
          </p:cNvPr>
          <p:cNvSpPr txBox="1"/>
          <p:nvPr/>
        </p:nvSpPr>
        <p:spPr>
          <a:xfrm>
            <a:off x="8337405" y="2657841"/>
            <a:ext cx="2674941" cy="369332"/>
          </a:xfrm>
          <a:prstGeom prst="rect">
            <a:avLst/>
          </a:prstGeom>
          <a:noFill/>
        </p:spPr>
        <p:txBody>
          <a:bodyPr wrap="square" rtlCol="0">
            <a:spAutoFit/>
          </a:bodyPr>
          <a:lstStyle/>
          <a:p>
            <a:r>
              <a:rPr lang="en-US" b="1" dirty="0">
                <a:latin typeface="Quattrocento Sans" panose="020B0502050000020003" pitchFamily="34" charset="0"/>
                <a:cs typeface="Segoe UI"/>
              </a:rPr>
              <a:t>From Scratch</a:t>
            </a:r>
            <a:endParaRPr lang="en-US" sz="1600" dirty="0">
              <a:latin typeface="Quattrocento Sans" panose="020B0502050000020003" pitchFamily="34" charset="0"/>
              <a:cs typeface="Segoe UI"/>
            </a:endParaRPr>
          </a:p>
        </p:txBody>
      </p:sp>
      <p:sp>
        <p:nvSpPr>
          <p:cNvPr id="24" name="TextBox 23">
            <a:extLst>
              <a:ext uri="{FF2B5EF4-FFF2-40B4-BE49-F238E27FC236}">
                <a16:creationId xmlns:a16="http://schemas.microsoft.com/office/drawing/2014/main" id="{951D0793-2928-1CED-F1CE-4F18A3B552CA}"/>
              </a:ext>
            </a:extLst>
          </p:cNvPr>
          <p:cNvSpPr txBox="1"/>
          <p:nvPr/>
        </p:nvSpPr>
        <p:spPr>
          <a:xfrm>
            <a:off x="8337405" y="3022264"/>
            <a:ext cx="2674941" cy="1569660"/>
          </a:xfrm>
          <a:prstGeom prst="rect">
            <a:avLst/>
          </a:prstGeom>
          <a:noFill/>
        </p:spPr>
        <p:txBody>
          <a:bodyPr wrap="square" rtlCol="0">
            <a:spAutoFit/>
          </a:bodyPr>
          <a:lstStyle/>
          <a:p>
            <a:pPr>
              <a:spcAft>
                <a:spcPts val="1200"/>
              </a:spcAft>
            </a:pPr>
            <a:r>
              <a:rPr lang="en-US" sz="1600" b="0" i="0" dirty="0">
                <a:effectLst/>
                <a:latin typeface="Quattrocento Sans" panose="020B0502050000020003" pitchFamily="34" charset="0"/>
              </a:rPr>
              <a:t>Write your own GitHub Actions from scratch. You can make them open source, or even publish them to the GitHub Marketplace.</a:t>
            </a:r>
          </a:p>
        </p:txBody>
      </p:sp>
      <p:sp>
        <p:nvSpPr>
          <p:cNvPr id="7" name="Rectangle 6">
            <a:extLst>
              <a:ext uri="{FF2B5EF4-FFF2-40B4-BE49-F238E27FC236}">
                <a16:creationId xmlns:a16="http://schemas.microsoft.com/office/drawing/2014/main" id="{16FBC55A-B94F-DD46-C213-E904FB0D3CD8}"/>
              </a:ext>
            </a:extLst>
          </p:cNvPr>
          <p:cNvSpPr/>
          <p:nvPr/>
        </p:nvSpPr>
        <p:spPr>
          <a:xfrm>
            <a:off x="5606872" y="1859501"/>
            <a:ext cx="880014" cy="5848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5" name="Rectangle 14">
            <a:extLst>
              <a:ext uri="{FF2B5EF4-FFF2-40B4-BE49-F238E27FC236}">
                <a16:creationId xmlns:a16="http://schemas.microsoft.com/office/drawing/2014/main" id="{CA13B9B3-69E9-C79C-3826-D54C6576D731}"/>
              </a:ext>
            </a:extLst>
          </p:cNvPr>
          <p:cNvSpPr/>
          <p:nvPr/>
        </p:nvSpPr>
        <p:spPr>
          <a:xfrm>
            <a:off x="9214999" y="1819833"/>
            <a:ext cx="880014" cy="520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5499" y="1171976"/>
            <a:ext cx="9597068"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sz="1800" b="0" i="0" dirty="0">
                <a:effectLst/>
                <a:latin typeface="Quattrocento Sans" panose="020B0502050000020003" pitchFamily="34" charset="0"/>
              </a:rPr>
              <a:t>However, beyond those GitHub Actions featured on the Actions tab, you can:</a:t>
            </a:r>
          </a:p>
          <a:p>
            <a:pPr marL="0" indent="0" algn="l">
              <a:buNone/>
            </a:pPr>
            <a:endParaRPr lang="en-US" sz="1800" b="0" i="0" dirty="0">
              <a:effectLst/>
              <a:latin typeface="Quattrocento Sans" panose="020B0502050000020003" pitchFamily="34" charset="0"/>
            </a:endParaRP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6" name="Graphic 5" descr="Store outline">
            <a:extLst>
              <a:ext uri="{FF2B5EF4-FFF2-40B4-BE49-F238E27FC236}">
                <a16:creationId xmlns:a16="http://schemas.microsoft.com/office/drawing/2014/main" id="{ECEC1A42-3160-860B-3242-CECEE471FF9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96987" y="1664417"/>
            <a:ext cx="671745" cy="671745"/>
          </a:xfrm>
          <a:prstGeom prst="rect">
            <a:avLst/>
          </a:prstGeom>
        </p:spPr>
      </p:pic>
      <p:pic>
        <p:nvPicPr>
          <p:cNvPr id="11" name="Graphic 10" descr="World outline">
            <a:extLst>
              <a:ext uri="{FF2B5EF4-FFF2-40B4-BE49-F238E27FC236}">
                <a16:creationId xmlns:a16="http://schemas.microsoft.com/office/drawing/2014/main" id="{68D94161-4ED5-C143-198B-C43EC694CF0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11006" y="1668985"/>
            <a:ext cx="671745" cy="671745"/>
          </a:xfrm>
          <a:prstGeom prst="rect">
            <a:avLst/>
          </a:prstGeom>
        </p:spPr>
      </p:pic>
      <p:pic>
        <p:nvPicPr>
          <p:cNvPr id="17" name="Graphic 16" descr="Programmer male outline">
            <a:extLst>
              <a:ext uri="{FF2B5EF4-FFF2-40B4-BE49-F238E27FC236}">
                <a16:creationId xmlns:a16="http://schemas.microsoft.com/office/drawing/2014/main" id="{33172C28-1F93-3D66-779F-565E511240C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19133" y="1582217"/>
            <a:ext cx="671745" cy="671745"/>
          </a:xfrm>
          <a:prstGeom prst="rect">
            <a:avLst/>
          </a:prstGeom>
        </p:spPr>
      </p:pic>
    </p:spTree>
    <p:extLst>
      <p:ext uri="{BB962C8B-B14F-4D97-AF65-F5344CB8AC3E}">
        <p14:creationId xmlns:p14="http://schemas.microsoft.com/office/powerpoint/2010/main" val="429119873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Using open-source GitHub Actions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52657" y="1898391"/>
            <a:ext cx="10384538" cy="492442"/>
          </a:xfrm>
          <a:prstGeom prst="rect">
            <a:avLst/>
          </a:prstGeom>
          <a:solidFill>
            <a:schemeClr val="bg1"/>
          </a:solid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dirty="0">
                <a:latin typeface="Quattrocento Sans" panose="020B0502050000020003" pitchFamily="34" charset="0"/>
              </a:rPr>
              <a:t>Many GitHub Actions are open source and available for anyone who wants to use them. However, just like with any open-source software, you need to carefully check them before using them in your project. Similar to recommended community standards with open-source software such as including a README, code of conduct, contributing file, and issue templates, you can follow these recommendations when using GitHub Actions:</a:t>
            </a:r>
          </a:p>
        </p:txBody>
      </p:sp>
      <p:sp>
        <p:nvSpPr>
          <p:cNvPr id="9" name="TextBox 8">
            <a:extLst>
              <a:ext uri="{FF2B5EF4-FFF2-40B4-BE49-F238E27FC236}">
                <a16:creationId xmlns:a16="http://schemas.microsoft.com/office/drawing/2014/main" id="{9BE325B2-D04E-CD42-D966-4B58FFB3A17E}"/>
              </a:ext>
            </a:extLst>
          </p:cNvPr>
          <p:cNvSpPr txBox="1"/>
          <p:nvPr/>
        </p:nvSpPr>
        <p:spPr>
          <a:xfrm>
            <a:off x="652656" y="3291213"/>
            <a:ext cx="10533085" cy="2708434"/>
          </a:xfrm>
          <a:prstGeom prst="rect">
            <a:avLst/>
          </a:prstGeom>
          <a:noFill/>
        </p:spPr>
        <p:txBody>
          <a:bodyPr wrap="square">
            <a:spAutoFit/>
          </a:bodyPr>
          <a:lstStyle/>
          <a:p>
            <a:pPr marL="342900" indent="-342900" algn="just">
              <a:spcAft>
                <a:spcPts val="1200"/>
              </a:spcAft>
              <a:buFont typeface="Arial" panose="020B0604020202020204" pitchFamily="34" charset="0"/>
              <a:buChar char="•"/>
            </a:pPr>
            <a:r>
              <a:rPr lang="en-US" sz="2000" dirty="0">
                <a:latin typeface="Quattrocento Sans" panose="020B0502050000020003" pitchFamily="34" charset="0"/>
                <a:cs typeface="Segoe UI" panose="020B0502040204020203" pitchFamily="34" charset="0"/>
              </a:rPr>
              <a:t>Review the action's </a:t>
            </a:r>
            <a:r>
              <a:rPr lang="en-US" dirty="0" err="1">
                <a:highlight>
                  <a:srgbClr val="C0C0C0"/>
                </a:highlight>
                <a:latin typeface="Roboto Mono" pitchFamily="49" charset="0"/>
                <a:ea typeface="Roboto Mono" pitchFamily="49" charset="0"/>
                <a:cs typeface="Segoe UI" panose="020B0502040204020203" pitchFamily="34" charset="0"/>
              </a:rPr>
              <a:t>action.yml</a:t>
            </a:r>
            <a:r>
              <a:rPr lang="en-US" sz="2000" dirty="0">
                <a:latin typeface="Quattrocento Sans" panose="020B0502050000020003" pitchFamily="34" charset="0"/>
                <a:cs typeface="Segoe UI" panose="020B0502040204020203" pitchFamily="34" charset="0"/>
              </a:rPr>
              <a:t> file for inputs, outputs, and to make sure the code does what it says it does.</a:t>
            </a:r>
          </a:p>
          <a:p>
            <a:pPr marL="342900" indent="-342900" algn="just">
              <a:spcAft>
                <a:spcPts val="1200"/>
              </a:spcAft>
              <a:buFont typeface="Arial" panose="020B0604020202020204" pitchFamily="34" charset="0"/>
              <a:buChar char="•"/>
            </a:pPr>
            <a:r>
              <a:rPr lang="en-US" sz="2000" dirty="0">
                <a:latin typeface="Quattrocento Sans" panose="020B0502050000020003" pitchFamily="34" charset="0"/>
                <a:cs typeface="Segoe UI" panose="020B0502040204020203" pitchFamily="34" charset="0"/>
              </a:rPr>
              <a:t>Check if the action is in the GitHub Marketplace. This is a good check, even if an action doesn't have to be on the GitHub Marketplace to be valid.</a:t>
            </a:r>
          </a:p>
          <a:p>
            <a:pPr marL="342900" indent="-342900" algn="just">
              <a:spcAft>
                <a:spcPts val="1200"/>
              </a:spcAft>
              <a:buFont typeface="Arial" panose="020B0604020202020204" pitchFamily="34" charset="0"/>
              <a:buChar char="•"/>
            </a:pPr>
            <a:r>
              <a:rPr lang="en-US" sz="2000" dirty="0">
                <a:latin typeface="Quattrocento Sans" panose="020B0502050000020003" pitchFamily="34" charset="0"/>
                <a:cs typeface="Segoe UI" panose="020B0502040204020203" pitchFamily="34" charset="0"/>
              </a:rPr>
              <a:t>Check if the action is verified in the GitHub Marketplace. This means that GitHub has approved the use of this action. However, you should still review it before using it.</a:t>
            </a:r>
          </a:p>
          <a:p>
            <a:pPr marL="342900" indent="-342900" algn="just">
              <a:spcAft>
                <a:spcPts val="1200"/>
              </a:spcAft>
              <a:buFont typeface="Arial" panose="020B0604020202020204" pitchFamily="34" charset="0"/>
              <a:buChar char="•"/>
            </a:pPr>
            <a:r>
              <a:rPr lang="en-US" sz="2000" dirty="0">
                <a:latin typeface="Quattrocento Sans" panose="020B0502050000020003" pitchFamily="34" charset="0"/>
                <a:cs typeface="Segoe UI" panose="020B0502040204020203" pitchFamily="34" charset="0"/>
              </a:rPr>
              <a:t>Include the version of the action you're using by specifying a Git ref, SHA, or tag.</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3277209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a:latin typeface="Quattrocento Sans" panose="020B0502050000020003" pitchFamily="34" charset="0"/>
              </a:rPr>
              <a:t>Types of GitHub actions</a:t>
            </a:r>
          </a:p>
        </p:txBody>
      </p:sp>
      <p:sp>
        <p:nvSpPr>
          <p:cNvPr id="9" name="Rectangle 8">
            <a:extLst>
              <a:ext uri="{FF2B5EF4-FFF2-40B4-BE49-F238E27FC236}">
                <a16:creationId xmlns:a16="http://schemas.microsoft.com/office/drawing/2014/main" id="{413D2103-2C97-2DBC-43AA-3494CD1262C7}"/>
              </a:ext>
            </a:extLst>
          </p:cNvPr>
          <p:cNvSpPr/>
          <p:nvPr/>
        </p:nvSpPr>
        <p:spPr>
          <a:xfrm>
            <a:off x="1998745" y="1836517"/>
            <a:ext cx="880014" cy="6492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900254" y="2444341"/>
            <a:ext cx="3076996" cy="2516915"/>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1121863" y="2652932"/>
            <a:ext cx="2636658" cy="2308324"/>
          </a:xfrm>
          <a:prstGeom prst="rect">
            <a:avLst/>
          </a:prstGeom>
          <a:noFill/>
        </p:spPr>
        <p:txBody>
          <a:bodyPr wrap="square" rtlCol="0">
            <a:spAutoFit/>
          </a:bodyPr>
          <a:lstStyle/>
          <a:p>
            <a:pPr algn="just"/>
            <a:r>
              <a:rPr lang="en-US" sz="1600" b="0" i="0" dirty="0">
                <a:solidFill>
                  <a:srgbClr val="161616"/>
                </a:solidFill>
                <a:effectLst/>
                <a:latin typeface="Quattrocento Sans" panose="020B0502050000020003" pitchFamily="34" charset="0"/>
              </a:rPr>
              <a:t>With </a:t>
            </a:r>
            <a:r>
              <a:rPr lang="en-US" sz="1600" b="1" i="0" dirty="0">
                <a:solidFill>
                  <a:srgbClr val="161616"/>
                </a:solidFill>
                <a:effectLst/>
                <a:latin typeface="Quattrocento Sans" panose="020B0502050000020003" pitchFamily="34" charset="0"/>
              </a:rPr>
              <a:t>container actions</a:t>
            </a:r>
            <a:r>
              <a:rPr lang="en-US" sz="1600" b="0" i="0" dirty="0">
                <a:solidFill>
                  <a:srgbClr val="161616"/>
                </a:solidFill>
                <a:effectLst/>
                <a:latin typeface="Quattrocento Sans" panose="020B0502050000020003" pitchFamily="34" charset="0"/>
              </a:rPr>
              <a:t>, the environment is part of the action's code. These actions can only be run in a Linux environment that GitHub hosts. Container actions support many different languages.</a:t>
            </a:r>
          </a:p>
          <a:p>
            <a:pPr algn="just"/>
            <a:endParaRPr lang="en-US" sz="1600" b="0" i="0" dirty="0">
              <a:solidFill>
                <a:srgbClr val="161616"/>
              </a:solidFill>
              <a:effectLst/>
              <a:latin typeface="Quattrocento Sans" panose="020B0502050000020003" pitchFamily="34" charset="0"/>
            </a:endParaRPr>
          </a:p>
        </p:txBody>
      </p:sp>
      <p:sp>
        <p:nvSpPr>
          <p:cNvPr id="18" name="Rectangle 17">
            <a:extLst>
              <a:ext uri="{FF2B5EF4-FFF2-40B4-BE49-F238E27FC236}">
                <a16:creationId xmlns:a16="http://schemas.microsoft.com/office/drawing/2014/main" id="{D112965E-9E60-4F9C-A92E-602A93804B31}"/>
              </a:ext>
            </a:extLst>
          </p:cNvPr>
          <p:cNvSpPr>
            <a:spLocks/>
          </p:cNvSpPr>
          <p:nvPr/>
        </p:nvSpPr>
        <p:spPr>
          <a:xfrm>
            <a:off x="4509726" y="2444339"/>
            <a:ext cx="3076996" cy="3200876"/>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21" name="TextBox 20">
            <a:extLst>
              <a:ext uri="{FF2B5EF4-FFF2-40B4-BE49-F238E27FC236}">
                <a16:creationId xmlns:a16="http://schemas.microsoft.com/office/drawing/2014/main" id="{2E6695B6-E71F-2F9A-582E-2F4B8865116E}"/>
              </a:ext>
            </a:extLst>
          </p:cNvPr>
          <p:cNvSpPr txBox="1"/>
          <p:nvPr/>
        </p:nvSpPr>
        <p:spPr>
          <a:xfrm>
            <a:off x="4729537" y="2650810"/>
            <a:ext cx="2634682" cy="3046988"/>
          </a:xfrm>
          <a:prstGeom prst="rect">
            <a:avLst/>
          </a:prstGeom>
          <a:noFill/>
        </p:spPr>
        <p:txBody>
          <a:bodyPr wrap="square" rtlCol="0">
            <a:spAutoFit/>
          </a:bodyPr>
          <a:lstStyle/>
          <a:p>
            <a:pPr algn="just"/>
            <a:r>
              <a:rPr lang="en-US" sz="1600" b="1" i="0" dirty="0">
                <a:solidFill>
                  <a:srgbClr val="161616"/>
                </a:solidFill>
                <a:effectLst/>
                <a:latin typeface="Quattrocento Sans" panose="020B0502050000020003" pitchFamily="34" charset="0"/>
              </a:rPr>
              <a:t>JavaScript actions </a:t>
            </a:r>
            <a:r>
              <a:rPr lang="en-US" sz="1600" b="0" i="0" dirty="0">
                <a:solidFill>
                  <a:srgbClr val="161616"/>
                </a:solidFill>
                <a:effectLst/>
                <a:latin typeface="Quattrocento Sans" panose="020B0502050000020003" pitchFamily="34" charset="0"/>
              </a:rPr>
              <a:t>don't include the environment in the code. You'll have to specify the environment to execute these actions. You can run these actions in a VM (virtual machine) in the cloud or on-premises. JavaScript actions support Linux, macOS, and Windows environments.</a:t>
            </a:r>
          </a:p>
          <a:p>
            <a:pPr algn="l"/>
            <a:endParaRPr lang="en-US" sz="1600" b="0" i="0" dirty="0">
              <a:solidFill>
                <a:srgbClr val="161616"/>
              </a:solidFill>
              <a:effectLst/>
              <a:latin typeface="Quattrocento Sans" panose="020B0502050000020003" pitchFamily="34" charset="0"/>
            </a:endParaRPr>
          </a:p>
        </p:txBody>
      </p:sp>
      <p:sp>
        <p:nvSpPr>
          <p:cNvPr id="22" name="Rectangle 21">
            <a:extLst>
              <a:ext uri="{FF2B5EF4-FFF2-40B4-BE49-F238E27FC236}">
                <a16:creationId xmlns:a16="http://schemas.microsoft.com/office/drawing/2014/main" id="{5635AB01-1EA6-59E6-2D8F-EC1B1BE15C5D}"/>
              </a:ext>
            </a:extLst>
          </p:cNvPr>
          <p:cNvSpPr>
            <a:spLocks/>
          </p:cNvSpPr>
          <p:nvPr/>
        </p:nvSpPr>
        <p:spPr>
          <a:xfrm>
            <a:off x="8116509" y="2444339"/>
            <a:ext cx="3076996" cy="3200876"/>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24" name="TextBox 23">
            <a:extLst>
              <a:ext uri="{FF2B5EF4-FFF2-40B4-BE49-F238E27FC236}">
                <a16:creationId xmlns:a16="http://schemas.microsoft.com/office/drawing/2014/main" id="{951D0793-2928-1CED-F1CE-4F18A3B552CA}"/>
              </a:ext>
            </a:extLst>
          </p:cNvPr>
          <p:cNvSpPr txBox="1"/>
          <p:nvPr/>
        </p:nvSpPr>
        <p:spPr>
          <a:xfrm>
            <a:off x="8339009" y="2650810"/>
            <a:ext cx="2674941" cy="3200876"/>
          </a:xfrm>
          <a:prstGeom prst="rect">
            <a:avLst/>
          </a:prstGeom>
          <a:noFill/>
        </p:spPr>
        <p:txBody>
          <a:bodyPr wrap="square" rtlCol="0">
            <a:spAutoFit/>
          </a:bodyPr>
          <a:lstStyle/>
          <a:p>
            <a:pPr algn="just">
              <a:spcAft>
                <a:spcPts val="1200"/>
              </a:spcAft>
            </a:pPr>
            <a:r>
              <a:rPr lang="en-US" sz="1600" b="1" i="0" dirty="0">
                <a:effectLst/>
                <a:latin typeface="Quattrocento Sans" panose="020B0502050000020003" pitchFamily="34" charset="0"/>
              </a:rPr>
              <a:t>Composite actions </a:t>
            </a:r>
            <a:r>
              <a:rPr lang="en-US" sz="1600" b="0" i="0" dirty="0">
                <a:effectLst/>
                <a:latin typeface="Quattrocento Sans" panose="020B0502050000020003" pitchFamily="34" charset="0"/>
              </a:rPr>
              <a:t>allow you to combine multiple workflow steps within one action. For example, you can use this feature to bundle together multiple run commands into an action and then have a workflow that executes the bundled commands as a single step using that action.</a:t>
            </a:r>
          </a:p>
          <a:p>
            <a:pPr>
              <a:spcAft>
                <a:spcPts val="1200"/>
              </a:spcAft>
            </a:pPr>
            <a:endParaRPr lang="en-US" sz="1600" b="0" i="0" dirty="0">
              <a:effectLst/>
              <a:latin typeface="Quattrocento Sans" panose="020B0502050000020003" pitchFamily="34" charset="0"/>
            </a:endParaRPr>
          </a:p>
        </p:txBody>
      </p:sp>
      <p:sp>
        <p:nvSpPr>
          <p:cNvPr id="7" name="Rectangle 6">
            <a:extLst>
              <a:ext uri="{FF2B5EF4-FFF2-40B4-BE49-F238E27FC236}">
                <a16:creationId xmlns:a16="http://schemas.microsoft.com/office/drawing/2014/main" id="{16FBC55A-B94F-DD46-C213-E904FB0D3CD8}"/>
              </a:ext>
            </a:extLst>
          </p:cNvPr>
          <p:cNvSpPr/>
          <p:nvPr/>
        </p:nvSpPr>
        <p:spPr>
          <a:xfrm>
            <a:off x="5606872" y="1859501"/>
            <a:ext cx="880014" cy="5848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5" name="Rectangle 14">
            <a:extLst>
              <a:ext uri="{FF2B5EF4-FFF2-40B4-BE49-F238E27FC236}">
                <a16:creationId xmlns:a16="http://schemas.microsoft.com/office/drawing/2014/main" id="{CA13B9B3-69E9-C79C-3826-D54C6576D731}"/>
              </a:ext>
            </a:extLst>
          </p:cNvPr>
          <p:cNvSpPr/>
          <p:nvPr/>
        </p:nvSpPr>
        <p:spPr>
          <a:xfrm>
            <a:off x="9214999" y="1819833"/>
            <a:ext cx="880014" cy="520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9438" y="1034788"/>
            <a:ext cx="10748030"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sz="1800" b="0" i="0" dirty="0">
                <a:effectLst/>
                <a:latin typeface="Quattrocento Sans" panose="020B0502050000020003" pitchFamily="34" charset="0"/>
              </a:rPr>
              <a:t>There are </a:t>
            </a:r>
            <a:r>
              <a:rPr lang="en-US" sz="1800" b="1" i="0" dirty="0">
                <a:effectLst/>
                <a:latin typeface="Quattrocento Sans" panose="020B0502050000020003" pitchFamily="34" charset="0"/>
              </a:rPr>
              <a:t>three</a:t>
            </a:r>
            <a:r>
              <a:rPr lang="en-US" sz="1800" b="0" i="0" dirty="0">
                <a:effectLst/>
                <a:latin typeface="Quattrocento Sans" panose="020B0502050000020003" pitchFamily="34" charset="0"/>
              </a:rPr>
              <a:t> types of GitHub actions: container actions, JavaScript actions, and composite actions.</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8" name="Graphic 7" descr="Box outline">
            <a:extLst>
              <a:ext uri="{FF2B5EF4-FFF2-40B4-BE49-F238E27FC236}">
                <a16:creationId xmlns:a16="http://schemas.microsoft.com/office/drawing/2014/main" id="{E80F6268-F6AF-352B-242B-6885491514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79333" y="1672918"/>
            <a:ext cx="718838" cy="718838"/>
          </a:xfrm>
          <a:prstGeom prst="rect">
            <a:avLst/>
          </a:prstGeom>
        </p:spPr>
      </p:pic>
      <p:pic>
        <p:nvPicPr>
          <p:cNvPr id="16" name="Graphic 15" descr="Web design outline">
            <a:extLst>
              <a:ext uri="{FF2B5EF4-FFF2-40B4-BE49-F238E27FC236}">
                <a16:creationId xmlns:a16="http://schemas.microsoft.com/office/drawing/2014/main" id="{7F02B2EE-93DB-7C78-4A51-CFEA7146DC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87460" y="1672918"/>
            <a:ext cx="718838" cy="718838"/>
          </a:xfrm>
          <a:prstGeom prst="rect">
            <a:avLst/>
          </a:prstGeom>
        </p:spPr>
      </p:pic>
      <p:pic>
        <p:nvPicPr>
          <p:cNvPr id="25" name="Graphic 24" descr="Puzzle pieces outline">
            <a:extLst>
              <a:ext uri="{FF2B5EF4-FFF2-40B4-BE49-F238E27FC236}">
                <a16:creationId xmlns:a16="http://schemas.microsoft.com/office/drawing/2014/main" id="{B3D2CAE8-856B-6B56-5CF1-0E64060C522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17060" y="1626365"/>
            <a:ext cx="718838" cy="718838"/>
          </a:xfrm>
          <a:prstGeom prst="rect">
            <a:avLst/>
          </a:prstGeom>
        </p:spPr>
      </p:pic>
    </p:spTree>
    <p:extLst>
      <p:ext uri="{BB962C8B-B14F-4D97-AF65-F5344CB8AC3E}">
        <p14:creationId xmlns:p14="http://schemas.microsoft.com/office/powerpoint/2010/main" val="297406764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What is a GitHub Actions workflow?</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9D030901-830F-E483-BA77-449EDAD50BC7}"/>
              </a:ext>
            </a:extLst>
          </p:cNvPr>
          <p:cNvSpPr/>
          <p:nvPr/>
        </p:nvSpPr>
        <p:spPr>
          <a:xfrm>
            <a:off x="6096000" y="2775708"/>
            <a:ext cx="5330687" cy="3587217"/>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643374" y="3088879"/>
            <a:ext cx="4003990" cy="296087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tx2">
                    <a:lumMod val="50000"/>
                    <a:lumOff val="50000"/>
                  </a:schemeClr>
                </a:solidFill>
                <a:latin typeface="Roboto Mono" pitchFamily="49" charset="0"/>
                <a:ea typeface="Roboto Mono" pitchFamily="49" charset="0"/>
              </a:rPr>
              <a:t>name: </a:t>
            </a:r>
            <a:r>
              <a:rPr lang="en-US" dirty="0">
                <a:solidFill>
                  <a:srgbClr val="BE4C41"/>
                </a:solidFill>
                <a:latin typeface="Roboto Mono" pitchFamily="49" charset="0"/>
                <a:ea typeface="Roboto Mono" pitchFamily="49" charset="0"/>
              </a:rPr>
              <a:t>A workflow for my Hello World </a:t>
            </a:r>
            <a:r>
              <a:rPr lang="en-US" dirty="0">
                <a:solidFill>
                  <a:schemeClr val="tx2">
                    <a:lumMod val="50000"/>
                    <a:lumOff val="50000"/>
                  </a:schemeClr>
                </a:solidFill>
                <a:latin typeface="Roboto Mono" pitchFamily="49" charset="0"/>
                <a:ea typeface="Roboto Mono" pitchFamily="49" charset="0"/>
              </a:rPr>
              <a:t>file</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on: </a:t>
            </a:r>
            <a:r>
              <a:rPr lang="en-US" dirty="0">
                <a:solidFill>
                  <a:srgbClr val="BE4C41"/>
                </a:solidFill>
                <a:latin typeface="Roboto Mono" pitchFamily="49" charset="0"/>
                <a:ea typeface="Roboto Mono" pitchFamily="49" charset="0"/>
              </a:rPr>
              <a:t>push</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jobs:</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build:</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name: </a:t>
            </a:r>
            <a:r>
              <a:rPr lang="en-US" dirty="0">
                <a:solidFill>
                  <a:srgbClr val="BE4C41"/>
                </a:solidFill>
                <a:latin typeface="Roboto Mono" pitchFamily="49" charset="0"/>
                <a:ea typeface="Roboto Mono" pitchFamily="49" charset="0"/>
              </a:rPr>
              <a:t>Hello world action</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runs-on: </a:t>
            </a:r>
            <a:r>
              <a:rPr lang="en-US" dirty="0">
                <a:solidFill>
                  <a:srgbClr val="BE4C41"/>
                </a:solidFill>
                <a:latin typeface="Roboto Mono" pitchFamily="49" charset="0"/>
                <a:ea typeface="Roboto Mono" pitchFamily="49" charset="0"/>
              </a:rPr>
              <a:t>ubuntu-latest</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steps:</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 uses: </a:t>
            </a:r>
            <a:r>
              <a:rPr lang="en-US" dirty="0">
                <a:solidFill>
                  <a:srgbClr val="BE4C41"/>
                </a:solidFill>
                <a:latin typeface="Roboto Mono" pitchFamily="49" charset="0"/>
                <a:ea typeface="Roboto Mono" pitchFamily="49" charset="0"/>
              </a:rPr>
              <a:t>actions/checkout@v1</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 uses: </a:t>
            </a:r>
            <a:r>
              <a:rPr lang="en-US" dirty="0">
                <a:solidFill>
                  <a:srgbClr val="BE4C41"/>
                </a:solidFill>
                <a:latin typeface="Roboto Mono" pitchFamily="49" charset="0"/>
                <a:ea typeface="Roboto Mono" pitchFamily="49" charset="0"/>
              </a:rPr>
              <a:t>./action-a</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with:</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MY_NAME: </a:t>
            </a:r>
            <a:r>
              <a:rPr lang="en-US" dirty="0">
                <a:solidFill>
                  <a:srgbClr val="BE4C41"/>
                </a:solidFill>
                <a:latin typeface="Roboto Mono" pitchFamily="49" charset="0"/>
                <a:ea typeface="Roboto Mono" pitchFamily="49" charset="0"/>
              </a:rPr>
              <a:t>"Mona"</a:t>
            </a: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765312" y="1192572"/>
            <a:ext cx="10661375" cy="158313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A </a:t>
            </a:r>
            <a:r>
              <a:rPr lang="en-US" sz="2000" b="0" i="1" dirty="0">
                <a:solidFill>
                  <a:srgbClr val="161616"/>
                </a:solidFill>
                <a:effectLst/>
                <a:latin typeface="Quattrocento Sans" panose="020B0502050000020003" pitchFamily="34" charset="0"/>
                <a:ea typeface="Roboto Mono" pitchFamily="49" charset="0"/>
              </a:rPr>
              <a:t>GitHub Actions workflow</a:t>
            </a:r>
            <a:r>
              <a:rPr lang="en-US" sz="2000" b="0" i="0" dirty="0">
                <a:solidFill>
                  <a:srgbClr val="161616"/>
                </a:solidFill>
                <a:effectLst/>
                <a:latin typeface="Quattrocento Sans" panose="020B0502050000020003" pitchFamily="34" charset="0"/>
                <a:ea typeface="Roboto Mono" pitchFamily="49" charset="0"/>
              </a:rPr>
              <a:t> is a process that you set up in your repository to automate software-development lifecycle tasks, including GitHub Actions. With a workflow, you can build, test, package, release, and deploy any project on GitHub.</a:t>
            </a:r>
          </a:p>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To create a workflow, you add actions to a .</a:t>
            </a:r>
            <a:r>
              <a:rPr lang="en-US" sz="2000" b="0" i="0" dirty="0" err="1">
                <a:solidFill>
                  <a:srgbClr val="161616"/>
                </a:solidFill>
                <a:effectLst/>
                <a:latin typeface="Quattrocento Sans" panose="020B0502050000020003" pitchFamily="34" charset="0"/>
                <a:ea typeface="Roboto Mono" pitchFamily="49" charset="0"/>
              </a:rPr>
              <a:t>yml</a:t>
            </a:r>
            <a:r>
              <a:rPr lang="en-US" sz="2000" b="0" i="0" dirty="0">
                <a:solidFill>
                  <a:srgbClr val="161616"/>
                </a:solidFill>
                <a:effectLst/>
                <a:latin typeface="Quattrocento Sans" panose="020B0502050000020003" pitchFamily="34" charset="0"/>
                <a:ea typeface="Roboto Mono" pitchFamily="49" charset="0"/>
              </a:rPr>
              <a:t> file in the .</a:t>
            </a:r>
            <a:r>
              <a:rPr lang="en-US" sz="1800" b="0" i="0" dirty="0" err="1">
                <a:solidFill>
                  <a:srgbClr val="161616"/>
                </a:solidFill>
                <a:effectLst/>
                <a:highlight>
                  <a:srgbClr val="C0C0C0"/>
                </a:highlight>
                <a:latin typeface="Roboto Mono" pitchFamily="49" charset="0"/>
                <a:ea typeface="Roboto Mono" pitchFamily="49" charset="0"/>
              </a:rPr>
              <a:t>github</a:t>
            </a:r>
            <a:r>
              <a:rPr lang="en-US" sz="1800" b="0" i="0" dirty="0">
                <a:solidFill>
                  <a:srgbClr val="161616"/>
                </a:solidFill>
                <a:effectLst/>
                <a:highlight>
                  <a:srgbClr val="C0C0C0"/>
                </a:highlight>
                <a:latin typeface="Roboto Mono" pitchFamily="49" charset="0"/>
                <a:ea typeface="Roboto Mono" pitchFamily="49" charset="0"/>
              </a:rPr>
              <a:t>/workflows</a:t>
            </a:r>
            <a:r>
              <a:rPr lang="en-US" sz="2000" b="0" i="0" dirty="0">
                <a:solidFill>
                  <a:srgbClr val="161616"/>
                </a:solidFill>
                <a:effectLst/>
                <a:latin typeface="Quattrocento Sans" panose="020B0502050000020003" pitchFamily="34" charset="0"/>
                <a:ea typeface="Roboto Mono" pitchFamily="49" charset="0"/>
              </a:rPr>
              <a:t> directory in your GitHub repository.</a:t>
            </a:r>
          </a:p>
        </p:txBody>
      </p:sp>
      <p:sp>
        <p:nvSpPr>
          <p:cNvPr id="6" name="Text Placeholder 2">
            <a:extLst>
              <a:ext uri="{FF2B5EF4-FFF2-40B4-BE49-F238E27FC236}">
                <a16:creationId xmlns:a16="http://schemas.microsoft.com/office/drawing/2014/main" id="{310374EB-DF36-A218-2655-5BF4A1B4304D}"/>
              </a:ext>
            </a:extLst>
          </p:cNvPr>
          <p:cNvSpPr txBox="1">
            <a:spLocks/>
          </p:cNvSpPr>
          <p:nvPr/>
        </p:nvSpPr>
        <p:spPr>
          <a:xfrm>
            <a:off x="765312" y="3859731"/>
            <a:ext cx="4799917" cy="492443"/>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ea typeface="Roboto Mono" pitchFamily="49" charset="0"/>
              </a:rPr>
              <a:t>In the exercise coming up, your workflow file </a:t>
            </a:r>
            <a:r>
              <a:rPr lang="en-US" sz="2000" b="0" i="1" dirty="0" err="1">
                <a:solidFill>
                  <a:srgbClr val="161616"/>
                </a:solidFill>
                <a:effectLst/>
                <a:latin typeface="Quattrocento Sans" panose="020B0502050000020003" pitchFamily="34" charset="0"/>
                <a:ea typeface="Roboto Mono" pitchFamily="49" charset="0"/>
              </a:rPr>
              <a:t>main.yml</a:t>
            </a:r>
            <a:r>
              <a:rPr lang="en-US" sz="2000" b="0" i="0" dirty="0">
                <a:solidFill>
                  <a:srgbClr val="161616"/>
                </a:solidFill>
                <a:effectLst/>
                <a:latin typeface="Quattrocento Sans" panose="020B0502050000020003" pitchFamily="34" charset="0"/>
                <a:ea typeface="Roboto Mono" pitchFamily="49" charset="0"/>
              </a:rPr>
              <a:t> will look like this:</a:t>
            </a:r>
          </a:p>
          <a:p>
            <a:pPr marL="0" indent="0" algn="just">
              <a:buNone/>
            </a:pPr>
            <a:endParaRPr lang="en-US" sz="2000" dirty="0">
              <a:solidFill>
                <a:srgbClr val="161616"/>
              </a:solidFill>
              <a:latin typeface="Quattrocento Sans" panose="020B0502050000020003" pitchFamily="34" charset="0"/>
              <a:ea typeface="Roboto Mono" pitchFamily="49" charset="0"/>
            </a:endParaRPr>
          </a:p>
          <a:p>
            <a:pPr marL="0" indent="0" algn="just">
              <a:buNone/>
            </a:pPr>
            <a:r>
              <a:rPr lang="en-US" sz="2000" b="0" i="0" dirty="0">
                <a:solidFill>
                  <a:srgbClr val="161616"/>
                </a:solidFill>
                <a:effectLst/>
                <a:latin typeface="Quattrocento Sans" panose="020B0502050000020003" pitchFamily="34" charset="0"/>
                <a:ea typeface="Roboto Mono" pitchFamily="49" charset="0"/>
              </a:rPr>
              <a:t>Notice the </a:t>
            </a:r>
            <a:r>
              <a:rPr lang="en-US" sz="1800" b="0" i="0" dirty="0">
                <a:solidFill>
                  <a:srgbClr val="161616"/>
                </a:solidFill>
                <a:effectLst/>
                <a:highlight>
                  <a:srgbClr val="C0C0C0"/>
                </a:highlight>
                <a:latin typeface="Roboto Mono" pitchFamily="49" charset="0"/>
                <a:ea typeface="Roboto Mono" pitchFamily="49" charset="0"/>
              </a:rPr>
              <a:t>on:</a:t>
            </a:r>
            <a:r>
              <a:rPr lang="en-US" sz="2000" b="0" i="0" dirty="0">
                <a:solidFill>
                  <a:srgbClr val="161616"/>
                </a:solidFill>
                <a:effectLst/>
                <a:latin typeface="Quattrocento Sans" panose="020B0502050000020003" pitchFamily="34" charset="0"/>
                <a:ea typeface="Roboto Mono" pitchFamily="49" charset="0"/>
              </a:rPr>
              <a:t> attribute. This is a </a:t>
            </a:r>
            <a:r>
              <a:rPr lang="en-US" sz="2000" b="0" i="1" dirty="0">
                <a:solidFill>
                  <a:srgbClr val="161616"/>
                </a:solidFill>
                <a:effectLst/>
                <a:latin typeface="Quattrocento Sans" panose="020B0502050000020003" pitchFamily="34" charset="0"/>
                <a:ea typeface="Roboto Mono" pitchFamily="49" charset="0"/>
              </a:rPr>
              <a:t>trigger</a:t>
            </a:r>
            <a:r>
              <a:rPr lang="en-US" sz="2000" b="0" i="0" dirty="0">
                <a:solidFill>
                  <a:srgbClr val="161616"/>
                </a:solidFill>
                <a:effectLst/>
                <a:latin typeface="Quattrocento Sans" panose="020B0502050000020003" pitchFamily="34" charset="0"/>
                <a:ea typeface="Roboto Mono" pitchFamily="49" charset="0"/>
              </a:rPr>
              <a:t> to specify when this workflow will run. Here, it triggers a run when there's a push event to your repository.</a:t>
            </a:r>
          </a:p>
        </p:txBody>
      </p:sp>
    </p:spTree>
    <p:extLst>
      <p:ext uri="{BB962C8B-B14F-4D97-AF65-F5344CB8AC3E}">
        <p14:creationId xmlns:p14="http://schemas.microsoft.com/office/powerpoint/2010/main" val="664954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What is a GitHub Actions workflow? </a:t>
            </a:r>
            <a:r>
              <a:rPr lang="en-US" sz="2700" dirty="0">
                <a:latin typeface="Quattrocento Sans" panose="020B0502050000020003" pitchFamily="34" charset="0"/>
              </a:rPr>
              <a:t>(continued)</a:t>
            </a:r>
            <a:endParaRPr lang="en-US" sz="3200" dirty="0">
              <a:latin typeface="Quattrocento Sans" panose="020B0502050000020003" pitchFamily="34" charset="0"/>
            </a:endParaRP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9D030901-830F-E483-BA77-449EDAD50BC7}"/>
              </a:ext>
            </a:extLst>
          </p:cNvPr>
          <p:cNvSpPr/>
          <p:nvPr/>
        </p:nvSpPr>
        <p:spPr>
          <a:xfrm>
            <a:off x="5441895" y="2318028"/>
            <a:ext cx="5984792" cy="3893586"/>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5725797" y="2736796"/>
            <a:ext cx="5416988" cy="296087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on:</a:t>
            </a:r>
          </a:p>
          <a:p>
            <a:pPr marL="0" indent="0">
              <a:spcBef>
                <a:spcPts val="0"/>
              </a:spcBef>
              <a:buNone/>
            </a:pPr>
            <a:r>
              <a:rPr lang="en-US" sz="1400" dirty="0">
                <a:solidFill>
                  <a:schemeClr val="accent6">
                    <a:lumMod val="60000"/>
                    <a:lumOff val="40000"/>
                  </a:schemeClr>
                </a:solidFill>
                <a:latin typeface="Roboto Mono" pitchFamily="49" charset="0"/>
                <a:ea typeface="Roboto Mono" pitchFamily="49" charset="0"/>
              </a:rPr>
              <a:t>  # Trigger the workflow on push or pull request,</a:t>
            </a:r>
          </a:p>
          <a:p>
            <a:pPr marL="0" indent="0">
              <a:spcBef>
                <a:spcPts val="0"/>
              </a:spcBef>
              <a:buNone/>
            </a:pPr>
            <a:r>
              <a:rPr lang="en-US" sz="1400" dirty="0">
                <a:solidFill>
                  <a:schemeClr val="accent6">
                    <a:lumMod val="60000"/>
                    <a:lumOff val="40000"/>
                  </a:schemeClr>
                </a:solidFill>
                <a:latin typeface="Roboto Mono" pitchFamily="49" charset="0"/>
                <a:ea typeface="Roboto Mono" pitchFamily="49" charset="0"/>
              </a:rPr>
              <a:t>  # but only for the main branch</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push:</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branches: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a:t>
            </a:r>
            <a:r>
              <a:rPr lang="en-US" sz="1400" dirty="0">
                <a:solidFill>
                  <a:srgbClr val="BE4C41"/>
                </a:solidFill>
                <a:latin typeface="Roboto Mono" pitchFamily="49" charset="0"/>
                <a:ea typeface="Roboto Mono" pitchFamily="49" charset="0"/>
              </a:rPr>
              <a:t>main</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a:t>
            </a:r>
            <a:r>
              <a:rPr lang="en-US" sz="1400" dirty="0" err="1">
                <a:solidFill>
                  <a:schemeClr val="tx2">
                    <a:lumMod val="50000"/>
                    <a:lumOff val="50000"/>
                  </a:schemeClr>
                </a:solidFill>
                <a:latin typeface="Roboto Mono" pitchFamily="49" charset="0"/>
                <a:ea typeface="Roboto Mono" pitchFamily="49" charset="0"/>
              </a:rPr>
              <a:t>pull_request</a:t>
            </a:r>
            <a:r>
              <a:rPr lang="en-US" sz="1400" dirty="0">
                <a:solidFill>
                  <a:schemeClr val="tx2">
                    <a:lumMod val="50000"/>
                    <a:lumOff val="50000"/>
                  </a:schemeClr>
                </a:solidFill>
                <a:latin typeface="Roboto Mono" pitchFamily="49" charset="0"/>
                <a:ea typeface="Roboto Mono" pitchFamily="49" charset="0"/>
              </a:rPr>
              <a: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branches: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a:t>
            </a:r>
            <a:r>
              <a:rPr lang="en-US" sz="1400" dirty="0">
                <a:solidFill>
                  <a:srgbClr val="BE4C41"/>
                </a:solidFill>
                <a:latin typeface="Roboto Mono" pitchFamily="49" charset="0"/>
                <a:ea typeface="Roboto Mono" pitchFamily="49" charset="0"/>
              </a:rPr>
              <a:t>main</a:t>
            </a:r>
          </a:p>
          <a:p>
            <a:pPr marL="0" indent="0">
              <a:spcBef>
                <a:spcPts val="0"/>
              </a:spcBef>
              <a:buNone/>
            </a:pPr>
            <a:r>
              <a:rPr lang="en-US" sz="1400" dirty="0">
                <a:solidFill>
                  <a:schemeClr val="accent6">
                    <a:lumMod val="60000"/>
                    <a:lumOff val="40000"/>
                  </a:schemeClr>
                </a:solidFill>
                <a:latin typeface="Roboto Mono" pitchFamily="49" charset="0"/>
                <a:ea typeface="Roboto Mono" pitchFamily="49" charset="0"/>
              </a:rPr>
              <a:t>  # Also trigger on </a:t>
            </a:r>
            <a:r>
              <a:rPr lang="en-US" sz="1400" dirty="0" err="1">
                <a:solidFill>
                  <a:schemeClr val="accent6">
                    <a:lumMod val="60000"/>
                    <a:lumOff val="40000"/>
                  </a:schemeClr>
                </a:solidFill>
                <a:latin typeface="Roboto Mono" pitchFamily="49" charset="0"/>
                <a:ea typeface="Roboto Mono" pitchFamily="49" charset="0"/>
              </a:rPr>
              <a:t>page_build</a:t>
            </a:r>
            <a:r>
              <a:rPr lang="en-US" sz="1400" dirty="0">
                <a:solidFill>
                  <a:schemeClr val="accent6">
                    <a:lumMod val="60000"/>
                    <a:lumOff val="40000"/>
                  </a:schemeClr>
                </a:solidFill>
                <a:latin typeface="Roboto Mono" pitchFamily="49" charset="0"/>
                <a:ea typeface="Roboto Mono" pitchFamily="49" charset="0"/>
              </a:rPr>
              <a:t>, as well as release created events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a:t>
            </a:r>
            <a:r>
              <a:rPr lang="en-US" sz="1400" dirty="0" err="1">
                <a:solidFill>
                  <a:schemeClr val="tx2">
                    <a:lumMod val="50000"/>
                    <a:lumOff val="50000"/>
                  </a:schemeClr>
                </a:solidFill>
                <a:latin typeface="Roboto Mono" pitchFamily="49" charset="0"/>
                <a:ea typeface="Roboto Mono" pitchFamily="49" charset="0"/>
              </a:rPr>
              <a:t>page_build</a:t>
            </a:r>
            <a:r>
              <a:rPr lang="en-US" sz="1400" dirty="0">
                <a:solidFill>
                  <a:schemeClr val="tx2">
                    <a:lumMod val="50000"/>
                    <a:lumOff val="50000"/>
                  </a:schemeClr>
                </a:solidFill>
                <a:latin typeface="Roboto Mono" pitchFamily="49" charset="0"/>
                <a:ea typeface="Roboto Mono" pitchFamily="49" charset="0"/>
              </a:rPr>
              <a: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release:</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types: </a:t>
            </a:r>
            <a:r>
              <a:rPr lang="en-US" sz="1400" dirty="0">
                <a:solidFill>
                  <a:schemeClr val="accent6">
                    <a:lumMod val="60000"/>
                    <a:lumOff val="40000"/>
                  </a:schemeClr>
                </a:solidFill>
                <a:latin typeface="Roboto Mono" pitchFamily="49" charset="0"/>
                <a:ea typeface="Roboto Mono" pitchFamily="49" charset="0"/>
              </a:rPr>
              <a:t># This configuration doesn't affect the </a:t>
            </a:r>
            <a:r>
              <a:rPr lang="en-US" sz="1400" dirty="0" err="1">
                <a:solidFill>
                  <a:schemeClr val="accent6">
                    <a:lumMod val="60000"/>
                    <a:lumOff val="40000"/>
                  </a:schemeClr>
                </a:solidFill>
                <a:latin typeface="Roboto Mono" pitchFamily="49" charset="0"/>
                <a:ea typeface="Roboto Mono" pitchFamily="49" charset="0"/>
              </a:rPr>
              <a:t>page_build</a:t>
            </a:r>
            <a:r>
              <a:rPr lang="en-US" sz="1400" dirty="0">
                <a:solidFill>
                  <a:schemeClr val="accent6">
                    <a:lumMod val="60000"/>
                    <a:lumOff val="40000"/>
                  </a:schemeClr>
                </a:solidFill>
                <a:latin typeface="Roboto Mono" pitchFamily="49" charset="0"/>
                <a:ea typeface="Roboto Mono" pitchFamily="49" charset="0"/>
              </a:rPr>
              <a:t> event above</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a:t>
            </a:r>
            <a:r>
              <a:rPr lang="en-US" sz="1400" dirty="0">
                <a:solidFill>
                  <a:srgbClr val="BE4C41"/>
                </a:solidFill>
                <a:latin typeface="Roboto Mono" pitchFamily="49" charset="0"/>
                <a:ea typeface="Roboto Mono" pitchFamily="49" charset="0"/>
              </a:rPr>
              <a:t>created</a:t>
            </a: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765312" y="1160330"/>
            <a:ext cx="10661375" cy="98488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You can specify single events like </a:t>
            </a:r>
            <a:r>
              <a:rPr lang="en-US" sz="1800" b="0" i="0" dirty="0">
                <a:solidFill>
                  <a:srgbClr val="161616"/>
                </a:solidFill>
                <a:effectLst/>
                <a:highlight>
                  <a:srgbClr val="C0C0C0"/>
                </a:highlight>
                <a:latin typeface="Roboto Mono" pitchFamily="49" charset="0"/>
                <a:ea typeface="Roboto Mono" pitchFamily="49" charset="0"/>
              </a:rPr>
              <a:t>on: push</a:t>
            </a:r>
            <a:r>
              <a:rPr lang="en-US" sz="2000" b="0" i="0" dirty="0">
                <a:solidFill>
                  <a:srgbClr val="161616"/>
                </a:solidFill>
                <a:effectLst/>
                <a:latin typeface="Quattrocento Sans" panose="020B0502050000020003" pitchFamily="34" charset="0"/>
                <a:ea typeface="Roboto Mono" pitchFamily="49" charset="0"/>
              </a:rPr>
              <a:t>, an array of events like </a:t>
            </a:r>
            <a:r>
              <a:rPr lang="en-US" sz="1800" b="0" i="0" dirty="0">
                <a:solidFill>
                  <a:srgbClr val="161616"/>
                </a:solidFill>
                <a:effectLst/>
                <a:highlight>
                  <a:srgbClr val="C0C0C0"/>
                </a:highlight>
                <a:latin typeface="Roboto Mono" pitchFamily="49" charset="0"/>
                <a:ea typeface="Roboto Mono" pitchFamily="49" charset="0"/>
              </a:rPr>
              <a:t>on: [push, </a:t>
            </a:r>
            <a:r>
              <a:rPr lang="en-US" sz="1800" b="0" i="0" dirty="0" err="1">
                <a:solidFill>
                  <a:srgbClr val="161616"/>
                </a:solidFill>
                <a:effectLst/>
                <a:highlight>
                  <a:srgbClr val="C0C0C0"/>
                </a:highlight>
                <a:latin typeface="Roboto Mono" pitchFamily="49" charset="0"/>
                <a:ea typeface="Roboto Mono" pitchFamily="49" charset="0"/>
              </a:rPr>
              <a:t>pull_request</a:t>
            </a:r>
            <a:r>
              <a:rPr lang="en-US" sz="2000" b="0" i="0" dirty="0">
                <a:solidFill>
                  <a:srgbClr val="161616"/>
                </a:solidFill>
                <a:effectLst/>
                <a:latin typeface="Quattrocento Sans" panose="020B0502050000020003" pitchFamily="34" charset="0"/>
                <a:ea typeface="Roboto Mono" pitchFamily="49" charset="0"/>
              </a:rPr>
              <a:t>], or an event-configuration map that schedules a workflow or restricts the execution of a workflow to specific files, tags, or branch changes. The map might look something like this:</a:t>
            </a:r>
          </a:p>
        </p:txBody>
      </p:sp>
      <p:sp>
        <p:nvSpPr>
          <p:cNvPr id="5" name="Text Placeholder 2">
            <a:extLst>
              <a:ext uri="{FF2B5EF4-FFF2-40B4-BE49-F238E27FC236}">
                <a16:creationId xmlns:a16="http://schemas.microsoft.com/office/drawing/2014/main" id="{F4F9AAB6-F87B-3318-08DA-DDC25E4C6339}"/>
              </a:ext>
            </a:extLst>
          </p:cNvPr>
          <p:cNvSpPr txBox="1">
            <a:spLocks/>
          </p:cNvSpPr>
          <p:nvPr/>
        </p:nvSpPr>
        <p:spPr>
          <a:xfrm>
            <a:off x="765312" y="2719414"/>
            <a:ext cx="4311185" cy="98488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rPr>
              <a:t>An event will trigger on all activity types for the event unless you specify the type or types. For a comprehensive list of events and their activity types, see: </a:t>
            </a:r>
            <a:r>
              <a:rPr lang="en-US" sz="2000" b="0" i="0" u="none" strike="noStrike" dirty="0">
                <a:solidFill>
                  <a:srgbClr val="00B0F0"/>
                </a:solidFill>
                <a:effectLst/>
                <a:latin typeface="Quattrocento Sans" panose="020B0502050000020003" pitchFamily="34" charset="0"/>
                <a:hlinkClick r:id="rId3">
                  <a:extLst>
                    <a:ext uri="{A12FA001-AC4F-418D-AE19-62706E023703}">
                      <ahyp:hlinkClr xmlns:ahyp="http://schemas.microsoft.com/office/drawing/2018/hyperlinkcolor" val="tx"/>
                    </a:ext>
                  </a:extLst>
                </a:hlinkClick>
              </a:rPr>
              <a:t>Events that trigger workflows</a:t>
            </a:r>
            <a:r>
              <a:rPr lang="en-US" sz="2000" b="0" i="0" dirty="0">
                <a:solidFill>
                  <a:srgbClr val="00B0F0"/>
                </a:solidFill>
                <a:effectLst/>
                <a:latin typeface="Quattrocento Sans" panose="020B0502050000020003" pitchFamily="34" charset="0"/>
              </a:rPr>
              <a:t> </a:t>
            </a:r>
            <a:r>
              <a:rPr lang="en-US" sz="2000" b="0" i="0" dirty="0">
                <a:solidFill>
                  <a:srgbClr val="161616"/>
                </a:solidFill>
                <a:effectLst/>
                <a:latin typeface="Quattrocento Sans" panose="020B0502050000020003" pitchFamily="34" charset="0"/>
              </a:rPr>
              <a:t>in the GitHub documentation.</a:t>
            </a:r>
            <a:endParaRPr lang="en-US" sz="1800" b="0" i="0" dirty="0">
              <a:solidFill>
                <a:srgbClr val="161616"/>
              </a:solidFill>
              <a:effectLst/>
              <a:latin typeface="Quattrocento Sans" panose="020B0502050000020003" pitchFamily="34" charset="0"/>
              <a:ea typeface="Roboto Mono" pitchFamily="49" charset="0"/>
            </a:endParaRPr>
          </a:p>
        </p:txBody>
      </p:sp>
    </p:spTree>
    <p:extLst>
      <p:ext uri="{BB962C8B-B14F-4D97-AF65-F5344CB8AC3E}">
        <p14:creationId xmlns:p14="http://schemas.microsoft.com/office/powerpoint/2010/main" val="4130521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a:latin typeface="Quattrocento Sans" panose="020B0502050000020003" pitchFamily="34" charset="0"/>
              </a:rPr>
              <a:t>A workflow must have at least one </a:t>
            </a:r>
            <a:r>
              <a:rPr lang="en-US" sz="3200" i="1" dirty="0">
                <a:latin typeface="Quattrocento Sans" panose="020B0502050000020003" pitchFamily="34" charset="0"/>
              </a:rPr>
              <a:t>job</a:t>
            </a:r>
          </a:p>
        </p:txBody>
      </p:sp>
      <p:sp>
        <p:nvSpPr>
          <p:cNvPr id="9" name="Rectangle 8">
            <a:extLst>
              <a:ext uri="{FF2B5EF4-FFF2-40B4-BE49-F238E27FC236}">
                <a16:creationId xmlns:a16="http://schemas.microsoft.com/office/drawing/2014/main" id="{413D2103-2C97-2DBC-43AA-3494CD1262C7}"/>
              </a:ext>
            </a:extLst>
          </p:cNvPr>
          <p:cNvSpPr/>
          <p:nvPr/>
        </p:nvSpPr>
        <p:spPr>
          <a:xfrm>
            <a:off x="1998745" y="1836517"/>
            <a:ext cx="880014" cy="6492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900254" y="2444341"/>
            <a:ext cx="3076996" cy="1927919"/>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1121863" y="2652932"/>
            <a:ext cx="2636658" cy="1323439"/>
          </a:xfrm>
          <a:prstGeom prst="rect">
            <a:avLst/>
          </a:prstGeom>
          <a:noFill/>
        </p:spPr>
        <p:txBody>
          <a:bodyPr wrap="square" rtlCol="0">
            <a:spAutoFit/>
          </a:bodyPr>
          <a:lstStyle/>
          <a:p>
            <a:r>
              <a:rPr lang="en-US" sz="1600" b="0" i="0" dirty="0">
                <a:solidFill>
                  <a:srgbClr val="161616"/>
                </a:solidFill>
                <a:effectLst/>
                <a:latin typeface="Quattrocento Sans" panose="020B0502050000020003" pitchFamily="34" charset="0"/>
              </a:rPr>
              <a:t>You'll specify the runner with the </a:t>
            </a:r>
            <a:r>
              <a:rPr lang="en-US" sz="1400" b="0" i="0" dirty="0">
                <a:solidFill>
                  <a:srgbClr val="161616"/>
                </a:solidFill>
                <a:effectLst/>
                <a:highlight>
                  <a:srgbClr val="C0C0C0"/>
                </a:highlight>
                <a:latin typeface="Roboto Mono" pitchFamily="49" charset="0"/>
                <a:ea typeface="Roboto Mono" pitchFamily="49" charset="0"/>
              </a:rPr>
              <a:t>runs-on:</a:t>
            </a:r>
            <a:r>
              <a:rPr lang="en-US" sz="1600" b="0" i="0" dirty="0">
                <a:solidFill>
                  <a:srgbClr val="161616"/>
                </a:solidFill>
                <a:effectLst/>
                <a:latin typeface="Quattrocento Sans" panose="020B0502050000020003" pitchFamily="34" charset="0"/>
              </a:rPr>
              <a:t> attribute. Here, you're telling the workflow to run this job on </a:t>
            </a:r>
            <a:r>
              <a:rPr lang="en-US" sz="1400" b="0" i="0" dirty="0">
                <a:solidFill>
                  <a:srgbClr val="161616"/>
                </a:solidFill>
                <a:effectLst/>
                <a:highlight>
                  <a:srgbClr val="C0C0C0"/>
                </a:highlight>
                <a:latin typeface="Roboto Mono" pitchFamily="49" charset="0"/>
                <a:ea typeface="Roboto Mono" pitchFamily="49" charset="0"/>
              </a:rPr>
              <a:t>ubuntu-latest</a:t>
            </a:r>
            <a:r>
              <a:rPr lang="en-US" sz="1600" b="0" i="0" dirty="0">
                <a:solidFill>
                  <a:srgbClr val="161616"/>
                </a:solidFill>
                <a:effectLst/>
                <a:latin typeface="Quattrocento Sans" panose="020B0502050000020003" pitchFamily="34" charset="0"/>
              </a:rPr>
              <a:t>.</a:t>
            </a:r>
          </a:p>
        </p:txBody>
      </p:sp>
      <p:sp>
        <p:nvSpPr>
          <p:cNvPr id="18" name="Rectangle 17">
            <a:extLst>
              <a:ext uri="{FF2B5EF4-FFF2-40B4-BE49-F238E27FC236}">
                <a16:creationId xmlns:a16="http://schemas.microsoft.com/office/drawing/2014/main" id="{D112965E-9E60-4F9C-A92E-602A93804B31}"/>
              </a:ext>
            </a:extLst>
          </p:cNvPr>
          <p:cNvSpPr>
            <a:spLocks/>
          </p:cNvSpPr>
          <p:nvPr/>
        </p:nvSpPr>
        <p:spPr>
          <a:xfrm>
            <a:off x="4509726" y="2444339"/>
            <a:ext cx="3076996" cy="2994764"/>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21" name="TextBox 20">
            <a:extLst>
              <a:ext uri="{FF2B5EF4-FFF2-40B4-BE49-F238E27FC236}">
                <a16:creationId xmlns:a16="http://schemas.microsoft.com/office/drawing/2014/main" id="{2E6695B6-E71F-2F9A-582E-2F4B8865116E}"/>
              </a:ext>
            </a:extLst>
          </p:cNvPr>
          <p:cNvSpPr txBox="1"/>
          <p:nvPr/>
        </p:nvSpPr>
        <p:spPr>
          <a:xfrm>
            <a:off x="4729537" y="2650810"/>
            <a:ext cx="2634682" cy="2554545"/>
          </a:xfrm>
          <a:prstGeom prst="rect">
            <a:avLst/>
          </a:prstGeom>
          <a:noFill/>
        </p:spPr>
        <p:txBody>
          <a:bodyPr wrap="square" rtlCol="0">
            <a:spAutoFit/>
          </a:bodyPr>
          <a:lstStyle/>
          <a:p>
            <a:r>
              <a:rPr lang="en-US" sz="1600" i="0" dirty="0">
                <a:solidFill>
                  <a:srgbClr val="161616"/>
                </a:solidFill>
                <a:effectLst/>
                <a:latin typeface="Quattrocento Sans" panose="020B0502050000020003" pitchFamily="34" charset="0"/>
              </a:rPr>
              <a:t>Each job will have steps to complete. In our example, the step uses the action actions/checkout@v1 to check out the repository. What's interesting is the </a:t>
            </a:r>
            <a:r>
              <a:rPr lang="en-US" sz="1400" i="0" dirty="0">
                <a:solidFill>
                  <a:srgbClr val="161616"/>
                </a:solidFill>
                <a:effectLst/>
                <a:highlight>
                  <a:srgbClr val="C0C0C0"/>
                </a:highlight>
                <a:latin typeface="Roboto Mono" pitchFamily="49" charset="0"/>
                <a:ea typeface="Roboto Mono" pitchFamily="49" charset="0"/>
              </a:rPr>
              <a:t>uses: ./action-a</a:t>
            </a:r>
            <a:r>
              <a:rPr lang="en-US" sz="1600" i="0" dirty="0">
                <a:solidFill>
                  <a:srgbClr val="161616"/>
                </a:solidFill>
                <a:effectLst/>
                <a:latin typeface="Quattrocento Sans" panose="020B0502050000020003" pitchFamily="34" charset="0"/>
              </a:rPr>
              <a:t> value, which is the path to the container action that you build in an </a:t>
            </a:r>
            <a:r>
              <a:rPr lang="en-US" sz="1600" i="0" dirty="0" err="1">
                <a:solidFill>
                  <a:srgbClr val="161616"/>
                </a:solidFill>
                <a:effectLst/>
                <a:latin typeface="Quattrocento Sans" panose="020B0502050000020003" pitchFamily="34" charset="0"/>
              </a:rPr>
              <a:t>action.yml</a:t>
            </a:r>
            <a:r>
              <a:rPr lang="en-US" sz="1600" i="0" dirty="0">
                <a:solidFill>
                  <a:srgbClr val="161616"/>
                </a:solidFill>
                <a:effectLst/>
                <a:latin typeface="Quattrocento Sans" panose="020B0502050000020003" pitchFamily="34" charset="0"/>
              </a:rPr>
              <a:t> file.</a:t>
            </a:r>
          </a:p>
        </p:txBody>
      </p:sp>
      <p:sp>
        <p:nvSpPr>
          <p:cNvPr id="22" name="Rectangle 21">
            <a:extLst>
              <a:ext uri="{FF2B5EF4-FFF2-40B4-BE49-F238E27FC236}">
                <a16:creationId xmlns:a16="http://schemas.microsoft.com/office/drawing/2014/main" id="{5635AB01-1EA6-59E6-2D8F-EC1B1BE15C5D}"/>
              </a:ext>
            </a:extLst>
          </p:cNvPr>
          <p:cNvSpPr>
            <a:spLocks/>
          </p:cNvSpPr>
          <p:nvPr/>
        </p:nvSpPr>
        <p:spPr>
          <a:xfrm>
            <a:off x="8116509" y="2444339"/>
            <a:ext cx="3076996" cy="1927921"/>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24" name="TextBox 23">
            <a:extLst>
              <a:ext uri="{FF2B5EF4-FFF2-40B4-BE49-F238E27FC236}">
                <a16:creationId xmlns:a16="http://schemas.microsoft.com/office/drawing/2014/main" id="{951D0793-2928-1CED-F1CE-4F18A3B552CA}"/>
              </a:ext>
            </a:extLst>
          </p:cNvPr>
          <p:cNvSpPr txBox="1"/>
          <p:nvPr/>
        </p:nvSpPr>
        <p:spPr>
          <a:xfrm>
            <a:off x="8339009" y="2650810"/>
            <a:ext cx="2731128" cy="1569660"/>
          </a:xfrm>
          <a:prstGeom prst="rect">
            <a:avLst/>
          </a:prstGeom>
          <a:noFill/>
        </p:spPr>
        <p:txBody>
          <a:bodyPr wrap="square" rtlCol="0">
            <a:spAutoFit/>
          </a:bodyPr>
          <a:lstStyle/>
          <a:p>
            <a:pPr>
              <a:spcAft>
                <a:spcPts val="1200"/>
              </a:spcAft>
            </a:pPr>
            <a:r>
              <a:rPr lang="en-US" sz="1600" i="0" dirty="0">
                <a:effectLst/>
                <a:latin typeface="Quattrocento Sans" panose="020B0502050000020003" pitchFamily="34" charset="0"/>
              </a:rPr>
              <a:t>The last part of this workflow file sets the </a:t>
            </a:r>
            <a:r>
              <a:rPr lang="en-US" sz="1400" i="0" dirty="0">
                <a:effectLst/>
                <a:highlight>
                  <a:srgbClr val="C0C0C0"/>
                </a:highlight>
                <a:latin typeface="Roboto Mono" pitchFamily="49" charset="0"/>
                <a:ea typeface="Roboto Mono" pitchFamily="49" charset="0"/>
              </a:rPr>
              <a:t>MY_NAME</a:t>
            </a:r>
            <a:r>
              <a:rPr lang="en-US" sz="1600" i="0" dirty="0">
                <a:effectLst/>
                <a:latin typeface="Quattrocento Sans" panose="020B0502050000020003" pitchFamily="34" charset="0"/>
              </a:rPr>
              <a:t> variable value for this workflow. Recall the container action took an input called </a:t>
            </a:r>
            <a:r>
              <a:rPr lang="en-US" sz="1400" i="0" dirty="0">
                <a:effectLst/>
                <a:highlight>
                  <a:srgbClr val="C0C0C0"/>
                </a:highlight>
                <a:latin typeface="Roboto Mono" pitchFamily="49" charset="0"/>
                <a:ea typeface="Roboto Mono" pitchFamily="49" charset="0"/>
              </a:rPr>
              <a:t>MY_NAME</a:t>
            </a:r>
            <a:r>
              <a:rPr lang="en-US" sz="1600" i="0" dirty="0">
                <a:effectLst/>
                <a:latin typeface="Quattrocento Sans" panose="020B0502050000020003" pitchFamily="34" charset="0"/>
              </a:rPr>
              <a:t>.</a:t>
            </a:r>
          </a:p>
        </p:txBody>
      </p:sp>
      <p:sp>
        <p:nvSpPr>
          <p:cNvPr id="7" name="Rectangle 6">
            <a:extLst>
              <a:ext uri="{FF2B5EF4-FFF2-40B4-BE49-F238E27FC236}">
                <a16:creationId xmlns:a16="http://schemas.microsoft.com/office/drawing/2014/main" id="{16FBC55A-B94F-DD46-C213-E904FB0D3CD8}"/>
              </a:ext>
            </a:extLst>
          </p:cNvPr>
          <p:cNvSpPr/>
          <p:nvPr/>
        </p:nvSpPr>
        <p:spPr>
          <a:xfrm>
            <a:off x="5606872" y="1859501"/>
            <a:ext cx="880014" cy="5848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5" name="Rectangle 14">
            <a:extLst>
              <a:ext uri="{FF2B5EF4-FFF2-40B4-BE49-F238E27FC236}">
                <a16:creationId xmlns:a16="http://schemas.microsoft.com/office/drawing/2014/main" id="{CA13B9B3-69E9-C79C-3826-D54C6576D731}"/>
              </a:ext>
            </a:extLst>
          </p:cNvPr>
          <p:cNvSpPr/>
          <p:nvPr/>
        </p:nvSpPr>
        <p:spPr>
          <a:xfrm>
            <a:off x="9214999" y="1819833"/>
            <a:ext cx="880014" cy="520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9438" y="1034788"/>
            <a:ext cx="10748030"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sz="1800" b="0" i="0" dirty="0">
                <a:effectLst/>
                <a:latin typeface="Quattrocento Sans" panose="020B0502050000020003" pitchFamily="34" charset="0"/>
              </a:rPr>
              <a:t>A job is a section of the workflow associated with a </a:t>
            </a:r>
            <a:r>
              <a:rPr lang="en-US" sz="1800" b="0" i="1" dirty="0">
                <a:effectLst/>
                <a:latin typeface="Quattrocento Sans" panose="020B0502050000020003" pitchFamily="34" charset="0"/>
              </a:rPr>
              <a:t>runner</a:t>
            </a:r>
            <a:r>
              <a:rPr lang="en-US" sz="1800" b="0" i="0" dirty="0">
                <a:effectLst/>
                <a:latin typeface="Quattrocento Sans" panose="020B0502050000020003" pitchFamily="34" charset="0"/>
              </a:rPr>
              <a:t>. A runner can be GitHub-hosted or self-hosted, and the job can run on a machine or in a container. </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pic>
        <p:nvPicPr>
          <p:cNvPr id="11" name="Graphic 10" descr="Computer outline">
            <a:extLst>
              <a:ext uri="{FF2B5EF4-FFF2-40B4-BE49-F238E27FC236}">
                <a16:creationId xmlns:a16="http://schemas.microsoft.com/office/drawing/2014/main" id="{9682C099-D9D6-88A8-C3DB-E1D23F88F5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62655" y="1662469"/>
            <a:ext cx="752194" cy="752194"/>
          </a:xfrm>
          <a:prstGeom prst="rect">
            <a:avLst/>
          </a:prstGeom>
        </p:spPr>
      </p:pic>
      <p:pic>
        <p:nvPicPr>
          <p:cNvPr id="17" name="Graphic 16" descr="Arrow circle outline">
            <a:extLst>
              <a:ext uri="{FF2B5EF4-FFF2-40B4-BE49-F238E27FC236}">
                <a16:creationId xmlns:a16="http://schemas.microsoft.com/office/drawing/2014/main" id="{1F9A6F47-7777-69A6-5FA1-5426BFFD539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70781" y="1634427"/>
            <a:ext cx="752194" cy="752194"/>
          </a:xfrm>
          <a:prstGeom prst="rect">
            <a:avLst/>
          </a:prstGeom>
        </p:spPr>
      </p:pic>
      <p:pic>
        <p:nvPicPr>
          <p:cNvPr id="20" name="Graphic 19" descr="Label outline">
            <a:extLst>
              <a:ext uri="{FF2B5EF4-FFF2-40B4-BE49-F238E27FC236}">
                <a16:creationId xmlns:a16="http://schemas.microsoft.com/office/drawing/2014/main" id="{F471E2E2-9253-368E-FF48-E9F934DCE41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278909" y="1640341"/>
            <a:ext cx="752194" cy="752194"/>
          </a:xfrm>
          <a:prstGeom prst="rect">
            <a:avLst/>
          </a:prstGeom>
        </p:spPr>
      </p:pic>
      <p:sp>
        <p:nvSpPr>
          <p:cNvPr id="23" name="Text Placeholder 2">
            <a:extLst>
              <a:ext uri="{FF2B5EF4-FFF2-40B4-BE49-F238E27FC236}">
                <a16:creationId xmlns:a16="http://schemas.microsoft.com/office/drawing/2014/main" id="{6602DF61-8431-4A10-95F3-4EE07F4D5A72}"/>
              </a:ext>
            </a:extLst>
          </p:cNvPr>
          <p:cNvSpPr txBox="1">
            <a:spLocks/>
          </p:cNvSpPr>
          <p:nvPr/>
        </p:nvSpPr>
        <p:spPr>
          <a:xfrm>
            <a:off x="579438" y="5606294"/>
            <a:ext cx="10748030"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sz="2000" b="0" i="0" dirty="0">
                <a:solidFill>
                  <a:srgbClr val="161616"/>
                </a:solidFill>
                <a:effectLst/>
                <a:latin typeface="Quattrocento Sans" panose="020B0502050000020003" pitchFamily="34" charset="0"/>
              </a:rPr>
              <a:t>For more information on workflow syntax, see </a:t>
            </a:r>
            <a:r>
              <a:rPr lang="en-US" sz="2000" b="0" i="0" u="none" strike="noStrike" dirty="0">
                <a:solidFill>
                  <a:srgbClr val="00B0F0"/>
                </a:solidFill>
                <a:effectLst/>
                <a:latin typeface="Quattrocento Sans" panose="020B0502050000020003" pitchFamily="34" charset="0"/>
                <a:hlinkClick r:id="rId9">
                  <a:extLst>
                    <a:ext uri="{A12FA001-AC4F-418D-AE19-62706E023703}">
                      <ahyp:hlinkClr xmlns:ahyp="http://schemas.microsoft.com/office/drawing/2018/hyperlinkcolor" val="tx"/>
                    </a:ext>
                  </a:extLst>
                </a:hlinkClick>
              </a:rPr>
              <a:t>Workflow syntax for GitHub Actions</a:t>
            </a:r>
            <a:r>
              <a:rPr lang="en-US" sz="2000" b="0" i="0" u="none" strike="noStrike" dirty="0">
                <a:effectLst/>
                <a:latin typeface="Quattrocento Sans" panose="020B0502050000020003" pitchFamily="34" charset="0"/>
              </a:rPr>
              <a:t>.</a:t>
            </a:r>
            <a:endParaRPr lang="en-US" sz="1800" b="0" i="0" dirty="0">
              <a:effectLst/>
              <a:latin typeface="Quattrocento Sans" panose="020B0502050000020003" pitchFamily="34" charset="0"/>
            </a:endParaRPr>
          </a:p>
        </p:txBody>
      </p:sp>
    </p:spTree>
    <p:extLst>
      <p:ext uri="{BB962C8B-B14F-4D97-AF65-F5344CB8AC3E}">
        <p14:creationId xmlns:p14="http://schemas.microsoft.com/office/powerpoint/2010/main" val="218400467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GitHub-hosted versus self-hosted runners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89797" y="1261241"/>
            <a:ext cx="10384538" cy="4056584"/>
          </a:xfrm>
          <a:prstGeom prst="rect">
            <a:avLst/>
          </a:prstGeom>
          <a:solidFill>
            <a:schemeClr val="bg1"/>
          </a:solid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dirty="0">
                <a:latin typeface="Quattrocento Sans" panose="020B0502050000020003" pitchFamily="34" charset="0"/>
              </a:rPr>
              <a:t>When it comes to runners, there are two options from which to choose: GitHub-hosted runners or self-hosted runners. If you use a GitHub-hosted runner, each job runs in a fresh instance of a virtual environment. The GitHub-hosted runner type you define, </a:t>
            </a:r>
            <a:r>
              <a:rPr lang="en-US" sz="1800" dirty="0">
                <a:highlight>
                  <a:srgbClr val="C0C0C0"/>
                </a:highlight>
                <a:latin typeface="Roboto Mono" pitchFamily="49" charset="0"/>
                <a:ea typeface="Roboto Mono" pitchFamily="49" charset="0"/>
              </a:rPr>
              <a:t>runs-on: {operating system-version}</a:t>
            </a:r>
            <a:r>
              <a:rPr lang="en-US" sz="2000" dirty="0">
                <a:latin typeface="Quattrocento Sans" panose="020B0502050000020003" pitchFamily="34" charset="0"/>
              </a:rPr>
              <a:t> then specifies that environment. With self-hosted runners, you need to apply the self-hosted label, its operating system, and the system architecture. For example, a self-hosted runner with a Linux operating system and ARM32 architecture would look like the following: </a:t>
            </a:r>
            <a:r>
              <a:rPr lang="en-US" sz="1800" dirty="0">
                <a:highlight>
                  <a:srgbClr val="C0C0C0"/>
                </a:highlight>
                <a:latin typeface="Roboto Mono" pitchFamily="49" charset="0"/>
                <a:ea typeface="Roboto Mono" pitchFamily="49" charset="0"/>
              </a:rPr>
              <a:t>runs-on: [self-hosted, </a:t>
            </a:r>
            <a:r>
              <a:rPr lang="en-US" sz="1800" dirty="0" err="1">
                <a:highlight>
                  <a:srgbClr val="C0C0C0"/>
                </a:highlight>
                <a:latin typeface="Roboto Mono" pitchFamily="49" charset="0"/>
                <a:ea typeface="Roboto Mono" pitchFamily="49" charset="0"/>
              </a:rPr>
              <a:t>linux</a:t>
            </a:r>
            <a:r>
              <a:rPr lang="en-US" sz="1800" dirty="0">
                <a:highlight>
                  <a:srgbClr val="C0C0C0"/>
                </a:highlight>
                <a:latin typeface="Roboto Mono" pitchFamily="49" charset="0"/>
                <a:ea typeface="Roboto Mono" pitchFamily="49" charset="0"/>
              </a:rPr>
              <a:t>, ARM32].</a:t>
            </a:r>
            <a:endParaRPr lang="en-US" sz="2000" dirty="0">
              <a:highlight>
                <a:srgbClr val="C0C0C0"/>
              </a:highlight>
              <a:latin typeface="Roboto Mono" pitchFamily="49" charset="0"/>
              <a:ea typeface="Roboto Mono" pitchFamily="49" charset="0"/>
            </a:endParaRPr>
          </a:p>
          <a:p>
            <a:pPr marL="0" indent="0" algn="just">
              <a:spcAft>
                <a:spcPts val="1200"/>
              </a:spcAft>
              <a:buNone/>
            </a:pPr>
            <a:r>
              <a:rPr lang="en-US" sz="2000" dirty="0">
                <a:latin typeface="Quattrocento Sans" panose="020B0502050000020003" pitchFamily="34" charset="0"/>
              </a:rPr>
              <a:t>Each type of runner has its benefits, but GitHub-hosted runners offer a quicker and simpler way to run your workflows, albeit with limited options. Self-hosted runners are a highly configurable way to run workflows in your own custom local environment. You can run self-hosted runners on-premises or in the cloud. You can also use self-hosted runners to create a custom hardware configuration with more processing power or memory. This will help to run larger jobs, install software available on your local network, and choose an operating system not offered by GitHub-hosted runners.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307348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46427" y="367781"/>
            <a:ext cx="8193024" cy="492443"/>
          </a:xfrm>
        </p:spPr>
        <p:txBody>
          <a:bodyPr>
            <a:normAutofit fontScale="90000"/>
          </a:bodyPr>
          <a:lstStyle/>
          <a:p>
            <a:r>
              <a:rPr lang="en-US" sz="3200" dirty="0">
                <a:latin typeface="Quattrocento Sans" panose="020B0502050000020003" pitchFamily="34" charset="0"/>
              </a:rPr>
              <a:t>GitHub Actions may have usage limits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Rectangle 4">
            <a:extLst>
              <a:ext uri="{FF2B5EF4-FFF2-40B4-BE49-F238E27FC236}">
                <a16:creationId xmlns:a16="http://schemas.microsoft.com/office/drawing/2014/main" id="{0CB41C42-FCA2-4C51-8965-2BFF2925D170}"/>
              </a:ext>
            </a:extLst>
          </p:cNvPr>
          <p:cNvSpPr/>
          <p:nvPr/>
        </p:nvSpPr>
        <p:spPr>
          <a:xfrm>
            <a:off x="579439" y="2338405"/>
            <a:ext cx="10976686" cy="17579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 Same Side Corner Rectangle 5">
            <a:extLst>
              <a:ext uri="{FF2B5EF4-FFF2-40B4-BE49-F238E27FC236}">
                <a16:creationId xmlns:a16="http://schemas.microsoft.com/office/drawing/2014/main" id="{997E6E63-1E17-4A53-1D8D-68AE69AE5F38}"/>
              </a:ext>
            </a:extLst>
          </p:cNvPr>
          <p:cNvSpPr/>
          <p:nvPr/>
        </p:nvSpPr>
        <p:spPr>
          <a:xfrm>
            <a:off x="579438" y="1387226"/>
            <a:ext cx="1839310" cy="1757969"/>
          </a:xfrm>
          <a:prstGeom prst="round2Same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1200538" y="2660372"/>
            <a:ext cx="9822872" cy="1132368"/>
          </a:xfrm>
          <a:prstGeom prst="rect">
            <a:avLst/>
          </a:prstGeom>
          <a:noFill/>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GitHub Actions has some usage limits, depending on your GitHub plan and whether your runner is GitHub-hosted or self-hosted. For more information on usage limits, check out </a:t>
            </a:r>
            <a:r>
              <a:rPr lang="en-US" sz="2000" b="0" i="0" u="none" strike="noStrike" dirty="0">
                <a:solidFill>
                  <a:srgbClr val="00B0F0"/>
                </a:solidFill>
                <a:effectLst/>
                <a:latin typeface="Quattrocento Sans" panose="020B0502050000020003" pitchFamily="34" charset="0"/>
                <a:hlinkClick r:id="rId3">
                  <a:extLst>
                    <a:ext uri="{A12FA001-AC4F-418D-AE19-62706E023703}">
                      <ahyp:hlinkClr xmlns:ahyp="http://schemas.microsoft.com/office/drawing/2018/hyperlinkcolor" val="tx"/>
                    </a:ext>
                  </a:extLst>
                </a:hlinkClick>
              </a:rPr>
              <a:t>Usage limits, billing, and administration</a:t>
            </a:r>
            <a:r>
              <a:rPr lang="en-US" sz="2000" b="0" i="0" dirty="0">
                <a:solidFill>
                  <a:srgbClr val="00B0F0"/>
                </a:solidFill>
                <a:effectLst/>
                <a:latin typeface="Quattrocento Sans" panose="020B0502050000020003" pitchFamily="34" charset="0"/>
              </a:rPr>
              <a:t> </a:t>
            </a:r>
            <a:r>
              <a:rPr lang="en-US" sz="2000" b="0" i="0" dirty="0">
                <a:solidFill>
                  <a:srgbClr val="161616"/>
                </a:solidFill>
                <a:effectLst/>
                <a:latin typeface="Quattrocento Sans" panose="020B0502050000020003" pitchFamily="34" charset="0"/>
              </a:rPr>
              <a:t>in the GitHub documentation.</a:t>
            </a:r>
            <a:endParaRPr lang="en-US" sz="1800" dirty="0">
              <a:latin typeface="Quattrocento Sans" panose="020B0502050000020003" pitchFamily="34" charset="0"/>
            </a:endParaRPr>
          </a:p>
        </p:txBody>
      </p:sp>
      <p:pic>
        <p:nvPicPr>
          <p:cNvPr id="4" name="Graphic 3" descr="Warning outline">
            <a:extLst>
              <a:ext uri="{FF2B5EF4-FFF2-40B4-BE49-F238E27FC236}">
                <a16:creationId xmlns:a16="http://schemas.microsoft.com/office/drawing/2014/main" id="{994286BA-C267-BF0B-DD60-C8C21B6273A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7735" y="1516484"/>
            <a:ext cx="900088" cy="900088"/>
          </a:xfrm>
          <a:prstGeom prst="rect">
            <a:avLst/>
          </a:prstGeom>
        </p:spPr>
      </p:pic>
    </p:spTree>
    <p:extLst>
      <p:ext uri="{BB962C8B-B14F-4D97-AF65-F5344CB8AC3E}">
        <p14:creationId xmlns:p14="http://schemas.microsoft.com/office/powerpoint/2010/main" val="3944847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a:latin typeface="Quattrocento Sans" panose="020B0502050000020003" pitchFamily="34" charset="0"/>
              </a:rPr>
              <a:t>GitHub hosted larger runners</a:t>
            </a: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562461" y="2965382"/>
            <a:ext cx="10765007" cy="3268400"/>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864534" y="3204723"/>
            <a:ext cx="10105697" cy="2693045"/>
          </a:xfrm>
          <a:prstGeom prst="rect">
            <a:avLst/>
          </a:prstGeom>
          <a:noFill/>
        </p:spPr>
        <p:txBody>
          <a:bodyPr wrap="square" rtlCol="0">
            <a:spAutoFit/>
          </a:bodyPr>
          <a:lstStyle/>
          <a:p>
            <a:pPr algn="just"/>
            <a:r>
              <a:rPr lang="en-US" sz="1600" b="0" i="0" dirty="0">
                <a:solidFill>
                  <a:srgbClr val="161616"/>
                </a:solidFill>
                <a:effectLst/>
                <a:latin typeface="Quattrocento Sans" panose="020B0502050000020003" pitchFamily="34" charset="0"/>
              </a:rPr>
              <a:t>Larger runners are available in multiple configurations, providing enhanced vCPUs, RAM, and SSD storage to meet diverse workflow requirements. These configurations are ideal for scenarios such as:</a:t>
            </a:r>
          </a:p>
          <a:p>
            <a:pPr algn="just"/>
            <a:endParaRPr lang="en-US" sz="1600" b="0" i="0" dirty="0">
              <a:solidFill>
                <a:srgbClr val="161616"/>
              </a:solidFill>
              <a:effectLst/>
              <a:latin typeface="Quattrocento Sans" panose="020B0502050000020003" pitchFamily="34" charset="0"/>
            </a:endParaRP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Compiling large codebases with extensive source files.</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Running comprehensive test suites, including integration and end-to-end tests.</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Processing large datasets for data analysis or machine learning tasks.</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Building applications with complex dependencies or large binary outputs.</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Performing high-performance simulations or computational modeling.</a:t>
            </a:r>
          </a:p>
          <a:p>
            <a:pPr marL="285750" indent="-285750" algn="just">
              <a:spcAft>
                <a:spcPts val="600"/>
              </a:spcAft>
              <a:buFont typeface="Arial" panose="020B0604020202020204" pitchFamily="34" charset="0"/>
              <a:buChar char="•"/>
            </a:pPr>
            <a:r>
              <a:rPr lang="en-US" sz="1600" b="0" i="0" dirty="0">
                <a:solidFill>
                  <a:srgbClr val="161616"/>
                </a:solidFill>
                <a:effectLst/>
                <a:latin typeface="Quattrocento Sans" panose="020B0502050000020003" pitchFamily="34" charset="0"/>
              </a:rPr>
              <a:t>Executing video encoding, rendering, or other multimedia processing workflows.</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9438" y="1176884"/>
            <a:ext cx="10748030"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b="0" i="0" dirty="0">
                <a:effectLst/>
                <a:latin typeface="Quattrocento Sans" panose="020B0502050000020003" pitchFamily="34" charset="0"/>
              </a:rPr>
              <a:t>GitHub offers larger runners for workflows that require more resources. These runners are GitHub-hosted and provide increased CPU, memory, and disk space compared to standard runners. They are designed to handle resource-intensive workflows efficiently, ensuring optimal performance for demanding tasks.</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Title 1">
            <a:extLst>
              <a:ext uri="{FF2B5EF4-FFF2-40B4-BE49-F238E27FC236}">
                <a16:creationId xmlns:a16="http://schemas.microsoft.com/office/drawing/2014/main" id="{2CAAA4D4-2FD5-F0D0-D872-4BAA54FBC5F9}"/>
              </a:ext>
            </a:extLst>
          </p:cNvPr>
          <p:cNvSpPr txBox="1">
            <a:spLocks/>
          </p:cNvSpPr>
          <p:nvPr/>
        </p:nvSpPr>
        <p:spPr>
          <a:xfrm>
            <a:off x="481122" y="2395980"/>
            <a:ext cx="8193024" cy="30777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0" i="0" kern="1200">
                <a:solidFill>
                  <a:schemeClr val="tx1"/>
                </a:solidFill>
                <a:latin typeface="+mj-lt"/>
                <a:ea typeface="+mj-ea"/>
                <a:cs typeface="Segoe UI Semibold" panose="020B0502040204020203" pitchFamily="34" charset="0"/>
              </a:defRPr>
            </a:lvl1pPr>
          </a:lstStyle>
          <a:p>
            <a:r>
              <a:rPr lang="en-US" sz="2400" dirty="0">
                <a:latin typeface="Quattrocento Sans" panose="020B0502050000020003" pitchFamily="34" charset="0"/>
              </a:rPr>
              <a:t>Runner sizes and labels</a:t>
            </a:r>
          </a:p>
        </p:txBody>
      </p:sp>
    </p:spTree>
    <p:extLst>
      <p:ext uri="{BB962C8B-B14F-4D97-AF65-F5344CB8AC3E}">
        <p14:creationId xmlns:p14="http://schemas.microsoft.com/office/powerpoint/2010/main" val="128960028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a:latin typeface="Quattrocento Sans" panose="020B0502050000020003" pitchFamily="34" charset="0"/>
              </a:rPr>
              <a:t>GitHub hosted larger runners </a:t>
            </a:r>
            <a:r>
              <a:rPr lang="en-US" sz="2700" dirty="0">
                <a:latin typeface="Quattrocento Sans" panose="020B0502050000020003" pitchFamily="34" charset="0"/>
              </a:rPr>
              <a:t>(continued)</a:t>
            </a:r>
            <a:endParaRPr lang="en-US" sz="3200" dirty="0">
              <a:latin typeface="Quattrocento Sans" panose="020B0502050000020003" pitchFamily="34" charset="0"/>
            </a:endParaRP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579438" y="2331322"/>
            <a:ext cx="5128891" cy="2253004"/>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708090" y="2539132"/>
            <a:ext cx="4527273" cy="1815882"/>
          </a:xfrm>
          <a:prstGeom prst="rect">
            <a:avLst/>
          </a:prstGeom>
          <a:noFill/>
        </p:spPr>
        <p:txBody>
          <a:bodyPr wrap="square" rtlCol="0">
            <a:spAutoFit/>
          </a:bodyPr>
          <a:lstStyle/>
          <a:p>
            <a:pPr algn="just"/>
            <a:r>
              <a:rPr lang="en-US" sz="1600" b="0" i="0" dirty="0">
                <a:solidFill>
                  <a:schemeClr val="tx2">
                    <a:lumMod val="50000"/>
                    <a:lumOff val="50000"/>
                  </a:schemeClr>
                </a:solidFill>
                <a:effectLst/>
                <a:latin typeface="Roboto Mono" pitchFamily="49" charset="0"/>
                <a:ea typeface="Roboto Mono" pitchFamily="49" charset="0"/>
              </a:rPr>
              <a:t>jobs:</a:t>
            </a:r>
          </a:p>
          <a:p>
            <a:pPr algn="just"/>
            <a:r>
              <a:rPr lang="en-US" sz="1600" b="0" i="0" dirty="0">
                <a:solidFill>
                  <a:schemeClr val="tx2">
                    <a:lumMod val="50000"/>
                    <a:lumOff val="50000"/>
                  </a:schemeClr>
                </a:solidFill>
                <a:effectLst/>
                <a:latin typeface="Roboto Mono" pitchFamily="49" charset="0"/>
                <a:ea typeface="Roboto Mono" pitchFamily="49" charset="0"/>
              </a:rPr>
              <a:t>  build:</a:t>
            </a:r>
          </a:p>
          <a:p>
            <a:pPr algn="just"/>
            <a:r>
              <a:rPr lang="en-US" sz="1600" b="0" i="0" dirty="0">
                <a:solidFill>
                  <a:schemeClr val="tx2">
                    <a:lumMod val="50000"/>
                    <a:lumOff val="50000"/>
                  </a:schemeClr>
                </a:solidFill>
                <a:effectLst/>
                <a:latin typeface="Roboto Mono" pitchFamily="49" charset="0"/>
                <a:ea typeface="Roboto Mono" pitchFamily="49" charset="0"/>
              </a:rPr>
              <a:t>    runs-on: </a:t>
            </a:r>
            <a:r>
              <a:rPr lang="en-US" sz="1600" b="0" i="0" dirty="0">
                <a:solidFill>
                  <a:srgbClr val="BE4C41"/>
                </a:solidFill>
                <a:effectLst/>
                <a:latin typeface="Roboto Mono" pitchFamily="49" charset="0"/>
                <a:ea typeface="Roboto Mono" pitchFamily="49" charset="0"/>
              </a:rPr>
              <a:t>ubuntu-latest-16core</a:t>
            </a:r>
          </a:p>
          <a:p>
            <a:pPr algn="just"/>
            <a:r>
              <a:rPr lang="en-US" sz="1600" b="0" i="0" dirty="0">
                <a:solidFill>
                  <a:schemeClr val="tx2">
                    <a:lumMod val="50000"/>
                    <a:lumOff val="50000"/>
                  </a:schemeClr>
                </a:solidFill>
                <a:effectLst/>
                <a:latin typeface="Roboto Mono" pitchFamily="49" charset="0"/>
                <a:ea typeface="Roboto Mono" pitchFamily="49" charset="0"/>
              </a:rPr>
              <a:t>    steps:</a:t>
            </a:r>
          </a:p>
          <a:p>
            <a:pPr algn="just"/>
            <a:r>
              <a:rPr lang="en-US" sz="1600" b="0" i="0" dirty="0">
                <a:solidFill>
                  <a:schemeClr val="tx2">
                    <a:lumMod val="50000"/>
                    <a:lumOff val="50000"/>
                  </a:schemeClr>
                </a:solidFill>
                <a:effectLst/>
                <a:latin typeface="Roboto Mono" pitchFamily="49" charset="0"/>
                <a:ea typeface="Roboto Mono" pitchFamily="49" charset="0"/>
              </a:rPr>
              <a:t>      - uses: </a:t>
            </a:r>
            <a:r>
              <a:rPr lang="en-US" sz="1600" b="0" i="0" dirty="0">
                <a:solidFill>
                  <a:srgbClr val="BE4C41"/>
                </a:solidFill>
                <a:effectLst/>
                <a:latin typeface="Roboto Mono" pitchFamily="49" charset="0"/>
                <a:ea typeface="Roboto Mono" pitchFamily="49" charset="0"/>
              </a:rPr>
              <a:t>actions/checkout@v2</a:t>
            </a:r>
          </a:p>
          <a:p>
            <a:pPr algn="just"/>
            <a:r>
              <a:rPr lang="en-US" sz="1600" b="0" i="0" dirty="0">
                <a:solidFill>
                  <a:schemeClr val="tx2">
                    <a:lumMod val="50000"/>
                    <a:lumOff val="50000"/>
                  </a:schemeClr>
                </a:solidFill>
                <a:effectLst/>
                <a:latin typeface="Roboto Mono" pitchFamily="49" charset="0"/>
                <a:ea typeface="Roboto Mono" pitchFamily="49" charset="0"/>
              </a:rPr>
              <a:t>      - name: </a:t>
            </a:r>
            <a:r>
              <a:rPr lang="en-US" sz="1600" b="0" i="0" dirty="0">
                <a:solidFill>
                  <a:srgbClr val="BE4C41"/>
                </a:solidFill>
                <a:effectLst/>
                <a:latin typeface="Roboto Mono" pitchFamily="49" charset="0"/>
                <a:ea typeface="Roboto Mono" pitchFamily="49" charset="0"/>
              </a:rPr>
              <a:t>Build project</a:t>
            </a:r>
          </a:p>
          <a:p>
            <a:pPr algn="just"/>
            <a:r>
              <a:rPr lang="en-US" sz="1600" b="0" i="0" dirty="0">
                <a:solidFill>
                  <a:schemeClr val="tx2">
                    <a:lumMod val="50000"/>
                    <a:lumOff val="50000"/>
                  </a:schemeClr>
                </a:solidFill>
                <a:effectLst/>
                <a:latin typeface="Roboto Mono" pitchFamily="49" charset="0"/>
                <a:ea typeface="Roboto Mono" pitchFamily="49" charset="0"/>
              </a:rPr>
              <a:t>        run: </a:t>
            </a:r>
            <a:r>
              <a:rPr lang="en-US" sz="1600" b="0" i="0" dirty="0">
                <a:solidFill>
                  <a:srgbClr val="BE4C41"/>
                </a:solidFill>
                <a:effectLst/>
                <a:latin typeface="Roboto Mono" pitchFamily="49" charset="0"/>
                <a:ea typeface="Roboto Mono" pitchFamily="49" charset="0"/>
              </a:rPr>
              <a:t>make build</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9438" y="1193803"/>
            <a:ext cx="10748030"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b="0" i="0" dirty="0">
                <a:effectLst/>
                <a:latin typeface="Quattrocento Sans" panose="020B0502050000020003" pitchFamily="34" charset="0"/>
              </a:rPr>
              <a:t>To use a larger runner, specify the desired runner label in the </a:t>
            </a:r>
            <a:r>
              <a:rPr lang="en-US" b="0" i="0" dirty="0">
                <a:effectLst/>
                <a:highlight>
                  <a:srgbClr val="C0C0C0"/>
                </a:highlight>
                <a:latin typeface="Roboto Mono" pitchFamily="49" charset="0"/>
                <a:ea typeface="Roboto Mono" pitchFamily="49" charset="0"/>
              </a:rPr>
              <a:t>runs-on</a:t>
            </a:r>
            <a:r>
              <a:rPr lang="en-US" sz="1800" b="0" i="0" dirty="0">
                <a:effectLst/>
                <a:latin typeface="Quattrocento Sans" panose="020B0502050000020003" pitchFamily="34" charset="0"/>
              </a:rPr>
              <a:t> attribute of your workflow file. For example, to use a runner with 16 vCPUs and 64 GB of RAM, you would set </a:t>
            </a:r>
            <a:r>
              <a:rPr lang="en-US" b="0" i="0" dirty="0">
                <a:effectLst/>
                <a:highlight>
                  <a:srgbClr val="C0C0C0"/>
                </a:highlight>
                <a:latin typeface="Roboto Mono" pitchFamily="49" charset="0"/>
                <a:ea typeface="Roboto Mono" pitchFamily="49" charset="0"/>
              </a:rPr>
              <a:t>runs-on: ubuntu-latest-16core</a:t>
            </a:r>
            <a:r>
              <a:rPr lang="en-US" sz="1800" b="0" i="0" dirty="0">
                <a:effectLst/>
                <a:latin typeface="Quattrocento Sans" panose="020B0502050000020003" pitchFamily="34" charset="0"/>
              </a:rPr>
              <a:t>.</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6" name="Text Placeholder 2">
            <a:extLst>
              <a:ext uri="{FF2B5EF4-FFF2-40B4-BE49-F238E27FC236}">
                <a16:creationId xmlns:a16="http://schemas.microsoft.com/office/drawing/2014/main" id="{2B7A2AC7-73D2-C3D7-640D-F0AF2A46D3F9}"/>
              </a:ext>
            </a:extLst>
          </p:cNvPr>
          <p:cNvSpPr txBox="1">
            <a:spLocks/>
          </p:cNvSpPr>
          <p:nvPr/>
        </p:nvSpPr>
        <p:spPr>
          <a:xfrm>
            <a:off x="6483673" y="2660550"/>
            <a:ext cx="4843795"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b="0" i="0" dirty="0">
                <a:effectLst/>
                <a:latin typeface="Quattrocento Sans" panose="020B0502050000020003" pitchFamily="34" charset="0"/>
              </a:rPr>
              <a:t>These larger runners maintain compatibility with existing workflows by including the same preinstalled tools as standard </a:t>
            </a:r>
            <a:r>
              <a:rPr lang="en-US" b="0" i="0" dirty="0">
                <a:effectLst/>
                <a:highlight>
                  <a:srgbClr val="C0C0C0"/>
                </a:highlight>
                <a:latin typeface="Roboto Mono" pitchFamily="49" charset="0"/>
                <a:ea typeface="Roboto Mono" pitchFamily="49" charset="0"/>
              </a:rPr>
              <a:t>ubuntu-latest</a:t>
            </a:r>
            <a:r>
              <a:rPr lang="en-US" sz="1800" b="0" i="0" dirty="0">
                <a:effectLst/>
                <a:latin typeface="Quattrocento Sans" panose="020B0502050000020003" pitchFamily="34" charset="0"/>
              </a:rPr>
              <a:t> runners.</a:t>
            </a:r>
          </a:p>
        </p:txBody>
      </p:sp>
      <p:sp>
        <p:nvSpPr>
          <p:cNvPr id="7" name="Text Placeholder 2">
            <a:extLst>
              <a:ext uri="{FF2B5EF4-FFF2-40B4-BE49-F238E27FC236}">
                <a16:creationId xmlns:a16="http://schemas.microsoft.com/office/drawing/2014/main" id="{5D41D3F0-EBC1-8311-8D54-4FD2D5AE8333}"/>
              </a:ext>
            </a:extLst>
          </p:cNvPr>
          <p:cNvSpPr txBox="1">
            <a:spLocks/>
          </p:cNvSpPr>
          <p:nvPr/>
        </p:nvSpPr>
        <p:spPr>
          <a:xfrm>
            <a:off x="579438" y="5141945"/>
            <a:ext cx="9229664"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b="0" i="0" dirty="0">
                <a:effectLst/>
                <a:latin typeface="Quattrocento Sans" panose="020B0502050000020003" pitchFamily="34" charset="0"/>
              </a:rPr>
              <a:t>For more details on runner sizes for larger runners, refer to the </a:t>
            </a:r>
            <a:r>
              <a:rPr lang="en-US" sz="1800" b="0" i="0" dirty="0">
                <a:solidFill>
                  <a:srgbClr val="00B0F0"/>
                </a:solidFill>
                <a:effectLst/>
                <a:latin typeface="Quattrocento Sans" panose="020B0502050000020003" pitchFamily="34" charset="0"/>
                <a:hlinkClick r:id="rId3">
                  <a:extLst>
                    <a:ext uri="{A12FA001-AC4F-418D-AE19-62706E023703}">
                      <ahyp:hlinkClr xmlns:ahyp="http://schemas.microsoft.com/office/drawing/2018/hyperlinkcolor" val="tx"/>
                    </a:ext>
                  </a:extLst>
                </a:hlinkClick>
              </a:rPr>
              <a:t>GitHub documentation</a:t>
            </a:r>
            <a:r>
              <a:rPr lang="en-US" sz="1800" b="0" i="0" dirty="0">
                <a:effectLst/>
                <a:latin typeface="Quattrocento Sans" panose="020B0502050000020003" pitchFamily="34" charset="0"/>
              </a:rPr>
              <a:t>.</a:t>
            </a:r>
          </a:p>
        </p:txBody>
      </p:sp>
    </p:spTree>
    <p:extLst>
      <p:ext uri="{BB962C8B-B14F-4D97-AF65-F5344CB8AC3E}">
        <p14:creationId xmlns:p14="http://schemas.microsoft.com/office/powerpoint/2010/main" val="72390839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Managing larger runners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9D030901-830F-E483-BA77-449EDAD50BC7}"/>
              </a:ext>
            </a:extLst>
          </p:cNvPr>
          <p:cNvSpPr/>
          <p:nvPr/>
        </p:nvSpPr>
        <p:spPr>
          <a:xfrm>
            <a:off x="579438" y="2339120"/>
            <a:ext cx="5330687" cy="16632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781748" y="2578832"/>
            <a:ext cx="4926065" cy="1183863"/>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buNone/>
            </a:pPr>
            <a:r>
              <a:rPr lang="en-US" dirty="0">
                <a:latin typeface="Quattrocento Sans" panose="020B0502050000020003" pitchFamily="34" charset="0"/>
                <a:ea typeface="Roboto Mono" pitchFamily="49" charset="0"/>
              </a:rPr>
              <a:t>You can monitor the usage of larger runners through the GitHub Actions usage page in your repository or organization settings. This page provides insights into the number of jobs run, the total runtime, and the associated costs.</a:t>
            </a: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658951" y="1022384"/>
            <a:ext cx="10661375" cy="67889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GitHub provides tools to manage larger runners effectively, ensuring optimal resource utilization and cost management. Here are some key aspects of managing larger runners:</a:t>
            </a:r>
          </a:p>
        </p:txBody>
      </p:sp>
      <p:sp>
        <p:nvSpPr>
          <p:cNvPr id="5" name="Snip Same Side Corner Rectangle 4">
            <a:extLst>
              <a:ext uri="{FF2B5EF4-FFF2-40B4-BE49-F238E27FC236}">
                <a16:creationId xmlns:a16="http://schemas.microsoft.com/office/drawing/2014/main" id="{0FC1179A-B3F4-25D7-9B9E-7061E404DC22}"/>
              </a:ext>
            </a:extLst>
          </p:cNvPr>
          <p:cNvSpPr/>
          <p:nvPr/>
        </p:nvSpPr>
        <p:spPr>
          <a:xfrm>
            <a:off x="579438" y="1830437"/>
            <a:ext cx="3031375" cy="508680"/>
          </a:xfrm>
          <a:prstGeom prst="snip2Same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6">
            <a:extLst>
              <a:ext uri="{FF2B5EF4-FFF2-40B4-BE49-F238E27FC236}">
                <a16:creationId xmlns:a16="http://schemas.microsoft.com/office/drawing/2014/main" id="{33808F80-D769-D721-C99D-F7F83E341FA3}"/>
              </a:ext>
            </a:extLst>
          </p:cNvPr>
          <p:cNvSpPr txBox="1">
            <a:spLocks/>
          </p:cNvSpPr>
          <p:nvPr/>
        </p:nvSpPr>
        <p:spPr>
          <a:xfrm>
            <a:off x="707058" y="1830437"/>
            <a:ext cx="2776133" cy="49244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pPr algn="ctr"/>
            <a:r>
              <a:rPr lang="en-US" sz="2000" b="1" dirty="0">
                <a:latin typeface="Roboto Mono" pitchFamily="49" charset="0"/>
                <a:ea typeface="Roboto Mono" pitchFamily="49" charset="0"/>
              </a:rPr>
              <a:t>Monitoring usage</a:t>
            </a:r>
          </a:p>
        </p:txBody>
      </p:sp>
      <p:sp>
        <p:nvSpPr>
          <p:cNvPr id="8" name="Rectangle 7">
            <a:extLst>
              <a:ext uri="{FF2B5EF4-FFF2-40B4-BE49-F238E27FC236}">
                <a16:creationId xmlns:a16="http://schemas.microsoft.com/office/drawing/2014/main" id="{11B0910C-1E36-9783-B5AF-564EEFF0FBE6}"/>
              </a:ext>
            </a:extLst>
          </p:cNvPr>
          <p:cNvSpPr/>
          <p:nvPr/>
        </p:nvSpPr>
        <p:spPr>
          <a:xfrm>
            <a:off x="6281877" y="2339120"/>
            <a:ext cx="5330687" cy="16632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2">
            <a:extLst>
              <a:ext uri="{FF2B5EF4-FFF2-40B4-BE49-F238E27FC236}">
                <a16:creationId xmlns:a16="http://schemas.microsoft.com/office/drawing/2014/main" id="{500C8630-111E-15C8-12A3-17CFC110BB4E}"/>
              </a:ext>
            </a:extLst>
          </p:cNvPr>
          <p:cNvSpPr txBox="1">
            <a:spLocks/>
          </p:cNvSpPr>
          <p:nvPr/>
        </p:nvSpPr>
        <p:spPr>
          <a:xfrm>
            <a:off x="6484187" y="2578832"/>
            <a:ext cx="4926065" cy="919258"/>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buNone/>
            </a:pPr>
            <a:r>
              <a:rPr lang="en-US" dirty="0">
                <a:latin typeface="Quattrocento Sans" panose="020B0502050000020003" pitchFamily="34" charset="0"/>
                <a:ea typeface="Roboto Mono" pitchFamily="49" charset="0"/>
              </a:rPr>
              <a:t>To control access to larger runners, you can configure repository or organization-level policies. This ensures that only authorized workflows or teams can use these high-resource runners.</a:t>
            </a:r>
          </a:p>
        </p:txBody>
      </p:sp>
      <p:sp>
        <p:nvSpPr>
          <p:cNvPr id="10" name="Snip Same Side Corner Rectangle 9">
            <a:extLst>
              <a:ext uri="{FF2B5EF4-FFF2-40B4-BE49-F238E27FC236}">
                <a16:creationId xmlns:a16="http://schemas.microsoft.com/office/drawing/2014/main" id="{7D91B107-5B31-9401-5B94-2B9604ED3A36}"/>
              </a:ext>
            </a:extLst>
          </p:cNvPr>
          <p:cNvSpPr/>
          <p:nvPr/>
        </p:nvSpPr>
        <p:spPr>
          <a:xfrm>
            <a:off x="6281877" y="1830437"/>
            <a:ext cx="3031375" cy="508680"/>
          </a:xfrm>
          <a:prstGeom prst="snip2Same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6">
            <a:extLst>
              <a:ext uri="{FF2B5EF4-FFF2-40B4-BE49-F238E27FC236}">
                <a16:creationId xmlns:a16="http://schemas.microsoft.com/office/drawing/2014/main" id="{6F7A6B9D-EF0B-811F-CCAD-9FFDD764D329}"/>
              </a:ext>
            </a:extLst>
          </p:cNvPr>
          <p:cNvSpPr txBox="1">
            <a:spLocks/>
          </p:cNvSpPr>
          <p:nvPr/>
        </p:nvSpPr>
        <p:spPr>
          <a:xfrm>
            <a:off x="6409497" y="1830437"/>
            <a:ext cx="2776133" cy="49244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pPr algn="ctr"/>
            <a:r>
              <a:rPr lang="en-US" sz="2000" b="1" dirty="0">
                <a:latin typeface="Roboto Mono" pitchFamily="49" charset="0"/>
                <a:ea typeface="Roboto Mono" pitchFamily="49" charset="0"/>
              </a:rPr>
              <a:t>Managing access</a:t>
            </a:r>
          </a:p>
        </p:txBody>
      </p:sp>
      <p:sp>
        <p:nvSpPr>
          <p:cNvPr id="12" name="Rectangle 11">
            <a:extLst>
              <a:ext uri="{FF2B5EF4-FFF2-40B4-BE49-F238E27FC236}">
                <a16:creationId xmlns:a16="http://schemas.microsoft.com/office/drawing/2014/main" id="{D9B6CC8E-5ED4-192E-BE15-AAF879CE0F60}"/>
              </a:ext>
            </a:extLst>
          </p:cNvPr>
          <p:cNvSpPr/>
          <p:nvPr/>
        </p:nvSpPr>
        <p:spPr>
          <a:xfrm>
            <a:off x="579438" y="4640253"/>
            <a:ext cx="5330687" cy="17808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3404B85B-C360-55EC-6D03-14F709D3551F}"/>
              </a:ext>
            </a:extLst>
          </p:cNvPr>
          <p:cNvSpPr txBox="1">
            <a:spLocks/>
          </p:cNvSpPr>
          <p:nvPr/>
        </p:nvSpPr>
        <p:spPr>
          <a:xfrm>
            <a:off x="781748" y="4951593"/>
            <a:ext cx="4926065" cy="1183863"/>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spcAft>
                <a:spcPts val="600"/>
              </a:spcAft>
              <a:buNone/>
            </a:pPr>
            <a:r>
              <a:rPr lang="en-US" dirty="0">
                <a:latin typeface="Quattrocento Sans" panose="020B0502050000020003" pitchFamily="34" charset="0"/>
                <a:ea typeface="Roboto Mono" pitchFamily="49" charset="0"/>
              </a:rPr>
              <a:t>Larger runners incur additional costs based on their usage. To manage costs, consider the following:</a:t>
            </a:r>
          </a:p>
          <a:p>
            <a:pPr algn="just">
              <a:spcBef>
                <a:spcPts val="0"/>
              </a:spcBef>
              <a:spcAft>
                <a:spcPts val="600"/>
              </a:spcAft>
            </a:pPr>
            <a:r>
              <a:rPr lang="en-US" dirty="0">
                <a:latin typeface="Quattrocento Sans" panose="020B0502050000020003" pitchFamily="34" charset="0"/>
                <a:ea typeface="Roboto Mono" pitchFamily="49" charset="0"/>
              </a:rPr>
              <a:t>Use larger runners only for workflows that require high resources.</a:t>
            </a:r>
          </a:p>
          <a:p>
            <a:pPr algn="just">
              <a:spcBef>
                <a:spcPts val="0"/>
              </a:spcBef>
              <a:spcAft>
                <a:spcPts val="600"/>
              </a:spcAft>
            </a:pPr>
            <a:r>
              <a:rPr lang="en-US" dirty="0">
                <a:latin typeface="Quattrocento Sans" panose="020B0502050000020003" pitchFamily="34" charset="0"/>
                <a:ea typeface="Roboto Mono" pitchFamily="49" charset="0"/>
              </a:rPr>
              <a:t>Optimize workflows to reduce runtime.</a:t>
            </a:r>
          </a:p>
          <a:p>
            <a:pPr algn="just">
              <a:spcBef>
                <a:spcPts val="0"/>
              </a:spcBef>
              <a:spcAft>
                <a:spcPts val="600"/>
              </a:spcAft>
            </a:pPr>
            <a:r>
              <a:rPr lang="en-US" dirty="0">
                <a:latin typeface="Quattrocento Sans" panose="020B0502050000020003" pitchFamily="34" charset="0"/>
                <a:ea typeface="Roboto Mono" pitchFamily="49" charset="0"/>
              </a:rPr>
              <a:t>Monitor billing details regularly to track expenses.</a:t>
            </a:r>
          </a:p>
        </p:txBody>
      </p:sp>
      <p:sp>
        <p:nvSpPr>
          <p:cNvPr id="14" name="Snip Same Side Corner Rectangle 13">
            <a:extLst>
              <a:ext uri="{FF2B5EF4-FFF2-40B4-BE49-F238E27FC236}">
                <a16:creationId xmlns:a16="http://schemas.microsoft.com/office/drawing/2014/main" id="{6B5CA269-CDAE-3C69-9667-92E7DD0E5B5F}"/>
              </a:ext>
            </a:extLst>
          </p:cNvPr>
          <p:cNvSpPr/>
          <p:nvPr/>
        </p:nvSpPr>
        <p:spPr>
          <a:xfrm>
            <a:off x="579438" y="4131570"/>
            <a:ext cx="3031375" cy="508680"/>
          </a:xfrm>
          <a:prstGeom prst="snip2Same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6">
            <a:extLst>
              <a:ext uri="{FF2B5EF4-FFF2-40B4-BE49-F238E27FC236}">
                <a16:creationId xmlns:a16="http://schemas.microsoft.com/office/drawing/2014/main" id="{25EABF32-B7FF-E96A-DF5B-8CE08FA0531D}"/>
              </a:ext>
            </a:extLst>
          </p:cNvPr>
          <p:cNvSpPr txBox="1">
            <a:spLocks/>
          </p:cNvSpPr>
          <p:nvPr/>
        </p:nvSpPr>
        <p:spPr>
          <a:xfrm>
            <a:off x="707058" y="4131570"/>
            <a:ext cx="2776133" cy="49244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pPr algn="ctr"/>
            <a:r>
              <a:rPr lang="en-US" sz="2000" b="1" dirty="0">
                <a:latin typeface="Roboto Mono" pitchFamily="49" charset="0"/>
                <a:ea typeface="Roboto Mono" pitchFamily="49" charset="0"/>
              </a:rPr>
              <a:t>Cost management</a:t>
            </a:r>
          </a:p>
        </p:txBody>
      </p:sp>
      <p:sp>
        <p:nvSpPr>
          <p:cNvPr id="16" name="Rectangle 15">
            <a:extLst>
              <a:ext uri="{FF2B5EF4-FFF2-40B4-BE49-F238E27FC236}">
                <a16:creationId xmlns:a16="http://schemas.microsoft.com/office/drawing/2014/main" id="{06BCE9C3-63F0-9B44-74B8-23538CC6674B}"/>
              </a:ext>
            </a:extLst>
          </p:cNvPr>
          <p:cNvSpPr/>
          <p:nvPr/>
        </p:nvSpPr>
        <p:spPr>
          <a:xfrm>
            <a:off x="6329984" y="4640253"/>
            <a:ext cx="5330687" cy="16632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 Placeholder 2">
            <a:extLst>
              <a:ext uri="{FF2B5EF4-FFF2-40B4-BE49-F238E27FC236}">
                <a16:creationId xmlns:a16="http://schemas.microsoft.com/office/drawing/2014/main" id="{151198DC-6EF8-8C7B-C32B-CA76335CA952}"/>
              </a:ext>
            </a:extLst>
          </p:cNvPr>
          <p:cNvSpPr txBox="1">
            <a:spLocks/>
          </p:cNvSpPr>
          <p:nvPr/>
        </p:nvSpPr>
        <p:spPr>
          <a:xfrm>
            <a:off x="6487184" y="4925065"/>
            <a:ext cx="4926065" cy="919258"/>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0"/>
              </a:spcBef>
              <a:spcAft>
                <a:spcPts val="600"/>
              </a:spcAft>
              <a:buNone/>
            </a:pPr>
            <a:r>
              <a:rPr lang="en-US" dirty="0">
                <a:latin typeface="Quattrocento Sans" panose="020B0502050000020003" pitchFamily="34" charset="0"/>
                <a:ea typeface="Roboto Mono" pitchFamily="49" charset="0"/>
              </a:rPr>
              <a:t>If your workflows require frequent use of larger runners, consider scaling strategies such as:</a:t>
            </a:r>
          </a:p>
          <a:p>
            <a:pPr algn="just">
              <a:spcBef>
                <a:spcPts val="0"/>
              </a:spcBef>
              <a:spcAft>
                <a:spcPts val="600"/>
              </a:spcAft>
            </a:pPr>
            <a:r>
              <a:rPr lang="en-US" dirty="0">
                <a:latin typeface="Quattrocento Sans" panose="020B0502050000020003" pitchFamily="34" charset="0"/>
                <a:ea typeface="Roboto Mono" pitchFamily="49" charset="0"/>
              </a:rPr>
              <a:t>Using self-hosted runners for predictable workloads.</a:t>
            </a:r>
          </a:p>
          <a:p>
            <a:pPr algn="just">
              <a:spcBef>
                <a:spcPts val="0"/>
              </a:spcBef>
              <a:spcAft>
                <a:spcPts val="600"/>
              </a:spcAft>
            </a:pPr>
            <a:r>
              <a:rPr lang="en-US" dirty="0">
                <a:latin typeface="Quattrocento Sans" panose="020B0502050000020003" pitchFamily="34" charset="0"/>
                <a:ea typeface="Roboto Mono" pitchFamily="49" charset="0"/>
              </a:rPr>
              <a:t>Splitting workflows into smaller jobs to distribute the load across standard runners.</a:t>
            </a:r>
          </a:p>
        </p:txBody>
      </p:sp>
      <p:sp>
        <p:nvSpPr>
          <p:cNvPr id="19" name="Snip Same Side Corner Rectangle 18">
            <a:extLst>
              <a:ext uri="{FF2B5EF4-FFF2-40B4-BE49-F238E27FC236}">
                <a16:creationId xmlns:a16="http://schemas.microsoft.com/office/drawing/2014/main" id="{5E606086-222C-5C71-4440-8F2158209D58}"/>
              </a:ext>
            </a:extLst>
          </p:cNvPr>
          <p:cNvSpPr/>
          <p:nvPr/>
        </p:nvSpPr>
        <p:spPr>
          <a:xfrm>
            <a:off x="6329984" y="4131570"/>
            <a:ext cx="3031375" cy="508680"/>
          </a:xfrm>
          <a:prstGeom prst="snip2Same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itle 16">
            <a:extLst>
              <a:ext uri="{FF2B5EF4-FFF2-40B4-BE49-F238E27FC236}">
                <a16:creationId xmlns:a16="http://schemas.microsoft.com/office/drawing/2014/main" id="{89A54B08-6D37-D05D-3D5A-16CAB3A5876B}"/>
              </a:ext>
            </a:extLst>
          </p:cNvPr>
          <p:cNvSpPr txBox="1">
            <a:spLocks/>
          </p:cNvSpPr>
          <p:nvPr/>
        </p:nvSpPr>
        <p:spPr>
          <a:xfrm>
            <a:off x="6457604" y="4131570"/>
            <a:ext cx="2776133" cy="49244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pPr algn="ctr"/>
            <a:r>
              <a:rPr lang="en-US" sz="2000" b="1" dirty="0">
                <a:latin typeface="Roboto Mono" pitchFamily="49" charset="0"/>
                <a:ea typeface="Roboto Mono" pitchFamily="49" charset="0"/>
              </a:rPr>
              <a:t>Scaling workflows</a:t>
            </a:r>
          </a:p>
        </p:txBody>
      </p:sp>
    </p:spTree>
    <p:extLst>
      <p:ext uri="{BB962C8B-B14F-4D97-AF65-F5344CB8AC3E}">
        <p14:creationId xmlns:p14="http://schemas.microsoft.com/office/powerpoint/2010/main" val="1464516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30984310-567E-BA41-204B-7AF50592C95E}"/>
              </a:ext>
            </a:extLst>
          </p:cNvPr>
          <p:cNvSpPr/>
          <p:nvPr/>
        </p:nvSpPr>
        <p:spPr>
          <a:xfrm>
            <a:off x="481122" y="1204115"/>
            <a:ext cx="1713910" cy="1510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a:latin typeface="Quattrocento Sans" panose="020B0502050000020003" pitchFamily="34" charset="0"/>
              </a:rPr>
              <a:t>Identify the components of GitHub Actions</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677345" y="2551495"/>
            <a:ext cx="3850928" cy="877505"/>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Aft>
                <a:spcPts val="1200"/>
              </a:spcAft>
              <a:buNone/>
            </a:pPr>
            <a:r>
              <a:rPr lang="en-US" sz="2000" b="0" i="0" dirty="0">
                <a:solidFill>
                  <a:srgbClr val="161616"/>
                </a:solidFill>
                <a:effectLst/>
                <a:latin typeface="Quattrocento Sans" panose="020B0502050000020003" pitchFamily="34" charset="0"/>
              </a:rPr>
              <a:t>There are several components that work together to run tasks or jobs within a GitHub Actions workflow. In short, an event triggers the </a:t>
            </a:r>
            <a:r>
              <a:rPr lang="en-US" sz="2000" b="0" i="1" dirty="0">
                <a:solidFill>
                  <a:srgbClr val="161616"/>
                </a:solidFill>
                <a:effectLst/>
                <a:latin typeface="Quattrocento Sans" panose="020B0502050000020003" pitchFamily="34" charset="0"/>
              </a:rPr>
              <a:t>workflow</a:t>
            </a:r>
            <a:r>
              <a:rPr lang="en-US" sz="2000" b="0" i="0" dirty="0">
                <a:solidFill>
                  <a:srgbClr val="161616"/>
                </a:solidFill>
                <a:effectLst/>
                <a:latin typeface="Quattrocento Sans" panose="020B0502050000020003" pitchFamily="34" charset="0"/>
              </a:rPr>
              <a:t>, which contains a </a:t>
            </a:r>
            <a:r>
              <a:rPr lang="en-US" sz="2000" b="0" i="1" dirty="0">
                <a:solidFill>
                  <a:srgbClr val="161616"/>
                </a:solidFill>
                <a:effectLst/>
                <a:latin typeface="Quattrocento Sans" panose="020B0502050000020003" pitchFamily="34" charset="0"/>
              </a:rPr>
              <a:t>job</a:t>
            </a:r>
            <a:r>
              <a:rPr lang="en-US" sz="2000" b="0" i="0" dirty="0">
                <a:solidFill>
                  <a:srgbClr val="161616"/>
                </a:solidFill>
                <a:effectLst/>
                <a:latin typeface="Quattrocento Sans" panose="020B0502050000020003" pitchFamily="34" charset="0"/>
              </a:rPr>
              <a:t>. This job then uses </a:t>
            </a:r>
            <a:r>
              <a:rPr lang="en-US" sz="2000" b="0" i="1" dirty="0">
                <a:solidFill>
                  <a:srgbClr val="161616"/>
                </a:solidFill>
                <a:effectLst/>
                <a:latin typeface="Quattrocento Sans" panose="020B0502050000020003" pitchFamily="34" charset="0"/>
              </a:rPr>
              <a:t>steps</a:t>
            </a:r>
            <a:r>
              <a:rPr lang="en-US" sz="2000" b="0" i="0" dirty="0">
                <a:solidFill>
                  <a:srgbClr val="161616"/>
                </a:solidFill>
                <a:effectLst/>
                <a:latin typeface="Quattrocento Sans" panose="020B0502050000020003" pitchFamily="34" charset="0"/>
              </a:rPr>
              <a:t> to dictate which </a:t>
            </a:r>
            <a:r>
              <a:rPr lang="en-US" sz="2000" b="0" i="1" dirty="0">
                <a:solidFill>
                  <a:srgbClr val="161616"/>
                </a:solidFill>
                <a:effectLst/>
                <a:latin typeface="Quattrocento Sans" panose="020B0502050000020003" pitchFamily="34" charset="0"/>
              </a:rPr>
              <a:t>actions</a:t>
            </a:r>
            <a:r>
              <a:rPr lang="en-US" sz="2000" b="0" i="0" dirty="0">
                <a:solidFill>
                  <a:srgbClr val="161616"/>
                </a:solidFill>
                <a:effectLst/>
                <a:latin typeface="Quattrocento Sans" panose="020B0502050000020003" pitchFamily="34" charset="0"/>
              </a:rPr>
              <a:t> will run within the workflow. </a:t>
            </a:r>
          </a:p>
        </p:txBody>
      </p:sp>
      <p:pic>
        <p:nvPicPr>
          <p:cNvPr id="6" name="Picture 5" descr="A screenshot of a computer&#10;&#10;Description automatically generated">
            <a:extLst>
              <a:ext uri="{FF2B5EF4-FFF2-40B4-BE49-F238E27FC236}">
                <a16:creationId xmlns:a16="http://schemas.microsoft.com/office/drawing/2014/main" id="{9F3F5CE9-39D4-FA30-DB45-CF280A71C3D9}"/>
              </a:ext>
            </a:extLst>
          </p:cNvPr>
          <p:cNvPicPr>
            <a:picLocks noChangeAspect="1"/>
          </p:cNvPicPr>
          <p:nvPr/>
        </p:nvPicPr>
        <p:blipFill rotWithShape="1">
          <a:blip r:embed="rId3"/>
          <a:srcRect l="1233" t="2150" r="37644" b="153"/>
          <a:stretch/>
        </p:blipFill>
        <p:spPr>
          <a:xfrm>
            <a:off x="7071169" y="1636221"/>
            <a:ext cx="4478448" cy="3756972"/>
          </a:xfrm>
          <a:prstGeom prst="rect">
            <a:avLst/>
          </a:prstGeom>
        </p:spPr>
      </p:pic>
      <p:sp>
        <p:nvSpPr>
          <p:cNvPr id="7" name="Title 1">
            <a:extLst>
              <a:ext uri="{FF2B5EF4-FFF2-40B4-BE49-F238E27FC236}">
                <a16:creationId xmlns:a16="http://schemas.microsoft.com/office/drawing/2014/main" id="{5F7AFB2E-93A5-8D2B-913A-6AE887224FB5}"/>
              </a:ext>
            </a:extLst>
          </p:cNvPr>
          <p:cNvSpPr txBox="1">
            <a:spLocks/>
          </p:cNvSpPr>
          <p:nvPr/>
        </p:nvSpPr>
        <p:spPr>
          <a:xfrm>
            <a:off x="507957" y="1350943"/>
            <a:ext cx="4845210" cy="1538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0" i="0" kern="1200">
                <a:solidFill>
                  <a:schemeClr val="tx1"/>
                </a:solidFill>
                <a:latin typeface="+mj-lt"/>
                <a:ea typeface="+mj-ea"/>
                <a:cs typeface="Segoe UI Semibold" panose="020B0502040204020203" pitchFamily="34" charset="0"/>
              </a:defRPr>
            </a:lvl1pPr>
          </a:lstStyle>
          <a:p>
            <a:r>
              <a:rPr lang="en-US" sz="2400" dirty="0">
                <a:latin typeface="Quattrocento Sans" panose="020B0502050000020003" pitchFamily="34" charset="0"/>
              </a:rPr>
              <a:t>The components of GitHub Actions</a:t>
            </a:r>
          </a:p>
        </p:txBody>
      </p:sp>
      <p:sp>
        <p:nvSpPr>
          <p:cNvPr id="8" name="Title 1">
            <a:extLst>
              <a:ext uri="{FF2B5EF4-FFF2-40B4-BE49-F238E27FC236}">
                <a16:creationId xmlns:a16="http://schemas.microsoft.com/office/drawing/2014/main" id="{93B6EF9F-36AB-D83C-68E6-36570B6556F1}"/>
              </a:ext>
            </a:extLst>
          </p:cNvPr>
          <p:cNvSpPr txBox="1">
            <a:spLocks/>
          </p:cNvSpPr>
          <p:nvPr/>
        </p:nvSpPr>
        <p:spPr>
          <a:xfrm>
            <a:off x="4730750" y="3252428"/>
            <a:ext cx="2230474" cy="5257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0" i="0" kern="1200">
                <a:solidFill>
                  <a:schemeClr val="tx1"/>
                </a:solidFill>
                <a:latin typeface="+mj-lt"/>
                <a:ea typeface="+mj-ea"/>
                <a:cs typeface="Segoe UI Semibold" panose="020B0502040204020203" pitchFamily="34" charset="0"/>
              </a:defRPr>
            </a:lvl1pPr>
          </a:lstStyle>
          <a:p>
            <a:pPr algn="ctr">
              <a:spcAft>
                <a:spcPts val="3600"/>
              </a:spcAft>
            </a:pPr>
            <a:r>
              <a:rPr lang="en-US" sz="3200" b="1" dirty="0">
                <a:solidFill>
                  <a:schemeClr val="tx2">
                    <a:lumMod val="50000"/>
                    <a:lumOff val="50000"/>
                  </a:schemeClr>
                </a:solidFill>
                <a:latin typeface="Roboto Mono" pitchFamily="49" charset="0"/>
                <a:ea typeface="Roboto Mono" pitchFamily="49" charset="0"/>
              </a:rPr>
              <a:t>Workflow</a:t>
            </a:r>
            <a:r>
              <a:rPr lang="en-US" sz="3200" b="1" dirty="0">
                <a:latin typeface="Roboto Mono" pitchFamily="49" charset="0"/>
                <a:ea typeface="Roboto Mono" pitchFamily="49" charset="0"/>
              </a:rPr>
              <a:t>   </a:t>
            </a:r>
          </a:p>
          <a:p>
            <a:pPr algn="ctr">
              <a:spcAft>
                <a:spcPts val="3600"/>
              </a:spcAft>
            </a:pPr>
            <a:r>
              <a:rPr lang="en-US" sz="3200" b="1" dirty="0">
                <a:solidFill>
                  <a:srgbClr val="AB37CB"/>
                </a:solidFill>
                <a:latin typeface="Roboto Mono" pitchFamily="49" charset="0"/>
                <a:ea typeface="Roboto Mono" pitchFamily="49" charset="0"/>
              </a:rPr>
              <a:t>Job</a:t>
            </a:r>
            <a:r>
              <a:rPr lang="en-US" sz="3200" b="1" dirty="0">
                <a:latin typeface="Roboto Mono" pitchFamily="49" charset="0"/>
                <a:ea typeface="Roboto Mono" pitchFamily="49" charset="0"/>
              </a:rPr>
              <a:t>   </a:t>
            </a:r>
          </a:p>
          <a:p>
            <a:pPr algn="ctr">
              <a:spcAft>
                <a:spcPts val="3600"/>
              </a:spcAft>
            </a:pPr>
            <a:r>
              <a:rPr lang="en-US" sz="3200" b="1" dirty="0">
                <a:solidFill>
                  <a:srgbClr val="FFC000"/>
                </a:solidFill>
                <a:latin typeface="Roboto Mono" pitchFamily="49" charset="0"/>
                <a:ea typeface="Roboto Mono" pitchFamily="49" charset="0"/>
              </a:rPr>
              <a:t>Step</a:t>
            </a:r>
            <a:r>
              <a:rPr lang="en-US" sz="3200" b="1" dirty="0">
                <a:latin typeface="Roboto Mono" pitchFamily="49" charset="0"/>
                <a:ea typeface="Roboto Mono" pitchFamily="49" charset="0"/>
              </a:rPr>
              <a:t>   </a:t>
            </a:r>
          </a:p>
          <a:p>
            <a:pPr algn="ctr">
              <a:spcAft>
                <a:spcPts val="3600"/>
              </a:spcAft>
            </a:pPr>
            <a:r>
              <a:rPr lang="en-US" sz="3200" b="1" dirty="0">
                <a:solidFill>
                  <a:schemeClr val="accent6">
                    <a:lumMod val="60000"/>
                    <a:lumOff val="40000"/>
                  </a:schemeClr>
                </a:solidFill>
                <a:latin typeface="Roboto Mono" pitchFamily="49" charset="0"/>
                <a:ea typeface="Roboto Mono" pitchFamily="49" charset="0"/>
              </a:rPr>
              <a:t>Action</a:t>
            </a:r>
          </a:p>
        </p:txBody>
      </p:sp>
      <p:cxnSp>
        <p:nvCxnSpPr>
          <p:cNvPr id="11" name="Straight Arrow Connector 10">
            <a:extLst>
              <a:ext uri="{FF2B5EF4-FFF2-40B4-BE49-F238E27FC236}">
                <a16:creationId xmlns:a16="http://schemas.microsoft.com/office/drawing/2014/main" id="{643EDE25-3872-AF04-51E7-C81EAD8DFA3A}"/>
              </a:ext>
            </a:extLst>
          </p:cNvPr>
          <p:cNvCxnSpPr>
            <a:cxnSpLocks/>
          </p:cNvCxnSpPr>
          <p:nvPr/>
        </p:nvCxnSpPr>
        <p:spPr>
          <a:xfrm>
            <a:off x="5846030" y="2385475"/>
            <a:ext cx="0" cy="530912"/>
          </a:xfrm>
          <a:prstGeom prst="straightConnector1">
            <a:avLst/>
          </a:prstGeom>
          <a:ln w="57150">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99534B4-C360-C63E-3D29-2DA53677CCBD}"/>
              </a:ext>
            </a:extLst>
          </p:cNvPr>
          <p:cNvCxnSpPr>
            <a:cxnSpLocks/>
          </p:cNvCxnSpPr>
          <p:nvPr/>
        </p:nvCxnSpPr>
        <p:spPr>
          <a:xfrm>
            <a:off x="5850017" y="3251814"/>
            <a:ext cx="0" cy="530912"/>
          </a:xfrm>
          <a:prstGeom prst="straightConnector1">
            <a:avLst/>
          </a:prstGeom>
          <a:ln w="57150">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36DE3AF1-9A3B-DE27-DA39-77C6D302E60E}"/>
              </a:ext>
            </a:extLst>
          </p:cNvPr>
          <p:cNvCxnSpPr>
            <a:cxnSpLocks/>
          </p:cNvCxnSpPr>
          <p:nvPr/>
        </p:nvCxnSpPr>
        <p:spPr>
          <a:xfrm>
            <a:off x="5845987" y="4129319"/>
            <a:ext cx="0" cy="530912"/>
          </a:xfrm>
          <a:prstGeom prst="straightConnector1">
            <a:avLst/>
          </a:prstGeom>
          <a:ln w="57150">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337579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a:latin typeface="Quattrocento Sans" panose="020B0502050000020003" pitchFamily="34" charset="0"/>
              </a:rPr>
              <a:t>The components of GitHub Actions</a:t>
            </a: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999067" y="2444341"/>
            <a:ext cx="4780264" cy="2532493"/>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1277093" y="3150071"/>
            <a:ext cx="4312820" cy="1569660"/>
          </a:xfrm>
          <a:prstGeom prst="rect">
            <a:avLst/>
          </a:prstGeom>
          <a:noFill/>
        </p:spPr>
        <p:txBody>
          <a:bodyPr wrap="square" rtlCol="0">
            <a:spAutoFit/>
          </a:bodyPr>
          <a:lstStyle/>
          <a:p>
            <a:pPr algn="just"/>
            <a:r>
              <a:rPr lang="en-US" sz="1600" b="0" i="0" dirty="0">
                <a:solidFill>
                  <a:srgbClr val="161616"/>
                </a:solidFill>
                <a:effectLst/>
                <a:latin typeface="Quattrocento Sans" panose="020B0502050000020003" pitchFamily="34" charset="0"/>
              </a:rPr>
              <a:t>A workflow is an automated process that you add to your repository. A workflow needs to have at least one job, and different events can trigger it. You can use it to build, test, package, release, or deploy your repository's project on GitHub.</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Text Placeholder 2">
            <a:extLst>
              <a:ext uri="{FF2B5EF4-FFF2-40B4-BE49-F238E27FC236}">
                <a16:creationId xmlns:a16="http://schemas.microsoft.com/office/drawing/2014/main" id="{9A963D3A-BB95-25FD-23AB-725F478C7682}"/>
              </a:ext>
            </a:extLst>
          </p:cNvPr>
          <p:cNvSpPr txBox="1">
            <a:spLocks/>
          </p:cNvSpPr>
          <p:nvPr/>
        </p:nvSpPr>
        <p:spPr>
          <a:xfrm>
            <a:off x="579438" y="807222"/>
            <a:ext cx="10347350" cy="877505"/>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To better see how these components work together, let's take a quick look at each one.</a:t>
            </a:r>
          </a:p>
        </p:txBody>
      </p:sp>
      <p:sp>
        <p:nvSpPr>
          <p:cNvPr id="6" name="Rectangle 5">
            <a:extLst>
              <a:ext uri="{FF2B5EF4-FFF2-40B4-BE49-F238E27FC236}">
                <a16:creationId xmlns:a16="http://schemas.microsoft.com/office/drawing/2014/main" id="{3BB4F15E-7F24-001C-3E54-23E0D44A7D98}"/>
              </a:ext>
            </a:extLst>
          </p:cNvPr>
          <p:cNvSpPr/>
          <p:nvPr/>
        </p:nvSpPr>
        <p:spPr>
          <a:xfrm>
            <a:off x="2730754" y="1659163"/>
            <a:ext cx="1316889" cy="615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76C8851-2340-3773-3BCE-EE2FF28A2C90}"/>
              </a:ext>
            </a:extLst>
          </p:cNvPr>
          <p:cNvSpPr>
            <a:spLocks/>
          </p:cNvSpPr>
          <p:nvPr/>
        </p:nvSpPr>
        <p:spPr>
          <a:xfrm>
            <a:off x="6412669" y="2444341"/>
            <a:ext cx="4780264" cy="3169536"/>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31" name="TextBox 30">
            <a:extLst>
              <a:ext uri="{FF2B5EF4-FFF2-40B4-BE49-F238E27FC236}">
                <a16:creationId xmlns:a16="http://schemas.microsoft.com/office/drawing/2014/main" id="{CDFE7ECA-8952-3DEE-9924-7738A5BA5132}"/>
              </a:ext>
            </a:extLst>
          </p:cNvPr>
          <p:cNvSpPr txBox="1"/>
          <p:nvPr/>
        </p:nvSpPr>
        <p:spPr>
          <a:xfrm>
            <a:off x="6634277" y="3150071"/>
            <a:ext cx="4360636" cy="2554545"/>
          </a:xfrm>
          <a:prstGeom prst="rect">
            <a:avLst/>
          </a:prstGeom>
          <a:noFill/>
        </p:spPr>
        <p:txBody>
          <a:bodyPr wrap="square" rtlCol="0">
            <a:spAutoFit/>
          </a:bodyPr>
          <a:lstStyle/>
          <a:p>
            <a:pPr algn="just"/>
            <a:r>
              <a:rPr lang="en-US" sz="1600" b="0" i="0" dirty="0">
                <a:solidFill>
                  <a:srgbClr val="161616"/>
                </a:solidFill>
                <a:effectLst/>
                <a:latin typeface="Quattrocento Sans" panose="020B0502050000020003" pitchFamily="34" charset="0"/>
              </a:rPr>
              <a:t>The job is the first major component within the workflow. A job is a section of the workflow that will be associated with a runner. A runner can be GitHub-hosted or self-hosted, and the job can run on a machine or in a container. You'll specify the runner with the </a:t>
            </a:r>
            <a:r>
              <a:rPr lang="en-US" sz="1400" b="0" i="0" dirty="0">
                <a:solidFill>
                  <a:srgbClr val="161616"/>
                </a:solidFill>
                <a:effectLst/>
                <a:highlight>
                  <a:srgbClr val="C0C0C0"/>
                </a:highlight>
                <a:latin typeface="Roboto Mono" pitchFamily="49" charset="0"/>
                <a:ea typeface="Roboto Mono" pitchFamily="49" charset="0"/>
              </a:rPr>
              <a:t>runs-on</a:t>
            </a:r>
            <a:r>
              <a:rPr lang="en-US" sz="1600" b="0" i="0" dirty="0">
                <a:solidFill>
                  <a:srgbClr val="161616"/>
                </a:solidFill>
                <a:effectLst/>
                <a:latin typeface="Quattrocento Sans" panose="020B0502050000020003" pitchFamily="34" charset="0"/>
              </a:rPr>
              <a:t>: attribute. Here, you're telling the workflow to run this job on </a:t>
            </a:r>
            <a:r>
              <a:rPr lang="en-US" sz="1400" b="0" i="0" dirty="0">
                <a:solidFill>
                  <a:srgbClr val="161616"/>
                </a:solidFill>
                <a:effectLst/>
                <a:highlight>
                  <a:srgbClr val="C0C0C0"/>
                </a:highlight>
                <a:latin typeface="Roboto Mono" pitchFamily="49" charset="0"/>
                <a:ea typeface="Roboto Mono" pitchFamily="49" charset="0"/>
              </a:rPr>
              <a:t>ubuntu-latest</a:t>
            </a:r>
            <a:r>
              <a:rPr lang="en-US" sz="1600" b="0" i="0" dirty="0">
                <a:solidFill>
                  <a:srgbClr val="161616"/>
                </a:solidFill>
                <a:effectLst/>
                <a:latin typeface="Quattrocento Sans" panose="020B0502050000020003" pitchFamily="34" charset="0"/>
              </a:rPr>
              <a:t>. We'll talk more about runners in the next unit.</a:t>
            </a:r>
          </a:p>
          <a:p>
            <a:endParaRPr lang="en-US" sz="1600" b="0" i="0" dirty="0">
              <a:solidFill>
                <a:srgbClr val="161616"/>
              </a:solidFill>
              <a:effectLst/>
              <a:latin typeface="Quattrocento Sans" panose="020B0502050000020003" pitchFamily="34" charset="0"/>
            </a:endParaRPr>
          </a:p>
        </p:txBody>
      </p:sp>
      <p:sp>
        <p:nvSpPr>
          <p:cNvPr id="32" name="Title 1">
            <a:extLst>
              <a:ext uri="{FF2B5EF4-FFF2-40B4-BE49-F238E27FC236}">
                <a16:creationId xmlns:a16="http://schemas.microsoft.com/office/drawing/2014/main" id="{3B24179A-3D60-02A0-5F50-717F5F283684}"/>
              </a:ext>
            </a:extLst>
          </p:cNvPr>
          <p:cNvSpPr txBox="1">
            <a:spLocks/>
          </p:cNvSpPr>
          <p:nvPr/>
        </p:nvSpPr>
        <p:spPr>
          <a:xfrm>
            <a:off x="1277093" y="2743881"/>
            <a:ext cx="2292135" cy="3154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0" i="0" kern="1200">
                <a:solidFill>
                  <a:schemeClr val="tx1"/>
                </a:solidFill>
                <a:latin typeface="+mj-lt"/>
                <a:ea typeface="+mj-ea"/>
                <a:cs typeface="Segoe UI Semibold" panose="020B0502040204020203" pitchFamily="34" charset="0"/>
              </a:defRPr>
            </a:lvl1pPr>
          </a:lstStyle>
          <a:p>
            <a:r>
              <a:rPr lang="en-US" b="1" dirty="0">
                <a:latin typeface="Quattrocento Sans" panose="020B0502050000020003" pitchFamily="34" charset="0"/>
              </a:rPr>
              <a:t>Workflows</a:t>
            </a:r>
          </a:p>
        </p:txBody>
      </p:sp>
      <p:sp>
        <p:nvSpPr>
          <p:cNvPr id="33" name="Title 1">
            <a:extLst>
              <a:ext uri="{FF2B5EF4-FFF2-40B4-BE49-F238E27FC236}">
                <a16:creationId xmlns:a16="http://schemas.microsoft.com/office/drawing/2014/main" id="{F8859052-C242-3790-99D3-926E3291C7DA}"/>
              </a:ext>
            </a:extLst>
          </p:cNvPr>
          <p:cNvSpPr txBox="1">
            <a:spLocks/>
          </p:cNvSpPr>
          <p:nvPr/>
        </p:nvSpPr>
        <p:spPr>
          <a:xfrm>
            <a:off x="6634277" y="2743881"/>
            <a:ext cx="2292135" cy="3154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0" i="0" kern="1200">
                <a:solidFill>
                  <a:schemeClr val="tx1"/>
                </a:solidFill>
                <a:latin typeface="+mj-lt"/>
                <a:ea typeface="+mj-ea"/>
                <a:cs typeface="Segoe UI Semibold" panose="020B0502040204020203" pitchFamily="34" charset="0"/>
              </a:defRPr>
            </a:lvl1pPr>
          </a:lstStyle>
          <a:p>
            <a:r>
              <a:rPr lang="en-US" b="1" dirty="0">
                <a:latin typeface="Quattrocento Sans" panose="020B0502050000020003" pitchFamily="34" charset="0"/>
              </a:rPr>
              <a:t>Jobs</a:t>
            </a:r>
          </a:p>
        </p:txBody>
      </p:sp>
      <p:sp>
        <p:nvSpPr>
          <p:cNvPr id="34" name="Rectangle 33">
            <a:extLst>
              <a:ext uri="{FF2B5EF4-FFF2-40B4-BE49-F238E27FC236}">
                <a16:creationId xmlns:a16="http://schemas.microsoft.com/office/drawing/2014/main" id="{D6AB5B29-B780-7636-1D59-B84A45846B00}"/>
              </a:ext>
            </a:extLst>
          </p:cNvPr>
          <p:cNvSpPr/>
          <p:nvPr/>
        </p:nvSpPr>
        <p:spPr>
          <a:xfrm>
            <a:off x="8144356" y="1679030"/>
            <a:ext cx="1316889" cy="615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Graphic 35" descr="Arrow circle outline">
            <a:extLst>
              <a:ext uri="{FF2B5EF4-FFF2-40B4-BE49-F238E27FC236}">
                <a16:creationId xmlns:a16="http://schemas.microsoft.com/office/drawing/2014/main" id="{A1EBB55A-3CC0-E93B-700A-A06C4F2A43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17815" y="1619718"/>
            <a:ext cx="742773" cy="742773"/>
          </a:xfrm>
          <a:prstGeom prst="rect">
            <a:avLst/>
          </a:prstGeom>
        </p:spPr>
      </p:pic>
      <p:pic>
        <p:nvPicPr>
          <p:cNvPr id="38" name="Graphic 37" descr="Briefcase outline">
            <a:extLst>
              <a:ext uri="{FF2B5EF4-FFF2-40B4-BE49-F238E27FC236}">
                <a16:creationId xmlns:a16="http://schemas.microsoft.com/office/drawing/2014/main" id="{37385D7D-45E7-A992-A512-95A0F2969E3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31413" y="1610829"/>
            <a:ext cx="742773" cy="742773"/>
          </a:xfrm>
          <a:prstGeom prst="rect">
            <a:avLst/>
          </a:prstGeom>
        </p:spPr>
      </p:pic>
    </p:spTree>
    <p:extLst>
      <p:ext uri="{BB962C8B-B14F-4D97-AF65-F5344CB8AC3E}">
        <p14:creationId xmlns:p14="http://schemas.microsoft.com/office/powerpoint/2010/main" val="188067695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a:latin typeface="Quattrocento Sans" panose="020B0502050000020003" pitchFamily="34" charset="0"/>
              </a:rPr>
              <a:t>The components of GitHub Actions</a:t>
            </a: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999067" y="2444341"/>
            <a:ext cx="4780264" cy="3014054"/>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1277093" y="3150071"/>
            <a:ext cx="4312820" cy="2062103"/>
          </a:xfrm>
          <a:prstGeom prst="rect">
            <a:avLst/>
          </a:prstGeom>
          <a:noFill/>
        </p:spPr>
        <p:txBody>
          <a:bodyPr wrap="square" rtlCol="0">
            <a:spAutoFit/>
          </a:bodyPr>
          <a:lstStyle/>
          <a:p>
            <a:pPr algn="just"/>
            <a:r>
              <a:rPr lang="en-US" sz="1600" b="0" i="0" dirty="0">
                <a:solidFill>
                  <a:srgbClr val="161616"/>
                </a:solidFill>
                <a:effectLst/>
                <a:latin typeface="Quattrocento Sans" panose="020B0502050000020003" pitchFamily="34" charset="0"/>
              </a:rPr>
              <a:t>A step is an individual task that can run commands in a job. In our preceding example, the step uses the action </a:t>
            </a:r>
            <a:r>
              <a:rPr lang="en-US" sz="1400" b="0" i="0" dirty="0">
                <a:solidFill>
                  <a:srgbClr val="161616"/>
                </a:solidFill>
                <a:effectLst/>
                <a:highlight>
                  <a:srgbClr val="C0C0C0"/>
                </a:highlight>
                <a:latin typeface="Roboto Mono" pitchFamily="49" charset="0"/>
                <a:ea typeface="Roboto Mono" pitchFamily="49" charset="0"/>
              </a:rPr>
              <a:t>actions/checkout@v2</a:t>
            </a:r>
            <a:r>
              <a:rPr lang="en-US" sz="1600" b="0" i="0" dirty="0">
                <a:solidFill>
                  <a:srgbClr val="161616"/>
                </a:solidFill>
                <a:effectLst/>
                <a:latin typeface="Quattrocento Sans" panose="020B0502050000020003" pitchFamily="34" charset="0"/>
              </a:rPr>
              <a:t> to check out the repository. What's interesting is the </a:t>
            </a:r>
            <a:r>
              <a:rPr lang="en-US" sz="1400" b="0" i="0" dirty="0">
                <a:solidFill>
                  <a:srgbClr val="161616"/>
                </a:solidFill>
                <a:effectLst/>
                <a:highlight>
                  <a:srgbClr val="C0C0C0"/>
                </a:highlight>
                <a:latin typeface="Roboto Mono" pitchFamily="49" charset="0"/>
                <a:ea typeface="Roboto Mono" pitchFamily="49" charset="0"/>
              </a:rPr>
              <a:t>uses: ./action-a</a:t>
            </a:r>
            <a:r>
              <a:rPr lang="en-US" sz="1600" b="0" i="0" dirty="0">
                <a:solidFill>
                  <a:srgbClr val="161616"/>
                </a:solidFill>
                <a:effectLst/>
                <a:latin typeface="Quattrocento Sans" panose="020B0502050000020003" pitchFamily="34" charset="0"/>
              </a:rPr>
              <a:t> value. This is the path to the container action that you'll build in an </a:t>
            </a:r>
            <a:r>
              <a:rPr lang="en-US" sz="1400" b="0" i="0" dirty="0" err="1">
                <a:solidFill>
                  <a:srgbClr val="161616"/>
                </a:solidFill>
                <a:effectLst/>
                <a:highlight>
                  <a:srgbClr val="C0C0C0"/>
                </a:highlight>
                <a:latin typeface="Roboto Mono" pitchFamily="49" charset="0"/>
                <a:ea typeface="Roboto Mono" pitchFamily="49" charset="0"/>
              </a:rPr>
              <a:t>action.yml</a:t>
            </a:r>
            <a:r>
              <a:rPr lang="en-US" sz="1600" b="0" i="0" dirty="0">
                <a:solidFill>
                  <a:srgbClr val="161616"/>
                </a:solidFill>
                <a:effectLst/>
                <a:latin typeface="Quattrocento Sans" panose="020B0502050000020003" pitchFamily="34" charset="0"/>
              </a:rPr>
              <a:t> file.</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Text Placeholder 2">
            <a:extLst>
              <a:ext uri="{FF2B5EF4-FFF2-40B4-BE49-F238E27FC236}">
                <a16:creationId xmlns:a16="http://schemas.microsoft.com/office/drawing/2014/main" id="{9A963D3A-BB95-25FD-23AB-725F478C7682}"/>
              </a:ext>
            </a:extLst>
          </p:cNvPr>
          <p:cNvSpPr txBox="1">
            <a:spLocks/>
          </p:cNvSpPr>
          <p:nvPr/>
        </p:nvSpPr>
        <p:spPr>
          <a:xfrm>
            <a:off x="579438" y="807222"/>
            <a:ext cx="10347350" cy="877505"/>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To better see how these components work together, let's take a quick look at each one.</a:t>
            </a:r>
          </a:p>
        </p:txBody>
      </p:sp>
      <p:sp>
        <p:nvSpPr>
          <p:cNvPr id="6" name="Rectangle 5">
            <a:extLst>
              <a:ext uri="{FF2B5EF4-FFF2-40B4-BE49-F238E27FC236}">
                <a16:creationId xmlns:a16="http://schemas.microsoft.com/office/drawing/2014/main" id="{3BB4F15E-7F24-001C-3E54-23E0D44A7D98}"/>
              </a:ext>
            </a:extLst>
          </p:cNvPr>
          <p:cNvSpPr/>
          <p:nvPr/>
        </p:nvSpPr>
        <p:spPr>
          <a:xfrm>
            <a:off x="2730754" y="1659163"/>
            <a:ext cx="1316889" cy="615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76C8851-2340-3773-3BCE-EE2FF28A2C90}"/>
              </a:ext>
            </a:extLst>
          </p:cNvPr>
          <p:cNvSpPr>
            <a:spLocks/>
          </p:cNvSpPr>
          <p:nvPr/>
        </p:nvSpPr>
        <p:spPr>
          <a:xfrm>
            <a:off x="6412669" y="2444341"/>
            <a:ext cx="4780264" cy="3169536"/>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31" name="TextBox 30">
            <a:extLst>
              <a:ext uri="{FF2B5EF4-FFF2-40B4-BE49-F238E27FC236}">
                <a16:creationId xmlns:a16="http://schemas.microsoft.com/office/drawing/2014/main" id="{CDFE7ECA-8952-3DEE-9924-7738A5BA5132}"/>
              </a:ext>
            </a:extLst>
          </p:cNvPr>
          <p:cNvSpPr txBox="1"/>
          <p:nvPr/>
        </p:nvSpPr>
        <p:spPr>
          <a:xfrm>
            <a:off x="6634277" y="3150071"/>
            <a:ext cx="4360636" cy="2308324"/>
          </a:xfrm>
          <a:prstGeom prst="rect">
            <a:avLst/>
          </a:prstGeom>
          <a:noFill/>
        </p:spPr>
        <p:txBody>
          <a:bodyPr wrap="square" rtlCol="0">
            <a:spAutoFit/>
          </a:bodyPr>
          <a:lstStyle/>
          <a:p>
            <a:pPr algn="just"/>
            <a:r>
              <a:rPr lang="en-US" sz="1600" b="0" i="0" dirty="0">
                <a:solidFill>
                  <a:srgbClr val="161616"/>
                </a:solidFill>
                <a:effectLst/>
                <a:latin typeface="Quattrocento Sans" panose="020B0502050000020003" pitchFamily="34" charset="0"/>
              </a:rPr>
              <a:t>The actions inside your workflow are the standalone commands that are executed. These standalone commands can reference GitHub actions such as using your own custom actions, or community actions like the one we use in the preceding example, </a:t>
            </a:r>
            <a:r>
              <a:rPr lang="en-US" sz="1400" b="0" i="0" dirty="0">
                <a:solidFill>
                  <a:srgbClr val="161616"/>
                </a:solidFill>
                <a:effectLst/>
                <a:highlight>
                  <a:srgbClr val="C0C0C0"/>
                </a:highlight>
                <a:latin typeface="Roboto Mono" pitchFamily="49" charset="0"/>
                <a:ea typeface="Roboto Mono" pitchFamily="49" charset="0"/>
              </a:rPr>
              <a:t>actions/checkout@v2</a:t>
            </a:r>
            <a:r>
              <a:rPr lang="en-US" sz="1600" b="0" i="0" dirty="0">
                <a:solidFill>
                  <a:srgbClr val="161616"/>
                </a:solidFill>
                <a:effectLst/>
                <a:latin typeface="Quattrocento Sans" panose="020B0502050000020003" pitchFamily="34" charset="0"/>
              </a:rPr>
              <a:t>. You can also run commands such as </a:t>
            </a:r>
            <a:r>
              <a:rPr lang="en-US" sz="1400" b="0" i="0" dirty="0">
                <a:solidFill>
                  <a:srgbClr val="161616"/>
                </a:solidFill>
                <a:effectLst/>
                <a:highlight>
                  <a:srgbClr val="C0C0C0"/>
                </a:highlight>
                <a:latin typeface="Roboto Mono" pitchFamily="49" charset="0"/>
                <a:ea typeface="Roboto Mono" pitchFamily="49" charset="0"/>
              </a:rPr>
              <a:t>run: </a:t>
            </a:r>
            <a:r>
              <a:rPr lang="en-US" sz="1400" b="0" i="0" dirty="0" err="1">
                <a:solidFill>
                  <a:srgbClr val="161616"/>
                </a:solidFill>
                <a:effectLst/>
                <a:highlight>
                  <a:srgbClr val="C0C0C0"/>
                </a:highlight>
                <a:latin typeface="Roboto Mono" pitchFamily="49" charset="0"/>
                <a:ea typeface="Roboto Mono" pitchFamily="49" charset="0"/>
              </a:rPr>
              <a:t>npm</a:t>
            </a:r>
            <a:r>
              <a:rPr lang="en-US" sz="1400" b="0" i="0" dirty="0">
                <a:solidFill>
                  <a:srgbClr val="161616"/>
                </a:solidFill>
                <a:effectLst/>
                <a:highlight>
                  <a:srgbClr val="C0C0C0"/>
                </a:highlight>
                <a:latin typeface="Roboto Mono" pitchFamily="49" charset="0"/>
                <a:ea typeface="Roboto Mono" pitchFamily="49" charset="0"/>
              </a:rPr>
              <a:t> install -g bats</a:t>
            </a:r>
            <a:r>
              <a:rPr lang="en-US" sz="1600" b="0" i="0" dirty="0">
                <a:solidFill>
                  <a:srgbClr val="161616"/>
                </a:solidFill>
                <a:effectLst/>
                <a:latin typeface="Quattrocento Sans" panose="020B0502050000020003" pitchFamily="34" charset="0"/>
              </a:rPr>
              <a:t> to execute a command on the runner.</a:t>
            </a:r>
          </a:p>
        </p:txBody>
      </p:sp>
      <p:sp>
        <p:nvSpPr>
          <p:cNvPr id="32" name="Title 1">
            <a:extLst>
              <a:ext uri="{FF2B5EF4-FFF2-40B4-BE49-F238E27FC236}">
                <a16:creationId xmlns:a16="http://schemas.microsoft.com/office/drawing/2014/main" id="{3B24179A-3D60-02A0-5F50-717F5F283684}"/>
              </a:ext>
            </a:extLst>
          </p:cNvPr>
          <p:cNvSpPr txBox="1">
            <a:spLocks/>
          </p:cNvSpPr>
          <p:nvPr/>
        </p:nvSpPr>
        <p:spPr>
          <a:xfrm>
            <a:off x="1277093" y="2743881"/>
            <a:ext cx="2292135" cy="3154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0" i="0" kern="1200">
                <a:solidFill>
                  <a:schemeClr val="tx1"/>
                </a:solidFill>
                <a:latin typeface="+mj-lt"/>
                <a:ea typeface="+mj-ea"/>
                <a:cs typeface="Segoe UI Semibold" panose="020B0502040204020203" pitchFamily="34" charset="0"/>
              </a:defRPr>
            </a:lvl1pPr>
          </a:lstStyle>
          <a:p>
            <a:r>
              <a:rPr lang="en-US" b="1" dirty="0">
                <a:latin typeface="Quattrocento Sans" panose="020B0502050000020003" pitchFamily="34" charset="0"/>
              </a:rPr>
              <a:t>Steps</a:t>
            </a:r>
          </a:p>
        </p:txBody>
      </p:sp>
      <p:sp>
        <p:nvSpPr>
          <p:cNvPr id="33" name="Title 1">
            <a:extLst>
              <a:ext uri="{FF2B5EF4-FFF2-40B4-BE49-F238E27FC236}">
                <a16:creationId xmlns:a16="http://schemas.microsoft.com/office/drawing/2014/main" id="{F8859052-C242-3790-99D3-926E3291C7DA}"/>
              </a:ext>
            </a:extLst>
          </p:cNvPr>
          <p:cNvSpPr txBox="1">
            <a:spLocks/>
          </p:cNvSpPr>
          <p:nvPr/>
        </p:nvSpPr>
        <p:spPr>
          <a:xfrm>
            <a:off x="6634277" y="2743881"/>
            <a:ext cx="2292135" cy="3154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0" i="0" kern="1200">
                <a:solidFill>
                  <a:schemeClr val="tx1"/>
                </a:solidFill>
                <a:latin typeface="+mj-lt"/>
                <a:ea typeface="+mj-ea"/>
                <a:cs typeface="Segoe UI Semibold" panose="020B0502040204020203" pitchFamily="34" charset="0"/>
              </a:defRPr>
            </a:lvl1pPr>
          </a:lstStyle>
          <a:p>
            <a:r>
              <a:rPr lang="en-US" b="1" dirty="0">
                <a:latin typeface="Quattrocento Sans" panose="020B0502050000020003" pitchFamily="34" charset="0"/>
              </a:rPr>
              <a:t>Actions</a:t>
            </a:r>
          </a:p>
        </p:txBody>
      </p:sp>
      <p:sp>
        <p:nvSpPr>
          <p:cNvPr id="34" name="Rectangle 33">
            <a:extLst>
              <a:ext uri="{FF2B5EF4-FFF2-40B4-BE49-F238E27FC236}">
                <a16:creationId xmlns:a16="http://schemas.microsoft.com/office/drawing/2014/main" id="{D6AB5B29-B780-7636-1D59-B84A45846B00}"/>
              </a:ext>
            </a:extLst>
          </p:cNvPr>
          <p:cNvSpPr/>
          <p:nvPr/>
        </p:nvSpPr>
        <p:spPr>
          <a:xfrm>
            <a:off x="8144356" y="1679030"/>
            <a:ext cx="1316889" cy="615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Inbox Check outline">
            <a:extLst>
              <a:ext uri="{FF2B5EF4-FFF2-40B4-BE49-F238E27FC236}">
                <a16:creationId xmlns:a16="http://schemas.microsoft.com/office/drawing/2014/main" id="{829C79EC-0C1B-61AC-EF58-52EB791C15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31998" y="1505797"/>
            <a:ext cx="914400" cy="914400"/>
          </a:xfrm>
          <a:prstGeom prst="rect">
            <a:avLst/>
          </a:prstGeom>
        </p:spPr>
      </p:pic>
      <p:pic>
        <p:nvPicPr>
          <p:cNvPr id="9" name="Graphic 8" descr="Cause And Effect outline">
            <a:extLst>
              <a:ext uri="{FF2B5EF4-FFF2-40B4-BE49-F238E27FC236}">
                <a16:creationId xmlns:a16="http://schemas.microsoft.com/office/drawing/2014/main" id="{CBF86C45-AE40-CCEE-4E94-ADC249AEB99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69212" y="1570905"/>
            <a:ext cx="914400" cy="914400"/>
          </a:xfrm>
          <a:prstGeom prst="rect">
            <a:avLst/>
          </a:prstGeom>
        </p:spPr>
      </p:pic>
    </p:spTree>
    <p:extLst>
      <p:ext uri="{BB962C8B-B14F-4D97-AF65-F5344CB8AC3E}">
        <p14:creationId xmlns:p14="http://schemas.microsoft.com/office/powerpoint/2010/main" val="358921355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a:latin typeface="Quattrocento Sans" panose="020B0502050000020003" pitchFamily="34" charset="0"/>
              </a:rPr>
              <a:t>Configure workflows to run for scheduled events</a:t>
            </a:r>
          </a:p>
        </p:txBody>
      </p:sp>
      <p:sp>
        <p:nvSpPr>
          <p:cNvPr id="3" name="Text Placeholder 2">
            <a:extLst>
              <a:ext uri="{FF2B5EF4-FFF2-40B4-BE49-F238E27FC236}">
                <a16:creationId xmlns:a16="http://schemas.microsoft.com/office/drawing/2014/main" id="{B77D300C-3882-AB9E-DA1E-A5312C6D8EC2}"/>
              </a:ext>
            </a:extLst>
          </p:cNvPr>
          <p:cNvSpPr txBox="1">
            <a:spLocks/>
          </p:cNvSpPr>
          <p:nvPr/>
        </p:nvSpPr>
        <p:spPr>
          <a:xfrm>
            <a:off x="579437" y="1181995"/>
            <a:ext cx="10748031"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buNone/>
            </a:pPr>
            <a:r>
              <a:rPr lang="en-US" sz="1800" b="0" i="0" dirty="0">
                <a:solidFill>
                  <a:srgbClr val="161616"/>
                </a:solidFill>
                <a:effectLst/>
                <a:latin typeface="Quattrocento Sans" panose="020B0502050000020003" pitchFamily="34" charset="0"/>
              </a:rPr>
              <a:t>As mentioned previously, you can configure your workflows to run when specific activity occurs on GitHub, when an event outside of GitHub happens, or at a scheduled time. The </a:t>
            </a:r>
            <a:r>
              <a:rPr lang="en-US" b="0" i="0" dirty="0">
                <a:solidFill>
                  <a:srgbClr val="161616"/>
                </a:solidFill>
                <a:effectLst/>
                <a:highlight>
                  <a:srgbClr val="C0C0C0"/>
                </a:highlight>
                <a:latin typeface="Roboto Mono" pitchFamily="49" charset="0"/>
                <a:ea typeface="Roboto Mono" pitchFamily="49" charset="0"/>
              </a:rPr>
              <a:t>schedule</a:t>
            </a:r>
            <a:r>
              <a:rPr lang="en-US" sz="1800" b="0" i="0" dirty="0">
                <a:solidFill>
                  <a:srgbClr val="161616"/>
                </a:solidFill>
                <a:effectLst/>
                <a:latin typeface="Quattrocento Sans" panose="020B0502050000020003" pitchFamily="34" charset="0"/>
              </a:rPr>
              <a:t> event allows you to trigger a workflow to run at specific UTC times using </a:t>
            </a:r>
            <a:r>
              <a:rPr lang="en-US" sz="1800" b="0" i="0" u="none" strike="noStrike" dirty="0">
                <a:solidFill>
                  <a:srgbClr val="00B0F0"/>
                </a:solidFill>
                <a:effectLst/>
                <a:latin typeface="Quattrocento Sans" panose="020B0502050000020003" pitchFamily="34" charset="0"/>
                <a:hlinkClick r:id="rId3">
                  <a:extLst>
                    <a:ext uri="{A12FA001-AC4F-418D-AE19-62706E023703}">
                      <ahyp:hlinkClr xmlns:ahyp="http://schemas.microsoft.com/office/drawing/2018/hyperlinkcolor" val="tx"/>
                    </a:ext>
                  </a:extLst>
                </a:hlinkClick>
              </a:rPr>
              <a:t>POSIX cron syntax</a:t>
            </a:r>
            <a:r>
              <a:rPr lang="en-US" sz="1800" b="0" i="0" dirty="0">
                <a:solidFill>
                  <a:srgbClr val="161616"/>
                </a:solidFill>
                <a:effectLst/>
                <a:latin typeface="Quattrocento Sans" panose="020B0502050000020003" pitchFamily="34" charset="0"/>
              </a:rPr>
              <a:t>. </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6" name="Text Placeholder 2">
            <a:extLst>
              <a:ext uri="{FF2B5EF4-FFF2-40B4-BE49-F238E27FC236}">
                <a16:creationId xmlns:a16="http://schemas.microsoft.com/office/drawing/2014/main" id="{2B7A2AC7-73D2-C3D7-640D-F0AF2A46D3F9}"/>
              </a:ext>
            </a:extLst>
          </p:cNvPr>
          <p:cNvSpPr txBox="1">
            <a:spLocks/>
          </p:cNvSpPr>
          <p:nvPr/>
        </p:nvSpPr>
        <p:spPr>
          <a:xfrm>
            <a:off x="579437" y="2304950"/>
            <a:ext cx="7822268" cy="492442"/>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1800" b="0" i="0" dirty="0">
                <a:effectLst/>
                <a:latin typeface="Quattrocento Sans" panose="020B0502050000020003" pitchFamily="34" charset="0"/>
              </a:rPr>
              <a:t>This </a:t>
            </a:r>
            <a:r>
              <a:rPr lang="en-US" sz="1800" b="0" i="0" dirty="0" err="1">
                <a:effectLst/>
                <a:latin typeface="Quattrocento Sans" panose="020B0502050000020003" pitchFamily="34" charset="0"/>
              </a:rPr>
              <a:t>cron</a:t>
            </a:r>
            <a:r>
              <a:rPr lang="en-US" sz="1800" b="0" i="0" dirty="0">
                <a:effectLst/>
                <a:latin typeface="Quattrocento Sans" panose="020B0502050000020003" pitchFamily="34" charset="0"/>
              </a:rPr>
              <a:t> syntax has five </a:t>
            </a:r>
            <a:r>
              <a:rPr lang="en-US" sz="1800" b="0" i="0" dirty="0">
                <a:effectLst/>
                <a:highlight>
                  <a:srgbClr val="C0C0C0"/>
                </a:highlight>
                <a:latin typeface="Roboto Mono" pitchFamily="49" charset="0"/>
                <a:ea typeface="Roboto Mono" pitchFamily="49" charset="0"/>
              </a:rPr>
              <a:t>*</a:t>
            </a:r>
            <a:r>
              <a:rPr lang="en-US" sz="1800" b="0" i="0" dirty="0">
                <a:effectLst/>
                <a:latin typeface="Quattrocento Sans" panose="020B0502050000020003" pitchFamily="34" charset="0"/>
              </a:rPr>
              <a:t> fields, and each field represents a unit of time.</a:t>
            </a:r>
          </a:p>
        </p:txBody>
      </p:sp>
      <p:pic>
        <p:nvPicPr>
          <p:cNvPr id="8" name="Picture 7" descr="A number and numbers with arrows&#10;&#10;Description automatically generated with medium confidence">
            <a:extLst>
              <a:ext uri="{FF2B5EF4-FFF2-40B4-BE49-F238E27FC236}">
                <a16:creationId xmlns:a16="http://schemas.microsoft.com/office/drawing/2014/main" id="{5CE7220E-E792-9523-E20A-32464D2F65CD}"/>
              </a:ext>
            </a:extLst>
          </p:cNvPr>
          <p:cNvPicPr>
            <a:picLocks noChangeAspect="1"/>
          </p:cNvPicPr>
          <p:nvPr/>
        </p:nvPicPr>
        <p:blipFill>
          <a:blip r:embed="rId4"/>
          <a:stretch>
            <a:fillRect/>
          </a:stretch>
        </p:blipFill>
        <p:spPr>
          <a:xfrm>
            <a:off x="481122" y="2904192"/>
            <a:ext cx="10748030" cy="3408799"/>
          </a:xfrm>
          <a:prstGeom prst="rect">
            <a:avLst/>
          </a:prstGeom>
        </p:spPr>
      </p:pic>
    </p:spTree>
    <p:extLst>
      <p:ext uri="{BB962C8B-B14F-4D97-AF65-F5344CB8AC3E}">
        <p14:creationId xmlns:p14="http://schemas.microsoft.com/office/powerpoint/2010/main" val="145885347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Scheduled Events Examples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9D030901-830F-E483-BA77-449EDAD50BC7}"/>
              </a:ext>
            </a:extLst>
          </p:cNvPr>
          <p:cNvSpPr/>
          <p:nvPr/>
        </p:nvSpPr>
        <p:spPr>
          <a:xfrm>
            <a:off x="692778" y="2474194"/>
            <a:ext cx="4799917" cy="124833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1081126" y="2469585"/>
            <a:ext cx="4003990" cy="1252948"/>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tx2">
                    <a:lumMod val="50000"/>
                    <a:lumOff val="50000"/>
                  </a:schemeClr>
                </a:solidFill>
                <a:latin typeface="Roboto Mono" pitchFamily="49" charset="0"/>
                <a:ea typeface="Roboto Mono" pitchFamily="49" charset="0"/>
              </a:rPr>
              <a:t>on:</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schedule:</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 </a:t>
            </a:r>
            <a:r>
              <a:rPr lang="en-US" dirty="0" err="1">
                <a:solidFill>
                  <a:schemeClr val="tx2">
                    <a:lumMod val="50000"/>
                    <a:lumOff val="50000"/>
                  </a:schemeClr>
                </a:solidFill>
                <a:latin typeface="Roboto Mono" pitchFamily="49" charset="0"/>
                <a:ea typeface="Roboto Mono" pitchFamily="49" charset="0"/>
              </a:rPr>
              <a:t>cron</a:t>
            </a:r>
            <a:r>
              <a:rPr lang="en-US" dirty="0">
                <a:solidFill>
                  <a:schemeClr val="tx2">
                    <a:lumMod val="50000"/>
                    <a:lumOff val="50000"/>
                  </a:schemeClr>
                </a:solidFill>
                <a:latin typeface="Roboto Mono" pitchFamily="49" charset="0"/>
                <a:ea typeface="Roboto Mono" pitchFamily="49" charset="0"/>
              </a:rPr>
              <a:t>:  </a:t>
            </a:r>
            <a:r>
              <a:rPr lang="en-US" dirty="0">
                <a:solidFill>
                  <a:srgbClr val="BE4C41"/>
                </a:solidFill>
                <a:latin typeface="Roboto Mono" pitchFamily="49" charset="0"/>
                <a:ea typeface="Roboto Mono" pitchFamily="49" charset="0"/>
              </a:rPr>
              <a:t>'*/15 * * * *'</a:t>
            </a: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692778" y="1389169"/>
            <a:ext cx="4799917" cy="49244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For example, if you wanted to run a workflow every 15 minutes, the </a:t>
            </a:r>
            <a:r>
              <a:rPr lang="en-US" sz="1800" b="0" i="0" dirty="0">
                <a:solidFill>
                  <a:srgbClr val="161616"/>
                </a:solidFill>
                <a:effectLst/>
                <a:highlight>
                  <a:srgbClr val="C0C0C0"/>
                </a:highlight>
                <a:latin typeface="Roboto Mono" pitchFamily="49" charset="0"/>
                <a:ea typeface="Roboto Mono" pitchFamily="49" charset="0"/>
              </a:rPr>
              <a:t>schedule</a:t>
            </a:r>
            <a:r>
              <a:rPr lang="en-US" sz="1800" b="0" i="0" dirty="0">
                <a:solidFill>
                  <a:srgbClr val="161616"/>
                </a:solidFill>
                <a:effectLst/>
                <a:latin typeface="Roboto Mono" pitchFamily="49" charset="0"/>
                <a:ea typeface="Roboto Mono" pitchFamily="49" charset="0"/>
              </a:rPr>
              <a:t> </a:t>
            </a:r>
            <a:r>
              <a:rPr lang="en-US" sz="2000" b="0" i="0" dirty="0">
                <a:solidFill>
                  <a:srgbClr val="161616"/>
                </a:solidFill>
                <a:effectLst/>
                <a:latin typeface="Quattrocento Sans" panose="020B0502050000020003" pitchFamily="34" charset="0"/>
                <a:ea typeface="Roboto Mono" pitchFamily="49" charset="0"/>
              </a:rPr>
              <a:t>event would look like the following:</a:t>
            </a:r>
          </a:p>
        </p:txBody>
      </p:sp>
      <p:sp>
        <p:nvSpPr>
          <p:cNvPr id="6" name="Text Placeholder 2">
            <a:extLst>
              <a:ext uri="{FF2B5EF4-FFF2-40B4-BE49-F238E27FC236}">
                <a16:creationId xmlns:a16="http://schemas.microsoft.com/office/drawing/2014/main" id="{310374EB-DF36-A218-2655-5BF4A1B4304D}"/>
              </a:ext>
            </a:extLst>
          </p:cNvPr>
          <p:cNvSpPr txBox="1">
            <a:spLocks/>
          </p:cNvSpPr>
          <p:nvPr/>
        </p:nvSpPr>
        <p:spPr>
          <a:xfrm>
            <a:off x="692778" y="4580163"/>
            <a:ext cx="10418095" cy="492443"/>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ea typeface="Roboto Mono" pitchFamily="49" charset="0"/>
              </a:rPr>
              <a:t>You can also use operators to specify a range of values or to dial in your scheduled workflow. The shortest interval you can run scheduled workflows is once every five minutes, and they run on the latest commit on the default or base branch.</a:t>
            </a:r>
          </a:p>
        </p:txBody>
      </p:sp>
      <p:sp>
        <p:nvSpPr>
          <p:cNvPr id="5" name="Rectangle 4">
            <a:extLst>
              <a:ext uri="{FF2B5EF4-FFF2-40B4-BE49-F238E27FC236}">
                <a16:creationId xmlns:a16="http://schemas.microsoft.com/office/drawing/2014/main" id="{E2DDA60E-850C-5532-F4C2-EADA5939A9F6}"/>
              </a:ext>
            </a:extLst>
          </p:cNvPr>
          <p:cNvSpPr/>
          <p:nvPr/>
        </p:nvSpPr>
        <p:spPr>
          <a:xfrm>
            <a:off x="6310957" y="2474194"/>
            <a:ext cx="4799917" cy="124833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 Placeholder 2">
            <a:extLst>
              <a:ext uri="{FF2B5EF4-FFF2-40B4-BE49-F238E27FC236}">
                <a16:creationId xmlns:a16="http://schemas.microsoft.com/office/drawing/2014/main" id="{D3F86212-8708-25CB-DEA9-8D599079F6C2}"/>
              </a:ext>
            </a:extLst>
          </p:cNvPr>
          <p:cNvSpPr txBox="1">
            <a:spLocks/>
          </p:cNvSpPr>
          <p:nvPr/>
        </p:nvSpPr>
        <p:spPr>
          <a:xfrm>
            <a:off x="6699305" y="2469585"/>
            <a:ext cx="4003990" cy="1252948"/>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tx2">
                    <a:lumMod val="50000"/>
                    <a:lumOff val="50000"/>
                  </a:schemeClr>
                </a:solidFill>
                <a:latin typeface="Roboto Mono" pitchFamily="49" charset="0"/>
                <a:ea typeface="Roboto Mono" pitchFamily="49" charset="0"/>
              </a:rPr>
              <a:t>on:</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schedule:</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 </a:t>
            </a:r>
            <a:r>
              <a:rPr lang="en-US" dirty="0" err="1">
                <a:solidFill>
                  <a:schemeClr val="tx2">
                    <a:lumMod val="50000"/>
                    <a:lumOff val="50000"/>
                  </a:schemeClr>
                </a:solidFill>
                <a:latin typeface="Roboto Mono" pitchFamily="49" charset="0"/>
                <a:ea typeface="Roboto Mono" pitchFamily="49" charset="0"/>
              </a:rPr>
              <a:t>cron</a:t>
            </a:r>
            <a:r>
              <a:rPr lang="en-US" dirty="0">
                <a:solidFill>
                  <a:schemeClr val="tx2">
                    <a:lumMod val="50000"/>
                    <a:lumOff val="50000"/>
                  </a:schemeClr>
                </a:solidFill>
                <a:latin typeface="Roboto Mono" pitchFamily="49" charset="0"/>
                <a:ea typeface="Roboto Mono" pitchFamily="49" charset="0"/>
              </a:rPr>
              <a:t>:  </a:t>
            </a:r>
            <a:r>
              <a:rPr lang="en-US" dirty="0">
                <a:solidFill>
                  <a:srgbClr val="BE4C41"/>
                </a:solidFill>
                <a:latin typeface="Roboto Mono" pitchFamily="49" charset="0"/>
                <a:ea typeface="Roboto Mono" pitchFamily="49" charset="0"/>
              </a:rPr>
              <a:t>'0 3 * * SUN'</a:t>
            </a:r>
          </a:p>
        </p:txBody>
      </p:sp>
      <p:sp>
        <p:nvSpPr>
          <p:cNvPr id="8" name="Text Placeholder 2">
            <a:extLst>
              <a:ext uri="{FF2B5EF4-FFF2-40B4-BE49-F238E27FC236}">
                <a16:creationId xmlns:a16="http://schemas.microsoft.com/office/drawing/2014/main" id="{14F6D0CB-7C5B-6C99-9C77-7F6A2EA2B78D}"/>
              </a:ext>
            </a:extLst>
          </p:cNvPr>
          <p:cNvSpPr txBox="1">
            <a:spLocks/>
          </p:cNvSpPr>
          <p:nvPr/>
        </p:nvSpPr>
        <p:spPr>
          <a:xfrm>
            <a:off x="6310957" y="1389169"/>
            <a:ext cx="4799917" cy="49244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And if you wanted to run a workflow every Sunday at 3:00am, the </a:t>
            </a:r>
            <a:r>
              <a:rPr lang="en-US" sz="1800" b="0" i="0" dirty="0">
                <a:solidFill>
                  <a:srgbClr val="161616"/>
                </a:solidFill>
                <a:effectLst/>
                <a:highlight>
                  <a:srgbClr val="C0C0C0"/>
                </a:highlight>
                <a:latin typeface="Roboto Mono" pitchFamily="49" charset="0"/>
                <a:ea typeface="Roboto Mono" pitchFamily="49" charset="0"/>
              </a:rPr>
              <a:t>schedule</a:t>
            </a:r>
            <a:r>
              <a:rPr lang="en-US" sz="2000" b="0" i="0" dirty="0">
                <a:solidFill>
                  <a:srgbClr val="161616"/>
                </a:solidFill>
                <a:effectLst/>
                <a:latin typeface="Quattrocento Sans" panose="020B0502050000020003" pitchFamily="34" charset="0"/>
                <a:ea typeface="Roboto Mono" pitchFamily="49" charset="0"/>
              </a:rPr>
              <a:t> event would look like this:</a:t>
            </a:r>
          </a:p>
        </p:txBody>
      </p:sp>
    </p:spTree>
    <p:extLst>
      <p:ext uri="{BB962C8B-B14F-4D97-AF65-F5344CB8AC3E}">
        <p14:creationId xmlns:p14="http://schemas.microsoft.com/office/powerpoint/2010/main" val="3058306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9D030901-830F-E483-BA77-449EDAD50BC7}"/>
              </a:ext>
            </a:extLst>
          </p:cNvPr>
          <p:cNvSpPr/>
          <p:nvPr/>
        </p:nvSpPr>
        <p:spPr>
          <a:xfrm>
            <a:off x="660780" y="4133412"/>
            <a:ext cx="6322172" cy="1964367"/>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900023" y="4283942"/>
            <a:ext cx="6082929" cy="166330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bg1"/>
                </a:solidFill>
                <a:latin typeface="Roboto Mono" pitchFamily="49" charset="0"/>
                <a:ea typeface="Roboto Mono" pitchFamily="49" charset="0"/>
              </a:rPr>
              <a:t>curl \</a:t>
            </a:r>
          </a:p>
          <a:p>
            <a:pPr marL="0" indent="0">
              <a:spcBef>
                <a:spcPts val="0"/>
              </a:spcBef>
              <a:buNone/>
            </a:pPr>
            <a:r>
              <a:rPr lang="en-US" dirty="0">
                <a:solidFill>
                  <a:schemeClr val="bg1"/>
                </a:solidFill>
                <a:latin typeface="Roboto Mono" pitchFamily="49" charset="0"/>
                <a:ea typeface="Roboto Mono" pitchFamily="49" charset="0"/>
              </a:rPr>
              <a:t>  -X POST \</a:t>
            </a:r>
          </a:p>
          <a:p>
            <a:pPr marL="0" indent="0">
              <a:spcBef>
                <a:spcPts val="0"/>
              </a:spcBef>
              <a:buNone/>
            </a:pPr>
            <a:r>
              <a:rPr lang="en-US" dirty="0">
                <a:solidFill>
                  <a:schemeClr val="bg1"/>
                </a:solidFill>
                <a:latin typeface="Roboto Mono" pitchFamily="49" charset="0"/>
                <a:ea typeface="Roboto Mono" pitchFamily="49" charset="0"/>
              </a:rPr>
              <a:t>  -H </a:t>
            </a:r>
            <a:r>
              <a:rPr lang="en-US" dirty="0">
                <a:solidFill>
                  <a:srgbClr val="BE4C41"/>
                </a:solidFill>
                <a:latin typeface="Roboto Mono" pitchFamily="49" charset="0"/>
                <a:ea typeface="Roboto Mono" pitchFamily="49" charset="0"/>
              </a:rPr>
              <a:t>"Accept: application/vnd.github.v3+json"</a:t>
            </a:r>
            <a:r>
              <a:rPr lang="en-US" dirty="0">
                <a:solidFill>
                  <a:schemeClr val="bg1"/>
                </a:solidFill>
                <a:latin typeface="Roboto Mono" pitchFamily="49" charset="0"/>
                <a:ea typeface="Roboto Mono" pitchFamily="49" charset="0"/>
              </a:rPr>
              <a:t> \</a:t>
            </a:r>
          </a:p>
          <a:p>
            <a:pPr marL="0" indent="0">
              <a:spcBef>
                <a:spcPts val="0"/>
              </a:spcBef>
              <a:buNone/>
            </a:pPr>
            <a:r>
              <a:rPr lang="en-US" dirty="0">
                <a:solidFill>
                  <a:schemeClr val="bg1"/>
                </a:solidFill>
                <a:latin typeface="Roboto Mono" pitchFamily="49" charset="0"/>
                <a:ea typeface="Roboto Mono" pitchFamily="49" charset="0"/>
              </a:rPr>
              <a:t>  https://</a:t>
            </a:r>
            <a:r>
              <a:rPr lang="en-US" dirty="0" err="1">
                <a:solidFill>
                  <a:schemeClr val="bg1"/>
                </a:solidFill>
                <a:latin typeface="Roboto Mono" pitchFamily="49" charset="0"/>
                <a:ea typeface="Roboto Mono" pitchFamily="49" charset="0"/>
              </a:rPr>
              <a:t>api.github.com</a:t>
            </a:r>
            <a:r>
              <a:rPr lang="en-US" dirty="0">
                <a:solidFill>
                  <a:schemeClr val="bg1"/>
                </a:solidFill>
                <a:latin typeface="Roboto Mono" pitchFamily="49" charset="0"/>
                <a:ea typeface="Roboto Mono" pitchFamily="49" charset="0"/>
              </a:rPr>
              <a:t>/repos/</a:t>
            </a:r>
            <a:r>
              <a:rPr lang="en-US" dirty="0" err="1">
                <a:solidFill>
                  <a:schemeClr val="bg1"/>
                </a:solidFill>
                <a:latin typeface="Roboto Mono" pitchFamily="49" charset="0"/>
                <a:ea typeface="Roboto Mono" pitchFamily="49" charset="0"/>
              </a:rPr>
              <a:t>octocat</a:t>
            </a:r>
            <a:r>
              <a:rPr lang="en-US" dirty="0">
                <a:solidFill>
                  <a:schemeClr val="bg1"/>
                </a:solidFill>
                <a:latin typeface="Roboto Mono" pitchFamily="49" charset="0"/>
                <a:ea typeface="Roboto Mono" pitchFamily="49" charset="0"/>
              </a:rPr>
              <a:t>/hello-world/dispatches \</a:t>
            </a:r>
          </a:p>
          <a:p>
            <a:pPr marL="0" indent="0">
              <a:spcBef>
                <a:spcPts val="0"/>
              </a:spcBef>
              <a:buNone/>
            </a:pPr>
            <a:r>
              <a:rPr lang="en-US" dirty="0">
                <a:solidFill>
                  <a:schemeClr val="bg1"/>
                </a:solidFill>
                <a:latin typeface="Roboto Mono" pitchFamily="49" charset="0"/>
                <a:ea typeface="Roboto Mono" pitchFamily="49" charset="0"/>
              </a:rPr>
              <a:t>  -d </a:t>
            </a:r>
            <a:r>
              <a:rPr lang="en-US" dirty="0">
                <a:solidFill>
                  <a:srgbClr val="BE4C41"/>
                </a:solidFill>
                <a:latin typeface="Roboto Mono" pitchFamily="49" charset="0"/>
                <a:ea typeface="Roboto Mono" pitchFamily="49" charset="0"/>
              </a:rPr>
              <a:t>'{"event_type":"</a:t>
            </a:r>
            <a:r>
              <a:rPr lang="en-US" dirty="0" err="1">
                <a:solidFill>
                  <a:srgbClr val="BE4C41"/>
                </a:solidFill>
                <a:latin typeface="Roboto Mono" pitchFamily="49" charset="0"/>
                <a:ea typeface="Roboto Mono" pitchFamily="49" charset="0"/>
              </a:rPr>
              <a:t>event_type</a:t>
            </a:r>
            <a:r>
              <a:rPr lang="en-US" dirty="0">
                <a:solidFill>
                  <a:srgbClr val="BE4C41"/>
                </a:solidFill>
                <a:latin typeface="Roboto Mono" pitchFamily="49" charset="0"/>
                <a:ea typeface="Roboto Mono" pitchFamily="49" charset="0"/>
              </a:rPr>
              <a:t>"}'</a:t>
            </a: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660780" y="2478366"/>
            <a:ext cx="10870440" cy="49244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In addition to </a:t>
            </a:r>
            <a:r>
              <a:rPr lang="en-US" sz="1800" b="0" i="0" dirty="0" err="1">
                <a:solidFill>
                  <a:srgbClr val="161616"/>
                </a:solidFill>
                <a:effectLst/>
                <a:highlight>
                  <a:srgbClr val="C0C0C0"/>
                </a:highlight>
                <a:latin typeface="Roboto Mono" pitchFamily="49" charset="0"/>
                <a:ea typeface="Roboto Mono" pitchFamily="49" charset="0"/>
              </a:rPr>
              <a:t>workflow_dispatch</a:t>
            </a:r>
            <a:r>
              <a:rPr lang="en-US" sz="2000" b="0" i="0" dirty="0">
                <a:solidFill>
                  <a:srgbClr val="161616"/>
                </a:solidFill>
                <a:effectLst/>
                <a:latin typeface="Quattrocento Sans" panose="020B0502050000020003" pitchFamily="34" charset="0"/>
                <a:ea typeface="Roboto Mono" pitchFamily="49" charset="0"/>
              </a:rPr>
              <a:t>, you can use the GitHub API to trigger a webhook event called </a:t>
            </a:r>
            <a:r>
              <a:rPr lang="en-US" sz="1800" b="0" i="0" dirty="0" err="1">
                <a:solidFill>
                  <a:srgbClr val="161616"/>
                </a:solidFill>
                <a:effectLst/>
                <a:highlight>
                  <a:srgbClr val="C0C0C0"/>
                </a:highlight>
                <a:latin typeface="Roboto Mono" pitchFamily="49" charset="0"/>
                <a:ea typeface="Roboto Mono" pitchFamily="49" charset="0"/>
              </a:rPr>
              <a:t>repository_dispatch</a:t>
            </a:r>
            <a:r>
              <a:rPr lang="en-US" sz="2000" b="0" i="0" dirty="0">
                <a:solidFill>
                  <a:srgbClr val="161616"/>
                </a:solidFill>
                <a:effectLst/>
                <a:latin typeface="Quattrocento Sans" panose="020B0502050000020003" pitchFamily="34" charset="0"/>
                <a:ea typeface="Roboto Mono" pitchFamily="49" charset="0"/>
              </a:rPr>
              <a:t>. This event allows you to trigger a workflow for activity that occurs outside of GitHub. It essentially serves as an HTTP request to your repository asking GitHub to trigger a workflow off an action or webhook. </a:t>
            </a:r>
          </a:p>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Using this manual event requires you to do two things: </a:t>
            </a:r>
          </a:p>
          <a:p>
            <a:pPr marL="585216" lvl="1" indent="-457200" algn="just">
              <a:spcAft>
                <a:spcPts val="600"/>
              </a:spcAft>
              <a:buFont typeface="+mj-lt"/>
              <a:buAutoNum type="arabicPeriod"/>
            </a:pPr>
            <a:r>
              <a:rPr lang="en-US" sz="1800" dirty="0">
                <a:solidFill>
                  <a:srgbClr val="161616"/>
                </a:solidFill>
                <a:latin typeface="Quattrocento Sans" panose="020B0502050000020003" pitchFamily="34" charset="0"/>
                <a:ea typeface="Roboto Mono" pitchFamily="49" charset="0"/>
              </a:rPr>
              <a:t>S</a:t>
            </a:r>
            <a:r>
              <a:rPr lang="en-US" sz="1800" b="0" i="0" dirty="0">
                <a:solidFill>
                  <a:srgbClr val="161616"/>
                </a:solidFill>
                <a:effectLst/>
                <a:latin typeface="Quattrocento Sans" panose="020B0502050000020003" pitchFamily="34" charset="0"/>
                <a:ea typeface="Roboto Mono" pitchFamily="49" charset="0"/>
              </a:rPr>
              <a:t>end a </a:t>
            </a:r>
            <a:r>
              <a:rPr lang="en-US" sz="1600" b="0" i="0" dirty="0">
                <a:solidFill>
                  <a:srgbClr val="161616"/>
                </a:solidFill>
                <a:effectLst/>
                <a:highlight>
                  <a:srgbClr val="C0C0C0"/>
                </a:highlight>
                <a:latin typeface="Roboto Mono" pitchFamily="49" charset="0"/>
                <a:ea typeface="Roboto Mono" pitchFamily="49" charset="0"/>
              </a:rPr>
              <a:t>POST</a:t>
            </a:r>
            <a:r>
              <a:rPr lang="en-US" sz="1800" b="0" i="0" dirty="0">
                <a:solidFill>
                  <a:srgbClr val="161616"/>
                </a:solidFill>
                <a:effectLst/>
                <a:latin typeface="Quattrocento Sans" panose="020B0502050000020003" pitchFamily="34" charset="0"/>
                <a:ea typeface="Roboto Mono" pitchFamily="49" charset="0"/>
              </a:rPr>
              <a:t> request to the GitHub endpoint </a:t>
            </a:r>
            <a:r>
              <a:rPr lang="en-US" sz="1600" b="0" i="0" dirty="0">
                <a:solidFill>
                  <a:srgbClr val="161616"/>
                </a:solidFill>
                <a:effectLst/>
                <a:highlight>
                  <a:srgbClr val="C0C0C0"/>
                </a:highlight>
                <a:latin typeface="Roboto Mono" pitchFamily="49" charset="0"/>
                <a:ea typeface="Roboto Mono" pitchFamily="49" charset="0"/>
              </a:rPr>
              <a:t>/repos/{owner}/{repo}/dispatches</a:t>
            </a:r>
            <a:r>
              <a:rPr lang="en-US" sz="1800" b="0" i="0" dirty="0">
                <a:solidFill>
                  <a:srgbClr val="161616"/>
                </a:solidFill>
                <a:effectLst/>
                <a:latin typeface="Quattrocento Sans" panose="020B0502050000020003" pitchFamily="34" charset="0"/>
                <a:ea typeface="Roboto Mono" pitchFamily="49" charset="0"/>
              </a:rPr>
              <a:t> with the webhook event names in the request body.</a:t>
            </a:r>
          </a:p>
          <a:p>
            <a:pPr marL="585216" lvl="1" indent="-457200" algn="just">
              <a:spcAft>
                <a:spcPts val="600"/>
              </a:spcAft>
              <a:buFont typeface="+mj-lt"/>
              <a:buAutoNum type="arabicPeriod"/>
            </a:pPr>
            <a:r>
              <a:rPr lang="en-US" sz="1800" dirty="0">
                <a:solidFill>
                  <a:srgbClr val="161616"/>
                </a:solidFill>
                <a:latin typeface="Quattrocento Sans" panose="020B0502050000020003" pitchFamily="34" charset="0"/>
                <a:ea typeface="Roboto Mono" pitchFamily="49" charset="0"/>
              </a:rPr>
              <a:t>C</a:t>
            </a:r>
            <a:r>
              <a:rPr lang="en-US" sz="1800" b="0" i="0" dirty="0">
                <a:solidFill>
                  <a:srgbClr val="161616"/>
                </a:solidFill>
                <a:effectLst/>
                <a:latin typeface="Quattrocento Sans" panose="020B0502050000020003" pitchFamily="34" charset="0"/>
                <a:ea typeface="Roboto Mono" pitchFamily="49" charset="0"/>
              </a:rPr>
              <a:t>onfigure your workflow to use the </a:t>
            </a:r>
            <a:r>
              <a:rPr lang="en-US" sz="1600" b="0" i="0" dirty="0" err="1">
                <a:solidFill>
                  <a:srgbClr val="161616"/>
                </a:solidFill>
                <a:effectLst/>
                <a:highlight>
                  <a:srgbClr val="C0C0C0"/>
                </a:highlight>
                <a:latin typeface="Roboto Mono" pitchFamily="49" charset="0"/>
                <a:ea typeface="Roboto Mono" pitchFamily="49" charset="0"/>
              </a:rPr>
              <a:t>repository_dispatch</a:t>
            </a:r>
            <a:r>
              <a:rPr lang="en-US" sz="1800" b="0" i="0" dirty="0">
                <a:solidFill>
                  <a:srgbClr val="161616"/>
                </a:solidFill>
                <a:effectLst/>
                <a:latin typeface="Quattrocento Sans" panose="020B0502050000020003" pitchFamily="34" charset="0"/>
                <a:ea typeface="Roboto Mono" pitchFamily="49" charset="0"/>
              </a:rPr>
              <a:t> event.</a:t>
            </a:r>
          </a:p>
          <a:p>
            <a:pPr marL="0" indent="0" algn="just">
              <a:spcAft>
                <a:spcPts val="600"/>
              </a:spcAft>
              <a:buNone/>
            </a:pPr>
            <a:endParaRPr lang="en-US" sz="2000" b="0" i="0" dirty="0">
              <a:solidFill>
                <a:srgbClr val="161616"/>
              </a:solidFill>
              <a:effectLst/>
              <a:latin typeface="Quattrocento Sans" panose="020B0502050000020003" pitchFamily="34" charset="0"/>
              <a:ea typeface="Roboto Mono" pitchFamily="49" charset="0"/>
            </a:endParaRPr>
          </a:p>
        </p:txBody>
      </p:sp>
      <p:sp>
        <p:nvSpPr>
          <p:cNvPr id="12" name="Title 16">
            <a:extLst>
              <a:ext uri="{FF2B5EF4-FFF2-40B4-BE49-F238E27FC236}">
                <a16:creationId xmlns:a16="http://schemas.microsoft.com/office/drawing/2014/main" id="{5E40C530-1BE4-C450-4437-1F3B2666E9D2}"/>
              </a:ext>
            </a:extLst>
          </p:cNvPr>
          <p:cNvSpPr txBox="1">
            <a:spLocks/>
          </p:cNvSpPr>
          <p:nvPr/>
        </p:nvSpPr>
        <p:spPr>
          <a:xfrm>
            <a:off x="579438" y="600435"/>
            <a:ext cx="9724915" cy="49244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r>
              <a:rPr lang="en-US" sz="3200" dirty="0">
                <a:latin typeface="Quattrocento Sans" panose="020B0502050000020003" pitchFamily="34" charset="0"/>
              </a:rPr>
              <a:t>Configure workflows to run for manual events </a:t>
            </a:r>
            <a:r>
              <a:rPr lang="en-US" sz="2700" dirty="0">
                <a:latin typeface="Quattrocento Sans" panose="020B0502050000020003" pitchFamily="34" charset="0"/>
              </a:rPr>
              <a:t>(continued)</a:t>
            </a:r>
            <a:endParaRPr lang="en-US" sz="3200" dirty="0">
              <a:latin typeface="Quattrocento Sans" panose="020B0502050000020003" pitchFamily="34" charset="0"/>
            </a:endParaRPr>
          </a:p>
        </p:txBody>
      </p:sp>
      <p:sp>
        <p:nvSpPr>
          <p:cNvPr id="13" name="Rectangle 12">
            <a:extLst>
              <a:ext uri="{FF2B5EF4-FFF2-40B4-BE49-F238E27FC236}">
                <a16:creationId xmlns:a16="http://schemas.microsoft.com/office/drawing/2014/main" id="{AC98244F-8BC9-1D3D-1851-C658B752E046}"/>
              </a:ext>
            </a:extLst>
          </p:cNvPr>
          <p:cNvSpPr/>
          <p:nvPr/>
        </p:nvSpPr>
        <p:spPr>
          <a:xfrm>
            <a:off x="7222195" y="4133412"/>
            <a:ext cx="4309025" cy="128304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 Placeholder 2">
            <a:extLst>
              <a:ext uri="{FF2B5EF4-FFF2-40B4-BE49-F238E27FC236}">
                <a16:creationId xmlns:a16="http://schemas.microsoft.com/office/drawing/2014/main" id="{20251249-E335-300A-1C73-96C8AA4A589A}"/>
              </a:ext>
            </a:extLst>
          </p:cNvPr>
          <p:cNvSpPr txBox="1">
            <a:spLocks/>
          </p:cNvSpPr>
          <p:nvPr/>
        </p:nvSpPr>
        <p:spPr>
          <a:xfrm>
            <a:off x="7461438" y="4344805"/>
            <a:ext cx="4069782" cy="860261"/>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tx2">
                    <a:lumMod val="50000"/>
                    <a:lumOff val="50000"/>
                  </a:schemeClr>
                </a:solidFill>
                <a:latin typeface="Roboto Mono" pitchFamily="49" charset="0"/>
                <a:ea typeface="Roboto Mono" pitchFamily="49" charset="0"/>
              </a:rPr>
              <a:t>on:</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a:t>
            </a:r>
            <a:r>
              <a:rPr lang="en-US" dirty="0" err="1">
                <a:solidFill>
                  <a:schemeClr val="tx2">
                    <a:lumMod val="50000"/>
                    <a:lumOff val="50000"/>
                  </a:schemeClr>
                </a:solidFill>
                <a:latin typeface="Roboto Mono" pitchFamily="49" charset="0"/>
                <a:ea typeface="Roboto Mono" pitchFamily="49" charset="0"/>
              </a:rPr>
              <a:t>repository_dispatch</a:t>
            </a:r>
            <a:r>
              <a:rPr lang="en-US" dirty="0">
                <a:solidFill>
                  <a:schemeClr val="tx2">
                    <a:lumMod val="50000"/>
                    <a:lumOff val="50000"/>
                  </a:schemeClr>
                </a:solidFill>
                <a:latin typeface="Roboto Mono" pitchFamily="49" charset="0"/>
                <a:ea typeface="Roboto Mono" pitchFamily="49" charset="0"/>
              </a:rPr>
              <a:t>:</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types: </a:t>
            </a:r>
            <a:r>
              <a:rPr lang="en-US" dirty="0">
                <a:solidFill>
                  <a:srgbClr val="BE4C41"/>
                </a:solidFill>
                <a:latin typeface="Roboto Mono" pitchFamily="49" charset="0"/>
                <a:ea typeface="Roboto Mono" pitchFamily="49" charset="0"/>
              </a:rPr>
              <a:t>[opened, deleted]</a:t>
            </a:r>
          </a:p>
        </p:txBody>
      </p:sp>
    </p:spTree>
    <p:extLst>
      <p:ext uri="{BB962C8B-B14F-4D97-AF65-F5344CB8AC3E}">
        <p14:creationId xmlns:p14="http://schemas.microsoft.com/office/powerpoint/2010/main" val="1412098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9D030901-830F-E483-BA77-449EDAD50BC7}"/>
              </a:ext>
            </a:extLst>
          </p:cNvPr>
          <p:cNvSpPr/>
          <p:nvPr/>
        </p:nvSpPr>
        <p:spPr>
          <a:xfrm>
            <a:off x="660780" y="3433923"/>
            <a:ext cx="6322172" cy="1964367"/>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900023" y="3584453"/>
            <a:ext cx="6082929" cy="1663306"/>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tx2">
                    <a:lumMod val="50000"/>
                    <a:lumOff val="50000"/>
                  </a:schemeClr>
                </a:solidFill>
                <a:latin typeface="Roboto Mono" pitchFamily="49" charset="0"/>
                <a:ea typeface="Roboto Mono" pitchFamily="49" charset="0"/>
              </a:rPr>
              <a:t>on:</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a:t>
            </a:r>
            <a:r>
              <a:rPr lang="en-US" dirty="0" err="1">
                <a:solidFill>
                  <a:schemeClr val="tx2">
                    <a:lumMod val="50000"/>
                    <a:lumOff val="50000"/>
                  </a:schemeClr>
                </a:solidFill>
                <a:latin typeface="Roboto Mono" pitchFamily="49" charset="0"/>
                <a:ea typeface="Roboto Mono" pitchFamily="49" charset="0"/>
              </a:rPr>
              <a:t>check_run</a:t>
            </a:r>
            <a:r>
              <a:rPr lang="en-US" dirty="0">
                <a:solidFill>
                  <a:schemeClr val="tx2">
                    <a:lumMod val="50000"/>
                    <a:lumOff val="50000"/>
                  </a:schemeClr>
                </a:solidFill>
                <a:latin typeface="Roboto Mono" pitchFamily="49" charset="0"/>
                <a:ea typeface="Roboto Mono" pitchFamily="49" charset="0"/>
              </a:rPr>
              <a:t>:</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types: </a:t>
            </a:r>
            <a:r>
              <a:rPr lang="en-US" dirty="0">
                <a:solidFill>
                  <a:srgbClr val="BE4C41"/>
                </a:solidFill>
                <a:latin typeface="Roboto Mono" pitchFamily="49" charset="0"/>
                <a:ea typeface="Roboto Mono" pitchFamily="49" charset="0"/>
              </a:rPr>
              <a:t>[</a:t>
            </a:r>
            <a:r>
              <a:rPr lang="en-US" dirty="0" err="1">
                <a:solidFill>
                  <a:srgbClr val="BE4C41"/>
                </a:solidFill>
                <a:latin typeface="Roboto Mono" pitchFamily="49" charset="0"/>
                <a:ea typeface="Roboto Mono" pitchFamily="49" charset="0"/>
              </a:rPr>
              <a:t>rerequested</a:t>
            </a:r>
            <a:r>
              <a:rPr lang="en-US" dirty="0">
                <a:solidFill>
                  <a:srgbClr val="BE4C41"/>
                </a:solidFill>
                <a:latin typeface="Roboto Mono" pitchFamily="49" charset="0"/>
                <a:ea typeface="Roboto Mono" pitchFamily="49" charset="0"/>
              </a:rPr>
              <a:t>, </a:t>
            </a:r>
            <a:r>
              <a:rPr lang="en-US" dirty="0" err="1">
                <a:solidFill>
                  <a:srgbClr val="BE4C41"/>
                </a:solidFill>
                <a:latin typeface="Roboto Mono" pitchFamily="49" charset="0"/>
                <a:ea typeface="Roboto Mono" pitchFamily="49" charset="0"/>
              </a:rPr>
              <a:t>requested_action</a:t>
            </a:r>
            <a:r>
              <a:rPr lang="en-US" dirty="0">
                <a:solidFill>
                  <a:srgbClr val="BE4C41"/>
                </a:solidFill>
                <a:latin typeface="Roboto Mono" pitchFamily="49" charset="0"/>
                <a:ea typeface="Roboto Mono" pitchFamily="49" charset="0"/>
              </a:rPr>
              <a:t>]</a:t>
            </a: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660780" y="2183861"/>
            <a:ext cx="10870440" cy="49244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Lastly, you can configure a workflow to run when specific webhook events occur on GitHub. You can trigger most webhook events from more than one activity for a webhook. If multiple activities exist for a webhook, you can specify an activity type to trigger the workflow. </a:t>
            </a:r>
          </a:p>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For example, you can run a workflow for the </a:t>
            </a:r>
            <a:r>
              <a:rPr lang="en-US" sz="1800" b="0" i="0" dirty="0" err="1">
                <a:solidFill>
                  <a:srgbClr val="161616"/>
                </a:solidFill>
                <a:effectLst/>
                <a:highlight>
                  <a:srgbClr val="C0C0C0"/>
                </a:highlight>
                <a:latin typeface="Roboto Mono" pitchFamily="49" charset="0"/>
                <a:ea typeface="Roboto Mono" pitchFamily="49" charset="0"/>
              </a:rPr>
              <a:t>check_run</a:t>
            </a:r>
            <a:r>
              <a:rPr lang="en-US" sz="2000" b="0" i="0" dirty="0">
                <a:solidFill>
                  <a:srgbClr val="161616"/>
                </a:solidFill>
                <a:effectLst/>
                <a:latin typeface="Quattrocento Sans" panose="020B0502050000020003" pitchFamily="34" charset="0"/>
                <a:ea typeface="Roboto Mono" pitchFamily="49" charset="0"/>
              </a:rPr>
              <a:t> event, but only for the </a:t>
            </a:r>
            <a:r>
              <a:rPr lang="en-US" sz="1800" b="0" i="0" dirty="0" err="1">
                <a:solidFill>
                  <a:srgbClr val="161616"/>
                </a:solidFill>
                <a:effectLst/>
                <a:highlight>
                  <a:srgbClr val="C0C0C0"/>
                </a:highlight>
                <a:latin typeface="Roboto Mono" pitchFamily="49" charset="0"/>
                <a:ea typeface="Roboto Mono" pitchFamily="49" charset="0"/>
              </a:rPr>
              <a:t>rerequested</a:t>
            </a:r>
            <a:r>
              <a:rPr lang="en-US" sz="2000" b="0" i="0" dirty="0">
                <a:solidFill>
                  <a:srgbClr val="161616"/>
                </a:solidFill>
                <a:effectLst/>
                <a:latin typeface="Quattrocento Sans" panose="020B0502050000020003" pitchFamily="34" charset="0"/>
                <a:ea typeface="Roboto Mono" pitchFamily="49" charset="0"/>
              </a:rPr>
              <a:t> or </a:t>
            </a:r>
            <a:r>
              <a:rPr lang="en-US" sz="1800" b="0" i="0" dirty="0" err="1">
                <a:solidFill>
                  <a:srgbClr val="161616"/>
                </a:solidFill>
                <a:effectLst/>
                <a:highlight>
                  <a:srgbClr val="C0C0C0"/>
                </a:highlight>
                <a:latin typeface="Roboto Mono" pitchFamily="49" charset="0"/>
                <a:ea typeface="Roboto Mono" pitchFamily="49" charset="0"/>
              </a:rPr>
              <a:t>requested_action</a:t>
            </a:r>
            <a:r>
              <a:rPr lang="en-US" sz="1800" b="0" i="0" dirty="0">
                <a:solidFill>
                  <a:srgbClr val="161616"/>
                </a:solidFill>
                <a:effectLst/>
                <a:highlight>
                  <a:srgbClr val="C0C0C0"/>
                </a:highlight>
                <a:latin typeface="Roboto Mono" pitchFamily="49" charset="0"/>
                <a:ea typeface="Roboto Mono" pitchFamily="49" charset="0"/>
              </a:rPr>
              <a:t> </a:t>
            </a:r>
            <a:r>
              <a:rPr lang="en-US" sz="2000" b="0" i="0" dirty="0">
                <a:solidFill>
                  <a:srgbClr val="161616"/>
                </a:solidFill>
                <a:effectLst/>
                <a:latin typeface="Quattrocento Sans" panose="020B0502050000020003" pitchFamily="34" charset="0"/>
                <a:ea typeface="Roboto Mono" pitchFamily="49" charset="0"/>
              </a:rPr>
              <a:t>activity types.</a:t>
            </a:r>
          </a:p>
          <a:p>
            <a:pPr marL="0" indent="0" algn="just">
              <a:spcAft>
                <a:spcPts val="600"/>
              </a:spcAft>
              <a:buNone/>
            </a:pPr>
            <a:endParaRPr lang="en-US" sz="2000" b="0" i="0" dirty="0">
              <a:solidFill>
                <a:srgbClr val="161616"/>
              </a:solidFill>
              <a:effectLst/>
              <a:latin typeface="Quattrocento Sans" panose="020B0502050000020003" pitchFamily="34" charset="0"/>
              <a:ea typeface="Roboto Mono" pitchFamily="49" charset="0"/>
            </a:endParaRPr>
          </a:p>
          <a:p>
            <a:pPr marL="0" indent="0" algn="just">
              <a:spcAft>
                <a:spcPts val="600"/>
              </a:spcAft>
              <a:buNone/>
            </a:pPr>
            <a:endParaRPr lang="en-US" sz="2000" b="0" i="0" dirty="0">
              <a:solidFill>
                <a:srgbClr val="161616"/>
              </a:solidFill>
              <a:effectLst/>
              <a:latin typeface="Quattrocento Sans" panose="020B0502050000020003" pitchFamily="34" charset="0"/>
              <a:ea typeface="Roboto Mono" pitchFamily="49" charset="0"/>
            </a:endParaRPr>
          </a:p>
        </p:txBody>
      </p:sp>
      <p:sp>
        <p:nvSpPr>
          <p:cNvPr id="12" name="Title 16">
            <a:extLst>
              <a:ext uri="{FF2B5EF4-FFF2-40B4-BE49-F238E27FC236}">
                <a16:creationId xmlns:a16="http://schemas.microsoft.com/office/drawing/2014/main" id="{5E40C530-1BE4-C450-4437-1F3B2666E9D2}"/>
              </a:ext>
            </a:extLst>
          </p:cNvPr>
          <p:cNvSpPr txBox="1">
            <a:spLocks/>
          </p:cNvSpPr>
          <p:nvPr/>
        </p:nvSpPr>
        <p:spPr>
          <a:xfrm>
            <a:off x="579438" y="600435"/>
            <a:ext cx="9724915" cy="49244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r>
              <a:rPr lang="en-US" sz="3200" dirty="0">
                <a:latin typeface="Quattrocento Sans" panose="020B0502050000020003" pitchFamily="34" charset="0"/>
              </a:rPr>
              <a:t>Configure workflows to run for webhook events</a:t>
            </a:r>
          </a:p>
        </p:txBody>
      </p:sp>
    </p:spTree>
    <p:extLst>
      <p:ext uri="{BB962C8B-B14F-4D97-AF65-F5344CB8AC3E}">
        <p14:creationId xmlns:p14="http://schemas.microsoft.com/office/powerpoint/2010/main" val="964123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Configure workflows to run for manual events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9D030901-830F-E483-BA77-449EDAD50BC7}"/>
              </a:ext>
            </a:extLst>
          </p:cNvPr>
          <p:cNvSpPr/>
          <p:nvPr/>
        </p:nvSpPr>
        <p:spPr>
          <a:xfrm>
            <a:off x="685731" y="2804830"/>
            <a:ext cx="6072878" cy="2775323"/>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1074078" y="2800221"/>
            <a:ext cx="5065867" cy="2785570"/>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tx2">
                    <a:lumMod val="50000"/>
                    <a:lumOff val="50000"/>
                  </a:schemeClr>
                </a:solidFill>
                <a:latin typeface="Roboto Mono" pitchFamily="49" charset="0"/>
                <a:ea typeface="Roboto Mono" pitchFamily="49" charset="0"/>
              </a:rPr>
              <a:t>on:</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a:t>
            </a:r>
            <a:r>
              <a:rPr lang="en-US" dirty="0" err="1">
                <a:solidFill>
                  <a:schemeClr val="tx2">
                    <a:lumMod val="50000"/>
                    <a:lumOff val="50000"/>
                  </a:schemeClr>
                </a:solidFill>
                <a:latin typeface="Roboto Mono" pitchFamily="49" charset="0"/>
                <a:ea typeface="Roboto Mono" pitchFamily="49" charset="0"/>
              </a:rPr>
              <a:t>workflow_dispatch</a:t>
            </a:r>
            <a:r>
              <a:rPr lang="en-US" dirty="0">
                <a:solidFill>
                  <a:schemeClr val="tx2">
                    <a:lumMod val="50000"/>
                    <a:lumOff val="50000"/>
                  </a:schemeClr>
                </a:solidFill>
                <a:latin typeface="Roboto Mono" pitchFamily="49" charset="0"/>
                <a:ea typeface="Roboto Mono" pitchFamily="49" charset="0"/>
              </a:rPr>
              <a:t>:</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inputs:</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a:t>
            </a:r>
            <a:r>
              <a:rPr lang="en-US" dirty="0" err="1">
                <a:solidFill>
                  <a:schemeClr val="tx2">
                    <a:lumMod val="50000"/>
                    <a:lumOff val="50000"/>
                  </a:schemeClr>
                </a:solidFill>
                <a:latin typeface="Roboto Mono" pitchFamily="49" charset="0"/>
                <a:ea typeface="Roboto Mono" pitchFamily="49" charset="0"/>
              </a:rPr>
              <a:t>logLevel</a:t>
            </a:r>
            <a:r>
              <a:rPr lang="en-US" dirty="0">
                <a:solidFill>
                  <a:schemeClr val="tx2">
                    <a:lumMod val="50000"/>
                    <a:lumOff val="50000"/>
                  </a:schemeClr>
                </a:solidFill>
                <a:latin typeface="Roboto Mono" pitchFamily="49" charset="0"/>
                <a:ea typeface="Roboto Mono" pitchFamily="49" charset="0"/>
              </a:rPr>
              <a:t>:</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description: </a:t>
            </a:r>
            <a:r>
              <a:rPr lang="en-US" dirty="0">
                <a:solidFill>
                  <a:srgbClr val="BE4C41"/>
                </a:solidFill>
                <a:latin typeface="Roboto Mono" pitchFamily="49" charset="0"/>
                <a:ea typeface="Roboto Mono" pitchFamily="49" charset="0"/>
              </a:rPr>
              <a:t>'Log level'     </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required: true</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default: </a:t>
            </a:r>
            <a:r>
              <a:rPr lang="en-US" dirty="0">
                <a:solidFill>
                  <a:srgbClr val="BE4C41"/>
                </a:solidFill>
                <a:latin typeface="Roboto Mono" pitchFamily="49" charset="0"/>
                <a:ea typeface="Roboto Mono" pitchFamily="49" charset="0"/>
              </a:rPr>
              <a:t>'warning'</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tags:</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description: </a:t>
            </a:r>
            <a:r>
              <a:rPr lang="en-US" dirty="0">
                <a:solidFill>
                  <a:srgbClr val="BE4C41"/>
                </a:solidFill>
                <a:latin typeface="Roboto Mono" pitchFamily="49" charset="0"/>
                <a:ea typeface="Roboto Mono" pitchFamily="49" charset="0"/>
              </a:rPr>
              <a:t>'Test scenario tags' </a:t>
            </a: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685731" y="1822524"/>
            <a:ext cx="10919784" cy="49244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In addition to scheduled events, you can manually trigger a workflow by using the </a:t>
            </a:r>
            <a:r>
              <a:rPr lang="en-US" sz="1800" b="0" i="0" dirty="0" err="1">
                <a:solidFill>
                  <a:srgbClr val="161616"/>
                </a:solidFill>
                <a:effectLst/>
                <a:highlight>
                  <a:srgbClr val="C0C0C0"/>
                </a:highlight>
                <a:latin typeface="Roboto Mono" pitchFamily="49" charset="0"/>
                <a:ea typeface="Roboto Mono" pitchFamily="49" charset="0"/>
              </a:rPr>
              <a:t>workflow_dispatch</a:t>
            </a:r>
            <a:r>
              <a:rPr lang="en-US" sz="2000" b="0" i="0" dirty="0">
                <a:solidFill>
                  <a:srgbClr val="161616"/>
                </a:solidFill>
                <a:effectLst/>
                <a:latin typeface="Quattrocento Sans" panose="020B0502050000020003" pitchFamily="34" charset="0"/>
                <a:ea typeface="Roboto Mono" pitchFamily="49" charset="0"/>
              </a:rPr>
              <a:t> event. This event allows you to run the workflow by using the GitHub REST API or by selecting the </a:t>
            </a:r>
            <a:r>
              <a:rPr lang="en-US" sz="2000" b="1" i="0" dirty="0">
                <a:solidFill>
                  <a:srgbClr val="161616"/>
                </a:solidFill>
                <a:effectLst/>
                <a:latin typeface="Quattrocento Sans" panose="020B0502050000020003" pitchFamily="34" charset="0"/>
                <a:ea typeface="Roboto Mono" pitchFamily="49" charset="0"/>
              </a:rPr>
              <a:t>Run workflow </a:t>
            </a:r>
            <a:r>
              <a:rPr lang="en-US" sz="2000" b="0" i="0" dirty="0">
                <a:solidFill>
                  <a:srgbClr val="161616"/>
                </a:solidFill>
                <a:effectLst/>
                <a:latin typeface="Quattrocento Sans" panose="020B0502050000020003" pitchFamily="34" charset="0"/>
                <a:ea typeface="Roboto Mono" pitchFamily="49" charset="0"/>
              </a:rPr>
              <a:t>button in the </a:t>
            </a:r>
            <a:r>
              <a:rPr lang="en-US" sz="2000" b="1" i="0" dirty="0">
                <a:solidFill>
                  <a:srgbClr val="161616"/>
                </a:solidFill>
                <a:effectLst/>
                <a:latin typeface="Quattrocento Sans" panose="020B0502050000020003" pitchFamily="34" charset="0"/>
                <a:ea typeface="Roboto Mono" pitchFamily="49" charset="0"/>
              </a:rPr>
              <a:t>Actions</a:t>
            </a:r>
            <a:r>
              <a:rPr lang="en-US" sz="2000" b="0" i="0" dirty="0">
                <a:solidFill>
                  <a:srgbClr val="161616"/>
                </a:solidFill>
                <a:effectLst/>
                <a:latin typeface="Quattrocento Sans" panose="020B0502050000020003" pitchFamily="34" charset="0"/>
                <a:ea typeface="Roboto Mono" pitchFamily="49" charset="0"/>
              </a:rPr>
              <a:t> tab within your repository on GitHub. Using </a:t>
            </a:r>
            <a:r>
              <a:rPr lang="en-US" sz="1800" b="0" i="0" dirty="0" err="1">
                <a:solidFill>
                  <a:srgbClr val="161616"/>
                </a:solidFill>
                <a:effectLst/>
                <a:highlight>
                  <a:srgbClr val="C0C0C0"/>
                </a:highlight>
                <a:latin typeface="Roboto Mono" pitchFamily="49" charset="0"/>
                <a:ea typeface="Roboto Mono" pitchFamily="49" charset="0"/>
              </a:rPr>
              <a:t>workflow_dispatch</a:t>
            </a:r>
            <a:r>
              <a:rPr lang="en-US" sz="2000" b="0" i="0" dirty="0">
                <a:solidFill>
                  <a:srgbClr val="161616"/>
                </a:solidFill>
                <a:effectLst/>
                <a:latin typeface="Quattrocento Sans" panose="020B0502050000020003" pitchFamily="34" charset="0"/>
                <a:ea typeface="Roboto Mono" pitchFamily="49" charset="0"/>
              </a:rPr>
              <a:t>, you can choose on which branch you want the workflow to run, as well as set optional </a:t>
            </a:r>
            <a:r>
              <a:rPr lang="en-US" sz="1800" b="0" i="0" dirty="0">
                <a:solidFill>
                  <a:srgbClr val="161616"/>
                </a:solidFill>
                <a:effectLst/>
                <a:highlight>
                  <a:srgbClr val="C0C0C0"/>
                </a:highlight>
                <a:latin typeface="Roboto Mono" pitchFamily="49" charset="0"/>
                <a:ea typeface="Roboto Mono" pitchFamily="49" charset="0"/>
              </a:rPr>
              <a:t>inputs</a:t>
            </a:r>
            <a:r>
              <a:rPr lang="en-US" sz="2000" b="0" i="0" dirty="0">
                <a:solidFill>
                  <a:srgbClr val="161616"/>
                </a:solidFill>
                <a:effectLst/>
                <a:latin typeface="Quattrocento Sans" panose="020B0502050000020003" pitchFamily="34" charset="0"/>
                <a:ea typeface="Roboto Mono" pitchFamily="49" charset="0"/>
              </a:rPr>
              <a:t> that GitHub will present as form elements in the UI.</a:t>
            </a:r>
          </a:p>
          <a:p>
            <a:pPr marL="0" indent="0" algn="just">
              <a:spcAft>
                <a:spcPts val="600"/>
              </a:spcAft>
              <a:buNone/>
            </a:pPr>
            <a:endParaRPr lang="en-US" sz="2000" b="0" i="0" dirty="0">
              <a:solidFill>
                <a:srgbClr val="161616"/>
              </a:solidFill>
              <a:effectLst/>
              <a:latin typeface="Quattrocento Sans" panose="020B0502050000020003" pitchFamily="34" charset="0"/>
              <a:ea typeface="Roboto Mono" pitchFamily="49" charset="0"/>
            </a:endParaRPr>
          </a:p>
        </p:txBody>
      </p:sp>
    </p:spTree>
    <p:extLst>
      <p:ext uri="{BB962C8B-B14F-4D97-AF65-F5344CB8AC3E}">
        <p14:creationId xmlns:p14="http://schemas.microsoft.com/office/powerpoint/2010/main" val="2370149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660780" y="3182778"/>
            <a:ext cx="10634749" cy="49244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1800" b="0" i="0" dirty="0" err="1">
                <a:solidFill>
                  <a:srgbClr val="161616"/>
                </a:solidFill>
                <a:effectLst/>
                <a:highlight>
                  <a:srgbClr val="C0C0C0"/>
                </a:highlight>
                <a:latin typeface="Roboto Mono" pitchFamily="49" charset="0"/>
                <a:ea typeface="Roboto Mono" pitchFamily="49" charset="0"/>
              </a:rPr>
              <a:t>repository_dispatch</a:t>
            </a:r>
            <a:r>
              <a:rPr lang="en-US" sz="2000" b="0" i="0" dirty="0">
                <a:solidFill>
                  <a:srgbClr val="161616"/>
                </a:solidFill>
                <a:effectLst/>
                <a:latin typeface="Quattrocento Sans" panose="020B0502050000020003" pitchFamily="34" charset="0"/>
                <a:ea typeface="Roboto Mono" pitchFamily="49" charset="0"/>
              </a:rPr>
              <a:t> is a custom event in GitHub Actions that allows external systems (or even other GitHub workflows) to manually trigger workflows by sending a POST request to the GitHub API. It enables flexible automation and integration with outside tools, scripts, or systems that need to start workflows in your repo.</a:t>
            </a:r>
          </a:p>
          <a:p>
            <a:pPr marL="0" indent="0" algn="just">
              <a:spcAft>
                <a:spcPts val="600"/>
              </a:spcAft>
              <a:buNone/>
            </a:pPr>
            <a:r>
              <a:rPr lang="en-US" sz="2400" b="0" i="0" dirty="0">
                <a:solidFill>
                  <a:srgbClr val="161616"/>
                </a:solidFill>
                <a:effectLst/>
                <a:latin typeface="Quattrocento Sans" panose="020B0502050000020003" pitchFamily="34" charset="0"/>
                <a:ea typeface="Roboto Mono" pitchFamily="49" charset="0"/>
              </a:rPr>
              <a:t>Use cases</a:t>
            </a:r>
          </a:p>
          <a:p>
            <a:pPr algn="just">
              <a:spcAft>
                <a:spcPts val="600"/>
              </a:spcAft>
            </a:pPr>
            <a:r>
              <a:rPr lang="en-US" sz="2000" b="0" i="0" dirty="0">
                <a:solidFill>
                  <a:srgbClr val="161616"/>
                </a:solidFill>
                <a:effectLst/>
                <a:latin typeface="Quattrocento Sans" panose="020B0502050000020003" pitchFamily="34" charset="0"/>
                <a:ea typeface="Roboto Mono" pitchFamily="49" charset="0"/>
              </a:rPr>
              <a:t>Trigger workflows from external CI/CD tools.</a:t>
            </a:r>
          </a:p>
          <a:p>
            <a:pPr algn="just">
              <a:spcAft>
                <a:spcPts val="600"/>
              </a:spcAft>
            </a:pPr>
            <a:r>
              <a:rPr lang="en-US" sz="2000" b="0" i="0" dirty="0">
                <a:solidFill>
                  <a:srgbClr val="161616"/>
                </a:solidFill>
                <a:effectLst/>
                <a:latin typeface="Quattrocento Sans" panose="020B0502050000020003" pitchFamily="34" charset="0"/>
                <a:ea typeface="Roboto Mono" pitchFamily="49" charset="0"/>
              </a:rPr>
              <a:t>Coordinate multi-repo deployments (e.g., Repo A finishes build → triggers Repo B).</a:t>
            </a:r>
          </a:p>
          <a:p>
            <a:pPr algn="just">
              <a:spcAft>
                <a:spcPts val="600"/>
              </a:spcAft>
            </a:pPr>
            <a:r>
              <a:rPr lang="en-US" sz="2000" b="0" i="0" dirty="0">
                <a:solidFill>
                  <a:srgbClr val="161616"/>
                </a:solidFill>
                <a:effectLst/>
                <a:latin typeface="Quattrocento Sans" panose="020B0502050000020003" pitchFamily="34" charset="0"/>
                <a:ea typeface="Roboto Mono" pitchFamily="49" charset="0"/>
              </a:rPr>
              <a:t>Start automation based on external events (webhooks, monitoring alerts, CRON jobs outside GitHub).</a:t>
            </a:r>
          </a:p>
          <a:p>
            <a:pPr algn="just">
              <a:spcAft>
                <a:spcPts val="600"/>
              </a:spcAft>
            </a:pPr>
            <a:r>
              <a:rPr lang="en-US" sz="2000" b="0" i="0" dirty="0">
                <a:solidFill>
                  <a:srgbClr val="161616"/>
                </a:solidFill>
                <a:effectLst/>
                <a:latin typeface="Quattrocento Sans" panose="020B0502050000020003" pitchFamily="34" charset="0"/>
                <a:ea typeface="Roboto Mono" pitchFamily="49" charset="0"/>
              </a:rPr>
              <a:t>Chain workflow executions between repositories or within </a:t>
            </a:r>
            <a:r>
              <a:rPr lang="en-US" sz="2000" b="0" i="0" dirty="0" err="1">
                <a:solidFill>
                  <a:srgbClr val="161616"/>
                </a:solidFill>
                <a:effectLst/>
                <a:latin typeface="Quattrocento Sans" panose="020B0502050000020003" pitchFamily="34" charset="0"/>
                <a:ea typeface="Roboto Mono" pitchFamily="49" charset="0"/>
              </a:rPr>
              <a:t>monorepos</a:t>
            </a:r>
            <a:r>
              <a:rPr lang="en-US" sz="2000" b="0" i="0" dirty="0">
                <a:solidFill>
                  <a:srgbClr val="161616"/>
                </a:solidFill>
                <a:effectLst/>
                <a:latin typeface="Quattrocento Sans" panose="020B0502050000020003" pitchFamily="34" charset="0"/>
                <a:ea typeface="Roboto Mono" pitchFamily="49" charset="0"/>
              </a:rPr>
              <a:t>.</a:t>
            </a:r>
          </a:p>
          <a:p>
            <a:pPr marL="0" indent="0" algn="just">
              <a:spcAft>
                <a:spcPts val="600"/>
              </a:spcAft>
              <a:buNone/>
            </a:pPr>
            <a:endParaRPr lang="en-US" sz="2000" b="0" i="0" dirty="0">
              <a:solidFill>
                <a:srgbClr val="161616"/>
              </a:solidFill>
              <a:effectLst/>
              <a:latin typeface="Quattrocento Sans" panose="020B0502050000020003" pitchFamily="34" charset="0"/>
              <a:ea typeface="Roboto Mono" pitchFamily="49" charset="0"/>
            </a:endParaRPr>
          </a:p>
        </p:txBody>
      </p:sp>
      <p:sp>
        <p:nvSpPr>
          <p:cNvPr id="12" name="Title 16">
            <a:extLst>
              <a:ext uri="{FF2B5EF4-FFF2-40B4-BE49-F238E27FC236}">
                <a16:creationId xmlns:a16="http://schemas.microsoft.com/office/drawing/2014/main" id="{5E40C530-1BE4-C450-4437-1F3B2666E9D2}"/>
              </a:ext>
            </a:extLst>
          </p:cNvPr>
          <p:cNvSpPr txBox="1">
            <a:spLocks/>
          </p:cNvSpPr>
          <p:nvPr/>
        </p:nvSpPr>
        <p:spPr>
          <a:xfrm>
            <a:off x="579438" y="600435"/>
            <a:ext cx="9724915" cy="49244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2400" b="0" i="0" kern="1200">
                <a:solidFill>
                  <a:schemeClr val="tx1"/>
                </a:solidFill>
                <a:latin typeface="+mj-lt"/>
                <a:ea typeface="+mj-ea"/>
                <a:cs typeface="Segoe UI Semibold" panose="020B0502040204020203" pitchFamily="34" charset="0"/>
              </a:defRPr>
            </a:lvl1pPr>
          </a:lstStyle>
          <a:p>
            <a:r>
              <a:rPr lang="en-US" sz="3200" dirty="0" err="1">
                <a:latin typeface="Quattrocento Sans" panose="020B0502050000020003" pitchFamily="34" charset="0"/>
              </a:rPr>
              <a:t>Repository_dispatch</a:t>
            </a:r>
            <a:endParaRPr lang="en-US" sz="3200" dirty="0">
              <a:latin typeface="Quattrocento Sans" panose="020B0502050000020003" pitchFamily="34" charset="0"/>
            </a:endParaRPr>
          </a:p>
        </p:txBody>
      </p:sp>
    </p:spTree>
    <p:extLst>
      <p:ext uri="{BB962C8B-B14F-4D97-AF65-F5344CB8AC3E}">
        <p14:creationId xmlns:p14="http://schemas.microsoft.com/office/powerpoint/2010/main" val="2793237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Example workflow that listens to </a:t>
            </a:r>
            <a:r>
              <a:rPr lang="en-US" sz="3200" dirty="0" err="1">
                <a:latin typeface="Quattrocento Sans" panose="020B0502050000020003" pitchFamily="34" charset="0"/>
              </a:rPr>
              <a:t>repository_dispatch</a:t>
            </a:r>
            <a:endParaRPr lang="en-US" sz="3200" dirty="0">
              <a:latin typeface="Quattrocento Sans" panose="020B0502050000020003" pitchFamily="34" charset="0"/>
            </a:endParaRP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9D030901-830F-E483-BA77-449EDAD50BC7}"/>
              </a:ext>
            </a:extLst>
          </p:cNvPr>
          <p:cNvSpPr/>
          <p:nvPr/>
        </p:nvSpPr>
        <p:spPr>
          <a:xfrm>
            <a:off x="579437" y="1150957"/>
            <a:ext cx="8223903" cy="313417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743245" y="1362256"/>
            <a:ext cx="8920707" cy="276498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name: </a:t>
            </a:r>
            <a:r>
              <a:rPr lang="en-US" sz="1400" dirty="0">
                <a:solidFill>
                  <a:srgbClr val="BE4C41"/>
                </a:solidFill>
                <a:latin typeface="Roboto Mono" pitchFamily="49" charset="0"/>
                <a:ea typeface="Roboto Mono" pitchFamily="49" charset="0"/>
              </a:rPr>
              <a:t>Custom Dispatch Listener</a:t>
            </a:r>
          </a:p>
          <a:p>
            <a:pPr marL="0" indent="0">
              <a:spcBef>
                <a:spcPts val="0"/>
              </a:spcBef>
              <a:buNone/>
            </a:pPr>
            <a:endParaRPr lang="en-US" sz="1400" dirty="0">
              <a:solidFill>
                <a:schemeClr val="tx2">
                  <a:lumMod val="50000"/>
                  <a:lumOff val="50000"/>
                </a:schemeClr>
              </a:solidFill>
              <a:latin typeface="Roboto Mono" pitchFamily="49" charset="0"/>
              <a:ea typeface="Roboto Mono" pitchFamily="49" charset="0"/>
            </a:endParaRP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on:</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a:t>
            </a:r>
            <a:r>
              <a:rPr lang="en-US" sz="1400" dirty="0" err="1">
                <a:solidFill>
                  <a:schemeClr val="tx2">
                    <a:lumMod val="50000"/>
                    <a:lumOff val="50000"/>
                  </a:schemeClr>
                </a:solidFill>
                <a:latin typeface="Roboto Mono" pitchFamily="49" charset="0"/>
                <a:ea typeface="Roboto Mono" pitchFamily="49" charset="0"/>
              </a:rPr>
              <a:t>repository_dispatch</a:t>
            </a:r>
            <a:r>
              <a:rPr lang="en-US" sz="1400" dirty="0">
                <a:solidFill>
                  <a:schemeClr val="tx2">
                    <a:lumMod val="50000"/>
                    <a:lumOff val="50000"/>
                  </a:schemeClr>
                </a:solidFill>
                <a:latin typeface="Roboto Mono" pitchFamily="49" charset="0"/>
                <a:ea typeface="Roboto Mono" pitchFamily="49" charset="0"/>
              </a:rPr>
              <a: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types: </a:t>
            </a:r>
            <a:r>
              <a:rPr lang="en-US" sz="1400" dirty="0">
                <a:solidFill>
                  <a:srgbClr val="BE4C41"/>
                </a:solidFill>
                <a:latin typeface="Roboto Mono" pitchFamily="49" charset="0"/>
                <a:ea typeface="Roboto Mono" pitchFamily="49" charset="0"/>
              </a:rPr>
              <a:t>[run-tests, deploy-to-prod]  </a:t>
            </a:r>
            <a:r>
              <a:rPr lang="en-US" sz="1400" dirty="0">
                <a:solidFill>
                  <a:srgbClr val="92D050"/>
                </a:solidFill>
                <a:latin typeface="Roboto Mono" pitchFamily="49" charset="0"/>
                <a:ea typeface="Roboto Mono" pitchFamily="49" charset="0"/>
              </a:rPr>
              <a:t># Optional filtering</a:t>
            </a:r>
          </a:p>
          <a:p>
            <a:pPr marL="0" indent="0">
              <a:spcBef>
                <a:spcPts val="0"/>
              </a:spcBef>
              <a:buNone/>
            </a:pPr>
            <a:endParaRPr lang="en-US" sz="1400" dirty="0">
              <a:solidFill>
                <a:schemeClr val="tx2">
                  <a:lumMod val="50000"/>
                  <a:lumOff val="50000"/>
                </a:schemeClr>
              </a:solidFill>
              <a:latin typeface="Roboto Mono" pitchFamily="49" charset="0"/>
              <a:ea typeface="Roboto Mono" pitchFamily="49" charset="0"/>
            </a:endParaRP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jobs: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runs-on: </a:t>
            </a:r>
            <a:r>
              <a:rPr lang="en-US" sz="1400" dirty="0">
                <a:solidFill>
                  <a:srgbClr val="BE4C41"/>
                </a:solidFill>
                <a:latin typeface="Roboto Mono" pitchFamily="49" charset="0"/>
                <a:ea typeface="Roboto Mono" pitchFamily="49" charset="0"/>
              </a:rPr>
              <a:t>ubuntu-latest</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steps:</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 name: </a:t>
            </a:r>
            <a:r>
              <a:rPr lang="en-US" sz="1400" dirty="0">
                <a:solidFill>
                  <a:srgbClr val="BE4C41"/>
                </a:solidFill>
                <a:latin typeface="Roboto Mono" pitchFamily="49" charset="0"/>
                <a:ea typeface="Roboto Mono" pitchFamily="49" charset="0"/>
              </a:rPr>
              <a:t>Echo the payload</a:t>
            </a:r>
          </a:p>
          <a:p>
            <a:pPr marL="0" indent="0">
              <a:spcBef>
                <a:spcPts val="0"/>
              </a:spcBef>
              <a:buNone/>
            </a:pPr>
            <a:r>
              <a:rPr lang="en-US" sz="1400" dirty="0">
                <a:solidFill>
                  <a:schemeClr val="tx2">
                    <a:lumMod val="50000"/>
                    <a:lumOff val="50000"/>
                  </a:schemeClr>
                </a:solidFill>
                <a:latin typeface="Roboto Mono" pitchFamily="49" charset="0"/>
                <a:ea typeface="Roboto Mono" pitchFamily="49" charset="0"/>
              </a:rPr>
              <a:t>        run: </a:t>
            </a:r>
            <a:r>
              <a:rPr lang="en-US" sz="1400" dirty="0">
                <a:solidFill>
                  <a:srgbClr val="BE4C41"/>
                </a:solidFill>
                <a:latin typeface="Roboto Mono" pitchFamily="49" charset="0"/>
                <a:ea typeface="Roboto Mono" pitchFamily="49" charset="0"/>
              </a:rPr>
              <a:t>|</a:t>
            </a:r>
          </a:p>
          <a:p>
            <a:pPr marL="0" indent="0">
              <a:spcBef>
                <a:spcPts val="0"/>
              </a:spcBef>
              <a:buNone/>
            </a:pPr>
            <a:r>
              <a:rPr lang="en-US" sz="1400" dirty="0">
                <a:solidFill>
                  <a:srgbClr val="BE4C41"/>
                </a:solidFill>
                <a:latin typeface="Roboto Mono" pitchFamily="49" charset="0"/>
                <a:ea typeface="Roboto Mono" pitchFamily="49" charset="0"/>
              </a:rPr>
              <a:t>          echo "Event type: ${{ </a:t>
            </a:r>
            <a:r>
              <a:rPr lang="en-US" sz="1400" dirty="0" err="1">
                <a:solidFill>
                  <a:srgbClr val="BE4C41"/>
                </a:solidFill>
                <a:latin typeface="Roboto Mono" pitchFamily="49" charset="0"/>
                <a:ea typeface="Roboto Mono" pitchFamily="49" charset="0"/>
              </a:rPr>
              <a:t>github.event.action</a:t>
            </a:r>
            <a:r>
              <a:rPr lang="en-US" sz="1400" dirty="0">
                <a:solidFill>
                  <a:srgbClr val="BE4C41"/>
                </a:solidFill>
                <a:latin typeface="Roboto Mono" pitchFamily="49" charset="0"/>
                <a:ea typeface="Roboto Mono" pitchFamily="49" charset="0"/>
              </a:rPr>
              <a:t> }}"</a:t>
            </a:r>
          </a:p>
          <a:p>
            <a:pPr marL="0" indent="0">
              <a:spcBef>
                <a:spcPts val="0"/>
              </a:spcBef>
              <a:buNone/>
            </a:pPr>
            <a:r>
              <a:rPr lang="en-US" sz="1400" dirty="0">
                <a:solidFill>
                  <a:srgbClr val="BE4C41"/>
                </a:solidFill>
                <a:latin typeface="Roboto Mono" pitchFamily="49" charset="0"/>
                <a:ea typeface="Roboto Mono" pitchFamily="49" charset="0"/>
              </a:rPr>
              <a:t>          echo "Payload value: ${{ </a:t>
            </a:r>
            <a:r>
              <a:rPr lang="en-US" sz="1400" dirty="0" err="1">
                <a:solidFill>
                  <a:srgbClr val="BE4C41"/>
                </a:solidFill>
                <a:latin typeface="Roboto Mono" pitchFamily="49" charset="0"/>
                <a:ea typeface="Roboto Mono" pitchFamily="49" charset="0"/>
              </a:rPr>
              <a:t>github.event.client_payload.env</a:t>
            </a:r>
            <a:r>
              <a:rPr lang="en-US" sz="1400" dirty="0">
                <a:solidFill>
                  <a:srgbClr val="BE4C41"/>
                </a:solidFill>
                <a:latin typeface="Roboto Mono" pitchFamily="49" charset="0"/>
                <a:ea typeface="Roboto Mono" pitchFamily="49" charset="0"/>
              </a:rPr>
              <a:t> }}"</a:t>
            </a: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579437" y="4986695"/>
            <a:ext cx="9724915" cy="49244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400" b="0" i="0" dirty="0">
                <a:solidFill>
                  <a:srgbClr val="161616"/>
                </a:solidFill>
                <a:effectLst/>
                <a:latin typeface="Quattrocento Sans" panose="020B0502050000020003" pitchFamily="34" charset="0"/>
                <a:ea typeface="Roboto Mono" pitchFamily="49" charset="0"/>
              </a:rPr>
              <a:t>Key elements:</a:t>
            </a:r>
          </a:p>
          <a:p>
            <a:pPr>
              <a:spcAft>
                <a:spcPts val="600"/>
              </a:spcAft>
            </a:pPr>
            <a:r>
              <a:rPr lang="en-US" sz="2000" b="1" i="0" dirty="0">
                <a:solidFill>
                  <a:srgbClr val="161616"/>
                </a:solidFill>
                <a:effectLst/>
                <a:latin typeface="Quattrocento Sans" panose="020B0502050000020003" pitchFamily="34" charset="0"/>
                <a:ea typeface="Roboto Mono" pitchFamily="49" charset="0"/>
              </a:rPr>
              <a:t>types: </a:t>
            </a:r>
            <a:r>
              <a:rPr lang="en-US" sz="2000" b="0" i="0" dirty="0">
                <a:solidFill>
                  <a:srgbClr val="161616"/>
                </a:solidFill>
                <a:effectLst/>
                <a:latin typeface="Quattrocento Sans" panose="020B0502050000020003" pitchFamily="34" charset="0"/>
                <a:ea typeface="Roboto Mono" pitchFamily="49" charset="0"/>
              </a:rPr>
              <a:t>Optional. Defines custom event types like run-tests, deploy-to-prod, etc.</a:t>
            </a:r>
          </a:p>
          <a:p>
            <a:pPr>
              <a:spcAft>
                <a:spcPts val="600"/>
              </a:spcAft>
            </a:pPr>
            <a:r>
              <a:rPr lang="en-US" sz="2000" b="1" i="0" dirty="0" err="1">
                <a:solidFill>
                  <a:srgbClr val="161616"/>
                </a:solidFill>
                <a:effectLst/>
                <a:latin typeface="Quattrocento Sans" panose="020B0502050000020003" pitchFamily="34" charset="0"/>
                <a:ea typeface="Roboto Mono" pitchFamily="49" charset="0"/>
              </a:rPr>
              <a:t>github.event.client_payload</a:t>
            </a:r>
            <a:r>
              <a:rPr lang="en-US" sz="2000" b="1" i="0" dirty="0">
                <a:solidFill>
                  <a:srgbClr val="161616"/>
                </a:solidFill>
                <a:effectLst/>
                <a:latin typeface="Quattrocento Sans" panose="020B0502050000020003" pitchFamily="34" charset="0"/>
                <a:ea typeface="Roboto Mono" pitchFamily="49" charset="0"/>
              </a:rPr>
              <a:t>: </a:t>
            </a:r>
            <a:r>
              <a:rPr lang="en-US" sz="2000" b="0" i="0" dirty="0">
                <a:solidFill>
                  <a:srgbClr val="161616"/>
                </a:solidFill>
                <a:effectLst/>
                <a:latin typeface="Quattrocento Sans" panose="020B0502050000020003" pitchFamily="34" charset="0"/>
                <a:ea typeface="Roboto Mono" pitchFamily="49" charset="0"/>
              </a:rPr>
              <a:t>Access to any additional custom data passed in the dispatch event.</a:t>
            </a:r>
          </a:p>
          <a:p>
            <a:pPr>
              <a:spcAft>
                <a:spcPts val="600"/>
              </a:spcAft>
            </a:pPr>
            <a:r>
              <a:rPr lang="en-US" sz="2000" b="1" i="0" dirty="0" err="1">
                <a:solidFill>
                  <a:srgbClr val="161616"/>
                </a:solidFill>
                <a:effectLst/>
                <a:latin typeface="Quattrocento Sans" panose="020B0502050000020003" pitchFamily="34" charset="0"/>
                <a:ea typeface="Roboto Mono" pitchFamily="49" charset="0"/>
              </a:rPr>
              <a:t>github.event.action</a:t>
            </a:r>
            <a:r>
              <a:rPr lang="en-US" sz="2000" b="1" i="0" dirty="0">
                <a:solidFill>
                  <a:srgbClr val="161616"/>
                </a:solidFill>
                <a:effectLst/>
                <a:latin typeface="Quattrocento Sans" panose="020B0502050000020003" pitchFamily="34" charset="0"/>
                <a:ea typeface="Roboto Mono" pitchFamily="49" charset="0"/>
              </a:rPr>
              <a:t>: </a:t>
            </a:r>
            <a:r>
              <a:rPr lang="en-US" sz="2000" b="0" i="0" dirty="0">
                <a:solidFill>
                  <a:srgbClr val="161616"/>
                </a:solidFill>
                <a:effectLst/>
                <a:latin typeface="Quattrocento Sans" panose="020B0502050000020003" pitchFamily="34" charset="0"/>
                <a:ea typeface="Roboto Mono" pitchFamily="49" charset="0"/>
              </a:rPr>
              <a:t>Name of the </a:t>
            </a:r>
            <a:r>
              <a:rPr lang="en-US" sz="2000" b="0" i="0" dirty="0" err="1">
                <a:solidFill>
                  <a:srgbClr val="161616"/>
                </a:solidFill>
                <a:effectLst/>
                <a:latin typeface="Quattrocento Sans" panose="020B0502050000020003" pitchFamily="34" charset="0"/>
                <a:ea typeface="Roboto Mono" pitchFamily="49" charset="0"/>
              </a:rPr>
              <a:t>event_type</a:t>
            </a:r>
            <a:r>
              <a:rPr lang="en-US" sz="2000" b="0" i="0" dirty="0">
                <a:solidFill>
                  <a:srgbClr val="161616"/>
                </a:solidFill>
                <a:effectLst/>
                <a:latin typeface="Quattrocento Sans" panose="020B0502050000020003" pitchFamily="34" charset="0"/>
                <a:ea typeface="Roboto Mono" pitchFamily="49" charset="0"/>
              </a:rPr>
              <a:t> sent.</a:t>
            </a:r>
          </a:p>
        </p:txBody>
      </p:sp>
    </p:spTree>
    <p:extLst>
      <p:ext uri="{BB962C8B-B14F-4D97-AF65-F5344CB8AC3E}">
        <p14:creationId xmlns:p14="http://schemas.microsoft.com/office/powerpoint/2010/main" val="1176838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Triggering the event via API</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9D030901-830F-E483-BA77-449EDAD50BC7}"/>
              </a:ext>
            </a:extLst>
          </p:cNvPr>
          <p:cNvSpPr/>
          <p:nvPr/>
        </p:nvSpPr>
        <p:spPr>
          <a:xfrm>
            <a:off x="730178" y="1675627"/>
            <a:ext cx="7440880" cy="816561"/>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993005" y="1760842"/>
            <a:ext cx="6915225" cy="646129"/>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bg1"/>
                </a:solidFill>
                <a:latin typeface="Roboto Mono" pitchFamily="49" charset="0"/>
                <a:ea typeface="Roboto Mono" pitchFamily="49" charset="0"/>
              </a:rPr>
              <a:t>POST https://</a:t>
            </a:r>
            <a:r>
              <a:rPr lang="en-US" dirty="0" err="1">
                <a:solidFill>
                  <a:schemeClr val="bg1"/>
                </a:solidFill>
                <a:latin typeface="Roboto Mono" pitchFamily="49" charset="0"/>
                <a:ea typeface="Roboto Mono" pitchFamily="49" charset="0"/>
              </a:rPr>
              <a:t>api.github.com</a:t>
            </a:r>
            <a:r>
              <a:rPr lang="en-US" dirty="0">
                <a:solidFill>
                  <a:schemeClr val="bg1"/>
                </a:solidFill>
                <a:latin typeface="Roboto Mono" pitchFamily="49" charset="0"/>
                <a:ea typeface="Roboto Mono" pitchFamily="49" charset="0"/>
              </a:rPr>
              <a:t>/repos/OWNER/REPO/dispatches</a:t>
            </a: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692778" y="1083046"/>
            <a:ext cx="8182281" cy="49244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You must send a POST request to the GitHub REST API v3 endpoint:</a:t>
            </a:r>
          </a:p>
        </p:txBody>
      </p:sp>
      <p:sp>
        <p:nvSpPr>
          <p:cNvPr id="6" name="Text Placeholder 2">
            <a:extLst>
              <a:ext uri="{FF2B5EF4-FFF2-40B4-BE49-F238E27FC236}">
                <a16:creationId xmlns:a16="http://schemas.microsoft.com/office/drawing/2014/main" id="{310374EB-DF36-A218-2655-5BF4A1B4304D}"/>
              </a:ext>
            </a:extLst>
          </p:cNvPr>
          <p:cNvSpPr txBox="1">
            <a:spLocks/>
          </p:cNvSpPr>
          <p:nvPr/>
        </p:nvSpPr>
        <p:spPr>
          <a:xfrm>
            <a:off x="692778" y="2994943"/>
            <a:ext cx="10418095" cy="492443"/>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b="0" i="0" dirty="0">
                <a:solidFill>
                  <a:srgbClr val="161616"/>
                </a:solidFill>
                <a:effectLst/>
                <a:latin typeface="Quattrocento Sans" panose="020B0502050000020003" pitchFamily="34" charset="0"/>
                <a:ea typeface="Roboto Mono" pitchFamily="49" charset="0"/>
              </a:rPr>
              <a:t>Authorization</a:t>
            </a:r>
          </a:p>
          <a:p>
            <a:pPr algn="just"/>
            <a:r>
              <a:rPr lang="en-US" sz="2000" b="0" i="0" dirty="0">
                <a:solidFill>
                  <a:srgbClr val="161616"/>
                </a:solidFill>
                <a:effectLst/>
                <a:latin typeface="Quattrocento Sans" panose="020B0502050000020003" pitchFamily="34" charset="0"/>
                <a:ea typeface="Roboto Mono" pitchFamily="49" charset="0"/>
              </a:rPr>
              <a:t>Requires a personal access token (PAT) with repo scope.</a:t>
            </a:r>
          </a:p>
          <a:p>
            <a:pPr algn="just"/>
            <a:r>
              <a:rPr lang="en-US" sz="2000" b="0" i="0" dirty="0">
                <a:solidFill>
                  <a:srgbClr val="161616"/>
                </a:solidFill>
                <a:effectLst/>
                <a:latin typeface="Quattrocento Sans" panose="020B0502050000020003" pitchFamily="34" charset="0"/>
                <a:ea typeface="Roboto Mono" pitchFamily="49" charset="0"/>
              </a:rPr>
              <a:t>For organizations, ensure proper access settings for your token.</a:t>
            </a:r>
          </a:p>
        </p:txBody>
      </p:sp>
      <p:sp>
        <p:nvSpPr>
          <p:cNvPr id="5" name="Rectangle 4">
            <a:extLst>
              <a:ext uri="{FF2B5EF4-FFF2-40B4-BE49-F238E27FC236}">
                <a16:creationId xmlns:a16="http://schemas.microsoft.com/office/drawing/2014/main" id="{E2DDA60E-850C-5532-F4C2-EADA5939A9F6}"/>
              </a:ext>
            </a:extLst>
          </p:cNvPr>
          <p:cNvSpPr/>
          <p:nvPr/>
        </p:nvSpPr>
        <p:spPr>
          <a:xfrm>
            <a:off x="692777" y="4590349"/>
            <a:ext cx="9072283" cy="1668387"/>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 Placeholder 2">
            <a:extLst>
              <a:ext uri="{FF2B5EF4-FFF2-40B4-BE49-F238E27FC236}">
                <a16:creationId xmlns:a16="http://schemas.microsoft.com/office/drawing/2014/main" id="{D3F86212-8708-25CB-DEA9-8D599079F6C2}"/>
              </a:ext>
            </a:extLst>
          </p:cNvPr>
          <p:cNvSpPr txBox="1">
            <a:spLocks/>
          </p:cNvSpPr>
          <p:nvPr/>
        </p:nvSpPr>
        <p:spPr>
          <a:xfrm>
            <a:off x="847803" y="4590349"/>
            <a:ext cx="8444753" cy="1481087"/>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bg1"/>
                </a:solidFill>
                <a:latin typeface="Roboto Mono" pitchFamily="49" charset="0"/>
                <a:ea typeface="Roboto Mono" pitchFamily="49" charset="0"/>
              </a:rPr>
              <a:t>curl -X POST \</a:t>
            </a:r>
          </a:p>
          <a:p>
            <a:pPr marL="0" indent="0">
              <a:spcBef>
                <a:spcPts val="0"/>
              </a:spcBef>
              <a:buNone/>
            </a:pPr>
            <a:r>
              <a:rPr lang="en-US" dirty="0">
                <a:solidFill>
                  <a:schemeClr val="bg1"/>
                </a:solidFill>
                <a:latin typeface="Roboto Mono" pitchFamily="49" charset="0"/>
                <a:ea typeface="Roboto Mono" pitchFamily="49" charset="0"/>
              </a:rPr>
              <a:t>  -H </a:t>
            </a:r>
            <a:r>
              <a:rPr lang="en-US" dirty="0">
                <a:solidFill>
                  <a:srgbClr val="BE4C41"/>
                </a:solidFill>
                <a:latin typeface="Roboto Mono" pitchFamily="49" charset="0"/>
                <a:ea typeface="Roboto Mono" pitchFamily="49" charset="0"/>
              </a:rPr>
              <a:t>"Accept: application/</a:t>
            </a:r>
            <a:r>
              <a:rPr lang="en-US" dirty="0" err="1">
                <a:solidFill>
                  <a:srgbClr val="BE4C41"/>
                </a:solidFill>
                <a:latin typeface="Roboto Mono" pitchFamily="49" charset="0"/>
                <a:ea typeface="Roboto Mono" pitchFamily="49" charset="0"/>
              </a:rPr>
              <a:t>vnd.github+json</a:t>
            </a:r>
            <a:r>
              <a:rPr lang="en-US" dirty="0">
                <a:solidFill>
                  <a:srgbClr val="BE4C41"/>
                </a:solidFill>
                <a:latin typeface="Roboto Mono" pitchFamily="49" charset="0"/>
                <a:ea typeface="Roboto Mono" pitchFamily="49" charset="0"/>
              </a:rPr>
              <a:t>" </a:t>
            </a:r>
            <a:r>
              <a:rPr lang="en-US" dirty="0">
                <a:solidFill>
                  <a:schemeClr val="bg1"/>
                </a:solidFill>
                <a:latin typeface="Roboto Mono" pitchFamily="49" charset="0"/>
                <a:ea typeface="Roboto Mono" pitchFamily="49" charset="0"/>
              </a:rPr>
              <a:t>\</a:t>
            </a:r>
          </a:p>
          <a:p>
            <a:pPr marL="0" indent="0">
              <a:spcBef>
                <a:spcPts val="0"/>
              </a:spcBef>
              <a:buNone/>
            </a:pPr>
            <a:r>
              <a:rPr lang="en-US" dirty="0">
                <a:solidFill>
                  <a:schemeClr val="bg1"/>
                </a:solidFill>
                <a:latin typeface="Roboto Mono" pitchFamily="49" charset="0"/>
                <a:ea typeface="Roboto Mono" pitchFamily="49" charset="0"/>
              </a:rPr>
              <a:t>  -H </a:t>
            </a:r>
            <a:r>
              <a:rPr lang="en-US" dirty="0">
                <a:solidFill>
                  <a:srgbClr val="BE4C41"/>
                </a:solidFill>
                <a:latin typeface="Roboto Mono" pitchFamily="49" charset="0"/>
                <a:ea typeface="Roboto Mono" pitchFamily="49" charset="0"/>
              </a:rPr>
              <a:t>"Authorization: token YOUR_GITHUB_TOKEN" </a:t>
            </a:r>
            <a:r>
              <a:rPr lang="en-US" dirty="0">
                <a:solidFill>
                  <a:schemeClr val="bg1"/>
                </a:solidFill>
                <a:latin typeface="Roboto Mono" pitchFamily="49" charset="0"/>
                <a:ea typeface="Roboto Mono" pitchFamily="49" charset="0"/>
              </a:rPr>
              <a:t>\</a:t>
            </a:r>
          </a:p>
          <a:p>
            <a:pPr marL="0" indent="0">
              <a:spcBef>
                <a:spcPts val="0"/>
              </a:spcBef>
              <a:buNone/>
            </a:pPr>
            <a:r>
              <a:rPr lang="en-US" dirty="0">
                <a:solidFill>
                  <a:schemeClr val="bg1"/>
                </a:solidFill>
                <a:latin typeface="Roboto Mono" pitchFamily="49" charset="0"/>
                <a:ea typeface="Roboto Mono" pitchFamily="49" charset="0"/>
              </a:rPr>
              <a:t>  https://</a:t>
            </a:r>
            <a:r>
              <a:rPr lang="en-US" dirty="0" err="1">
                <a:solidFill>
                  <a:schemeClr val="bg1"/>
                </a:solidFill>
                <a:latin typeface="Roboto Mono" pitchFamily="49" charset="0"/>
                <a:ea typeface="Roboto Mono" pitchFamily="49" charset="0"/>
              </a:rPr>
              <a:t>api.github.com</a:t>
            </a:r>
            <a:r>
              <a:rPr lang="en-US" dirty="0">
                <a:solidFill>
                  <a:schemeClr val="bg1"/>
                </a:solidFill>
                <a:latin typeface="Roboto Mono" pitchFamily="49" charset="0"/>
                <a:ea typeface="Roboto Mono" pitchFamily="49" charset="0"/>
              </a:rPr>
              <a:t>/repos/OWNER/REPO/dispatches \</a:t>
            </a:r>
          </a:p>
          <a:p>
            <a:pPr marL="0" indent="0">
              <a:spcBef>
                <a:spcPts val="0"/>
              </a:spcBef>
              <a:buNone/>
            </a:pPr>
            <a:r>
              <a:rPr lang="en-US" dirty="0">
                <a:solidFill>
                  <a:schemeClr val="bg1"/>
                </a:solidFill>
                <a:latin typeface="Roboto Mono" pitchFamily="49" charset="0"/>
                <a:ea typeface="Roboto Mono" pitchFamily="49" charset="0"/>
              </a:rPr>
              <a:t>  -d </a:t>
            </a:r>
            <a:r>
              <a:rPr lang="en-US" dirty="0">
                <a:solidFill>
                  <a:srgbClr val="BE4C41"/>
                </a:solidFill>
                <a:latin typeface="Roboto Mono" pitchFamily="49" charset="0"/>
                <a:ea typeface="Roboto Mono" pitchFamily="49" charset="0"/>
              </a:rPr>
              <a:t>'{"event_type":"run-tests","</a:t>
            </a:r>
            <a:r>
              <a:rPr lang="en-US" dirty="0" err="1">
                <a:solidFill>
                  <a:srgbClr val="BE4C41"/>
                </a:solidFill>
                <a:latin typeface="Roboto Mono" pitchFamily="49" charset="0"/>
                <a:ea typeface="Roboto Mono" pitchFamily="49" charset="0"/>
              </a:rPr>
              <a:t>client_payload</a:t>
            </a:r>
            <a:r>
              <a:rPr lang="en-US" dirty="0">
                <a:solidFill>
                  <a:srgbClr val="BE4C41"/>
                </a:solidFill>
                <a:latin typeface="Roboto Mono" pitchFamily="49" charset="0"/>
                <a:ea typeface="Roboto Mono" pitchFamily="49" charset="0"/>
              </a:rPr>
              <a:t>":{"</a:t>
            </a:r>
            <a:r>
              <a:rPr lang="en-US" dirty="0" err="1">
                <a:solidFill>
                  <a:srgbClr val="BE4C41"/>
                </a:solidFill>
                <a:latin typeface="Roboto Mono" pitchFamily="49" charset="0"/>
                <a:ea typeface="Roboto Mono" pitchFamily="49" charset="0"/>
              </a:rPr>
              <a:t>env":"staging</a:t>
            </a:r>
            <a:r>
              <a:rPr lang="en-US" dirty="0">
                <a:solidFill>
                  <a:srgbClr val="BE4C41"/>
                </a:solidFill>
                <a:latin typeface="Roboto Mono" pitchFamily="49" charset="0"/>
                <a:ea typeface="Roboto Mono" pitchFamily="49" charset="0"/>
              </a:rPr>
              <a:t>"}}'</a:t>
            </a:r>
          </a:p>
        </p:txBody>
      </p:sp>
      <p:sp>
        <p:nvSpPr>
          <p:cNvPr id="9" name="Text Placeholder 2">
            <a:extLst>
              <a:ext uri="{FF2B5EF4-FFF2-40B4-BE49-F238E27FC236}">
                <a16:creationId xmlns:a16="http://schemas.microsoft.com/office/drawing/2014/main" id="{A135CBB4-BB96-9027-A231-D04B05EF6A02}"/>
              </a:ext>
            </a:extLst>
          </p:cNvPr>
          <p:cNvSpPr txBox="1">
            <a:spLocks/>
          </p:cNvSpPr>
          <p:nvPr/>
        </p:nvSpPr>
        <p:spPr>
          <a:xfrm>
            <a:off x="692777" y="4053683"/>
            <a:ext cx="10418095" cy="492443"/>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b="0" i="0" dirty="0">
                <a:solidFill>
                  <a:srgbClr val="161616"/>
                </a:solidFill>
                <a:effectLst/>
                <a:latin typeface="Quattrocento Sans" panose="020B0502050000020003" pitchFamily="34" charset="0"/>
                <a:ea typeface="Roboto Mono" pitchFamily="49" charset="0"/>
              </a:rPr>
              <a:t>Sample command structure</a:t>
            </a:r>
          </a:p>
        </p:txBody>
      </p:sp>
    </p:spTree>
    <p:extLst>
      <p:ext uri="{BB962C8B-B14F-4D97-AF65-F5344CB8AC3E}">
        <p14:creationId xmlns:p14="http://schemas.microsoft.com/office/powerpoint/2010/main" val="3442773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Payload structure</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Rectangle 4">
            <a:extLst>
              <a:ext uri="{FF2B5EF4-FFF2-40B4-BE49-F238E27FC236}">
                <a16:creationId xmlns:a16="http://schemas.microsoft.com/office/drawing/2014/main" id="{E2DDA60E-850C-5532-F4C2-EADA5939A9F6}"/>
              </a:ext>
            </a:extLst>
          </p:cNvPr>
          <p:cNvSpPr/>
          <p:nvPr/>
        </p:nvSpPr>
        <p:spPr>
          <a:xfrm>
            <a:off x="692777" y="1110496"/>
            <a:ext cx="8444753" cy="1668387"/>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 Placeholder 2">
            <a:extLst>
              <a:ext uri="{FF2B5EF4-FFF2-40B4-BE49-F238E27FC236}">
                <a16:creationId xmlns:a16="http://schemas.microsoft.com/office/drawing/2014/main" id="{D3F86212-8708-25CB-DEA9-8D599079F6C2}"/>
              </a:ext>
            </a:extLst>
          </p:cNvPr>
          <p:cNvSpPr txBox="1">
            <a:spLocks/>
          </p:cNvSpPr>
          <p:nvPr/>
        </p:nvSpPr>
        <p:spPr>
          <a:xfrm>
            <a:off x="865732" y="1232339"/>
            <a:ext cx="8444753" cy="1481087"/>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bg1"/>
                </a:solidFill>
                <a:latin typeface="Roboto Mono" pitchFamily="49" charset="0"/>
                <a:ea typeface="Roboto Mono" pitchFamily="49" charset="0"/>
              </a:rPr>
              <a:t>{</a:t>
            </a:r>
          </a:p>
          <a:p>
            <a:pPr marL="0" indent="0">
              <a:spcBef>
                <a:spcPts val="0"/>
              </a:spcBef>
              <a:buNone/>
            </a:pPr>
            <a:r>
              <a:rPr lang="en-US" dirty="0">
                <a:solidFill>
                  <a:schemeClr val="bg1"/>
                </a:solidFill>
                <a:latin typeface="Roboto Mono" pitchFamily="49" charset="0"/>
                <a:ea typeface="Roboto Mono" pitchFamily="49" charset="0"/>
              </a:rPr>
              <a:t>  </a:t>
            </a:r>
            <a:r>
              <a:rPr lang="en-US" dirty="0">
                <a:solidFill>
                  <a:schemeClr val="tx2">
                    <a:lumMod val="50000"/>
                    <a:lumOff val="50000"/>
                  </a:schemeClr>
                </a:solidFill>
                <a:latin typeface="Roboto Mono" pitchFamily="49" charset="0"/>
                <a:ea typeface="Roboto Mono" pitchFamily="49" charset="0"/>
              </a:rPr>
              <a:t>"</a:t>
            </a:r>
            <a:r>
              <a:rPr lang="en-US" dirty="0" err="1">
                <a:solidFill>
                  <a:schemeClr val="tx2">
                    <a:lumMod val="50000"/>
                    <a:lumOff val="50000"/>
                  </a:schemeClr>
                </a:solidFill>
                <a:latin typeface="Roboto Mono" pitchFamily="49" charset="0"/>
                <a:ea typeface="Roboto Mono" pitchFamily="49" charset="0"/>
              </a:rPr>
              <a:t>event_type</a:t>
            </a:r>
            <a:r>
              <a:rPr lang="en-US" dirty="0">
                <a:solidFill>
                  <a:schemeClr val="tx2">
                    <a:lumMod val="50000"/>
                    <a:lumOff val="50000"/>
                  </a:schemeClr>
                </a:solidFill>
                <a:latin typeface="Roboto Mono" pitchFamily="49" charset="0"/>
                <a:ea typeface="Roboto Mono" pitchFamily="49" charset="0"/>
              </a:rPr>
              <a:t>": </a:t>
            </a:r>
            <a:r>
              <a:rPr lang="en-US" dirty="0">
                <a:solidFill>
                  <a:srgbClr val="C00000"/>
                </a:solidFill>
                <a:latin typeface="Roboto Mono" pitchFamily="49" charset="0"/>
                <a:ea typeface="Roboto Mono" pitchFamily="49" charset="0"/>
              </a:rPr>
              <a:t>"run-tests",</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a:t>
            </a:r>
            <a:r>
              <a:rPr lang="en-US" dirty="0" err="1">
                <a:solidFill>
                  <a:schemeClr val="tx2">
                    <a:lumMod val="50000"/>
                    <a:lumOff val="50000"/>
                  </a:schemeClr>
                </a:solidFill>
                <a:latin typeface="Roboto Mono" pitchFamily="49" charset="0"/>
                <a:ea typeface="Roboto Mono" pitchFamily="49" charset="0"/>
              </a:rPr>
              <a:t>client_payload</a:t>
            </a:r>
            <a:r>
              <a:rPr lang="en-US" dirty="0">
                <a:solidFill>
                  <a:schemeClr val="tx2">
                    <a:lumMod val="50000"/>
                    <a:lumOff val="50000"/>
                  </a:schemeClr>
                </a:solidFill>
                <a:latin typeface="Roboto Mono" pitchFamily="49" charset="0"/>
                <a:ea typeface="Roboto Mono" pitchFamily="49" charset="0"/>
              </a:rPr>
              <a:t>": {</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"env": </a:t>
            </a:r>
            <a:r>
              <a:rPr lang="en-US" dirty="0">
                <a:solidFill>
                  <a:srgbClr val="C00000"/>
                </a:solidFill>
                <a:latin typeface="Roboto Mono" pitchFamily="49" charset="0"/>
                <a:ea typeface="Roboto Mono" pitchFamily="49" charset="0"/>
              </a:rPr>
              <a:t>"staging"</a:t>
            </a:r>
          </a:p>
          <a:p>
            <a:pPr marL="0" indent="0">
              <a:spcBef>
                <a:spcPts val="0"/>
              </a:spcBef>
              <a:buNone/>
            </a:pPr>
            <a:r>
              <a:rPr lang="en-US" dirty="0">
                <a:solidFill>
                  <a:schemeClr val="bg1"/>
                </a:solidFill>
                <a:latin typeface="Roboto Mono" pitchFamily="49" charset="0"/>
                <a:ea typeface="Roboto Mono" pitchFamily="49" charset="0"/>
              </a:rPr>
              <a:t>  }</a:t>
            </a:r>
          </a:p>
          <a:p>
            <a:pPr marL="0" indent="0">
              <a:spcBef>
                <a:spcPts val="0"/>
              </a:spcBef>
              <a:buNone/>
            </a:pPr>
            <a:r>
              <a:rPr lang="en-US" dirty="0">
                <a:solidFill>
                  <a:schemeClr val="bg1"/>
                </a:solidFill>
                <a:latin typeface="Roboto Mono" pitchFamily="49" charset="0"/>
                <a:ea typeface="Roboto Mono" pitchFamily="49" charset="0"/>
              </a:rPr>
              <a:t>}</a:t>
            </a:r>
            <a:endParaRPr lang="en-US" dirty="0">
              <a:solidFill>
                <a:srgbClr val="BE4C41"/>
              </a:solidFill>
              <a:latin typeface="Roboto Mono" pitchFamily="49" charset="0"/>
              <a:ea typeface="Roboto Mono" pitchFamily="49" charset="0"/>
            </a:endParaRPr>
          </a:p>
        </p:txBody>
      </p:sp>
      <p:sp>
        <p:nvSpPr>
          <p:cNvPr id="9" name="Text Placeholder 2">
            <a:extLst>
              <a:ext uri="{FF2B5EF4-FFF2-40B4-BE49-F238E27FC236}">
                <a16:creationId xmlns:a16="http://schemas.microsoft.com/office/drawing/2014/main" id="{A135CBB4-BB96-9027-A231-D04B05EF6A02}"/>
              </a:ext>
            </a:extLst>
          </p:cNvPr>
          <p:cNvSpPr txBox="1">
            <a:spLocks/>
          </p:cNvSpPr>
          <p:nvPr/>
        </p:nvSpPr>
        <p:spPr>
          <a:xfrm>
            <a:off x="692778" y="3025265"/>
            <a:ext cx="2140069" cy="492443"/>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b="0" i="0" dirty="0">
                <a:solidFill>
                  <a:srgbClr val="161616"/>
                </a:solidFill>
                <a:effectLst/>
                <a:latin typeface="Quattrocento Sans" panose="020B0502050000020003" pitchFamily="34" charset="0"/>
                <a:ea typeface="Roboto Mono" pitchFamily="49" charset="0"/>
              </a:rPr>
              <a:t>Parameters</a:t>
            </a:r>
          </a:p>
        </p:txBody>
      </p:sp>
      <p:graphicFrame>
        <p:nvGraphicFramePr>
          <p:cNvPr id="8" name="Table 7">
            <a:extLst>
              <a:ext uri="{FF2B5EF4-FFF2-40B4-BE49-F238E27FC236}">
                <a16:creationId xmlns:a16="http://schemas.microsoft.com/office/drawing/2014/main" id="{CD7B6A76-6A87-6C66-A2C6-9C2D35A3862A}"/>
              </a:ext>
            </a:extLst>
          </p:cNvPr>
          <p:cNvGraphicFramePr>
            <a:graphicFrameLocks noGrp="1"/>
          </p:cNvGraphicFramePr>
          <p:nvPr>
            <p:extLst>
              <p:ext uri="{D42A27DB-BD31-4B8C-83A1-F6EECF244321}">
                <p14:modId xmlns:p14="http://schemas.microsoft.com/office/powerpoint/2010/main" val="2752933480"/>
              </p:ext>
            </p:extLst>
          </p:nvPr>
        </p:nvGraphicFramePr>
        <p:xfrm>
          <a:off x="692778" y="3603821"/>
          <a:ext cx="10919784" cy="2021840"/>
        </p:xfrm>
        <a:graphic>
          <a:graphicData uri="http://schemas.openxmlformats.org/drawingml/2006/table">
            <a:tbl>
              <a:tblPr firstRow="1" bandRow="1">
                <a:tableStyleId>{5C22544A-7EE6-4342-B048-85BDC9FD1C3A}</a:tableStyleId>
              </a:tblPr>
              <a:tblGrid>
                <a:gridCol w="1960775">
                  <a:extLst>
                    <a:ext uri="{9D8B030D-6E8A-4147-A177-3AD203B41FA5}">
                      <a16:colId xmlns:a16="http://schemas.microsoft.com/office/drawing/2014/main" val="2273228652"/>
                    </a:ext>
                  </a:extLst>
                </a:gridCol>
                <a:gridCol w="806823">
                  <a:extLst>
                    <a:ext uri="{9D8B030D-6E8A-4147-A177-3AD203B41FA5}">
                      <a16:colId xmlns:a16="http://schemas.microsoft.com/office/drawing/2014/main" val="4170424453"/>
                    </a:ext>
                  </a:extLst>
                </a:gridCol>
                <a:gridCol w="6866965">
                  <a:extLst>
                    <a:ext uri="{9D8B030D-6E8A-4147-A177-3AD203B41FA5}">
                      <a16:colId xmlns:a16="http://schemas.microsoft.com/office/drawing/2014/main" val="2682421728"/>
                    </a:ext>
                  </a:extLst>
                </a:gridCol>
                <a:gridCol w="1285221">
                  <a:extLst>
                    <a:ext uri="{9D8B030D-6E8A-4147-A177-3AD203B41FA5}">
                      <a16:colId xmlns:a16="http://schemas.microsoft.com/office/drawing/2014/main" val="2206638513"/>
                    </a:ext>
                  </a:extLst>
                </a:gridCol>
              </a:tblGrid>
              <a:tr h="370840">
                <a:tc>
                  <a:txBody>
                    <a:bodyPr/>
                    <a:lstStyle/>
                    <a:p>
                      <a:r>
                        <a:rPr lang="en-US" dirty="0">
                          <a:solidFill>
                            <a:schemeClr val="tx1"/>
                          </a:solidFill>
                        </a:rPr>
                        <a:t>Field</a:t>
                      </a:r>
                    </a:p>
                  </a:txBody>
                  <a:tcPr>
                    <a:lnR w="3175" cap="flat" cmpd="sng" algn="ctr">
                      <a:solidFill>
                        <a:schemeClr val="bg1">
                          <a:lumMod val="50000"/>
                        </a:schemeClr>
                      </a:solidFill>
                      <a:prstDash val="solid"/>
                      <a:round/>
                      <a:headEnd type="none" w="med" len="med"/>
                      <a:tailEnd type="none" w="med" len="med"/>
                    </a:lnR>
                    <a:lnB w="3175" cap="flat" cmpd="sng" algn="ctr">
                      <a:solidFill>
                        <a:schemeClr val="bg1">
                          <a:lumMod val="50000"/>
                        </a:schemeClr>
                      </a:solidFill>
                      <a:prstDash val="solid"/>
                      <a:round/>
                      <a:headEnd type="none" w="med" len="med"/>
                      <a:tailEnd type="none" w="med" len="med"/>
                    </a:lnB>
                    <a:noFill/>
                  </a:tcPr>
                </a:tc>
                <a:tc>
                  <a:txBody>
                    <a:bodyPr/>
                    <a:lstStyle/>
                    <a:p>
                      <a:r>
                        <a:rPr lang="en-US" dirty="0">
                          <a:solidFill>
                            <a:schemeClr val="tx1"/>
                          </a:solidFill>
                        </a:rPr>
                        <a:t>Type</a:t>
                      </a:r>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B w="3175" cap="flat" cmpd="sng" algn="ctr">
                      <a:solidFill>
                        <a:schemeClr val="bg1">
                          <a:lumMod val="50000"/>
                        </a:schemeClr>
                      </a:solidFill>
                      <a:prstDash val="solid"/>
                      <a:round/>
                      <a:headEnd type="none" w="med" len="med"/>
                      <a:tailEnd type="none" w="med" len="med"/>
                    </a:lnB>
                    <a:noFill/>
                  </a:tcPr>
                </a:tc>
                <a:tc>
                  <a:txBody>
                    <a:bodyPr/>
                    <a:lstStyle/>
                    <a:p>
                      <a:r>
                        <a:rPr lang="en-US" dirty="0">
                          <a:solidFill>
                            <a:schemeClr val="tx1"/>
                          </a:solidFill>
                        </a:rPr>
                        <a:t>Description</a:t>
                      </a:r>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B w="3175" cap="flat" cmpd="sng" algn="ctr">
                      <a:solidFill>
                        <a:schemeClr val="bg1">
                          <a:lumMod val="50000"/>
                        </a:schemeClr>
                      </a:solidFill>
                      <a:prstDash val="solid"/>
                      <a:round/>
                      <a:headEnd type="none" w="med" len="med"/>
                      <a:tailEnd type="none" w="med" len="med"/>
                    </a:lnB>
                    <a:noFill/>
                  </a:tcPr>
                </a:tc>
                <a:tc>
                  <a:txBody>
                    <a:bodyPr/>
                    <a:lstStyle/>
                    <a:p>
                      <a:r>
                        <a:rPr lang="en-US" dirty="0">
                          <a:solidFill>
                            <a:schemeClr val="tx1"/>
                          </a:solidFill>
                        </a:rPr>
                        <a:t>Required</a:t>
                      </a:r>
                    </a:p>
                  </a:txBody>
                  <a:tcPr>
                    <a:lnL w="3175" cap="flat" cmpd="sng" algn="ctr">
                      <a:solidFill>
                        <a:schemeClr val="bg1">
                          <a:lumMod val="50000"/>
                        </a:schemeClr>
                      </a:solidFill>
                      <a:prstDash val="solid"/>
                      <a:round/>
                      <a:headEnd type="none" w="med" len="med"/>
                      <a:tailEnd type="none" w="med" len="med"/>
                    </a:lnL>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41095035"/>
                  </a:ext>
                </a:extLst>
              </a:tr>
              <a:tr h="370840">
                <a:tc>
                  <a:txBody>
                    <a:bodyPr/>
                    <a:lstStyle/>
                    <a:p>
                      <a:pPr algn="l" fontAlgn="t"/>
                      <a:r>
                        <a:rPr lang="en-US" sz="1600" dirty="0" err="1">
                          <a:effectLst/>
                          <a:highlight>
                            <a:srgbClr val="C0C0C0"/>
                          </a:highlight>
                          <a:latin typeface="Roboto Mono" pitchFamily="49" charset="0"/>
                          <a:ea typeface="Roboto Mono" pitchFamily="49" charset="0"/>
                        </a:rPr>
                        <a:t>event_type</a:t>
                      </a:r>
                      <a:endParaRPr lang="en-US" sz="1600" dirty="0">
                        <a:effectLst/>
                        <a:highlight>
                          <a:srgbClr val="C0C0C0"/>
                        </a:highlight>
                        <a:latin typeface="Roboto Mono" pitchFamily="49" charset="0"/>
                        <a:ea typeface="Roboto Mono" pitchFamily="49" charset="0"/>
                      </a:endParaRPr>
                    </a:p>
                  </a:txBody>
                  <a:tcPr>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a:effectLst/>
                        </a:rPr>
                        <a:t>string</a:t>
                      </a:r>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a:effectLst/>
                        </a:rPr>
                        <a:t>A custom name for the event. This maps to the types value in your workflow trigger</a:t>
                      </a:r>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effectLst/>
                        </a:rPr>
                        <a:t>Yes</a:t>
                      </a:r>
                    </a:p>
                  </a:txBody>
                  <a:tcPr>
                    <a:lnL w="3175" cap="flat" cmpd="sng" algn="ctr">
                      <a:solidFill>
                        <a:schemeClr val="bg1">
                          <a:lumMod val="50000"/>
                        </a:schemeClr>
                      </a:solidFill>
                      <a:prstDash val="solid"/>
                      <a:round/>
                      <a:headEnd type="none" w="med" len="med"/>
                      <a:tailEnd type="none" w="med" len="med"/>
                    </a:lnL>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98053028"/>
                  </a:ext>
                </a:extLst>
              </a:tr>
              <a:tr h="370840">
                <a:tc>
                  <a:txBody>
                    <a:bodyPr/>
                    <a:lstStyle/>
                    <a:p>
                      <a:pPr algn="l" fontAlgn="t"/>
                      <a:r>
                        <a:rPr lang="en-US" sz="1600" dirty="0" err="1">
                          <a:effectLst/>
                          <a:highlight>
                            <a:srgbClr val="C0C0C0"/>
                          </a:highlight>
                          <a:latin typeface="Roboto Mono" pitchFamily="49" charset="0"/>
                          <a:ea typeface="Roboto Mono" pitchFamily="49" charset="0"/>
                        </a:rPr>
                        <a:t>client_payload</a:t>
                      </a:r>
                      <a:endParaRPr lang="en-US" sz="1600" dirty="0">
                        <a:effectLst/>
                        <a:highlight>
                          <a:srgbClr val="C0C0C0"/>
                        </a:highlight>
                        <a:latin typeface="Roboto Mono" pitchFamily="49" charset="0"/>
                        <a:ea typeface="Roboto Mono" pitchFamily="49" charset="0"/>
                      </a:endParaRPr>
                    </a:p>
                  </a:txBody>
                  <a:tcPr>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a:effectLst/>
                        </a:rPr>
                        <a:t>object</a:t>
                      </a:r>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a:effectLst/>
                        </a:rPr>
                        <a:t>Arbitrary JSON payload to send custom data to the workflow (github.event.client_payload)</a:t>
                      </a:r>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l" fontAlgn="t"/>
                      <a:r>
                        <a:rPr lang="en-US" dirty="0">
                          <a:effectLst/>
                        </a:rPr>
                        <a:t>No</a:t>
                      </a:r>
                    </a:p>
                  </a:txBody>
                  <a:tcPr>
                    <a:lnL w="3175" cap="flat" cmpd="sng" algn="ctr">
                      <a:solidFill>
                        <a:schemeClr val="bg1">
                          <a:lumMod val="50000"/>
                        </a:schemeClr>
                      </a:solidFill>
                      <a:prstDash val="solid"/>
                      <a:round/>
                      <a:headEnd type="none" w="med" len="med"/>
                      <a:tailEnd type="none" w="med" len="med"/>
                    </a:lnL>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720832777"/>
                  </a:ext>
                </a:extLst>
              </a:tr>
              <a:tr h="370840">
                <a:tc gridSpan="4">
                  <a:txBody>
                    <a:bodyPr/>
                    <a:lstStyle/>
                    <a:p>
                      <a:r>
                        <a:rPr lang="en-US" dirty="0"/>
                        <a:t>No</a:t>
                      </a:r>
                    </a:p>
                  </a:txBody>
                  <a:tcPr>
                    <a:lnT w="3175" cap="flat" cmpd="sng" algn="ctr">
                      <a:solidFill>
                        <a:schemeClr val="bg1">
                          <a:lumMod val="50000"/>
                        </a:schemeClr>
                      </a:solidFill>
                      <a:prstDash val="solid"/>
                      <a:round/>
                      <a:headEnd type="none" w="med" len="med"/>
                      <a:tailEnd type="none" w="med" len="med"/>
                    </a:lnT>
                    <a:noFill/>
                  </a:tcPr>
                </a:tc>
                <a:tc hMerge="1">
                  <a:txBody>
                    <a:bodyPr/>
                    <a:lstStyle/>
                    <a:p>
                      <a:endParaRPr lang="en-US" dirty="0"/>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noFill/>
                  </a:tcPr>
                </a:tc>
                <a:tc hMerge="1">
                  <a:txBody>
                    <a:bodyPr/>
                    <a:lstStyle/>
                    <a:p>
                      <a:endParaRPr lang="en-US" dirty="0"/>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noFill/>
                  </a:tcPr>
                </a:tc>
                <a:tc hMerge="1">
                  <a:txBody>
                    <a:bodyPr/>
                    <a:lstStyle/>
                    <a:p>
                      <a:endParaRPr lang="en-US" dirty="0"/>
                    </a:p>
                  </a:txBody>
                  <a:tcPr>
                    <a:lnL w="3175" cap="flat" cmpd="sng" algn="ctr">
                      <a:solidFill>
                        <a:schemeClr val="bg1">
                          <a:lumMod val="50000"/>
                        </a:schemeClr>
                      </a:solidFill>
                      <a:prstDash val="solid"/>
                      <a:round/>
                      <a:headEnd type="none" w="med" len="med"/>
                      <a:tailEnd type="none" w="med" len="med"/>
                    </a:lnL>
                    <a:lnT w="3175" cap="flat" cmpd="sng" algn="ctr">
                      <a:solidFill>
                        <a:schemeClr val="bg1">
                          <a:lumMod val="50000"/>
                        </a:schemeClr>
                      </a:solidFill>
                      <a:prstDash val="solid"/>
                      <a:round/>
                      <a:headEnd type="none" w="med" len="med"/>
                      <a:tailEnd type="none" w="med" len="med"/>
                    </a:lnT>
                    <a:noFill/>
                  </a:tcPr>
                </a:tc>
                <a:extLst>
                  <a:ext uri="{0D108BD9-81ED-4DB2-BD59-A6C34878D82A}">
                    <a16:rowId xmlns:a16="http://schemas.microsoft.com/office/drawing/2014/main" val="1847126541"/>
                  </a:ext>
                </a:extLst>
              </a:tr>
            </a:tbl>
          </a:graphicData>
        </a:graphic>
      </p:graphicFrame>
    </p:spTree>
    <p:extLst>
      <p:ext uri="{BB962C8B-B14F-4D97-AF65-F5344CB8AC3E}">
        <p14:creationId xmlns:p14="http://schemas.microsoft.com/office/powerpoint/2010/main" val="98537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0F1B-D5C6-486B-3CB9-B2DF03CEBD5F}"/>
            </a:ext>
          </a:extLst>
        </p:cNvPr>
        <p:cNvGrpSpPr/>
        <p:nvPr/>
      </p:nvGrpSpPr>
      <p:grpSpPr>
        <a:xfrm>
          <a:off x="0" y="0"/>
          <a:ext cx="0" cy="0"/>
          <a:chOff x="0" y="0"/>
          <a:chExt cx="0" cy="0"/>
        </a:xfrm>
      </p:grpSpPr>
      <p:sp>
        <p:nvSpPr>
          <p:cNvPr id="13" name="Oval 12">
            <a:extLst>
              <a:ext uri="{FF2B5EF4-FFF2-40B4-BE49-F238E27FC236}">
                <a16:creationId xmlns:a16="http://schemas.microsoft.com/office/drawing/2014/main" id="{AA4CD1AA-CAB4-1B71-B7FB-1EA9263B930E}"/>
              </a:ext>
            </a:extLst>
          </p:cNvPr>
          <p:cNvSpPr/>
          <p:nvPr/>
        </p:nvSpPr>
        <p:spPr>
          <a:xfrm>
            <a:off x="7998628" y="1630722"/>
            <a:ext cx="2613868" cy="141755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C447CBAF-6760-57DB-06AC-F37743400734}"/>
              </a:ext>
            </a:extLst>
          </p:cNvPr>
          <p:cNvSpPr/>
          <p:nvPr/>
        </p:nvSpPr>
        <p:spPr>
          <a:xfrm>
            <a:off x="2177678" y="1625584"/>
            <a:ext cx="2613868" cy="141755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7B49B-0FCF-A745-9D78-4EED8A4CB9DD}"/>
              </a:ext>
            </a:extLst>
          </p:cNvPr>
          <p:cNvSpPr>
            <a:spLocks noGrp="1"/>
          </p:cNvSpPr>
          <p:nvPr>
            <p:ph type="title"/>
          </p:nvPr>
        </p:nvSpPr>
        <p:spPr>
          <a:xfrm>
            <a:off x="481122" y="591772"/>
            <a:ext cx="8193024" cy="307777"/>
          </a:xfrm>
        </p:spPr>
        <p:txBody>
          <a:bodyPr>
            <a:normAutofit fontScale="90000"/>
          </a:bodyPr>
          <a:lstStyle/>
          <a:p>
            <a:r>
              <a:rPr lang="en-US" sz="3200" dirty="0" err="1">
                <a:latin typeface="Quattrocento Sans" panose="020B0502050000020003" pitchFamily="34" charset="0"/>
              </a:rPr>
              <a:t>Repository_dispatch</a:t>
            </a:r>
            <a:r>
              <a:rPr lang="en-US" sz="3200" dirty="0">
                <a:latin typeface="Quattrocento Sans" panose="020B0502050000020003" pitchFamily="34" charset="0"/>
              </a:rPr>
              <a:t> parameters breakdown</a:t>
            </a:r>
          </a:p>
        </p:txBody>
      </p:sp>
      <p:sp>
        <p:nvSpPr>
          <p:cNvPr id="12" name="Rectangle 11">
            <a:extLst>
              <a:ext uri="{FF2B5EF4-FFF2-40B4-BE49-F238E27FC236}">
                <a16:creationId xmlns:a16="http://schemas.microsoft.com/office/drawing/2014/main" id="{F434E8D8-402B-9864-D58F-DA18251DF25E}"/>
              </a:ext>
            </a:extLst>
          </p:cNvPr>
          <p:cNvSpPr>
            <a:spLocks/>
          </p:cNvSpPr>
          <p:nvPr/>
        </p:nvSpPr>
        <p:spPr>
          <a:xfrm>
            <a:off x="538991" y="2126188"/>
            <a:ext cx="5969385" cy="4294895"/>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4" name="TextBox 13">
            <a:extLst>
              <a:ext uri="{FF2B5EF4-FFF2-40B4-BE49-F238E27FC236}">
                <a16:creationId xmlns:a16="http://schemas.microsoft.com/office/drawing/2014/main" id="{94A3FA1B-DC1D-01E2-4230-241F0A63EE5D}"/>
              </a:ext>
            </a:extLst>
          </p:cNvPr>
          <p:cNvSpPr txBox="1"/>
          <p:nvPr/>
        </p:nvSpPr>
        <p:spPr>
          <a:xfrm>
            <a:off x="579438" y="2210925"/>
            <a:ext cx="5780504" cy="3293209"/>
          </a:xfrm>
          <a:prstGeom prst="rect">
            <a:avLst/>
          </a:prstGeom>
          <a:noFill/>
        </p:spPr>
        <p:txBody>
          <a:bodyPr wrap="square" rtlCol="0">
            <a:spAutoFit/>
          </a:bodyPr>
          <a:lstStyle/>
          <a:p>
            <a:pPr algn="just"/>
            <a:r>
              <a:rPr lang="en-US" sz="1600" b="0" i="0" dirty="0">
                <a:solidFill>
                  <a:srgbClr val="161616"/>
                </a:solidFill>
                <a:effectLst/>
                <a:latin typeface="Quattrocento Sans" panose="020B0502050000020003" pitchFamily="34" charset="0"/>
              </a:rPr>
              <a:t>This is a required custom string you define that GitHub will treat as the "action" or "type" of the dispatch. It’s used to identify what triggered the workflow and filter workflows that are listening for specific types.</a:t>
            </a: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Format:</a:t>
            </a:r>
          </a:p>
          <a:p>
            <a:pPr marL="742950" lvl="1" indent="-285750" algn="just">
              <a:buFont typeface="Courier New" panose="02070309020205020404" pitchFamily="49" charset="0"/>
              <a:buChar char="o"/>
            </a:pPr>
            <a:r>
              <a:rPr lang="en-US" sz="1600" b="0" i="0" dirty="0">
                <a:solidFill>
                  <a:srgbClr val="161616"/>
                </a:solidFill>
                <a:effectLst/>
                <a:latin typeface="Quattrocento Sans" panose="020B0502050000020003" pitchFamily="34" charset="0"/>
              </a:rPr>
              <a:t>Type: string</a:t>
            </a:r>
          </a:p>
          <a:p>
            <a:pPr marL="742950" lvl="1" indent="-285750" algn="just">
              <a:buFont typeface="Courier New" panose="02070309020205020404" pitchFamily="49" charset="0"/>
              <a:buChar char="o"/>
            </a:pPr>
            <a:r>
              <a:rPr lang="en-US" sz="1600" b="0" i="0" dirty="0">
                <a:solidFill>
                  <a:srgbClr val="161616"/>
                </a:solidFill>
                <a:effectLst/>
                <a:latin typeface="Quattrocento Sans" panose="020B0502050000020003" pitchFamily="34" charset="0"/>
              </a:rPr>
              <a:t>Example: "deploy", "run-tests", "sync-</a:t>
            </a:r>
            <a:r>
              <a:rPr lang="en-US" sz="1600" b="0" i="0" dirty="0" err="1">
                <a:solidFill>
                  <a:srgbClr val="161616"/>
                </a:solidFill>
                <a:effectLst/>
                <a:latin typeface="Quattrocento Sans" panose="020B0502050000020003" pitchFamily="34" charset="0"/>
              </a:rPr>
              <a:t>db</a:t>
            </a:r>
            <a:r>
              <a:rPr lang="en-US" sz="1600" b="0" i="0" dirty="0">
                <a:solidFill>
                  <a:srgbClr val="161616"/>
                </a:solidFill>
                <a:effectLst/>
                <a:latin typeface="Quattrocento Sans" panose="020B0502050000020003" pitchFamily="34" charset="0"/>
              </a:rPr>
              <a:t>", "build-docker"</a:t>
            </a: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Use in Workflow: Used in listening for specific event types and accessing the value inside the workflow. This helps with the reuse of a single workflow for multiple purposes and makes automation more organized and event-driven.</a:t>
            </a: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Example:</a:t>
            </a:r>
          </a:p>
        </p:txBody>
      </p:sp>
      <p:sp>
        <p:nvSpPr>
          <p:cNvPr id="4" name="Footer Placeholder 3">
            <a:extLst>
              <a:ext uri="{FF2B5EF4-FFF2-40B4-BE49-F238E27FC236}">
                <a16:creationId xmlns:a16="http://schemas.microsoft.com/office/drawing/2014/main" id="{8807CA4A-FB8D-4DD3-F2C5-1D100A6B210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Text Placeholder 2">
            <a:extLst>
              <a:ext uri="{FF2B5EF4-FFF2-40B4-BE49-F238E27FC236}">
                <a16:creationId xmlns:a16="http://schemas.microsoft.com/office/drawing/2014/main" id="{9A963D3A-BB95-25FD-23AB-725F478C7682}"/>
              </a:ext>
            </a:extLst>
          </p:cNvPr>
          <p:cNvSpPr txBox="1">
            <a:spLocks/>
          </p:cNvSpPr>
          <p:nvPr/>
        </p:nvSpPr>
        <p:spPr>
          <a:xfrm>
            <a:off x="579438" y="938994"/>
            <a:ext cx="10347350" cy="877505"/>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000" b="0" i="0" dirty="0">
                <a:solidFill>
                  <a:srgbClr val="161616"/>
                </a:solidFill>
                <a:effectLst/>
                <a:latin typeface="Quattrocento Sans" panose="020B0502050000020003" pitchFamily="34" charset="0"/>
              </a:rPr>
              <a:t>When making a POST request to the GitHub API endpoint, you must pass a JSON body with two main parameters:</a:t>
            </a:r>
          </a:p>
        </p:txBody>
      </p:sp>
      <p:sp>
        <p:nvSpPr>
          <p:cNvPr id="32" name="Title 1">
            <a:extLst>
              <a:ext uri="{FF2B5EF4-FFF2-40B4-BE49-F238E27FC236}">
                <a16:creationId xmlns:a16="http://schemas.microsoft.com/office/drawing/2014/main" id="{3B24179A-3D60-02A0-5F50-717F5F283684}"/>
              </a:ext>
            </a:extLst>
          </p:cNvPr>
          <p:cNvSpPr txBox="1">
            <a:spLocks/>
          </p:cNvSpPr>
          <p:nvPr/>
        </p:nvSpPr>
        <p:spPr>
          <a:xfrm>
            <a:off x="2818480" y="1799617"/>
            <a:ext cx="1410406" cy="32657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0" i="0" kern="1200">
                <a:solidFill>
                  <a:schemeClr val="tx1"/>
                </a:solidFill>
                <a:latin typeface="+mj-lt"/>
                <a:ea typeface="+mj-ea"/>
                <a:cs typeface="Segoe UI Semibold" panose="020B0502040204020203" pitchFamily="34" charset="0"/>
              </a:defRPr>
            </a:lvl1pPr>
          </a:lstStyle>
          <a:p>
            <a:r>
              <a:rPr lang="en-US" b="1" dirty="0" err="1">
                <a:latin typeface="Quattrocento Sans" panose="020B0502050000020003" pitchFamily="34" charset="0"/>
              </a:rPr>
              <a:t>event_type</a:t>
            </a:r>
            <a:endParaRPr lang="en-US" b="1" dirty="0">
              <a:latin typeface="Quattrocento Sans" panose="020B0502050000020003" pitchFamily="34" charset="0"/>
            </a:endParaRPr>
          </a:p>
        </p:txBody>
      </p:sp>
      <p:sp>
        <p:nvSpPr>
          <p:cNvPr id="9" name="Rectangle 8">
            <a:extLst>
              <a:ext uri="{FF2B5EF4-FFF2-40B4-BE49-F238E27FC236}">
                <a16:creationId xmlns:a16="http://schemas.microsoft.com/office/drawing/2014/main" id="{B7AE5E20-6ED8-AA60-8899-2B48E4C56507}"/>
              </a:ext>
            </a:extLst>
          </p:cNvPr>
          <p:cNvSpPr>
            <a:spLocks/>
          </p:cNvSpPr>
          <p:nvPr/>
        </p:nvSpPr>
        <p:spPr>
          <a:xfrm>
            <a:off x="6953616" y="2084333"/>
            <a:ext cx="4704936" cy="4336750"/>
          </a:xfrm>
          <a:prstGeom prst="rect">
            <a:avLst/>
          </a:prstGeom>
          <a:solidFill>
            <a:srgbClr val="F4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Quattrocento Sans" panose="020B0502050000020003" pitchFamily="34" charset="0"/>
            </a:endParaRPr>
          </a:p>
        </p:txBody>
      </p:sp>
      <p:sp>
        <p:nvSpPr>
          <p:cNvPr id="10" name="Title 1">
            <a:extLst>
              <a:ext uri="{FF2B5EF4-FFF2-40B4-BE49-F238E27FC236}">
                <a16:creationId xmlns:a16="http://schemas.microsoft.com/office/drawing/2014/main" id="{9BD9679D-A589-A0ED-3BB7-8B95DCA79872}"/>
              </a:ext>
            </a:extLst>
          </p:cNvPr>
          <p:cNvSpPr txBox="1">
            <a:spLocks/>
          </p:cNvSpPr>
          <p:nvPr/>
        </p:nvSpPr>
        <p:spPr>
          <a:xfrm>
            <a:off x="8371734" y="1804663"/>
            <a:ext cx="1867655" cy="29144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000" b="0" i="0" kern="1200">
                <a:solidFill>
                  <a:schemeClr val="tx1"/>
                </a:solidFill>
                <a:latin typeface="+mj-lt"/>
                <a:ea typeface="+mj-ea"/>
                <a:cs typeface="Segoe UI Semibold" panose="020B0502040204020203" pitchFamily="34" charset="0"/>
              </a:defRPr>
            </a:lvl1pPr>
          </a:lstStyle>
          <a:p>
            <a:r>
              <a:rPr lang="en-US" b="1" dirty="0" err="1">
                <a:latin typeface="Quattrocento Sans" panose="020B0502050000020003" pitchFamily="34" charset="0"/>
              </a:rPr>
              <a:t>client_payload</a:t>
            </a:r>
            <a:endParaRPr lang="en-US" b="1" dirty="0">
              <a:latin typeface="Quattrocento Sans" panose="020B0502050000020003" pitchFamily="34" charset="0"/>
            </a:endParaRPr>
          </a:p>
        </p:txBody>
      </p:sp>
      <p:sp>
        <p:nvSpPr>
          <p:cNvPr id="11" name="TextBox 10">
            <a:extLst>
              <a:ext uri="{FF2B5EF4-FFF2-40B4-BE49-F238E27FC236}">
                <a16:creationId xmlns:a16="http://schemas.microsoft.com/office/drawing/2014/main" id="{7DC2CB18-82F1-A0F6-0AE2-8B8FCBCFC026}"/>
              </a:ext>
            </a:extLst>
          </p:cNvPr>
          <p:cNvSpPr txBox="1"/>
          <p:nvPr/>
        </p:nvSpPr>
        <p:spPr>
          <a:xfrm>
            <a:off x="7011427" y="2210925"/>
            <a:ext cx="4601135" cy="3293209"/>
          </a:xfrm>
          <a:prstGeom prst="rect">
            <a:avLst/>
          </a:prstGeom>
          <a:noFill/>
        </p:spPr>
        <p:txBody>
          <a:bodyPr wrap="square" rtlCol="0">
            <a:spAutoFit/>
          </a:bodyPr>
          <a:lstStyle/>
          <a:p>
            <a:pPr algn="just"/>
            <a:r>
              <a:rPr lang="en-US" sz="1600" b="0" i="0" dirty="0">
                <a:solidFill>
                  <a:srgbClr val="161616"/>
                </a:solidFill>
                <a:effectLst/>
                <a:latin typeface="Quattrocento Sans" panose="020B0502050000020003" pitchFamily="34" charset="0"/>
              </a:rPr>
              <a:t>This is a free-form JSON object that lets you send custom data along with the dispatch. You define the structure, and it's accessible inside the workflow.</a:t>
            </a: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Format:</a:t>
            </a:r>
          </a:p>
          <a:p>
            <a:pPr marL="742950" lvl="1" indent="-285750" algn="just">
              <a:buFont typeface="Courier New" panose="02070309020205020404" pitchFamily="49" charset="0"/>
              <a:buChar char="o"/>
            </a:pPr>
            <a:r>
              <a:rPr lang="en-US" sz="1600" b="0" i="0" dirty="0">
                <a:solidFill>
                  <a:srgbClr val="161616"/>
                </a:solidFill>
                <a:effectLst/>
                <a:latin typeface="Quattrocento Sans" panose="020B0502050000020003" pitchFamily="34" charset="0"/>
              </a:rPr>
              <a:t>Type: object</a:t>
            </a:r>
          </a:p>
          <a:p>
            <a:pPr marL="742950" lvl="1" indent="-285750" algn="just">
              <a:buFont typeface="Courier New" panose="02070309020205020404" pitchFamily="49" charset="0"/>
              <a:buChar char="o"/>
            </a:pPr>
            <a:r>
              <a:rPr lang="en-US" sz="1600" b="0" i="0" dirty="0">
                <a:solidFill>
                  <a:srgbClr val="161616"/>
                </a:solidFill>
                <a:effectLst/>
                <a:latin typeface="Quattrocento Sans" panose="020B0502050000020003" pitchFamily="34" charset="0"/>
              </a:rPr>
              <a:t>Custom keys and values</a:t>
            </a: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Use in Workflow: Used for multi-environment deployments, versioned releases, or passing context from another system or pipeline and enables parameterized workflows, similar to input arguments.</a:t>
            </a:r>
          </a:p>
          <a:p>
            <a:pPr marL="285750" indent="-285750" algn="just">
              <a:buFont typeface="Arial" panose="020B0604020202020204" pitchFamily="34" charset="0"/>
              <a:buChar char="•"/>
            </a:pPr>
            <a:r>
              <a:rPr lang="en-US" sz="1600" b="0" i="0" dirty="0">
                <a:solidFill>
                  <a:srgbClr val="161616"/>
                </a:solidFill>
                <a:effectLst/>
                <a:latin typeface="Quattrocento Sans" panose="020B0502050000020003" pitchFamily="34" charset="0"/>
              </a:rPr>
              <a:t>Example:</a:t>
            </a:r>
          </a:p>
        </p:txBody>
      </p:sp>
      <p:sp>
        <p:nvSpPr>
          <p:cNvPr id="15" name="Rectangle 14">
            <a:extLst>
              <a:ext uri="{FF2B5EF4-FFF2-40B4-BE49-F238E27FC236}">
                <a16:creationId xmlns:a16="http://schemas.microsoft.com/office/drawing/2014/main" id="{2DBA5D54-28BA-49F6-D3A3-6D0EBF517967}"/>
              </a:ext>
            </a:extLst>
          </p:cNvPr>
          <p:cNvSpPr/>
          <p:nvPr/>
        </p:nvSpPr>
        <p:spPr>
          <a:xfrm>
            <a:off x="712249" y="5540711"/>
            <a:ext cx="5647693" cy="816561"/>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 Placeholder 2">
            <a:extLst>
              <a:ext uri="{FF2B5EF4-FFF2-40B4-BE49-F238E27FC236}">
                <a16:creationId xmlns:a16="http://schemas.microsoft.com/office/drawing/2014/main" id="{5118AF32-71B4-40FD-2C05-505ECAFB9B9E}"/>
              </a:ext>
            </a:extLst>
          </p:cNvPr>
          <p:cNvSpPr txBox="1">
            <a:spLocks/>
          </p:cNvSpPr>
          <p:nvPr/>
        </p:nvSpPr>
        <p:spPr>
          <a:xfrm>
            <a:off x="771273" y="5618954"/>
            <a:ext cx="6915225" cy="646129"/>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bg1"/>
                </a:solidFill>
                <a:latin typeface="Roboto Mono" pitchFamily="49" charset="0"/>
                <a:ea typeface="Roboto Mono" pitchFamily="49" charset="0"/>
              </a:rPr>
              <a:t>- name: Print event type</a:t>
            </a:r>
          </a:p>
          <a:p>
            <a:pPr marL="0" indent="0">
              <a:spcBef>
                <a:spcPts val="0"/>
              </a:spcBef>
              <a:buNone/>
            </a:pPr>
            <a:r>
              <a:rPr lang="en-US" sz="1400" dirty="0">
                <a:solidFill>
                  <a:schemeClr val="bg1"/>
                </a:solidFill>
                <a:latin typeface="Roboto Mono" pitchFamily="49" charset="0"/>
                <a:ea typeface="Roboto Mono" pitchFamily="49" charset="0"/>
              </a:rPr>
              <a:t>  run: echo "Event type: ${{ </a:t>
            </a:r>
            <a:r>
              <a:rPr lang="en-US" sz="1400" dirty="0" err="1">
                <a:solidFill>
                  <a:schemeClr val="bg1"/>
                </a:solidFill>
                <a:latin typeface="Roboto Mono" pitchFamily="49" charset="0"/>
                <a:ea typeface="Roboto Mono" pitchFamily="49" charset="0"/>
              </a:rPr>
              <a:t>github.event.action</a:t>
            </a:r>
            <a:r>
              <a:rPr lang="en-US" sz="1400" dirty="0">
                <a:solidFill>
                  <a:schemeClr val="bg1"/>
                </a:solidFill>
                <a:latin typeface="Roboto Mono" pitchFamily="49" charset="0"/>
                <a:ea typeface="Roboto Mono" pitchFamily="49" charset="0"/>
              </a:rPr>
              <a:t> }}”</a:t>
            </a:r>
          </a:p>
        </p:txBody>
      </p:sp>
      <p:sp>
        <p:nvSpPr>
          <p:cNvPr id="17" name="Rectangle 16">
            <a:extLst>
              <a:ext uri="{FF2B5EF4-FFF2-40B4-BE49-F238E27FC236}">
                <a16:creationId xmlns:a16="http://schemas.microsoft.com/office/drawing/2014/main" id="{40A30BE2-A3E0-14A4-0041-C33D9D6D003E}"/>
              </a:ext>
            </a:extLst>
          </p:cNvPr>
          <p:cNvSpPr/>
          <p:nvPr/>
        </p:nvSpPr>
        <p:spPr>
          <a:xfrm>
            <a:off x="7024721" y="5448522"/>
            <a:ext cx="4587841" cy="1417553"/>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 Placeholder 2">
            <a:extLst>
              <a:ext uri="{FF2B5EF4-FFF2-40B4-BE49-F238E27FC236}">
                <a16:creationId xmlns:a16="http://schemas.microsoft.com/office/drawing/2014/main" id="{D377340B-4500-BBF5-15EF-B1DD0489584B}"/>
              </a:ext>
            </a:extLst>
          </p:cNvPr>
          <p:cNvSpPr txBox="1">
            <a:spLocks/>
          </p:cNvSpPr>
          <p:nvPr/>
        </p:nvSpPr>
        <p:spPr>
          <a:xfrm>
            <a:off x="7156207" y="5821048"/>
            <a:ext cx="4324868" cy="646129"/>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bg1"/>
                </a:solidFill>
                <a:latin typeface="Roboto Mono" pitchFamily="49" charset="0"/>
                <a:ea typeface="Roboto Mono" pitchFamily="49" charset="0"/>
              </a:rPr>
              <a:t>- name: Show payload values</a:t>
            </a:r>
          </a:p>
          <a:p>
            <a:pPr marL="0" indent="0">
              <a:spcBef>
                <a:spcPts val="0"/>
              </a:spcBef>
              <a:buNone/>
            </a:pPr>
            <a:r>
              <a:rPr lang="en-US" sz="1400" dirty="0">
                <a:solidFill>
                  <a:schemeClr val="bg1"/>
                </a:solidFill>
                <a:latin typeface="Roboto Mono" pitchFamily="49" charset="0"/>
                <a:ea typeface="Roboto Mono" pitchFamily="49" charset="0"/>
              </a:rPr>
              <a:t>  run: |</a:t>
            </a:r>
          </a:p>
          <a:p>
            <a:pPr marL="0" indent="0">
              <a:spcBef>
                <a:spcPts val="0"/>
              </a:spcBef>
              <a:buNone/>
            </a:pPr>
            <a:r>
              <a:rPr lang="en-US" sz="1400" dirty="0">
                <a:solidFill>
                  <a:schemeClr val="bg1"/>
                </a:solidFill>
                <a:latin typeface="Roboto Mono" pitchFamily="49" charset="0"/>
                <a:ea typeface="Roboto Mono" pitchFamily="49" charset="0"/>
              </a:rPr>
              <a:t>    echo "Environment: ${{ </a:t>
            </a:r>
            <a:r>
              <a:rPr lang="en-US" sz="1400" dirty="0" err="1">
                <a:solidFill>
                  <a:schemeClr val="bg1"/>
                </a:solidFill>
                <a:latin typeface="Roboto Mono" pitchFamily="49" charset="0"/>
                <a:ea typeface="Roboto Mono" pitchFamily="49" charset="0"/>
              </a:rPr>
              <a:t>github.event.client_payload.env</a:t>
            </a:r>
            <a:r>
              <a:rPr lang="en-US" sz="1400" dirty="0">
                <a:solidFill>
                  <a:schemeClr val="bg1"/>
                </a:solidFill>
                <a:latin typeface="Roboto Mono" pitchFamily="49" charset="0"/>
                <a:ea typeface="Roboto Mono" pitchFamily="49" charset="0"/>
              </a:rPr>
              <a:t> }}"</a:t>
            </a:r>
          </a:p>
          <a:p>
            <a:pPr marL="0" indent="0">
              <a:spcBef>
                <a:spcPts val="0"/>
              </a:spcBef>
              <a:buNone/>
            </a:pPr>
            <a:r>
              <a:rPr lang="en-US" sz="1400" dirty="0">
                <a:solidFill>
                  <a:schemeClr val="bg1"/>
                </a:solidFill>
                <a:latin typeface="Roboto Mono" pitchFamily="49" charset="0"/>
                <a:ea typeface="Roboto Mono" pitchFamily="49" charset="0"/>
              </a:rPr>
              <a:t>    echo "Version: ${{ </a:t>
            </a:r>
            <a:r>
              <a:rPr lang="en-US" sz="1400" dirty="0" err="1">
                <a:solidFill>
                  <a:schemeClr val="bg1"/>
                </a:solidFill>
                <a:latin typeface="Roboto Mono" pitchFamily="49" charset="0"/>
                <a:ea typeface="Roboto Mono" pitchFamily="49" charset="0"/>
              </a:rPr>
              <a:t>github.event.client_payload.version</a:t>
            </a:r>
            <a:r>
              <a:rPr lang="en-US" sz="1400" dirty="0">
                <a:solidFill>
                  <a:schemeClr val="bg1"/>
                </a:solidFill>
                <a:latin typeface="Roboto Mono" pitchFamily="49" charset="0"/>
                <a:ea typeface="Roboto Mono" pitchFamily="49" charset="0"/>
              </a:rPr>
              <a:t> }}"</a:t>
            </a:r>
          </a:p>
        </p:txBody>
      </p:sp>
    </p:spTree>
    <p:extLst>
      <p:ext uri="{BB962C8B-B14F-4D97-AF65-F5344CB8AC3E}">
        <p14:creationId xmlns:p14="http://schemas.microsoft.com/office/powerpoint/2010/main" val="1420823474"/>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Example payload breakdown</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5" name="Rectangle 4">
            <a:extLst>
              <a:ext uri="{FF2B5EF4-FFF2-40B4-BE49-F238E27FC236}">
                <a16:creationId xmlns:a16="http://schemas.microsoft.com/office/drawing/2014/main" id="{E2DDA60E-850C-5532-F4C2-EADA5939A9F6}"/>
              </a:ext>
            </a:extLst>
          </p:cNvPr>
          <p:cNvSpPr/>
          <p:nvPr/>
        </p:nvSpPr>
        <p:spPr>
          <a:xfrm>
            <a:off x="692777" y="1110496"/>
            <a:ext cx="8444753" cy="304839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 Placeholder 2">
            <a:extLst>
              <a:ext uri="{FF2B5EF4-FFF2-40B4-BE49-F238E27FC236}">
                <a16:creationId xmlns:a16="http://schemas.microsoft.com/office/drawing/2014/main" id="{D3F86212-8708-25CB-DEA9-8D599079F6C2}"/>
              </a:ext>
            </a:extLst>
          </p:cNvPr>
          <p:cNvSpPr txBox="1">
            <a:spLocks/>
          </p:cNvSpPr>
          <p:nvPr/>
        </p:nvSpPr>
        <p:spPr>
          <a:xfrm>
            <a:off x="955380" y="1768619"/>
            <a:ext cx="8444753" cy="1481087"/>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bg1"/>
                </a:solidFill>
                <a:latin typeface="Roboto Mono" pitchFamily="49" charset="0"/>
                <a:ea typeface="Roboto Mono" pitchFamily="49" charset="0"/>
              </a:rPr>
              <a:t>{</a:t>
            </a:r>
          </a:p>
          <a:p>
            <a:pPr marL="0" indent="0">
              <a:spcBef>
                <a:spcPts val="0"/>
              </a:spcBef>
              <a:buNone/>
            </a:pPr>
            <a:r>
              <a:rPr lang="en-US" dirty="0">
                <a:solidFill>
                  <a:schemeClr val="bg1"/>
                </a:solidFill>
                <a:latin typeface="Roboto Mono" pitchFamily="49" charset="0"/>
                <a:ea typeface="Roboto Mono" pitchFamily="49" charset="0"/>
              </a:rPr>
              <a:t>  "</a:t>
            </a:r>
            <a:r>
              <a:rPr lang="en-US" dirty="0" err="1">
                <a:solidFill>
                  <a:schemeClr val="bg1"/>
                </a:solidFill>
                <a:latin typeface="Roboto Mono" pitchFamily="49" charset="0"/>
                <a:ea typeface="Roboto Mono" pitchFamily="49" charset="0"/>
              </a:rPr>
              <a:t>event_type</a:t>
            </a:r>
            <a:r>
              <a:rPr lang="en-US" dirty="0">
                <a:solidFill>
                  <a:schemeClr val="bg1"/>
                </a:solidFill>
                <a:latin typeface="Roboto Mono" pitchFamily="49" charset="0"/>
                <a:ea typeface="Roboto Mono" pitchFamily="49" charset="0"/>
              </a:rPr>
              <a:t>": "deploy-to-prod",</a:t>
            </a:r>
          </a:p>
          <a:p>
            <a:pPr marL="0" indent="0">
              <a:spcBef>
                <a:spcPts val="0"/>
              </a:spcBef>
              <a:buNone/>
            </a:pPr>
            <a:r>
              <a:rPr lang="en-US" dirty="0">
                <a:solidFill>
                  <a:schemeClr val="bg1"/>
                </a:solidFill>
                <a:latin typeface="Roboto Mono" pitchFamily="49" charset="0"/>
                <a:ea typeface="Roboto Mono" pitchFamily="49" charset="0"/>
              </a:rPr>
              <a:t>  "</a:t>
            </a:r>
            <a:r>
              <a:rPr lang="en-US" dirty="0" err="1">
                <a:solidFill>
                  <a:schemeClr val="bg1"/>
                </a:solidFill>
                <a:latin typeface="Roboto Mono" pitchFamily="49" charset="0"/>
                <a:ea typeface="Roboto Mono" pitchFamily="49" charset="0"/>
              </a:rPr>
              <a:t>client_payload</a:t>
            </a:r>
            <a:r>
              <a:rPr lang="en-US" dirty="0">
                <a:solidFill>
                  <a:schemeClr val="bg1"/>
                </a:solidFill>
                <a:latin typeface="Roboto Mono" pitchFamily="49" charset="0"/>
                <a:ea typeface="Roboto Mono" pitchFamily="49" charset="0"/>
              </a:rPr>
              <a:t>": {</a:t>
            </a:r>
          </a:p>
          <a:p>
            <a:pPr marL="0" indent="0">
              <a:spcBef>
                <a:spcPts val="0"/>
              </a:spcBef>
              <a:buNone/>
            </a:pPr>
            <a:r>
              <a:rPr lang="en-US" dirty="0">
                <a:solidFill>
                  <a:schemeClr val="bg1"/>
                </a:solidFill>
                <a:latin typeface="Roboto Mono" pitchFamily="49" charset="0"/>
                <a:ea typeface="Roboto Mono" pitchFamily="49" charset="0"/>
              </a:rPr>
              <a:t>    "env": "production",</a:t>
            </a:r>
          </a:p>
          <a:p>
            <a:pPr marL="0" indent="0">
              <a:spcBef>
                <a:spcPts val="0"/>
              </a:spcBef>
              <a:buNone/>
            </a:pPr>
            <a:r>
              <a:rPr lang="en-US" dirty="0">
                <a:solidFill>
                  <a:schemeClr val="bg1"/>
                </a:solidFill>
                <a:latin typeface="Roboto Mono" pitchFamily="49" charset="0"/>
                <a:ea typeface="Roboto Mono" pitchFamily="49" charset="0"/>
              </a:rPr>
              <a:t>    "</a:t>
            </a:r>
            <a:r>
              <a:rPr lang="en-US" dirty="0" err="1">
                <a:solidFill>
                  <a:schemeClr val="bg1"/>
                </a:solidFill>
                <a:latin typeface="Roboto Mono" pitchFamily="49" charset="0"/>
                <a:ea typeface="Roboto Mono" pitchFamily="49" charset="0"/>
              </a:rPr>
              <a:t>build_id</a:t>
            </a:r>
            <a:r>
              <a:rPr lang="en-US" dirty="0">
                <a:solidFill>
                  <a:schemeClr val="bg1"/>
                </a:solidFill>
                <a:latin typeface="Roboto Mono" pitchFamily="49" charset="0"/>
                <a:ea typeface="Roboto Mono" pitchFamily="49" charset="0"/>
              </a:rPr>
              <a:t>": "build-456",</a:t>
            </a:r>
          </a:p>
          <a:p>
            <a:pPr marL="0" indent="0">
              <a:spcBef>
                <a:spcPts val="0"/>
              </a:spcBef>
              <a:buNone/>
            </a:pPr>
            <a:r>
              <a:rPr lang="en-US" dirty="0">
                <a:solidFill>
                  <a:schemeClr val="bg1"/>
                </a:solidFill>
                <a:latin typeface="Roboto Mono" pitchFamily="49" charset="0"/>
                <a:ea typeface="Roboto Mono" pitchFamily="49" charset="0"/>
              </a:rPr>
              <a:t>    "initiator": "</a:t>
            </a:r>
            <a:r>
              <a:rPr lang="en-US" dirty="0" err="1">
                <a:solidFill>
                  <a:schemeClr val="bg1"/>
                </a:solidFill>
                <a:latin typeface="Roboto Mono" pitchFamily="49" charset="0"/>
                <a:ea typeface="Roboto Mono" pitchFamily="49" charset="0"/>
              </a:rPr>
              <a:t>admin_user</a:t>
            </a:r>
            <a:r>
              <a:rPr lang="en-US" dirty="0">
                <a:solidFill>
                  <a:schemeClr val="bg1"/>
                </a:solidFill>
                <a:latin typeface="Roboto Mono" pitchFamily="49" charset="0"/>
                <a:ea typeface="Roboto Mono" pitchFamily="49" charset="0"/>
              </a:rPr>
              <a:t>",</a:t>
            </a:r>
          </a:p>
          <a:p>
            <a:pPr marL="0" indent="0">
              <a:spcBef>
                <a:spcPts val="0"/>
              </a:spcBef>
              <a:buNone/>
            </a:pPr>
            <a:r>
              <a:rPr lang="en-US" dirty="0">
                <a:solidFill>
                  <a:schemeClr val="bg1"/>
                </a:solidFill>
                <a:latin typeface="Roboto Mono" pitchFamily="49" charset="0"/>
                <a:ea typeface="Roboto Mono" pitchFamily="49" charset="0"/>
              </a:rPr>
              <a:t>    "services": ["web", "</a:t>
            </a:r>
            <a:r>
              <a:rPr lang="en-US" dirty="0" err="1">
                <a:solidFill>
                  <a:schemeClr val="bg1"/>
                </a:solidFill>
                <a:latin typeface="Roboto Mono" pitchFamily="49" charset="0"/>
                <a:ea typeface="Roboto Mono" pitchFamily="49" charset="0"/>
              </a:rPr>
              <a:t>api</a:t>
            </a:r>
            <a:r>
              <a:rPr lang="en-US" dirty="0">
                <a:solidFill>
                  <a:schemeClr val="bg1"/>
                </a:solidFill>
                <a:latin typeface="Roboto Mono" pitchFamily="49" charset="0"/>
                <a:ea typeface="Roboto Mono" pitchFamily="49" charset="0"/>
              </a:rPr>
              <a:t>", "worker"]</a:t>
            </a:r>
          </a:p>
          <a:p>
            <a:pPr marL="0" indent="0">
              <a:spcBef>
                <a:spcPts val="0"/>
              </a:spcBef>
              <a:buNone/>
            </a:pPr>
            <a:r>
              <a:rPr lang="en-US" dirty="0">
                <a:solidFill>
                  <a:schemeClr val="bg1"/>
                </a:solidFill>
                <a:latin typeface="Roboto Mono" pitchFamily="49" charset="0"/>
                <a:ea typeface="Roboto Mono" pitchFamily="49" charset="0"/>
              </a:rPr>
              <a:t>  }</a:t>
            </a:r>
          </a:p>
          <a:p>
            <a:pPr marL="0" indent="0">
              <a:spcBef>
                <a:spcPts val="0"/>
              </a:spcBef>
              <a:buNone/>
            </a:pPr>
            <a:r>
              <a:rPr lang="en-US" dirty="0">
                <a:solidFill>
                  <a:schemeClr val="bg1"/>
                </a:solidFill>
                <a:latin typeface="Roboto Mono" pitchFamily="49" charset="0"/>
                <a:ea typeface="Roboto Mono" pitchFamily="49" charset="0"/>
              </a:rPr>
              <a:t>}</a:t>
            </a:r>
            <a:endParaRPr lang="en-US" dirty="0">
              <a:solidFill>
                <a:srgbClr val="BE4C41"/>
              </a:solidFill>
              <a:latin typeface="Roboto Mono" pitchFamily="49" charset="0"/>
              <a:ea typeface="Roboto Mono" pitchFamily="49" charset="0"/>
            </a:endParaRPr>
          </a:p>
        </p:txBody>
      </p:sp>
    </p:spTree>
    <p:extLst>
      <p:ext uri="{BB962C8B-B14F-4D97-AF65-F5344CB8AC3E}">
        <p14:creationId xmlns:p14="http://schemas.microsoft.com/office/powerpoint/2010/main" val="3327314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Use conditional keywords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9D030901-830F-E483-BA77-449EDAD50BC7}"/>
              </a:ext>
            </a:extLst>
          </p:cNvPr>
          <p:cNvSpPr/>
          <p:nvPr/>
        </p:nvSpPr>
        <p:spPr>
          <a:xfrm>
            <a:off x="6696783" y="992127"/>
            <a:ext cx="5065868" cy="218839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6887884" y="992127"/>
            <a:ext cx="5065867" cy="2188395"/>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dirty="0">
                <a:solidFill>
                  <a:schemeClr val="tx2">
                    <a:lumMod val="50000"/>
                    <a:lumOff val="50000"/>
                  </a:schemeClr>
                </a:solidFill>
                <a:latin typeface="Roboto Mono" pitchFamily="49" charset="0"/>
                <a:ea typeface="Roboto Mono" pitchFamily="49" charset="0"/>
              </a:rPr>
              <a:t>name: </a:t>
            </a:r>
            <a:r>
              <a:rPr lang="en-US" dirty="0">
                <a:solidFill>
                  <a:srgbClr val="BE4C41"/>
                </a:solidFill>
                <a:latin typeface="Roboto Mono" pitchFamily="49" charset="0"/>
                <a:ea typeface="Roboto Mono" pitchFamily="49" charset="0"/>
              </a:rPr>
              <a:t>CI</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on: </a:t>
            </a:r>
            <a:r>
              <a:rPr lang="en-US" dirty="0">
                <a:solidFill>
                  <a:srgbClr val="BE4C41"/>
                </a:solidFill>
                <a:latin typeface="Roboto Mono" pitchFamily="49" charset="0"/>
                <a:ea typeface="Roboto Mono" pitchFamily="49" charset="0"/>
              </a:rPr>
              <a:t>push</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jobs:</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prod-check:</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if: </a:t>
            </a:r>
            <a:r>
              <a:rPr lang="en-US" dirty="0" err="1">
                <a:solidFill>
                  <a:srgbClr val="BE4C41"/>
                </a:solidFill>
                <a:latin typeface="Roboto Mono" pitchFamily="49" charset="0"/>
                <a:ea typeface="Roboto Mono" pitchFamily="49" charset="0"/>
              </a:rPr>
              <a:t>github.ref</a:t>
            </a:r>
            <a:r>
              <a:rPr lang="en-US" dirty="0">
                <a:solidFill>
                  <a:srgbClr val="BE4C41"/>
                </a:solidFill>
                <a:latin typeface="Roboto Mono" pitchFamily="49" charset="0"/>
                <a:ea typeface="Roboto Mono" pitchFamily="49" charset="0"/>
              </a:rPr>
              <a:t> == 'refs/heads/main'</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runs-on: </a:t>
            </a:r>
            <a:r>
              <a:rPr lang="en-US" dirty="0">
                <a:solidFill>
                  <a:srgbClr val="BE4C41"/>
                </a:solidFill>
                <a:latin typeface="Roboto Mono" pitchFamily="49" charset="0"/>
                <a:ea typeface="Roboto Mono" pitchFamily="49" charset="0"/>
              </a:rPr>
              <a:t>ubuntu-latest</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steps:</a:t>
            </a:r>
          </a:p>
          <a:p>
            <a:pPr marL="0" indent="0">
              <a:spcBef>
                <a:spcPts val="0"/>
              </a:spcBef>
              <a:buNone/>
            </a:pPr>
            <a:r>
              <a:rPr lang="en-US" dirty="0">
                <a:solidFill>
                  <a:schemeClr val="tx2">
                    <a:lumMod val="50000"/>
                    <a:lumOff val="50000"/>
                  </a:schemeClr>
                </a:solidFill>
                <a:latin typeface="Roboto Mono" pitchFamily="49" charset="0"/>
                <a:ea typeface="Roboto Mono" pitchFamily="49" charset="0"/>
              </a:rPr>
              <a:t>      </a:t>
            </a:r>
            <a:r>
              <a:rPr lang="en-US" dirty="0">
                <a:solidFill>
                  <a:srgbClr val="BE4C41"/>
                </a:solidFill>
                <a:latin typeface="Roboto Mono" pitchFamily="49" charset="0"/>
                <a:ea typeface="Roboto Mono" pitchFamily="49" charset="0"/>
              </a:rPr>
              <a:t>...</a:t>
            </a: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693738" y="3695298"/>
            <a:ext cx="5402262" cy="49244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Within your workflow file, you can access context information and evaluate expressions. Although expressions are commonly used with the conditional </a:t>
            </a:r>
            <a:r>
              <a:rPr lang="en-US" sz="1800" b="0" i="0" dirty="0">
                <a:solidFill>
                  <a:srgbClr val="161616"/>
                </a:solidFill>
                <a:effectLst/>
                <a:highlight>
                  <a:srgbClr val="C0C0C0"/>
                </a:highlight>
                <a:latin typeface="Roboto Mono" pitchFamily="49" charset="0"/>
                <a:ea typeface="Roboto Mono" pitchFamily="49" charset="0"/>
              </a:rPr>
              <a:t>if</a:t>
            </a:r>
            <a:r>
              <a:rPr lang="en-US" sz="2000" b="0" i="0" dirty="0">
                <a:solidFill>
                  <a:srgbClr val="161616"/>
                </a:solidFill>
                <a:effectLst/>
                <a:latin typeface="Quattrocento Sans" panose="020B0502050000020003" pitchFamily="34" charset="0"/>
                <a:ea typeface="Roboto Mono" pitchFamily="49" charset="0"/>
              </a:rPr>
              <a:t> keyword in a workflow file to determine whether a step should run or not, you can use any supported context and expression to create a conditional. It's important to know that when using conditionals in your workflow, you need to use the specific syntax </a:t>
            </a:r>
            <a:r>
              <a:rPr lang="en-US" sz="1800" b="0" i="0" dirty="0">
                <a:solidFill>
                  <a:srgbClr val="161616"/>
                </a:solidFill>
                <a:effectLst/>
                <a:highlight>
                  <a:srgbClr val="C0C0C0"/>
                </a:highlight>
                <a:latin typeface="Roboto Mono" pitchFamily="49" charset="0"/>
                <a:ea typeface="Roboto Mono" pitchFamily="49" charset="0"/>
              </a:rPr>
              <a:t>${{ &lt;expression&gt; }}</a:t>
            </a:r>
            <a:r>
              <a:rPr lang="en-US" sz="2000" b="0" i="0" dirty="0">
                <a:solidFill>
                  <a:srgbClr val="161616"/>
                </a:solidFill>
                <a:effectLst/>
                <a:latin typeface="Quattrocento Sans" panose="020B0502050000020003" pitchFamily="34" charset="0"/>
                <a:ea typeface="Roboto Mono" pitchFamily="49" charset="0"/>
              </a:rPr>
              <a:t>. This tells GitHub to evaluate an expression rather than treat it as a string.</a:t>
            </a:r>
          </a:p>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For example, a workflow that uses the </a:t>
            </a:r>
            <a:r>
              <a:rPr lang="en-US" sz="1800" b="0" i="0" dirty="0">
                <a:solidFill>
                  <a:srgbClr val="161616"/>
                </a:solidFill>
                <a:effectLst/>
                <a:highlight>
                  <a:srgbClr val="C0C0C0"/>
                </a:highlight>
                <a:latin typeface="Roboto Mono" pitchFamily="49" charset="0"/>
                <a:ea typeface="Roboto Mono" pitchFamily="49" charset="0"/>
              </a:rPr>
              <a:t>if</a:t>
            </a:r>
            <a:r>
              <a:rPr lang="en-US" sz="2000" b="0" i="0" dirty="0">
                <a:solidFill>
                  <a:srgbClr val="161616"/>
                </a:solidFill>
                <a:effectLst/>
                <a:latin typeface="Quattrocento Sans" panose="020B0502050000020003" pitchFamily="34" charset="0"/>
                <a:ea typeface="Roboto Mono" pitchFamily="49" charset="0"/>
              </a:rPr>
              <a:t> conditional to check if the </a:t>
            </a:r>
            <a:r>
              <a:rPr lang="en-US" sz="1800" b="0" i="0" dirty="0" err="1">
                <a:solidFill>
                  <a:srgbClr val="161616"/>
                </a:solidFill>
                <a:effectLst/>
                <a:highlight>
                  <a:srgbClr val="C0C0C0"/>
                </a:highlight>
                <a:latin typeface="Roboto Mono" pitchFamily="49" charset="0"/>
                <a:ea typeface="Roboto Mono" pitchFamily="49" charset="0"/>
              </a:rPr>
              <a:t>github.ref</a:t>
            </a:r>
            <a:r>
              <a:rPr lang="en-US" sz="2000" b="0" i="0" dirty="0">
                <a:solidFill>
                  <a:srgbClr val="161616"/>
                </a:solidFill>
                <a:effectLst/>
                <a:latin typeface="Quattrocento Sans" panose="020B0502050000020003" pitchFamily="34" charset="0"/>
                <a:ea typeface="Roboto Mono" pitchFamily="49" charset="0"/>
              </a:rPr>
              <a:t> (the branch or tag ref that triggered the workflow run) matches </a:t>
            </a:r>
            <a:r>
              <a:rPr lang="en-US" sz="1800" b="0" i="0" dirty="0">
                <a:solidFill>
                  <a:srgbClr val="161616"/>
                </a:solidFill>
                <a:effectLst/>
                <a:highlight>
                  <a:srgbClr val="C0C0C0"/>
                </a:highlight>
                <a:latin typeface="Roboto Mono" pitchFamily="49" charset="0"/>
                <a:ea typeface="Roboto Mono" pitchFamily="49" charset="0"/>
              </a:rPr>
              <a:t>refs/heads/main</a:t>
            </a:r>
            <a:r>
              <a:rPr lang="en-US" sz="2000" b="0" i="0" dirty="0">
                <a:solidFill>
                  <a:srgbClr val="161616"/>
                </a:solidFill>
                <a:effectLst/>
                <a:latin typeface="Quattrocento Sans" panose="020B0502050000020003" pitchFamily="34" charset="0"/>
                <a:ea typeface="Roboto Mono" pitchFamily="49" charset="0"/>
              </a:rPr>
              <a:t>. In order to proceed, the workflow would look something like this:</a:t>
            </a:r>
          </a:p>
          <a:p>
            <a:pPr marL="0" indent="0" algn="just">
              <a:spcAft>
                <a:spcPts val="600"/>
              </a:spcAft>
              <a:buNone/>
            </a:pPr>
            <a:endParaRPr lang="en-US" sz="2000" b="0" i="0" dirty="0">
              <a:solidFill>
                <a:srgbClr val="161616"/>
              </a:solidFill>
              <a:effectLst/>
              <a:latin typeface="Quattrocento Sans" panose="020B0502050000020003" pitchFamily="34" charset="0"/>
              <a:ea typeface="Roboto Mono" pitchFamily="49" charset="0"/>
            </a:endParaRPr>
          </a:p>
          <a:p>
            <a:pPr marL="0" indent="0" algn="just">
              <a:spcAft>
                <a:spcPts val="600"/>
              </a:spcAft>
              <a:buNone/>
            </a:pPr>
            <a:endParaRPr lang="en-US" sz="2000" b="0" i="0" dirty="0">
              <a:solidFill>
                <a:srgbClr val="161616"/>
              </a:solidFill>
              <a:effectLst/>
              <a:latin typeface="Quattrocento Sans" panose="020B0502050000020003" pitchFamily="34" charset="0"/>
              <a:ea typeface="Roboto Mono" pitchFamily="49" charset="0"/>
            </a:endParaRPr>
          </a:p>
        </p:txBody>
      </p:sp>
      <p:sp>
        <p:nvSpPr>
          <p:cNvPr id="5" name="Text Placeholder 2">
            <a:extLst>
              <a:ext uri="{FF2B5EF4-FFF2-40B4-BE49-F238E27FC236}">
                <a16:creationId xmlns:a16="http://schemas.microsoft.com/office/drawing/2014/main" id="{82A1284E-5D11-0E47-C0A6-2CB0957E3627}"/>
              </a:ext>
            </a:extLst>
          </p:cNvPr>
          <p:cNvSpPr txBox="1">
            <a:spLocks/>
          </p:cNvSpPr>
          <p:nvPr/>
        </p:nvSpPr>
        <p:spPr>
          <a:xfrm>
            <a:off x="6696785" y="4974483"/>
            <a:ext cx="5065866" cy="49244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rPr>
              <a:t>In this example, the </a:t>
            </a:r>
            <a:r>
              <a:rPr lang="en-US" sz="1800" b="0" i="0" dirty="0">
                <a:solidFill>
                  <a:srgbClr val="161616"/>
                </a:solidFill>
                <a:effectLst/>
                <a:highlight>
                  <a:srgbClr val="C0C0C0"/>
                </a:highlight>
                <a:latin typeface="Roboto Mono" pitchFamily="49" charset="0"/>
                <a:ea typeface="Roboto Mono" pitchFamily="49" charset="0"/>
              </a:rPr>
              <a:t>${{ }}</a:t>
            </a:r>
            <a:r>
              <a:rPr lang="en-US" sz="2000" b="0" i="0" dirty="0">
                <a:solidFill>
                  <a:srgbClr val="161616"/>
                </a:solidFill>
                <a:effectLst/>
                <a:latin typeface="Quattrocento Sans" panose="020B0502050000020003" pitchFamily="34" charset="0"/>
              </a:rPr>
              <a:t> are missing from the syntax. With some expressions, as in the case of the </a:t>
            </a:r>
            <a:r>
              <a:rPr lang="en-US" sz="1800" b="0" i="0" dirty="0">
                <a:solidFill>
                  <a:srgbClr val="161616"/>
                </a:solidFill>
                <a:effectLst/>
                <a:highlight>
                  <a:srgbClr val="C0C0C0"/>
                </a:highlight>
                <a:latin typeface="Roboto Mono" pitchFamily="49" charset="0"/>
                <a:ea typeface="Roboto Mono" pitchFamily="49" charset="0"/>
              </a:rPr>
              <a:t>if</a:t>
            </a:r>
            <a:r>
              <a:rPr lang="en-US" sz="2000" b="0" i="0" dirty="0">
                <a:solidFill>
                  <a:srgbClr val="161616"/>
                </a:solidFill>
                <a:effectLst/>
                <a:latin typeface="Quattrocento Sans" panose="020B0502050000020003" pitchFamily="34" charset="0"/>
              </a:rPr>
              <a:t> conditional, you can omit the expression syntax. GitHub automatically evaluates some of these common expressions, but you can always include them in case you forget which expressions GitHub automatically evaluates.</a:t>
            </a:r>
          </a:p>
          <a:p>
            <a:pPr marL="0" indent="0" algn="just">
              <a:buNone/>
            </a:pPr>
            <a:r>
              <a:rPr lang="en-US" sz="2000" b="0" i="0" dirty="0">
                <a:solidFill>
                  <a:srgbClr val="161616"/>
                </a:solidFill>
                <a:effectLst/>
                <a:latin typeface="Quattrocento Sans" panose="020B0502050000020003" pitchFamily="34" charset="0"/>
              </a:rPr>
              <a:t>For more information about workflow syntax and expressions, check out </a:t>
            </a:r>
            <a:r>
              <a:rPr lang="en-US" sz="2000" b="0" i="0" u="none" strike="noStrike" dirty="0">
                <a:solidFill>
                  <a:srgbClr val="00B0F0"/>
                </a:solidFill>
                <a:effectLst/>
                <a:latin typeface="Quattrocento Sans" panose="020B0502050000020003" pitchFamily="34" charset="0"/>
                <a:hlinkClick r:id="rId3">
                  <a:extLst>
                    <a:ext uri="{A12FA001-AC4F-418D-AE19-62706E023703}">
                      <ahyp:hlinkClr xmlns:ahyp="http://schemas.microsoft.com/office/drawing/2018/hyperlinkcolor" val="tx"/>
                    </a:ext>
                  </a:extLst>
                </a:hlinkClick>
              </a:rPr>
              <a:t>Workflow syntax for GitHub Actions</a:t>
            </a:r>
            <a:r>
              <a:rPr lang="en-US" sz="2000" b="0" i="0" dirty="0">
                <a:solidFill>
                  <a:srgbClr val="00B0F0"/>
                </a:solidFill>
                <a:effectLst/>
                <a:latin typeface="Quattrocento Sans" panose="020B0502050000020003" pitchFamily="34" charset="0"/>
              </a:rPr>
              <a:t>.</a:t>
            </a:r>
          </a:p>
          <a:p>
            <a:pPr marL="0" indent="0" algn="just">
              <a:spcAft>
                <a:spcPts val="600"/>
              </a:spcAft>
              <a:buNone/>
            </a:pPr>
            <a:endParaRPr lang="en-US" sz="2000" b="0" i="0" dirty="0">
              <a:solidFill>
                <a:srgbClr val="161616"/>
              </a:solidFill>
              <a:effectLst/>
              <a:latin typeface="Quattrocento Sans" panose="020B0502050000020003" pitchFamily="34" charset="0"/>
              <a:ea typeface="Roboto Mono" pitchFamily="49" charset="0"/>
            </a:endParaRPr>
          </a:p>
        </p:txBody>
      </p:sp>
    </p:spTree>
    <p:extLst>
      <p:ext uri="{BB962C8B-B14F-4D97-AF65-F5344CB8AC3E}">
        <p14:creationId xmlns:p14="http://schemas.microsoft.com/office/powerpoint/2010/main" val="4180138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Disable and delete workflows</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648356" y="1727350"/>
            <a:ext cx="10895288" cy="49244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After adding a workflow to your repository, you might find a situation where you want to temporarily disable the workflow. You can stop a workflow from being triggered without having to delete the file from the repo, either on GitHub or through the GitHub REST API. When you wish to enable the workflow again, you can easily do it using the same methods.</a:t>
            </a:r>
          </a:p>
          <a:p>
            <a:pPr marL="0" indent="0" algn="just">
              <a:spcAft>
                <a:spcPts val="600"/>
              </a:spcAft>
              <a:buNone/>
            </a:pPr>
            <a:endParaRPr lang="en-US" sz="2000" b="0" i="0" dirty="0">
              <a:solidFill>
                <a:srgbClr val="161616"/>
              </a:solidFill>
              <a:effectLst/>
              <a:latin typeface="Quattrocento Sans" panose="020B0502050000020003" pitchFamily="34" charset="0"/>
              <a:ea typeface="Roboto Mono" pitchFamily="49" charset="0"/>
            </a:endParaRPr>
          </a:p>
        </p:txBody>
      </p:sp>
      <p:pic>
        <p:nvPicPr>
          <p:cNvPr id="5122" name="Picture 2" descr="Screenshot of disabling a workflow on GitHub.">
            <a:extLst>
              <a:ext uri="{FF2B5EF4-FFF2-40B4-BE49-F238E27FC236}">
                <a16:creationId xmlns:a16="http://schemas.microsoft.com/office/drawing/2014/main" id="{23B00BC8-7A3C-3390-698D-787AE8BB89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510" y="2426219"/>
            <a:ext cx="11108979" cy="3091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8001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Disable and delete workflows </a:t>
            </a:r>
            <a:r>
              <a:rPr lang="en-US" sz="2700" dirty="0">
                <a:latin typeface="Quattrocento Sans" panose="020B0502050000020003" pitchFamily="34" charset="0"/>
              </a:rPr>
              <a:t>(continued)</a:t>
            </a:r>
            <a:endParaRPr lang="en-US" sz="3200" dirty="0">
              <a:latin typeface="Quattrocento Sans" panose="020B0502050000020003" pitchFamily="34" charset="0"/>
            </a:endParaRP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648356" y="2936556"/>
            <a:ext cx="10895288" cy="49244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1200"/>
              </a:spcAft>
              <a:buNone/>
            </a:pPr>
            <a:r>
              <a:rPr lang="en-US" sz="2400" b="0" i="0" dirty="0">
                <a:solidFill>
                  <a:srgbClr val="161616"/>
                </a:solidFill>
                <a:effectLst/>
                <a:latin typeface="Quattrocento Sans" panose="020B0502050000020003" pitchFamily="34" charset="0"/>
                <a:ea typeface="Roboto Mono" pitchFamily="49" charset="0"/>
              </a:rPr>
              <a:t>Disabling a workflow can be useful in some of the following situations:</a:t>
            </a:r>
            <a:endParaRPr lang="en-US" sz="2000" b="0" i="0" dirty="0">
              <a:solidFill>
                <a:srgbClr val="161616"/>
              </a:solidFill>
              <a:effectLst/>
              <a:latin typeface="Quattrocento Sans" panose="020B0502050000020003" pitchFamily="34" charset="0"/>
              <a:ea typeface="Roboto Mono" pitchFamily="49" charset="0"/>
            </a:endParaRPr>
          </a:p>
          <a:p>
            <a:pPr algn="just">
              <a:spcBef>
                <a:spcPts val="0"/>
              </a:spcBef>
              <a:spcAft>
                <a:spcPts val="600"/>
              </a:spcAft>
            </a:pPr>
            <a:r>
              <a:rPr lang="en-US" sz="2000" b="0" i="0" dirty="0">
                <a:solidFill>
                  <a:srgbClr val="161616"/>
                </a:solidFill>
                <a:effectLst/>
                <a:latin typeface="Quattrocento Sans" panose="020B0502050000020003" pitchFamily="34" charset="0"/>
                <a:ea typeface="Roboto Mono" pitchFamily="49" charset="0"/>
              </a:rPr>
              <a:t>An error on a workflow is producing too many or wrong requests impacting external services negatively.</a:t>
            </a:r>
          </a:p>
          <a:p>
            <a:pPr algn="just">
              <a:spcBef>
                <a:spcPts val="0"/>
              </a:spcBef>
              <a:spcAft>
                <a:spcPts val="600"/>
              </a:spcAft>
            </a:pPr>
            <a:r>
              <a:rPr lang="en-US" sz="2000" b="0" i="0" dirty="0">
                <a:solidFill>
                  <a:srgbClr val="161616"/>
                </a:solidFill>
                <a:effectLst/>
                <a:latin typeface="Quattrocento Sans" panose="020B0502050000020003" pitchFamily="34" charset="0"/>
                <a:ea typeface="Roboto Mono" pitchFamily="49" charset="0"/>
              </a:rPr>
              <a:t>You want to temporarily pause a workflow that isn't critical and is consuming too many minutes on your account.</a:t>
            </a:r>
          </a:p>
          <a:p>
            <a:pPr algn="just">
              <a:spcBef>
                <a:spcPts val="0"/>
              </a:spcBef>
              <a:spcAft>
                <a:spcPts val="600"/>
              </a:spcAft>
            </a:pPr>
            <a:r>
              <a:rPr lang="en-US" sz="2000" b="0" i="0" dirty="0">
                <a:solidFill>
                  <a:srgbClr val="161616"/>
                </a:solidFill>
                <a:effectLst/>
                <a:latin typeface="Quattrocento Sans" panose="020B0502050000020003" pitchFamily="34" charset="0"/>
                <a:ea typeface="Roboto Mono" pitchFamily="49" charset="0"/>
              </a:rPr>
              <a:t>You want to pause a workflow that's sending requests to a service that is down.</a:t>
            </a:r>
          </a:p>
          <a:p>
            <a:pPr algn="just">
              <a:spcBef>
                <a:spcPts val="0"/>
              </a:spcBef>
              <a:spcAft>
                <a:spcPts val="1200"/>
              </a:spcAft>
            </a:pPr>
            <a:r>
              <a:rPr lang="en-US" sz="2000" b="0" i="0" dirty="0">
                <a:solidFill>
                  <a:srgbClr val="161616"/>
                </a:solidFill>
                <a:effectLst/>
                <a:latin typeface="Quattrocento Sans" panose="020B0502050000020003" pitchFamily="34" charset="0"/>
                <a:ea typeface="Roboto Mono" pitchFamily="49" charset="0"/>
              </a:rPr>
              <a:t>You're working on a fork, and you don't need all the functionality of some workflows it includes (like scheduled workflows).</a:t>
            </a:r>
          </a:p>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You can also cancel a workflow run that's in progress in the GitHub UI from the Actions tab or by using the GitHub API endpoint </a:t>
            </a:r>
            <a:r>
              <a:rPr lang="en-US" sz="1800" b="0" i="0" dirty="0">
                <a:solidFill>
                  <a:srgbClr val="161616"/>
                </a:solidFill>
                <a:effectLst/>
                <a:highlight>
                  <a:srgbClr val="C0C0C0"/>
                </a:highlight>
                <a:latin typeface="Roboto Mono" pitchFamily="49" charset="0"/>
                <a:ea typeface="Roboto Mono" pitchFamily="49" charset="0"/>
              </a:rPr>
              <a:t>DELETE /repos/{owner}/{repo}/actions/runs/{</a:t>
            </a:r>
            <a:r>
              <a:rPr lang="en-US" sz="1800" b="0" i="0" dirty="0" err="1">
                <a:solidFill>
                  <a:srgbClr val="161616"/>
                </a:solidFill>
                <a:effectLst/>
                <a:highlight>
                  <a:srgbClr val="C0C0C0"/>
                </a:highlight>
                <a:latin typeface="Roboto Mono" pitchFamily="49" charset="0"/>
                <a:ea typeface="Roboto Mono" pitchFamily="49" charset="0"/>
              </a:rPr>
              <a:t>run_id</a:t>
            </a:r>
            <a:r>
              <a:rPr lang="en-US" sz="2000" b="0" i="0" dirty="0">
                <a:solidFill>
                  <a:srgbClr val="161616"/>
                </a:solidFill>
                <a:effectLst/>
                <a:latin typeface="Quattrocento Sans" panose="020B0502050000020003" pitchFamily="34" charset="0"/>
                <a:ea typeface="Roboto Mono" pitchFamily="49" charset="0"/>
              </a:rPr>
              <a:t>}. Keep in mind that when you cancel a workflow run, GitHub will cancel all of its jobs and steps within that run.</a:t>
            </a:r>
          </a:p>
        </p:txBody>
      </p:sp>
    </p:spTree>
    <p:extLst>
      <p:ext uri="{BB962C8B-B14F-4D97-AF65-F5344CB8AC3E}">
        <p14:creationId xmlns:p14="http://schemas.microsoft.com/office/powerpoint/2010/main" val="1552664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Use an organization's templated workflow</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702415" y="2498534"/>
            <a:ext cx="4848639" cy="49244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If you have a workflow that multiple teams use within an organization, you don't need to re-create the same workflow for each repository. Instead, you can promote consistency across your organization by using a workflow template that's defined in the organization's </a:t>
            </a:r>
            <a:r>
              <a:rPr lang="en-US" sz="1800" b="0" i="0" dirty="0">
                <a:solidFill>
                  <a:srgbClr val="161616"/>
                </a:solidFill>
                <a:effectLst/>
                <a:highlight>
                  <a:srgbClr val="C0C0C0"/>
                </a:highlight>
                <a:latin typeface="Roboto Mono" pitchFamily="49" charset="0"/>
                <a:ea typeface="Roboto Mono" pitchFamily="49" charset="0"/>
              </a:rPr>
              <a:t>.</a:t>
            </a:r>
            <a:r>
              <a:rPr lang="en-US" sz="1800" b="0" i="0" dirty="0" err="1">
                <a:solidFill>
                  <a:srgbClr val="161616"/>
                </a:solidFill>
                <a:effectLst/>
                <a:highlight>
                  <a:srgbClr val="C0C0C0"/>
                </a:highlight>
                <a:latin typeface="Roboto Mono" pitchFamily="49" charset="0"/>
                <a:ea typeface="Roboto Mono" pitchFamily="49" charset="0"/>
              </a:rPr>
              <a:t>github</a:t>
            </a:r>
            <a:r>
              <a:rPr lang="en-US" sz="2000" b="0" i="0" dirty="0">
                <a:solidFill>
                  <a:srgbClr val="161616"/>
                </a:solidFill>
                <a:effectLst/>
                <a:latin typeface="Quattrocento Sans" panose="020B0502050000020003" pitchFamily="34" charset="0"/>
                <a:ea typeface="Roboto Mono" pitchFamily="49" charset="0"/>
              </a:rPr>
              <a:t> repository. Any member within the organization can use an organization template workflow, and any repository within that organization has access to those template workflows.</a:t>
            </a:r>
          </a:p>
        </p:txBody>
      </p:sp>
      <p:pic>
        <p:nvPicPr>
          <p:cNvPr id="8194" name="Picture 2" descr="Screenshot of a template organization workflow called greet and triage by Mona.">
            <a:extLst>
              <a:ext uri="{FF2B5EF4-FFF2-40B4-BE49-F238E27FC236}">
                <a16:creationId xmlns:a16="http://schemas.microsoft.com/office/drawing/2014/main" id="{D02F87F9-6019-8BD8-FD4F-B4A2B38315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4031" y="886017"/>
            <a:ext cx="6061508" cy="4209922"/>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87210FB6-A64F-18EE-621C-C9F41FAB73E0}"/>
              </a:ext>
            </a:extLst>
          </p:cNvPr>
          <p:cNvSpPr txBox="1">
            <a:spLocks/>
          </p:cNvSpPr>
          <p:nvPr/>
        </p:nvSpPr>
        <p:spPr>
          <a:xfrm>
            <a:off x="702415" y="5240659"/>
            <a:ext cx="11033124" cy="49244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You can find these workflows by navigating to the </a:t>
            </a:r>
            <a:r>
              <a:rPr lang="en-US" sz="2000" b="1" i="0" dirty="0">
                <a:solidFill>
                  <a:srgbClr val="161616"/>
                </a:solidFill>
                <a:effectLst/>
                <a:latin typeface="Quattrocento Sans" panose="020B0502050000020003" pitchFamily="34" charset="0"/>
                <a:ea typeface="Roboto Mono" pitchFamily="49" charset="0"/>
              </a:rPr>
              <a:t>Actions</a:t>
            </a:r>
            <a:r>
              <a:rPr lang="en-US" sz="2000" b="0" i="0" dirty="0">
                <a:solidFill>
                  <a:srgbClr val="161616"/>
                </a:solidFill>
                <a:effectLst/>
                <a:latin typeface="Quattrocento Sans" panose="020B0502050000020003" pitchFamily="34" charset="0"/>
                <a:ea typeface="Roboto Mono" pitchFamily="49" charset="0"/>
              </a:rPr>
              <a:t> tab of a repository within the organization, selecting </a:t>
            </a:r>
            <a:r>
              <a:rPr lang="en-US" sz="2000" b="1" i="0" dirty="0">
                <a:solidFill>
                  <a:srgbClr val="161616"/>
                </a:solidFill>
                <a:effectLst/>
                <a:latin typeface="Quattrocento Sans" panose="020B0502050000020003" pitchFamily="34" charset="0"/>
                <a:ea typeface="Roboto Mono" pitchFamily="49" charset="0"/>
              </a:rPr>
              <a:t>New workflow</a:t>
            </a:r>
            <a:r>
              <a:rPr lang="en-US" sz="2000" b="0" i="0" dirty="0">
                <a:solidFill>
                  <a:srgbClr val="161616"/>
                </a:solidFill>
                <a:effectLst/>
                <a:latin typeface="Quattrocento Sans" panose="020B0502050000020003" pitchFamily="34" charset="0"/>
                <a:ea typeface="Roboto Mono" pitchFamily="49" charset="0"/>
              </a:rPr>
              <a:t>, and then finding the organization's workflow template section titled "Workflows created by </a:t>
            </a:r>
            <a:r>
              <a:rPr lang="en-US" sz="2000" b="0" i="1" dirty="0">
                <a:solidFill>
                  <a:srgbClr val="161616"/>
                </a:solidFill>
                <a:effectLst/>
                <a:latin typeface="Quattrocento Sans" panose="020B0502050000020003" pitchFamily="34" charset="0"/>
                <a:ea typeface="Roboto Mono" pitchFamily="49" charset="0"/>
              </a:rPr>
              <a:t>organization name</a:t>
            </a:r>
            <a:r>
              <a:rPr lang="en-US" sz="2000" b="0" i="0" dirty="0">
                <a:solidFill>
                  <a:srgbClr val="161616"/>
                </a:solidFill>
                <a:effectLst/>
                <a:latin typeface="Quattrocento Sans" panose="020B0502050000020003" pitchFamily="34" charset="0"/>
                <a:ea typeface="Roboto Mono" pitchFamily="49" charset="0"/>
              </a:rPr>
              <a:t>". For example, the organization called Mona has a template workflow as shown here.</a:t>
            </a:r>
          </a:p>
        </p:txBody>
      </p:sp>
    </p:spTree>
    <p:extLst>
      <p:ext uri="{BB962C8B-B14F-4D97-AF65-F5344CB8AC3E}">
        <p14:creationId xmlns:p14="http://schemas.microsoft.com/office/powerpoint/2010/main" val="426486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 name="Title 16"/>
          <p:cNvSpPr>
            <a:spLocks noGrp="1"/>
          </p:cNvSpPr>
          <p:nvPr>
            <p:ph type="title"/>
          </p:nvPr>
        </p:nvSpPr>
        <p:spPr>
          <a:xfrm>
            <a:off x="579438" y="495075"/>
            <a:ext cx="9724915" cy="492443"/>
          </a:xfrm>
        </p:spPr>
        <p:txBody>
          <a:bodyPr>
            <a:normAutofit fontScale="90000"/>
          </a:bodyPr>
          <a:lstStyle/>
          <a:p>
            <a:r>
              <a:rPr lang="en-US" sz="3200" dirty="0">
                <a:latin typeface="Quattrocento Sans" panose="020B0502050000020003" pitchFamily="34" charset="0"/>
              </a:rPr>
              <a:t>Use specific versions of an action</a:t>
            </a:r>
          </a:p>
        </p:txBody>
      </p:sp>
      <p:sp>
        <p:nvSpPr>
          <p:cNvPr id="2" name="Footer Placeholder 1">
            <a:extLst>
              <a:ext uri="{FF2B5EF4-FFF2-40B4-BE49-F238E27FC236}">
                <a16:creationId xmlns:a16="http://schemas.microsoft.com/office/drawing/2014/main" id="{71335FDC-13B9-9A8F-7385-7C64917E6D3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
        <p:nvSpPr>
          <p:cNvPr id="3" name="Rectangle 2">
            <a:extLst>
              <a:ext uri="{FF2B5EF4-FFF2-40B4-BE49-F238E27FC236}">
                <a16:creationId xmlns:a16="http://schemas.microsoft.com/office/drawing/2014/main" id="{9D030901-830F-E483-BA77-449EDAD50BC7}"/>
              </a:ext>
            </a:extLst>
          </p:cNvPr>
          <p:cNvSpPr/>
          <p:nvPr/>
        </p:nvSpPr>
        <p:spPr>
          <a:xfrm>
            <a:off x="692778" y="2405271"/>
            <a:ext cx="8111254" cy="2276784"/>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821618" y="3131806"/>
            <a:ext cx="10543617" cy="646129"/>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dirty="0">
                <a:solidFill>
                  <a:schemeClr val="tx2">
                    <a:lumMod val="25000"/>
                    <a:lumOff val="75000"/>
                  </a:schemeClr>
                </a:solidFill>
                <a:latin typeface="Roboto Mono" pitchFamily="49" charset="0"/>
                <a:ea typeface="Roboto Mono" pitchFamily="49" charset="0"/>
              </a:rPr>
              <a:t>steps:    </a:t>
            </a:r>
          </a:p>
          <a:p>
            <a:pPr marL="0" indent="0">
              <a:spcBef>
                <a:spcPts val="0"/>
              </a:spcBef>
              <a:buNone/>
            </a:pPr>
            <a:r>
              <a:rPr lang="en-US" sz="1400" dirty="0">
                <a:solidFill>
                  <a:schemeClr val="tx2">
                    <a:lumMod val="25000"/>
                    <a:lumOff val="75000"/>
                  </a:schemeClr>
                </a:solidFill>
                <a:latin typeface="Roboto Mono" pitchFamily="49" charset="0"/>
                <a:ea typeface="Roboto Mono" pitchFamily="49" charset="0"/>
              </a:rPr>
              <a:t>  </a:t>
            </a:r>
            <a:r>
              <a:rPr lang="en-US" sz="1400" dirty="0">
                <a:solidFill>
                  <a:schemeClr val="accent6">
                    <a:lumMod val="60000"/>
                    <a:lumOff val="40000"/>
                  </a:schemeClr>
                </a:solidFill>
                <a:latin typeface="Roboto Mono" pitchFamily="49" charset="0"/>
                <a:ea typeface="Roboto Mono" pitchFamily="49" charset="0"/>
              </a:rPr>
              <a:t># Reference a specific commit</a:t>
            </a:r>
          </a:p>
          <a:p>
            <a:pPr marL="0" indent="0">
              <a:spcBef>
                <a:spcPts val="0"/>
              </a:spcBef>
              <a:buNone/>
            </a:pPr>
            <a:r>
              <a:rPr lang="en-US" sz="1400" dirty="0">
                <a:solidFill>
                  <a:schemeClr val="tx2">
                    <a:lumMod val="25000"/>
                    <a:lumOff val="75000"/>
                  </a:schemeClr>
                </a:solidFill>
                <a:latin typeface="Roboto Mono" pitchFamily="49" charset="0"/>
                <a:ea typeface="Roboto Mono" pitchFamily="49" charset="0"/>
              </a:rPr>
              <a:t>  - uses: </a:t>
            </a:r>
            <a:r>
              <a:rPr lang="en-US" sz="1400" dirty="0">
                <a:solidFill>
                  <a:srgbClr val="BE4C41"/>
                </a:solidFill>
                <a:latin typeface="Roboto Mono" pitchFamily="49" charset="0"/>
                <a:ea typeface="Roboto Mono" pitchFamily="49" charset="0"/>
              </a:rPr>
              <a:t>actions/setup-node@c46424eee26de4078d34105d3de3cc4992202b1e</a:t>
            </a:r>
          </a:p>
          <a:p>
            <a:pPr marL="0" indent="0">
              <a:spcBef>
                <a:spcPts val="0"/>
              </a:spcBef>
              <a:buNone/>
            </a:pPr>
            <a:r>
              <a:rPr lang="en-US" sz="1400" dirty="0">
                <a:solidFill>
                  <a:schemeClr val="tx2">
                    <a:lumMod val="25000"/>
                    <a:lumOff val="75000"/>
                  </a:schemeClr>
                </a:solidFill>
                <a:latin typeface="Roboto Mono" pitchFamily="49" charset="0"/>
                <a:ea typeface="Roboto Mono" pitchFamily="49" charset="0"/>
              </a:rPr>
              <a:t>  </a:t>
            </a:r>
            <a:r>
              <a:rPr lang="en-US" sz="1400" dirty="0">
                <a:solidFill>
                  <a:schemeClr val="accent6">
                    <a:lumMod val="60000"/>
                    <a:lumOff val="40000"/>
                  </a:schemeClr>
                </a:solidFill>
                <a:latin typeface="Roboto Mono" pitchFamily="49" charset="0"/>
                <a:ea typeface="Roboto Mono" pitchFamily="49" charset="0"/>
              </a:rPr>
              <a:t># Reference the major version of a release</a:t>
            </a:r>
          </a:p>
          <a:p>
            <a:pPr marL="0" indent="0">
              <a:spcBef>
                <a:spcPts val="0"/>
              </a:spcBef>
              <a:buNone/>
            </a:pPr>
            <a:r>
              <a:rPr lang="en-US" sz="1400" dirty="0">
                <a:solidFill>
                  <a:schemeClr val="tx2">
                    <a:lumMod val="25000"/>
                    <a:lumOff val="75000"/>
                  </a:schemeClr>
                </a:solidFill>
                <a:latin typeface="Roboto Mono" pitchFamily="49" charset="0"/>
                <a:ea typeface="Roboto Mono" pitchFamily="49" charset="0"/>
              </a:rPr>
              <a:t>  - uses: </a:t>
            </a:r>
            <a:r>
              <a:rPr lang="en-US" sz="1400" dirty="0">
                <a:solidFill>
                  <a:srgbClr val="BE4C41"/>
                </a:solidFill>
                <a:latin typeface="Roboto Mono" pitchFamily="49" charset="0"/>
                <a:ea typeface="Roboto Mono" pitchFamily="49" charset="0"/>
              </a:rPr>
              <a:t>actions/setup-node@v1</a:t>
            </a:r>
          </a:p>
          <a:p>
            <a:pPr marL="0" indent="0">
              <a:spcBef>
                <a:spcPts val="0"/>
              </a:spcBef>
              <a:buNone/>
            </a:pPr>
            <a:r>
              <a:rPr lang="en-US" sz="1400" dirty="0">
                <a:solidFill>
                  <a:schemeClr val="accent6">
                    <a:lumMod val="60000"/>
                    <a:lumOff val="40000"/>
                  </a:schemeClr>
                </a:solidFill>
                <a:latin typeface="Roboto Mono" pitchFamily="49" charset="0"/>
                <a:ea typeface="Roboto Mono" pitchFamily="49" charset="0"/>
              </a:rPr>
              <a:t>  # Reference a minor version of a release</a:t>
            </a:r>
          </a:p>
          <a:p>
            <a:pPr marL="0" indent="0">
              <a:spcBef>
                <a:spcPts val="0"/>
              </a:spcBef>
              <a:buNone/>
            </a:pPr>
            <a:r>
              <a:rPr lang="en-US" sz="1400" dirty="0">
                <a:solidFill>
                  <a:schemeClr val="tx2">
                    <a:lumMod val="25000"/>
                    <a:lumOff val="75000"/>
                  </a:schemeClr>
                </a:solidFill>
                <a:latin typeface="Roboto Mono" pitchFamily="49" charset="0"/>
                <a:ea typeface="Roboto Mono" pitchFamily="49" charset="0"/>
              </a:rPr>
              <a:t>  - uses: </a:t>
            </a:r>
            <a:r>
              <a:rPr lang="en-US" sz="1400" dirty="0">
                <a:solidFill>
                  <a:srgbClr val="BE4C41"/>
                </a:solidFill>
                <a:latin typeface="Roboto Mono" pitchFamily="49" charset="0"/>
                <a:ea typeface="Roboto Mono" pitchFamily="49" charset="0"/>
              </a:rPr>
              <a:t>actions/setup-node@v1.2</a:t>
            </a:r>
          </a:p>
          <a:p>
            <a:pPr marL="0" indent="0">
              <a:spcBef>
                <a:spcPts val="0"/>
              </a:spcBef>
              <a:buNone/>
            </a:pPr>
            <a:r>
              <a:rPr lang="en-US" sz="1400" dirty="0">
                <a:solidFill>
                  <a:schemeClr val="accent6">
                    <a:lumMod val="60000"/>
                    <a:lumOff val="40000"/>
                  </a:schemeClr>
                </a:solidFill>
                <a:latin typeface="Roboto Mono" pitchFamily="49" charset="0"/>
                <a:ea typeface="Roboto Mono" pitchFamily="49" charset="0"/>
              </a:rPr>
              <a:t>  # Reference a branch</a:t>
            </a:r>
          </a:p>
          <a:p>
            <a:pPr marL="0" indent="0">
              <a:spcBef>
                <a:spcPts val="0"/>
              </a:spcBef>
              <a:buNone/>
            </a:pPr>
            <a:r>
              <a:rPr lang="en-US" sz="1400" dirty="0">
                <a:solidFill>
                  <a:schemeClr val="tx2">
                    <a:lumMod val="25000"/>
                    <a:lumOff val="75000"/>
                  </a:schemeClr>
                </a:solidFill>
                <a:latin typeface="Roboto Mono" pitchFamily="49" charset="0"/>
                <a:ea typeface="Roboto Mono" pitchFamily="49" charset="0"/>
              </a:rPr>
              <a:t>  - uses: </a:t>
            </a:r>
            <a:r>
              <a:rPr lang="en-US" sz="1400" dirty="0">
                <a:solidFill>
                  <a:srgbClr val="BE4C41"/>
                </a:solidFill>
                <a:latin typeface="Roboto Mono" pitchFamily="49" charset="0"/>
                <a:ea typeface="Roboto Mono" pitchFamily="49" charset="0"/>
              </a:rPr>
              <a:t>actions/</a:t>
            </a:r>
            <a:r>
              <a:rPr lang="en-US" sz="1400" dirty="0" err="1">
                <a:solidFill>
                  <a:srgbClr val="BE4C41"/>
                </a:solidFill>
                <a:latin typeface="Roboto Mono" pitchFamily="49" charset="0"/>
                <a:ea typeface="Roboto Mono" pitchFamily="49" charset="0"/>
              </a:rPr>
              <a:t>setup-node@main</a:t>
            </a:r>
            <a:endParaRPr lang="en-US" sz="1400" dirty="0">
              <a:solidFill>
                <a:srgbClr val="BE4C41"/>
              </a:solidFill>
              <a:latin typeface="Roboto Mono" pitchFamily="49" charset="0"/>
              <a:ea typeface="Roboto Mono" pitchFamily="49" charset="0"/>
            </a:endParaRPr>
          </a:p>
        </p:txBody>
      </p:sp>
      <p:sp>
        <p:nvSpPr>
          <p:cNvPr id="4" name="Text Placeholder 2">
            <a:extLst>
              <a:ext uri="{FF2B5EF4-FFF2-40B4-BE49-F238E27FC236}">
                <a16:creationId xmlns:a16="http://schemas.microsoft.com/office/drawing/2014/main" id="{9F9F3823-BE47-FF9A-5CA6-620A16156D3C}"/>
              </a:ext>
            </a:extLst>
          </p:cNvPr>
          <p:cNvSpPr txBox="1">
            <a:spLocks/>
          </p:cNvSpPr>
          <p:nvPr/>
        </p:nvSpPr>
        <p:spPr>
          <a:xfrm>
            <a:off x="687632" y="1635851"/>
            <a:ext cx="10816735" cy="492444"/>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Aft>
                <a:spcPts val="600"/>
              </a:spcAft>
              <a:buNone/>
            </a:pPr>
            <a:r>
              <a:rPr lang="en-US" sz="2000" b="0" i="0" dirty="0">
                <a:solidFill>
                  <a:srgbClr val="161616"/>
                </a:solidFill>
                <a:effectLst/>
                <a:latin typeface="Quattrocento Sans" panose="020B0502050000020003" pitchFamily="34" charset="0"/>
                <a:ea typeface="Roboto Mono" pitchFamily="49" charset="0"/>
              </a:rPr>
              <a:t>When referencing actions in your workflow, we recommend that you refer to a specific version of that action rather than just the action itself. By referencing a specific version, you're placing a safeguard from unexpected changes pushed to the action that could potentially break your workflow. Here are several ways you can reference a specific version of an action:</a:t>
            </a:r>
          </a:p>
          <a:p>
            <a:pPr marL="0" indent="0" algn="just">
              <a:spcAft>
                <a:spcPts val="600"/>
              </a:spcAft>
              <a:buNone/>
            </a:pPr>
            <a:endParaRPr lang="en-US" sz="2000" b="0" i="0" dirty="0">
              <a:solidFill>
                <a:srgbClr val="161616"/>
              </a:solidFill>
              <a:effectLst/>
              <a:latin typeface="Quattrocento Sans" panose="020B0502050000020003" pitchFamily="34" charset="0"/>
              <a:ea typeface="Roboto Mono" pitchFamily="49" charset="0"/>
            </a:endParaRPr>
          </a:p>
        </p:txBody>
      </p:sp>
      <p:sp>
        <p:nvSpPr>
          <p:cNvPr id="6" name="Text Placeholder 2">
            <a:extLst>
              <a:ext uri="{FF2B5EF4-FFF2-40B4-BE49-F238E27FC236}">
                <a16:creationId xmlns:a16="http://schemas.microsoft.com/office/drawing/2014/main" id="{310374EB-DF36-A218-2655-5BF4A1B4304D}"/>
              </a:ext>
            </a:extLst>
          </p:cNvPr>
          <p:cNvSpPr txBox="1">
            <a:spLocks/>
          </p:cNvSpPr>
          <p:nvPr/>
        </p:nvSpPr>
        <p:spPr>
          <a:xfrm>
            <a:off x="690205" y="5528365"/>
            <a:ext cx="10811590" cy="492443"/>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000" b="0" i="0" dirty="0">
                <a:solidFill>
                  <a:srgbClr val="161616"/>
                </a:solidFill>
                <a:effectLst/>
                <a:latin typeface="Quattrocento Sans" panose="020B0502050000020003" pitchFamily="34" charset="0"/>
                <a:ea typeface="Roboto Mono" pitchFamily="49" charset="0"/>
              </a:rPr>
              <a:t>Some references are safer than others. For example, referencing a specific branch will run that action off of the latest changes from that branch, which you may or may not want. By referencing a specific version number or commit SHA hash, you're being more specific about the version of the action you're running. For more stability and security, we recommend that you use the commit SHA of a released action within your workflows.</a:t>
            </a:r>
          </a:p>
          <a:p>
            <a:pPr marL="0" indent="0" algn="just">
              <a:buNone/>
            </a:pPr>
            <a:endParaRPr lang="en-US" sz="2400" b="0" i="0" dirty="0">
              <a:solidFill>
                <a:srgbClr val="161616"/>
              </a:solidFill>
              <a:effectLst/>
              <a:latin typeface="Quattrocento Sans" panose="020B0502050000020003" pitchFamily="34" charset="0"/>
              <a:ea typeface="Roboto Mono" pitchFamily="49" charset="0"/>
            </a:endParaRPr>
          </a:p>
        </p:txBody>
      </p:sp>
    </p:spTree>
    <p:extLst>
      <p:ext uri="{BB962C8B-B14F-4D97-AF65-F5344CB8AC3E}">
        <p14:creationId xmlns:p14="http://schemas.microsoft.com/office/powerpoint/2010/main" val="436780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BB045C-A141-C3BC-E39E-7CBF5891AC97}"/>
              </a:ext>
            </a:extLst>
          </p:cNvPr>
          <p:cNvSpPr>
            <a:spLocks noGrp="1"/>
          </p:cNvSpPr>
          <p:nvPr>
            <p:ph type="title"/>
          </p:nvPr>
        </p:nvSpPr>
        <p:spPr>
          <a:xfrm>
            <a:off x="579437" y="782799"/>
            <a:ext cx="10331279" cy="492443"/>
          </a:xfrm>
        </p:spPr>
        <p:txBody>
          <a:bodyPr>
            <a:normAutofit fontScale="90000"/>
          </a:bodyPr>
          <a:lstStyle/>
          <a:p>
            <a:r>
              <a:rPr lang="en-US" sz="3200" dirty="0">
                <a:latin typeface="Quattrocento Sans" panose="020B0502050000020003" pitchFamily="34" charset="0"/>
              </a:rPr>
              <a:t>Exercise - Create and run a basic GitHub Actions workflow</a:t>
            </a:r>
          </a:p>
        </p:txBody>
      </p:sp>
      <p:sp>
        <p:nvSpPr>
          <p:cNvPr id="7" name="Text Placeholder 6">
            <a:extLst>
              <a:ext uri="{FF2B5EF4-FFF2-40B4-BE49-F238E27FC236}">
                <a16:creationId xmlns:a16="http://schemas.microsoft.com/office/drawing/2014/main" id="{3BFF5FF6-257E-D432-7A8E-0444D8E4A520}"/>
              </a:ext>
            </a:extLst>
          </p:cNvPr>
          <p:cNvSpPr>
            <a:spLocks noGrp="1"/>
          </p:cNvSpPr>
          <p:nvPr>
            <p:ph type="body" sz="quarter" idx="16"/>
          </p:nvPr>
        </p:nvSpPr>
        <p:spPr>
          <a:xfrm>
            <a:off x="579446" y="1270719"/>
            <a:ext cx="10930890" cy="2462213"/>
          </a:xfrm>
        </p:spPr>
        <p:txBody>
          <a:bodyPr>
            <a:noAutofit/>
          </a:bodyPr>
          <a:lstStyle/>
          <a:p>
            <a:pPr algn="just">
              <a:lnSpc>
                <a:spcPct val="100000"/>
              </a:lnSpc>
              <a:spcAft>
                <a:spcPts val="1200"/>
              </a:spcAft>
            </a:pPr>
            <a:r>
              <a:rPr lang="en-US" sz="1800" dirty="0">
                <a:latin typeface="Quattrocento Sans" panose="020B0502050000020003" pitchFamily="34" charset="0"/>
              </a:rPr>
              <a:t>This exercise checks your knowledge on creating a GitHub Action and using it in a workflow.</a:t>
            </a:r>
          </a:p>
          <a:p>
            <a:pPr algn="just">
              <a:lnSpc>
                <a:spcPct val="100000"/>
              </a:lnSpc>
              <a:spcAft>
                <a:spcPts val="1200"/>
              </a:spcAft>
            </a:pPr>
            <a:r>
              <a:rPr lang="en-US" sz="1800" dirty="0">
                <a:latin typeface="Quattrocento Sans" panose="020B0502050000020003" pitchFamily="34" charset="0"/>
              </a:rPr>
              <a:t>When you select the Start the exercise on GitHub button, you'll be navigated to a public GitHub template repository that will prompt you to complete a series of small challenges. Before you can begin the exercise, complete the following tasks:</a:t>
            </a:r>
          </a:p>
        </p:txBody>
      </p:sp>
      <p:sp>
        <p:nvSpPr>
          <p:cNvPr id="2" name="Footer Placeholder 1">
            <a:extLst>
              <a:ext uri="{FF2B5EF4-FFF2-40B4-BE49-F238E27FC236}">
                <a16:creationId xmlns:a16="http://schemas.microsoft.com/office/drawing/2014/main" id="{C0053711-90A5-E597-3402-5753647D7092}"/>
              </a:ext>
            </a:extLst>
          </p:cNvPr>
          <p:cNvSpPr>
            <a:spLocks noGrp="1"/>
          </p:cNvSpPr>
          <p:nvPr>
            <p:ph type="ftr" sz="quarter" idx="3"/>
          </p:nvPr>
        </p:nvSpPr>
        <p:spPr>
          <a:xfrm>
            <a:off x="579438" y="6421083"/>
            <a:ext cx="4151312" cy="197976"/>
          </a:xfrm>
        </p:spPr>
        <p:txBody>
          <a:bodyPr/>
          <a:lstStyle/>
          <a:p>
            <a:r>
              <a:rPr lang="en-US" dirty="0"/>
              <a:t>© Copyright Microsoft Corporation. All rights reserved.</a:t>
            </a:r>
          </a:p>
        </p:txBody>
      </p:sp>
      <p:grpSp>
        <p:nvGrpSpPr>
          <p:cNvPr id="15" name="Group 14">
            <a:extLst>
              <a:ext uri="{FF2B5EF4-FFF2-40B4-BE49-F238E27FC236}">
                <a16:creationId xmlns:a16="http://schemas.microsoft.com/office/drawing/2014/main" id="{F62BDAA0-76B6-3949-9744-AD93E5069062}"/>
              </a:ext>
              <a:ext uri="{C183D7F6-B498-43B3-948B-1728B52AA6E4}">
                <adec:decorative xmlns:adec="http://schemas.microsoft.com/office/drawing/2017/decorative" val="1"/>
              </a:ext>
            </a:extLst>
          </p:cNvPr>
          <p:cNvGrpSpPr/>
          <p:nvPr/>
        </p:nvGrpSpPr>
        <p:grpSpPr>
          <a:xfrm>
            <a:off x="10729911" y="5491317"/>
            <a:ext cx="961231" cy="918055"/>
            <a:chOff x="5540700" y="2116300"/>
            <a:chExt cx="1110600" cy="1110600"/>
          </a:xfrm>
        </p:grpSpPr>
        <p:sp>
          <p:nvSpPr>
            <p:cNvPr id="17" name="Oval 16">
              <a:extLst>
                <a:ext uri="{FF2B5EF4-FFF2-40B4-BE49-F238E27FC236}">
                  <a16:creationId xmlns:a16="http://schemas.microsoft.com/office/drawing/2014/main" id="{AA7848C3-C239-9DAE-CD0E-735193B3F2F7}"/>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8" name="Picture 33">
              <a:extLst>
                <a:ext uri="{FF2B5EF4-FFF2-40B4-BE49-F238E27FC236}">
                  <a16:creationId xmlns:a16="http://schemas.microsoft.com/office/drawing/2014/main" id="{A230018B-D101-AED4-0493-7A695A9A936B}"/>
                </a:ext>
              </a:extLst>
            </p:cNvPr>
            <p:cNvPicPr/>
            <p:nvPr/>
          </p:nvPicPr>
          <p:blipFill>
            <a:blip r:embed="rId3">
              <a:extLst>
                <a:ext uri="{96DAC541-7B7A-43D3-8B79-37D633B846F1}">
                  <asvg:svgBlip xmlns:asvg="http://schemas.microsoft.com/office/drawing/2016/SVG/main" r:embed="rId4"/>
                </a:ext>
              </a:extLst>
            </a:blip>
            <a:srcRect/>
            <a:stretch/>
          </p:blipFill>
          <p:spPr>
            <a:xfrm>
              <a:off x="5749602" y="2325202"/>
              <a:ext cx="692796" cy="692796"/>
            </a:xfrm>
            <a:prstGeom prst="rect">
              <a:avLst/>
            </a:prstGeom>
            <a:noFill/>
          </p:spPr>
        </p:pic>
      </p:grpSp>
      <p:sp>
        <p:nvSpPr>
          <p:cNvPr id="8" name="Text Placeholder 6">
            <a:extLst>
              <a:ext uri="{FF2B5EF4-FFF2-40B4-BE49-F238E27FC236}">
                <a16:creationId xmlns:a16="http://schemas.microsoft.com/office/drawing/2014/main" id="{820A8282-92E7-A32E-A450-C6DE78A6D030}"/>
              </a:ext>
            </a:extLst>
          </p:cNvPr>
          <p:cNvSpPr txBox="1">
            <a:spLocks/>
          </p:cNvSpPr>
          <p:nvPr/>
        </p:nvSpPr>
        <p:spPr>
          <a:xfrm>
            <a:off x="681664" y="2732286"/>
            <a:ext cx="7401632" cy="2462213"/>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0"/>
              </a:spcBef>
              <a:buFont typeface="Arial" panose="020B0604020202020204" pitchFamily="34" charset="0"/>
              <a:buNone/>
              <a:defRPr sz="16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spcAft>
                <a:spcPts val="1200"/>
              </a:spcAft>
              <a:buFont typeface="Arial" panose="020B0604020202020204" pitchFamily="34" charset="0"/>
              <a:buChar char="•"/>
            </a:pPr>
            <a:r>
              <a:rPr lang="en-US" sz="1800" dirty="0">
                <a:latin typeface="Quattrocento Sans" panose="020B0502050000020003" pitchFamily="34" charset="0"/>
              </a:rPr>
              <a:t>Select the Start course button or the Use this template feature within the template repository. This prompts you to create a new repository. We recommend creating a public repository because private repositories will use Actions minutes.</a:t>
            </a:r>
          </a:p>
          <a:p>
            <a:pPr marL="285750" indent="-285750" algn="just">
              <a:spcAft>
                <a:spcPts val="1200"/>
              </a:spcAft>
              <a:buFont typeface="Arial" panose="020B0604020202020204" pitchFamily="34" charset="0"/>
              <a:buChar char="•"/>
            </a:pPr>
            <a:r>
              <a:rPr lang="en-US" sz="1800" dirty="0">
                <a:latin typeface="Quattrocento Sans" panose="020B0502050000020003" pitchFamily="34" charset="0"/>
              </a:rPr>
              <a:t>After you make your own repository from the template, wait about 20 seconds and refresh.</a:t>
            </a:r>
          </a:p>
          <a:p>
            <a:pPr marL="285750" indent="-285750" algn="just">
              <a:spcAft>
                <a:spcPts val="1200"/>
              </a:spcAft>
              <a:buFont typeface="Arial" panose="020B0604020202020204" pitchFamily="34" charset="0"/>
              <a:buChar char="•"/>
            </a:pPr>
            <a:r>
              <a:rPr lang="en-US" sz="1800" dirty="0">
                <a:latin typeface="Quattrocento Sans" panose="020B0502050000020003" pitchFamily="34" charset="0"/>
              </a:rPr>
              <a:t>Follow the instructions in the repository's README to understand how the exercise works, its learning objectives, and how to successfully complete the exercise.</a:t>
            </a:r>
          </a:p>
        </p:txBody>
      </p:sp>
      <p:pic>
        <p:nvPicPr>
          <p:cNvPr id="4" name="Picture 3">
            <a:extLst>
              <a:ext uri="{FF2B5EF4-FFF2-40B4-BE49-F238E27FC236}">
                <a16:creationId xmlns:a16="http://schemas.microsoft.com/office/drawing/2014/main" id="{7781EBC0-5DDF-8CF3-4CB8-025150B33A02}"/>
              </a:ext>
            </a:extLst>
          </p:cNvPr>
          <p:cNvPicPr>
            <a:picLocks noChangeAspect="1"/>
          </p:cNvPicPr>
          <p:nvPr/>
        </p:nvPicPr>
        <p:blipFill>
          <a:blip r:embed="rId5"/>
          <a:stretch>
            <a:fillRect/>
          </a:stretch>
        </p:blipFill>
        <p:spPr>
          <a:xfrm>
            <a:off x="8412680" y="2668836"/>
            <a:ext cx="2128192" cy="2128192"/>
          </a:xfrm>
          <a:prstGeom prst="rect">
            <a:avLst/>
          </a:prstGeom>
          <a:effectLst>
            <a:outerShdw blurRad="59278" dist="38100" dir="2700000" algn="tl" rotWithShape="0">
              <a:schemeClr val="tx1">
                <a:alpha val="49000"/>
              </a:schemeClr>
            </a:outerShdw>
          </a:effectLst>
        </p:spPr>
      </p:pic>
    </p:spTree>
    <p:extLst>
      <p:ext uri="{BB962C8B-B14F-4D97-AF65-F5344CB8AC3E}">
        <p14:creationId xmlns:p14="http://schemas.microsoft.com/office/powerpoint/2010/main" val="1465804086"/>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BB045C-A141-C3BC-E39E-7CBF5891AC97}"/>
              </a:ext>
            </a:extLst>
          </p:cNvPr>
          <p:cNvSpPr>
            <a:spLocks noGrp="1"/>
          </p:cNvSpPr>
          <p:nvPr>
            <p:ph type="title"/>
          </p:nvPr>
        </p:nvSpPr>
        <p:spPr>
          <a:xfrm>
            <a:off x="579437" y="782799"/>
            <a:ext cx="10150473" cy="492443"/>
          </a:xfrm>
        </p:spPr>
        <p:txBody>
          <a:bodyPr>
            <a:normAutofit fontScale="90000"/>
          </a:bodyPr>
          <a:lstStyle/>
          <a:p>
            <a:r>
              <a:rPr lang="en-US" sz="3200" dirty="0">
                <a:latin typeface="Quattrocento Sans" panose="020B0502050000020003" pitchFamily="34" charset="0"/>
              </a:rPr>
              <a:t>Exercise - Create and run a basic GitHub Actions workflow (continued)</a:t>
            </a:r>
          </a:p>
        </p:txBody>
      </p:sp>
      <p:sp>
        <p:nvSpPr>
          <p:cNvPr id="7" name="Text Placeholder 6">
            <a:extLst>
              <a:ext uri="{FF2B5EF4-FFF2-40B4-BE49-F238E27FC236}">
                <a16:creationId xmlns:a16="http://schemas.microsoft.com/office/drawing/2014/main" id="{3BFF5FF6-257E-D432-7A8E-0444D8E4A520}"/>
              </a:ext>
            </a:extLst>
          </p:cNvPr>
          <p:cNvSpPr>
            <a:spLocks noGrp="1"/>
          </p:cNvSpPr>
          <p:nvPr>
            <p:ph type="body" sz="quarter" idx="16"/>
          </p:nvPr>
        </p:nvSpPr>
        <p:spPr>
          <a:xfrm>
            <a:off x="604420" y="3662270"/>
            <a:ext cx="11111696" cy="777139"/>
          </a:xfrm>
        </p:spPr>
        <p:txBody>
          <a:bodyPr>
            <a:noAutofit/>
          </a:bodyPr>
          <a:lstStyle/>
          <a:p>
            <a:pPr algn="just">
              <a:lnSpc>
                <a:spcPct val="100000"/>
              </a:lnSpc>
              <a:spcAft>
                <a:spcPts val="1200"/>
              </a:spcAft>
            </a:pPr>
            <a:r>
              <a:rPr lang="en-US" sz="1800" dirty="0">
                <a:latin typeface="Quattrocento Sans" panose="020B0502050000020003" pitchFamily="34" charset="0"/>
              </a:rPr>
              <a:t>Note: You don't need to modify any of the workflow files to complete this exercise. </a:t>
            </a:r>
            <a:r>
              <a:rPr lang="en-US" sz="1800" b="1" dirty="0">
                <a:latin typeface="Quattrocento Sans" panose="020B0502050000020003" pitchFamily="34" charset="0"/>
              </a:rPr>
              <a:t>Altering the contents in this workflow can break the exercise's ability to validate your actions, provide feedback, or grade the results.</a:t>
            </a:r>
          </a:p>
        </p:txBody>
      </p:sp>
      <p:sp>
        <p:nvSpPr>
          <p:cNvPr id="2" name="Footer Placeholder 1">
            <a:extLst>
              <a:ext uri="{FF2B5EF4-FFF2-40B4-BE49-F238E27FC236}">
                <a16:creationId xmlns:a16="http://schemas.microsoft.com/office/drawing/2014/main" id="{C0053711-90A5-E597-3402-5753647D7092}"/>
              </a:ext>
            </a:extLst>
          </p:cNvPr>
          <p:cNvSpPr>
            <a:spLocks noGrp="1"/>
          </p:cNvSpPr>
          <p:nvPr>
            <p:ph type="ftr" sz="quarter" idx="3"/>
          </p:nvPr>
        </p:nvSpPr>
        <p:spPr>
          <a:xfrm>
            <a:off x="579438" y="6421083"/>
            <a:ext cx="4151312" cy="197976"/>
          </a:xfrm>
        </p:spPr>
        <p:txBody>
          <a:bodyPr/>
          <a:lstStyle/>
          <a:p>
            <a:r>
              <a:rPr lang="en-US" dirty="0"/>
              <a:t>© Copyright Microsoft Corporation. All rights reserved.</a:t>
            </a:r>
          </a:p>
        </p:txBody>
      </p:sp>
      <p:sp>
        <p:nvSpPr>
          <p:cNvPr id="14" name="TextBox 13">
            <a:extLst>
              <a:ext uri="{FF2B5EF4-FFF2-40B4-BE49-F238E27FC236}">
                <a16:creationId xmlns:a16="http://schemas.microsoft.com/office/drawing/2014/main" id="{1802CE57-FED8-FF04-DEAA-BD4BF1FA0FEC}"/>
              </a:ext>
            </a:extLst>
          </p:cNvPr>
          <p:cNvSpPr txBox="1"/>
          <p:nvPr/>
        </p:nvSpPr>
        <p:spPr>
          <a:xfrm>
            <a:off x="559118" y="5950344"/>
            <a:ext cx="3160032" cy="307777"/>
          </a:xfrm>
          <a:prstGeom prst="rect">
            <a:avLst/>
          </a:prstGeom>
          <a:noFill/>
        </p:spPr>
        <p:txBody>
          <a:bodyPr wrap="none" lIns="0" tIns="0" rIns="0" bIns="0" rtlCol="0">
            <a:spAutoFit/>
          </a:bodyPr>
          <a:lstStyle/>
          <a:p>
            <a:pPr algn="l"/>
            <a:r>
              <a:rPr lang="en-US" sz="2000" dirty="0">
                <a:hlinkClick r:id="rId3"/>
              </a:rPr>
              <a:t>Start the exercise on GitHub.</a:t>
            </a:r>
            <a:endParaRPr lang="en-US" sz="2000" dirty="0"/>
          </a:p>
        </p:txBody>
      </p:sp>
      <p:grpSp>
        <p:nvGrpSpPr>
          <p:cNvPr id="15" name="Group 14">
            <a:extLst>
              <a:ext uri="{FF2B5EF4-FFF2-40B4-BE49-F238E27FC236}">
                <a16:creationId xmlns:a16="http://schemas.microsoft.com/office/drawing/2014/main" id="{F62BDAA0-76B6-3949-9744-AD93E5069062}"/>
              </a:ext>
              <a:ext uri="{C183D7F6-B498-43B3-948B-1728B52AA6E4}">
                <adec:decorative xmlns:adec="http://schemas.microsoft.com/office/drawing/2017/decorative" val="1"/>
              </a:ext>
            </a:extLst>
          </p:cNvPr>
          <p:cNvGrpSpPr/>
          <p:nvPr/>
        </p:nvGrpSpPr>
        <p:grpSpPr>
          <a:xfrm>
            <a:off x="10729911" y="5491317"/>
            <a:ext cx="961231" cy="918055"/>
            <a:chOff x="5540700" y="2116300"/>
            <a:chExt cx="1110600" cy="1110600"/>
          </a:xfrm>
        </p:grpSpPr>
        <p:sp>
          <p:nvSpPr>
            <p:cNvPr id="17" name="Oval 16">
              <a:extLst>
                <a:ext uri="{FF2B5EF4-FFF2-40B4-BE49-F238E27FC236}">
                  <a16:creationId xmlns:a16="http://schemas.microsoft.com/office/drawing/2014/main" id="{AA7848C3-C239-9DAE-CD0E-735193B3F2F7}"/>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8" name="Picture 33">
              <a:extLst>
                <a:ext uri="{FF2B5EF4-FFF2-40B4-BE49-F238E27FC236}">
                  <a16:creationId xmlns:a16="http://schemas.microsoft.com/office/drawing/2014/main" id="{A230018B-D101-AED4-0493-7A695A9A936B}"/>
                </a:ext>
              </a:extLst>
            </p:cNvPr>
            <p:cNvPicPr/>
            <p:nvPr/>
          </p:nvPicPr>
          <p:blipFill>
            <a:blip r:embed="rId4">
              <a:extLst>
                <a:ext uri="{96DAC541-7B7A-43D3-8B79-37D633B846F1}">
                  <asvg:svgBlip xmlns:asvg="http://schemas.microsoft.com/office/drawing/2016/SVG/main" r:embed="rId5"/>
                </a:ext>
              </a:extLst>
            </a:blip>
            <a:srcRect/>
            <a:stretch/>
          </p:blipFill>
          <p:spPr>
            <a:xfrm>
              <a:off x="5749602" y="2325202"/>
              <a:ext cx="692796" cy="692796"/>
            </a:xfrm>
            <a:prstGeom prst="rect">
              <a:avLst/>
            </a:prstGeom>
            <a:noFill/>
          </p:spPr>
        </p:pic>
      </p:grpSp>
      <p:cxnSp>
        <p:nvCxnSpPr>
          <p:cNvPr id="5" name="Straight Connector 4">
            <a:extLst>
              <a:ext uri="{FF2B5EF4-FFF2-40B4-BE49-F238E27FC236}">
                <a16:creationId xmlns:a16="http://schemas.microsoft.com/office/drawing/2014/main" id="{BB66656F-0D88-0998-A32F-828D6C17F0D7}"/>
              </a:ext>
            </a:extLst>
          </p:cNvPr>
          <p:cNvCxnSpPr/>
          <p:nvPr/>
        </p:nvCxnSpPr>
        <p:spPr>
          <a:xfrm>
            <a:off x="584092" y="3475144"/>
            <a:ext cx="0" cy="939637"/>
          </a:xfrm>
          <a:prstGeom prst="line">
            <a:avLst/>
          </a:prstGeom>
          <a:ln w="38100">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Text Placeholder 6">
            <a:extLst>
              <a:ext uri="{FF2B5EF4-FFF2-40B4-BE49-F238E27FC236}">
                <a16:creationId xmlns:a16="http://schemas.microsoft.com/office/drawing/2014/main" id="{EE198A98-41B8-534F-08CD-F54B2AC2B811}"/>
              </a:ext>
            </a:extLst>
          </p:cNvPr>
          <p:cNvSpPr txBox="1">
            <a:spLocks/>
          </p:cNvSpPr>
          <p:nvPr/>
        </p:nvSpPr>
        <p:spPr>
          <a:xfrm>
            <a:off x="604420" y="1636198"/>
            <a:ext cx="11111696" cy="2462213"/>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0"/>
              </a:spcBef>
              <a:buFont typeface="Arial" panose="020B0604020202020204" pitchFamily="34" charset="0"/>
              <a:buNone/>
              <a:defRPr sz="16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Aft>
                <a:spcPts val="1200"/>
              </a:spcAft>
            </a:pPr>
            <a:r>
              <a:rPr lang="en-US" sz="1800" dirty="0">
                <a:latin typeface="Quattrocento Sans" panose="020B0502050000020003" pitchFamily="34" charset="0"/>
              </a:rPr>
              <a:t>When you've finished the exercise in GitHub, return here for:</a:t>
            </a:r>
          </a:p>
          <a:p>
            <a:pPr marL="285750" indent="-285750" algn="just">
              <a:lnSpc>
                <a:spcPct val="100000"/>
              </a:lnSpc>
              <a:spcAft>
                <a:spcPts val="1200"/>
              </a:spcAft>
              <a:buFont typeface="Wingdings" pitchFamily="2" charset="2"/>
              <a:buChar char="ü"/>
            </a:pPr>
            <a:r>
              <a:rPr lang="en-US" sz="1800" dirty="0">
                <a:latin typeface="Quattrocento Sans" panose="020B0502050000020003" pitchFamily="34" charset="0"/>
              </a:rPr>
              <a:t>A quick knowledge check</a:t>
            </a:r>
          </a:p>
          <a:p>
            <a:pPr marL="285750" indent="-285750" algn="just">
              <a:lnSpc>
                <a:spcPct val="100000"/>
              </a:lnSpc>
              <a:spcAft>
                <a:spcPts val="1200"/>
              </a:spcAft>
              <a:buFont typeface="Wingdings" pitchFamily="2" charset="2"/>
              <a:buChar char="ü"/>
            </a:pPr>
            <a:r>
              <a:rPr lang="en-US" sz="1800" dirty="0">
                <a:latin typeface="Quattrocento Sans" panose="020B0502050000020003" pitchFamily="34" charset="0"/>
              </a:rPr>
              <a:t>A summary of what you've learned</a:t>
            </a:r>
          </a:p>
          <a:p>
            <a:pPr marL="285750" indent="-285750" algn="just">
              <a:lnSpc>
                <a:spcPct val="100000"/>
              </a:lnSpc>
              <a:spcAft>
                <a:spcPts val="1200"/>
              </a:spcAft>
              <a:buFont typeface="Wingdings" pitchFamily="2" charset="2"/>
              <a:buChar char="ü"/>
            </a:pPr>
            <a:r>
              <a:rPr lang="en-US" sz="1800" dirty="0">
                <a:latin typeface="Quattrocento Sans" panose="020B0502050000020003" pitchFamily="34" charset="0"/>
              </a:rPr>
              <a:t>To earn a badge for completing this module</a:t>
            </a:r>
          </a:p>
        </p:txBody>
      </p:sp>
    </p:spTree>
    <p:extLst>
      <p:ext uri="{BB962C8B-B14F-4D97-AF65-F5344CB8AC3E}">
        <p14:creationId xmlns:p14="http://schemas.microsoft.com/office/powerpoint/2010/main" val="3569236144"/>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3442638"/>
            <a:ext cx="6345239" cy="557525"/>
          </a:xfrm>
        </p:spPr>
        <p:txBody>
          <a:bodyPr/>
          <a:lstStyle/>
          <a:p>
            <a:r>
              <a:rPr lang="en-US" dirty="0"/>
              <a:t>Knowledge Checks</a:t>
            </a:r>
          </a:p>
        </p:txBody>
      </p:sp>
      <p:sp>
        <p:nvSpPr>
          <p:cNvPr id="2" name="Rectangle 1">
            <a:extLst>
              <a:ext uri="{FF2B5EF4-FFF2-40B4-BE49-F238E27FC236}">
                <a16:creationId xmlns:a16="http://schemas.microsoft.com/office/drawing/2014/main" id="{AAB7FFCE-6487-F91B-58CE-9BC1E7AA76E9}"/>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528688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0686957" cy="307777"/>
          </a:xfrm>
        </p:spPr>
        <p:txBody>
          <a:bodyPr vert="horz" wrap="square" lIns="0" tIns="0" rIns="0" bIns="0" rtlCol="0" anchor="t">
            <a:noAutofit/>
          </a:bodyPr>
          <a:lstStyle/>
          <a:p>
            <a:r>
              <a:rPr lang="en-US" sz="3200" dirty="0">
                <a:latin typeface="Quattrocento Sans" panose="020B0502050000020003" pitchFamily="34" charset="0"/>
              </a:rPr>
              <a:t>Knowledge Check: Automate development tasks by using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830494"/>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You want to create a container action that runs Docker images. What key information must be specified in the </a:t>
            </a:r>
            <a:r>
              <a:rPr lang="en-US" sz="2000" dirty="0" err="1">
                <a:latin typeface="Quattrocento Sans" panose="020B0502050000020003" pitchFamily="34" charset="0"/>
              </a:rPr>
              <a:t>action.yml</a:t>
            </a:r>
            <a:r>
              <a:rPr lang="en-US" sz="2000" dirty="0">
                <a:latin typeface="Quattrocento Sans" panose="020B0502050000020003" pitchFamily="34" charset="0"/>
              </a:rPr>
              <a:t> file to ensure the correct Docker image is used?</a:t>
            </a: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352059"/>
            <a:ext cx="8943975" cy="1785104"/>
          </a:xfrm>
          <a:prstGeom prst="rect">
            <a:avLst/>
          </a:prstGeom>
          <a:noFill/>
        </p:spPr>
        <p:txBody>
          <a:bodyPr wrap="square" rtlCol="0">
            <a:spAutoFit/>
          </a:bodyPr>
          <a:lstStyle/>
          <a:p>
            <a:pPr marL="342900" indent="-342900">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inputs section with '</a:t>
            </a:r>
            <a:r>
              <a:rPr lang="en-US" dirty="0" err="1">
                <a:latin typeface="Quattrocento Sans" panose="020B0502050000020003" pitchFamily="34" charset="0"/>
              </a:rPr>
              <a:t>Dockerfile</a:t>
            </a:r>
            <a:r>
              <a:rPr lang="en-US" dirty="0">
                <a:latin typeface="Quattrocento Sans" panose="020B0502050000020003" pitchFamily="34" charset="0"/>
              </a:rPr>
              <a:t>' as a default value</a:t>
            </a:r>
          </a:p>
          <a:p>
            <a:pPr marL="342900" indent="-342900">
              <a:spcAft>
                <a:spcPts val="1200"/>
              </a:spcAft>
              <a:buFont typeface="+mj-lt"/>
              <a:buAutoNum type="alphaLcParenR"/>
            </a:pPr>
            <a:r>
              <a:rPr lang="en-US" dirty="0">
                <a:latin typeface="Quattrocento Sans" panose="020B0502050000020003" pitchFamily="34" charset="0"/>
              </a:rPr>
              <a:t>runs section with 'uses' attribute set to 'docker' and 'image' attribute pointing to the </a:t>
            </a:r>
            <a:r>
              <a:rPr lang="en-US" dirty="0" err="1">
                <a:latin typeface="Quattrocento Sans" panose="020B0502050000020003" pitchFamily="34" charset="0"/>
              </a:rPr>
              <a:t>Dockerfile</a:t>
            </a: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steps section with 'uses' attribute set to '</a:t>
            </a:r>
            <a:r>
              <a:rPr lang="en-US" dirty="0" err="1">
                <a:latin typeface="Quattrocento Sans" panose="020B0502050000020003" pitchFamily="34" charset="0"/>
              </a:rPr>
              <a:t>Dockerfile</a:t>
            </a:r>
            <a:r>
              <a:rPr lang="en-US" dirty="0">
                <a:latin typeface="Quattrocento Sans" panose="020B0502050000020003" pitchFamily="34" charset="0"/>
              </a:rPr>
              <a:t>'</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1 of 9</a:t>
            </a:r>
          </a:p>
        </p:txBody>
      </p:sp>
    </p:spTree>
    <p:extLst>
      <p:ext uri="{BB962C8B-B14F-4D97-AF65-F5344CB8AC3E}">
        <p14:creationId xmlns:p14="http://schemas.microsoft.com/office/powerpoint/2010/main" val="2319175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0686957" cy="307777"/>
          </a:xfrm>
        </p:spPr>
        <p:txBody>
          <a:bodyPr vert="horz" wrap="square" lIns="0" tIns="0" rIns="0" bIns="0" rtlCol="0" anchor="t">
            <a:noAutofit/>
          </a:bodyPr>
          <a:lstStyle/>
          <a:p>
            <a:r>
              <a:rPr lang="en-US" sz="3200" dirty="0">
                <a:latin typeface="Quattrocento Sans" panose="020B0502050000020003" pitchFamily="34" charset="0"/>
              </a:rPr>
              <a:t>Knowledge Check: Automate development tasks by using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830494"/>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Your organization plans to automate the software development lifecycle using GitHub Actions. Which of the following benefits does GitHub Actions provide?</a:t>
            </a: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352059"/>
            <a:ext cx="8943975" cy="1508105"/>
          </a:xfrm>
          <a:prstGeom prst="rect">
            <a:avLst/>
          </a:prstGeom>
          <a:noFill/>
        </p:spPr>
        <p:txBody>
          <a:bodyPr wrap="square" rtlCol="0">
            <a:spAutoFit/>
          </a:bodyPr>
          <a:lstStyle/>
          <a:p>
            <a:pPr marL="342900" indent="-342900">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Enables direct funding for open-source projects</a:t>
            </a:r>
          </a:p>
          <a:p>
            <a:pPr marL="342900" indent="-342900">
              <a:spcAft>
                <a:spcPts val="1200"/>
              </a:spcAft>
              <a:buFont typeface="+mj-lt"/>
              <a:buAutoNum type="alphaLcParenR"/>
            </a:pPr>
            <a:r>
              <a:rPr lang="en-US" dirty="0">
                <a:latin typeface="Quattrocento Sans" panose="020B0502050000020003" pitchFamily="34" charset="0"/>
              </a:rPr>
              <a:t>Decreases time from idea to deployment</a:t>
            </a:r>
          </a:p>
          <a:p>
            <a:pPr marL="342900" indent="-342900">
              <a:spcAft>
                <a:spcPts val="1200"/>
              </a:spcAft>
              <a:buFont typeface="+mj-lt"/>
              <a:buAutoNum type="alphaLcParenR"/>
            </a:pPr>
            <a:r>
              <a:rPr lang="en-US" dirty="0">
                <a:latin typeface="Quattrocento Sans" panose="020B0502050000020003" pitchFamily="34" charset="0"/>
              </a:rPr>
              <a:t>Provides free hosting for static websites</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2 of 9</a:t>
            </a:r>
          </a:p>
        </p:txBody>
      </p:sp>
    </p:spTree>
    <p:extLst>
      <p:ext uri="{BB962C8B-B14F-4D97-AF65-F5344CB8AC3E}">
        <p14:creationId xmlns:p14="http://schemas.microsoft.com/office/powerpoint/2010/main" val="3841951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0686957" cy="307777"/>
          </a:xfrm>
        </p:spPr>
        <p:txBody>
          <a:bodyPr vert="horz" wrap="square" lIns="0" tIns="0" rIns="0" bIns="0" rtlCol="0" anchor="t">
            <a:noAutofit/>
          </a:bodyPr>
          <a:lstStyle/>
          <a:p>
            <a:r>
              <a:rPr lang="en-US" sz="3200" dirty="0">
                <a:latin typeface="Quattrocento Sans" panose="020B0502050000020003" pitchFamily="34" charset="0"/>
              </a:rPr>
              <a:t>Knowledge Check: Automate development tasks by using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830494"/>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Which component in a GitHub Actions workflow is responsible for executing the standalone commands within the workflow?</a:t>
            </a: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352059"/>
            <a:ext cx="8943975" cy="1508105"/>
          </a:xfrm>
          <a:prstGeom prst="rect">
            <a:avLst/>
          </a:prstGeom>
          <a:noFill/>
        </p:spPr>
        <p:txBody>
          <a:bodyPr wrap="square" rtlCol="0">
            <a:spAutoFit/>
          </a:bodyPr>
          <a:lstStyle/>
          <a:p>
            <a:pPr marL="342900" indent="-342900">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Steps</a:t>
            </a:r>
          </a:p>
          <a:p>
            <a:pPr marL="342900" indent="-342900">
              <a:spcAft>
                <a:spcPts val="1200"/>
              </a:spcAft>
              <a:buFont typeface="+mj-lt"/>
              <a:buAutoNum type="alphaLcParenR"/>
            </a:pPr>
            <a:r>
              <a:rPr lang="en-US" dirty="0">
                <a:latin typeface="Quattrocento Sans" panose="020B0502050000020003" pitchFamily="34" charset="0"/>
              </a:rPr>
              <a:t>Actions</a:t>
            </a:r>
          </a:p>
          <a:p>
            <a:pPr marL="342900" indent="-342900">
              <a:spcAft>
                <a:spcPts val="1200"/>
              </a:spcAft>
              <a:buFont typeface="+mj-lt"/>
              <a:buAutoNum type="alphaLcParenR"/>
            </a:pPr>
            <a:r>
              <a:rPr lang="en-US" dirty="0">
                <a:latin typeface="Quattrocento Sans" panose="020B0502050000020003" pitchFamily="34" charset="0"/>
              </a:rPr>
              <a:t>Jobs</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3 of 9</a:t>
            </a:r>
          </a:p>
        </p:txBody>
      </p:sp>
    </p:spTree>
    <p:extLst>
      <p:ext uri="{BB962C8B-B14F-4D97-AF65-F5344CB8AC3E}">
        <p14:creationId xmlns:p14="http://schemas.microsoft.com/office/powerpoint/2010/main" val="264655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0686957" cy="307777"/>
          </a:xfrm>
        </p:spPr>
        <p:txBody>
          <a:bodyPr vert="horz" wrap="square" lIns="0" tIns="0" rIns="0" bIns="0" rtlCol="0" anchor="t">
            <a:noAutofit/>
          </a:bodyPr>
          <a:lstStyle/>
          <a:p>
            <a:r>
              <a:rPr lang="en-US" sz="3200" dirty="0">
                <a:latin typeface="Quattrocento Sans" panose="020B0502050000020003" pitchFamily="34" charset="0"/>
              </a:rPr>
              <a:t>Knowledge Check: Automate development tasks by using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830494"/>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What is the role of the 'on' attribute in a GitHub Actions workflow file? </a:t>
            </a: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352059"/>
            <a:ext cx="8943975" cy="1508105"/>
          </a:xfrm>
          <a:prstGeom prst="rect">
            <a:avLst/>
          </a:prstGeom>
          <a:noFill/>
        </p:spPr>
        <p:txBody>
          <a:bodyPr wrap="square" rtlCol="0">
            <a:spAutoFit/>
          </a:bodyPr>
          <a:lstStyle/>
          <a:p>
            <a:pPr marL="342900" indent="-342900">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To define the environment for running jobs</a:t>
            </a:r>
          </a:p>
          <a:p>
            <a:pPr marL="342900" indent="-342900">
              <a:spcAft>
                <a:spcPts val="1200"/>
              </a:spcAft>
              <a:buFont typeface="+mj-lt"/>
              <a:buAutoNum type="alphaLcParenR"/>
            </a:pPr>
            <a:r>
              <a:rPr lang="en-US" dirty="0">
                <a:latin typeface="Quattrocento Sans" panose="020B0502050000020003" pitchFamily="34" charset="0"/>
              </a:rPr>
              <a:t>To list the steps involved in a job</a:t>
            </a:r>
          </a:p>
          <a:p>
            <a:pPr marL="342900" indent="-342900">
              <a:spcAft>
                <a:spcPts val="1200"/>
              </a:spcAft>
              <a:buFont typeface="+mj-lt"/>
              <a:buAutoNum type="alphaLcParenR"/>
            </a:pPr>
            <a:r>
              <a:rPr lang="en-US" dirty="0">
                <a:latin typeface="Quattrocento Sans" panose="020B0502050000020003" pitchFamily="34" charset="0"/>
              </a:rPr>
              <a:t>To specify the events that trigger the workflow</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4 of 9</a:t>
            </a:r>
          </a:p>
        </p:txBody>
      </p:sp>
    </p:spTree>
    <p:extLst>
      <p:ext uri="{BB962C8B-B14F-4D97-AF65-F5344CB8AC3E}">
        <p14:creationId xmlns:p14="http://schemas.microsoft.com/office/powerpoint/2010/main" val="3210216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0686957" cy="307777"/>
          </a:xfrm>
        </p:spPr>
        <p:txBody>
          <a:bodyPr vert="horz" wrap="square" lIns="0" tIns="0" rIns="0" bIns="0" rtlCol="0" anchor="t">
            <a:noAutofit/>
          </a:bodyPr>
          <a:lstStyle/>
          <a:p>
            <a:r>
              <a:rPr lang="en-US" sz="3200" dirty="0">
                <a:latin typeface="Quattrocento Sans" panose="020B0502050000020003" pitchFamily="34" charset="0"/>
              </a:rPr>
              <a:t>Knowledge Check: Automate development tasks by using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830494"/>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Which attribute in a GitHub Actions workflow file determines the event that triggers the workflow?</a:t>
            </a: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352059"/>
            <a:ext cx="8943975" cy="1508105"/>
          </a:xfrm>
          <a:prstGeom prst="rect">
            <a:avLst/>
          </a:prstGeom>
          <a:noFill/>
        </p:spPr>
        <p:txBody>
          <a:bodyPr wrap="square" rtlCol="0">
            <a:spAutoFit/>
          </a:bodyPr>
          <a:lstStyle/>
          <a:p>
            <a:pPr marL="342900" indent="-342900">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runs-on</a:t>
            </a:r>
          </a:p>
          <a:p>
            <a:pPr marL="342900" indent="-342900">
              <a:spcAft>
                <a:spcPts val="1200"/>
              </a:spcAft>
              <a:buFont typeface="+mj-lt"/>
              <a:buAutoNum type="alphaLcParenR"/>
            </a:pPr>
            <a:r>
              <a:rPr lang="en-US" dirty="0">
                <a:latin typeface="Quattrocento Sans" panose="020B0502050000020003" pitchFamily="34" charset="0"/>
              </a:rPr>
              <a:t>jobs</a:t>
            </a:r>
          </a:p>
          <a:p>
            <a:pPr marL="342900" indent="-342900">
              <a:spcAft>
                <a:spcPts val="1200"/>
              </a:spcAft>
              <a:buFont typeface="+mj-lt"/>
              <a:buAutoNum type="alphaLcParenR"/>
            </a:pPr>
            <a:r>
              <a:rPr lang="en-US" dirty="0">
                <a:latin typeface="Quattrocento Sans" panose="020B0502050000020003" pitchFamily="34" charset="0"/>
              </a:rPr>
              <a:t>on</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5 of 9</a:t>
            </a:r>
          </a:p>
        </p:txBody>
      </p:sp>
    </p:spTree>
    <p:extLst>
      <p:ext uri="{BB962C8B-B14F-4D97-AF65-F5344CB8AC3E}">
        <p14:creationId xmlns:p14="http://schemas.microsoft.com/office/powerpoint/2010/main" val="30816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0686957" cy="307777"/>
          </a:xfrm>
        </p:spPr>
        <p:txBody>
          <a:bodyPr vert="horz" wrap="square" lIns="0" tIns="0" rIns="0" bIns="0" rtlCol="0" anchor="t">
            <a:noAutofit/>
          </a:bodyPr>
          <a:lstStyle/>
          <a:p>
            <a:r>
              <a:rPr lang="en-US" sz="3200" dirty="0">
                <a:latin typeface="Quattrocento Sans" panose="020B0502050000020003" pitchFamily="34" charset="0"/>
              </a:rPr>
              <a:t>Knowledge Check: Automate development tasks by using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830494"/>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You are tasked with setting up an automated workflow for your software development lifecycle using GitHub Actions. Which type of GitHub Action would you choose to ensure the environment is part of the action's code and runs specifically in a Linux environment hosted by GitHub?</a:t>
            </a: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793049"/>
            <a:ext cx="8943975" cy="1508105"/>
          </a:xfrm>
          <a:prstGeom prst="rect">
            <a:avLst/>
          </a:prstGeom>
          <a:noFill/>
        </p:spPr>
        <p:txBody>
          <a:bodyPr wrap="square" rtlCol="0">
            <a:spAutoFit/>
          </a:bodyPr>
          <a:lstStyle/>
          <a:p>
            <a:pPr marL="342900" indent="-342900">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Container Action</a:t>
            </a:r>
          </a:p>
          <a:p>
            <a:pPr marL="342900" indent="-342900">
              <a:spcAft>
                <a:spcPts val="1200"/>
              </a:spcAft>
              <a:buFont typeface="+mj-lt"/>
              <a:buAutoNum type="alphaLcParenR"/>
            </a:pPr>
            <a:r>
              <a:rPr lang="en-US" dirty="0">
                <a:latin typeface="Quattrocento Sans" panose="020B0502050000020003" pitchFamily="34" charset="0"/>
              </a:rPr>
              <a:t>Composite Action</a:t>
            </a:r>
          </a:p>
          <a:p>
            <a:pPr marL="342900" indent="-342900">
              <a:spcAft>
                <a:spcPts val="1200"/>
              </a:spcAft>
              <a:buFont typeface="+mj-lt"/>
              <a:buAutoNum type="alphaLcParenR"/>
            </a:pPr>
            <a:r>
              <a:rPr lang="en-US" dirty="0">
                <a:latin typeface="Quattrocento Sans" panose="020B0502050000020003" pitchFamily="34" charset="0"/>
              </a:rPr>
              <a:t>JavaScript Action</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6 of 9</a:t>
            </a:r>
          </a:p>
        </p:txBody>
      </p:sp>
    </p:spTree>
    <p:extLst>
      <p:ext uri="{BB962C8B-B14F-4D97-AF65-F5344CB8AC3E}">
        <p14:creationId xmlns:p14="http://schemas.microsoft.com/office/powerpoint/2010/main" val="3355069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0686957" cy="307777"/>
          </a:xfrm>
        </p:spPr>
        <p:txBody>
          <a:bodyPr vert="horz" wrap="square" lIns="0" tIns="0" rIns="0" bIns="0" rtlCol="0" anchor="t">
            <a:noAutofit/>
          </a:bodyPr>
          <a:lstStyle/>
          <a:p>
            <a:r>
              <a:rPr lang="en-US" sz="3200" dirty="0">
                <a:latin typeface="Quattrocento Sans" panose="020B0502050000020003" pitchFamily="34" charset="0"/>
              </a:rPr>
              <a:t>Knowledge Check: Automate development tasks by using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830494"/>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A container action fails to execute due to missing input parameters. Which section of the action metadata should you review?</a:t>
            </a: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556847"/>
            <a:ext cx="8943975" cy="1508105"/>
          </a:xfrm>
          <a:prstGeom prst="rect">
            <a:avLst/>
          </a:prstGeom>
          <a:noFill/>
        </p:spPr>
        <p:txBody>
          <a:bodyPr wrap="square" rtlCol="0">
            <a:spAutoFit/>
          </a:bodyPr>
          <a:lstStyle/>
          <a:p>
            <a:pPr marL="342900" indent="-342900">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outputs</a:t>
            </a:r>
          </a:p>
          <a:p>
            <a:pPr marL="342900" indent="-342900">
              <a:spcAft>
                <a:spcPts val="1200"/>
              </a:spcAft>
              <a:buFont typeface="+mj-lt"/>
              <a:buAutoNum type="alphaLcParenR"/>
            </a:pPr>
            <a:r>
              <a:rPr lang="en-US" dirty="0">
                <a:latin typeface="Quattrocento Sans" panose="020B0502050000020003" pitchFamily="34" charset="0"/>
              </a:rPr>
              <a:t>inputs</a:t>
            </a:r>
          </a:p>
          <a:p>
            <a:pPr marL="342900" indent="-342900">
              <a:spcAft>
                <a:spcPts val="1200"/>
              </a:spcAft>
              <a:buFont typeface="+mj-lt"/>
              <a:buAutoNum type="alphaLcParenR"/>
            </a:pPr>
            <a:r>
              <a:rPr lang="en-US" dirty="0">
                <a:latin typeface="Quattrocento Sans" panose="020B0502050000020003" pitchFamily="34" charset="0"/>
              </a:rPr>
              <a:t>branding</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7 of 9</a:t>
            </a:r>
          </a:p>
        </p:txBody>
      </p:sp>
    </p:spTree>
    <p:extLst>
      <p:ext uri="{BB962C8B-B14F-4D97-AF65-F5344CB8AC3E}">
        <p14:creationId xmlns:p14="http://schemas.microsoft.com/office/powerpoint/2010/main" val="306365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0686957" cy="307777"/>
          </a:xfrm>
        </p:spPr>
        <p:txBody>
          <a:bodyPr vert="horz" wrap="square" lIns="0" tIns="0" rIns="0" bIns="0" rtlCol="0" anchor="t">
            <a:noAutofit/>
          </a:bodyPr>
          <a:lstStyle/>
          <a:p>
            <a:r>
              <a:rPr lang="en-US" sz="3200" dirty="0">
                <a:latin typeface="Quattrocento Sans" panose="020B0502050000020003" pitchFamily="34" charset="0"/>
              </a:rPr>
              <a:t>Knowledge Check: Automate development tasks by using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830494"/>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What is the role of the 'jobs' section in a GitHub Actions workflow?</a:t>
            </a: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226807"/>
            <a:ext cx="8943975" cy="1508105"/>
          </a:xfrm>
          <a:prstGeom prst="rect">
            <a:avLst/>
          </a:prstGeom>
          <a:noFill/>
        </p:spPr>
        <p:txBody>
          <a:bodyPr wrap="square" rtlCol="0">
            <a:spAutoFit/>
          </a:bodyPr>
          <a:lstStyle/>
          <a:p>
            <a:pPr marL="342900" indent="-342900">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To organize steps and define their execution environment</a:t>
            </a:r>
          </a:p>
          <a:p>
            <a:pPr marL="342900" indent="-342900">
              <a:spcAft>
                <a:spcPts val="1200"/>
              </a:spcAft>
              <a:buFont typeface="+mj-lt"/>
              <a:buAutoNum type="alphaLcParenR"/>
            </a:pPr>
            <a:r>
              <a:rPr lang="en-US" dirty="0">
                <a:latin typeface="Quattrocento Sans" panose="020B0502050000020003" pitchFamily="34" charset="0"/>
              </a:rPr>
              <a:t>To specify the events that trigger the workflow</a:t>
            </a:r>
          </a:p>
          <a:p>
            <a:pPr marL="342900" indent="-342900">
              <a:spcAft>
                <a:spcPts val="1200"/>
              </a:spcAft>
              <a:buFont typeface="+mj-lt"/>
              <a:buAutoNum type="alphaLcParenR"/>
            </a:pPr>
            <a:r>
              <a:rPr lang="en-US" dirty="0">
                <a:latin typeface="Quattrocento Sans" panose="020B0502050000020003" pitchFamily="34" charset="0"/>
              </a:rPr>
              <a:t>To define input values for container actions</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8 of 9</a:t>
            </a:r>
          </a:p>
        </p:txBody>
      </p:sp>
    </p:spTree>
    <p:extLst>
      <p:ext uri="{BB962C8B-B14F-4D97-AF65-F5344CB8AC3E}">
        <p14:creationId xmlns:p14="http://schemas.microsoft.com/office/powerpoint/2010/main" val="2269462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364-8EAB-C493-4F06-1232764321E0}"/>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C157120-3B62-596B-6141-C8D77C19F92A}"/>
              </a:ext>
            </a:extLst>
          </p:cNvPr>
          <p:cNvSpPr>
            <a:spLocks noGrp="1"/>
          </p:cNvSpPr>
          <p:nvPr>
            <p:ph type="title"/>
          </p:nvPr>
        </p:nvSpPr>
        <p:spPr>
          <a:xfrm>
            <a:off x="381092" y="662976"/>
            <a:ext cx="10686957" cy="307777"/>
          </a:xfrm>
        </p:spPr>
        <p:txBody>
          <a:bodyPr vert="horz" wrap="square" lIns="0" tIns="0" rIns="0" bIns="0" rtlCol="0" anchor="t">
            <a:noAutofit/>
          </a:bodyPr>
          <a:lstStyle/>
          <a:p>
            <a:r>
              <a:rPr lang="en-US" sz="3200" dirty="0">
                <a:latin typeface="Quattrocento Sans" panose="020B0502050000020003" pitchFamily="34" charset="0"/>
              </a:rPr>
              <a:t>Knowledge Check: Automate development tasks by using GitHub Actions </a:t>
            </a:r>
          </a:p>
        </p:txBody>
      </p:sp>
      <p:sp>
        <p:nvSpPr>
          <p:cNvPr id="39" name="Text Placeholder 2">
            <a:extLst>
              <a:ext uri="{FF2B5EF4-FFF2-40B4-BE49-F238E27FC236}">
                <a16:creationId xmlns:a16="http://schemas.microsoft.com/office/drawing/2014/main" id="{BAFC6655-6140-469E-FCCB-8DB3816C4398}"/>
              </a:ext>
            </a:extLst>
          </p:cNvPr>
          <p:cNvSpPr txBox="1">
            <a:spLocks/>
          </p:cNvSpPr>
          <p:nvPr/>
        </p:nvSpPr>
        <p:spPr>
          <a:xfrm>
            <a:off x="381092" y="1830494"/>
            <a:ext cx="10296433" cy="726353"/>
          </a:xfrm>
          <a:prstGeom prst="rect">
            <a:avLst/>
          </a:prstGeom>
        </p:spPr>
        <p:txBody>
          <a:bodyPr vert="horz" wrap="square" lIns="0" tIns="0" rIns="0" bIns="0" rtlCol="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latin typeface="Quattrocento Sans" panose="020B0502050000020003" pitchFamily="34" charset="0"/>
              </a:rPr>
              <a:t>In GitHub Actions, what is the primary function of the 'steps' component within a job?</a:t>
            </a:r>
          </a:p>
        </p:txBody>
      </p:sp>
      <p:sp>
        <p:nvSpPr>
          <p:cNvPr id="3" name="TextBox 2">
            <a:extLst>
              <a:ext uri="{FF2B5EF4-FFF2-40B4-BE49-F238E27FC236}">
                <a16:creationId xmlns:a16="http://schemas.microsoft.com/office/drawing/2014/main" id="{40151F81-C575-5308-8B99-1E7BA806D325}"/>
              </a:ext>
            </a:extLst>
          </p:cNvPr>
          <p:cNvSpPr txBox="1"/>
          <p:nvPr/>
        </p:nvSpPr>
        <p:spPr>
          <a:xfrm>
            <a:off x="381092" y="2226807"/>
            <a:ext cx="8943975" cy="1508105"/>
          </a:xfrm>
          <a:prstGeom prst="rect">
            <a:avLst/>
          </a:prstGeom>
          <a:noFill/>
        </p:spPr>
        <p:txBody>
          <a:bodyPr wrap="square" rtlCol="0">
            <a:spAutoFit/>
          </a:bodyPr>
          <a:lstStyle/>
          <a:p>
            <a:pPr marL="342900" indent="-342900">
              <a:buFont typeface="+mj-lt"/>
              <a:buAutoNum type="alphaLcParenR"/>
            </a:pPr>
            <a:endParaRPr lang="en-US" dirty="0">
              <a:latin typeface="Quattrocento Sans" panose="020B0502050000020003" pitchFamily="34" charset="0"/>
            </a:endParaRPr>
          </a:p>
          <a:p>
            <a:pPr marL="342900" indent="-342900">
              <a:spcAft>
                <a:spcPts val="1200"/>
              </a:spcAft>
              <a:buFont typeface="+mj-lt"/>
              <a:buAutoNum type="alphaLcParenR"/>
            </a:pPr>
            <a:r>
              <a:rPr lang="en-US" dirty="0">
                <a:latin typeface="Quattrocento Sans" panose="020B0502050000020003" pitchFamily="34" charset="0"/>
              </a:rPr>
              <a:t>To define the sequence of actions to be executed</a:t>
            </a:r>
          </a:p>
          <a:p>
            <a:pPr marL="342900" indent="-342900">
              <a:spcAft>
                <a:spcPts val="1200"/>
              </a:spcAft>
              <a:buFont typeface="+mj-lt"/>
              <a:buAutoNum type="alphaLcParenR"/>
            </a:pPr>
            <a:r>
              <a:rPr lang="en-US" dirty="0">
                <a:latin typeface="Quattrocento Sans" panose="020B0502050000020003" pitchFamily="34" charset="0"/>
              </a:rPr>
              <a:t>To specify the environment where the job will run</a:t>
            </a:r>
          </a:p>
          <a:p>
            <a:pPr marL="342900" indent="-342900">
              <a:spcAft>
                <a:spcPts val="1200"/>
              </a:spcAft>
              <a:buFont typeface="+mj-lt"/>
              <a:buAutoNum type="alphaLcParenR"/>
            </a:pPr>
            <a:r>
              <a:rPr lang="en-US" dirty="0">
                <a:latin typeface="Quattrocento Sans" panose="020B0502050000020003" pitchFamily="34" charset="0"/>
              </a:rPr>
              <a:t>To outline the trigger events for the workflow</a:t>
            </a:r>
          </a:p>
        </p:txBody>
      </p:sp>
      <p:sp>
        <p:nvSpPr>
          <p:cNvPr id="4" name="Footer Placeholder 10">
            <a:extLst>
              <a:ext uri="{FF2B5EF4-FFF2-40B4-BE49-F238E27FC236}">
                <a16:creationId xmlns:a16="http://schemas.microsoft.com/office/drawing/2014/main" id="{9E141180-7BEE-FBE5-10C0-72DA5FCEA5E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67">
              <a:defRPr/>
            </a:pPr>
            <a:r>
              <a:rPr lang="en-US">
                <a:solidFill>
                  <a:srgbClr val="000000"/>
                </a:solidFill>
              </a:rPr>
              <a:t>© Copyright Microsoft Corporation. All rights reserved.</a:t>
            </a:r>
          </a:p>
        </p:txBody>
      </p:sp>
      <p:sp>
        <p:nvSpPr>
          <p:cNvPr id="6" name="TextBox 5">
            <a:extLst>
              <a:ext uri="{FF2B5EF4-FFF2-40B4-BE49-F238E27FC236}">
                <a16:creationId xmlns:a16="http://schemas.microsoft.com/office/drawing/2014/main" id="{920CBED3-52C0-9B80-22DF-C7162F3210ED}"/>
              </a:ext>
            </a:extLst>
          </p:cNvPr>
          <p:cNvSpPr txBox="1"/>
          <p:nvPr/>
        </p:nvSpPr>
        <p:spPr>
          <a:xfrm>
            <a:off x="10938072" y="447532"/>
            <a:ext cx="872836" cy="369332"/>
          </a:xfrm>
          <a:prstGeom prst="rect">
            <a:avLst/>
          </a:prstGeom>
          <a:noFill/>
        </p:spPr>
        <p:txBody>
          <a:bodyPr wrap="square" rtlCol="0">
            <a:spAutoFit/>
          </a:bodyPr>
          <a:lstStyle/>
          <a:p>
            <a:r>
              <a:rPr lang="en-US" dirty="0"/>
              <a:t>9 of 9</a:t>
            </a:r>
          </a:p>
        </p:txBody>
      </p:sp>
    </p:spTree>
    <p:extLst>
      <p:ext uri="{BB962C8B-B14F-4D97-AF65-F5344CB8AC3E}">
        <p14:creationId xmlns:p14="http://schemas.microsoft.com/office/powerpoint/2010/main" val="3297318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BC09F-F1BC-B030-ABA5-CCC4CB439AB9}"/>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3D65ACD8-A3C0-1947-EE3F-EB8082717C0F}"/>
              </a:ext>
            </a:extLst>
          </p:cNvPr>
          <p:cNvSpPr>
            <a:spLocks noGrp="1"/>
          </p:cNvSpPr>
          <p:nvPr>
            <p:ph type="title"/>
          </p:nvPr>
        </p:nvSpPr>
        <p:spPr>
          <a:xfrm>
            <a:off x="588262" y="389165"/>
            <a:ext cx="8193024" cy="492443"/>
          </a:xfrm>
        </p:spPr>
        <p:txBody>
          <a:bodyPr>
            <a:normAutofit fontScale="90000"/>
          </a:bodyPr>
          <a:lstStyle/>
          <a:p>
            <a:r>
              <a:rPr lang="en-US" sz="3200" dirty="0">
                <a:latin typeface="Quattrocento Sans" panose="020B0502050000020003" pitchFamily="34" charset="0"/>
              </a:rPr>
              <a:t>Summary</a:t>
            </a:r>
          </a:p>
        </p:txBody>
      </p:sp>
      <p:sp>
        <p:nvSpPr>
          <p:cNvPr id="3" name="TextBox 2">
            <a:extLst>
              <a:ext uri="{FF2B5EF4-FFF2-40B4-BE49-F238E27FC236}">
                <a16:creationId xmlns:a16="http://schemas.microsoft.com/office/drawing/2014/main" id="{0E530E54-35F6-015B-2DB1-C388AC6F72E2}"/>
              </a:ext>
            </a:extLst>
          </p:cNvPr>
          <p:cNvSpPr txBox="1"/>
          <p:nvPr/>
        </p:nvSpPr>
        <p:spPr>
          <a:xfrm>
            <a:off x="588262" y="940256"/>
            <a:ext cx="11015476" cy="4154984"/>
          </a:xfrm>
          <a:prstGeom prst="rect">
            <a:avLst/>
          </a:prstGeom>
          <a:noFill/>
        </p:spPr>
        <p:txBody>
          <a:bodyPr wrap="square">
            <a:spAutoFit/>
          </a:bodyPr>
          <a:lstStyle/>
          <a:p>
            <a:pPr algn="l">
              <a:spcAft>
                <a:spcPts val="1200"/>
              </a:spcAft>
            </a:pPr>
            <a:r>
              <a:rPr lang="en-US" sz="2000" b="0" i="0" dirty="0">
                <a:solidFill>
                  <a:srgbClr val="161616"/>
                </a:solidFill>
                <a:effectLst/>
                <a:latin typeface="Quattrocento Sans" panose="020B0502050000020003" pitchFamily="34" charset="0"/>
              </a:rPr>
              <a:t>In this module, you learned about GitHub Actions and how to use them in a workflow.</a:t>
            </a:r>
          </a:p>
          <a:p>
            <a:pPr algn="l">
              <a:spcAft>
                <a:spcPts val="1200"/>
              </a:spcAft>
            </a:pPr>
            <a:r>
              <a:rPr lang="en-US" sz="2000" b="0" i="0" dirty="0">
                <a:solidFill>
                  <a:srgbClr val="161616"/>
                </a:solidFill>
                <a:effectLst/>
                <a:latin typeface="Quattrocento Sans" panose="020B0502050000020003" pitchFamily="34" charset="0"/>
              </a:rPr>
              <a:t>You can now:</a:t>
            </a:r>
          </a:p>
          <a:p>
            <a:pPr marL="342900" indent="-342900" algn="l">
              <a:spcAft>
                <a:spcPts val="1200"/>
              </a:spcAft>
              <a:buFont typeface="Arial" panose="020B0604020202020204" pitchFamily="34" charset="0"/>
              <a:buChar char="•"/>
            </a:pPr>
            <a:r>
              <a:rPr lang="en-US" sz="2000" b="0" i="0" dirty="0">
                <a:solidFill>
                  <a:srgbClr val="161616"/>
                </a:solidFill>
                <a:effectLst/>
                <a:latin typeface="Quattrocento Sans" panose="020B0502050000020003" pitchFamily="34" charset="0"/>
              </a:rPr>
              <a:t>Describe GitHub Actions, the types of actions, and where to find them.</a:t>
            </a:r>
          </a:p>
          <a:p>
            <a:pPr marL="342900" indent="-342900" algn="l">
              <a:spcAft>
                <a:spcPts val="1200"/>
              </a:spcAft>
              <a:buFont typeface="Arial" panose="020B0604020202020204" pitchFamily="34" charset="0"/>
              <a:buChar char="•"/>
            </a:pPr>
            <a:r>
              <a:rPr lang="en-US" sz="2000" b="0" i="0" dirty="0">
                <a:solidFill>
                  <a:srgbClr val="161616"/>
                </a:solidFill>
                <a:effectLst/>
                <a:latin typeface="Quattrocento Sans" panose="020B0502050000020003" pitchFamily="34" charset="0"/>
              </a:rPr>
              <a:t>Use GitHub Actions workflows to plan the automation of your software-development lifecycle.</a:t>
            </a:r>
          </a:p>
          <a:p>
            <a:pPr marL="342900" indent="-342900" algn="l">
              <a:spcAft>
                <a:spcPts val="2400"/>
              </a:spcAft>
              <a:buFont typeface="Arial" panose="020B0604020202020204" pitchFamily="34" charset="0"/>
              <a:buChar char="•"/>
            </a:pPr>
            <a:r>
              <a:rPr lang="en-US" sz="2000" b="0" i="0" dirty="0">
                <a:solidFill>
                  <a:srgbClr val="161616"/>
                </a:solidFill>
                <a:effectLst/>
                <a:latin typeface="Quattrocento Sans" panose="020B0502050000020003" pitchFamily="34" charset="0"/>
              </a:rPr>
              <a:t>Create a container action, and have it run in a workflow triggered by a push event to your GitHub repository.</a:t>
            </a:r>
          </a:p>
          <a:p>
            <a:pPr algn="l"/>
            <a:r>
              <a:rPr lang="en-US" sz="2400" b="0" i="0" dirty="0">
                <a:solidFill>
                  <a:srgbClr val="161616"/>
                </a:solidFill>
                <a:effectLst/>
                <a:latin typeface="Quattrocento Sans" panose="020B0502050000020003" pitchFamily="34" charset="0"/>
              </a:rPr>
              <a:t>Next Steps</a:t>
            </a:r>
          </a:p>
          <a:p>
            <a:pPr algn="l"/>
            <a:r>
              <a:rPr lang="en-US" sz="2000" b="0" i="0" dirty="0">
                <a:solidFill>
                  <a:srgbClr val="161616"/>
                </a:solidFill>
                <a:effectLst/>
                <a:latin typeface="Quattrocento Sans" panose="020B0502050000020003" pitchFamily="34" charset="0"/>
              </a:rPr>
              <a:t>To continue your journey with GitHub Actions, check out the next two modules on this learning path. You expand on what you learned here, and use GitHub Actions in continuous integration, continuous delivery, and implementing infrastructure as code.</a:t>
            </a:r>
          </a:p>
        </p:txBody>
      </p:sp>
      <p:sp>
        <p:nvSpPr>
          <p:cNvPr id="2" name="Footer Placeholder 1">
            <a:extLst>
              <a:ext uri="{FF2B5EF4-FFF2-40B4-BE49-F238E27FC236}">
                <a16:creationId xmlns:a16="http://schemas.microsoft.com/office/drawing/2014/main" id="{96990959-42CE-847B-5D1A-63970468F3A6}"/>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endParaRPr lang="en-US" dirty="0">
              <a:solidFill>
                <a:srgbClr val="000000"/>
              </a:solidFill>
            </a:endParaRPr>
          </a:p>
        </p:txBody>
      </p:sp>
    </p:spTree>
    <p:extLst>
      <p:ext uri="{BB962C8B-B14F-4D97-AF65-F5344CB8AC3E}">
        <p14:creationId xmlns:p14="http://schemas.microsoft.com/office/powerpoint/2010/main" val="809434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15520</Words>
  <Application>Microsoft Office PowerPoint</Application>
  <PresentationFormat>Widescreen</PresentationFormat>
  <Paragraphs>1175</Paragraphs>
  <Slides>50</Slides>
  <Notes>50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50</vt:i4>
      </vt:variant>
    </vt:vector>
  </HeadingPairs>
  <TitlesOfParts>
    <vt:vector size="59" baseType="lpstr">
      <vt:lpstr>Aptos</vt:lpstr>
      <vt:lpstr>Aptos Display</vt:lpstr>
      <vt:lpstr>Arial</vt:lpstr>
      <vt:lpstr>Courier New</vt:lpstr>
      <vt:lpstr>Quattrocento Sans</vt:lpstr>
      <vt:lpstr>Roboto Mono</vt:lpstr>
      <vt:lpstr>Segoe UI</vt:lpstr>
      <vt:lpstr>Wingdings</vt:lpstr>
      <vt:lpstr>Office Theme</vt:lpstr>
      <vt:lpstr>GH-200: Automate your workflow with GitHub Actions Part 1 of 2</vt:lpstr>
      <vt:lpstr>Module 1: Automate development tasks by using GitHub Actions</vt:lpstr>
      <vt:lpstr>Introduction</vt:lpstr>
      <vt:lpstr>How does GitHub Actions automate development tasks?</vt:lpstr>
      <vt:lpstr>Use workflow automation to decrease development time</vt:lpstr>
      <vt:lpstr>What is GitHub Actions?</vt:lpstr>
      <vt:lpstr>Where can you find GitHub Actions?</vt:lpstr>
      <vt:lpstr>Where can you find GitHub Actions? (continued)</vt:lpstr>
      <vt:lpstr>Using open-source GitHub Actions</vt:lpstr>
      <vt:lpstr>Types of GitHub actions</vt:lpstr>
      <vt:lpstr>What is a GitHub Actions workflow?</vt:lpstr>
      <vt:lpstr>What is a GitHub Actions workflow? (continued)</vt:lpstr>
      <vt:lpstr>A workflow must have at least one job</vt:lpstr>
      <vt:lpstr>GitHub-hosted versus self-hosted runners</vt:lpstr>
      <vt:lpstr>GitHub Actions may have usage limits</vt:lpstr>
      <vt:lpstr>GitHub hosted larger runners</vt:lpstr>
      <vt:lpstr>GitHub hosted larger runners (continued)</vt:lpstr>
      <vt:lpstr>Managing larger runners</vt:lpstr>
      <vt:lpstr>Identify the components of GitHub Actions</vt:lpstr>
      <vt:lpstr>The components of GitHub Actions</vt:lpstr>
      <vt:lpstr>The components of GitHub Actions</vt:lpstr>
      <vt:lpstr>Configure workflows to run for scheduled events</vt:lpstr>
      <vt:lpstr>Scheduled Events Examples</vt:lpstr>
      <vt:lpstr>PowerPoint Presentation</vt:lpstr>
      <vt:lpstr>PowerPoint Presentation</vt:lpstr>
      <vt:lpstr>Configure workflows to run for manual events</vt:lpstr>
      <vt:lpstr>PowerPoint Presentation</vt:lpstr>
      <vt:lpstr>Example workflow that listens to repository_dispatch</vt:lpstr>
      <vt:lpstr>Triggering the event via API</vt:lpstr>
      <vt:lpstr>Payload structure</vt:lpstr>
      <vt:lpstr>Repository_dispatch parameters breakdown</vt:lpstr>
      <vt:lpstr>Example payload breakdown</vt:lpstr>
      <vt:lpstr>Use conditional keywords</vt:lpstr>
      <vt:lpstr>Disable and delete workflows</vt:lpstr>
      <vt:lpstr>Disable and delete workflows (continued)</vt:lpstr>
      <vt:lpstr>Use an organization's templated workflow</vt:lpstr>
      <vt:lpstr>Use specific versions of an action</vt:lpstr>
      <vt:lpstr>Exercise - Create and run a basic GitHub Actions workflow</vt:lpstr>
      <vt:lpstr>Exercise - Create and run a basic GitHub Actions workflow (continued)</vt:lpstr>
      <vt:lpstr>Knowledge Checks</vt:lpstr>
      <vt:lpstr>Knowledge Check: Automate development tasks by using GitHub Actions </vt:lpstr>
      <vt:lpstr>Knowledge Check: Automate development tasks by using GitHub Actions </vt:lpstr>
      <vt:lpstr>Knowledge Check: Automate development tasks by using GitHub Actions </vt:lpstr>
      <vt:lpstr>Knowledge Check: Automate development tasks by using GitHub Actions </vt:lpstr>
      <vt:lpstr>Knowledge Check: Automate development tasks by using GitHub Actions </vt:lpstr>
      <vt:lpstr>Knowledge Check: Automate development tasks by using GitHub Actions </vt:lpstr>
      <vt:lpstr>Knowledge Check: Automate development tasks by using GitHub Actions </vt:lpstr>
      <vt:lpstr>Knowledge Check: Automate development tasks by using GitHub Actions </vt:lpstr>
      <vt:lpstr>Knowledge Check: Automate development tasks by using GitHub Actions </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2025-06-12T13:46:28Z</dcterms:created>
  <dcterms:modified xsi:type="dcterms:W3CDTF">2025-06-12T13:46:41Z</dcterms:modified>
</cp:coreProperties>
</file>
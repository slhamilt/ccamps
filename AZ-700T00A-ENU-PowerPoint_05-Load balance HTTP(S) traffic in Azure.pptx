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6" r:id="rId5"/>
  </p:sldMasterIdLst>
  <p:notesMasterIdLst>
    <p:notesMasterId r:id="rId44"/>
  </p:notesMasterIdLst>
  <p:sldIdLst>
    <p:sldId id="1746" r:id="rId6"/>
    <p:sldId id="1761" r:id="rId7"/>
    <p:sldId id="2076138147" r:id="rId8"/>
    <p:sldId id="1781" r:id="rId9"/>
    <p:sldId id="2488" r:id="rId10"/>
    <p:sldId id="2519" r:id="rId11"/>
    <p:sldId id="2076138157" r:id="rId12"/>
    <p:sldId id="2076138172" r:id="rId13"/>
    <p:sldId id="2076138148" r:id="rId14"/>
    <p:sldId id="2076138158" r:id="rId15"/>
    <p:sldId id="1782" r:id="rId16"/>
    <p:sldId id="2521" r:id="rId17"/>
    <p:sldId id="2076138173" r:id="rId18"/>
    <p:sldId id="2076138174" r:id="rId19"/>
    <p:sldId id="2076138175" r:id="rId20"/>
    <p:sldId id="2076138176" r:id="rId21"/>
    <p:sldId id="2076138178" r:id="rId22"/>
    <p:sldId id="2076138179" r:id="rId23"/>
    <p:sldId id="2076138185" r:id="rId24"/>
    <p:sldId id="2076138161" r:id="rId25"/>
    <p:sldId id="2076138160" r:id="rId26"/>
    <p:sldId id="2076138162" r:id="rId27"/>
    <p:sldId id="2076138163" r:id="rId28"/>
    <p:sldId id="1865" r:id="rId29"/>
    <p:sldId id="2076138187" r:id="rId30"/>
    <p:sldId id="2076138164" r:id="rId31"/>
    <p:sldId id="2076138180" r:id="rId32"/>
    <p:sldId id="2076138165" r:id="rId33"/>
    <p:sldId id="2076138168" r:id="rId34"/>
    <p:sldId id="2076138184" r:id="rId35"/>
    <p:sldId id="2076138181" r:id="rId36"/>
    <p:sldId id="2076138182" r:id="rId37"/>
    <p:sldId id="2076138186" r:id="rId38"/>
    <p:sldId id="2241" r:id="rId39"/>
    <p:sldId id="2076138169" r:id="rId40"/>
    <p:sldId id="2076138167" r:id="rId41"/>
    <p:sldId id="2076138170" r:id="rId42"/>
    <p:sldId id="2076138171"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38527-8D5C-CB09-2F5E-EA8CC4B339B4}" name="Dieter Rauscher" initials="DR" userId="S::dirausch@microsoft.com::b2d00f3c-a835-495f-9ea3-b5a0ba5013b9" providerId="AD"/>
  <p188:author id="{AE79C155-DF3C-0EFE-49F1-65E667979CC4}" name="Jill Leary" initials="JL" userId="S::jileary@microsoft.com::5a04458c-cc82-4fe6-9cc3-6fbb3d3c426f" providerId="AD"/>
  <p188:author id="{9096F66B-FFF3-8A49-5E05-E5DA942D89B5}" name="Kyle Williams" initials="KW" userId="S::kywilli@microsoft.com::a0b5974d-b5a1-4c35-b8fb-c3ea27346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4" autoAdjust="0"/>
    <p:restoredTop sz="67685" autoAdjust="0"/>
  </p:normalViewPr>
  <p:slideViewPr>
    <p:cSldViewPr snapToGrid="0">
      <p:cViewPr varScale="1">
        <p:scale>
          <a:sx n="68" d="100"/>
          <a:sy n="68" d="100"/>
        </p:scale>
        <p:origin x="28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92D4A3-6A32-40F4-A4E0-ADE4D4ADFDE7}" type="datetimeFigureOut">
              <a:rPr lang="en-US" smtClean="0"/>
              <a:t>4/26/2022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D71946-7F25-4DC3-8178-A8EB9E502608}" type="slidenum">
              <a:rPr lang="en-US" smtClean="0"/>
              <a:t>‹#›</a:t>
            </a:fld>
            <a:endParaRPr lang="en-US"/>
          </a:p>
        </p:txBody>
      </p:sp>
    </p:spTree>
    <p:extLst>
      <p:ext uri="{BB962C8B-B14F-4D97-AF65-F5344CB8AC3E}">
        <p14:creationId xmlns:p14="http://schemas.microsoft.com/office/powerpoint/2010/main" val="2505679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contoso.com/"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fabrikam.com/"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ocs.microsoft.com/en-us/azure/azure-resource-manager/management/azure-subscription-service-limits?toc=/azure/application-gateway/toc.json#application-gateway-limit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microsoft.com/en-us/azure/application-gateway/quick-create-porta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github.com/MicrosoftLearning/AZ-700-Designing-and-Implementing-Microsoft-Azure-Networking-Solutions/blob/master/Exercises/Module%2005/Module%2005%20Load%20balancing%20HTTP(S)%20traffic%20in%20Azure/4-exercise-deploy-azure-application-gateway.md"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ocs.microsoft.com/en-us/azure/frontdoor/front-door-routing-methods" TargetMode="External"/><Relationship Id="rId2" Type="http://schemas.openxmlformats.org/officeDocument/2006/relationships/slide" Target="../slides/slide26.xml"/><Relationship Id="rId1" Type="http://schemas.openxmlformats.org/officeDocument/2006/relationships/notesMaster" Target="../notesMasters/notesMaster1.xml"/><Relationship Id="rId5" Type="http://schemas.openxmlformats.org/officeDocument/2006/relationships/hyperlink" Target="https://docs.microsoft.com/en-us/azure/traffic-manager/traffic-manager-overview" TargetMode="External"/><Relationship Id="rId4" Type="http://schemas.openxmlformats.org/officeDocument/2006/relationships/hyperlink" Target="https://docs.microsoft.com/en-us/azure/frontdoor/front-door-health-probes"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docs.microsoft.com/en-us/azure/frontdoor/standard-premium/tier-comparison#feature-comparison-between-tiers"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docs.microsoft.com/en-us/azure/frontdoor/front-door-how-to-redirect-https#create-http-to-https-redirect-rule"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docs.microsoft.com/en-us/azure/frontdoor/quickstart-create-front-door"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github.com/MicrosoftLearning/AZ-700-Designing-and-Implementing-Microsoft-Azure-Networking-Solutions/blob/master/Exercises/Module%2005/Module%2005%20Load%20balancing%20HTTP(S)%20traffic%20in%20Azure/6-exercise-create-front-door-for-highly-available-web-application-using-azure-port.md"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buFont typeface="Arial" panose="020B0604020202020204" pitchFamily="34" charset="0"/>
              <a:buChar char="•"/>
            </a:pPr>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257945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Design and Implement Routing (25–30%) </a:t>
            </a:r>
          </a:p>
          <a:p>
            <a:endParaRPr lang="en-US" altLang="zh-CN" dirty="0"/>
          </a:p>
          <a:p>
            <a:endParaRPr lang="en-US" altLang="zh-CN" dirty="0"/>
          </a:p>
          <a:p>
            <a:r>
              <a:rPr lang="en-US" altLang="zh-CN" dirty="0"/>
              <a:t>Design and implement Azure Application Gateway</a:t>
            </a:r>
          </a:p>
          <a:p>
            <a:endParaRPr lang="en-US" altLang="zh-CN" dirty="0"/>
          </a:p>
          <a:p>
            <a:r>
              <a:rPr lang="en-US" altLang="zh-CN" dirty="0"/>
              <a:t> recommend Azure Application Gateway deployment options </a:t>
            </a:r>
          </a:p>
          <a:p>
            <a:r>
              <a:rPr lang="en-US" altLang="zh-CN" dirty="0"/>
              <a:t> choose between manual and autoscale </a:t>
            </a:r>
          </a:p>
          <a:p>
            <a:r>
              <a:rPr lang="en-US" altLang="zh-CN" dirty="0"/>
              <a:t> create a back-end pool </a:t>
            </a:r>
          </a:p>
          <a:p>
            <a:r>
              <a:rPr lang="en-US" altLang="zh-CN" dirty="0"/>
              <a:t> configure health probes </a:t>
            </a:r>
          </a:p>
          <a:p>
            <a:r>
              <a:rPr lang="en-US" altLang="zh-CN" dirty="0"/>
              <a:t> configure listeners</a:t>
            </a:r>
          </a:p>
          <a:p>
            <a:r>
              <a:rPr lang="en-US" altLang="zh-CN" dirty="0"/>
              <a:t> configure routing rules </a:t>
            </a:r>
          </a:p>
          <a:p>
            <a:r>
              <a:rPr lang="en-US" altLang="zh-CN" dirty="0"/>
              <a:t> configure HTTP settings </a:t>
            </a:r>
          </a:p>
          <a:p>
            <a:r>
              <a:rPr lang="en-US" altLang="zh-CN" dirty="0"/>
              <a:t> configure Transport Layer Security (TLS)</a:t>
            </a:r>
          </a:p>
          <a:p>
            <a:r>
              <a:rPr lang="en-US" altLang="zh-CN" dirty="0"/>
              <a:t> configure rewrite policies</a:t>
            </a:r>
          </a:p>
          <a:p>
            <a:endParaRPr lang="en-US" altLang="zh-CN" dirty="0"/>
          </a:p>
          <a:p>
            <a:r>
              <a:rPr lang="en-US" altLang="zh-CN" dirty="0"/>
              <a:t>Implement Azure Front Door </a:t>
            </a:r>
          </a:p>
          <a:p>
            <a:endParaRPr lang="en-US" altLang="zh-CN" dirty="0"/>
          </a:p>
          <a:p>
            <a:r>
              <a:rPr lang="en-US" altLang="zh-CN" dirty="0"/>
              <a:t> choose an Azure Front Door SKU </a:t>
            </a:r>
          </a:p>
          <a:p>
            <a:r>
              <a:rPr lang="en-US" altLang="zh-CN" dirty="0"/>
              <a:t> configure health probes, including customization of HTTP response codes</a:t>
            </a:r>
          </a:p>
          <a:p>
            <a:r>
              <a:rPr lang="en-US" altLang="zh-CN" dirty="0"/>
              <a:t> configure SSL termination and end-to-end SSL encryption </a:t>
            </a:r>
          </a:p>
          <a:p>
            <a:r>
              <a:rPr lang="en-US" altLang="zh-CN" dirty="0"/>
              <a:t> configure multisite listeners </a:t>
            </a:r>
          </a:p>
          <a:p>
            <a:r>
              <a:rPr lang="en-US" altLang="zh-CN" dirty="0"/>
              <a:t> configure back-end targets </a:t>
            </a:r>
          </a:p>
          <a:p>
            <a:r>
              <a:rPr lang="en-US" altLang="zh-CN" dirty="0"/>
              <a:t> configure routing rules, including redirection rules </a:t>
            </a:r>
          </a:p>
          <a:p>
            <a:endParaRPr lang="en-US" altLang="zh-CN"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4/26/2022 11:41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80146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4/26/2022 11:41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87594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Application Gateway configuration overview - https://docs.microsoft.com/en-us/azure/application-gateway/configuration-overview</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Support for the HTTP, HTTPS, HTTP/2 and WebSocket protocols.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 web application firewall to protect against web application vulnerabilities.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End-to-end request encryption.</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Autoscaling, to dynamically adjust capacity as your web traffic load change.</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Redirection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Redirection can be used to another site, or from HTTP to HTTPS.</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Rewrite HTTP headers</a:t>
            </a:r>
            <a:r>
              <a:rPr lang="en-US" sz="1800" dirty="0">
                <a:effectLst/>
                <a:latin typeface="Calibri" panose="020F0502020204030204" pitchFamily="34" charset="0"/>
                <a:ea typeface="Calibri" panose="020F0502020204030204" pitchFamily="34" charset="0"/>
                <a:cs typeface="Times New Roman" panose="02020603050405020304" pitchFamily="18" charset="0"/>
              </a:rPr>
              <a:t>: HTTP headers allow the client and server to pass parameter information with the request or the response.</a:t>
            </a:r>
          </a:p>
          <a:p>
            <a:pPr marL="342900" marR="0" lvl="0" indent="-342900">
              <a:spcBef>
                <a:spcPts val="0"/>
              </a:spcBef>
              <a:spcAft>
                <a:spcPts val="100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Custom error pages:</a:t>
            </a:r>
            <a:r>
              <a:rPr lang="en-US" sz="1800" dirty="0">
                <a:effectLst/>
                <a:latin typeface="Calibri" panose="020F0502020204030204" pitchFamily="34" charset="0"/>
                <a:ea typeface="Calibri" panose="020F0502020204030204" pitchFamily="34" charset="0"/>
                <a:cs typeface="Times New Roman" panose="02020603050405020304" pitchFamily="18" charset="0"/>
              </a:rPr>
              <a:t> Application Gateway allows you to create custom error pages instead of displaying default error pages. You can use your own branding and layout using a custom error page.</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5</a:t>
            </a:fld>
            <a:endParaRPr lang="en-US" dirty="0"/>
          </a:p>
        </p:txBody>
      </p:sp>
    </p:spTree>
    <p:extLst>
      <p:ext uri="{BB962C8B-B14F-4D97-AF65-F5344CB8AC3E}">
        <p14:creationId xmlns:p14="http://schemas.microsoft.com/office/powerpoint/2010/main" val="3899503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QuickStart: Direct web traffic with Azure Application Gateway - Azure portal - https://docs.microsoft.com/en-us/azure/application-gateway/quick-create-portal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Path-based routing sends requests with different URL paths different pools of back-end servers. For example, you could direct requests with the path /video/* to a back-end pool containing servers that are optimized to handle video streaming, and direct /images/* requests to a pool of servers that handle image retrieval.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Multiple site routing configures more than one web application on the same application gateway instance. In a multi-site configuration, you register multiple DNS names (CNAMEs) for the IP address of the Application Gateway, specifying the name of each site. Application Gateway uses separate listeners to wait for requests for each site. Each listener passes the request to a different rule, which can route the requests to servers in a different back-end pool. For example, you could direct all requests for </a:t>
            </a:r>
            <a:r>
              <a:rPr lang="en-US" sz="1800" u="sng"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hlinkClick r:id="rId3"/>
              </a:rPr>
              <a:t>http://contoso.com</a:t>
            </a:r>
            <a:r>
              <a:rPr lang="en-US" sz="1800" dirty="0">
                <a:effectLst/>
                <a:latin typeface="Calibri" panose="020F0502020204030204" pitchFamily="34" charset="0"/>
                <a:ea typeface="Calibri" panose="020F0502020204030204" pitchFamily="34" charset="0"/>
                <a:cs typeface="Times New Roman" panose="02020603050405020304" pitchFamily="18" charset="0"/>
              </a:rPr>
              <a:t>  to servers in one back-end pool, and requests for </a:t>
            </a:r>
            <a:r>
              <a:rPr lang="en-US" sz="1800" u="sng"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hlinkClick r:id="rId4"/>
              </a:rPr>
              <a:t>http://fabrikam.com</a:t>
            </a:r>
            <a:r>
              <a:rPr lang="en-US" sz="1800" dirty="0">
                <a:effectLst/>
                <a:latin typeface="Calibri" panose="020F0502020204030204" pitchFamily="34" charset="0"/>
                <a:ea typeface="Calibri" panose="020F0502020204030204" pitchFamily="34" charset="0"/>
                <a:cs typeface="Times New Roman" panose="02020603050405020304" pitchFamily="18" charset="0"/>
              </a:rPr>
              <a:t>  to another back-end pool. The following diagram shows this configuration.</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1500383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2800" dirty="0">
                <a:hlinkClick r:id="rId3"/>
              </a:rPr>
              <a:t>Azure subscription limits and quotas - Azure Resource Manager | Microsoft Docs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Application Gateway is available under a Standard_v2 SKU. Web Application Firewall (WAF) is available under a WAF_v2 SKU. The v2 SKU offers performance enhancements and adds support for critical new features like autoscaling, zone redundancy, and support for static VIPs. Existing features under the Standard and WAF SKU continue to be supported in the new v2 SKU. </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new v2 SKU includes the following enhancements:</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Autoscaling</a:t>
            </a:r>
            <a:r>
              <a:rPr lang="en-US" sz="1800" dirty="0">
                <a:effectLst/>
                <a:latin typeface="Calibri" panose="020F0502020204030204" pitchFamily="34" charset="0"/>
                <a:ea typeface="Calibri" panose="020F0502020204030204" pitchFamily="34" charset="0"/>
                <a:cs typeface="Times New Roman" panose="02020603050405020304" pitchFamily="18" charset="0"/>
              </a:rPr>
              <a:t>: Application Gateway or WAF deployments under the autoscaling SKU can scale out or in based on changing traffic load patterns. Autoscaling also removes the requirement to choose a deployment size or instance count during provisioning. This SKU offers true elasticity. In the Standard_v2 and WAF_v2 SKU, Application Gateway can operate both in fixed capacity (autoscaling disabled) and in autoscaling enabled mode. Fixed capacity mode is useful for scenarios with consistent and predictable workloads. Autoscaling mode is beneficial in applications that see variance in application traffic.</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Zone redundancy</a:t>
            </a:r>
            <a:r>
              <a:rPr lang="en-US" sz="1800" dirty="0">
                <a:effectLst/>
                <a:latin typeface="Calibri" panose="020F0502020204030204" pitchFamily="34" charset="0"/>
                <a:ea typeface="Calibri" panose="020F0502020204030204" pitchFamily="34" charset="0"/>
                <a:cs typeface="Times New Roman" panose="02020603050405020304" pitchFamily="18" charset="0"/>
              </a:rPr>
              <a:t>: An Application Gateway or WAF deployment can span multiple Availability Zones, removing the need to provision separate Application Gateway instances in each zone with a Traffic Manager. You can choose a single zone or multiple zones where Application Gateway instances are deployed, which makes it more resilient to zone failure. The backend pool for applications can be similarly distributed across availability zones.</a:t>
            </a:r>
          </a:p>
          <a:p>
            <a:pPr marL="0" marR="0">
              <a:spcBef>
                <a:spcPts val="0"/>
              </a:spcBef>
              <a:spcAft>
                <a:spcPts val="1000"/>
              </a:spcAft>
            </a:pPr>
            <a:r>
              <a:rPr lang="en-US" sz="1800" dirty="0">
                <a:solidFill>
                  <a:srgbClr val="0070C0"/>
                </a:solidFill>
                <a:effectLst/>
                <a:latin typeface="Segoe UI Semibold" panose="020B0702040204020203" pitchFamily="34" charset="0"/>
                <a:ea typeface="Calibri" panose="020F0502020204030204" pitchFamily="34" charset="0"/>
                <a:cs typeface="Times New Roman" panose="02020603050405020304" pitchFamily="18" charset="0"/>
              </a:rPr>
              <a:t>Not all Azure regions support availability zones yet.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Static VIP</a:t>
            </a:r>
            <a:r>
              <a:rPr lang="en-US" sz="1800" dirty="0">
                <a:effectLst/>
                <a:latin typeface="Calibri" panose="020F0502020204030204" pitchFamily="34" charset="0"/>
                <a:ea typeface="Calibri" panose="020F0502020204030204" pitchFamily="34" charset="0"/>
                <a:cs typeface="Times New Roman" panose="02020603050405020304" pitchFamily="18" charset="0"/>
              </a:rPr>
              <a:t>: Application Gateway v2 SKU supports the static VIP type exclusively. This ensures that the VIP associated with the application gateway doesn't change for the lifecycle of the deployment, even after a restart. There isn't a static VIP in v1, so you must use the application gateway URL instead of the IP address for domain name routing to App Services via the application gateway.</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Header Rewrite</a:t>
            </a:r>
            <a:r>
              <a:rPr lang="en-US" sz="1800" dirty="0">
                <a:effectLst/>
                <a:latin typeface="Calibri" panose="020F0502020204030204" pitchFamily="34" charset="0"/>
                <a:ea typeface="Calibri" panose="020F0502020204030204" pitchFamily="34" charset="0"/>
                <a:cs typeface="Times New Roman" panose="02020603050405020304" pitchFamily="18" charset="0"/>
              </a:rPr>
              <a:t>: Application Gateway allows you to add, remove, or update HTTP request and response headers with v2 SKU. </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Key Vault Integration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Application Gateway v2 supports integration with Key Vault for server certificates that are attached to HTTPS enabled listeners. </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Azure Kubernetes Service Ingress Controller</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Application Gateway v2 Ingress Controller allows the Azure Application Gateway to be used as the ingress for an Azure Kubernetes Service (AKS) known as AKS Cluster. </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Performance enhancements</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v2 SKU offers up to 5X better TLS offload performance as compared to the Standard/WAF SKU.</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Faster deployment and update time:</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v2 SKU provides faster deployment and update time as compared to Standard/WAF SKU. This also includes WAF configuration changes.</a:t>
            </a:r>
          </a:p>
          <a:p>
            <a:endParaRPr lang="en-US" dirty="0"/>
          </a:p>
        </p:txBody>
      </p:sp>
      <p:sp>
        <p:nvSpPr>
          <p:cNvPr id="4" name="Slide Number Placeholder 3"/>
          <p:cNvSpPr>
            <a:spLocks noGrp="1"/>
          </p:cNvSpPr>
          <p:nvPr>
            <p:ph type="sldNum" sz="quarter" idx="5"/>
          </p:nvPr>
        </p:nvSpPr>
        <p:spPr/>
        <p:txBody>
          <a:bodyPr/>
          <a:lstStyle/>
          <a:p>
            <a:fld id="{7ED71946-7F25-4DC3-8178-A8EB9E502608}" type="slidenum">
              <a:rPr lang="en-US" smtClean="0"/>
              <a:t>7</a:t>
            </a:fld>
            <a:endParaRPr lang="en-US" dirty="0"/>
          </a:p>
        </p:txBody>
      </p:sp>
    </p:spTree>
    <p:extLst>
      <p:ext uri="{BB962C8B-B14F-4D97-AF65-F5344CB8AC3E}">
        <p14:creationId xmlns:p14="http://schemas.microsoft.com/office/powerpoint/2010/main" val="1313751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Azure Application Gateway consists of several components that you can configure in various ways for different scenarios. Let's review what components you need to consider before configuration:  </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Infrastructure</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Application Gateway infrastructure includes the virtual network, subnets, network security groups, and user defined routes. </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Front-end IP address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configure the application gateway to have a public IP address, a private IP address, or both. A public IP is required when you host a back end that clients must access over the Internet via an Internet-facing virtual IP (VIP).</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Listeners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 listener is a logical entity that checks for incoming connection requests by using the port, protocol, host, and IP address. When you configure the listener, you must enter values for these that match the corresponding values in the incoming request on the gateway.</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Request routing rules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When you create an application gateway by using the Azure portal, you create a default rule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rule1</a:t>
            </a:r>
            <a:r>
              <a:rPr lang="en-US" sz="1800" dirty="0">
                <a:effectLst/>
                <a:latin typeface="Calibri" panose="020F0502020204030204" pitchFamily="34" charset="0"/>
                <a:ea typeface="Calibri" panose="020F0502020204030204" pitchFamily="34" charset="0"/>
                <a:cs typeface="Times New Roman" panose="02020603050405020304" pitchFamily="18" charset="0"/>
              </a:rPr>
              <a:t>). This rule binds the default listener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appGatewayHttpListener</a:t>
            </a:r>
            <a:r>
              <a:rPr lang="en-US" sz="1800" dirty="0">
                <a:effectLst/>
                <a:latin typeface="Calibri" panose="020F0502020204030204" pitchFamily="34" charset="0"/>
                <a:ea typeface="Calibri" panose="020F0502020204030204" pitchFamily="34" charset="0"/>
                <a:cs typeface="Times New Roman" panose="02020603050405020304" pitchFamily="18" charset="0"/>
              </a:rPr>
              <a:t>) with the default back-end pool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appGatewayBackendPool</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the default back-end HTTP settings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appGatewayBackendHttpSettings</a:t>
            </a:r>
            <a:r>
              <a:rPr lang="en-US" sz="1800" dirty="0">
                <a:effectLst/>
                <a:latin typeface="Calibri" panose="020F0502020204030204" pitchFamily="34" charset="0"/>
                <a:ea typeface="Calibri" panose="020F0502020204030204" pitchFamily="34" charset="0"/>
                <a:cs typeface="Times New Roman" panose="02020603050405020304" pitchFamily="18" charset="0"/>
              </a:rPr>
              <a:t>). After you create the gateway, you can edit the settings of the default rule or create new rules.</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HTTP settings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application gateway routes traffic to the back-end servers by using the configuration that you specify here. After you create an HTTP setting, you must associate it with one or more request-routing rules.</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Back-end pool</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point a back-end pool to four types of backend members: a specific virtual machine, a virtual machine scale set, an IP address/FQDN, or an app service.</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After you create a back-end pool, you must associate it with one or more request-routing rules. You must also configure health probes for each back-end pool on your application gateway. When a request-routing rule condition is met, the application gateway forwards the traffic to the healthy servers (as determined by the health probes) in the corresponding back-end pool.</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Health probes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An application gateway monitors the health of all resources in its back end by default. But we strongly recommend that you create a custom probe for each back-end HTTP setting to get greater control over health monitoring. </a:t>
            </a:r>
          </a:p>
          <a:p>
            <a:endParaRPr lang="en-US" dirty="0"/>
          </a:p>
        </p:txBody>
      </p:sp>
      <p:sp>
        <p:nvSpPr>
          <p:cNvPr id="4" name="Slide Number Placeholder 3"/>
          <p:cNvSpPr>
            <a:spLocks noGrp="1"/>
          </p:cNvSpPr>
          <p:nvPr>
            <p:ph type="sldNum" sz="quarter" idx="5"/>
          </p:nvPr>
        </p:nvSpPr>
        <p:spPr/>
        <p:txBody>
          <a:bodyPr/>
          <a:lstStyle/>
          <a:p>
            <a:fld id="{7ED71946-7F25-4DC3-8178-A8EB9E502608}" type="slidenum">
              <a:rPr lang="en-US" smtClean="0"/>
              <a:t>8</a:t>
            </a:fld>
            <a:endParaRPr lang="en-US" dirty="0"/>
          </a:p>
        </p:txBody>
      </p:sp>
    </p:spTree>
    <p:extLst>
      <p:ext uri="{BB962C8B-B14F-4D97-AF65-F5344CB8AC3E}">
        <p14:creationId xmlns:p14="http://schemas.microsoft.com/office/powerpoint/2010/main" val="2046313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9</a:t>
            </a:fld>
            <a:endParaRPr lang="en-US" dirty="0"/>
          </a:p>
        </p:txBody>
      </p:sp>
    </p:spTree>
    <p:extLst>
      <p:ext uri="{BB962C8B-B14F-4D97-AF65-F5344CB8AC3E}">
        <p14:creationId xmlns:p14="http://schemas.microsoft.com/office/powerpoint/2010/main" val="2952623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4/26/2022 11:41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36126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Load balance your web service traffic with Application Gateway - https://docs.microsoft.com/learn/modules/load-balance-web-traffic-with-application-gateway/</a:t>
            </a:r>
          </a:p>
          <a:p>
            <a:endParaRPr lang="en-US" dirty="0"/>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Frontend configuration</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the Application Gateway v2 SKU, there must be a public frontend IP configuration. You can still have both a Public and a Private frontend IP configuration, but Private only frontend IP configuration (Only ILB mode) is currently not enabled for the v2 SKU.</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configure the Frontend IP to be Public or Private as per your use case.</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Backend configuration</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backend pool is used to route requests to the backend servers that serve the request. Backend pools can be composed of NICs, virtual machine scale sets, public IP addresses, internal IP addresses, fully qualified domain names (FQDN), and multi-tenant back-ends like Azure App Service. You can create an empty backend pool with your application gateway and then add backend targets to the backend pool.</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3159913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Azure Application Gateway by default monitors the health of all resources in its back-end pool and automatically removes any resource considered unhealthy from the pool. Application Gateway continues to monitor the unhealthy instances and adds them back to the healthy back-end pool once they become available and respond to health probes. By default, Application gateway sends the health probes with the same port that is defined in the back-end HTTP settings. A custom probe port can be configured using a custom health probe.</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source IP address Application Gateway uses for health probes depends on the backend pool:</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If the server address in the backend pool is a public endpoint, then the source address is the application gateway's frontend public IP address.</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If the server address in the backend pool is a private endpoint, then the source IP address is from the application gateway subnet's private IP address space.</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Default health probe</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An application gateway automatically configures a default health probe when you don't set up any custom probe configurations. The monitoring behavior works by making an HTTP GET request to the IP addresses or FQDN configured in the back-end pool. For default probes if the backend http settings are configured for HTTPS, the probe uses HTTPS to test health of the backend servers.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example: You configure your application gateway to use back-end servers A, B, and C to receive HTTP network traffic on port 80. The default health monitoring tests the three servers every 30 seconds for a healthy HTTP response with a 30 second timeout for each request. A healthy HTTP response has a status code between 200 and 399. In this case, the HTTP GET request for the health probe will look like http://127.0.0.1/.</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If the default probe check fails for server A, the application gateway stops forwarding requests to this server. The default probe continues to check for server A every 30 seconds. When server A responds successfully to one request from a default health probe, application gateway starts forwarding the requests to the server again.</a:t>
            </a:r>
          </a:p>
          <a:p>
            <a:r>
              <a:rPr lang="en-US" dirty="0"/>
              <a:t>appgatewayprobe </a:t>
            </a:r>
          </a:p>
        </p:txBody>
      </p:sp>
      <p:sp>
        <p:nvSpPr>
          <p:cNvPr id="4" name="Slide Number Placeholder 3"/>
          <p:cNvSpPr>
            <a:spLocks noGrp="1"/>
          </p:cNvSpPr>
          <p:nvPr>
            <p:ph type="sldNum" sz="quarter" idx="5"/>
          </p:nvPr>
        </p:nvSpPr>
        <p:spPr/>
        <p:txBody>
          <a:bodyPr/>
          <a:lstStyle/>
          <a:p>
            <a:fld id="{7ED71946-7F25-4DC3-8178-A8EB9E502608}" type="slidenum">
              <a:rPr lang="en-US" smtClean="0"/>
              <a:t>13</a:t>
            </a:fld>
            <a:endParaRPr lang="en-US" dirty="0"/>
          </a:p>
        </p:txBody>
      </p:sp>
    </p:spTree>
    <p:extLst>
      <p:ext uri="{BB962C8B-B14F-4D97-AF65-F5344CB8AC3E}">
        <p14:creationId xmlns:p14="http://schemas.microsoft.com/office/powerpoint/2010/main" val="2038387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When you create an application gateway using the Azure portal, you create a default rule (rule1). This rule binds the default listener (appGatewayHttpListener) with the default back-end pool (appGatewayBackendPool) and the default back-end HTTP settings (appGatewayBackendHttpSettings). After you create the gateway, you can edit the settings of the default rule or create new rules.</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Rule types: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Basic forwards all requests on the associated listener (for example, blog.contoso.com/*) to a single back-end pool.</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Path-based routes requests from specific URL paths to specific back-end pools. </a:t>
            </a:r>
          </a:p>
          <a:p>
            <a:endParaRPr lang="en-US" dirty="0"/>
          </a:p>
        </p:txBody>
      </p:sp>
      <p:sp>
        <p:nvSpPr>
          <p:cNvPr id="4" name="Slide Number Placeholder 3"/>
          <p:cNvSpPr>
            <a:spLocks noGrp="1"/>
          </p:cNvSpPr>
          <p:nvPr>
            <p:ph type="sldNum" sz="quarter" idx="5"/>
          </p:nvPr>
        </p:nvSpPr>
        <p:spPr/>
        <p:txBody>
          <a:bodyPr/>
          <a:lstStyle/>
          <a:p>
            <a:fld id="{7ED71946-7F25-4DC3-8178-A8EB9E502608}" type="slidenum">
              <a:rPr lang="en-US" smtClean="0"/>
              <a:t>16</a:t>
            </a:fld>
            <a:endParaRPr lang="en-US" dirty="0"/>
          </a:p>
        </p:txBody>
      </p:sp>
    </p:spTree>
    <p:extLst>
      <p:ext uri="{BB962C8B-B14F-4D97-AF65-F5344CB8AC3E}">
        <p14:creationId xmlns:p14="http://schemas.microsoft.com/office/powerpoint/2010/main" val="5762983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71717"/>
                </a:solidFill>
                <a:effectLst/>
                <a:latin typeface="Segoe UI" panose="020B0502040204020203" pitchFamily="34" charset="0"/>
              </a:rPr>
              <a:t>URL Path Based Routing allows you to route traffic to back-end server pools based on URL Paths of the request.</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One of the scenarios is to route requests for different content types to different backend server pools.</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In the following example, Application Gateway is serving traffic for contoso.com from three back-end server pools for example: VideoServerPool, ImageServerPool, and DefaultServerPool.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https://docs.microsoft.com/en-us/azure/application-gateway/features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ED71946-7F25-4DC3-8178-A8EB9E502608}" type="slidenum">
              <a:rPr lang="en-US" smtClean="0"/>
              <a:t>17</a:t>
            </a:fld>
            <a:endParaRPr lang="en-US" dirty="0"/>
          </a:p>
        </p:txBody>
      </p:sp>
    </p:spTree>
    <p:extLst>
      <p:ext uri="{BB962C8B-B14F-4D97-AF65-F5344CB8AC3E}">
        <p14:creationId xmlns:p14="http://schemas.microsoft.com/office/powerpoint/2010/main" val="3200384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Application Gateway allows you to rewrite selected content of requests and responses. With this feature, you can translate URLs, query string parameters as well as modify request and response headers. It also allows you to add conditions to ensure that the URL or the specified headers are rewritten only when certain conditions are met. These conditions are based on the request and response information.</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HTTP header and URL rewrite features are only available for the Application Gateway v2 SKU.</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configure a rewrite rule, you need to create a rewrite rule set and add the rewrite rule configuration in it.</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 rewrite rule set contains:</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Request routing rule association: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rewrite configuration is associated to the source listener via the routing rule. When you use a basic routing rule, the rewrite configuration is associated with a source listener and is a global header rewrite. When you use a path-based routing rule, the rewrite configuration is defined on the URL path map. In that case, it applies only to the specific path area of a site. You can create multiple rewrite sets and apply each rewrite set to multiple listeners. But you can apply only one rewrite set to a specific listener.</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Rewrite Condition: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It is an optional configuration. Rewrite conditions evaluate the content of the HTTP(S) requests and responses. The rewrite action will occur if the HTTP(S) request or response matches the rewrite condition. If you associate more than one condition with an action, the action occurs only when all the conditions are met. In other words, the operation is a logical AND operation.</a:t>
            </a:r>
          </a:p>
          <a:p>
            <a:pPr marL="342900" marR="0" lvl="0" indent="-342900">
              <a:spcBef>
                <a:spcPts val="0"/>
              </a:spcBef>
              <a:spcAft>
                <a:spcPts val="100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Rewrite type:</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There are 3 types of rewrites available:</a:t>
            </a:r>
          </a:p>
          <a:p>
            <a:pPr marL="342900" marR="0" lvl="0" indent="-342900">
              <a:spcBef>
                <a:spcPts val="0"/>
              </a:spcBef>
              <a:spcAft>
                <a:spcPts val="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Rewriting request headers</a:t>
            </a:r>
          </a:p>
          <a:p>
            <a:pPr marL="342900" marR="0" lvl="0" indent="-342900">
              <a:spcBef>
                <a:spcPts val="0"/>
              </a:spcBef>
              <a:spcAft>
                <a:spcPts val="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Rewriting response headers</a:t>
            </a:r>
          </a:p>
          <a:p>
            <a:pPr marL="342900" marR="0" lvl="0" indent="-342900">
              <a:spcBef>
                <a:spcPts val="0"/>
              </a:spcBef>
              <a:spcAft>
                <a:spcPts val="100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Rewriting URL components</a:t>
            </a:r>
          </a:p>
          <a:p>
            <a:pPr marL="342900" marR="0" lvl="0" indent="-342900">
              <a:spcBef>
                <a:spcPts val="0"/>
              </a:spcBef>
              <a:spcAft>
                <a:spcPts val="0"/>
              </a:spcAft>
              <a:buFont typeface="Wingdings" panose="05000000000000000000" pitchFamily="2"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URL path:</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value to which the path is to be rewritten to.</a:t>
            </a:r>
          </a:p>
          <a:p>
            <a:pPr marL="342900" marR="0" lvl="0" indent="-342900">
              <a:spcBef>
                <a:spcPts val="0"/>
              </a:spcBef>
              <a:spcAft>
                <a:spcPts val="0"/>
              </a:spcAft>
              <a:buFont typeface="Wingdings" panose="05000000000000000000" pitchFamily="2"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URL Query String:</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value to which the query string is to be rewritten to.</a:t>
            </a:r>
          </a:p>
          <a:p>
            <a:pPr marL="342900" marR="0" lvl="0" indent="-342900">
              <a:spcBef>
                <a:spcPts val="0"/>
              </a:spcBef>
              <a:spcAft>
                <a:spcPts val="1000"/>
              </a:spcAft>
              <a:buFont typeface="Wingdings" panose="05000000000000000000" pitchFamily="2"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Re-evaluate path map:</a:t>
            </a:r>
            <a:r>
              <a:rPr lang="en-US" sz="1800" dirty="0">
                <a:effectLst/>
                <a:latin typeface="Calibri" panose="020F0502020204030204" pitchFamily="34" charset="0"/>
                <a:ea typeface="Calibri" panose="020F0502020204030204" pitchFamily="34" charset="0"/>
                <a:cs typeface="Times New Roman" panose="02020603050405020304" pitchFamily="18" charset="0"/>
              </a:rPr>
              <a:t> Used to determine whether the URL path map is to be re-evaluated or not. If kept unchecked, the original URL path will be used to match the path-pattern in the URL path map. If set to true, the URL path map will be re-evaluated to check the match with the rewritten path. Enabling this switch helps in routing the request to a different backend pool post rewrite.</a:t>
            </a:r>
          </a:p>
          <a:p>
            <a:endParaRPr lang="en-US" dirty="0"/>
          </a:p>
        </p:txBody>
      </p:sp>
      <p:sp>
        <p:nvSpPr>
          <p:cNvPr id="4" name="Slide Number Placeholder 3"/>
          <p:cNvSpPr>
            <a:spLocks noGrp="1"/>
          </p:cNvSpPr>
          <p:nvPr>
            <p:ph type="sldNum" sz="quarter" idx="5"/>
          </p:nvPr>
        </p:nvSpPr>
        <p:spPr/>
        <p:txBody>
          <a:bodyPr/>
          <a:lstStyle/>
          <a:p>
            <a:fld id="{7ED71946-7F25-4DC3-8178-A8EB9E502608}" type="slidenum">
              <a:rPr lang="en-US" smtClean="0"/>
              <a:t>18</a:t>
            </a:fld>
            <a:endParaRPr lang="en-US" dirty="0"/>
          </a:p>
        </p:txBody>
      </p:sp>
    </p:spTree>
    <p:extLst>
      <p:ext uri="{BB962C8B-B14F-4D97-AF65-F5344CB8AC3E}">
        <p14:creationId xmlns:p14="http://schemas.microsoft.com/office/powerpoint/2010/main" val="2816491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Create an application gateway</a:t>
            </a:r>
          </a:p>
          <a:p>
            <a:r>
              <a:rPr lang="en-US" dirty="0">
                <a:hlinkClick r:id="rId3"/>
              </a:rPr>
              <a:t>Quickstart: Direct web traffic using the portal - Azure Application Gateway | Microsoft Docs</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ED71946-7F25-4DC3-8178-A8EB9E502608}" type="slidenum">
              <a:rPr lang="en-US" smtClean="0"/>
              <a:t>19</a:t>
            </a:fld>
            <a:endParaRPr lang="en-US" dirty="0"/>
          </a:p>
        </p:txBody>
      </p:sp>
    </p:spTree>
    <p:extLst>
      <p:ext uri="{BB962C8B-B14F-4D97-AF65-F5344CB8AC3E}">
        <p14:creationId xmlns:p14="http://schemas.microsoft.com/office/powerpoint/2010/main" val="1880215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 https://docs.microsoft.com/en-us/learn/browse/</a:t>
            </a:r>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20</a:t>
            </a:fld>
            <a:endParaRPr lang="en-US" dirty="0"/>
          </a:p>
        </p:txBody>
      </p:sp>
    </p:spTree>
    <p:extLst>
      <p:ext uri="{BB962C8B-B14F-4D97-AF65-F5344CB8AC3E}">
        <p14:creationId xmlns:p14="http://schemas.microsoft.com/office/powerpoint/2010/main" val="2952623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21</a:t>
            </a:fld>
            <a:endParaRPr lang="en-US" dirty="0"/>
          </a:p>
        </p:txBody>
      </p:sp>
    </p:spTree>
    <p:extLst>
      <p:ext uri="{BB962C8B-B14F-4D97-AF65-F5344CB8AC3E}">
        <p14:creationId xmlns:p14="http://schemas.microsoft.com/office/powerpoint/2010/main" val="1166823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AZ-700-Designing-and-Implementing-Microsoft-Azure-Networking-Solutions/4-exercise-deploy-azure-application-gateway.md at master · MicrosoftLearning/AZ-700-Designing-and-Implementing-Microsoft-Azure-Networking-Solutions (github.com)</a:t>
            </a:r>
            <a:endParaRPr lang="en-US" dirty="0"/>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22</a:t>
            </a:fld>
            <a:endParaRPr lang="en-US" dirty="0"/>
          </a:p>
        </p:txBody>
      </p:sp>
    </p:spTree>
    <p:extLst>
      <p:ext uri="{BB962C8B-B14F-4D97-AF65-F5344CB8AC3E}">
        <p14:creationId xmlns:p14="http://schemas.microsoft.com/office/powerpoint/2010/main" val="38131371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23</a:t>
            </a:fld>
            <a:endParaRPr lang="en-US" dirty="0"/>
          </a:p>
        </p:txBody>
      </p:sp>
    </p:spTree>
    <p:extLst>
      <p:ext uri="{BB962C8B-B14F-4D97-AF65-F5344CB8AC3E}">
        <p14:creationId xmlns:p14="http://schemas.microsoft.com/office/powerpoint/2010/main" val="29526231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Implement Azure Front Door </a:t>
            </a:r>
          </a:p>
          <a:p>
            <a:endParaRPr lang="en-US" altLang="zh-CN" dirty="0"/>
          </a:p>
          <a:p>
            <a:r>
              <a:rPr lang="en-US" altLang="zh-CN" dirty="0"/>
              <a:t> choose an Azure Front Door SKU </a:t>
            </a:r>
          </a:p>
          <a:p>
            <a:r>
              <a:rPr lang="en-US" altLang="zh-CN" dirty="0"/>
              <a:t> configure health probes, including customization of HTTP response codes</a:t>
            </a:r>
          </a:p>
          <a:p>
            <a:r>
              <a:rPr lang="en-US" altLang="zh-CN" dirty="0"/>
              <a:t> configure SSL termination and end-to-end SSL encryption </a:t>
            </a:r>
          </a:p>
          <a:p>
            <a:r>
              <a:rPr lang="en-US" altLang="zh-CN" dirty="0"/>
              <a:t> configure multisite listeners </a:t>
            </a:r>
          </a:p>
          <a:p>
            <a:r>
              <a:rPr lang="en-US" altLang="zh-CN" dirty="0"/>
              <a:t> configure back-end targets </a:t>
            </a:r>
          </a:p>
          <a:p>
            <a:r>
              <a:rPr lang="en-US" altLang="zh-CN" dirty="0"/>
              <a:t> configure routing rules, including redirection rules </a:t>
            </a:r>
          </a:p>
          <a:p>
            <a:endParaRPr lang="en-US" altLang="zh-CN"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4/26/2022 11:41 AM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5430198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Azure Front Door is a global, scalable entry-point that uses the Microsoft global edge network to create fast, secure, and widely scalable web applications. With Front Door, you can transform your global consumer and enterprise applications into robust, high-performing personalized modern applications with contents that reach a global audience through Azure.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Front Door works at Layer 7 (HTTP/HTTPS layer) using anycast protocol with split TCP and Microsoft's global network to improve global connectivity. Based on your routing method you can ensure that Front Door will route your client requests to the fastest and most available application backend. An application backend is any Internet-facing service hosted inside or outside of Azure. Front Door provides a range of </a:t>
            </a:r>
            <a:r>
              <a:rPr lang="en-US" sz="1800" u="sng"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hlinkClick r:id="rId3"/>
              </a:rPr>
              <a:t>traffic-routing methods</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a:t>
            </a:r>
            <a:r>
              <a:rPr lang="en-US" sz="1800" u="sng"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hlinkClick r:id="rId4"/>
              </a:rPr>
              <a:t>backend health monitoring options</a:t>
            </a:r>
            <a:r>
              <a:rPr lang="en-US" sz="1800" dirty="0">
                <a:effectLst/>
                <a:latin typeface="Calibri" panose="020F0502020204030204" pitchFamily="34" charset="0"/>
                <a:ea typeface="Calibri" panose="020F0502020204030204" pitchFamily="34" charset="0"/>
                <a:cs typeface="Times New Roman" panose="02020603050405020304" pitchFamily="18" charset="0"/>
              </a:rPr>
              <a:t> to suit different application needs and automatic failover scenarios. Like </a:t>
            </a:r>
            <a:r>
              <a:rPr lang="en-US" sz="1800" u="sng"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hlinkClick r:id="rId5"/>
              </a:rPr>
              <a:t>Traffic Manager</a:t>
            </a:r>
            <a:r>
              <a:rPr lang="en-US" sz="1800" dirty="0">
                <a:effectLst/>
                <a:latin typeface="Calibri" panose="020F0502020204030204" pitchFamily="34" charset="0"/>
                <a:ea typeface="Calibri" panose="020F0502020204030204" pitchFamily="34" charset="0"/>
                <a:cs typeface="Times New Roman" panose="02020603050405020304" pitchFamily="18" charset="0"/>
              </a:rPr>
              <a:t>, Front Door is resilient to failures, including failures to an entire Azure region.</a:t>
            </a:r>
          </a:p>
          <a:p>
            <a:endParaRPr lang="en-US" dirty="0"/>
          </a:p>
          <a:p>
            <a:pPr algn="l"/>
            <a:r>
              <a:rPr lang="en-US" b="0" i="0" dirty="0">
                <a:solidFill>
                  <a:srgbClr val="171717"/>
                </a:solidFill>
                <a:effectLst/>
                <a:latin typeface="Segoe UI" panose="020B0502040204020203" pitchFamily="34" charset="0"/>
              </a:rPr>
              <a:t>Azure Front Door enables internet-facing application to:</a:t>
            </a:r>
          </a:p>
          <a:p>
            <a:pPr algn="l">
              <a:buFont typeface="Arial" panose="020B0604020202020204" pitchFamily="34" charset="0"/>
              <a:buChar char="•"/>
            </a:pPr>
            <a:r>
              <a:rPr lang="en-US" b="1" i="0" dirty="0">
                <a:solidFill>
                  <a:srgbClr val="171717"/>
                </a:solidFill>
                <a:effectLst/>
                <a:latin typeface="Segoe UI" panose="020B0502040204020203" pitchFamily="34" charset="0"/>
              </a:rPr>
              <a:t>Build and operate modern internet-first architectures</a:t>
            </a:r>
            <a:r>
              <a:rPr lang="en-US" b="0" i="0" dirty="0">
                <a:solidFill>
                  <a:srgbClr val="171717"/>
                </a:solidFill>
                <a:effectLst/>
                <a:latin typeface="Segoe UI" panose="020B0502040204020203" pitchFamily="34" charset="0"/>
              </a:rPr>
              <a:t> that have dynamic, high-quality digital experiences with highly automated, secure, and reliable platforms.</a:t>
            </a:r>
          </a:p>
          <a:p>
            <a:pPr algn="l">
              <a:buFont typeface="Arial" panose="020B0604020202020204" pitchFamily="34" charset="0"/>
              <a:buChar char="•"/>
            </a:pPr>
            <a:r>
              <a:rPr lang="en-US" b="1" i="0" dirty="0">
                <a:solidFill>
                  <a:srgbClr val="171717"/>
                </a:solidFill>
                <a:effectLst/>
                <a:latin typeface="Segoe UI" panose="020B0502040204020203" pitchFamily="34" charset="0"/>
              </a:rPr>
              <a:t>Accelerate and deliver your app and content globally</a:t>
            </a:r>
            <a:r>
              <a:rPr lang="en-US" b="0" i="0" dirty="0">
                <a:solidFill>
                  <a:srgbClr val="171717"/>
                </a:solidFill>
                <a:effectLst/>
                <a:latin typeface="Segoe UI" panose="020B0502040204020203" pitchFamily="34" charset="0"/>
              </a:rPr>
              <a:t> at scale to your users wherever they're creating opportunities for you to compete, weather change, and quickly adapt to new demand and markets.</a:t>
            </a:r>
          </a:p>
          <a:p>
            <a:pPr algn="l">
              <a:buFont typeface="Arial" panose="020B0604020202020204" pitchFamily="34" charset="0"/>
              <a:buChar char="•"/>
            </a:pPr>
            <a:r>
              <a:rPr lang="en-US" b="1" i="0" dirty="0">
                <a:solidFill>
                  <a:srgbClr val="171717"/>
                </a:solidFill>
                <a:effectLst/>
                <a:latin typeface="Segoe UI" panose="020B0502040204020203" pitchFamily="34" charset="0"/>
              </a:rPr>
              <a:t>Intelligently secure your digital estate</a:t>
            </a:r>
            <a:r>
              <a:rPr lang="en-US" b="0" i="0" dirty="0">
                <a:solidFill>
                  <a:srgbClr val="171717"/>
                </a:solidFill>
                <a:effectLst/>
                <a:latin typeface="Segoe UI" panose="020B0502040204020203" pitchFamily="34" charset="0"/>
              </a:rPr>
              <a:t> against known and new threats with intelligent security that embrace a </a:t>
            </a:r>
            <a:r>
              <a:rPr lang="en-US" b="1" i="1" dirty="0">
                <a:solidFill>
                  <a:srgbClr val="171717"/>
                </a:solidFill>
                <a:effectLst/>
                <a:latin typeface="Segoe UI" panose="020B0502040204020203" pitchFamily="34" charset="0"/>
              </a:rPr>
              <a:t>Zero Trust</a:t>
            </a:r>
            <a:r>
              <a:rPr lang="en-US" b="0" i="0" dirty="0">
                <a:solidFill>
                  <a:srgbClr val="171717"/>
                </a:solidFill>
                <a:effectLst/>
                <a:latin typeface="Segoe UI" panose="020B0502040204020203" pitchFamily="34" charset="0"/>
              </a:rPr>
              <a:t> framework.</a:t>
            </a:r>
          </a:p>
          <a:p>
            <a:endParaRPr lang="en-US" dirty="0"/>
          </a:p>
          <a:p>
            <a:endParaRPr lang="en-US" dirty="0"/>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What is the difference between Azure Front Door and Azure Application Gateway?</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While both Front Door and Application Gateway are layer 7 (HTTP/HTTPS) load balancers, the primary difference is that Front Door is a global service whereas Application Gateway is a regional service. Front Door can load balance between your different scale units/clusters/stamp units across regions, and Application Gateway allows you to load balance between your VMs/containers that is within the scale unit.</a:t>
            </a:r>
          </a:p>
          <a:p>
            <a:endParaRPr lang="en-US" sz="1800" dirty="0">
              <a:effectLst/>
              <a:latin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7ED71946-7F25-4DC3-8178-A8EB9E502608}" type="slidenum">
              <a:rPr lang="en-US" smtClean="0"/>
              <a:t>26</a:t>
            </a:fld>
            <a:endParaRPr lang="en-US" dirty="0"/>
          </a:p>
        </p:txBody>
      </p:sp>
    </p:spTree>
    <p:extLst>
      <p:ext uri="{BB962C8B-B14F-4D97-AF65-F5344CB8AC3E}">
        <p14:creationId xmlns:p14="http://schemas.microsoft.com/office/powerpoint/2010/main" val="18216532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71717"/>
                </a:solidFill>
                <a:effectLst/>
                <a:latin typeface="Segoe UI" panose="020B0502040204020203" pitchFamily="34" charset="0"/>
              </a:rPr>
              <a:t>Azure Front Door is offered in 2 different tiers, Azure Front Door Standard and Azure Front Door Premium. Azure Front Door Standard and Premium tier combines capabilities of Azure Front Door (classic), Azure CDN Standard from Microsoft (classic), and Azure WAF into a single secure cloud CDN platform with intelligent threat protection.</a:t>
            </a:r>
          </a:p>
          <a:p>
            <a:endParaRPr lang="en-US" b="0" i="0" dirty="0">
              <a:solidFill>
                <a:srgbClr val="171717"/>
              </a:solidFill>
              <a:effectLst/>
              <a:latin typeface="Segoe UI" panose="020B0502040204020203" pitchFamily="34" charset="0"/>
            </a:endParaRPr>
          </a:p>
          <a:p>
            <a:endParaRPr lang="en-US" b="0" i="0" dirty="0">
              <a:solidFill>
                <a:srgbClr val="171717"/>
              </a:solidFill>
              <a:effectLst/>
              <a:latin typeface="Segoe UI" panose="020B0502040204020203" pitchFamily="34" charset="0"/>
            </a:endParaRPr>
          </a:p>
          <a:p>
            <a:r>
              <a:rPr lang="fr-FR" dirty="0">
                <a:hlinkClick r:id="rId3"/>
              </a:rPr>
              <a:t>Azure Front </a:t>
            </a:r>
            <a:r>
              <a:rPr lang="fr-FR" dirty="0" err="1">
                <a:hlinkClick r:id="rId3"/>
              </a:rPr>
              <a:t>Door</a:t>
            </a:r>
            <a:r>
              <a:rPr lang="fr-FR" dirty="0">
                <a:hlinkClick r:id="rId3"/>
              </a:rPr>
              <a:t> tier </a:t>
            </a:r>
            <a:r>
              <a:rPr lang="fr-FR" dirty="0" err="1">
                <a:hlinkClick r:id="rId3"/>
              </a:rPr>
              <a:t>comparison</a:t>
            </a:r>
            <a:r>
              <a:rPr lang="fr-FR" dirty="0">
                <a:hlinkClick r:id="rId3"/>
              </a:rPr>
              <a:t> | Microsoft Docs</a:t>
            </a:r>
            <a:r>
              <a:rPr lang="en-US" b="0" i="0" dirty="0">
                <a:solidFill>
                  <a:srgbClr val="171717"/>
                </a:solidFill>
                <a:effectLst/>
                <a:latin typeface="Segoe UI" panose="020B0502040204020203" pitchFamily="34" charset="0"/>
              </a:rPr>
              <a:t> https://docs.microsoft.com/azure/frontdoor/standard-premium/tier-comparison#feature-comparison-between-tiers</a:t>
            </a:r>
          </a:p>
          <a:p>
            <a:endParaRPr lang="en-US" b="0" i="0" dirty="0">
              <a:solidFill>
                <a:srgbClr val="171717"/>
              </a:solidFill>
              <a:effectLst/>
              <a:latin typeface="Segoe UI" panose="020B0502040204020203" pitchFamily="34" charset="0"/>
            </a:endParaRPr>
          </a:p>
          <a:p>
            <a:r>
              <a:rPr lang="en-US" b="0" i="0" dirty="0">
                <a:solidFill>
                  <a:srgbClr val="171717"/>
                </a:solidFill>
                <a:effectLst/>
                <a:latin typeface="Segoe UI" panose="020B0502040204020203" pitchFamily="34" charset="0"/>
              </a:rPr>
              <a:t>Azure Front Door Standard/Premium SKUs combines capabilities of Azure Front Door, Azure CDN Standard from Microsoft, Azure WAF into a single secure cloud CDN platform with intelligent threat protection.</a:t>
            </a:r>
            <a:endParaRPr lang="en-US" dirty="0"/>
          </a:p>
        </p:txBody>
      </p:sp>
      <p:sp>
        <p:nvSpPr>
          <p:cNvPr id="4" name="Slide Number Placeholder 3"/>
          <p:cNvSpPr>
            <a:spLocks noGrp="1"/>
          </p:cNvSpPr>
          <p:nvPr>
            <p:ph type="sldNum" sz="quarter" idx="5"/>
          </p:nvPr>
        </p:nvSpPr>
        <p:spPr/>
        <p:txBody>
          <a:bodyPr/>
          <a:lstStyle/>
          <a:p>
            <a:fld id="{7ED71946-7F25-4DC3-8178-A8EB9E502608}" type="slidenum">
              <a:rPr lang="en-US" smtClean="0"/>
              <a:t>27</a:t>
            </a:fld>
            <a:endParaRPr lang="en-US" dirty="0"/>
          </a:p>
        </p:txBody>
      </p:sp>
    </p:spTree>
    <p:extLst>
      <p:ext uri="{BB962C8B-B14F-4D97-AF65-F5344CB8AC3E}">
        <p14:creationId xmlns:p14="http://schemas.microsoft.com/office/powerpoint/2010/main" val="15586690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demonstrating creating a Front Door in the Azure portal. This is the NEW Azure Front Door deployment option. To see Classic, select “Explore other offerings” </a:t>
            </a:r>
          </a:p>
        </p:txBody>
      </p:sp>
      <p:sp>
        <p:nvSpPr>
          <p:cNvPr id="4" name="Slide Number Placeholder 3"/>
          <p:cNvSpPr>
            <a:spLocks noGrp="1"/>
          </p:cNvSpPr>
          <p:nvPr>
            <p:ph type="sldNum" sz="quarter" idx="5"/>
          </p:nvPr>
        </p:nvSpPr>
        <p:spPr/>
        <p:txBody>
          <a:bodyPr/>
          <a:lstStyle/>
          <a:p>
            <a:fld id="{7ED71946-7F25-4DC3-8178-A8EB9E502608}" type="slidenum">
              <a:rPr lang="en-US" smtClean="0"/>
              <a:t>28</a:t>
            </a:fld>
            <a:endParaRPr lang="en-US" dirty="0"/>
          </a:p>
        </p:txBody>
      </p:sp>
    </p:spTree>
    <p:extLst>
      <p:ext uri="{BB962C8B-B14F-4D97-AF65-F5344CB8AC3E}">
        <p14:creationId xmlns:p14="http://schemas.microsoft.com/office/powerpoint/2010/main" val="33939007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Front Door traffic routing takes place over multiple stages. First, traffic is routed from the client to Front Door. Then, Front Door uses your configuration to determine the origin to send the traffic to. The Front Door web application firewall, routing rules, rules engine, and caching configuration all affect the routing process.</a:t>
            </a:r>
          </a:p>
          <a:p>
            <a:pPr algn="l"/>
            <a:r>
              <a:rPr lang="en-US" b="0" i="0" dirty="0">
                <a:solidFill>
                  <a:srgbClr val="171717"/>
                </a:solidFill>
                <a:effectLst/>
                <a:latin typeface="Segoe UI" panose="020B0502040204020203" pitchFamily="34" charset="0"/>
              </a:rPr>
              <a:t>The image on the right illustrates the routing architecture.</a:t>
            </a:r>
          </a:p>
          <a:p>
            <a:pPr algn="l"/>
            <a:endParaRPr lang="en-US" b="0" i="0" dirty="0">
              <a:solidFill>
                <a:srgbClr val="171717"/>
              </a:solidFill>
              <a:effectLst/>
              <a:latin typeface="Segoe UI" panose="020B0502040204020203" pitchFamily="34" charset="0"/>
            </a:endParaRPr>
          </a:p>
          <a:p>
            <a:r>
              <a:rPr lang="en-US" b="0" dirty="0">
                <a:solidFill>
                  <a:srgbClr val="000000"/>
                </a:solidFill>
                <a:effectLst/>
                <a:latin typeface="Consolas" panose="020B0609020204030204" pitchFamily="49" charset="0"/>
              </a:rPr>
              <a:t>A Front Door routing rule configuration is composed of two major parts: a "left-hand side" and a "right-hand side". Front Door matches the incoming request to the left-hand side of the route. The right-hand side defines how Front Door processes the request.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algn="l"/>
            <a:endParaRPr lang="en-US" b="0" i="0" dirty="0">
              <a:solidFill>
                <a:srgbClr val="171717"/>
              </a:solidFill>
              <a:effectLst/>
              <a:latin typeface="Segoe UI" panose="020B0502040204020203" pitchFamily="34" charset="0"/>
            </a:endParaRP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Azure Front Door provides web application firewall capabilities to help protect your web applications from exploits and vulnerabilities. Managing security for your applications can be challenging because web applications are increasingly targeted.</a:t>
            </a:r>
          </a:p>
          <a:p>
            <a:pPr algn="l"/>
            <a:r>
              <a:rPr lang="en-US" b="0" i="0" dirty="0">
                <a:solidFill>
                  <a:srgbClr val="171717"/>
                </a:solidFill>
                <a:effectLst/>
                <a:latin typeface="Segoe UI" panose="020B0502040204020203" pitchFamily="34" charset="0"/>
              </a:rPr>
              <a:t>Azure Front Door operates at the network's edge, close to potential attacks. This helps prevent attacks before they can enter your network. Azure Front Door's web application firewall is based on policies you can associate with one or more instances of Azure Front Door. </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These firewall policies consist of:</a:t>
            </a:r>
          </a:p>
          <a:p>
            <a:pPr algn="l">
              <a:buFont typeface="Arial" panose="020B0604020202020204" pitchFamily="34" charset="0"/>
              <a:buChar char="•"/>
            </a:pPr>
            <a:r>
              <a:rPr lang="en-US" b="0" i="1" dirty="0">
                <a:solidFill>
                  <a:srgbClr val="171717"/>
                </a:solidFill>
                <a:effectLst/>
                <a:latin typeface="Segoe UI" panose="020B0502040204020203" pitchFamily="34" charset="0"/>
              </a:rPr>
              <a:t>Managed rule sets</a:t>
            </a:r>
            <a:r>
              <a:rPr lang="en-US" b="0" i="0" dirty="0">
                <a:solidFill>
                  <a:srgbClr val="171717"/>
                </a:solidFill>
                <a:effectLst/>
                <a:latin typeface="Segoe UI" panose="020B0502040204020203" pitchFamily="34" charset="0"/>
              </a:rPr>
              <a:t>, which are a collection of preconfigured rules.</a:t>
            </a:r>
          </a:p>
          <a:p>
            <a:pPr algn="l">
              <a:buFont typeface="Arial" panose="020B0604020202020204" pitchFamily="34" charset="0"/>
              <a:buChar char="•"/>
            </a:pPr>
            <a:r>
              <a:rPr lang="en-US" b="0" i="0" dirty="0">
                <a:solidFill>
                  <a:srgbClr val="171717"/>
                </a:solidFill>
                <a:effectLst/>
                <a:latin typeface="Segoe UI" panose="020B0502040204020203" pitchFamily="34" charset="0"/>
              </a:rPr>
              <a:t>Custom rules that you can configure.</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5979456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THIS IS THE CLASSIC FRONT DOOR Back-end configuration </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Backend host type</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type of resource you want to add. Front Door supports autodiscovery of your app backends from app service, cloud service, or storage. If you want a different resource in Azure or even a non-Azure backend, select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Custom host</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Subscription and Backend host name</a:t>
            </a:r>
            <a:r>
              <a:rPr lang="en-US" sz="1800" dirty="0">
                <a:effectLst/>
                <a:latin typeface="Calibri" panose="020F0502020204030204" pitchFamily="34" charset="0"/>
                <a:ea typeface="Calibri" panose="020F0502020204030204" pitchFamily="34" charset="0"/>
                <a:cs typeface="Times New Roman" panose="02020603050405020304" pitchFamily="18" charset="0"/>
              </a:rPr>
              <a:t>. If you haven't selected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Custom host</a:t>
            </a:r>
            <a:r>
              <a:rPr lang="en-US" sz="1800" dirty="0">
                <a:effectLst/>
                <a:latin typeface="Calibri" panose="020F0502020204030204" pitchFamily="34" charset="0"/>
                <a:ea typeface="Calibri" panose="020F0502020204030204" pitchFamily="34" charset="0"/>
                <a:cs typeface="Times New Roman" panose="02020603050405020304" pitchFamily="18" charset="0"/>
              </a:rPr>
              <a:t> for backend host type, select your backend by choosing the appropriate subscription and the corresponding backend host name in the UI.</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Backend host header</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host header value sent to the backend for each request.</a:t>
            </a:r>
          </a:p>
          <a:p>
            <a:pPr marL="342900" marR="0" lvl="0" indent="-342900">
              <a:spcBef>
                <a:spcPts val="0"/>
              </a:spcBef>
              <a:spcAft>
                <a:spcPts val="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Priority</a:t>
            </a:r>
            <a:r>
              <a:rPr lang="en-US" sz="1800" dirty="0">
                <a:effectLst/>
                <a:latin typeface="Calibri" panose="020F0502020204030204" pitchFamily="34" charset="0"/>
                <a:ea typeface="Calibri" panose="020F0502020204030204" pitchFamily="34" charset="0"/>
                <a:cs typeface="Times New Roman" panose="02020603050405020304" pitchFamily="18" charset="0"/>
              </a:rPr>
              <a:t>. Assign priorities to your different backends when you want to use a primary service backend for all traffic. Also, provide backups if the primary or the backup backends are unavailable. </a:t>
            </a:r>
          </a:p>
          <a:p>
            <a:pPr marL="342900" marR="0" lvl="0" indent="-342900">
              <a:spcBef>
                <a:spcPts val="0"/>
              </a:spcBef>
              <a:spcAft>
                <a:spcPts val="100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Weight</a:t>
            </a:r>
            <a:r>
              <a:rPr lang="en-US" sz="1800" dirty="0">
                <a:effectLst/>
                <a:latin typeface="Calibri" panose="020F0502020204030204" pitchFamily="34" charset="0"/>
                <a:ea typeface="Calibri" panose="020F0502020204030204" pitchFamily="34" charset="0"/>
                <a:cs typeface="Times New Roman" panose="02020603050405020304" pitchFamily="18" charset="0"/>
              </a:rPr>
              <a:t>. Assign weights to your different backends to distribute traffic across a set of backends, either evenly or according to weight coefficients. </a:t>
            </a:r>
          </a:p>
          <a:p>
            <a:endParaRPr lang="en-US" dirty="0"/>
          </a:p>
        </p:txBody>
      </p:sp>
      <p:sp>
        <p:nvSpPr>
          <p:cNvPr id="4" name="Slide Number Placeholder 3"/>
          <p:cNvSpPr>
            <a:spLocks noGrp="1"/>
          </p:cNvSpPr>
          <p:nvPr>
            <p:ph type="sldNum" sz="quarter" idx="5"/>
          </p:nvPr>
        </p:nvSpPr>
        <p:spPr/>
        <p:txBody>
          <a:bodyPr/>
          <a:lstStyle/>
          <a:p>
            <a:fld id="{7ED71946-7F25-4DC3-8178-A8EB9E502608}" type="slidenum">
              <a:rPr lang="en-US" smtClean="0"/>
              <a:t>30</a:t>
            </a:fld>
            <a:endParaRPr lang="en-US" dirty="0"/>
          </a:p>
        </p:txBody>
      </p:sp>
    </p:spTree>
    <p:extLst>
      <p:ext uri="{BB962C8B-B14F-4D97-AF65-F5344CB8AC3E}">
        <p14:creationId xmlns:p14="http://schemas.microsoft.com/office/powerpoint/2010/main" val="37855883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71717"/>
                </a:solidFill>
                <a:effectLst/>
                <a:latin typeface="Segoe UI" panose="020B0502040204020203" pitchFamily="34" charset="0"/>
              </a:rPr>
              <a:t>This is the classic Front Door heath Probe configuration </a:t>
            </a:r>
          </a:p>
          <a:p>
            <a:pPr algn="l"/>
            <a:r>
              <a:rPr lang="en-US" b="0" i="0" dirty="0">
                <a:solidFill>
                  <a:srgbClr val="171717"/>
                </a:solidFill>
                <a:effectLst/>
                <a:latin typeface="Segoe UI" panose="020B0502040204020203" pitchFamily="34" charset="0"/>
              </a:rPr>
              <a:t>To determine the health and proximity of each backend for a given Front Door environment, each Front Door environment periodically sends a synthetic HTTP/HTTPS request to each of your configured backends. Front Door then uses these responses from the probe to determine the "best" backend resources to route your client requests.</a:t>
            </a:r>
          </a:p>
          <a:p>
            <a:br>
              <a:rPr lang="en-US" dirty="0"/>
            </a:br>
            <a:r>
              <a:rPr lang="en-US" b="0" i="0" dirty="0">
                <a:solidFill>
                  <a:srgbClr val="171717"/>
                </a:solidFill>
                <a:effectLst/>
                <a:latin typeface="Segoe UI" panose="020B0502040204020203" pitchFamily="34" charset="0"/>
              </a:rPr>
              <a:t>Front Door supports sending probes over either HTTP or HTTPS protocols. These probes are sent over the same TCP ports configured for routing client requests, and cannot be overridden.</a:t>
            </a:r>
          </a:p>
          <a:p>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Azure Front Door uses the same three-step process below across all algorithms to determine health.</a:t>
            </a:r>
          </a:p>
          <a:p>
            <a:pPr algn="l">
              <a:buFont typeface="+mj-lt"/>
              <a:buAutoNum type="arabicPeriod"/>
            </a:pPr>
            <a:r>
              <a:rPr lang="en-US" b="0" i="0" dirty="0">
                <a:solidFill>
                  <a:srgbClr val="171717"/>
                </a:solidFill>
                <a:effectLst/>
                <a:latin typeface="Segoe UI" panose="020B0502040204020203" pitchFamily="34" charset="0"/>
              </a:rPr>
              <a:t>Exclude disabled backends.</a:t>
            </a:r>
          </a:p>
          <a:p>
            <a:pPr algn="l">
              <a:buFont typeface="+mj-lt"/>
              <a:buAutoNum type="arabicPeriod"/>
            </a:pPr>
            <a:r>
              <a:rPr lang="en-US" b="0" i="0" dirty="0">
                <a:solidFill>
                  <a:srgbClr val="171717"/>
                </a:solidFill>
                <a:effectLst/>
                <a:latin typeface="Segoe UI" panose="020B0502040204020203" pitchFamily="34" charset="0"/>
              </a:rPr>
              <a:t>Exclude backends that have health probes errors:</a:t>
            </a:r>
          </a:p>
          <a:p>
            <a:pPr marL="742950" lvl="1" indent="-285750" algn="l">
              <a:buFont typeface="+mj-lt"/>
              <a:buAutoNum type="arabicPeriod"/>
            </a:pPr>
            <a:r>
              <a:rPr lang="en-US" b="0" i="0" dirty="0">
                <a:solidFill>
                  <a:srgbClr val="171717"/>
                </a:solidFill>
                <a:effectLst/>
                <a:latin typeface="Segoe UI" panose="020B0502040204020203" pitchFamily="34" charset="0"/>
              </a:rPr>
              <a:t>This selection is done by looking at the last </a:t>
            </a:r>
            <a:r>
              <a:rPr lang="en-US" b="0" i="1" dirty="0">
                <a:solidFill>
                  <a:srgbClr val="171717"/>
                </a:solidFill>
                <a:effectLst/>
                <a:latin typeface="Segoe UI" panose="020B0502040204020203" pitchFamily="34" charset="0"/>
              </a:rPr>
              <a:t>n</a:t>
            </a:r>
            <a:r>
              <a:rPr lang="en-US" b="0" i="0" dirty="0">
                <a:solidFill>
                  <a:srgbClr val="171717"/>
                </a:solidFill>
                <a:effectLst/>
                <a:latin typeface="Segoe UI" panose="020B0502040204020203" pitchFamily="34" charset="0"/>
              </a:rPr>
              <a:t> health probe responses. If at least </a:t>
            </a:r>
            <a:r>
              <a:rPr lang="en-US" b="0" i="1" dirty="0">
                <a:solidFill>
                  <a:srgbClr val="171717"/>
                </a:solidFill>
                <a:effectLst/>
                <a:latin typeface="Segoe UI" panose="020B0502040204020203" pitchFamily="34" charset="0"/>
              </a:rPr>
              <a:t>x</a:t>
            </a:r>
            <a:r>
              <a:rPr lang="en-US" b="0" i="0" dirty="0">
                <a:solidFill>
                  <a:srgbClr val="171717"/>
                </a:solidFill>
                <a:effectLst/>
                <a:latin typeface="Segoe UI" panose="020B0502040204020203" pitchFamily="34" charset="0"/>
              </a:rPr>
              <a:t> are healthy, the backend is considered healthy.</a:t>
            </a:r>
          </a:p>
          <a:p>
            <a:pPr marL="742950" lvl="1" indent="-285750" algn="l">
              <a:buFont typeface="+mj-lt"/>
              <a:buAutoNum type="arabicPeriod"/>
            </a:pPr>
            <a:r>
              <a:rPr lang="en-US" b="0" i="1" dirty="0">
                <a:solidFill>
                  <a:srgbClr val="171717"/>
                </a:solidFill>
                <a:effectLst/>
                <a:latin typeface="Segoe UI" panose="020B0502040204020203" pitchFamily="34" charset="0"/>
              </a:rPr>
              <a:t>n</a:t>
            </a:r>
            <a:r>
              <a:rPr lang="en-US" b="0" i="0" dirty="0">
                <a:solidFill>
                  <a:srgbClr val="171717"/>
                </a:solidFill>
                <a:effectLst/>
                <a:latin typeface="Segoe UI" panose="020B0502040204020203" pitchFamily="34" charset="0"/>
              </a:rPr>
              <a:t> is configured by changing the SampleSize property in load-balancing settings.</a:t>
            </a:r>
          </a:p>
          <a:p>
            <a:pPr marL="742950" lvl="1" indent="-285750" algn="l">
              <a:buFont typeface="+mj-lt"/>
              <a:buAutoNum type="arabicPeriod"/>
            </a:pPr>
            <a:r>
              <a:rPr lang="en-US" b="0" i="1" dirty="0">
                <a:solidFill>
                  <a:srgbClr val="171717"/>
                </a:solidFill>
                <a:effectLst/>
                <a:latin typeface="Segoe UI" panose="020B0502040204020203" pitchFamily="34" charset="0"/>
              </a:rPr>
              <a:t>x</a:t>
            </a:r>
            <a:r>
              <a:rPr lang="en-US" b="0" i="0" dirty="0">
                <a:solidFill>
                  <a:srgbClr val="171717"/>
                </a:solidFill>
                <a:effectLst/>
                <a:latin typeface="Segoe UI" panose="020B0502040204020203" pitchFamily="34" charset="0"/>
              </a:rPr>
              <a:t> is configured by changing the </a:t>
            </a:r>
            <a:r>
              <a:rPr lang="en-US" b="0" i="0" dirty="0" err="1">
                <a:solidFill>
                  <a:srgbClr val="171717"/>
                </a:solidFill>
                <a:effectLst/>
                <a:latin typeface="Segoe UI" panose="020B0502040204020203" pitchFamily="34" charset="0"/>
              </a:rPr>
              <a:t>SuccessfulSamplesRequired</a:t>
            </a:r>
            <a:r>
              <a:rPr lang="en-US" b="0" i="0" dirty="0">
                <a:solidFill>
                  <a:srgbClr val="171717"/>
                </a:solidFill>
                <a:effectLst/>
                <a:latin typeface="Segoe UI" panose="020B0502040204020203" pitchFamily="34" charset="0"/>
              </a:rPr>
              <a:t> property in load-balancing settings.</a:t>
            </a:r>
          </a:p>
          <a:p>
            <a:pPr algn="l">
              <a:buFont typeface="+mj-lt"/>
              <a:buAutoNum type="arabicPeriod"/>
            </a:pPr>
            <a:r>
              <a:rPr lang="en-US" b="0" i="0" dirty="0">
                <a:solidFill>
                  <a:srgbClr val="171717"/>
                </a:solidFill>
                <a:effectLst/>
                <a:latin typeface="Segoe UI" panose="020B0502040204020203" pitchFamily="34" charset="0"/>
              </a:rPr>
              <a:t>For the sets of healthy backends in the backend pool, Front Door additionally measures and maintains the latency (round-trip time) for each backend.</a:t>
            </a:r>
          </a:p>
          <a:p>
            <a:endParaRPr lang="en-US" dirty="0"/>
          </a:p>
        </p:txBody>
      </p:sp>
      <p:sp>
        <p:nvSpPr>
          <p:cNvPr id="4" name="Slide Number Placeholder 3"/>
          <p:cNvSpPr>
            <a:spLocks noGrp="1"/>
          </p:cNvSpPr>
          <p:nvPr>
            <p:ph type="sldNum" sz="quarter" idx="5"/>
          </p:nvPr>
        </p:nvSpPr>
        <p:spPr/>
        <p:txBody>
          <a:bodyPr/>
          <a:lstStyle/>
          <a:p>
            <a:fld id="{7ED71946-7F25-4DC3-8178-A8EB9E502608}" type="slidenum">
              <a:rPr lang="en-US" smtClean="0"/>
              <a:t>31</a:t>
            </a:fld>
            <a:endParaRPr lang="en-US"/>
          </a:p>
        </p:txBody>
      </p:sp>
    </p:spTree>
    <p:extLst>
      <p:ext uri="{BB962C8B-B14F-4D97-AF65-F5344CB8AC3E}">
        <p14:creationId xmlns:p14="http://schemas.microsoft.com/office/powerpoint/2010/main" val="4131762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Front Door Configuration </a:t>
            </a:r>
          </a:p>
          <a:p>
            <a:endParaRPr lang="en-US" dirty="0"/>
          </a:p>
          <a:p>
            <a:pPr algn="l"/>
            <a:r>
              <a:rPr lang="en-US" b="1" i="0" dirty="0">
                <a:solidFill>
                  <a:srgbClr val="171717"/>
                </a:solidFill>
                <a:effectLst/>
                <a:latin typeface="Segoe UI" panose="020B0502040204020203" pitchFamily="34" charset="0"/>
              </a:rPr>
              <a:t>Does Azure Front Door also support re-encryption of traffic to the backend?</a:t>
            </a:r>
          </a:p>
          <a:p>
            <a:pPr algn="l"/>
            <a:r>
              <a:rPr lang="en-US" b="0" i="0" dirty="0">
                <a:solidFill>
                  <a:srgbClr val="171717"/>
                </a:solidFill>
                <a:effectLst/>
                <a:latin typeface="Segoe UI" panose="020B0502040204020203" pitchFamily="34" charset="0"/>
              </a:rPr>
              <a:t>Yes, Azure Front Door supports TLS/SSL offload, and end to end TLS, which re-encrypts the traffic to the backend. In fact, since the connections to the backend happen over its public IP, it is recommended that you configure your Front Door to use HTTPS as the forwarding protocol.</a:t>
            </a:r>
          </a:p>
          <a:p>
            <a:endParaRPr lang="en-US" dirty="0"/>
          </a:p>
          <a:p>
            <a:r>
              <a:rPr lang="en-US" dirty="0">
                <a:hlinkClick r:id="rId3"/>
              </a:rPr>
              <a:t>Create a Front Door with HTTP to HTTPS redirection using the Azure portal | Microsoft Docs</a:t>
            </a:r>
            <a:endParaRPr lang="en-US" dirty="0"/>
          </a:p>
        </p:txBody>
      </p:sp>
      <p:sp>
        <p:nvSpPr>
          <p:cNvPr id="4" name="Slide Number Placeholder 3"/>
          <p:cNvSpPr>
            <a:spLocks noGrp="1"/>
          </p:cNvSpPr>
          <p:nvPr>
            <p:ph type="sldNum" sz="quarter" idx="5"/>
          </p:nvPr>
        </p:nvSpPr>
        <p:spPr/>
        <p:txBody>
          <a:bodyPr/>
          <a:lstStyle/>
          <a:p>
            <a:fld id="{7ED71946-7F25-4DC3-8178-A8EB9E502608}" type="slidenum">
              <a:rPr lang="en-US" smtClean="0"/>
              <a:t>32</a:t>
            </a:fld>
            <a:endParaRPr lang="en-US"/>
          </a:p>
        </p:txBody>
      </p:sp>
    </p:spTree>
    <p:extLst>
      <p:ext uri="{BB962C8B-B14F-4D97-AF65-F5344CB8AC3E}">
        <p14:creationId xmlns:p14="http://schemas.microsoft.com/office/powerpoint/2010/main" val="31167237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Quickstart: Set up high availability with Azure Front Door Service - Azure portal | Microsoft Docs</a:t>
            </a:r>
            <a:endParaRPr lang="en-US" dirty="0"/>
          </a:p>
        </p:txBody>
      </p:sp>
      <p:sp>
        <p:nvSpPr>
          <p:cNvPr id="4" name="Slide Number Placeholder 3"/>
          <p:cNvSpPr>
            <a:spLocks noGrp="1"/>
          </p:cNvSpPr>
          <p:nvPr>
            <p:ph type="sldNum" sz="quarter" idx="5"/>
          </p:nvPr>
        </p:nvSpPr>
        <p:spPr/>
        <p:txBody>
          <a:bodyPr/>
          <a:lstStyle/>
          <a:p>
            <a:fld id="{7ED71946-7F25-4DC3-8178-A8EB9E502608}" type="slidenum">
              <a:rPr lang="en-US" smtClean="0"/>
              <a:t>33</a:t>
            </a:fld>
            <a:endParaRPr lang="en-US"/>
          </a:p>
        </p:txBody>
      </p:sp>
    </p:spTree>
    <p:extLst>
      <p:ext uri="{BB962C8B-B14F-4D97-AF65-F5344CB8AC3E}">
        <p14:creationId xmlns:p14="http://schemas.microsoft.com/office/powerpoint/2010/main" val="1414140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34</a:t>
            </a:fld>
            <a:endParaRPr lang="en-US" dirty="0"/>
          </a:p>
        </p:txBody>
      </p:sp>
    </p:spTree>
    <p:extLst>
      <p:ext uri="{BB962C8B-B14F-4D97-AF65-F5344CB8AC3E}">
        <p14:creationId xmlns:p14="http://schemas.microsoft.com/office/powerpoint/2010/main" val="29526231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35</a:t>
            </a:fld>
            <a:endParaRPr lang="en-US"/>
          </a:p>
        </p:txBody>
      </p:sp>
    </p:spTree>
    <p:extLst>
      <p:ext uri="{BB962C8B-B14F-4D97-AF65-F5344CB8AC3E}">
        <p14:creationId xmlns:p14="http://schemas.microsoft.com/office/powerpoint/2010/main" val="11668233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AZ-700-Designing-and-Implementing-Microsoft-Azure-Networking-Solutions/6-exercise-create-front-door-for-highly-available-web-application-using-azure-port.md at master · MicrosoftLearning/AZ-700-Designing-and-Implementing-Microsoft-Azure-Networking-Solutions (github.com)</a:t>
            </a:r>
            <a:endParaRPr lang="en-US" dirty="0"/>
          </a:p>
          <a:p>
            <a:endParaRPr lang="en-US" dirty="0"/>
          </a:p>
          <a:p>
            <a:r>
              <a:rPr lang="en-US" dirty="0"/>
              <a:t>https://microsoftlearning.github.io/AZ-700-Designing-and-Implementing-Microsoft-Azure-Networking-Solutions/Instructions/Exercises/M05-Unit%206%20Create%20a%20front%20door%20for%20a%20highly%20available%20web%20application%20using%20the%20Azure%20portal.html</a:t>
            </a:r>
          </a:p>
        </p:txBody>
      </p:sp>
      <p:sp>
        <p:nvSpPr>
          <p:cNvPr id="4" name="Slide Number Placeholder 3"/>
          <p:cNvSpPr>
            <a:spLocks noGrp="1"/>
          </p:cNvSpPr>
          <p:nvPr>
            <p:ph type="sldNum" sz="quarter" idx="5"/>
          </p:nvPr>
        </p:nvSpPr>
        <p:spPr/>
        <p:txBody>
          <a:bodyPr/>
          <a:lstStyle/>
          <a:p>
            <a:fld id="{7ED71946-7F25-4DC3-8178-A8EB9E502608}" type="slidenum">
              <a:rPr lang="en-US" smtClean="0"/>
              <a:t>36</a:t>
            </a:fld>
            <a:endParaRPr lang="en-US"/>
          </a:p>
        </p:txBody>
      </p:sp>
    </p:spTree>
    <p:extLst>
      <p:ext uri="{BB962C8B-B14F-4D97-AF65-F5344CB8AC3E}">
        <p14:creationId xmlns:p14="http://schemas.microsoft.com/office/powerpoint/2010/main" val="29158583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37</a:t>
            </a:fld>
            <a:endParaRPr lang="en-US" dirty="0"/>
          </a:p>
        </p:txBody>
      </p:sp>
    </p:spTree>
    <p:extLst>
      <p:ext uri="{BB962C8B-B14F-4D97-AF65-F5344CB8AC3E}">
        <p14:creationId xmlns:p14="http://schemas.microsoft.com/office/powerpoint/2010/main" val="2952623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3A829-5EE6-4E28-A457-820EED566A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DF5DBB-14D2-4575-B774-9DB9804E63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BDFEDF6-D38C-4439-87D7-46046CE5DF47}"/>
              </a:ext>
            </a:extLst>
          </p:cNvPr>
          <p:cNvSpPr>
            <a:spLocks noGrp="1"/>
          </p:cNvSpPr>
          <p:nvPr>
            <p:ph type="dt" sz="half" idx="10"/>
          </p:nvPr>
        </p:nvSpPr>
        <p:spPr/>
        <p:txBody>
          <a:bodyPr/>
          <a:lstStyle/>
          <a:p>
            <a:fld id="{29609F46-181F-4985-9D4A-3D68ABF5A3E6}" type="datetimeFigureOut">
              <a:rPr lang="en-US" smtClean="0"/>
              <a:t>4/26/2022</a:t>
            </a:fld>
            <a:endParaRPr lang="en-US"/>
          </a:p>
        </p:txBody>
      </p:sp>
      <p:sp>
        <p:nvSpPr>
          <p:cNvPr id="5" name="Footer Placeholder 4">
            <a:extLst>
              <a:ext uri="{FF2B5EF4-FFF2-40B4-BE49-F238E27FC236}">
                <a16:creationId xmlns:a16="http://schemas.microsoft.com/office/drawing/2014/main" id="{B628BBA0-8C10-4F16-8F72-2557500569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E2F2BB-5D68-44D3-A0D2-F464A3C59069}"/>
              </a:ext>
            </a:extLst>
          </p:cNvPr>
          <p:cNvSpPr>
            <a:spLocks noGrp="1"/>
          </p:cNvSpPr>
          <p:nvPr>
            <p:ph type="sldNum" sz="quarter" idx="12"/>
          </p:nvPr>
        </p:nvSpPr>
        <p:spPr/>
        <p:txBody>
          <a:bodyPr/>
          <a:lstStyle/>
          <a:p>
            <a:fld id="{069AF95B-F519-4D89-B363-CBD78FBEF37F}" type="slidenum">
              <a:rPr lang="en-US" smtClean="0"/>
              <a:t>‹#›</a:t>
            </a:fld>
            <a:endParaRPr lang="en-US"/>
          </a:p>
        </p:txBody>
      </p:sp>
    </p:spTree>
    <p:extLst>
      <p:ext uri="{BB962C8B-B14F-4D97-AF65-F5344CB8AC3E}">
        <p14:creationId xmlns:p14="http://schemas.microsoft.com/office/powerpoint/2010/main" val="2736704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71EF4-4431-4BB8-B08D-AD06B66F8B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B64BCC-31D8-4292-9472-792C419487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F1E169-0DCB-4517-9907-20BDA73326CC}"/>
              </a:ext>
            </a:extLst>
          </p:cNvPr>
          <p:cNvSpPr>
            <a:spLocks noGrp="1"/>
          </p:cNvSpPr>
          <p:nvPr>
            <p:ph type="dt" sz="half" idx="10"/>
          </p:nvPr>
        </p:nvSpPr>
        <p:spPr/>
        <p:txBody>
          <a:bodyPr/>
          <a:lstStyle/>
          <a:p>
            <a:fld id="{29609F46-181F-4985-9D4A-3D68ABF5A3E6}" type="datetimeFigureOut">
              <a:rPr lang="en-US" smtClean="0"/>
              <a:t>4/26/2022</a:t>
            </a:fld>
            <a:endParaRPr lang="en-US"/>
          </a:p>
        </p:txBody>
      </p:sp>
      <p:sp>
        <p:nvSpPr>
          <p:cNvPr id="5" name="Footer Placeholder 4">
            <a:extLst>
              <a:ext uri="{FF2B5EF4-FFF2-40B4-BE49-F238E27FC236}">
                <a16:creationId xmlns:a16="http://schemas.microsoft.com/office/drawing/2014/main" id="{74E7B357-A4BA-4412-BD22-17F853E3DC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99E067-6656-4F5F-9670-7A385C5A33F5}"/>
              </a:ext>
            </a:extLst>
          </p:cNvPr>
          <p:cNvSpPr>
            <a:spLocks noGrp="1"/>
          </p:cNvSpPr>
          <p:nvPr>
            <p:ph type="sldNum" sz="quarter" idx="12"/>
          </p:nvPr>
        </p:nvSpPr>
        <p:spPr/>
        <p:txBody>
          <a:bodyPr/>
          <a:lstStyle/>
          <a:p>
            <a:fld id="{069AF95B-F519-4D89-B363-CBD78FBEF37F}" type="slidenum">
              <a:rPr lang="en-US" smtClean="0"/>
              <a:t>‹#›</a:t>
            </a:fld>
            <a:endParaRPr lang="en-US"/>
          </a:p>
        </p:txBody>
      </p:sp>
    </p:spTree>
    <p:extLst>
      <p:ext uri="{BB962C8B-B14F-4D97-AF65-F5344CB8AC3E}">
        <p14:creationId xmlns:p14="http://schemas.microsoft.com/office/powerpoint/2010/main" val="44541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C9909-3630-4FD7-94A5-2A926C9C36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FACE5C-837C-434A-A9A8-CA4709E7B0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E6AB80-F867-41A4-B550-E070A3D51CCF}"/>
              </a:ext>
            </a:extLst>
          </p:cNvPr>
          <p:cNvSpPr>
            <a:spLocks noGrp="1"/>
          </p:cNvSpPr>
          <p:nvPr>
            <p:ph type="dt" sz="half" idx="10"/>
          </p:nvPr>
        </p:nvSpPr>
        <p:spPr/>
        <p:txBody>
          <a:bodyPr/>
          <a:lstStyle/>
          <a:p>
            <a:fld id="{29609F46-181F-4985-9D4A-3D68ABF5A3E6}" type="datetimeFigureOut">
              <a:rPr lang="en-US" smtClean="0"/>
              <a:t>4/26/2022</a:t>
            </a:fld>
            <a:endParaRPr lang="en-US"/>
          </a:p>
        </p:txBody>
      </p:sp>
      <p:sp>
        <p:nvSpPr>
          <p:cNvPr id="5" name="Footer Placeholder 4">
            <a:extLst>
              <a:ext uri="{FF2B5EF4-FFF2-40B4-BE49-F238E27FC236}">
                <a16:creationId xmlns:a16="http://schemas.microsoft.com/office/drawing/2014/main" id="{748A194B-6105-4B71-8E28-50C8B8AC43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301C86-AD4C-43CC-B222-FF83B892311D}"/>
              </a:ext>
            </a:extLst>
          </p:cNvPr>
          <p:cNvSpPr>
            <a:spLocks noGrp="1"/>
          </p:cNvSpPr>
          <p:nvPr>
            <p:ph type="sldNum" sz="quarter" idx="12"/>
          </p:nvPr>
        </p:nvSpPr>
        <p:spPr/>
        <p:txBody>
          <a:bodyPr/>
          <a:lstStyle/>
          <a:p>
            <a:fld id="{069AF95B-F519-4D89-B363-CBD78FBEF37F}" type="slidenum">
              <a:rPr lang="en-US" smtClean="0"/>
              <a:t>‹#›</a:t>
            </a:fld>
            <a:endParaRPr lang="en-US"/>
          </a:p>
        </p:txBody>
      </p:sp>
    </p:spTree>
    <p:extLst>
      <p:ext uri="{BB962C8B-B14F-4D97-AF65-F5344CB8AC3E}">
        <p14:creationId xmlns:p14="http://schemas.microsoft.com/office/powerpoint/2010/main" val="292285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8EC2E-53F9-47FD-B5E4-990ADC9300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8D30D5-6DD9-486A-AD94-056C8E2C28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186648-D5F2-4352-A259-CE85E9A2AC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9A0E1B-EC9D-4159-AF90-44A45623DEF4}"/>
              </a:ext>
            </a:extLst>
          </p:cNvPr>
          <p:cNvSpPr>
            <a:spLocks noGrp="1"/>
          </p:cNvSpPr>
          <p:nvPr>
            <p:ph type="dt" sz="half" idx="10"/>
          </p:nvPr>
        </p:nvSpPr>
        <p:spPr/>
        <p:txBody>
          <a:bodyPr/>
          <a:lstStyle/>
          <a:p>
            <a:fld id="{29609F46-181F-4985-9D4A-3D68ABF5A3E6}" type="datetimeFigureOut">
              <a:rPr lang="en-US" smtClean="0"/>
              <a:t>4/26/2022</a:t>
            </a:fld>
            <a:endParaRPr lang="en-US"/>
          </a:p>
        </p:txBody>
      </p:sp>
      <p:sp>
        <p:nvSpPr>
          <p:cNvPr id="6" name="Footer Placeholder 5">
            <a:extLst>
              <a:ext uri="{FF2B5EF4-FFF2-40B4-BE49-F238E27FC236}">
                <a16:creationId xmlns:a16="http://schemas.microsoft.com/office/drawing/2014/main" id="{CE86E5CC-DA9B-4049-93C7-18014E7F43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B1DBD2-D116-4DC6-8B80-9866B7E1832C}"/>
              </a:ext>
            </a:extLst>
          </p:cNvPr>
          <p:cNvSpPr>
            <a:spLocks noGrp="1"/>
          </p:cNvSpPr>
          <p:nvPr>
            <p:ph type="sldNum" sz="quarter" idx="12"/>
          </p:nvPr>
        </p:nvSpPr>
        <p:spPr/>
        <p:txBody>
          <a:bodyPr/>
          <a:lstStyle/>
          <a:p>
            <a:fld id="{069AF95B-F519-4D89-B363-CBD78FBEF37F}" type="slidenum">
              <a:rPr lang="en-US" smtClean="0"/>
              <a:t>‹#›</a:t>
            </a:fld>
            <a:endParaRPr lang="en-US"/>
          </a:p>
        </p:txBody>
      </p:sp>
    </p:spTree>
    <p:extLst>
      <p:ext uri="{BB962C8B-B14F-4D97-AF65-F5344CB8AC3E}">
        <p14:creationId xmlns:p14="http://schemas.microsoft.com/office/powerpoint/2010/main" val="312187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11E3E-8C2A-4CFD-BF84-6457ADCF42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3DA17C-35C5-4783-8607-12CA7E2335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69AF22-96D9-41C7-8783-8BF72C8E7F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23DEEF9-4E1E-4D2A-BC70-74FDB02535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80C2EA-079A-4514-9BC8-34717C0D9C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387DBB-B48C-4456-A1CA-5F3A35175ECA}"/>
              </a:ext>
            </a:extLst>
          </p:cNvPr>
          <p:cNvSpPr>
            <a:spLocks noGrp="1"/>
          </p:cNvSpPr>
          <p:nvPr>
            <p:ph type="dt" sz="half" idx="10"/>
          </p:nvPr>
        </p:nvSpPr>
        <p:spPr/>
        <p:txBody>
          <a:bodyPr/>
          <a:lstStyle/>
          <a:p>
            <a:fld id="{29609F46-181F-4985-9D4A-3D68ABF5A3E6}" type="datetimeFigureOut">
              <a:rPr lang="en-US" smtClean="0"/>
              <a:t>4/26/2022</a:t>
            </a:fld>
            <a:endParaRPr lang="en-US"/>
          </a:p>
        </p:txBody>
      </p:sp>
      <p:sp>
        <p:nvSpPr>
          <p:cNvPr id="8" name="Footer Placeholder 7">
            <a:extLst>
              <a:ext uri="{FF2B5EF4-FFF2-40B4-BE49-F238E27FC236}">
                <a16:creationId xmlns:a16="http://schemas.microsoft.com/office/drawing/2014/main" id="{B0A2E819-5260-47B1-A3FD-0FD888F426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19AA89-57EA-44EC-8FF7-E9B4EBB04721}"/>
              </a:ext>
            </a:extLst>
          </p:cNvPr>
          <p:cNvSpPr>
            <a:spLocks noGrp="1"/>
          </p:cNvSpPr>
          <p:nvPr>
            <p:ph type="sldNum" sz="quarter" idx="12"/>
          </p:nvPr>
        </p:nvSpPr>
        <p:spPr/>
        <p:txBody>
          <a:bodyPr/>
          <a:lstStyle/>
          <a:p>
            <a:fld id="{069AF95B-F519-4D89-B363-CBD78FBEF37F}" type="slidenum">
              <a:rPr lang="en-US" smtClean="0"/>
              <a:t>‹#›</a:t>
            </a:fld>
            <a:endParaRPr lang="en-US"/>
          </a:p>
        </p:txBody>
      </p:sp>
    </p:spTree>
    <p:extLst>
      <p:ext uri="{BB962C8B-B14F-4D97-AF65-F5344CB8AC3E}">
        <p14:creationId xmlns:p14="http://schemas.microsoft.com/office/powerpoint/2010/main" val="494637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ECCCB-3056-4D8D-BB3F-7114B7FA15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6CE47A-6106-4C4D-A703-D5671CC2C6B5}"/>
              </a:ext>
            </a:extLst>
          </p:cNvPr>
          <p:cNvSpPr>
            <a:spLocks noGrp="1"/>
          </p:cNvSpPr>
          <p:nvPr>
            <p:ph type="dt" sz="half" idx="10"/>
          </p:nvPr>
        </p:nvSpPr>
        <p:spPr/>
        <p:txBody>
          <a:bodyPr/>
          <a:lstStyle/>
          <a:p>
            <a:fld id="{29609F46-181F-4985-9D4A-3D68ABF5A3E6}" type="datetimeFigureOut">
              <a:rPr lang="en-US" smtClean="0"/>
              <a:t>4/26/2022</a:t>
            </a:fld>
            <a:endParaRPr lang="en-US"/>
          </a:p>
        </p:txBody>
      </p:sp>
      <p:sp>
        <p:nvSpPr>
          <p:cNvPr id="4" name="Footer Placeholder 3">
            <a:extLst>
              <a:ext uri="{FF2B5EF4-FFF2-40B4-BE49-F238E27FC236}">
                <a16:creationId xmlns:a16="http://schemas.microsoft.com/office/drawing/2014/main" id="{96F27579-F15C-451A-B8F5-7D9B1760D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D904A6-62D3-40FF-977B-1BA7985C9B0E}"/>
              </a:ext>
            </a:extLst>
          </p:cNvPr>
          <p:cNvSpPr>
            <a:spLocks noGrp="1"/>
          </p:cNvSpPr>
          <p:nvPr>
            <p:ph type="sldNum" sz="quarter" idx="12"/>
          </p:nvPr>
        </p:nvSpPr>
        <p:spPr/>
        <p:txBody>
          <a:bodyPr/>
          <a:lstStyle/>
          <a:p>
            <a:fld id="{069AF95B-F519-4D89-B363-CBD78FBEF37F}" type="slidenum">
              <a:rPr lang="en-US" smtClean="0"/>
              <a:t>‹#›</a:t>
            </a:fld>
            <a:endParaRPr lang="en-US"/>
          </a:p>
        </p:txBody>
      </p:sp>
    </p:spTree>
    <p:extLst>
      <p:ext uri="{BB962C8B-B14F-4D97-AF65-F5344CB8AC3E}">
        <p14:creationId xmlns:p14="http://schemas.microsoft.com/office/powerpoint/2010/main" val="2403470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989343-6EDF-417E-8131-211A547C514D}"/>
              </a:ext>
            </a:extLst>
          </p:cNvPr>
          <p:cNvSpPr>
            <a:spLocks noGrp="1"/>
          </p:cNvSpPr>
          <p:nvPr>
            <p:ph type="dt" sz="half" idx="10"/>
          </p:nvPr>
        </p:nvSpPr>
        <p:spPr/>
        <p:txBody>
          <a:bodyPr/>
          <a:lstStyle/>
          <a:p>
            <a:fld id="{29609F46-181F-4985-9D4A-3D68ABF5A3E6}" type="datetimeFigureOut">
              <a:rPr lang="en-US" smtClean="0"/>
              <a:t>4/26/2022</a:t>
            </a:fld>
            <a:endParaRPr lang="en-US"/>
          </a:p>
        </p:txBody>
      </p:sp>
      <p:sp>
        <p:nvSpPr>
          <p:cNvPr id="3" name="Footer Placeholder 2">
            <a:extLst>
              <a:ext uri="{FF2B5EF4-FFF2-40B4-BE49-F238E27FC236}">
                <a16:creationId xmlns:a16="http://schemas.microsoft.com/office/drawing/2014/main" id="{74C78792-ED31-422F-8940-0C0ED778D4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8B454A-4DC4-4BB6-8450-BDE987E08748}"/>
              </a:ext>
            </a:extLst>
          </p:cNvPr>
          <p:cNvSpPr>
            <a:spLocks noGrp="1"/>
          </p:cNvSpPr>
          <p:nvPr>
            <p:ph type="sldNum" sz="quarter" idx="12"/>
          </p:nvPr>
        </p:nvSpPr>
        <p:spPr/>
        <p:txBody>
          <a:bodyPr/>
          <a:lstStyle/>
          <a:p>
            <a:fld id="{069AF95B-F519-4D89-B363-CBD78FBEF37F}" type="slidenum">
              <a:rPr lang="en-US" smtClean="0"/>
              <a:t>‹#›</a:t>
            </a:fld>
            <a:endParaRPr lang="en-US"/>
          </a:p>
        </p:txBody>
      </p:sp>
    </p:spTree>
    <p:extLst>
      <p:ext uri="{BB962C8B-B14F-4D97-AF65-F5344CB8AC3E}">
        <p14:creationId xmlns:p14="http://schemas.microsoft.com/office/powerpoint/2010/main" val="3512224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947B2-2636-455B-A792-D3DDE48A72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B580BA-02A6-44FD-8079-2284A4DCDC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26B0E6-80B9-4B2D-A892-EFA0D4A97C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164BB8-D976-438A-BED1-B1AA8A10B883}"/>
              </a:ext>
            </a:extLst>
          </p:cNvPr>
          <p:cNvSpPr>
            <a:spLocks noGrp="1"/>
          </p:cNvSpPr>
          <p:nvPr>
            <p:ph type="dt" sz="half" idx="10"/>
          </p:nvPr>
        </p:nvSpPr>
        <p:spPr/>
        <p:txBody>
          <a:bodyPr/>
          <a:lstStyle/>
          <a:p>
            <a:fld id="{29609F46-181F-4985-9D4A-3D68ABF5A3E6}" type="datetimeFigureOut">
              <a:rPr lang="en-US" smtClean="0"/>
              <a:t>4/26/2022</a:t>
            </a:fld>
            <a:endParaRPr lang="en-US"/>
          </a:p>
        </p:txBody>
      </p:sp>
      <p:sp>
        <p:nvSpPr>
          <p:cNvPr id="6" name="Footer Placeholder 5">
            <a:extLst>
              <a:ext uri="{FF2B5EF4-FFF2-40B4-BE49-F238E27FC236}">
                <a16:creationId xmlns:a16="http://schemas.microsoft.com/office/drawing/2014/main" id="{AE015F2A-C06D-4134-B777-4F8AB61F37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DD1235-2969-482A-84FC-C64CB3E6BED6}"/>
              </a:ext>
            </a:extLst>
          </p:cNvPr>
          <p:cNvSpPr>
            <a:spLocks noGrp="1"/>
          </p:cNvSpPr>
          <p:nvPr>
            <p:ph type="sldNum" sz="quarter" idx="12"/>
          </p:nvPr>
        </p:nvSpPr>
        <p:spPr/>
        <p:txBody>
          <a:bodyPr/>
          <a:lstStyle/>
          <a:p>
            <a:fld id="{069AF95B-F519-4D89-B363-CBD78FBEF37F}" type="slidenum">
              <a:rPr lang="en-US" smtClean="0"/>
              <a:t>‹#›</a:t>
            </a:fld>
            <a:endParaRPr lang="en-US"/>
          </a:p>
        </p:txBody>
      </p:sp>
    </p:spTree>
    <p:extLst>
      <p:ext uri="{BB962C8B-B14F-4D97-AF65-F5344CB8AC3E}">
        <p14:creationId xmlns:p14="http://schemas.microsoft.com/office/powerpoint/2010/main" val="363760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8F023-6CA2-47AE-9E7C-79CC5D1DD3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B82E76-865E-4BB1-B959-6D53F98BE6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010245-D66F-4D93-B0BA-DBB8E9112A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6911B7-55E9-4535-B1F1-B6DCB2549F08}"/>
              </a:ext>
            </a:extLst>
          </p:cNvPr>
          <p:cNvSpPr>
            <a:spLocks noGrp="1"/>
          </p:cNvSpPr>
          <p:nvPr>
            <p:ph type="dt" sz="half" idx="10"/>
          </p:nvPr>
        </p:nvSpPr>
        <p:spPr/>
        <p:txBody>
          <a:bodyPr/>
          <a:lstStyle/>
          <a:p>
            <a:fld id="{29609F46-181F-4985-9D4A-3D68ABF5A3E6}" type="datetimeFigureOut">
              <a:rPr lang="en-US" smtClean="0"/>
              <a:t>4/26/2022</a:t>
            </a:fld>
            <a:endParaRPr lang="en-US"/>
          </a:p>
        </p:txBody>
      </p:sp>
      <p:sp>
        <p:nvSpPr>
          <p:cNvPr id="6" name="Footer Placeholder 5">
            <a:extLst>
              <a:ext uri="{FF2B5EF4-FFF2-40B4-BE49-F238E27FC236}">
                <a16:creationId xmlns:a16="http://schemas.microsoft.com/office/drawing/2014/main" id="{91E9ABA5-4388-4AFE-B18F-9003CBF60C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249799-4227-4C6F-ADC4-8AF36C504499}"/>
              </a:ext>
            </a:extLst>
          </p:cNvPr>
          <p:cNvSpPr>
            <a:spLocks noGrp="1"/>
          </p:cNvSpPr>
          <p:nvPr>
            <p:ph type="sldNum" sz="quarter" idx="12"/>
          </p:nvPr>
        </p:nvSpPr>
        <p:spPr/>
        <p:txBody>
          <a:bodyPr/>
          <a:lstStyle/>
          <a:p>
            <a:fld id="{069AF95B-F519-4D89-B363-CBD78FBEF37F}" type="slidenum">
              <a:rPr lang="en-US" smtClean="0"/>
              <a:t>‹#›</a:t>
            </a:fld>
            <a:endParaRPr lang="en-US"/>
          </a:p>
        </p:txBody>
      </p:sp>
    </p:spTree>
    <p:extLst>
      <p:ext uri="{BB962C8B-B14F-4D97-AF65-F5344CB8AC3E}">
        <p14:creationId xmlns:p14="http://schemas.microsoft.com/office/powerpoint/2010/main" val="4020627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1D258-2B90-4D94-8135-78ADC200E1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988DC9-3100-4945-AD1A-E933FF774B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8554BC-42AD-4C90-BFAE-D779FA304326}"/>
              </a:ext>
            </a:extLst>
          </p:cNvPr>
          <p:cNvSpPr>
            <a:spLocks noGrp="1"/>
          </p:cNvSpPr>
          <p:nvPr>
            <p:ph type="dt" sz="half" idx="10"/>
          </p:nvPr>
        </p:nvSpPr>
        <p:spPr/>
        <p:txBody>
          <a:bodyPr/>
          <a:lstStyle/>
          <a:p>
            <a:fld id="{29609F46-181F-4985-9D4A-3D68ABF5A3E6}" type="datetimeFigureOut">
              <a:rPr lang="en-US" smtClean="0"/>
              <a:t>4/26/2022</a:t>
            </a:fld>
            <a:endParaRPr lang="en-US"/>
          </a:p>
        </p:txBody>
      </p:sp>
      <p:sp>
        <p:nvSpPr>
          <p:cNvPr id="5" name="Footer Placeholder 4">
            <a:extLst>
              <a:ext uri="{FF2B5EF4-FFF2-40B4-BE49-F238E27FC236}">
                <a16:creationId xmlns:a16="http://schemas.microsoft.com/office/drawing/2014/main" id="{925EAB29-C4BF-4B51-8915-9CC60A79BE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07E4FD-2327-4465-A355-1FE1DED6C822}"/>
              </a:ext>
            </a:extLst>
          </p:cNvPr>
          <p:cNvSpPr>
            <a:spLocks noGrp="1"/>
          </p:cNvSpPr>
          <p:nvPr>
            <p:ph type="sldNum" sz="quarter" idx="12"/>
          </p:nvPr>
        </p:nvSpPr>
        <p:spPr/>
        <p:txBody>
          <a:bodyPr/>
          <a:lstStyle/>
          <a:p>
            <a:fld id="{069AF95B-F519-4D89-B363-CBD78FBEF37F}" type="slidenum">
              <a:rPr lang="en-US" smtClean="0"/>
              <a:t>‹#›</a:t>
            </a:fld>
            <a:endParaRPr lang="en-US"/>
          </a:p>
        </p:txBody>
      </p:sp>
    </p:spTree>
    <p:extLst>
      <p:ext uri="{BB962C8B-B14F-4D97-AF65-F5344CB8AC3E}">
        <p14:creationId xmlns:p14="http://schemas.microsoft.com/office/powerpoint/2010/main" val="1453786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7FFAC7-2CD4-4958-A83E-14667AE6B1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BFCB2B-FC67-40BA-98C6-7173A563A2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C94A85-85F9-4FEE-BD72-03B3F3DD7EC3}"/>
              </a:ext>
            </a:extLst>
          </p:cNvPr>
          <p:cNvSpPr>
            <a:spLocks noGrp="1"/>
          </p:cNvSpPr>
          <p:nvPr>
            <p:ph type="dt" sz="half" idx="10"/>
          </p:nvPr>
        </p:nvSpPr>
        <p:spPr/>
        <p:txBody>
          <a:bodyPr/>
          <a:lstStyle/>
          <a:p>
            <a:fld id="{29609F46-181F-4985-9D4A-3D68ABF5A3E6}" type="datetimeFigureOut">
              <a:rPr lang="en-US" smtClean="0"/>
              <a:t>4/26/2022</a:t>
            </a:fld>
            <a:endParaRPr lang="en-US"/>
          </a:p>
        </p:txBody>
      </p:sp>
      <p:sp>
        <p:nvSpPr>
          <p:cNvPr id="5" name="Footer Placeholder 4">
            <a:extLst>
              <a:ext uri="{FF2B5EF4-FFF2-40B4-BE49-F238E27FC236}">
                <a16:creationId xmlns:a16="http://schemas.microsoft.com/office/drawing/2014/main" id="{169FED1B-EEF7-47DE-AA83-8A0B124663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BBB7D6-5D7D-4634-94DC-53AE2D585C0E}"/>
              </a:ext>
            </a:extLst>
          </p:cNvPr>
          <p:cNvSpPr>
            <a:spLocks noGrp="1"/>
          </p:cNvSpPr>
          <p:nvPr>
            <p:ph type="sldNum" sz="quarter" idx="12"/>
          </p:nvPr>
        </p:nvSpPr>
        <p:spPr/>
        <p:txBody>
          <a:bodyPr/>
          <a:lstStyle/>
          <a:p>
            <a:fld id="{069AF95B-F519-4D89-B363-CBD78FBEF37F}" type="slidenum">
              <a:rPr lang="en-US" smtClean="0"/>
              <a:t>‹#›</a:t>
            </a:fld>
            <a:endParaRPr lang="en-US"/>
          </a:p>
        </p:txBody>
      </p:sp>
    </p:spTree>
    <p:extLst>
      <p:ext uri="{BB962C8B-B14F-4D97-AF65-F5344CB8AC3E}">
        <p14:creationId xmlns:p14="http://schemas.microsoft.com/office/powerpoint/2010/main" val="22774103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4">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endParaRPr lang="en-US"/>
          </a:p>
        </p:txBody>
      </p:sp>
      <p:pic>
        <p:nvPicPr>
          <p:cNvPr id="11" name="Picture 10" descr="Microsoft Azure logo">
            <a:extLst>
              <a:ext uri="{FF2B5EF4-FFF2-40B4-BE49-F238E27FC236}">
                <a16:creationId xmlns:a16="http://schemas.microsoft.com/office/drawing/2014/main" id="{AFDC29EE-BDE7-4363-B0FC-728521A3666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54169" y="439311"/>
            <a:ext cx="1335673" cy="188593"/>
          </a:xfrm>
          <a:prstGeom prst="rect">
            <a:avLst/>
          </a:prstGeom>
        </p:spPr>
      </p:pic>
      <p:sp>
        <p:nvSpPr>
          <p:cNvPr id="3" name="Footer Placeholder 1">
            <a:extLst>
              <a:ext uri="{FF2B5EF4-FFF2-40B4-BE49-F238E27FC236}">
                <a16:creationId xmlns:a16="http://schemas.microsoft.com/office/drawing/2014/main" id="{09EF93F2-5375-415F-A57E-76E392E44508}"/>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70488109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179701"/>
            <a:ext cx="8892608" cy="49859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
        <p:nvSpPr>
          <p:cNvPr id="2" name="Footer Placeholder 1">
            <a:extLst>
              <a:ext uri="{FF2B5EF4-FFF2-40B4-BE49-F238E27FC236}">
                <a16:creationId xmlns:a16="http://schemas.microsoft.com/office/drawing/2014/main" id="{CAC636FD-8B7A-4800-AB08-3D6AA6585803}"/>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135116662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3" name="Footer Placeholder 1">
            <a:extLst>
              <a:ext uri="{FF2B5EF4-FFF2-40B4-BE49-F238E27FC236}">
                <a16:creationId xmlns:a16="http://schemas.microsoft.com/office/drawing/2014/main" id="{321C5BC6-3576-4A3E-899B-09DB91CBC4CB}"/>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1305851829"/>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tx2"/>
                </a:solidFill>
              </a:defRPr>
            </a:lvl1pPr>
          </a:lstStyle>
          <a:p>
            <a:r>
              <a:rPr lang="en-US">
                <a:solidFill>
                  <a:schemeClr val="tx1"/>
                </a:solidFill>
              </a:rPr>
              <a:t>Microsoft Azure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F8B43D0D-A719-438E-B092-F8DB6E9C956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2" name="Picture 1" descr="Microsoft Azure logo">
            <a:extLst>
              <a:ext uri="{FF2B5EF4-FFF2-40B4-BE49-F238E27FC236}">
                <a16:creationId xmlns:a16="http://schemas.microsoft.com/office/drawing/2014/main" id="{D668B8DE-8869-4679-AEE9-FFC840F28501}"/>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0502029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bg2"/>
                </a:solidFill>
              </a:defRPr>
            </a:lvl1pPr>
          </a:lstStyle>
          <a:p>
            <a:r>
              <a:rPr lang="en-US"/>
              <a:t>Microsoft Azure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0AA712FF-FC9D-46B5-A459-E64B25CB6DF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2" name="Picture 1" descr="Microsoft Azure logo">
            <a:extLst>
              <a:ext uri="{FF2B5EF4-FFF2-40B4-BE49-F238E27FC236}">
                <a16:creationId xmlns:a16="http://schemas.microsoft.com/office/drawing/2014/main" id="{02DCC0E7-1C9C-415C-8C35-2CC155580D7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7679115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3 with pictur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rgbClr val="000000"/>
                </a:solidFill>
              </a:defRPr>
            </a:lvl1pPr>
          </a:lstStyle>
          <a:p>
            <a:r>
              <a:rPr lang="en-US"/>
              <a:t>Microsoft Azure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3" name="Picture 2" descr="Microsoft Azure logo">
            <a:extLst>
              <a:ext uri="{FF2B5EF4-FFF2-40B4-BE49-F238E27FC236}">
                <a16:creationId xmlns:a16="http://schemas.microsoft.com/office/drawing/2014/main" id="{CF49581D-D3CF-40EF-B525-95539EB7C2D1}"/>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98CDC23F-FCF7-47E1-B4DA-D74A0C28B5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424200797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4" name="Footer Placeholder 1">
            <a:extLst>
              <a:ext uri="{FF2B5EF4-FFF2-40B4-BE49-F238E27FC236}">
                <a16:creationId xmlns:a16="http://schemas.microsoft.com/office/drawing/2014/main" id="{54FD6A87-9742-4B26-A085-EB77376E3B5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11" name="Group 10">
            <a:extLst>
              <a:ext uri="{FF2B5EF4-FFF2-40B4-BE49-F238E27FC236}">
                <a16:creationId xmlns:a16="http://schemas.microsoft.com/office/drawing/2014/main" id="{DBCFDBAA-F2E9-4E84-AF9D-6B3ABCD9121B}"/>
              </a:ext>
            </a:extLst>
          </p:cNvPr>
          <p:cNvGrpSpPr/>
          <p:nvPr userDrawn="1"/>
        </p:nvGrpSpPr>
        <p:grpSpPr>
          <a:xfrm>
            <a:off x="6383137" y="589416"/>
            <a:ext cx="5671978" cy="5679168"/>
            <a:chOff x="6383137" y="589416"/>
            <a:chExt cx="5671978" cy="5679168"/>
          </a:xfrm>
        </p:grpSpPr>
        <p:sp>
          <p:nvSpPr>
            <p:cNvPr id="12" name="Oval 11">
              <a:extLst>
                <a:ext uri="{FF2B5EF4-FFF2-40B4-BE49-F238E27FC236}">
                  <a16:creationId xmlns:a16="http://schemas.microsoft.com/office/drawing/2014/main" id="{7F4A7F08-7570-4702-A949-4835CCE9B03E}"/>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9E06BEA2-ABC1-4CD4-B9FC-F45A71AC9859}"/>
                </a:ext>
              </a:extLst>
            </p:cNvPr>
            <p:cNvGrpSpPr/>
            <p:nvPr userDrawn="1"/>
          </p:nvGrpSpPr>
          <p:grpSpPr>
            <a:xfrm>
              <a:off x="6600946" y="859776"/>
              <a:ext cx="5148588" cy="5138447"/>
              <a:chOff x="6600946" y="859776"/>
              <a:chExt cx="5148588" cy="5138447"/>
            </a:xfrm>
          </p:grpSpPr>
          <p:grpSp>
            <p:nvGrpSpPr>
              <p:cNvPr id="14" name="Graphic 1">
                <a:extLst>
                  <a:ext uri="{FF2B5EF4-FFF2-40B4-BE49-F238E27FC236}">
                    <a16:creationId xmlns:a16="http://schemas.microsoft.com/office/drawing/2014/main" id="{F9BAC21C-F989-4EBD-81C6-7EE9418B8FA2}"/>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26" name="Freeform: Shape 25">
                  <a:extLst>
                    <a:ext uri="{FF2B5EF4-FFF2-40B4-BE49-F238E27FC236}">
                      <a16:creationId xmlns:a16="http://schemas.microsoft.com/office/drawing/2014/main" id="{D8DED2E4-1305-4F89-A5A3-E9F04ED34E0F}"/>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27" name="Freeform: Shape 26">
                  <a:extLst>
                    <a:ext uri="{FF2B5EF4-FFF2-40B4-BE49-F238E27FC236}">
                      <a16:creationId xmlns:a16="http://schemas.microsoft.com/office/drawing/2014/main" id="{8B8FDFD2-6DC2-46C3-BEBA-C3C38CB0E8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28" name="Freeform: Shape 27">
                  <a:extLst>
                    <a:ext uri="{FF2B5EF4-FFF2-40B4-BE49-F238E27FC236}">
                      <a16:creationId xmlns:a16="http://schemas.microsoft.com/office/drawing/2014/main" id="{6E4C7E11-B3E1-4D45-B156-5EC4DE2F6D98}"/>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29" name="Freeform: Shape 28">
                  <a:extLst>
                    <a:ext uri="{FF2B5EF4-FFF2-40B4-BE49-F238E27FC236}">
                      <a16:creationId xmlns:a16="http://schemas.microsoft.com/office/drawing/2014/main" id="{539C0DAE-0A7B-47B1-9D94-46CF71201782}"/>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30" name="Freeform: Shape 29">
                  <a:extLst>
                    <a:ext uri="{FF2B5EF4-FFF2-40B4-BE49-F238E27FC236}">
                      <a16:creationId xmlns:a16="http://schemas.microsoft.com/office/drawing/2014/main" id="{9ED92269-8257-43A2-A5A6-A5D8531C86D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31" name="Freeform: Shape 30">
                  <a:extLst>
                    <a:ext uri="{FF2B5EF4-FFF2-40B4-BE49-F238E27FC236}">
                      <a16:creationId xmlns:a16="http://schemas.microsoft.com/office/drawing/2014/main" id="{210A87AF-2A78-4E38-9F04-A90BA7EFCCF9}"/>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32" name="Freeform: Shape 31">
                  <a:extLst>
                    <a:ext uri="{FF2B5EF4-FFF2-40B4-BE49-F238E27FC236}">
                      <a16:creationId xmlns:a16="http://schemas.microsoft.com/office/drawing/2014/main" id="{68AB032E-C55A-479E-967C-DDD3EBD31ACC}"/>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33" name="Freeform: Shape 32">
                  <a:extLst>
                    <a:ext uri="{FF2B5EF4-FFF2-40B4-BE49-F238E27FC236}">
                      <a16:creationId xmlns:a16="http://schemas.microsoft.com/office/drawing/2014/main" id="{0E920397-911B-4B13-9B54-DE6B738DA0C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34" name="Freeform: Shape 33">
                  <a:extLst>
                    <a:ext uri="{FF2B5EF4-FFF2-40B4-BE49-F238E27FC236}">
                      <a16:creationId xmlns:a16="http://schemas.microsoft.com/office/drawing/2014/main" id="{96906B36-03C9-4D78-9F2B-7404A5256EC0}"/>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35" name="Freeform: Shape 34">
                  <a:extLst>
                    <a:ext uri="{FF2B5EF4-FFF2-40B4-BE49-F238E27FC236}">
                      <a16:creationId xmlns:a16="http://schemas.microsoft.com/office/drawing/2014/main" id="{45B1856C-F96B-402D-875F-EFB4AD53D798}"/>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36" name="Freeform: Shape 35">
                  <a:extLst>
                    <a:ext uri="{FF2B5EF4-FFF2-40B4-BE49-F238E27FC236}">
                      <a16:creationId xmlns:a16="http://schemas.microsoft.com/office/drawing/2014/main" id="{527EA758-0E18-46FC-B237-13A9D2CFBA88}"/>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37" name="Freeform: Shape 36">
                  <a:extLst>
                    <a:ext uri="{FF2B5EF4-FFF2-40B4-BE49-F238E27FC236}">
                      <a16:creationId xmlns:a16="http://schemas.microsoft.com/office/drawing/2014/main" id="{908C230E-B5F2-4289-94E6-3AA7884E2C18}"/>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38" name="Freeform: Shape 37">
                  <a:extLst>
                    <a:ext uri="{FF2B5EF4-FFF2-40B4-BE49-F238E27FC236}">
                      <a16:creationId xmlns:a16="http://schemas.microsoft.com/office/drawing/2014/main" id="{E4EA9F46-94E7-46E0-BE8E-F6DCFF2545C1}"/>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39" name="Freeform: Shape 38">
                  <a:extLst>
                    <a:ext uri="{FF2B5EF4-FFF2-40B4-BE49-F238E27FC236}">
                      <a16:creationId xmlns:a16="http://schemas.microsoft.com/office/drawing/2014/main" id="{39AEC4BE-26B9-48DE-994D-6F2CF0101081}"/>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40" name="Freeform: Shape 39">
                  <a:extLst>
                    <a:ext uri="{FF2B5EF4-FFF2-40B4-BE49-F238E27FC236}">
                      <a16:creationId xmlns:a16="http://schemas.microsoft.com/office/drawing/2014/main" id="{F0BD796C-8AF4-40D5-BB9A-908F59971CD7}"/>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41" name="Freeform: Shape 40">
                  <a:extLst>
                    <a:ext uri="{FF2B5EF4-FFF2-40B4-BE49-F238E27FC236}">
                      <a16:creationId xmlns:a16="http://schemas.microsoft.com/office/drawing/2014/main" id="{448D5FB5-0EA7-4531-99EE-40DBB5DB06B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42" name="Freeform: Shape 41">
                  <a:extLst>
                    <a:ext uri="{FF2B5EF4-FFF2-40B4-BE49-F238E27FC236}">
                      <a16:creationId xmlns:a16="http://schemas.microsoft.com/office/drawing/2014/main" id="{0C1669B7-9FDA-4884-A519-157D40BC91A3}"/>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43" name="Freeform: Shape 42">
                  <a:extLst>
                    <a:ext uri="{FF2B5EF4-FFF2-40B4-BE49-F238E27FC236}">
                      <a16:creationId xmlns:a16="http://schemas.microsoft.com/office/drawing/2014/main" id="{DDF47D3A-C39D-447A-A0B5-A64D6B0BB3A7}"/>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44" name="Freeform: Shape 43">
                  <a:extLst>
                    <a:ext uri="{FF2B5EF4-FFF2-40B4-BE49-F238E27FC236}">
                      <a16:creationId xmlns:a16="http://schemas.microsoft.com/office/drawing/2014/main" id="{DBAD286D-44FA-469A-951B-64F495B9A811}"/>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45" name="Freeform: Shape 44">
                  <a:extLst>
                    <a:ext uri="{FF2B5EF4-FFF2-40B4-BE49-F238E27FC236}">
                      <a16:creationId xmlns:a16="http://schemas.microsoft.com/office/drawing/2014/main" id="{2E176131-CAD3-45CC-BEDF-6B6611AB620E}"/>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46" name="Freeform: Shape 45">
                  <a:extLst>
                    <a:ext uri="{FF2B5EF4-FFF2-40B4-BE49-F238E27FC236}">
                      <a16:creationId xmlns:a16="http://schemas.microsoft.com/office/drawing/2014/main" id="{4F78C6ED-873A-4154-B15B-2BC408976511}"/>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47" name="Freeform: Shape 46">
                  <a:extLst>
                    <a:ext uri="{FF2B5EF4-FFF2-40B4-BE49-F238E27FC236}">
                      <a16:creationId xmlns:a16="http://schemas.microsoft.com/office/drawing/2014/main" id="{04A7B95B-7472-40B2-854E-027E7157863B}"/>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48" name="Freeform: Shape 47">
                  <a:extLst>
                    <a:ext uri="{FF2B5EF4-FFF2-40B4-BE49-F238E27FC236}">
                      <a16:creationId xmlns:a16="http://schemas.microsoft.com/office/drawing/2014/main" id="{D1E0D023-04AB-4EA7-86EB-5DC683506A93}"/>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133E4CB6-70DA-48B3-919F-934A01EAB393}"/>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15" name="Oval 14">
                <a:extLst>
                  <a:ext uri="{FF2B5EF4-FFF2-40B4-BE49-F238E27FC236}">
                    <a16:creationId xmlns:a16="http://schemas.microsoft.com/office/drawing/2014/main" id="{EBEFECB7-4083-436F-9B0E-F4A5179D71CD}"/>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6" name="Oval 15">
                <a:extLst>
                  <a:ext uri="{FF2B5EF4-FFF2-40B4-BE49-F238E27FC236}">
                    <a16:creationId xmlns:a16="http://schemas.microsoft.com/office/drawing/2014/main" id="{BEB8C8F2-2DD9-4204-9366-0C9D26A0AD87}"/>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7" name="Oval 16">
                <a:extLst>
                  <a:ext uri="{FF2B5EF4-FFF2-40B4-BE49-F238E27FC236}">
                    <a16:creationId xmlns:a16="http://schemas.microsoft.com/office/drawing/2014/main" id="{65AFF4B0-EBFA-4304-9DEC-A9026312408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D73375B9-2A69-4279-BA8B-9EC491045BEE}"/>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8A2E957-C140-4B29-99D3-6FD7746A180A}"/>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16300C53-36AA-4E7E-AD14-AC9AE750D286}"/>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88B58FA7-A703-425C-9BB9-EBB81A1881A8}"/>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D546F9A5-1FE0-4E97-B232-0045AB1672E9}"/>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DA46D431-056B-4B33-A543-EB40F0760605}"/>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1704583607"/>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0" name="Rectangle 49">
            <a:extLst>
              <a:ext uri="{FF2B5EF4-FFF2-40B4-BE49-F238E27FC236}">
                <a16:creationId xmlns:a16="http://schemas.microsoft.com/office/drawing/2014/main" id="{37A90BB7-A791-4B6C-91BF-8EF300476D7D}"/>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C19A079F-8B9D-449D-B420-F4EF7A1D5E9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52" name="Graphic 1">
            <a:extLst>
              <a:ext uri="{FF2B5EF4-FFF2-40B4-BE49-F238E27FC236}">
                <a16:creationId xmlns:a16="http://schemas.microsoft.com/office/drawing/2014/main" id="{5A01E4FF-5A22-4C56-92F1-ED8F3BCB3235}"/>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53" name="Freeform: Shape 52">
              <a:extLst>
                <a:ext uri="{FF2B5EF4-FFF2-40B4-BE49-F238E27FC236}">
                  <a16:creationId xmlns:a16="http://schemas.microsoft.com/office/drawing/2014/main" id="{C711E0EF-4FC5-4891-9FB4-432207A728CB}"/>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EE57641A-AF3E-400C-8AA7-F20209F92A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512C9A55-F38D-4E3B-9DE0-DD7DDD71FA33}"/>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7E03F946-CF4F-4204-BF2F-E0902150AD1D}"/>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49B09F87-946A-433D-9992-D7E3FD05FD8E}"/>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C1337210-8357-4989-A7CC-EB827443CBC2}"/>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154D1046-5571-428F-B448-271030D0E9A0}"/>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819848F5-A2B8-443D-AF22-97FB2DF4876B}"/>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F986B27C-1D7B-46FA-94A0-188DCF22FF5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88941C66-D972-4E5A-B7CD-58766B53DD2B}"/>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CC2E0FF5-A5BB-4D0F-8410-10DCCFA64505}"/>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0A798B21-078E-4812-94B9-30093D70246A}"/>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AC19297F-DA07-4516-9BBF-8659DF752EE0}"/>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A3AE18E5-A02F-40DE-8341-C45B4B2DA52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54B1BE0D-C50F-42D3-A3BE-D285180D9CB2}"/>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4AC3DEFB-97DD-4FF8-B76B-919126D6964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F623C448-0661-484F-B7A8-47CBF1594BD4}"/>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188BFF0F-1D22-4EED-8860-C0B3607D7819}"/>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DB04FF8B-5663-4D9F-8998-56DE013503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72" name="Freeform: Shape 71">
              <a:extLst>
                <a:ext uri="{FF2B5EF4-FFF2-40B4-BE49-F238E27FC236}">
                  <a16:creationId xmlns:a16="http://schemas.microsoft.com/office/drawing/2014/main" id="{C0D23933-3442-4AC6-93FA-7696EEE1947F}"/>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73" name="Freeform: Shape 72">
              <a:extLst>
                <a:ext uri="{FF2B5EF4-FFF2-40B4-BE49-F238E27FC236}">
                  <a16:creationId xmlns:a16="http://schemas.microsoft.com/office/drawing/2014/main" id="{DC167EC8-E930-4642-820D-FDD0E733567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74" name="Freeform: Shape 73">
              <a:extLst>
                <a:ext uri="{FF2B5EF4-FFF2-40B4-BE49-F238E27FC236}">
                  <a16:creationId xmlns:a16="http://schemas.microsoft.com/office/drawing/2014/main" id="{84E621B6-517E-4FA3-B245-DCC6EF568FBA}"/>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5" name="Freeform: Shape 74">
              <a:extLst>
                <a:ext uri="{FF2B5EF4-FFF2-40B4-BE49-F238E27FC236}">
                  <a16:creationId xmlns:a16="http://schemas.microsoft.com/office/drawing/2014/main" id="{9BC4E032-2A0F-4F5F-80CC-02979FEE603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66E38735-30F9-43CF-A0FB-835E4191BCA9}"/>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 name="Footer Placeholder 1">
            <a:extLst>
              <a:ext uri="{FF2B5EF4-FFF2-40B4-BE49-F238E27FC236}">
                <a16:creationId xmlns:a16="http://schemas.microsoft.com/office/drawing/2014/main" id="{8B88EB9B-5426-4E42-BCAA-53723B726B44}"/>
              </a:ext>
            </a:extLst>
          </p:cNvPr>
          <p:cNvSpPr txBox="1">
            <a:spLocks/>
          </p:cNvSpPr>
          <p:nvPr userDrawn="1"/>
        </p:nvSpPr>
        <p:spPr>
          <a:xfrm>
            <a:off x="442466"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a:t>© Copyright Microsoft Corporation. All rights reserved.</a:t>
            </a:r>
          </a:p>
        </p:txBody>
      </p:sp>
    </p:spTree>
    <p:extLst>
      <p:ext uri="{BB962C8B-B14F-4D97-AF65-F5344CB8AC3E}">
        <p14:creationId xmlns:p14="http://schemas.microsoft.com/office/powerpoint/2010/main" val="83595495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69105763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ED00628-11CE-4014-89C6-CD5E5AF5AAF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493647077"/>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accent4"/>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F1375FA3-68AA-4B3B-BB83-932D76211D4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00760945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19100" y="1457326"/>
            <a:ext cx="11341100" cy="1808637"/>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2514880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48CAB561-C133-479D-8083-6FF5A870672B}"/>
              </a:ext>
            </a:extLst>
          </p:cNvPr>
          <p:cNvSpPr>
            <a:spLocks noGrp="1"/>
          </p:cNvSpPr>
          <p:nvPr>
            <p:ph type="body" sz="quarter" idx="12"/>
          </p:nvPr>
        </p:nvSpPr>
        <p:spPr>
          <a:xfrm>
            <a:off x="418643" y="1457325"/>
            <a:ext cx="11354257" cy="1808637"/>
          </a:xfrm>
          <a:prstGeom prst="rect">
            <a:avLst/>
          </a:prstGeo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991100"/>
            <a:ext cx="12192000" cy="5334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057746"/>
            <a:ext cx="11341268" cy="400110"/>
          </a:xfrm>
          <a:prstGeom prst="rect">
            <a:avLst/>
          </a:prstGeom>
        </p:spPr>
        <p:txBody>
          <a:bodyPr lIns="0" rIns="0" anchor="ctr"/>
          <a:lstStyle>
            <a:lvl1pPr>
              <a:defRPr sz="2000"/>
            </a:lvl1pPr>
          </a:lstStyle>
          <a:p>
            <a:pPr lvl="0"/>
            <a:r>
              <a:rPr lang="en-US"/>
              <a:t>Click to edit Master text styles</a:t>
            </a:r>
          </a:p>
        </p:txBody>
      </p:sp>
      <p:sp>
        <p:nvSpPr>
          <p:cNvPr id="10" name="Footer Placeholder 1">
            <a:extLst>
              <a:ext uri="{FF2B5EF4-FFF2-40B4-BE49-F238E27FC236}">
                <a16:creationId xmlns:a16="http://schemas.microsoft.com/office/drawing/2014/main" id="{D2D727ED-2407-4339-9A8E-2F5298EDCC0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4047369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290685988"/>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207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5778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207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05462548"/>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3952477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25531803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oftware C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Software code</a:t>
            </a:r>
          </a:p>
        </p:txBody>
      </p:sp>
      <p:sp>
        <p:nvSpPr>
          <p:cNvPr id="10" name="Text Placeholder 9">
            <a:extLst>
              <a:ext uri="{FF2B5EF4-FFF2-40B4-BE49-F238E27FC236}">
                <a16:creationId xmlns:a16="http://schemas.microsoft.com/office/drawing/2014/main" id="{F8047BC8-CD6A-41DD-B8E0-4737DD93BABF}"/>
              </a:ext>
            </a:extLst>
          </p:cNvPr>
          <p:cNvSpPr>
            <a:spLocks noGrp="1"/>
          </p:cNvSpPr>
          <p:nvPr>
            <p:ph type="body" sz="quarter" idx="10" hasCustomPrompt="1"/>
          </p:nvPr>
        </p:nvSpPr>
        <p:spPr>
          <a:xfrm>
            <a:off x="418643" y="1457325"/>
            <a:ext cx="11354257" cy="2339102"/>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
        <p:nvSpPr>
          <p:cNvPr id="4" name="Footer Placeholder 1">
            <a:extLst>
              <a:ext uri="{FF2B5EF4-FFF2-40B4-BE49-F238E27FC236}">
                <a16:creationId xmlns:a16="http://schemas.microsoft.com/office/drawing/2014/main" id="{D1EEFE0E-1172-4AF0-9FFA-3C7C1783C53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890739590"/>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62246018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27057045"/>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39019545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0923592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2422830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4889029"/>
            <a:ext cx="365293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8" name="Text Placeholder 4">
            <a:extLst>
              <a:ext uri="{FF2B5EF4-FFF2-40B4-BE49-F238E27FC236}">
                <a16:creationId xmlns:a16="http://schemas.microsoft.com/office/drawing/2014/main" id="{6B0E7A2A-440B-4386-BA99-0E3495B2C78A}"/>
              </a:ext>
            </a:extLst>
          </p:cNvPr>
          <p:cNvSpPr>
            <a:spLocks noGrp="1"/>
          </p:cNvSpPr>
          <p:nvPr>
            <p:ph type="body" sz="quarter" idx="28" hasCustomPrompt="1"/>
          </p:nvPr>
        </p:nvSpPr>
        <p:spPr>
          <a:xfrm>
            <a:off x="418643" y="4582416"/>
            <a:ext cx="365293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84B94875-0E5C-4E1B-9009-179D2480580A}"/>
              </a:ext>
            </a:extLst>
          </p:cNvPr>
          <p:cNvSpPr>
            <a:spLocks noGrp="1"/>
          </p:cNvSpPr>
          <p:nvPr>
            <p:ph type="body" sz="quarter" idx="29" hasCustomPrompt="1"/>
          </p:nvPr>
        </p:nvSpPr>
        <p:spPr>
          <a:xfrm>
            <a:off x="4293969"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3" name="Text Placeholder 4">
            <a:extLst>
              <a:ext uri="{FF2B5EF4-FFF2-40B4-BE49-F238E27FC236}">
                <a16:creationId xmlns:a16="http://schemas.microsoft.com/office/drawing/2014/main" id="{122C2A87-F659-470C-9A84-C24B6596BF30}"/>
              </a:ext>
            </a:extLst>
          </p:cNvPr>
          <p:cNvSpPr>
            <a:spLocks noGrp="1"/>
          </p:cNvSpPr>
          <p:nvPr>
            <p:ph type="body" sz="quarter" idx="30" hasCustomPrompt="1"/>
          </p:nvPr>
        </p:nvSpPr>
        <p:spPr>
          <a:xfrm>
            <a:off x="8144083"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4" name="Footer Placeholder 1">
            <a:extLst>
              <a:ext uri="{FF2B5EF4-FFF2-40B4-BE49-F238E27FC236}">
                <a16:creationId xmlns:a16="http://schemas.microsoft.com/office/drawing/2014/main" id="{078D6B2E-04FF-44FF-92BF-A50AB63F5A8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559050077"/>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a:prstGeom prst="rect">
            <a:avLst/>
          </a:prstGeom>
        </p:spPr>
        <p:txBody>
          <a:bodyPr anchor="ctr">
            <a:noAutofit/>
          </a:bodyPr>
          <a:lstStyle>
            <a:lvl1pPr algn="ctr">
              <a:defRPr/>
            </a:lvl1pPr>
          </a:lstStyle>
          <a:p>
            <a:endParaRPr lang="en-US"/>
          </a:p>
        </p:txBody>
      </p:sp>
      <p:sp>
        <p:nvSpPr>
          <p:cNvPr id="5" name="Footer Placeholder 1">
            <a:extLst>
              <a:ext uri="{FF2B5EF4-FFF2-40B4-BE49-F238E27FC236}">
                <a16:creationId xmlns:a16="http://schemas.microsoft.com/office/drawing/2014/main" id="{53F6734B-2BB9-44E4-A8BF-B0683C3D0A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003472813"/>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0" name="Text Placeholder 4">
            <a:extLst>
              <a:ext uri="{FF2B5EF4-FFF2-40B4-BE49-F238E27FC236}">
                <a16:creationId xmlns:a16="http://schemas.microsoft.com/office/drawing/2014/main" id="{2274B3EB-A97B-4219-A55A-84453528FE77}"/>
              </a:ext>
            </a:extLst>
          </p:cNvPr>
          <p:cNvSpPr>
            <a:spLocks noGrp="1"/>
          </p:cNvSpPr>
          <p:nvPr>
            <p:ph type="body" sz="quarter" idx="45" hasCustomPrompt="1"/>
          </p:nvPr>
        </p:nvSpPr>
        <p:spPr>
          <a:xfrm>
            <a:off x="418643" y="2161629"/>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6B19B2E5-E29A-4169-8CDD-80FC79D1C862}"/>
              </a:ext>
            </a:extLst>
          </p:cNvPr>
          <p:cNvSpPr>
            <a:spLocks noGrp="1"/>
          </p:cNvSpPr>
          <p:nvPr>
            <p:ph type="body" sz="quarter" idx="46" hasCustomPrompt="1"/>
          </p:nvPr>
        </p:nvSpPr>
        <p:spPr>
          <a:xfrm>
            <a:off x="418643" y="3628878"/>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440494"/>
            <a:ext cx="5973053" cy="5084006"/>
          </a:xfrm>
          <a:prstGeom prst="rect">
            <a:avLst/>
          </a:prstGeom>
          <a:blipFill>
            <a:blip r:embed="rId2"/>
            <a:stretch>
              <a:fillRect t="-12412" b="-12412"/>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Footer Placeholder 1">
            <a:extLst>
              <a:ext uri="{FF2B5EF4-FFF2-40B4-BE49-F238E27FC236}">
                <a16:creationId xmlns:a16="http://schemas.microsoft.com/office/drawing/2014/main" id="{C06943B8-583F-41EC-BDD0-C4B2F2271C0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1379616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0634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158965"/>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389636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048984"/>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478638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4939001"/>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7"/>
            <a:ext cx="5543514" cy="406688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71850"/>
            <a:ext cx="5303845" cy="3836974"/>
          </a:xfrm>
          <a:prstGeom prst="rect">
            <a:avLst/>
          </a:prstGeom>
          <a:blipFill dpi="0" rotWithShape="1">
            <a:blip r:embed="rId2"/>
            <a:srcRect/>
            <a:stretch>
              <a:fillRect t="-12167" b="-1152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41DA22E1-F19A-4866-9903-D39B8BC0754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51060085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43835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47005"/>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70884"/>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39795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103417"/>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481207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4935948"/>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457324"/>
            <a:ext cx="5973053" cy="4063399"/>
          </a:xfrm>
          <a:prstGeom prst="rect">
            <a:avLst/>
          </a:prstGeom>
          <a:blipFill>
            <a:blip r:embed="rId2"/>
            <a:stretch>
              <a:fillRect t="-33991" b="-34785"/>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a:t>© Copyright Microsoft Corporation. All rights reserved.</a:t>
            </a:r>
          </a:p>
        </p:txBody>
      </p:sp>
    </p:spTree>
    <p:extLst>
      <p:ext uri="{BB962C8B-B14F-4D97-AF65-F5344CB8AC3E}">
        <p14:creationId xmlns:p14="http://schemas.microsoft.com/office/powerpoint/2010/main" val="1443170839"/>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3" name="Text Placeholder 4">
            <a:extLst>
              <a:ext uri="{FF2B5EF4-FFF2-40B4-BE49-F238E27FC236}">
                <a16:creationId xmlns:a16="http://schemas.microsoft.com/office/drawing/2014/main" id="{22D1B7D7-06FD-4F28-9BBD-A26349C88491}"/>
              </a:ext>
            </a:extLst>
          </p:cNvPr>
          <p:cNvSpPr>
            <a:spLocks noGrp="1"/>
          </p:cNvSpPr>
          <p:nvPr>
            <p:ph type="body" sz="quarter" idx="47" hasCustomPrompt="1"/>
          </p:nvPr>
        </p:nvSpPr>
        <p:spPr>
          <a:xfrm>
            <a:off x="418644" y="1389750"/>
            <a:ext cx="5579310" cy="361539"/>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2000" b="0" i="0" spc="0">
                <a:solidFill>
                  <a:schemeClr val="tx1"/>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a:t>
            </a:r>
            <a:r>
              <a:rPr lang="en-US" err="1"/>
              <a:t>Semibold</a:t>
            </a:r>
            <a:r>
              <a:rPr lang="en-US"/>
              <a:t> 18/20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885051"/>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23597"/>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865519"/>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7040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84598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468453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82645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8" b="-1177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C8DC7018-F39B-4B6A-8195-1144FFF36B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0446373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511910"/>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566923"/>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62193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7" b="-11779"/>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C56D26C9-E199-4EBA-8CF2-616AA349D95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08325165"/>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669" b="-12027"/>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EF6BF2FC-D0DF-43FB-898E-872D6CBB08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438324267"/>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2/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3659644"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303713" y="1456897"/>
            <a:ext cx="7469643"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432300" y="1564130"/>
            <a:ext cx="7221223" cy="3836974"/>
          </a:xfrm>
          <a:prstGeom prst="rect">
            <a:avLst/>
          </a:prstGeom>
          <a:blipFill dpi="0" rotWithShape="1">
            <a:blip r:embed="rId2"/>
            <a:srcRect/>
            <a:stretch>
              <a:fillRect t="-34423" b="-33990"/>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55197CAA-02CC-4CFA-8726-E127D7D4F56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03639981"/>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hoto layout with text in vertical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9"/>
            <a:ext cx="11354712" cy="702102"/>
          </a:xfrm>
          <a:prstGeom prst="rect">
            <a:avLst/>
          </a:prstGeom>
          <a:noFill/>
        </p:spPr>
        <p:txBody>
          <a:bodyPr lIns="0" tIns="91440" rIns="0" bIns="91440" anchor="t">
            <a:noAutofit/>
          </a:bodyPr>
          <a:lstStyle>
            <a:lvl1pPr marL="0" indent="0">
              <a:lnSpc>
                <a:spcPct val="100000"/>
              </a:lnSpc>
              <a:spcBef>
                <a:spcPts val="0"/>
              </a:spcBef>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18642" y="2354883"/>
            <a:ext cx="11354714" cy="316961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554987" y="2494391"/>
            <a:ext cx="11082024" cy="2890599"/>
          </a:xfrm>
          <a:prstGeom prst="rect">
            <a:avLst/>
          </a:prstGeom>
          <a:blipFill dpi="0" rotWithShape="1">
            <a:blip r:embed="rId2"/>
            <a:srcRect/>
            <a:stretch>
              <a:fillRect t="-11979" b="-9425"/>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F058022C-C488-4C60-8FED-6334EDFD868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216404354"/>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mo slide with tex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6410781" cy="307777"/>
          </a:xfrm>
          <a:prstGeom prst="rect">
            <a:avLst/>
          </a:prstGeom>
        </p:spPr>
        <p:txBody>
          <a:bodyPr wrap="square" lIns="0" tIns="0" rIns="0" bIns="0">
            <a:spAutoFit/>
          </a:bodyPr>
          <a:lstStyle>
            <a:lvl1pPr marL="0" indent="0">
              <a:lnSpc>
                <a:spcPts val="2353"/>
              </a:lnSpc>
              <a:buNone/>
              <a:defRPr sz="20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18/20</a:t>
            </a:r>
            <a:endParaRPr lang="en-US"/>
          </a:p>
        </p:txBody>
      </p:sp>
      <p:sp>
        <p:nvSpPr>
          <p:cNvPr id="5" name="Text Placeholder 4"/>
          <p:cNvSpPr>
            <a:spLocks noGrp="1"/>
          </p:cNvSpPr>
          <p:nvPr>
            <p:ph type="body" sz="quarter" idx="11" hasCustomPrompt="1"/>
          </p:nvPr>
        </p:nvSpPr>
        <p:spPr>
          <a:xfrm>
            <a:off x="418643" y="1820432"/>
            <a:ext cx="6410782" cy="3704068"/>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1206" t="13438" b="10994"/>
          <a:stretch/>
        </p:blipFill>
        <p:spPr>
          <a:xfrm>
            <a:off x="7048500" y="1452563"/>
            <a:ext cx="5143501" cy="407193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7277100" y="1663700"/>
            <a:ext cx="4914900" cy="3603625"/>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6" name="Footer Placeholder 1">
            <a:extLst>
              <a:ext uri="{FF2B5EF4-FFF2-40B4-BE49-F238E27FC236}">
                <a16:creationId xmlns:a16="http://schemas.microsoft.com/office/drawing/2014/main" id="{9DD1EFE7-3AE2-4E6F-A2DA-B6AD63EAB12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847378406"/>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5023" t="13668" r="9098" b="10044"/>
          <a:stretch/>
        </p:blipFill>
        <p:spPr>
          <a:xfrm>
            <a:off x="2399822" y="1168401"/>
            <a:ext cx="7392356" cy="4356100"/>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660650" y="1388269"/>
            <a:ext cx="6870700" cy="3869531"/>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4" name="Footer Placeholder 1">
            <a:extLst>
              <a:ext uri="{FF2B5EF4-FFF2-40B4-BE49-F238E27FC236}">
                <a16:creationId xmlns:a16="http://schemas.microsoft.com/office/drawing/2014/main" id="{59B4A147-D1B7-4B10-BC9F-A628EC66D4A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621394038"/>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7" name="Chart Placeholder 6"/>
          <p:cNvSpPr>
            <a:spLocks noGrp="1"/>
          </p:cNvSpPr>
          <p:nvPr>
            <p:ph type="chart" sz="quarter" idx="21"/>
          </p:nvPr>
        </p:nvSpPr>
        <p:spPr>
          <a:xfrm>
            <a:off x="419100" y="1950781"/>
            <a:ext cx="3655273"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9099" y="4794081"/>
            <a:ext cx="3666169"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9" name="Text Placeholder 4"/>
          <p:cNvSpPr>
            <a:spLocks noGrp="1"/>
          </p:cNvSpPr>
          <p:nvPr>
            <p:ph type="body" sz="quarter" idx="12" hasCustomPrompt="1"/>
          </p:nvPr>
        </p:nvSpPr>
        <p:spPr>
          <a:xfrm>
            <a:off x="419100" y="5071080"/>
            <a:ext cx="3655273"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1"/>
            <a:ext cx="3607487"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4794081"/>
            <a:ext cx="3596595"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17" name="Text Placeholder 4"/>
          <p:cNvSpPr>
            <a:spLocks noGrp="1"/>
          </p:cNvSpPr>
          <p:nvPr>
            <p:ph type="body" sz="quarter" idx="18" hasCustomPrompt="1"/>
          </p:nvPr>
        </p:nvSpPr>
        <p:spPr>
          <a:xfrm>
            <a:off x="4303152" y="50710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1"/>
            <a:ext cx="3623051"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071080"/>
            <a:ext cx="3633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4794081"/>
            <a:ext cx="3629278"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5" name="Footer Placeholder 1">
            <a:extLst>
              <a:ext uri="{FF2B5EF4-FFF2-40B4-BE49-F238E27FC236}">
                <a16:creationId xmlns:a16="http://schemas.microsoft.com/office/drawing/2014/main" id="{453ADA6D-9E40-4A03-8A63-73B6DFA34FE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880250876"/>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5"/>
            <a:ext cx="11343820" cy="4067176"/>
          </a:xfrm>
          <a:prstGeom prst="rect">
            <a:avLst/>
          </a:prstGeom>
        </p:spPr>
        <p:txBody>
          <a:bodyPr anchor="ctr" anchorCtr="0"/>
          <a:lstStyle>
            <a:lvl1pPr algn="ctr">
              <a:defRPr sz="2400"/>
            </a:lvl1pPr>
          </a:lstStyle>
          <a:p>
            <a:r>
              <a:rPr lang="en-US"/>
              <a:t>Click icon to add table</a:t>
            </a:r>
          </a:p>
        </p:txBody>
      </p:sp>
      <p:sp>
        <p:nvSpPr>
          <p:cNvPr id="6" name="Footer Placeholder 1">
            <a:extLst>
              <a:ext uri="{FF2B5EF4-FFF2-40B4-BE49-F238E27FC236}">
                <a16:creationId xmlns:a16="http://schemas.microsoft.com/office/drawing/2014/main" id="{6A78ED9F-8DCD-4BC7-9021-4DDB0C8C43C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07228233"/>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ext option - 4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p>
        </p:txBody>
      </p:sp>
      <p:sp>
        <p:nvSpPr>
          <p:cNvPr id="5" name="Text Placeholder 4"/>
          <p:cNvSpPr>
            <a:spLocks noGrp="1"/>
          </p:cNvSpPr>
          <p:nvPr>
            <p:ph type="body" sz="quarter" idx="11" hasCustomPrompt="1"/>
          </p:nvPr>
        </p:nvSpPr>
        <p:spPr>
          <a:xfrm>
            <a:off x="431095" y="2740881"/>
            <a:ext cx="2603367" cy="2785036"/>
          </a:xfrm>
          <a:prstGeom prst="rect">
            <a:avLst/>
          </a:prstGeo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userDrawn="1"/>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3344578" y="2739465"/>
            <a:ext cx="2603367" cy="2785036"/>
          </a:xfrm>
          <a:prstGeom prst="rect">
            <a:avLst/>
          </a:prstGeo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userDrawn="1"/>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6258062" y="2739465"/>
            <a:ext cx="2603367" cy="2785036"/>
          </a:xfrm>
          <a:prstGeom prst="rect">
            <a:avLst/>
          </a:prstGeo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userDrawn="1"/>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9171546" y="2739465"/>
            <a:ext cx="2603367" cy="2785036"/>
          </a:xfrm>
          <a:prstGeom prst="rect">
            <a:avLst/>
          </a:prstGeo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19D8CB66-B611-4CE7-A43F-AA9D9AFBFDA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48210410"/>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6" name="Footer Placeholder 1">
            <a:extLst>
              <a:ext uri="{FF2B5EF4-FFF2-40B4-BE49-F238E27FC236}">
                <a16:creationId xmlns:a16="http://schemas.microsoft.com/office/drawing/2014/main" id="{68B75876-CF77-420E-95A4-0C529E40885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682702945"/>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B5425D6F-5786-43B6-A96D-5D9F5E69378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265407244"/>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F2E41971-C1D5-428F-BAD7-1B3A7C763E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45651129"/>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layout with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454471"/>
            <a:ext cx="11328812" cy="369332"/>
          </a:xfrm>
          <a:prstGeom prst="rect">
            <a:avLst/>
          </a:prstGeom>
        </p:spPr>
        <p:txBody>
          <a:bodyPr vert="horz" lIns="0" tIns="0" rIns="0" bIns="0" rtlCol="0">
            <a:spAutoFit/>
          </a:bodyPr>
          <a:lstStyle>
            <a:lvl1pPr>
              <a:defRPr lang="en-US" sz="2400" dirty="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6" y="2160416"/>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2729786" y="2159000"/>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502847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732716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9625854"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BE795F1-CEE6-456B-ABC9-7B95E386339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792459931"/>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layout with 3 columns &amp; 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183948"/>
            <a:ext cx="11328812" cy="369332"/>
          </a:xfrm>
          <a:prstGeom prst="rect">
            <a:avLst/>
          </a:prstGeom>
        </p:spPr>
        <p:txBody>
          <a:bodyPr lIns="0" tIns="0" rIns="0" bIns="0"/>
          <a:lstStyle>
            <a:lvl1pPr>
              <a:defRPr sz="240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5" y="216041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16726" y="215900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8139113" y="215900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5479F1E5-8DBD-42CA-8DB4-7162193F8C0A}"/>
              </a:ext>
            </a:extLst>
          </p:cNvPr>
          <p:cNvSpPr>
            <a:spLocks noGrp="1"/>
          </p:cNvSpPr>
          <p:nvPr>
            <p:ph type="body" sz="quarter" idx="22" hasCustomPrompt="1"/>
          </p:nvPr>
        </p:nvSpPr>
        <p:spPr>
          <a:xfrm>
            <a:off x="431095" y="391936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430DC868-B118-4581-BA96-109541166BC7}"/>
              </a:ext>
            </a:extLst>
          </p:cNvPr>
          <p:cNvSpPr>
            <a:spLocks noGrp="1"/>
          </p:cNvSpPr>
          <p:nvPr>
            <p:ph type="body" sz="quarter" idx="23" hasCustomPrompt="1"/>
          </p:nvPr>
        </p:nvSpPr>
        <p:spPr>
          <a:xfrm>
            <a:off x="4316726" y="391795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0E392D1A-3E35-41BC-B1EF-3D6540738A56}"/>
              </a:ext>
            </a:extLst>
          </p:cNvPr>
          <p:cNvSpPr>
            <a:spLocks noGrp="1"/>
          </p:cNvSpPr>
          <p:nvPr>
            <p:ph type="body" sz="quarter" idx="24" hasCustomPrompt="1"/>
          </p:nvPr>
        </p:nvSpPr>
        <p:spPr>
          <a:xfrm>
            <a:off x="8139113" y="391795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28EE5F4A-1B04-4820-BD3C-7D490911B9A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592703516"/>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option_1 ro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FD518D6-99EB-4710-922A-114B4B8AE24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29373698"/>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8" name="Text Placeholder 4">
            <a:extLst>
              <a:ext uri="{FF2B5EF4-FFF2-40B4-BE49-F238E27FC236}">
                <a16:creationId xmlns:a16="http://schemas.microsoft.com/office/drawing/2014/main" id="{E0D97F89-BA86-43A7-A7B3-2CF8545F30C6}"/>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49921517-D7BF-470F-8192-8993860D6A21}"/>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F445D872-5C62-4C26-AD2B-01EB7B98341B}"/>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Footer Placeholder 1">
            <a:extLst>
              <a:ext uri="{FF2B5EF4-FFF2-40B4-BE49-F238E27FC236}">
                <a16:creationId xmlns:a16="http://schemas.microsoft.com/office/drawing/2014/main" id="{1B54719B-2572-45A7-ABB5-97669FD1C54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92227003"/>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ED3D99F1-12B5-4EF9-8BE8-147D2E7B2576}"/>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98187A1F-B2AD-4B43-A8E1-57229F13A30C}"/>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194956165"/>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59" y="4591438"/>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7" name="Footer Placeholder 1">
            <a:extLst>
              <a:ext uri="{FF2B5EF4-FFF2-40B4-BE49-F238E27FC236}">
                <a16:creationId xmlns:a16="http://schemas.microsoft.com/office/drawing/2014/main" id="{F47DE134-5243-4F01-808B-AB1879BD793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285995897"/>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389459" y="1456896"/>
            <a:ext cx="10383899"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9426"/>
            <a:ext cx="10383899"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65232"/>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21038"/>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76845"/>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9" name="Footer Placeholder 1">
            <a:extLst>
              <a:ext uri="{FF2B5EF4-FFF2-40B4-BE49-F238E27FC236}">
                <a16:creationId xmlns:a16="http://schemas.microsoft.com/office/drawing/2014/main" id="{CFB65DA9-1720-4FF6-B1EF-542DF58141A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604437702"/>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138288240"/>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389459" y="1456896"/>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90327" y="2745493"/>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49547"/>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90327" y="4238144"/>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442200"/>
            <a:ext cx="4608115"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64782" y="274549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949547"/>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64782" y="423814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4442200"/>
            <a:ext cx="4608576"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7" name="Footer Placeholder 1">
            <a:extLst>
              <a:ext uri="{FF2B5EF4-FFF2-40B4-BE49-F238E27FC236}">
                <a16:creationId xmlns:a16="http://schemas.microsoft.com/office/drawing/2014/main" id="{C7F30D2F-8DA3-4CC5-9423-292C558FE3F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211798845"/>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52234684"/>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option_2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6" name="Text Placeholder 5">
            <a:extLst>
              <a:ext uri="{FF2B5EF4-FFF2-40B4-BE49-F238E27FC236}">
                <a16:creationId xmlns:a16="http://schemas.microsoft.com/office/drawing/2014/main" id="{EB98E8DE-0491-4598-AAA1-CD35695840E7}"/>
              </a:ext>
            </a:extLst>
          </p:cNvPr>
          <p:cNvSpPr>
            <a:spLocks noGrp="1"/>
          </p:cNvSpPr>
          <p:nvPr>
            <p:ph type="body" sz="quarter" idx="17"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9EBE6B1A-FAB8-401E-9D5D-DF0AEF8510BC}"/>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3C7167C2-B8AD-42C6-B0C0-09AF8C1B00B5}"/>
              </a:ext>
            </a:extLst>
          </p:cNvPr>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CB3A300F-58D1-4152-B258-F80AED027D7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224511986"/>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option_3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1" name="Text Placeholder 5">
            <a:extLst>
              <a:ext uri="{FF2B5EF4-FFF2-40B4-BE49-F238E27FC236}">
                <a16:creationId xmlns:a16="http://schemas.microsoft.com/office/drawing/2014/main" id="{F7BF94CC-2D76-4590-8D23-583370E56601}"/>
              </a:ext>
            </a:extLst>
          </p:cNvPr>
          <p:cNvSpPr>
            <a:spLocks noGrp="1"/>
          </p:cNvSpPr>
          <p:nvPr>
            <p:ph type="body" sz="quarter" idx="18"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603E4A63-916B-46C0-8814-35F99E0A4F7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68650894"/>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option_4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5" name="Text Placeholder 5">
            <a:extLst>
              <a:ext uri="{FF2B5EF4-FFF2-40B4-BE49-F238E27FC236}">
                <a16:creationId xmlns:a16="http://schemas.microsoft.com/office/drawing/2014/main" id="{C26D22CE-EFD0-4FAA-95AC-F37D3BED6618}"/>
              </a:ext>
            </a:extLst>
          </p:cNvPr>
          <p:cNvSpPr>
            <a:spLocks noGrp="1"/>
          </p:cNvSpPr>
          <p:nvPr>
            <p:ph type="body" sz="quarter" idx="20"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389695" y="46573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801506"/>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F35E7E5-1784-40DE-92EF-E9874E810C3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551808548"/>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option_5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a:t>
            </a:r>
          </a:p>
        </p:txBody>
      </p:sp>
      <p:sp>
        <p:nvSpPr>
          <p:cNvPr id="17" name="Text Placeholder 5">
            <a:extLst>
              <a:ext uri="{FF2B5EF4-FFF2-40B4-BE49-F238E27FC236}">
                <a16:creationId xmlns:a16="http://schemas.microsoft.com/office/drawing/2014/main" id="{9615BA4B-6D68-4728-AF5E-96CF426BDBDE}"/>
              </a:ext>
            </a:extLst>
          </p:cNvPr>
          <p:cNvSpPr>
            <a:spLocks noGrp="1"/>
          </p:cNvSpPr>
          <p:nvPr>
            <p:ph type="body" sz="quarter" idx="22"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389695" y="26014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722313"/>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389695" y="336241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483304"/>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389695" y="412340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244295"/>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88439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5005283"/>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ED9039A-1F5F-4C3E-8088-C5C6AC71B3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225592129"/>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option_6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six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3"/>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48823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588661"/>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1155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215999"/>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74291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843337"/>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37024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470675"/>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9975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98014"/>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46CCDEFC-B6DB-4055-A5EC-0C75CF24B53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83587051"/>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option_7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seven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418643" y="1961323"/>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434818" y="243560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418643" y="2483405"/>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434818" y="2957689"/>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418643" y="3005487"/>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434818" y="3479771"/>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418643" y="3527569"/>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434818" y="4001853"/>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418643" y="4049651"/>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434818" y="504601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418643" y="4571733"/>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E463BEA0-0EFD-486F-81C5-596C2AEEBC26}"/>
              </a:ext>
              <a:ext uri="{C183D7F6-B498-43B3-948B-1728B52AA6E4}">
                <adec:decorative xmlns:adec="http://schemas.microsoft.com/office/drawing/2017/decorative" val="1"/>
              </a:ext>
            </a:extLst>
          </p:cNvPr>
          <p:cNvCxnSpPr>
            <a:cxnSpLocks/>
          </p:cNvCxnSpPr>
          <p:nvPr userDrawn="1"/>
        </p:nvCxnSpPr>
        <p:spPr>
          <a:xfrm>
            <a:off x="434818" y="4523935"/>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935E9A39-1ACF-4C89-9498-11C0EFB1E38A}"/>
              </a:ext>
            </a:extLst>
          </p:cNvPr>
          <p:cNvSpPr>
            <a:spLocks noGrp="1"/>
          </p:cNvSpPr>
          <p:nvPr>
            <p:ph type="body" sz="quarter" idx="32" hasCustomPrompt="1"/>
          </p:nvPr>
        </p:nvSpPr>
        <p:spPr>
          <a:xfrm>
            <a:off x="418643" y="5093812"/>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C3EEA8B3-EE5E-4360-9233-7B76A3C1483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88408010"/>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 &amp; two columns</a:t>
            </a:r>
          </a:p>
        </p:txBody>
      </p:sp>
      <p:sp>
        <p:nvSpPr>
          <p:cNvPr id="22" name="Text Placeholder 5">
            <a:extLst>
              <a:ext uri="{FF2B5EF4-FFF2-40B4-BE49-F238E27FC236}">
                <a16:creationId xmlns:a16="http://schemas.microsoft.com/office/drawing/2014/main" id="{FDDCE837-1494-4915-B6F7-9703BBD92279}"/>
              </a:ext>
            </a:extLst>
          </p:cNvPr>
          <p:cNvSpPr>
            <a:spLocks noGrp="1"/>
          </p:cNvSpPr>
          <p:nvPr>
            <p:ph type="body" sz="quarter" idx="34"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89458"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89458"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51335"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51335"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51335"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51335"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51335"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C11A81E-5507-4620-971A-1D6A21B461F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801096517"/>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 &amp; two columns</a:t>
            </a:r>
          </a:p>
        </p:txBody>
      </p:sp>
      <p:sp>
        <p:nvSpPr>
          <p:cNvPr id="27" name="Text Placeholder 5">
            <a:extLst>
              <a:ext uri="{FF2B5EF4-FFF2-40B4-BE49-F238E27FC236}">
                <a16:creationId xmlns:a16="http://schemas.microsoft.com/office/drawing/2014/main" id="{CC7F1F9F-BDA7-4D48-A208-64EE1E48039F}"/>
              </a:ext>
            </a:extLst>
          </p:cNvPr>
          <p:cNvSpPr>
            <a:spLocks noGrp="1"/>
          </p:cNvSpPr>
          <p:nvPr>
            <p:ph type="body" sz="quarter" idx="36"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66CECB44-B887-48A3-8002-B5226DEF3E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91710507"/>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5"/>
            <a:ext cx="5578933"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9099" y="2628195"/>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9099" y="3664462"/>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9099" y="4700731"/>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229350" y="1457325"/>
            <a:ext cx="5539341"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3F9A6BFB-B229-4081-846A-99BCC21608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51700819"/>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wo columns layout with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Two columns layout</a:t>
            </a:r>
          </a:p>
        </p:txBody>
      </p:sp>
      <p:sp>
        <p:nvSpPr>
          <p:cNvPr id="17" name="Text Placeholder 5">
            <a:extLst>
              <a:ext uri="{FF2B5EF4-FFF2-40B4-BE49-F238E27FC236}">
                <a16:creationId xmlns:a16="http://schemas.microsoft.com/office/drawing/2014/main" id="{55780EB8-2D5B-4DBB-BC6B-E570FB51FFD3}"/>
              </a:ext>
            </a:extLst>
          </p:cNvPr>
          <p:cNvSpPr>
            <a:spLocks noGrp="1"/>
          </p:cNvSpPr>
          <p:nvPr>
            <p:ph type="body" sz="quarter" idx="17" hasCustomPrompt="1"/>
          </p:nvPr>
        </p:nvSpPr>
        <p:spPr>
          <a:xfrm>
            <a:off x="432088" y="1168400"/>
            <a:ext cx="11341267" cy="307777"/>
          </a:xfrm>
          <a:prstGeom prst="rect">
            <a:avLst/>
          </a:prstGeom>
        </p:spPr>
        <p:txBody>
          <a:bodyPr lIns="0" tIns="0" rIns="0" bIns="0"/>
          <a:lstStyle>
            <a:lvl1pPr>
              <a:defRPr sz="2000"/>
            </a:lvl1pPr>
          </a:lstStyle>
          <a:p>
            <a:pPr lvl="0"/>
            <a:r>
              <a:rPr lang="en-US"/>
              <a:t>Add text here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929257"/>
            <a:ext cx="5578933"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82527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729776"/>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861538"/>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76604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897807"/>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929257"/>
            <a:ext cx="5572801"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82527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729776"/>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861539"/>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76604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897807"/>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DAA1992-5E0F-40A3-8DB6-210B74582E0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516999121"/>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Three columns layout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A8C1FEA-45D6-476A-8044-2C9E87D378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591488302"/>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8" name="Footer Placeholder 1">
            <a:extLst>
              <a:ext uri="{FF2B5EF4-FFF2-40B4-BE49-F238E27FC236}">
                <a16:creationId xmlns:a16="http://schemas.microsoft.com/office/drawing/2014/main" id="{7F38B04C-51F1-4590-84FC-A2A65AD60A0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935251026"/>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10" name="Footer Placeholder 1">
            <a:extLst>
              <a:ext uri="{FF2B5EF4-FFF2-40B4-BE49-F238E27FC236}">
                <a16:creationId xmlns:a16="http://schemas.microsoft.com/office/drawing/2014/main" id="{557B6B4B-EEB3-4D96-BE6F-33AB2C52662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964679816"/>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ubway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1E50-1996-483F-BDD0-DE09A68472A4}"/>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4" name="Content Placeholder 3">
            <a:extLst>
              <a:ext uri="{FF2B5EF4-FFF2-40B4-BE49-F238E27FC236}">
                <a16:creationId xmlns:a16="http://schemas.microsoft.com/office/drawing/2014/main" id="{D788E95C-185C-4F8A-8DE9-0DDAEC21C04E}"/>
              </a:ext>
            </a:extLst>
          </p:cNvPr>
          <p:cNvSpPr>
            <a:spLocks noGrp="1"/>
          </p:cNvSpPr>
          <p:nvPr>
            <p:ph sz="quarter" idx="10"/>
          </p:nvPr>
        </p:nvSpPr>
        <p:spPr>
          <a:xfrm>
            <a:off x="418642" y="1457325"/>
            <a:ext cx="11354257" cy="1779974"/>
          </a:xfrm>
          <a:prstGeom prst="rect">
            <a:avLst/>
          </a:prstGeom>
        </p:spPr>
        <p:txBody>
          <a:bodyPr lIns="0" rIns="0"/>
          <a:lstStyle>
            <a:lvl1pPr>
              <a:defRPr/>
            </a:lvl1pPr>
            <a:lvl2pPr>
              <a:defRPr lang="en-US" sz="2000" kern="1200" spc="0" baseline="0" dirty="0" smtClean="0">
                <a:solidFill>
                  <a:schemeClr val="tx1"/>
                </a:solidFill>
                <a:latin typeface="+mn-lt"/>
                <a:ea typeface="+mn-ea"/>
                <a:cs typeface="+mn-cs"/>
              </a:defRPr>
            </a:lvl2pPr>
          </a:lstStyle>
          <a:p>
            <a:pPr marL="0" marR="0" lvl="1" indent="0" algn="l" defTabSz="914367" rtl="0" eaLnBrk="1" fontAlgn="auto" latinLnBrk="0" hangingPunct="1">
              <a:lnSpc>
                <a:spcPct val="100000"/>
              </a:lnSpc>
              <a:spcBef>
                <a:spcPts val="392"/>
              </a:spcBef>
              <a:spcAft>
                <a:spcPts val="588"/>
              </a:spcAft>
              <a:buClrTx/>
              <a:buSzPct val="90000"/>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
            <a:extLst>
              <a:ext uri="{FF2B5EF4-FFF2-40B4-BE49-F238E27FC236}">
                <a16:creationId xmlns:a16="http://schemas.microsoft.com/office/drawing/2014/main" id="{D46DE548-3285-4C4B-BE98-A5590C16A7E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63490292"/>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ubway_Software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0C6D-8926-49F1-8719-6EA600510E41}"/>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6B7993F-2CF5-4383-8448-366538173E81}"/>
              </a:ext>
            </a:extLst>
          </p:cNvPr>
          <p:cNvSpPr>
            <a:spLocks noGrp="1"/>
          </p:cNvSpPr>
          <p:nvPr>
            <p:ph type="body" sz="quarter" idx="10" hasCustomPrompt="1"/>
          </p:nvPr>
        </p:nvSpPr>
        <p:spPr>
          <a:xfrm>
            <a:off x="418643" y="1457325"/>
            <a:ext cx="11354257" cy="1723549"/>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
        <p:nvSpPr>
          <p:cNvPr id="3" name="Footer Placeholder 1">
            <a:extLst>
              <a:ext uri="{FF2B5EF4-FFF2-40B4-BE49-F238E27FC236}">
                <a16:creationId xmlns:a16="http://schemas.microsoft.com/office/drawing/2014/main" id="{CC29DFB0-EA8D-4603-A484-D9FB4215E01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3960827"/>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ubway_Title and 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7730-B186-4E09-8CC9-E0BAF08258EE}"/>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A50C3FC3-08E1-4ECD-93F7-BEA589366B9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103316852"/>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ubway_Title and 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762476EC-9914-4A4C-8D42-063DEFA3369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313118389"/>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ubway_Title and 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78F8-A242-4E29-962E-0728AB843B8D}"/>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EE367760-C9B3-4BF6-9116-4A4C9C42333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76715917"/>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ubway_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24116756"/>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ubway_Title and body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CDF7-E9D2-499B-957A-1F2A32ECACFC}"/>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459F5A8-FE59-485F-B66B-B588C6FC5A12}"/>
              </a:ext>
            </a:extLst>
          </p:cNvPr>
          <p:cNvSpPr>
            <a:spLocks noGrp="1"/>
          </p:cNvSpPr>
          <p:nvPr>
            <p:ph type="body" sz="quarter" idx="10"/>
          </p:nvPr>
        </p:nvSpPr>
        <p:spPr>
          <a:xfrm>
            <a:off x="418643" y="1457325"/>
            <a:ext cx="11354257" cy="1808637"/>
          </a:xfrm>
          <a:prstGeom prst="rect">
            <a:avLst/>
          </a:prstGeom>
        </p:spPr>
        <p:txBody>
          <a:bodyPr lIns="0" tIns="4572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1">
            <a:extLst>
              <a:ext uri="{FF2B5EF4-FFF2-40B4-BE49-F238E27FC236}">
                <a16:creationId xmlns:a16="http://schemas.microsoft.com/office/drawing/2014/main" id="{4AB14B75-E6F5-49E7-9565-CB0BD8C80FC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75592666"/>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ubway - Title and sub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8C54D713-4A25-4AF4-BCFA-A4890754311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56849912"/>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Bulleted 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92803961"/>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half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715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6286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715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993398362"/>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fu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023503433"/>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3" name="Picture 2" descr="Microsoft Azure logo">
            <a:extLst>
              <a:ext uri="{FF2B5EF4-FFF2-40B4-BE49-F238E27FC236}">
                <a16:creationId xmlns:a16="http://schemas.microsoft.com/office/drawing/2014/main" id="{7D35A676-8612-4160-B090-74025308FC28}"/>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417483163"/>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userDrawn="1"/>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spTree>
    <p:extLst>
      <p:ext uri="{BB962C8B-B14F-4D97-AF65-F5344CB8AC3E}">
        <p14:creationId xmlns:p14="http://schemas.microsoft.com/office/powerpoint/2010/main" val="3886896941"/>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8102149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0.xml"/><Relationship Id="rId21" Type="http://schemas.openxmlformats.org/officeDocument/2006/relationships/slideLayout" Target="../slideLayouts/slideLayout35.xml"/><Relationship Id="rId42" Type="http://schemas.openxmlformats.org/officeDocument/2006/relationships/slideLayout" Target="../slideLayouts/slideLayout56.xml"/><Relationship Id="rId47" Type="http://schemas.openxmlformats.org/officeDocument/2006/relationships/slideLayout" Target="../slideLayouts/slideLayout61.xml"/><Relationship Id="rId63" Type="http://schemas.openxmlformats.org/officeDocument/2006/relationships/slideLayout" Target="../slideLayouts/slideLayout77.xml"/><Relationship Id="rId68" Type="http://schemas.openxmlformats.org/officeDocument/2006/relationships/slideLayout" Target="../slideLayouts/slideLayout8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9" Type="http://schemas.openxmlformats.org/officeDocument/2006/relationships/slideLayout" Target="../slideLayouts/slideLayout43.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40" Type="http://schemas.openxmlformats.org/officeDocument/2006/relationships/slideLayout" Target="../slideLayouts/slideLayout54.xml"/><Relationship Id="rId45" Type="http://schemas.openxmlformats.org/officeDocument/2006/relationships/slideLayout" Target="../slideLayouts/slideLayout59.xml"/><Relationship Id="rId53" Type="http://schemas.openxmlformats.org/officeDocument/2006/relationships/slideLayout" Target="../slideLayouts/slideLayout67.xml"/><Relationship Id="rId58" Type="http://schemas.openxmlformats.org/officeDocument/2006/relationships/slideLayout" Target="../slideLayouts/slideLayout72.xml"/><Relationship Id="rId66" Type="http://schemas.openxmlformats.org/officeDocument/2006/relationships/slideLayout" Target="../slideLayouts/slideLayout80.xml"/><Relationship Id="rId74" Type="http://schemas.openxmlformats.org/officeDocument/2006/relationships/slideLayout" Target="../slideLayouts/slideLayout88.xml"/><Relationship Id="rId5" Type="http://schemas.openxmlformats.org/officeDocument/2006/relationships/slideLayout" Target="../slideLayouts/slideLayout19.xml"/><Relationship Id="rId61" Type="http://schemas.openxmlformats.org/officeDocument/2006/relationships/slideLayout" Target="../slideLayouts/slideLayout75.xml"/><Relationship Id="rId19" Type="http://schemas.openxmlformats.org/officeDocument/2006/relationships/slideLayout" Target="../slideLayouts/slideLayout3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43" Type="http://schemas.openxmlformats.org/officeDocument/2006/relationships/slideLayout" Target="../slideLayouts/slideLayout57.xml"/><Relationship Id="rId48" Type="http://schemas.openxmlformats.org/officeDocument/2006/relationships/slideLayout" Target="../slideLayouts/slideLayout62.xml"/><Relationship Id="rId56" Type="http://schemas.openxmlformats.org/officeDocument/2006/relationships/slideLayout" Target="../slideLayouts/slideLayout70.xml"/><Relationship Id="rId64" Type="http://schemas.openxmlformats.org/officeDocument/2006/relationships/slideLayout" Target="../slideLayouts/slideLayout78.xml"/><Relationship Id="rId69" Type="http://schemas.openxmlformats.org/officeDocument/2006/relationships/slideLayout" Target="../slideLayouts/slideLayout83.xml"/><Relationship Id="rId8" Type="http://schemas.openxmlformats.org/officeDocument/2006/relationships/slideLayout" Target="../slideLayouts/slideLayout22.xml"/><Relationship Id="rId51" Type="http://schemas.openxmlformats.org/officeDocument/2006/relationships/slideLayout" Target="../slideLayouts/slideLayout65.xml"/><Relationship Id="rId72" Type="http://schemas.openxmlformats.org/officeDocument/2006/relationships/slideLayout" Target="../slideLayouts/slideLayout86.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slideLayout" Target="../slideLayouts/slideLayout52.xml"/><Relationship Id="rId46" Type="http://schemas.openxmlformats.org/officeDocument/2006/relationships/slideLayout" Target="../slideLayouts/slideLayout60.xml"/><Relationship Id="rId59" Type="http://schemas.openxmlformats.org/officeDocument/2006/relationships/slideLayout" Target="../slideLayouts/slideLayout73.xml"/><Relationship Id="rId67" Type="http://schemas.openxmlformats.org/officeDocument/2006/relationships/slideLayout" Target="../slideLayouts/slideLayout81.xml"/><Relationship Id="rId20" Type="http://schemas.openxmlformats.org/officeDocument/2006/relationships/slideLayout" Target="../slideLayouts/slideLayout34.xml"/><Relationship Id="rId41" Type="http://schemas.openxmlformats.org/officeDocument/2006/relationships/slideLayout" Target="../slideLayouts/slideLayout55.xml"/><Relationship Id="rId54" Type="http://schemas.openxmlformats.org/officeDocument/2006/relationships/slideLayout" Target="../slideLayouts/slideLayout68.xml"/><Relationship Id="rId62" Type="http://schemas.openxmlformats.org/officeDocument/2006/relationships/slideLayout" Target="../slideLayouts/slideLayout76.xml"/><Relationship Id="rId70" Type="http://schemas.openxmlformats.org/officeDocument/2006/relationships/slideLayout" Target="../slideLayouts/slideLayout84.xml"/><Relationship Id="rId75" Type="http://schemas.openxmlformats.org/officeDocument/2006/relationships/slideLayout" Target="../slideLayouts/slideLayout89.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49" Type="http://schemas.openxmlformats.org/officeDocument/2006/relationships/slideLayout" Target="../slideLayouts/slideLayout63.xml"/><Relationship Id="rId57" Type="http://schemas.openxmlformats.org/officeDocument/2006/relationships/slideLayout" Target="../slideLayouts/slideLayout71.xml"/><Relationship Id="rId10" Type="http://schemas.openxmlformats.org/officeDocument/2006/relationships/slideLayout" Target="../slideLayouts/slideLayout24.xml"/><Relationship Id="rId31" Type="http://schemas.openxmlformats.org/officeDocument/2006/relationships/slideLayout" Target="../slideLayouts/slideLayout45.xml"/><Relationship Id="rId44" Type="http://schemas.openxmlformats.org/officeDocument/2006/relationships/slideLayout" Target="../slideLayouts/slideLayout58.xml"/><Relationship Id="rId52" Type="http://schemas.openxmlformats.org/officeDocument/2006/relationships/slideLayout" Target="../slideLayouts/slideLayout66.xml"/><Relationship Id="rId60" Type="http://schemas.openxmlformats.org/officeDocument/2006/relationships/slideLayout" Target="../slideLayouts/slideLayout74.xml"/><Relationship Id="rId65" Type="http://schemas.openxmlformats.org/officeDocument/2006/relationships/slideLayout" Target="../slideLayouts/slideLayout79.xml"/><Relationship Id="rId73" Type="http://schemas.openxmlformats.org/officeDocument/2006/relationships/slideLayout" Target="../slideLayouts/slideLayout8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9" Type="http://schemas.openxmlformats.org/officeDocument/2006/relationships/slideLayout" Target="../slideLayouts/slideLayout53.xml"/><Relationship Id="rId34" Type="http://schemas.openxmlformats.org/officeDocument/2006/relationships/slideLayout" Target="../slideLayouts/slideLayout48.xml"/><Relationship Id="rId50" Type="http://schemas.openxmlformats.org/officeDocument/2006/relationships/slideLayout" Target="../slideLayouts/slideLayout64.xml"/><Relationship Id="rId55" Type="http://schemas.openxmlformats.org/officeDocument/2006/relationships/slideLayout" Target="../slideLayouts/slideLayout69.xml"/><Relationship Id="rId76" Type="http://schemas.openxmlformats.org/officeDocument/2006/relationships/theme" Target="../theme/theme2.xml"/><Relationship Id="rId7" Type="http://schemas.openxmlformats.org/officeDocument/2006/relationships/slideLayout" Target="../slideLayouts/slideLayout21.xml"/><Relationship Id="rId71"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986713-C4BE-4C02-844B-EC063FF275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0D0AF-6FC8-4CB5-8BDC-749637A7BC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373178-3362-4D39-B51E-C343E0A1EC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609F46-181F-4985-9D4A-3D68ABF5A3E6}" type="datetimeFigureOut">
              <a:rPr lang="en-US" smtClean="0"/>
              <a:t>4/26/2022</a:t>
            </a:fld>
            <a:endParaRPr lang="en-US"/>
          </a:p>
        </p:txBody>
      </p:sp>
      <p:sp>
        <p:nvSpPr>
          <p:cNvPr id="5" name="Footer Placeholder 4">
            <a:extLst>
              <a:ext uri="{FF2B5EF4-FFF2-40B4-BE49-F238E27FC236}">
                <a16:creationId xmlns:a16="http://schemas.microsoft.com/office/drawing/2014/main" id="{428A9B39-3539-48D9-8845-F289400C6B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07F1875-F01A-44BA-8411-AA861A6582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9AF95B-F519-4D89-B363-CBD78FBEF37F}" type="slidenum">
              <a:rPr lang="en-US" smtClean="0"/>
              <a:t>‹#›</a:t>
            </a:fld>
            <a:endParaRPr lang="en-US"/>
          </a:p>
        </p:txBody>
      </p:sp>
    </p:spTree>
    <p:extLst>
      <p:ext uri="{BB962C8B-B14F-4D97-AF65-F5344CB8AC3E}">
        <p14:creationId xmlns:p14="http://schemas.microsoft.com/office/powerpoint/2010/main" val="3173485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a:solidFill>
                  <a:schemeClr val="bg1">
                    <a:lumMod val="75000"/>
                  </a:schemeClr>
                </a:solidFill>
              </a:rPr>
              <a:t>Closed captioning</a:t>
            </a:r>
            <a:br>
              <a:rPr lang="en-US" sz="700">
                <a:solidFill>
                  <a:schemeClr val="bg1">
                    <a:lumMod val="75000"/>
                  </a:schemeClr>
                </a:solidFill>
              </a:rPr>
            </a:br>
            <a:r>
              <a:rPr lang="en-US" sz="70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Gray</a:t>
              </a:r>
            </a:p>
            <a:p>
              <a:pPr defTabSz="914102" fontAlgn="base">
                <a:spcBef>
                  <a:spcPct val="0"/>
                </a:spcBef>
                <a:spcAft>
                  <a:spcPts val="98"/>
                </a:spcAft>
              </a:pPr>
              <a:r>
                <a:rPr lang="en-US" sz="588">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Blue-Gray</a:t>
              </a:r>
            </a:p>
            <a:p>
              <a:pPr defTabSz="914102" fontAlgn="base">
                <a:spcBef>
                  <a:spcPct val="0"/>
                </a:spcBef>
                <a:spcAft>
                  <a:spcPts val="98"/>
                </a:spcAft>
              </a:pPr>
              <a:r>
                <a:rPr lang="en-US" sz="588">
                  <a:solidFill>
                    <a:schemeClr val="bg1"/>
                  </a:solidFill>
                  <a:ea typeface="Segoe UI" pitchFamily="34" charset="0"/>
                  <a:cs typeface="Segoe UI" pitchFamily="34" charset="0"/>
                </a:rPr>
                <a:t>R36 G58 B94</a:t>
              </a:r>
            </a:p>
            <a:p>
              <a:pPr defTabSz="914102" fontAlgn="base">
                <a:spcBef>
                  <a:spcPct val="0"/>
                </a:spcBef>
                <a:spcAft>
                  <a:spcPts val="98"/>
                </a:spcAft>
              </a:pPr>
              <a:r>
                <a:rPr lang="en-US" sz="588">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a:t>
              </a:r>
            </a:p>
            <a:p>
              <a:pPr defTabSz="914102" fontAlgn="base">
                <a:spcBef>
                  <a:spcPct val="0"/>
                </a:spcBef>
                <a:spcAft>
                  <a:spcPts val="98"/>
                </a:spcAft>
              </a:pPr>
              <a:r>
                <a:rPr lang="en-US" sz="588">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Black</a:t>
                </a:r>
              </a:p>
              <a:p>
                <a:pPr defTabSz="914102" fontAlgn="base">
                  <a:spcBef>
                    <a:spcPct val="0"/>
                  </a:spcBef>
                  <a:spcAft>
                    <a:spcPts val="98"/>
                  </a:spcAft>
                </a:pPr>
                <a:r>
                  <a:rPr lang="en-US" sz="588">
                    <a:solidFill>
                      <a:schemeClr val="bg1"/>
                    </a:solidFill>
                    <a:ea typeface="Segoe UI" pitchFamily="34" charset="0"/>
                    <a:cs typeface="Segoe UI" pitchFamily="34" charset="0"/>
                  </a:rPr>
                  <a:t>R0 G0 B0</a:t>
                </a:r>
              </a:p>
              <a:p>
                <a:pPr defTabSz="914102" fontAlgn="base">
                  <a:spcBef>
                    <a:spcPct val="0"/>
                  </a:spcBef>
                  <a:spcAft>
                    <a:spcPts val="98"/>
                  </a:spcAft>
                </a:pPr>
                <a:r>
                  <a:rPr lang="en-US" sz="588">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tx1"/>
                    </a:solidFill>
                    <a:ea typeface="Segoe UI" pitchFamily="34" charset="0"/>
                    <a:cs typeface="Segoe UI" pitchFamily="34" charset="0"/>
                  </a:rPr>
                  <a:t>White</a:t>
                </a:r>
              </a:p>
              <a:p>
                <a:pPr defTabSz="914102" fontAlgn="base">
                  <a:spcBef>
                    <a:spcPct val="0"/>
                  </a:spcBef>
                  <a:spcAft>
                    <a:spcPts val="98"/>
                  </a:spcAft>
                </a:pPr>
                <a:r>
                  <a:rPr lang="en-US" sz="588">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255871652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 id="2147483699" r:id="rId33"/>
    <p:sldLayoutId id="2147483700" r:id="rId34"/>
    <p:sldLayoutId id="2147483701" r:id="rId35"/>
    <p:sldLayoutId id="2147483702" r:id="rId36"/>
    <p:sldLayoutId id="2147483703" r:id="rId37"/>
    <p:sldLayoutId id="2147483704" r:id="rId38"/>
    <p:sldLayoutId id="2147483705" r:id="rId39"/>
    <p:sldLayoutId id="2147483706" r:id="rId40"/>
    <p:sldLayoutId id="2147483707" r:id="rId41"/>
    <p:sldLayoutId id="2147483708" r:id="rId42"/>
    <p:sldLayoutId id="2147483709" r:id="rId43"/>
    <p:sldLayoutId id="2147483710" r:id="rId44"/>
    <p:sldLayoutId id="2147483711" r:id="rId45"/>
    <p:sldLayoutId id="2147483712" r:id="rId46"/>
    <p:sldLayoutId id="2147483713" r:id="rId47"/>
    <p:sldLayoutId id="2147483714" r:id="rId48"/>
    <p:sldLayoutId id="2147483715" r:id="rId49"/>
    <p:sldLayoutId id="2147483716" r:id="rId50"/>
    <p:sldLayoutId id="2147483717" r:id="rId51"/>
    <p:sldLayoutId id="2147483718" r:id="rId52"/>
    <p:sldLayoutId id="2147483719" r:id="rId53"/>
    <p:sldLayoutId id="2147483720" r:id="rId54"/>
    <p:sldLayoutId id="2147483721" r:id="rId55"/>
    <p:sldLayoutId id="2147483722" r:id="rId56"/>
    <p:sldLayoutId id="2147483723" r:id="rId57"/>
    <p:sldLayoutId id="2147483724" r:id="rId58"/>
    <p:sldLayoutId id="2147483725" r:id="rId59"/>
    <p:sldLayoutId id="2147483726" r:id="rId60"/>
    <p:sldLayoutId id="2147483727" r:id="rId61"/>
    <p:sldLayoutId id="2147483728" r:id="rId62"/>
    <p:sldLayoutId id="2147483729" r:id="rId63"/>
    <p:sldLayoutId id="2147483730" r:id="rId64"/>
    <p:sldLayoutId id="2147483731" r:id="rId65"/>
    <p:sldLayoutId id="2147483732" r:id="rId66"/>
    <p:sldLayoutId id="2147483733" r:id="rId67"/>
    <p:sldLayoutId id="2147483734" r:id="rId68"/>
    <p:sldLayoutId id="2147483735" r:id="rId69"/>
    <p:sldLayoutId id="2147483736" r:id="rId70"/>
    <p:sldLayoutId id="2147483737" r:id="rId71"/>
    <p:sldLayoutId id="2147483738" r:id="rId72"/>
    <p:sldLayoutId id="2147483739" r:id="rId73"/>
    <p:sldLayoutId id="2147483740" r:id="rId74"/>
    <p:sldLayoutId id="2147483741" r:id="rId75"/>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4" orient="horz" pos="3690">
          <p15:clr>
            <a:srgbClr val="5ACBF0"/>
          </p15:clr>
        </p15:guide>
        <p15:guide id="55" orient="horz" pos="918">
          <p15:clr>
            <a:srgbClr val="F26B43"/>
          </p15:clr>
        </p15:guide>
        <p15:guide id="56" orient="horz" pos="3480">
          <p15:clr>
            <a:srgbClr val="F26B43"/>
          </p15:clr>
        </p15:guide>
        <p15:guide id="57" orient="horz" pos="3572">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22.emf"/><Relationship Id="rId2" Type="http://schemas.openxmlformats.org/officeDocument/2006/relationships/notesSlide" Target="../notesSlides/notesSlide2.xml"/><Relationship Id="rId1" Type="http://schemas.openxmlformats.org/officeDocument/2006/relationships/slideLayout" Target="../slideLayouts/slideLayout59.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s>
</file>

<file path=ppt/slides/_rels/slide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24.emf"/><Relationship Id="rId2" Type="http://schemas.openxmlformats.org/officeDocument/2006/relationships/notesSlide" Target="../notesSlides/notesSlide3.xml"/><Relationship Id="rId1" Type="http://schemas.openxmlformats.org/officeDocument/2006/relationships/slideLayout" Target="../slideLayouts/slideLayout32.xml"/><Relationship Id="rId6" Type="http://schemas.openxmlformats.org/officeDocument/2006/relationships/image" Target="../media/image21.emf"/><Relationship Id="rId5" Type="http://schemas.openxmlformats.org/officeDocument/2006/relationships/image" Target="../media/image23.emf"/><Relationship Id="rId4" Type="http://schemas.openxmlformats.org/officeDocument/2006/relationships/image" Target="../media/image19.emf"/></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hyperlink" Target="https://docs.microsoft.com/en-us/learn/modules/load-balance-web-traffic-with-application-gateway/" TargetMode="External"/><Relationship Id="rId4" Type="http://schemas.openxmlformats.org/officeDocument/2006/relationships/hyperlink" Target="https://docs.microsoft.com/en-us/azure/application-gateway/overview"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24.emf"/><Relationship Id="rId2" Type="http://schemas.openxmlformats.org/officeDocument/2006/relationships/notesSlide" Target="../notesSlides/notesSlide9.xml"/><Relationship Id="rId1" Type="http://schemas.openxmlformats.org/officeDocument/2006/relationships/slideLayout" Target="../slideLayouts/slideLayout34.xml"/><Relationship Id="rId6" Type="http://schemas.openxmlformats.org/officeDocument/2006/relationships/image" Target="../media/image21.emf"/><Relationship Id="rId5" Type="http://schemas.openxmlformats.org/officeDocument/2006/relationships/image" Target="../media/image23.emf"/><Relationship Id="rId4" Type="http://schemas.openxmlformats.org/officeDocument/2006/relationships/image" Target="../media/image19.emf"/></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image" Target="../media/image37.wmf"/><Relationship Id="rId4" Type="http://schemas.openxmlformats.org/officeDocument/2006/relationships/image" Target="../media/image36.wmf"/></Relationships>
</file>

<file path=ppt/slides/_rels/slide20.xml.rels><?xml version="1.0" encoding="UTF-8" standalone="yes"?>
<Relationships xmlns="http://schemas.openxmlformats.org/package/2006/relationships"><Relationship Id="rId3" Type="http://schemas.openxmlformats.org/officeDocument/2006/relationships/hyperlink" Target="https://docs.microsoft.com/en-us/azure/application-gateway/" TargetMode="External"/><Relationship Id="rId2" Type="http://schemas.openxmlformats.org/officeDocument/2006/relationships/notesSlide" Target="../notesSlides/notesSlide16.xml"/><Relationship Id="rId1" Type="http://schemas.openxmlformats.org/officeDocument/2006/relationships/slideLayout" Target="../slideLayouts/slideLayout14.xml"/><Relationship Id="rId5" Type="http://schemas.openxmlformats.org/officeDocument/2006/relationships/image" Target="../media/image29.emf"/><Relationship Id="rId4" Type="http://schemas.openxmlformats.org/officeDocument/2006/relationships/hyperlink" Target="https://docs.microsoft.com/en-us/azure/application-gateway/overview"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9.xml"/><Relationship Id="rId1" Type="http://schemas.openxmlformats.org/officeDocument/2006/relationships/slideLayout" Target="../slideLayouts/slideLayout14.xml"/><Relationship Id="rId5" Type="http://schemas.openxmlformats.org/officeDocument/2006/relationships/hyperlink" Target="https://docs.microsoft.com/en-us/azure/application-gateway/quick-create-portal" TargetMode="External"/><Relationship Id="rId4" Type="http://schemas.openxmlformats.org/officeDocument/2006/relationships/hyperlink" Target="https://docs.microsoft.com/en-us/azure/application-gateway/overview"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24.emf"/><Relationship Id="rId2" Type="http://schemas.openxmlformats.org/officeDocument/2006/relationships/notesSlide" Target="../notesSlides/notesSlide20.xml"/><Relationship Id="rId1" Type="http://schemas.openxmlformats.org/officeDocument/2006/relationships/slideLayout" Target="../slideLayouts/slideLayout34.xml"/><Relationship Id="rId6" Type="http://schemas.openxmlformats.org/officeDocument/2006/relationships/image" Target="../media/image21.emf"/><Relationship Id="rId5" Type="http://schemas.openxmlformats.org/officeDocument/2006/relationships/image" Target="../media/image23.emf"/><Relationship Id="rId4" Type="http://schemas.openxmlformats.org/officeDocument/2006/relationships/image" Target="../media/image19.emf"/></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28.xml"/><Relationship Id="rId1" Type="http://schemas.openxmlformats.org/officeDocument/2006/relationships/slideLayout" Target="../slideLayouts/slideLayout14.xml"/><Relationship Id="rId5" Type="http://schemas.openxmlformats.org/officeDocument/2006/relationships/image" Target="../media/image37.wmf"/><Relationship Id="rId4" Type="http://schemas.openxmlformats.org/officeDocument/2006/relationships/image" Target="../media/image36.wmf"/></Relationships>
</file>

<file path=ppt/slides/_rels/slide3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29.xml"/><Relationship Id="rId1" Type="http://schemas.openxmlformats.org/officeDocument/2006/relationships/slideLayout" Target="../slideLayouts/slideLayout14.xml"/><Relationship Id="rId5" Type="http://schemas.openxmlformats.org/officeDocument/2006/relationships/hyperlink" Target="https://docs.microsoft.com/en-us/azure/frontdoor/front-door-waf" TargetMode="External"/><Relationship Id="rId4" Type="http://schemas.openxmlformats.org/officeDocument/2006/relationships/hyperlink" Target="https://docs.microsoft.com/en-us/azure/frontdoor/front-door-overview"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hyperlink" Target="https://docs.microsoft.com/en-us/azure/frontdoor/quickstart-create-front-door"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C7C3CA-ED0D-43F4-B388-221F872F5C1D}"/>
              </a:ext>
            </a:extLst>
          </p:cNvPr>
          <p:cNvSpPr>
            <a:spLocks noGrp="1"/>
          </p:cNvSpPr>
          <p:nvPr>
            <p:ph type="title"/>
          </p:nvPr>
        </p:nvSpPr>
        <p:spPr>
          <a:xfrm>
            <a:off x="507119" y="1989274"/>
            <a:ext cx="5428936" cy="2879453"/>
          </a:xfrm>
        </p:spPr>
        <p:txBody>
          <a:bodyPr>
            <a:normAutofit/>
          </a:bodyPr>
          <a:lstStyle/>
          <a:p>
            <a:r>
              <a:rPr lang="en-US" sz="4509" dirty="0">
                <a:latin typeface="Segoe UI Semibold" panose="020B0702040204020203" pitchFamily="34" charset="0"/>
                <a:cs typeface="Segoe UI Semibold" panose="020B0702040204020203" pitchFamily="34" charset="0"/>
              </a:rPr>
              <a:t>AZ-700T00A</a:t>
            </a:r>
            <a:br>
              <a:rPr lang="en-US" sz="4509" dirty="0">
                <a:latin typeface="Segoe UI Semibold" panose="020B0702040204020203" pitchFamily="34" charset="0"/>
                <a:cs typeface="Segoe UI Semibold" panose="020B0702040204020203" pitchFamily="34" charset="0"/>
              </a:rPr>
            </a:br>
            <a:r>
              <a:rPr lang="en-US" sz="4509" dirty="0">
                <a:latin typeface="Segoe UI Semibold" panose="020B0702040204020203" pitchFamily="34" charset="0"/>
                <a:cs typeface="Segoe UI Semibold" panose="020B0702040204020203" pitchFamily="34" charset="0"/>
              </a:rPr>
              <a:t>Module 05: Load balancing HTTP(S) traffic in Azure</a:t>
            </a:r>
          </a:p>
        </p:txBody>
      </p:sp>
    </p:spTree>
    <p:extLst>
      <p:ext uri="{BB962C8B-B14F-4D97-AF65-F5344CB8AC3E}">
        <p14:creationId xmlns:p14="http://schemas.microsoft.com/office/powerpoint/2010/main" val="28110734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Module Overview</a:t>
            </a:r>
          </a:p>
        </p:txBody>
      </p:sp>
      <p:sp>
        <p:nvSpPr>
          <p:cNvPr id="6" name="Text Placeholder 5"/>
          <p:cNvSpPr>
            <a:spLocks noGrp="1"/>
          </p:cNvSpPr>
          <p:nvPr>
            <p:ph type="body" sz="quarter" idx="11"/>
          </p:nvPr>
        </p:nvSpPr>
        <p:spPr/>
        <p:txBody>
          <a:bodyPr/>
          <a:lstStyle/>
          <a:p>
            <a:pPr lvl="1"/>
            <a:r>
              <a:rPr lang="en-US" dirty="0"/>
              <a:t>Lesson 01: Design Azure Application Gateway </a:t>
            </a:r>
          </a:p>
        </p:txBody>
      </p:sp>
      <p:sp>
        <p:nvSpPr>
          <p:cNvPr id="2" name="Text Placeholder 1"/>
          <p:cNvSpPr>
            <a:spLocks noGrp="1"/>
          </p:cNvSpPr>
          <p:nvPr>
            <p:ph type="body" sz="quarter" idx="15"/>
          </p:nvPr>
        </p:nvSpPr>
        <p:spPr/>
        <p:txBody>
          <a:bodyPr/>
          <a:lstStyle/>
          <a:p>
            <a:pPr lvl="1"/>
            <a:r>
              <a:rPr lang="en-US" dirty="0"/>
              <a:t>Lesson 02: Configure Azure Application Gateway </a:t>
            </a:r>
          </a:p>
        </p:txBody>
      </p:sp>
      <p:sp>
        <p:nvSpPr>
          <p:cNvPr id="3" name="Text Placeholder 2"/>
          <p:cNvSpPr>
            <a:spLocks noGrp="1"/>
          </p:cNvSpPr>
          <p:nvPr>
            <p:ph type="body" sz="quarter" idx="17"/>
          </p:nvPr>
        </p:nvSpPr>
        <p:spPr/>
        <p:txBody>
          <a:bodyPr/>
          <a:lstStyle/>
          <a:p>
            <a:pPr lvl="1"/>
            <a:r>
              <a:rPr lang="fr-FR" dirty="0"/>
              <a:t>Lesson 03: Exercice: deploy Azure Application Gateway</a:t>
            </a:r>
          </a:p>
        </p:txBody>
      </p:sp>
      <p:sp>
        <p:nvSpPr>
          <p:cNvPr id="4" name="Text Placeholder 3"/>
          <p:cNvSpPr>
            <a:spLocks noGrp="1"/>
          </p:cNvSpPr>
          <p:nvPr>
            <p:ph type="body" sz="quarter" idx="19"/>
          </p:nvPr>
        </p:nvSpPr>
        <p:spPr/>
        <p:txBody>
          <a:bodyPr/>
          <a:lstStyle/>
          <a:p>
            <a:pPr marL="0" lvl="0" indent="0" algn="l" defTabSz="1022350">
              <a:spcBef>
                <a:spcPct val="0"/>
              </a:spcBef>
              <a:spcAft>
                <a:spcPct val="35000"/>
              </a:spcAft>
              <a:buNone/>
            </a:pPr>
            <a:r>
              <a:rPr lang="en-US" altLang="zh-CN" sz="1800" kern="1200" dirty="0">
                <a:solidFill>
                  <a:schemeClr val="tx1"/>
                </a:solidFill>
              </a:rPr>
              <a:t>Lesson 04: Design and configure Azure Front Door</a:t>
            </a:r>
          </a:p>
        </p:txBody>
      </p:sp>
      <p:sp>
        <p:nvSpPr>
          <p:cNvPr id="5" name="Text Placeholder 4"/>
          <p:cNvSpPr>
            <a:spLocks noGrp="1"/>
          </p:cNvSpPr>
          <p:nvPr>
            <p:ph type="body" sz="quarter" idx="21"/>
          </p:nvPr>
        </p:nvSpPr>
        <p:spPr/>
        <p:txBody>
          <a:bodyPr/>
          <a:lstStyle/>
          <a:p>
            <a:pPr lvl="1"/>
            <a:r>
              <a:rPr lang="en-US" dirty="0"/>
              <a:t>Lesson 05: Exercise: create a Front Door for highly available web application using the Azure portal </a:t>
            </a:r>
          </a:p>
        </p:txBody>
      </p:sp>
      <p:grpSp>
        <p:nvGrpSpPr>
          <p:cNvPr id="9" name="Group 8">
            <a:extLst>
              <a:ext uri="{FF2B5EF4-FFF2-40B4-BE49-F238E27FC236}">
                <a16:creationId xmlns:a16="http://schemas.microsoft.com/office/drawing/2014/main" id="{98A38482-FEC9-4377-9F48-0689020659D5}"/>
              </a:ext>
              <a:ext uri="{C183D7F6-B498-43B3-948B-1728B52AA6E4}">
                <adec:decorative xmlns:adec="http://schemas.microsoft.com/office/drawing/2017/decorative" val="1"/>
              </a:ext>
            </a:extLst>
          </p:cNvPr>
          <p:cNvGrpSpPr/>
          <p:nvPr/>
        </p:nvGrpSpPr>
        <p:grpSpPr>
          <a:xfrm>
            <a:off x="369326" y="1422406"/>
            <a:ext cx="766457" cy="4171681"/>
            <a:chOff x="369326" y="1422406"/>
            <a:chExt cx="766457" cy="4171681"/>
          </a:xfrm>
        </p:grpSpPr>
        <p:grpSp>
          <p:nvGrpSpPr>
            <p:cNvPr id="120" name="Group 119">
              <a:extLst>
                <a:ext uri="{FF2B5EF4-FFF2-40B4-BE49-F238E27FC236}">
                  <a16:creationId xmlns:a16="http://schemas.microsoft.com/office/drawing/2014/main" id="{4A674176-DC59-4820-A292-875AD0AFB884}"/>
                </a:ext>
              </a:extLst>
            </p:cNvPr>
            <p:cNvGrpSpPr/>
            <p:nvPr/>
          </p:nvGrpSpPr>
          <p:grpSpPr>
            <a:xfrm>
              <a:off x="418643" y="1422406"/>
              <a:ext cx="717140" cy="717242"/>
              <a:chOff x="418643" y="1487929"/>
              <a:chExt cx="717140" cy="717242"/>
            </a:xfrm>
          </p:grpSpPr>
          <p:grpSp>
            <p:nvGrpSpPr>
              <p:cNvPr id="121" name="Group 120">
                <a:extLst>
                  <a:ext uri="{FF2B5EF4-FFF2-40B4-BE49-F238E27FC236}">
                    <a16:creationId xmlns:a16="http://schemas.microsoft.com/office/drawing/2014/main" id="{9E1A0A5B-0F5C-4E43-AB56-2EDB2FCB1CE2}"/>
                  </a:ext>
                </a:extLst>
              </p:cNvPr>
              <p:cNvGrpSpPr/>
              <p:nvPr/>
            </p:nvGrpSpPr>
            <p:grpSpPr>
              <a:xfrm>
                <a:off x="418643" y="1487929"/>
                <a:ext cx="717140" cy="717242"/>
                <a:chOff x="418643" y="1487929"/>
                <a:chExt cx="717140" cy="717242"/>
              </a:xfrm>
            </p:grpSpPr>
            <p:sp>
              <p:nvSpPr>
                <p:cNvPr id="123" name="Freeform 5">
                  <a:extLst>
                    <a:ext uri="{FF2B5EF4-FFF2-40B4-BE49-F238E27FC236}">
                      <a16:creationId xmlns:a16="http://schemas.microsoft.com/office/drawing/2014/main" id="{A0583DD7-16E9-4F79-94DE-77F7D9EF127E}"/>
                    </a:ext>
                  </a:extLst>
                </p:cNvPr>
                <p:cNvSpPr>
                  <a:spLocks/>
                </p:cNvSpPr>
                <p:nvPr/>
              </p:nvSpPr>
              <p:spPr bwMode="auto">
                <a:xfrm>
                  <a:off x="418643" y="148792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24" name="Freeform 6">
                  <a:extLst>
                    <a:ext uri="{FF2B5EF4-FFF2-40B4-BE49-F238E27FC236}">
                      <a16:creationId xmlns:a16="http://schemas.microsoft.com/office/drawing/2014/main" id="{4771F1EC-9305-4657-BF5C-1CDA86862346}"/>
                    </a:ext>
                  </a:extLst>
                </p:cNvPr>
                <p:cNvSpPr>
                  <a:spLocks noEditPoints="1"/>
                </p:cNvSpPr>
                <p:nvPr/>
              </p:nvSpPr>
              <p:spPr bwMode="auto">
                <a:xfrm>
                  <a:off x="467961" y="153783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22" name="Picture 121" descr="Icon of three concentric arcs">
                <a:extLst>
                  <a:ext uri="{FF2B5EF4-FFF2-40B4-BE49-F238E27FC236}">
                    <a16:creationId xmlns:a16="http://schemas.microsoft.com/office/drawing/2014/main" id="{B7004DEE-4F61-4F20-80A9-641C39F92F14}"/>
                  </a:ext>
                </a:extLst>
              </p:cNvPr>
              <p:cNvPicPr>
                <a:picLocks noChangeAspect="1"/>
              </p:cNvPicPr>
              <p:nvPr/>
            </p:nvPicPr>
            <p:blipFill>
              <a:blip r:embed="rId3"/>
              <a:stretch>
                <a:fillRect/>
              </a:stretch>
            </p:blipFill>
            <p:spPr>
              <a:xfrm>
                <a:off x="546738" y="1616076"/>
                <a:ext cx="460952" cy="460950"/>
              </a:xfrm>
              <a:prstGeom prst="rect">
                <a:avLst/>
              </a:prstGeom>
            </p:spPr>
          </p:pic>
        </p:grpSp>
        <p:grpSp>
          <p:nvGrpSpPr>
            <p:cNvPr id="115" name="Group 114">
              <a:extLst>
                <a:ext uri="{FF2B5EF4-FFF2-40B4-BE49-F238E27FC236}">
                  <a16:creationId xmlns:a16="http://schemas.microsoft.com/office/drawing/2014/main" id="{869B9CF7-CB98-47D7-8A83-476533347DE2}"/>
                </a:ext>
              </a:extLst>
            </p:cNvPr>
            <p:cNvGrpSpPr/>
            <p:nvPr/>
          </p:nvGrpSpPr>
          <p:grpSpPr>
            <a:xfrm>
              <a:off x="418643" y="2277473"/>
              <a:ext cx="717140" cy="717242"/>
              <a:chOff x="418643" y="2533089"/>
              <a:chExt cx="717140" cy="717242"/>
            </a:xfrm>
          </p:grpSpPr>
          <p:grpSp>
            <p:nvGrpSpPr>
              <p:cNvPr id="116" name="Group 115">
                <a:extLst>
                  <a:ext uri="{FF2B5EF4-FFF2-40B4-BE49-F238E27FC236}">
                    <a16:creationId xmlns:a16="http://schemas.microsoft.com/office/drawing/2014/main" id="{FA7B8AD0-55EC-45AF-BDD7-780499AA4279}"/>
                  </a:ext>
                  <a:ext uri="{C183D7F6-B498-43B3-948B-1728B52AA6E4}">
                    <adec:decorative xmlns:adec="http://schemas.microsoft.com/office/drawing/2017/decorative" val="1"/>
                  </a:ext>
                </a:extLst>
              </p:cNvPr>
              <p:cNvGrpSpPr/>
              <p:nvPr/>
            </p:nvGrpSpPr>
            <p:grpSpPr>
              <a:xfrm>
                <a:off x="418643" y="2533089"/>
                <a:ext cx="717140" cy="717242"/>
                <a:chOff x="7962901" y="3032919"/>
                <a:chExt cx="981074" cy="981076"/>
              </a:xfrm>
            </p:grpSpPr>
            <p:sp>
              <p:nvSpPr>
                <p:cNvPr id="118" name="Freeform 5">
                  <a:extLst>
                    <a:ext uri="{FF2B5EF4-FFF2-40B4-BE49-F238E27FC236}">
                      <a16:creationId xmlns:a16="http://schemas.microsoft.com/office/drawing/2014/main" id="{036D0CD6-B197-4B76-89FF-4408B8903C17}"/>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19" name="Freeform 6">
                  <a:extLst>
                    <a:ext uri="{FF2B5EF4-FFF2-40B4-BE49-F238E27FC236}">
                      <a16:creationId xmlns:a16="http://schemas.microsoft.com/office/drawing/2014/main" id="{363E3F21-BD34-4B65-8F38-B6C413E92810}"/>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17" name="Picture 116" descr="Icon of a arrow in a circular path with a timer inside the circle">
                <a:extLst>
                  <a:ext uri="{FF2B5EF4-FFF2-40B4-BE49-F238E27FC236}">
                    <a16:creationId xmlns:a16="http://schemas.microsoft.com/office/drawing/2014/main" id="{96616C5A-2919-4DD4-A93C-4ED095E5DD6B}"/>
                  </a:ext>
                </a:extLst>
              </p:cNvPr>
              <p:cNvPicPr>
                <a:picLocks noChangeAspect="1"/>
              </p:cNvPicPr>
              <p:nvPr/>
            </p:nvPicPr>
            <p:blipFill>
              <a:blip r:embed="rId4"/>
              <a:stretch>
                <a:fillRect/>
              </a:stretch>
            </p:blipFill>
            <p:spPr>
              <a:xfrm>
                <a:off x="566791" y="2681289"/>
                <a:ext cx="420846" cy="420844"/>
              </a:xfrm>
              <a:prstGeom prst="rect">
                <a:avLst/>
              </a:prstGeom>
            </p:spPr>
          </p:pic>
        </p:grpSp>
        <p:grpSp>
          <p:nvGrpSpPr>
            <p:cNvPr id="125" name="Group 124">
              <a:extLst>
                <a:ext uri="{FF2B5EF4-FFF2-40B4-BE49-F238E27FC236}">
                  <a16:creationId xmlns:a16="http://schemas.microsoft.com/office/drawing/2014/main" id="{49616D34-901A-485E-96F4-D6F6874D36DE}"/>
                </a:ext>
              </a:extLst>
            </p:cNvPr>
            <p:cNvGrpSpPr/>
            <p:nvPr/>
          </p:nvGrpSpPr>
          <p:grpSpPr>
            <a:xfrm>
              <a:off x="418643" y="3132540"/>
              <a:ext cx="717140" cy="717242"/>
              <a:chOff x="418643" y="3578249"/>
              <a:chExt cx="717140" cy="717242"/>
            </a:xfrm>
          </p:grpSpPr>
          <p:grpSp>
            <p:nvGrpSpPr>
              <p:cNvPr id="126" name="Group 125">
                <a:extLst>
                  <a:ext uri="{FF2B5EF4-FFF2-40B4-BE49-F238E27FC236}">
                    <a16:creationId xmlns:a16="http://schemas.microsoft.com/office/drawing/2014/main" id="{262319FD-E064-46F9-BD47-46BC4C84FC47}"/>
                  </a:ext>
                  <a:ext uri="{C183D7F6-B498-43B3-948B-1728B52AA6E4}">
                    <adec:decorative xmlns:adec="http://schemas.microsoft.com/office/drawing/2017/decorative" val="1"/>
                  </a:ext>
                </a:extLst>
              </p:cNvPr>
              <p:cNvGrpSpPr/>
              <p:nvPr/>
            </p:nvGrpSpPr>
            <p:grpSpPr>
              <a:xfrm>
                <a:off x="418643" y="3578249"/>
                <a:ext cx="717140" cy="717242"/>
                <a:chOff x="7962901" y="3032919"/>
                <a:chExt cx="981074" cy="981076"/>
              </a:xfrm>
            </p:grpSpPr>
            <p:sp>
              <p:nvSpPr>
                <p:cNvPr id="128" name="Freeform 5">
                  <a:extLst>
                    <a:ext uri="{FF2B5EF4-FFF2-40B4-BE49-F238E27FC236}">
                      <a16:creationId xmlns:a16="http://schemas.microsoft.com/office/drawing/2014/main" id="{6F419DCC-5F4F-4554-835B-15965F712F52}"/>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29" name="Freeform 6">
                  <a:extLst>
                    <a:ext uri="{FF2B5EF4-FFF2-40B4-BE49-F238E27FC236}">
                      <a16:creationId xmlns:a16="http://schemas.microsoft.com/office/drawing/2014/main" id="{8AC96372-902C-4AE5-9FD7-B0C99860A551}"/>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27" name="Picture 126" descr="Icon of three dots and outward pointing chevrons on left and right">
                <a:extLst>
                  <a:ext uri="{FF2B5EF4-FFF2-40B4-BE49-F238E27FC236}">
                    <a16:creationId xmlns:a16="http://schemas.microsoft.com/office/drawing/2014/main" id="{134128E0-043C-4E8B-98EE-7A3830577470}"/>
                  </a:ext>
                </a:extLst>
              </p:cNvPr>
              <p:cNvPicPr>
                <a:picLocks noChangeAspect="1"/>
              </p:cNvPicPr>
              <p:nvPr/>
            </p:nvPicPr>
            <p:blipFill>
              <a:blip r:embed="rId5"/>
              <a:stretch>
                <a:fillRect/>
              </a:stretch>
            </p:blipFill>
            <p:spPr>
              <a:xfrm>
                <a:off x="532902" y="3829050"/>
                <a:ext cx="488622" cy="215640"/>
              </a:xfrm>
              <a:prstGeom prst="rect">
                <a:avLst/>
              </a:prstGeom>
            </p:spPr>
          </p:pic>
        </p:grpSp>
        <p:grpSp>
          <p:nvGrpSpPr>
            <p:cNvPr id="110" name="Group 109">
              <a:extLst>
                <a:ext uri="{FF2B5EF4-FFF2-40B4-BE49-F238E27FC236}">
                  <a16:creationId xmlns:a16="http://schemas.microsoft.com/office/drawing/2014/main" id="{4EED7A9E-AE7C-49CC-ACE0-4770D04B77EA}"/>
                </a:ext>
              </a:extLst>
            </p:cNvPr>
            <p:cNvGrpSpPr/>
            <p:nvPr/>
          </p:nvGrpSpPr>
          <p:grpSpPr>
            <a:xfrm>
              <a:off x="418643" y="3987607"/>
              <a:ext cx="717140" cy="717242"/>
              <a:chOff x="418643" y="4623409"/>
              <a:chExt cx="717140" cy="717242"/>
            </a:xfrm>
          </p:grpSpPr>
          <p:grpSp>
            <p:nvGrpSpPr>
              <p:cNvPr id="111" name="Group 110">
                <a:extLst>
                  <a:ext uri="{FF2B5EF4-FFF2-40B4-BE49-F238E27FC236}">
                    <a16:creationId xmlns:a16="http://schemas.microsoft.com/office/drawing/2014/main" id="{D8693CE6-86F9-4925-9BE1-EEA0FF7BD159}"/>
                  </a:ext>
                  <a:ext uri="{C183D7F6-B498-43B3-948B-1728B52AA6E4}">
                    <adec:decorative xmlns:adec="http://schemas.microsoft.com/office/drawing/2017/decorative" val="1"/>
                  </a:ext>
                </a:extLst>
              </p:cNvPr>
              <p:cNvGrpSpPr/>
              <p:nvPr/>
            </p:nvGrpSpPr>
            <p:grpSpPr>
              <a:xfrm>
                <a:off x="418643" y="4623409"/>
                <a:ext cx="717140" cy="717242"/>
                <a:chOff x="7962901" y="3032919"/>
                <a:chExt cx="981074" cy="981076"/>
              </a:xfrm>
            </p:grpSpPr>
            <p:sp>
              <p:nvSpPr>
                <p:cNvPr id="113" name="Freeform 5">
                  <a:extLst>
                    <a:ext uri="{FF2B5EF4-FFF2-40B4-BE49-F238E27FC236}">
                      <a16:creationId xmlns:a16="http://schemas.microsoft.com/office/drawing/2014/main" id="{F62D88D0-261F-4831-9225-1BF1B4333567}"/>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14" name="Freeform 6">
                  <a:extLst>
                    <a:ext uri="{FF2B5EF4-FFF2-40B4-BE49-F238E27FC236}">
                      <a16:creationId xmlns:a16="http://schemas.microsoft.com/office/drawing/2014/main" id="{40EAE490-D0A4-45CD-BAB9-E10AF049C700}"/>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12" name="Picture 111" descr="Icon of a bulb">
                <a:extLst>
                  <a:ext uri="{FF2B5EF4-FFF2-40B4-BE49-F238E27FC236}">
                    <a16:creationId xmlns:a16="http://schemas.microsoft.com/office/drawing/2014/main" id="{F3EEECB5-482E-403B-A00F-CD1BB74147D6}"/>
                  </a:ext>
                </a:extLst>
              </p:cNvPr>
              <p:cNvPicPr>
                <a:picLocks noChangeAspect="1"/>
              </p:cNvPicPr>
              <p:nvPr/>
            </p:nvPicPr>
            <p:blipFill>
              <a:blip r:embed="rId6"/>
              <a:stretch>
                <a:fillRect/>
              </a:stretch>
            </p:blipFill>
            <p:spPr>
              <a:xfrm>
                <a:off x="619369" y="4762500"/>
                <a:ext cx="315688" cy="439060"/>
              </a:xfrm>
              <a:prstGeom prst="rect">
                <a:avLst/>
              </a:prstGeom>
            </p:spPr>
          </p:pic>
        </p:grpSp>
        <p:grpSp>
          <p:nvGrpSpPr>
            <p:cNvPr id="8" name="Group 7">
              <a:extLst>
                <a:ext uri="{FF2B5EF4-FFF2-40B4-BE49-F238E27FC236}">
                  <a16:creationId xmlns:a16="http://schemas.microsoft.com/office/drawing/2014/main" id="{14704876-6488-4616-925B-161C44DBA580}"/>
                </a:ext>
              </a:extLst>
            </p:cNvPr>
            <p:cNvGrpSpPr/>
            <p:nvPr/>
          </p:nvGrpSpPr>
          <p:grpSpPr>
            <a:xfrm>
              <a:off x="369326" y="4876845"/>
              <a:ext cx="717140" cy="717242"/>
              <a:chOff x="418643" y="4842674"/>
              <a:chExt cx="717140" cy="717242"/>
            </a:xfrm>
          </p:grpSpPr>
          <p:grpSp>
            <p:nvGrpSpPr>
              <p:cNvPr id="146" name="Group 145">
                <a:extLst>
                  <a:ext uri="{FF2B5EF4-FFF2-40B4-BE49-F238E27FC236}">
                    <a16:creationId xmlns:a16="http://schemas.microsoft.com/office/drawing/2014/main" id="{1FD66236-A217-4269-8636-22F73E742ED6}"/>
                  </a:ext>
                  <a:ext uri="{C183D7F6-B498-43B3-948B-1728B52AA6E4}">
                    <adec:decorative xmlns:adec="http://schemas.microsoft.com/office/drawing/2017/decorative" val="1"/>
                  </a:ext>
                </a:extLst>
              </p:cNvPr>
              <p:cNvGrpSpPr/>
              <p:nvPr/>
            </p:nvGrpSpPr>
            <p:grpSpPr>
              <a:xfrm>
                <a:off x="418643" y="4842674"/>
                <a:ext cx="717140" cy="717242"/>
                <a:chOff x="7962901" y="3032919"/>
                <a:chExt cx="981074" cy="981076"/>
              </a:xfrm>
            </p:grpSpPr>
            <p:sp>
              <p:nvSpPr>
                <p:cNvPr id="148" name="Freeform 5">
                  <a:extLst>
                    <a:ext uri="{FF2B5EF4-FFF2-40B4-BE49-F238E27FC236}">
                      <a16:creationId xmlns:a16="http://schemas.microsoft.com/office/drawing/2014/main" id="{89DF616E-B57C-4851-842A-11F1FA08DBE2}"/>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49" name="Freeform 6">
                  <a:extLst>
                    <a:ext uri="{FF2B5EF4-FFF2-40B4-BE49-F238E27FC236}">
                      <a16:creationId xmlns:a16="http://schemas.microsoft.com/office/drawing/2014/main" id="{BB570B94-5E60-45CD-8316-1FCAA58C8642}"/>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7" name="Picture 6" descr="Icon of coding brackets">
                <a:extLst>
                  <a:ext uri="{FF2B5EF4-FFF2-40B4-BE49-F238E27FC236}">
                    <a16:creationId xmlns:a16="http://schemas.microsoft.com/office/drawing/2014/main" id="{2BAE4BEA-542A-41B5-A5D1-490B9CA29507}"/>
                  </a:ext>
                </a:extLst>
              </p:cNvPr>
              <p:cNvPicPr>
                <a:picLocks noChangeAspect="1"/>
              </p:cNvPicPr>
              <p:nvPr/>
            </p:nvPicPr>
            <p:blipFill>
              <a:blip r:embed="rId7"/>
              <a:stretch>
                <a:fillRect/>
              </a:stretch>
            </p:blipFill>
            <p:spPr>
              <a:xfrm>
                <a:off x="568446" y="4992528"/>
                <a:ext cx="417534" cy="417534"/>
              </a:xfrm>
              <a:prstGeom prst="rect">
                <a:avLst/>
              </a:prstGeom>
            </p:spPr>
          </p:pic>
        </p:grpSp>
      </p:grpSp>
    </p:spTree>
    <p:extLst>
      <p:ext uri="{BB962C8B-B14F-4D97-AF65-F5344CB8AC3E}">
        <p14:creationId xmlns:p14="http://schemas.microsoft.com/office/powerpoint/2010/main" val="1950383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5217" y="3179701"/>
            <a:ext cx="8892608" cy="498598"/>
          </a:xfrm>
        </p:spPr>
        <p:txBody>
          <a:bodyPr/>
          <a:lstStyle/>
          <a:p>
            <a:r>
              <a:rPr lang="en-US" dirty="0"/>
              <a:t>Lesson 01: </a:t>
            </a:r>
            <a:r>
              <a:rPr lang="en-US" sz="3600" dirty="0"/>
              <a:t>Design Azure Application Gateway</a:t>
            </a:r>
            <a:endParaRPr lang="en-US" dirty="0"/>
          </a:p>
        </p:txBody>
      </p:sp>
      <p:grpSp>
        <p:nvGrpSpPr>
          <p:cNvPr id="7" name="Group 6">
            <a:extLst>
              <a:ext uri="{FF2B5EF4-FFF2-40B4-BE49-F238E27FC236}">
                <a16:creationId xmlns:a16="http://schemas.microsoft.com/office/drawing/2014/main" id="{E00B7EC2-C7A2-41A8-80BE-1A574EDAE1B5}"/>
              </a:ext>
              <a:ext uri="{C183D7F6-B498-43B3-948B-1728B52AA6E4}">
                <adec:decorative xmlns:adec="http://schemas.microsoft.com/office/drawing/2017/decorative" val="1"/>
              </a:ext>
            </a:extLst>
          </p:cNvPr>
          <p:cNvGrpSpPr/>
          <p:nvPr/>
        </p:nvGrpSpPr>
        <p:grpSpPr>
          <a:xfrm>
            <a:off x="10320289" y="3070379"/>
            <a:ext cx="717140" cy="717242"/>
            <a:chOff x="418643" y="1487929"/>
            <a:chExt cx="717140" cy="717242"/>
          </a:xfrm>
        </p:grpSpPr>
        <p:grpSp>
          <p:nvGrpSpPr>
            <p:cNvPr id="9" name="Group 8">
              <a:extLst>
                <a:ext uri="{FF2B5EF4-FFF2-40B4-BE49-F238E27FC236}">
                  <a16:creationId xmlns:a16="http://schemas.microsoft.com/office/drawing/2014/main" id="{E2C0CD26-DD52-452D-9672-0CCE8DCFB5D9}"/>
                </a:ext>
              </a:extLst>
            </p:cNvPr>
            <p:cNvGrpSpPr/>
            <p:nvPr/>
          </p:nvGrpSpPr>
          <p:grpSpPr>
            <a:xfrm>
              <a:off x="418643" y="1487929"/>
              <a:ext cx="717140" cy="717242"/>
              <a:chOff x="418643" y="1487929"/>
              <a:chExt cx="717140" cy="717242"/>
            </a:xfrm>
          </p:grpSpPr>
          <p:sp>
            <p:nvSpPr>
              <p:cNvPr id="11" name="Freeform 5">
                <a:extLst>
                  <a:ext uri="{FF2B5EF4-FFF2-40B4-BE49-F238E27FC236}">
                    <a16:creationId xmlns:a16="http://schemas.microsoft.com/office/drawing/2014/main" id="{35E77CA8-95EC-461B-9E25-0DE5AE9CE9EA}"/>
                  </a:ext>
                </a:extLst>
              </p:cNvPr>
              <p:cNvSpPr>
                <a:spLocks/>
              </p:cNvSpPr>
              <p:nvPr/>
            </p:nvSpPr>
            <p:spPr bwMode="auto">
              <a:xfrm>
                <a:off x="418643" y="148792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2" name="Freeform 6">
                <a:extLst>
                  <a:ext uri="{FF2B5EF4-FFF2-40B4-BE49-F238E27FC236}">
                    <a16:creationId xmlns:a16="http://schemas.microsoft.com/office/drawing/2014/main" id="{6495E5B7-332D-4AED-B064-832A4851D175}"/>
                  </a:ext>
                </a:extLst>
              </p:cNvPr>
              <p:cNvSpPr>
                <a:spLocks noEditPoints="1"/>
              </p:cNvSpPr>
              <p:nvPr/>
            </p:nvSpPr>
            <p:spPr bwMode="auto">
              <a:xfrm>
                <a:off x="467961" y="153783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0" name="Picture 9" descr="Icon of three concentric arcs">
              <a:extLst>
                <a:ext uri="{FF2B5EF4-FFF2-40B4-BE49-F238E27FC236}">
                  <a16:creationId xmlns:a16="http://schemas.microsoft.com/office/drawing/2014/main" id="{D6C89B61-AC59-44B1-9E24-362575F441A8}"/>
                </a:ext>
              </a:extLst>
            </p:cNvPr>
            <p:cNvPicPr>
              <a:picLocks noChangeAspect="1"/>
            </p:cNvPicPr>
            <p:nvPr/>
          </p:nvPicPr>
          <p:blipFill>
            <a:blip r:embed="rId2"/>
            <a:stretch>
              <a:fillRect/>
            </a:stretch>
          </p:blipFill>
          <p:spPr>
            <a:xfrm>
              <a:off x="546738" y="1616076"/>
              <a:ext cx="460952" cy="460950"/>
            </a:xfrm>
            <a:prstGeom prst="rect">
              <a:avLst/>
            </a:prstGeom>
          </p:spPr>
        </p:pic>
      </p:grpSp>
    </p:spTree>
    <p:extLst>
      <p:ext uri="{BB962C8B-B14F-4D97-AF65-F5344CB8AC3E}">
        <p14:creationId xmlns:p14="http://schemas.microsoft.com/office/powerpoint/2010/main" val="58126466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05580" y="3088902"/>
            <a:ext cx="2154740" cy="680196"/>
          </a:xfrm>
        </p:spPr>
        <p:txBody>
          <a:bodyPr/>
          <a:lstStyle/>
          <a:p>
            <a:r>
              <a:rPr lang="en-US" sz="2750" dirty="0"/>
              <a:t>Design Azure Application Gateway overview</a:t>
            </a:r>
          </a:p>
        </p:txBody>
      </p:sp>
      <p:sp>
        <p:nvSpPr>
          <p:cNvPr id="6" name="Text Placeholder 5"/>
          <p:cNvSpPr>
            <a:spLocks noGrp="1"/>
          </p:cNvSpPr>
          <p:nvPr>
            <p:ph type="body" sz="quarter" idx="11"/>
          </p:nvPr>
        </p:nvSpPr>
        <p:spPr>
          <a:xfrm>
            <a:off x="4078288" y="1058315"/>
            <a:ext cx="7695070" cy="741783"/>
          </a:xfrm>
        </p:spPr>
        <p:txBody>
          <a:bodyPr/>
          <a:lstStyle/>
          <a:p>
            <a:pPr lvl="1"/>
            <a:r>
              <a:rPr lang="en-US" dirty="0"/>
              <a:t>Application Gateway features</a:t>
            </a:r>
          </a:p>
        </p:txBody>
      </p:sp>
      <p:sp>
        <p:nvSpPr>
          <p:cNvPr id="2" name="Text Placeholder 1"/>
          <p:cNvSpPr>
            <a:spLocks noGrp="1"/>
          </p:cNvSpPr>
          <p:nvPr>
            <p:ph type="body" sz="quarter" idx="15"/>
          </p:nvPr>
        </p:nvSpPr>
        <p:spPr>
          <a:xfrm>
            <a:off x="4078288" y="1923374"/>
            <a:ext cx="7695070" cy="741783"/>
          </a:xfrm>
        </p:spPr>
        <p:txBody>
          <a:bodyPr/>
          <a:lstStyle/>
          <a:p>
            <a:pPr lvl="1"/>
            <a:r>
              <a:rPr lang="en-US" dirty="0"/>
              <a:t>Determine Application Gateway Routing</a:t>
            </a:r>
          </a:p>
        </p:txBody>
      </p:sp>
      <p:sp>
        <p:nvSpPr>
          <p:cNvPr id="3" name="Text Placeholder 2"/>
          <p:cNvSpPr>
            <a:spLocks noGrp="1"/>
          </p:cNvSpPr>
          <p:nvPr>
            <p:ph type="body" sz="quarter" idx="17"/>
          </p:nvPr>
        </p:nvSpPr>
        <p:spPr>
          <a:xfrm>
            <a:off x="4078288" y="2788433"/>
            <a:ext cx="7695070" cy="741783"/>
          </a:xfrm>
        </p:spPr>
        <p:txBody>
          <a:bodyPr/>
          <a:lstStyle/>
          <a:p>
            <a:pPr lvl="1"/>
            <a:r>
              <a:rPr lang="en-US" dirty="0"/>
              <a:t>Choosing an Azure App Gateway SKU</a:t>
            </a:r>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19"/>
          </p:nvPr>
        </p:nvSpPr>
        <p:spPr>
          <a:xfrm>
            <a:off x="4078288" y="3653492"/>
            <a:ext cx="7695070" cy="741783"/>
          </a:xfrm>
        </p:spPr>
        <p:txBody>
          <a:bodyPr/>
          <a:lstStyle/>
          <a:p>
            <a:pPr lvl="1"/>
            <a:r>
              <a:rPr lang="en-US" dirty="0"/>
              <a:t>Application Gateway configuration planning</a:t>
            </a:r>
          </a:p>
        </p:txBody>
      </p:sp>
      <p:sp>
        <p:nvSpPr>
          <p:cNvPr id="5" name="Text Placeholder 4">
            <a:extLst>
              <a:ext uri="{FF2B5EF4-FFF2-40B4-BE49-F238E27FC236}">
                <a16:creationId xmlns:a16="http://schemas.microsoft.com/office/drawing/2014/main" id="{857B8CDE-A7E2-4EAD-9A8D-54940A9C743F}"/>
              </a:ext>
            </a:extLst>
          </p:cNvPr>
          <p:cNvSpPr>
            <a:spLocks noGrp="1"/>
          </p:cNvSpPr>
          <p:nvPr>
            <p:ph type="body" sz="quarter" idx="21"/>
          </p:nvPr>
        </p:nvSpPr>
        <p:spPr>
          <a:xfrm>
            <a:off x="4078288" y="4518551"/>
            <a:ext cx="7695070" cy="741783"/>
          </a:xfrm>
        </p:spPr>
        <p:txBody>
          <a:bodyPr/>
          <a:lstStyle/>
          <a:p>
            <a:pPr lvl="1"/>
            <a:r>
              <a:rPr lang="en-US" dirty="0"/>
              <a:t>Review </a:t>
            </a:r>
          </a:p>
        </p:txBody>
      </p:sp>
      <p:grpSp>
        <p:nvGrpSpPr>
          <p:cNvPr id="7" name="Group 6">
            <a:extLst>
              <a:ext uri="{FF2B5EF4-FFF2-40B4-BE49-F238E27FC236}">
                <a16:creationId xmlns:a16="http://schemas.microsoft.com/office/drawing/2014/main" id="{5FC5FA99-7676-4D4C-B4A5-1C3ECB039806}"/>
              </a:ext>
              <a:ext uri="{C183D7F6-B498-43B3-948B-1728B52AA6E4}">
                <adec:decorative xmlns:adec="http://schemas.microsoft.com/office/drawing/2017/decorative" val="1"/>
              </a:ext>
            </a:extLst>
          </p:cNvPr>
          <p:cNvGrpSpPr/>
          <p:nvPr/>
        </p:nvGrpSpPr>
        <p:grpSpPr>
          <a:xfrm>
            <a:off x="3031668" y="1063887"/>
            <a:ext cx="702132" cy="4174487"/>
            <a:chOff x="3031668" y="1063887"/>
            <a:chExt cx="702132" cy="4174487"/>
          </a:xfrm>
        </p:grpSpPr>
        <p:grpSp>
          <p:nvGrpSpPr>
            <p:cNvPr id="22" name="Group 21">
              <a:extLst>
                <a:ext uri="{FF2B5EF4-FFF2-40B4-BE49-F238E27FC236}">
                  <a16:creationId xmlns:a16="http://schemas.microsoft.com/office/drawing/2014/main" id="{956A674C-9210-4DA3-8A39-EFF8D9FBC50A}"/>
                </a:ext>
              </a:extLst>
            </p:cNvPr>
            <p:cNvGrpSpPr/>
            <p:nvPr/>
          </p:nvGrpSpPr>
          <p:grpSpPr>
            <a:xfrm>
              <a:off x="3031668" y="1063887"/>
              <a:ext cx="702132" cy="702232"/>
              <a:chOff x="3031668" y="462996"/>
              <a:chExt cx="702132" cy="702232"/>
            </a:xfrm>
          </p:grpSpPr>
          <p:grpSp>
            <p:nvGrpSpPr>
              <p:cNvPr id="15" name="Group 14">
                <a:extLst>
                  <a:ext uri="{FF2B5EF4-FFF2-40B4-BE49-F238E27FC236}">
                    <a16:creationId xmlns:a16="http://schemas.microsoft.com/office/drawing/2014/main" id="{CE1DF5A4-7E58-4418-9BF8-71C7E9AAB953}"/>
                  </a:ext>
                </a:extLst>
              </p:cNvPr>
              <p:cNvGrpSpPr/>
              <p:nvPr/>
            </p:nvGrpSpPr>
            <p:grpSpPr>
              <a:xfrm>
                <a:off x="3031668" y="462996"/>
                <a:ext cx="702132" cy="702232"/>
                <a:chOff x="3031668" y="462996"/>
                <a:chExt cx="702132" cy="702232"/>
              </a:xfrm>
            </p:grpSpPr>
            <p:sp>
              <p:nvSpPr>
                <p:cNvPr id="101" name="Freeform 5">
                  <a:extLst>
                    <a:ext uri="{FF2B5EF4-FFF2-40B4-BE49-F238E27FC236}">
                      <a16:creationId xmlns:a16="http://schemas.microsoft.com/office/drawing/2014/main" id="{06FDFE74-2BC5-48A3-8F67-15571A6CF9A6}"/>
                    </a:ext>
                  </a:extLst>
                </p:cNvPr>
                <p:cNvSpPr>
                  <a:spLocks/>
                </p:cNvSpPr>
                <p:nvPr/>
              </p:nvSpPr>
              <p:spPr bwMode="auto">
                <a:xfrm>
                  <a:off x="3031668" y="462996"/>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2" name="Freeform 6">
                  <a:extLst>
                    <a:ext uri="{FF2B5EF4-FFF2-40B4-BE49-F238E27FC236}">
                      <a16:creationId xmlns:a16="http://schemas.microsoft.com/office/drawing/2014/main" id="{76CDA170-DF50-4E3E-9369-327E91DFDBA8}"/>
                    </a:ext>
                  </a:extLst>
                </p:cNvPr>
                <p:cNvSpPr>
                  <a:spLocks noEditPoints="1"/>
                </p:cNvSpPr>
                <p:nvPr/>
              </p:nvSpPr>
              <p:spPr bwMode="auto">
                <a:xfrm>
                  <a:off x="3079954" y="511857"/>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520AC09-56A6-4EC9-B6DE-ED9987913F21}"/>
                  </a:ext>
                </a:extLst>
              </p:cNvPr>
              <p:cNvPicPr>
                <a:picLocks noChangeAspect="1"/>
              </p:cNvPicPr>
              <p:nvPr/>
            </p:nvPicPr>
            <p:blipFill>
              <a:blip r:embed="rId3"/>
              <a:stretch>
                <a:fillRect/>
              </a:stretch>
            </p:blipFill>
            <p:spPr>
              <a:xfrm>
                <a:off x="3196572" y="627950"/>
                <a:ext cx="372325" cy="372325"/>
              </a:xfrm>
              <a:prstGeom prst="rect">
                <a:avLst/>
              </a:prstGeom>
            </p:spPr>
          </p:pic>
        </p:grpSp>
        <p:grpSp>
          <p:nvGrpSpPr>
            <p:cNvPr id="23" name="Group 22">
              <a:extLst>
                <a:ext uri="{FF2B5EF4-FFF2-40B4-BE49-F238E27FC236}">
                  <a16:creationId xmlns:a16="http://schemas.microsoft.com/office/drawing/2014/main" id="{648877B8-D39E-42AD-B87B-601AA955576B}"/>
                </a:ext>
              </a:extLst>
            </p:cNvPr>
            <p:cNvGrpSpPr/>
            <p:nvPr/>
          </p:nvGrpSpPr>
          <p:grpSpPr>
            <a:xfrm>
              <a:off x="3031668" y="1942603"/>
              <a:ext cx="702132" cy="702232"/>
              <a:chOff x="3031668" y="1341712"/>
              <a:chExt cx="702132" cy="702232"/>
            </a:xfrm>
          </p:grpSpPr>
          <p:grpSp>
            <p:nvGrpSpPr>
              <p:cNvPr id="16" name="Group 15">
                <a:extLst>
                  <a:ext uri="{FF2B5EF4-FFF2-40B4-BE49-F238E27FC236}">
                    <a16:creationId xmlns:a16="http://schemas.microsoft.com/office/drawing/2014/main" id="{24114A2C-FC7C-4685-B23C-E1013B901D5C}"/>
                  </a:ext>
                </a:extLst>
              </p:cNvPr>
              <p:cNvGrpSpPr/>
              <p:nvPr/>
            </p:nvGrpSpPr>
            <p:grpSpPr>
              <a:xfrm>
                <a:off x="3031668" y="1341712"/>
                <a:ext cx="702132" cy="702232"/>
                <a:chOff x="3031668" y="1341712"/>
                <a:chExt cx="702132" cy="702232"/>
              </a:xfrm>
            </p:grpSpPr>
            <p:sp>
              <p:nvSpPr>
                <p:cNvPr id="114" name="Freeform 5">
                  <a:extLst>
                    <a:ext uri="{FF2B5EF4-FFF2-40B4-BE49-F238E27FC236}">
                      <a16:creationId xmlns:a16="http://schemas.microsoft.com/office/drawing/2014/main" id="{62A4A211-3A26-4D10-B33F-CFA649B09C3F}"/>
                    </a:ext>
                  </a:extLst>
                </p:cNvPr>
                <p:cNvSpPr>
                  <a:spLocks/>
                </p:cNvSpPr>
                <p:nvPr/>
              </p:nvSpPr>
              <p:spPr bwMode="auto">
                <a:xfrm>
                  <a:off x="3031668" y="134171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15" name="Freeform 6">
                  <a:extLst>
                    <a:ext uri="{FF2B5EF4-FFF2-40B4-BE49-F238E27FC236}">
                      <a16:creationId xmlns:a16="http://schemas.microsoft.com/office/drawing/2014/main" id="{DB2F8CE3-ED8B-4DA6-A158-A74F1078EA9B}"/>
                    </a:ext>
                  </a:extLst>
                </p:cNvPr>
                <p:cNvSpPr>
                  <a:spLocks noEditPoints="1"/>
                </p:cNvSpPr>
                <p:nvPr/>
              </p:nvSpPr>
              <p:spPr bwMode="auto">
                <a:xfrm>
                  <a:off x="3079954" y="139057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F5ACFE55-B12A-4E2F-A0DC-423DA2F6C903}"/>
                  </a:ext>
                </a:extLst>
              </p:cNvPr>
              <p:cNvPicPr>
                <a:picLocks noChangeAspect="1"/>
              </p:cNvPicPr>
              <p:nvPr/>
            </p:nvPicPr>
            <p:blipFill>
              <a:blip r:embed="rId4"/>
              <a:stretch>
                <a:fillRect/>
              </a:stretch>
            </p:blipFill>
            <p:spPr>
              <a:xfrm>
                <a:off x="3196572" y="1506666"/>
                <a:ext cx="372325" cy="372325"/>
              </a:xfrm>
              <a:prstGeom prst="rect">
                <a:avLst/>
              </a:prstGeom>
            </p:spPr>
          </p:pic>
        </p:grpSp>
        <p:grpSp>
          <p:nvGrpSpPr>
            <p:cNvPr id="24" name="Group 23">
              <a:extLst>
                <a:ext uri="{FF2B5EF4-FFF2-40B4-BE49-F238E27FC236}">
                  <a16:creationId xmlns:a16="http://schemas.microsoft.com/office/drawing/2014/main" id="{F7601FDC-2237-4951-8F45-E44C1AEE81A9}"/>
                </a:ext>
              </a:extLst>
            </p:cNvPr>
            <p:cNvGrpSpPr/>
            <p:nvPr/>
          </p:nvGrpSpPr>
          <p:grpSpPr>
            <a:xfrm>
              <a:off x="3031668" y="2807116"/>
              <a:ext cx="702132" cy="702232"/>
              <a:chOff x="3031668" y="2206225"/>
              <a:chExt cx="702132" cy="702232"/>
            </a:xfrm>
          </p:grpSpPr>
          <p:grpSp>
            <p:nvGrpSpPr>
              <p:cNvPr id="18" name="Group 17">
                <a:extLst>
                  <a:ext uri="{FF2B5EF4-FFF2-40B4-BE49-F238E27FC236}">
                    <a16:creationId xmlns:a16="http://schemas.microsoft.com/office/drawing/2014/main" id="{8D62B2F1-487A-4E5F-BE3E-8D1494A5641A}"/>
                  </a:ext>
                </a:extLst>
              </p:cNvPr>
              <p:cNvGrpSpPr/>
              <p:nvPr/>
            </p:nvGrpSpPr>
            <p:grpSpPr>
              <a:xfrm>
                <a:off x="3031668" y="2206225"/>
                <a:ext cx="702132" cy="702232"/>
                <a:chOff x="3031668" y="2206225"/>
                <a:chExt cx="702132" cy="702232"/>
              </a:xfrm>
            </p:grpSpPr>
            <p:sp>
              <p:nvSpPr>
                <p:cNvPr id="121" name="Freeform 5">
                  <a:extLst>
                    <a:ext uri="{FF2B5EF4-FFF2-40B4-BE49-F238E27FC236}">
                      <a16:creationId xmlns:a16="http://schemas.microsoft.com/office/drawing/2014/main" id="{40066736-1B93-4A2D-8E19-ADFD32EB1617}"/>
                    </a:ext>
                  </a:extLst>
                </p:cNvPr>
                <p:cNvSpPr>
                  <a:spLocks/>
                </p:cNvSpPr>
                <p:nvPr/>
              </p:nvSpPr>
              <p:spPr bwMode="auto">
                <a:xfrm>
                  <a:off x="3031668" y="220622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22" name="Freeform 6">
                  <a:extLst>
                    <a:ext uri="{FF2B5EF4-FFF2-40B4-BE49-F238E27FC236}">
                      <a16:creationId xmlns:a16="http://schemas.microsoft.com/office/drawing/2014/main" id="{CF6B38F2-8CCD-4B13-9AA7-955B3DB62063}"/>
                    </a:ext>
                  </a:extLst>
                </p:cNvPr>
                <p:cNvSpPr>
                  <a:spLocks noEditPoints="1"/>
                </p:cNvSpPr>
                <p:nvPr/>
              </p:nvSpPr>
              <p:spPr bwMode="auto">
                <a:xfrm>
                  <a:off x="3079954" y="225508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1DB5D697-68A7-4299-8DFD-6A7A5EA46277}"/>
                  </a:ext>
                </a:extLst>
              </p:cNvPr>
              <p:cNvPicPr>
                <a:picLocks noChangeAspect="1"/>
              </p:cNvPicPr>
              <p:nvPr/>
            </p:nvPicPr>
            <p:blipFill>
              <a:blip r:embed="rId5"/>
              <a:stretch>
                <a:fillRect/>
              </a:stretch>
            </p:blipFill>
            <p:spPr>
              <a:xfrm>
                <a:off x="3196572" y="2371179"/>
                <a:ext cx="372325" cy="372325"/>
              </a:xfrm>
              <a:prstGeom prst="rect">
                <a:avLst/>
              </a:prstGeom>
            </p:spPr>
          </p:pic>
        </p:grpSp>
        <p:grpSp>
          <p:nvGrpSpPr>
            <p:cNvPr id="25" name="Group 24">
              <a:extLst>
                <a:ext uri="{FF2B5EF4-FFF2-40B4-BE49-F238E27FC236}">
                  <a16:creationId xmlns:a16="http://schemas.microsoft.com/office/drawing/2014/main" id="{EB40A5F8-8DD7-406C-AFF0-7F17C4A33269}"/>
                </a:ext>
              </a:extLst>
            </p:cNvPr>
            <p:cNvGrpSpPr/>
            <p:nvPr/>
          </p:nvGrpSpPr>
          <p:grpSpPr>
            <a:xfrm>
              <a:off x="3031668" y="3671629"/>
              <a:ext cx="702132" cy="702232"/>
              <a:chOff x="3031668" y="3070738"/>
              <a:chExt cx="702132" cy="702232"/>
            </a:xfrm>
          </p:grpSpPr>
          <p:grpSp>
            <p:nvGrpSpPr>
              <p:cNvPr id="19" name="Group 18">
                <a:extLst>
                  <a:ext uri="{FF2B5EF4-FFF2-40B4-BE49-F238E27FC236}">
                    <a16:creationId xmlns:a16="http://schemas.microsoft.com/office/drawing/2014/main" id="{C4305831-197B-4563-8B2C-ECB5BA655C82}"/>
                  </a:ext>
                </a:extLst>
              </p:cNvPr>
              <p:cNvGrpSpPr/>
              <p:nvPr/>
            </p:nvGrpSpPr>
            <p:grpSpPr>
              <a:xfrm>
                <a:off x="3031668" y="3070738"/>
                <a:ext cx="702132" cy="702232"/>
                <a:chOff x="3031668" y="3070738"/>
                <a:chExt cx="702132" cy="702232"/>
              </a:xfrm>
            </p:grpSpPr>
            <p:sp>
              <p:nvSpPr>
                <p:cNvPr id="134" name="Freeform 5">
                  <a:extLst>
                    <a:ext uri="{FF2B5EF4-FFF2-40B4-BE49-F238E27FC236}">
                      <a16:creationId xmlns:a16="http://schemas.microsoft.com/office/drawing/2014/main" id="{8946D860-27CC-4466-890E-4D424B7AED06}"/>
                    </a:ext>
                  </a:extLst>
                </p:cNvPr>
                <p:cNvSpPr>
                  <a:spLocks/>
                </p:cNvSpPr>
                <p:nvPr/>
              </p:nvSpPr>
              <p:spPr bwMode="auto">
                <a:xfrm>
                  <a:off x="3031668" y="307073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35" name="Freeform 6">
                  <a:extLst>
                    <a:ext uri="{FF2B5EF4-FFF2-40B4-BE49-F238E27FC236}">
                      <a16:creationId xmlns:a16="http://schemas.microsoft.com/office/drawing/2014/main" id="{B96DC5F3-8F0A-4C3F-B48B-56F9D769A227}"/>
                    </a:ext>
                  </a:extLst>
                </p:cNvPr>
                <p:cNvSpPr>
                  <a:spLocks noEditPoints="1"/>
                </p:cNvSpPr>
                <p:nvPr/>
              </p:nvSpPr>
              <p:spPr bwMode="auto">
                <a:xfrm>
                  <a:off x="3079954" y="3119599"/>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964106BE-6EFC-4E8D-9FDF-2F88ED86807B}"/>
                  </a:ext>
                </a:extLst>
              </p:cNvPr>
              <p:cNvPicPr>
                <a:picLocks noChangeAspect="1"/>
              </p:cNvPicPr>
              <p:nvPr/>
            </p:nvPicPr>
            <p:blipFill>
              <a:blip r:embed="rId6"/>
              <a:stretch>
                <a:fillRect/>
              </a:stretch>
            </p:blipFill>
            <p:spPr>
              <a:xfrm>
                <a:off x="3248882" y="3235692"/>
                <a:ext cx="267705" cy="372325"/>
              </a:xfrm>
              <a:prstGeom prst="rect">
                <a:avLst/>
              </a:prstGeom>
            </p:spPr>
          </p:pic>
        </p:grpSp>
        <p:grpSp>
          <p:nvGrpSpPr>
            <p:cNvPr id="26" name="Group 25">
              <a:extLst>
                <a:ext uri="{FF2B5EF4-FFF2-40B4-BE49-F238E27FC236}">
                  <a16:creationId xmlns:a16="http://schemas.microsoft.com/office/drawing/2014/main" id="{1658902A-7888-4D5A-BBDF-6314A9706F60}"/>
                </a:ext>
              </a:extLst>
            </p:cNvPr>
            <p:cNvGrpSpPr/>
            <p:nvPr/>
          </p:nvGrpSpPr>
          <p:grpSpPr>
            <a:xfrm>
              <a:off x="3031668" y="4536142"/>
              <a:ext cx="702132" cy="702232"/>
              <a:chOff x="3031668" y="3935251"/>
              <a:chExt cx="702132" cy="702232"/>
            </a:xfrm>
          </p:grpSpPr>
          <p:grpSp>
            <p:nvGrpSpPr>
              <p:cNvPr id="20" name="Group 19">
                <a:extLst>
                  <a:ext uri="{FF2B5EF4-FFF2-40B4-BE49-F238E27FC236}">
                    <a16:creationId xmlns:a16="http://schemas.microsoft.com/office/drawing/2014/main" id="{11F7575F-FFA8-4B8C-A359-DF2580906502}"/>
                  </a:ext>
                </a:extLst>
              </p:cNvPr>
              <p:cNvGrpSpPr/>
              <p:nvPr/>
            </p:nvGrpSpPr>
            <p:grpSpPr>
              <a:xfrm>
                <a:off x="3031668" y="3935251"/>
                <a:ext cx="702132" cy="702232"/>
                <a:chOff x="3031668" y="3935251"/>
                <a:chExt cx="702132" cy="702232"/>
              </a:xfrm>
            </p:grpSpPr>
            <p:sp>
              <p:nvSpPr>
                <p:cNvPr id="38" name="Freeform 5">
                  <a:extLst>
                    <a:ext uri="{FF2B5EF4-FFF2-40B4-BE49-F238E27FC236}">
                      <a16:creationId xmlns:a16="http://schemas.microsoft.com/office/drawing/2014/main" id="{56F065CE-177B-490A-A251-D0F4169A5766}"/>
                    </a:ext>
                  </a:extLst>
                </p:cNvPr>
                <p:cNvSpPr>
                  <a:spLocks/>
                </p:cNvSpPr>
                <p:nvPr/>
              </p:nvSpPr>
              <p:spPr bwMode="auto">
                <a:xfrm>
                  <a:off x="3031668" y="3935251"/>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9" name="Freeform 6">
                  <a:extLst>
                    <a:ext uri="{FF2B5EF4-FFF2-40B4-BE49-F238E27FC236}">
                      <a16:creationId xmlns:a16="http://schemas.microsoft.com/office/drawing/2014/main" id="{4A37F30B-0F4B-440C-B966-1CE9DD6EF9B7}"/>
                    </a:ext>
                  </a:extLst>
                </p:cNvPr>
                <p:cNvSpPr>
                  <a:spLocks noEditPoints="1"/>
                </p:cNvSpPr>
                <p:nvPr/>
              </p:nvSpPr>
              <p:spPr bwMode="auto">
                <a:xfrm>
                  <a:off x="3079954" y="3984112"/>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C05A14D-F3EA-4968-AB36-81AA9F213EF0}"/>
                  </a:ext>
                </a:extLst>
              </p:cNvPr>
              <p:cNvPicPr>
                <a:picLocks noChangeAspect="1"/>
              </p:cNvPicPr>
              <p:nvPr/>
            </p:nvPicPr>
            <p:blipFill>
              <a:blip r:embed="rId7"/>
              <a:stretch>
                <a:fillRect/>
              </a:stretch>
            </p:blipFill>
            <p:spPr>
              <a:xfrm>
                <a:off x="3199854" y="4149132"/>
                <a:ext cx="365760" cy="274470"/>
              </a:xfrm>
              <a:prstGeom prst="rect">
                <a:avLst/>
              </a:prstGeom>
            </p:spPr>
          </p:pic>
        </p:grpSp>
      </p:grpSp>
    </p:spTree>
    <p:extLst>
      <p:ext uri="{BB962C8B-B14F-4D97-AF65-F5344CB8AC3E}">
        <p14:creationId xmlns:p14="http://schemas.microsoft.com/office/powerpoint/2010/main" val="282977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8FD67-B9CE-464C-BEFD-D97DA798FC3B}"/>
              </a:ext>
            </a:extLst>
          </p:cNvPr>
          <p:cNvSpPr>
            <a:spLocks noGrp="1"/>
          </p:cNvSpPr>
          <p:nvPr>
            <p:ph type="title"/>
          </p:nvPr>
        </p:nvSpPr>
        <p:spPr>
          <a:xfrm>
            <a:off x="459301" y="620827"/>
            <a:ext cx="11306469" cy="403079"/>
          </a:xfrm>
        </p:spPr>
        <p:txBody>
          <a:bodyPr/>
          <a:lstStyle/>
          <a:p>
            <a:r>
              <a:rPr lang="en-US" dirty="0">
                <a:solidFill>
                  <a:schemeClr val="tx1"/>
                </a:solidFill>
              </a:rPr>
              <a:t>Application Gateway features</a:t>
            </a:r>
          </a:p>
        </p:txBody>
      </p:sp>
      <p:sp>
        <p:nvSpPr>
          <p:cNvPr id="3" name="Rectangle 2">
            <a:extLst>
              <a:ext uri="{FF2B5EF4-FFF2-40B4-BE49-F238E27FC236}">
                <a16:creationId xmlns:a16="http://schemas.microsoft.com/office/drawing/2014/main" id="{1BBABD2E-FE66-4476-B463-C7CEEDD08C1E}"/>
              </a:ext>
              <a:ext uri="{C183D7F6-B498-43B3-948B-1728B52AA6E4}">
                <adec:decorative xmlns:adec="http://schemas.microsoft.com/office/drawing/2017/decorative" val="1"/>
              </a:ext>
            </a:extLst>
          </p:cNvPr>
          <p:cNvSpPr/>
          <p:nvPr/>
        </p:nvSpPr>
        <p:spPr bwMode="auto">
          <a:xfrm>
            <a:off x="421950" y="1169263"/>
            <a:ext cx="11354714" cy="3657981"/>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pic>
        <p:nvPicPr>
          <p:cNvPr id="7" name="Picture 6" descr="A flowchart from left to right: browser, app gateway frontend IP, listener, Rule, and backed pool">
            <a:extLst>
              <a:ext uri="{FF2B5EF4-FFF2-40B4-BE49-F238E27FC236}">
                <a16:creationId xmlns:a16="http://schemas.microsoft.com/office/drawing/2014/main" id="{72978EE4-25B5-44AE-842F-14410ED87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726" y="1357977"/>
            <a:ext cx="9957162" cy="3280550"/>
          </a:xfrm>
          <a:prstGeom prst="rect">
            <a:avLst/>
          </a:prstGeom>
        </p:spPr>
      </p:pic>
      <p:sp>
        <p:nvSpPr>
          <p:cNvPr id="5" name="Freeform: Shape 4">
            <a:extLst>
              <a:ext uri="{FF2B5EF4-FFF2-40B4-BE49-F238E27FC236}">
                <a16:creationId xmlns:a16="http://schemas.microsoft.com/office/drawing/2014/main" id="{C6630F68-59D7-4F97-BA21-1C836BA45436}"/>
              </a:ext>
            </a:extLst>
          </p:cNvPr>
          <p:cNvSpPr/>
          <p:nvPr/>
        </p:nvSpPr>
        <p:spPr>
          <a:xfrm>
            <a:off x="421950" y="4952167"/>
            <a:ext cx="2532088"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765" dirty="0">
                <a:solidFill>
                  <a:schemeClr val="tx1"/>
                </a:solidFill>
              </a:rPr>
              <a:t>Manages web</a:t>
            </a:r>
            <a:br>
              <a:rPr lang="en-US" sz="1765" dirty="0">
                <a:solidFill>
                  <a:schemeClr val="tx1"/>
                </a:solidFill>
              </a:rPr>
            </a:br>
            <a:r>
              <a:rPr lang="en-US" sz="1765" dirty="0">
                <a:solidFill>
                  <a:schemeClr val="tx1"/>
                </a:solidFill>
              </a:rPr>
              <a:t>app requests</a:t>
            </a:r>
          </a:p>
        </p:txBody>
      </p:sp>
      <p:sp>
        <p:nvSpPr>
          <p:cNvPr id="4" name="Freeform: Shape 3">
            <a:extLst>
              <a:ext uri="{FF2B5EF4-FFF2-40B4-BE49-F238E27FC236}">
                <a16:creationId xmlns:a16="http://schemas.microsoft.com/office/drawing/2014/main" id="{65ADF4AF-65C7-46D7-8DF1-8FD564437114}"/>
              </a:ext>
            </a:extLst>
          </p:cNvPr>
          <p:cNvSpPr/>
          <p:nvPr/>
        </p:nvSpPr>
        <p:spPr>
          <a:xfrm>
            <a:off x="3105679" y="4952167"/>
            <a:ext cx="4258018"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765" dirty="0">
                <a:solidFill>
                  <a:schemeClr val="tx1"/>
                </a:solidFill>
              </a:rPr>
              <a:t>Routes traffic to a pool of web servers based on the URL of a request </a:t>
            </a:r>
          </a:p>
        </p:txBody>
      </p:sp>
      <p:sp>
        <p:nvSpPr>
          <p:cNvPr id="6" name="Freeform: Shape 5">
            <a:extLst>
              <a:ext uri="{FF2B5EF4-FFF2-40B4-BE49-F238E27FC236}">
                <a16:creationId xmlns:a16="http://schemas.microsoft.com/office/drawing/2014/main" id="{05AB522E-AE38-45DB-BAB9-CB2996C2DAB2}"/>
              </a:ext>
            </a:extLst>
          </p:cNvPr>
          <p:cNvSpPr/>
          <p:nvPr/>
        </p:nvSpPr>
        <p:spPr>
          <a:xfrm>
            <a:off x="7512034" y="4952167"/>
            <a:ext cx="4258018" cy="128500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765" dirty="0">
                <a:solidFill>
                  <a:schemeClr val="tx1"/>
                </a:solidFill>
              </a:rPr>
              <a:t>The web servers can be Azure virtual machines, Azure virtual machine scale sets, Azure App Service, and even</a:t>
            </a:r>
            <a:br>
              <a:rPr lang="en-US" sz="1765" dirty="0">
                <a:solidFill>
                  <a:schemeClr val="tx1"/>
                </a:solidFill>
              </a:rPr>
            </a:br>
            <a:r>
              <a:rPr lang="en-US" sz="1765" dirty="0">
                <a:solidFill>
                  <a:schemeClr val="tx1"/>
                </a:solidFill>
              </a:rPr>
              <a:t>on-premises servers</a:t>
            </a:r>
          </a:p>
        </p:txBody>
      </p:sp>
    </p:spTree>
    <p:extLst>
      <p:ext uri="{BB962C8B-B14F-4D97-AF65-F5344CB8AC3E}">
        <p14:creationId xmlns:p14="http://schemas.microsoft.com/office/powerpoint/2010/main" val="85114981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F9B50-5D67-4608-B464-AEAEA00296B7}"/>
              </a:ext>
            </a:extLst>
          </p:cNvPr>
          <p:cNvSpPr>
            <a:spLocks noGrp="1"/>
          </p:cNvSpPr>
          <p:nvPr>
            <p:ph type="title"/>
          </p:nvPr>
        </p:nvSpPr>
        <p:spPr/>
        <p:txBody>
          <a:bodyPr/>
          <a:lstStyle/>
          <a:p>
            <a:r>
              <a:rPr lang="en-US" dirty="0">
                <a:solidFill>
                  <a:schemeClr val="tx1"/>
                </a:solidFill>
              </a:rPr>
              <a:t>Determine Application Gateway Routing</a:t>
            </a:r>
          </a:p>
        </p:txBody>
      </p:sp>
      <p:sp>
        <p:nvSpPr>
          <p:cNvPr id="6" name="Rectangle 5">
            <a:extLst>
              <a:ext uri="{FF2B5EF4-FFF2-40B4-BE49-F238E27FC236}">
                <a16:creationId xmlns:a16="http://schemas.microsoft.com/office/drawing/2014/main" id="{7E7BF4B1-A6C4-49D0-B3A8-F59B0004C3AA}"/>
              </a:ext>
              <a:ext uri="{C183D7F6-B498-43B3-948B-1728B52AA6E4}">
                <adec:decorative xmlns:adec="http://schemas.microsoft.com/office/drawing/2017/decorative" val="1"/>
              </a:ext>
            </a:extLst>
          </p:cNvPr>
          <p:cNvSpPr/>
          <p:nvPr/>
        </p:nvSpPr>
        <p:spPr bwMode="auto">
          <a:xfrm>
            <a:off x="418643" y="1169263"/>
            <a:ext cx="5602655" cy="513186"/>
          </a:xfrm>
          <a:prstGeom prst="rect">
            <a:avLst/>
          </a:prstGeom>
          <a:solidFill>
            <a:srgbClr val="243A5E"/>
          </a:solidFill>
          <a:ln w="19050">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a:r>
              <a:rPr lang="en-US" sz="1961" dirty="0">
                <a:solidFill>
                  <a:schemeClr val="bg1"/>
                </a:solidFill>
                <a:latin typeface="+mj-lt"/>
              </a:rPr>
              <a:t>Path-based routing</a:t>
            </a:r>
          </a:p>
        </p:txBody>
      </p:sp>
      <p:sp>
        <p:nvSpPr>
          <p:cNvPr id="3" name="Rectangle 2">
            <a:extLst>
              <a:ext uri="{FF2B5EF4-FFF2-40B4-BE49-F238E27FC236}">
                <a16:creationId xmlns:a16="http://schemas.microsoft.com/office/drawing/2014/main" id="{8D782C67-6854-400F-8BB0-657886095782}"/>
              </a:ext>
              <a:ext uri="{C183D7F6-B498-43B3-948B-1728B52AA6E4}">
                <adec:decorative xmlns:adec="http://schemas.microsoft.com/office/drawing/2017/decorative" val="1"/>
              </a:ext>
            </a:extLst>
          </p:cNvPr>
          <p:cNvSpPr/>
          <p:nvPr/>
        </p:nvSpPr>
        <p:spPr bwMode="auto">
          <a:xfrm>
            <a:off x="418643" y="1820501"/>
            <a:ext cx="5602655" cy="441667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cs typeface="Segoe UI" pitchFamily="34" charset="0"/>
            </a:endParaRPr>
          </a:p>
        </p:txBody>
      </p:sp>
      <p:pic>
        <p:nvPicPr>
          <p:cNvPr id="8" name="Picture 7" descr="Flowchart from left to right: user, application gateway, image server pool. Traffic is directed to the image server pool based on *images or *video">
            <a:extLst>
              <a:ext uri="{FF2B5EF4-FFF2-40B4-BE49-F238E27FC236}">
                <a16:creationId xmlns:a16="http://schemas.microsoft.com/office/drawing/2014/main" id="{D4F8C063-2E0F-4ABB-A462-3F8CDD4181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470" y="2425384"/>
            <a:ext cx="5095001" cy="3386815"/>
          </a:xfrm>
          <a:prstGeom prst="rect">
            <a:avLst/>
          </a:prstGeom>
          <a:ln>
            <a:noFill/>
          </a:ln>
        </p:spPr>
      </p:pic>
      <p:sp>
        <p:nvSpPr>
          <p:cNvPr id="4" name="Rectangle 3">
            <a:extLst>
              <a:ext uri="{FF2B5EF4-FFF2-40B4-BE49-F238E27FC236}">
                <a16:creationId xmlns:a16="http://schemas.microsoft.com/office/drawing/2014/main" id="{3D2358C1-961D-4EA6-933F-C17A97B8D3F9}"/>
              </a:ext>
              <a:ext uri="{C183D7F6-B498-43B3-948B-1728B52AA6E4}">
                <adec:decorative xmlns:adec="http://schemas.microsoft.com/office/drawing/2017/decorative" val="1"/>
              </a:ext>
            </a:extLst>
          </p:cNvPr>
          <p:cNvSpPr/>
          <p:nvPr/>
        </p:nvSpPr>
        <p:spPr bwMode="auto">
          <a:xfrm>
            <a:off x="6170740" y="1169263"/>
            <a:ext cx="5602618" cy="513186"/>
          </a:xfrm>
          <a:prstGeom prst="rect">
            <a:avLst/>
          </a:prstGeom>
          <a:solidFill>
            <a:srgbClr val="243A5E"/>
          </a:solidFill>
          <a:ln w="19050">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a:r>
              <a:rPr lang="en-US" sz="1961" dirty="0">
                <a:solidFill>
                  <a:schemeClr val="bg1"/>
                </a:solidFill>
                <a:latin typeface="+mj-lt"/>
              </a:rPr>
              <a:t>Multiple-site routing</a:t>
            </a:r>
          </a:p>
        </p:txBody>
      </p:sp>
      <p:sp>
        <p:nvSpPr>
          <p:cNvPr id="13" name="Rectangle 12">
            <a:extLst>
              <a:ext uri="{FF2B5EF4-FFF2-40B4-BE49-F238E27FC236}">
                <a16:creationId xmlns:a16="http://schemas.microsoft.com/office/drawing/2014/main" id="{EC4D4EAC-54DC-4990-8749-2009AAF869FC}"/>
              </a:ext>
              <a:ext uri="{C183D7F6-B498-43B3-948B-1728B52AA6E4}">
                <adec:decorative xmlns:adec="http://schemas.microsoft.com/office/drawing/2017/decorative" val="1"/>
              </a:ext>
            </a:extLst>
          </p:cNvPr>
          <p:cNvSpPr/>
          <p:nvPr/>
        </p:nvSpPr>
        <p:spPr bwMode="auto">
          <a:xfrm>
            <a:off x="6170740" y="1820501"/>
            <a:ext cx="5602655" cy="441667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cs typeface="Segoe UI" pitchFamily="34" charset="0"/>
            </a:endParaRPr>
          </a:p>
        </p:txBody>
      </p:sp>
      <p:pic>
        <p:nvPicPr>
          <p:cNvPr id="10" name="Picture 9" descr="Flowchart left to right: user, application gateway, backend pool. Traffic is directed to the backend pool based on company, contoso or fabrikam">
            <a:extLst>
              <a:ext uri="{FF2B5EF4-FFF2-40B4-BE49-F238E27FC236}">
                <a16:creationId xmlns:a16="http://schemas.microsoft.com/office/drawing/2014/main" id="{333D858D-D912-4BF2-A540-C1FC14DAE4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0544" y="2409414"/>
            <a:ext cx="5143047" cy="3418755"/>
          </a:xfrm>
          <a:prstGeom prst="rect">
            <a:avLst/>
          </a:prstGeom>
        </p:spPr>
      </p:pic>
    </p:spTree>
    <p:extLst>
      <p:ext uri="{BB962C8B-B14F-4D97-AF65-F5344CB8AC3E}">
        <p14:creationId xmlns:p14="http://schemas.microsoft.com/office/powerpoint/2010/main" val="371678327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7BB98-6444-4C1F-A9F4-93FDC95CC6BC}"/>
              </a:ext>
            </a:extLst>
          </p:cNvPr>
          <p:cNvSpPr>
            <a:spLocks noGrp="1"/>
          </p:cNvSpPr>
          <p:nvPr>
            <p:ph type="title"/>
          </p:nvPr>
        </p:nvSpPr>
        <p:spPr>
          <a:xfrm>
            <a:off x="455995" y="623224"/>
            <a:ext cx="11306469" cy="397545"/>
          </a:xfrm>
        </p:spPr>
        <p:txBody>
          <a:bodyPr/>
          <a:lstStyle/>
          <a:p>
            <a:r>
              <a:rPr lang="en-US" sz="2800" dirty="0"/>
              <a:t>Choosing an Azure App Gateway SKU</a:t>
            </a:r>
            <a:endParaRPr lang="en-US" dirty="0"/>
          </a:p>
        </p:txBody>
      </p:sp>
      <p:sp>
        <p:nvSpPr>
          <p:cNvPr id="4" name="Freeform: Shape 3">
            <a:extLst>
              <a:ext uri="{FF2B5EF4-FFF2-40B4-BE49-F238E27FC236}">
                <a16:creationId xmlns:a16="http://schemas.microsoft.com/office/drawing/2014/main" id="{BDCC5533-97D4-492F-A516-D768098E1FA1}"/>
              </a:ext>
            </a:extLst>
          </p:cNvPr>
          <p:cNvSpPr/>
          <p:nvPr/>
        </p:nvSpPr>
        <p:spPr>
          <a:xfrm>
            <a:off x="455995" y="1428753"/>
            <a:ext cx="3273228" cy="2404211"/>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600" b="1" i="0" dirty="0">
                <a:solidFill>
                  <a:srgbClr val="171717"/>
                </a:solidFill>
                <a:effectLst/>
                <a:latin typeface="Segoe UI" panose="020B0502040204020203" pitchFamily="34" charset="0"/>
              </a:rPr>
              <a:t>Application Gateway Standard (V2) </a:t>
            </a:r>
            <a:r>
              <a:rPr lang="en-US" sz="1600" b="0" i="0" dirty="0">
                <a:solidFill>
                  <a:srgbClr val="171717"/>
                </a:solidFill>
                <a:effectLst/>
                <a:latin typeface="Segoe UI" panose="020B0502040204020203" pitchFamily="34" charset="0"/>
              </a:rPr>
              <a:t>can be configured for </a:t>
            </a:r>
            <a:r>
              <a:rPr lang="en-US" sz="1600" b="1" i="0" dirty="0">
                <a:solidFill>
                  <a:srgbClr val="171717"/>
                </a:solidFill>
                <a:effectLst/>
                <a:latin typeface="Segoe UI" panose="020B0502040204020203" pitchFamily="34" charset="0"/>
              </a:rPr>
              <a:t>autoscaling </a:t>
            </a:r>
            <a:r>
              <a:rPr lang="en-US" sz="1600" b="0" i="0" dirty="0">
                <a:solidFill>
                  <a:srgbClr val="171717"/>
                </a:solidFill>
                <a:effectLst/>
                <a:latin typeface="Segoe UI" panose="020B0502040204020203" pitchFamily="34" charset="0"/>
              </a:rPr>
              <a:t>or </a:t>
            </a:r>
            <a:r>
              <a:rPr lang="en-US" sz="1600" b="1" i="0" dirty="0">
                <a:solidFill>
                  <a:srgbClr val="171717"/>
                </a:solidFill>
                <a:effectLst/>
                <a:latin typeface="Segoe UI" panose="020B0502040204020203" pitchFamily="34" charset="0"/>
              </a:rPr>
              <a:t>fixed size </a:t>
            </a:r>
            <a:r>
              <a:rPr lang="en-US" sz="1600" b="0" i="0" dirty="0">
                <a:solidFill>
                  <a:srgbClr val="171717"/>
                </a:solidFill>
                <a:effectLst/>
                <a:latin typeface="Segoe UI" panose="020B0502040204020203" pitchFamily="34" charset="0"/>
              </a:rPr>
              <a:t>deployments. The v2 SKU doesn't offer different instance sizes</a:t>
            </a:r>
            <a:endParaRPr lang="en-US" sz="1765" dirty="0">
              <a:solidFill>
                <a:schemeClr val="tx1"/>
              </a:solidFill>
            </a:endParaRPr>
          </a:p>
        </p:txBody>
      </p:sp>
      <p:sp>
        <p:nvSpPr>
          <p:cNvPr id="6" name="Freeform: Shape 5">
            <a:extLst>
              <a:ext uri="{FF2B5EF4-FFF2-40B4-BE49-F238E27FC236}">
                <a16:creationId xmlns:a16="http://schemas.microsoft.com/office/drawing/2014/main" id="{538ABAE0-DF1F-4BBD-B3A6-CB46B4307C0D}"/>
              </a:ext>
            </a:extLst>
          </p:cNvPr>
          <p:cNvSpPr/>
          <p:nvPr/>
        </p:nvSpPr>
        <p:spPr>
          <a:xfrm>
            <a:off x="455995" y="4167158"/>
            <a:ext cx="3273228" cy="2404211"/>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600" b="1" i="0" dirty="0">
                <a:solidFill>
                  <a:srgbClr val="171717"/>
                </a:solidFill>
                <a:effectLst/>
                <a:latin typeface="Segoe UI" panose="020B0502040204020203" pitchFamily="34" charset="0"/>
              </a:rPr>
              <a:t>The Application Gateway Standard (V1) </a:t>
            </a:r>
            <a:r>
              <a:rPr lang="en-US" sz="1600" b="0" i="0" dirty="0">
                <a:solidFill>
                  <a:srgbClr val="171717"/>
                </a:solidFill>
                <a:effectLst/>
                <a:latin typeface="Segoe UI" panose="020B0502040204020203" pitchFamily="34" charset="0"/>
              </a:rPr>
              <a:t>is offered in three sizes: </a:t>
            </a:r>
            <a:r>
              <a:rPr lang="en-US" sz="1600" b="1" i="0" dirty="0">
                <a:solidFill>
                  <a:srgbClr val="171717"/>
                </a:solidFill>
                <a:effectLst/>
                <a:latin typeface="Segoe UI" panose="020B0502040204020203" pitchFamily="34" charset="0"/>
              </a:rPr>
              <a:t>Small</a:t>
            </a:r>
            <a:r>
              <a:rPr lang="en-US" sz="1600" b="0" i="0" dirty="0">
                <a:solidFill>
                  <a:srgbClr val="171717"/>
                </a:solidFill>
                <a:effectLst/>
                <a:latin typeface="Segoe UI" panose="020B0502040204020203" pitchFamily="34" charset="0"/>
              </a:rPr>
              <a:t>, </a:t>
            </a:r>
            <a:r>
              <a:rPr lang="en-US" sz="1600" b="1" i="0" dirty="0">
                <a:solidFill>
                  <a:srgbClr val="171717"/>
                </a:solidFill>
                <a:effectLst/>
                <a:latin typeface="Segoe UI" panose="020B0502040204020203" pitchFamily="34" charset="0"/>
              </a:rPr>
              <a:t>Medium</a:t>
            </a:r>
            <a:r>
              <a:rPr lang="en-US" sz="1600" b="0" i="0" dirty="0">
                <a:solidFill>
                  <a:srgbClr val="171717"/>
                </a:solidFill>
                <a:effectLst/>
                <a:latin typeface="Segoe UI" panose="020B0502040204020203" pitchFamily="34" charset="0"/>
              </a:rPr>
              <a:t>, and </a:t>
            </a:r>
            <a:r>
              <a:rPr lang="en-US" sz="1600" b="1" i="0" dirty="0">
                <a:solidFill>
                  <a:srgbClr val="171717"/>
                </a:solidFill>
                <a:effectLst/>
                <a:latin typeface="Segoe UI" panose="020B0502040204020203" pitchFamily="34" charset="0"/>
              </a:rPr>
              <a:t>Large</a:t>
            </a:r>
            <a:r>
              <a:rPr lang="en-US" sz="1600" b="0" i="0" dirty="0">
                <a:solidFill>
                  <a:srgbClr val="171717"/>
                </a:solidFill>
                <a:effectLst/>
                <a:latin typeface="Segoe UI" panose="020B0502040204020203" pitchFamily="34" charset="0"/>
              </a:rPr>
              <a:t>. Small instance sizes are intended for development and testing scenarios.</a:t>
            </a:r>
            <a:endParaRPr lang="en-US" sz="1765" dirty="0">
              <a:solidFill>
                <a:schemeClr val="tx1"/>
              </a:solidFill>
            </a:endParaRPr>
          </a:p>
        </p:txBody>
      </p:sp>
      <p:sp>
        <p:nvSpPr>
          <p:cNvPr id="8" name="Freeform: Shape 7">
            <a:extLst>
              <a:ext uri="{FF2B5EF4-FFF2-40B4-BE49-F238E27FC236}">
                <a16:creationId xmlns:a16="http://schemas.microsoft.com/office/drawing/2014/main" id="{578245D1-A2AE-45F2-A31C-79A2CFF255BB}"/>
              </a:ext>
            </a:extLst>
          </p:cNvPr>
          <p:cNvSpPr/>
          <p:nvPr/>
        </p:nvSpPr>
        <p:spPr>
          <a:xfrm>
            <a:off x="4472615" y="1428753"/>
            <a:ext cx="3273228" cy="2404211"/>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600" dirty="0">
                <a:solidFill>
                  <a:srgbClr val="171717"/>
                </a:solidFill>
                <a:latin typeface="Segoe UI" panose="020B0502040204020203" pitchFamily="34" charset="0"/>
              </a:rPr>
              <a:t>For a complete list of application gateway limits, see Application Gateway service limits</a:t>
            </a:r>
          </a:p>
        </p:txBody>
      </p:sp>
      <p:graphicFrame>
        <p:nvGraphicFramePr>
          <p:cNvPr id="9" name="Table 9">
            <a:extLst>
              <a:ext uri="{FF2B5EF4-FFF2-40B4-BE49-F238E27FC236}">
                <a16:creationId xmlns:a16="http://schemas.microsoft.com/office/drawing/2014/main" id="{6FD12FD3-D906-4974-8570-6EB18B1F76A1}"/>
              </a:ext>
            </a:extLst>
          </p:cNvPr>
          <p:cNvGraphicFramePr>
            <a:graphicFrameLocks noGrp="1"/>
          </p:cNvGraphicFramePr>
          <p:nvPr>
            <p:extLst>
              <p:ext uri="{D42A27DB-BD31-4B8C-83A1-F6EECF244321}">
                <p14:modId xmlns:p14="http://schemas.microsoft.com/office/powerpoint/2010/main" val="2209382876"/>
              </p:ext>
            </p:extLst>
          </p:nvPr>
        </p:nvGraphicFramePr>
        <p:xfrm>
          <a:off x="3996555" y="4601113"/>
          <a:ext cx="7765908" cy="1536300"/>
        </p:xfrm>
        <a:graphic>
          <a:graphicData uri="http://schemas.openxmlformats.org/drawingml/2006/table">
            <a:tbl>
              <a:tblPr firstRow="1" bandRow="1">
                <a:tableStyleId>{6E25E649-3F16-4E02-A733-19D2CDBF48F0}</a:tableStyleId>
              </a:tblPr>
              <a:tblGrid>
                <a:gridCol w="2349654">
                  <a:extLst>
                    <a:ext uri="{9D8B030D-6E8A-4147-A177-3AD203B41FA5}">
                      <a16:colId xmlns:a16="http://schemas.microsoft.com/office/drawing/2014/main" val="1610149582"/>
                    </a:ext>
                  </a:extLst>
                </a:gridCol>
                <a:gridCol w="1746913">
                  <a:extLst>
                    <a:ext uri="{9D8B030D-6E8A-4147-A177-3AD203B41FA5}">
                      <a16:colId xmlns:a16="http://schemas.microsoft.com/office/drawing/2014/main" val="1380832126"/>
                    </a:ext>
                  </a:extLst>
                </a:gridCol>
                <a:gridCol w="1727864">
                  <a:extLst>
                    <a:ext uri="{9D8B030D-6E8A-4147-A177-3AD203B41FA5}">
                      <a16:colId xmlns:a16="http://schemas.microsoft.com/office/drawing/2014/main" val="1133620767"/>
                    </a:ext>
                  </a:extLst>
                </a:gridCol>
                <a:gridCol w="1941477">
                  <a:extLst>
                    <a:ext uri="{9D8B030D-6E8A-4147-A177-3AD203B41FA5}">
                      <a16:colId xmlns:a16="http://schemas.microsoft.com/office/drawing/2014/main" val="1229191522"/>
                    </a:ext>
                  </a:extLst>
                </a:gridCol>
              </a:tblGrid>
              <a:tr h="711668">
                <a:tc>
                  <a:txBody>
                    <a:bodyPr/>
                    <a:lstStyle/>
                    <a:p>
                      <a:pPr algn="l" fontAlgn="t"/>
                      <a:r>
                        <a:rPr lang="en-US" dirty="0">
                          <a:effectLst/>
                        </a:rPr>
                        <a:t>Average back-end page response size</a:t>
                      </a:r>
                    </a:p>
                  </a:txBody>
                  <a:tcPr/>
                </a:tc>
                <a:tc>
                  <a:txBody>
                    <a:bodyPr/>
                    <a:lstStyle/>
                    <a:p>
                      <a:pPr algn="l" fontAlgn="t"/>
                      <a:r>
                        <a:rPr lang="en-US" dirty="0">
                          <a:effectLst/>
                        </a:rPr>
                        <a:t>Small</a:t>
                      </a:r>
                    </a:p>
                  </a:txBody>
                  <a:tcPr/>
                </a:tc>
                <a:tc>
                  <a:txBody>
                    <a:bodyPr/>
                    <a:lstStyle/>
                    <a:p>
                      <a:pPr algn="l" fontAlgn="t"/>
                      <a:r>
                        <a:rPr lang="en-US" dirty="0">
                          <a:effectLst/>
                        </a:rPr>
                        <a:t>Medium</a:t>
                      </a:r>
                    </a:p>
                  </a:txBody>
                  <a:tcPr/>
                </a:tc>
                <a:tc>
                  <a:txBody>
                    <a:bodyPr/>
                    <a:lstStyle/>
                    <a:p>
                      <a:pPr algn="l" fontAlgn="t"/>
                      <a:r>
                        <a:rPr lang="en-US" dirty="0">
                          <a:effectLst/>
                        </a:rPr>
                        <a:t>Large</a:t>
                      </a:r>
                    </a:p>
                  </a:txBody>
                  <a:tcPr/>
                </a:tc>
                <a:extLst>
                  <a:ext uri="{0D108BD9-81ED-4DB2-BD59-A6C34878D82A}">
                    <a16:rowId xmlns:a16="http://schemas.microsoft.com/office/drawing/2014/main" val="2798769990"/>
                  </a:ext>
                </a:extLst>
              </a:tr>
              <a:tr h="412316">
                <a:tc>
                  <a:txBody>
                    <a:bodyPr/>
                    <a:lstStyle/>
                    <a:p>
                      <a:pPr algn="l" fontAlgn="t"/>
                      <a:r>
                        <a:rPr lang="en-US" dirty="0">
                          <a:effectLst/>
                        </a:rPr>
                        <a:t>6 KB</a:t>
                      </a:r>
                    </a:p>
                  </a:txBody>
                  <a:tcPr/>
                </a:tc>
                <a:tc>
                  <a:txBody>
                    <a:bodyPr/>
                    <a:lstStyle/>
                    <a:p>
                      <a:pPr algn="l" fontAlgn="t"/>
                      <a:r>
                        <a:rPr lang="en-US" dirty="0">
                          <a:effectLst/>
                        </a:rPr>
                        <a:t>7.5 Mbps</a:t>
                      </a:r>
                    </a:p>
                  </a:txBody>
                  <a:tcPr/>
                </a:tc>
                <a:tc>
                  <a:txBody>
                    <a:bodyPr/>
                    <a:lstStyle/>
                    <a:p>
                      <a:pPr algn="l" fontAlgn="t"/>
                      <a:r>
                        <a:rPr lang="en-US" dirty="0">
                          <a:effectLst/>
                        </a:rPr>
                        <a:t>13 Mbps</a:t>
                      </a:r>
                    </a:p>
                  </a:txBody>
                  <a:tcPr/>
                </a:tc>
                <a:tc>
                  <a:txBody>
                    <a:bodyPr/>
                    <a:lstStyle/>
                    <a:p>
                      <a:pPr algn="l" fontAlgn="t"/>
                      <a:r>
                        <a:rPr lang="en-US" dirty="0">
                          <a:effectLst/>
                        </a:rPr>
                        <a:t>50 Mbps</a:t>
                      </a:r>
                    </a:p>
                  </a:txBody>
                  <a:tcPr/>
                </a:tc>
                <a:extLst>
                  <a:ext uri="{0D108BD9-81ED-4DB2-BD59-A6C34878D82A}">
                    <a16:rowId xmlns:a16="http://schemas.microsoft.com/office/drawing/2014/main" val="3840370273"/>
                  </a:ext>
                </a:extLst>
              </a:tr>
              <a:tr h="412316">
                <a:tc>
                  <a:txBody>
                    <a:bodyPr/>
                    <a:lstStyle/>
                    <a:p>
                      <a:pPr algn="l" fontAlgn="t"/>
                      <a:r>
                        <a:rPr lang="en-US" dirty="0">
                          <a:effectLst/>
                        </a:rPr>
                        <a:t>100 KB</a:t>
                      </a:r>
                    </a:p>
                  </a:txBody>
                  <a:tcPr/>
                </a:tc>
                <a:tc>
                  <a:txBody>
                    <a:bodyPr/>
                    <a:lstStyle/>
                    <a:p>
                      <a:pPr algn="l" fontAlgn="t"/>
                      <a:r>
                        <a:rPr lang="en-US" dirty="0">
                          <a:effectLst/>
                        </a:rPr>
                        <a:t>35 Mbps</a:t>
                      </a:r>
                    </a:p>
                  </a:txBody>
                  <a:tcPr/>
                </a:tc>
                <a:tc>
                  <a:txBody>
                    <a:bodyPr/>
                    <a:lstStyle/>
                    <a:p>
                      <a:pPr algn="l" fontAlgn="t"/>
                      <a:r>
                        <a:rPr lang="en-US" dirty="0">
                          <a:effectLst/>
                        </a:rPr>
                        <a:t>100 Mbps</a:t>
                      </a:r>
                    </a:p>
                  </a:txBody>
                  <a:tcPr/>
                </a:tc>
                <a:tc>
                  <a:txBody>
                    <a:bodyPr/>
                    <a:lstStyle/>
                    <a:p>
                      <a:pPr algn="l" fontAlgn="t"/>
                      <a:r>
                        <a:rPr lang="en-US" dirty="0">
                          <a:effectLst/>
                        </a:rPr>
                        <a:t>200 Mbps</a:t>
                      </a:r>
                    </a:p>
                  </a:txBody>
                  <a:tcPr/>
                </a:tc>
                <a:extLst>
                  <a:ext uri="{0D108BD9-81ED-4DB2-BD59-A6C34878D82A}">
                    <a16:rowId xmlns:a16="http://schemas.microsoft.com/office/drawing/2014/main" val="3880606641"/>
                  </a:ext>
                </a:extLst>
              </a:tr>
            </a:tbl>
          </a:graphicData>
        </a:graphic>
      </p:graphicFrame>
    </p:spTree>
    <p:extLst>
      <p:ext uri="{BB962C8B-B14F-4D97-AF65-F5344CB8AC3E}">
        <p14:creationId xmlns:p14="http://schemas.microsoft.com/office/powerpoint/2010/main" val="80004354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316FD-C8B2-4289-81A0-436F33FD5344}"/>
              </a:ext>
            </a:extLst>
          </p:cNvPr>
          <p:cNvSpPr>
            <a:spLocks noGrp="1"/>
          </p:cNvSpPr>
          <p:nvPr>
            <p:ph type="title"/>
          </p:nvPr>
        </p:nvSpPr>
        <p:spPr>
          <a:xfrm>
            <a:off x="455995" y="623224"/>
            <a:ext cx="11306469" cy="397545"/>
          </a:xfrm>
        </p:spPr>
        <p:txBody>
          <a:bodyPr/>
          <a:lstStyle/>
          <a:p>
            <a:r>
              <a:rPr lang="en-US" sz="2800" dirty="0"/>
              <a:t>Application Gateway configuration planning</a:t>
            </a:r>
          </a:p>
        </p:txBody>
      </p:sp>
      <p:pic>
        <p:nvPicPr>
          <p:cNvPr id="9" name="Picture 8" descr="An Application Gateway uses a listener and rules to route requests to the back end. ">
            <a:extLst>
              <a:ext uri="{FF2B5EF4-FFF2-40B4-BE49-F238E27FC236}">
                <a16:creationId xmlns:a16="http://schemas.microsoft.com/office/drawing/2014/main" id="{4F62ACD8-A7B8-4240-9421-A608E09CC5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915" y="1701413"/>
            <a:ext cx="10171306" cy="4049204"/>
          </a:xfrm>
          <a:prstGeom prst="rect">
            <a:avLst/>
          </a:prstGeom>
        </p:spPr>
      </p:pic>
      <p:sp>
        <p:nvSpPr>
          <p:cNvPr id="3" name="Rectangle 2">
            <a:extLst>
              <a:ext uri="{FF2B5EF4-FFF2-40B4-BE49-F238E27FC236}">
                <a16:creationId xmlns:a16="http://schemas.microsoft.com/office/drawing/2014/main" id="{8FC07EC6-1779-4F9A-89DD-D526B3B5FC9D}"/>
              </a:ext>
              <a:ext uri="{C183D7F6-B498-43B3-948B-1728B52AA6E4}">
                <adec:decorative xmlns:adec="http://schemas.microsoft.com/office/drawing/2017/decorative" val="1"/>
              </a:ext>
            </a:extLst>
          </p:cNvPr>
          <p:cNvSpPr/>
          <p:nvPr/>
        </p:nvSpPr>
        <p:spPr bwMode="auto">
          <a:xfrm>
            <a:off x="455995" y="1526048"/>
            <a:ext cx="11167932" cy="4535761"/>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71840176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Summary – </a:t>
            </a:r>
            <a:r>
              <a:rPr lang="en-US" sz="2800" dirty="0"/>
              <a:t>Design Azure Application Gateway </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 uri="{C183D7F6-B498-43B3-948B-1728B52AA6E4}">
                <adec:decorative xmlns:adec="http://schemas.microsoft.com/office/drawing/2017/decorative" val="1"/>
              </a:ext>
            </a:extLst>
          </p:cNvPr>
          <p:cNvSpPr/>
          <p:nvPr/>
        </p:nvSpPr>
        <p:spPr>
          <a:xfrm>
            <a:off x="4172422" y="2828769"/>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72422" y="3717809"/>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369D46CC-30EE-4099-8DE7-D04C056BDD7F}"/>
              </a:ext>
            </a:extLst>
          </p:cNvPr>
          <p:cNvSpPr txBox="1"/>
          <p:nvPr/>
        </p:nvSpPr>
        <p:spPr>
          <a:xfrm>
            <a:off x="4314217" y="2263230"/>
            <a:ext cx="6099242" cy="369332"/>
          </a:xfrm>
          <a:prstGeom prst="rect">
            <a:avLst/>
          </a:prstGeom>
          <a:noFill/>
        </p:spPr>
        <p:txBody>
          <a:bodyPr wrap="square">
            <a:spAutoFit/>
          </a:bodyPr>
          <a:lstStyle/>
          <a:p>
            <a:r>
              <a:rPr lang="en-US" dirty="0">
                <a:hlinkClick r:id="rId4"/>
              </a:rPr>
              <a:t>What is Azure Application Gateway | Microsoft Docs</a:t>
            </a:r>
            <a:endParaRPr lang="en-US" dirty="0"/>
          </a:p>
        </p:txBody>
      </p:sp>
      <p:sp>
        <p:nvSpPr>
          <p:cNvPr id="13" name="TextBox 12">
            <a:extLst>
              <a:ext uri="{FF2B5EF4-FFF2-40B4-BE49-F238E27FC236}">
                <a16:creationId xmlns:a16="http://schemas.microsoft.com/office/drawing/2014/main" id="{CBD00575-4168-4523-A48A-3B180229EC9D}"/>
              </a:ext>
            </a:extLst>
          </p:cNvPr>
          <p:cNvSpPr txBox="1"/>
          <p:nvPr/>
        </p:nvSpPr>
        <p:spPr>
          <a:xfrm>
            <a:off x="4314217" y="2934256"/>
            <a:ext cx="6099242" cy="646331"/>
          </a:xfrm>
          <a:prstGeom prst="rect">
            <a:avLst/>
          </a:prstGeom>
          <a:noFill/>
        </p:spPr>
        <p:txBody>
          <a:bodyPr wrap="square">
            <a:spAutoFit/>
          </a:bodyPr>
          <a:lstStyle/>
          <a:p>
            <a:r>
              <a:rPr lang="en-US" dirty="0">
                <a:hlinkClick r:id="rId5"/>
              </a:rPr>
              <a:t>Load balance your web service traffic with Application Gateway - Learn | Microsoft Docs</a:t>
            </a:r>
            <a:endParaRPr lang="en-US" dirty="0"/>
          </a:p>
        </p:txBody>
      </p:sp>
    </p:spTree>
    <p:extLst>
      <p:ext uri="{BB962C8B-B14F-4D97-AF65-F5344CB8AC3E}">
        <p14:creationId xmlns:p14="http://schemas.microsoft.com/office/powerpoint/2010/main" val="244748756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5217" y="3179701"/>
            <a:ext cx="8892608" cy="498598"/>
          </a:xfrm>
        </p:spPr>
        <p:txBody>
          <a:bodyPr/>
          <a:lstStyle/>
          <a:p>
            <a:r>
              <a:rPr lang="en-US" dirty="0"/>
              <a:t>Lesson 02: C</a:t>
            </a:r>
            <a:r>
              <a:rPr lang="en-US" sz="3600" dirty="0"/>
              <a:t>onfigure Azure Application Gateway</a:t>
            </a:r>
            <a:endParaRPr lang="en-US" dirty="0"/>
          </a:p>
        </p:txBody>
      </p:sp>
      <p:grpSp>
        <p:nvGrpSpPr>
          <p:cNvPr id="7" name="Group 6">
            <a:extLst>
              <a:ext uri="{FF2B5EF4-FFF2-40B4-BE49-F238E27FC236}">
                <a16:creationId xmlns:a16="http://schemas.microsoft.com/office/drawing/2014/main" id="{6F57FDA0-B2DD-4FDD-B7E2-1B1A381F78EC}"/>
              </a:ext>
              <a:ext uri="{C183D7F6-B498-43B3-948B-1728B52AA6E4}">
                <adec:decorative xmlns:adec="http://schemas.microsoft.com/office/drawing/2017/decorative" val="1"/>
              </a:ext>
            </a:extLst>
          </p:cNvPr>
          <p:cNvGrpSpPr/>
          <p:nvPr/>
        </p:nvGrpSpPr>
        <p:grpSpPr>
          <a:xfrm>
            <a:off x="10320289" y="3070379"/>
            <a:ext cx="717140" cy="717242"/>
            <a:chOff x="418643" y="2533089"/>
            <a:chExt cx="717140" cy="717242"/>
          </a:xfrm>
        </p:grpSpPr>
        <p:grpSp>
          <p:nvGrpSpPr>
            <p:cNvPr id="9" name="Group 8">
              <a:extLst>
                <a:ext uri="{FF2B5EF4-FFF2-40B4-BE49-F238E27FC236}">
                  <a16:creationId xmlns:a16="http://schemas.microsoft.com/office/drawing/2014/main" id="{3E110CFC-C664-4884-A43F-00035CE71B3B}"/>
                </a:ext>
                <a:ext uri="{C183D7F6-B498-43B3-948B-1728B52AA6E4}">
                  <adec:decorative xmlns:adec="http://schemas.microsoft.com/office/drawing/2017/decorative" val="1"/>
                </a:ext>
              </a:extLst>
            </p:cNvPr>
            <p:cNvGrpSpPr/>
            <p:nvPr/>
          </p:nvGrpSpPr>
          <p:grpSpPr>
            <a:xfrm>
              <a:off x="418643" y="2533089"/>
              <a:ext cx="717140" cy="717242"/>
              <a:chOff x="7962901" y="3032919"/>
              <a:chExt cx="981074" cy="981076"/>
            </a:xfrm>
          </p:grpSpPr>
          <p:sp>
            <p:nvSpPr>
              <p:cNvPr id="11" name="Freeform 5">
                <a:extLst>
                  <a:ext uri="{FF2B5EF4-FFF2-40B4-BE49-F238E27FC236}">
                    <a16:creationId xmlns:a16="http://schemas.microsoft.com/office/drawing/2014/main" id="{E036940B-D1BC-4155-B075-833E9F826058}"/>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2" name="Freeform 6">
                <a:extLst>
                  <a:ext uri="{FF2B5EF4-FFF2-40B4-BE49-F238E27FC236}">
                    <a16:creationId xmlns:a16="http://schemas.microsoft.com/office/drawing/2014/main" id="{BD312F9A-2BFD-4263-A003-09FD603DCACB}"/>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0" name="Picture 9" descr="Icon of a arrow in a circular path with a timer inside the circle">
              <a:extLst>
                <a:ext uri="{FF2B5EF4-FFF2-40B4-BE49-F238E27FC236}">
                  <a16:creationId xmlns:a16="http://schemas.microsoft.com/office/drawing/2014/main" id="{85F8A81E-E634-4FB4-AC4C-2F4ACC1E9178}"/>
                </a:ext>
              </a:extLst>
            </p:cNvPr>
            <p:cNvPicPr>
              <a:picLocks noChangeAspect="1"/>
            </p:cNvPicPr>
            <p:nvPr/>
          </p:nvPicPr>
          <p:blipFill>
            <a:blip r:embed="rId2"/>
            <a:stretch>
              <a:fillRect/>
            </a:stretch>
          </p:blipFill>
          <p:spPr>
            <a:xfrm>
              <a:off x="566791" y="2681289"/>
              <a:ext cx="420846" cy="420844"/>
            </a:xfrm>
            <a:prstGeom prst="rect">
              <a:avLst/>
            </a:prstGeom>
          </p:spPr>
        </p:pic>
      </p:grpSp>
    </p:spTree>
    <p:extLst>
      <p:ext uri="{BB962C8B-B14F-4D97-AF65-F5344CB8AC3E}">
        <p14:creationId xmlns:p14="http://schemas.microsoft.com/office/powerpoint/2010/main" val="175254153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288013" y="3088902"/>
            <a:ext cx="1959432" cy="680196"/>
          </a:xfrm>
        </p:spPr>
        <p:txBody>
          <a:bodyPr/>
          <a:lstStyle/>
          <a:p>
            <a:r>
              <a:rPr lang="en-US" sz="2750" dirty="0"/>
              <a:t>Configure Azure Application Gateway overview</a:t>
            </a:r>
          </a:p>
        </p:txBody>
      </p:sp>
      <p:sp>
        <p:nvSpPr>
          <p:cNvPr id="6" name="Text Placeholder 5"/>
          <p:cNvSpPr>
            <a:spLocks noGrp="1"/>
          </p:cNvSpPr>
          <p:nvPr>
            <p:ph type="body" sz="quarter" idx="11"/>
          </p:nvPr>
        </p:nvSpPr>
        <p:spPr>
          <a:xfrm>
            <a:off x="3619500" y="1385873"/>
            <a:ext cx="3330574" cy="675889"/>
          </a:xfrm>
        </p:spPr>
        <p:txBody>
          <a:bodyPr/>
          <a:lstStyle/>
          <a:p>
            <a:pPr lvl="1"/>
            <a:r>
              <a:rPr lang="en-US" dirty="0"/>
              <a:t>Configure Application Gateway</a:t>
            </a:r>
          </a:p>
        </p:txBody>
      </p:sp>
      <p:sp>
        <p:nvSpPr>
          <p:cNvPr id="2" name="Text Placeholder 1"/>
          <p:cNvSpPr>
            <a:spLocks noGrp="1"/>
          </p:cNvSpPr>
          <p:nvPr>
            <p:ph type="body" sz="quarter" idx="15"/>
          </p:nvPr>
        </p:nvSpPr>
        <p:spPr>
          <a:xfrm>
            <a:off x="3619500" y="2229724"/>
            <a:ext cx="3330574" cy="675889"/>
          </a:xfrm>
        </p:spPr>
        <p:txBody>
          <a:bodyPr/>
          <a:lstStyle/>
          <a:p>
            <a:pPr lvl="1"/>
            <a:r>
              <a:rPr lang="en-US" dirty="0"/>
              <a:t>Configure Health Probes</a:t>
            </a:r>
          </a:p>
        </p:txBody>
      </p:sp>
      <p:sp>
        <p:nvSpPr>
          <p:cNvPr id="3" name="Text Placeholder 2"/>
          <p:cNvSpPr>
            <a:spLocks noGrp="1"/>
          </p:cNvSpPr>
          <p:nvPr>
            <p:ph type="body" sz="quarter" idx="17"/>
          </p:nvPr>
        </p:nvSpPr>
        <p:spPr>
          <a:xfrm>
            <a:off x="3619500" y="3073575"/>
            <a:ext cx="3330574" cy="675889"/>
          </a:xfrm>
        </p:spPr>
        <p:txBody>
          <a:bodyPr/>
          <a:lstStyle/>
          <a:p>
            <a:pPr lvl="1"/>
            <a:r>
              <a:rPr lang="en-US" dirty="0"/>
              <a:t>Configure Listeners</a:t>
            </a:r>
          </a:p>
        </p:txBody>
      </p:sp>
      <p:sp>
        <p:nvSpPr>
          <p:cNvPr id="4" name="Text Placeholder 3"/>
          <p:cNvSpPr>
            <a:spLocks noGrp="1"/>
          </p:cNvSpPr>
          <p:nvPr>
            <p:ph type="body" sz="quarter" idx="19"/>
          </p:nvPr>
        </p:nvSpPr>
        <p:spPr>
          <a:xfrm>
            <a:off x="3619500" y="3917426"/>
            <a:ext cx="3330574" cy="675889"/>
          </a:xfrm>
        </p:spPr>
        <p:txBody>
          <a:bodyPr/>
          <a:lstStyle/>
          <a:p>
            <a:pPr lvl="1"/>
            <a:r>
              <a:rPr lang="en-US" dirty="0"/>
              <a:t>Redirection Overview </a:t>
            </a:r>
          </a:p>
        </p:txBody>
      </p:sp>
      <p:sp>
        <p:nvSpPr>
          <p:cNvPr id="5" name="Text Placeholder 4"/>
          <p:cNvSpPr>
            <a:spLocks noGrp="1"/>
          </p:cNvSpPr>
          <p:nvPr>
            <p:ph type="body" sz="quarter" idx="21"/>
          </p:nvPr>
        </p:nvSpPr>
        <p:spPr>
          <a:xfrm>
            <a:off x="3619499" y="4761277"/>
            <a:ext cx="3690585" cy="675889"/>
          </a:xfrm>
        </p:spPr>
        <p:txBody>
          <a:bodyPr/>
          <a:lstStyle/>
          <a:p>
            <a:pPr lvl="1"/>
            <a:r>
              <a:rPr lang="en-US" dirty="0"/>
              <a:t>Application Gateway Request routing rules</a:t>
            </a:r>
          </a:p>
        </p:txBody>
      </p:sp>
      <p:sp>
        <p:nvSpPr>
          <p:cNvPr id="33" name="Text Placeholder 32">
            <a:extLst>
              <a:ext uri="{FF2B5EF4-FFF2-40B4-BE49-F238E27FC236}">
                <a16:creationId xmlns:a16="http://schemas.microsoft.com/office/drawing/2014/main" id="{9FB4CA60-E833-4C8E-B701-0CE6B78FE809}"/>
              </a:ext>
            </a:extLst>
          </p:cNvPr>
          <p:cNvSpPr>
            <a:spLocks noGrp="1"/>
          </p:cNvSpPr>
          <p:nvPr>
            <p:ph type="body" sz="quarter" idx="24"/>
          </p:nvPr>
        </p:nvSpPr>
        <p:spPr>
          <a:xfrm>
            <a:off x="8331200" y="1385873"/>
            <a:ext cx="3442157" cy="675889"/>
          </a:xfrm>
        </p:spPr>
        <p:txBody>
          <a:bodyPr/>
          <a:lstStyle/>
          <a:p>
            <a:pPr lvl="1"/>
            <a:r>
              <a:rPr lang="en-US" dirty="0"/>
              <a:t>Associated back-end pool</a:t>
            </a:r>
          </a:p>
        </p:txBody>
      </p:sp>
      <p:sp>
        <p:nvSpPr>
          <p:cNvPr id="96" name="Text Placeholder 95">
            <a:extLst>
              <a:ext uri="{FF2B5EF4-FFF2-40B4-BE49-F238E27FC236}">
                <a16:creationId xmlns:a16="http://schemas.microsoft.com/office/drawing/2014/main" id="{1D55D3DF-CA9F-4510-A000-D8F91802EEB6}"/>
              </a:ext>
            </a:extLst>
          </p:cNvPr>
          <p:cNvSpPr>
            <a:spLocks noGrp="1"/>
          </p:cNvSpPr>
          <p:nvPr>
            <p:ph type="body" sz="quarter" idx="25"/>
          </p:nvPr>
        </p:nvSpPr>
        <p:spPr>
          <a:xfrm>
            <a:off x="8331200" y="2229724"/>
            <a:ext cx="3442157" cy="675889"/>
          </a:xfrm>
        </p:spPr>
        <p:txBody>
          <a:bodyPr/>
          <a:lstStyle/>
          <a:p>
            <a:pPr lvl="1"/>
            <a:r>
              <a:rPr lang="en-US" dirty="0"/>
              <a:t>Configure URL-based routing </a:t>
            </a:r>
          </a:p>
        </p:txBody>
      </p:sp>
      <p:sp>
        <p:nvSpPr>
          <p:cNvPr id="97" name="Text Placeholder 96">
            <a:extLst>
              <a:ext uri="{FF2B5EF4-FFF2-40B4-BE49-F238E27FC236}">
                <a16:creationId xmlns:a16="http://schemas.microsoft.com/office/drawing/2014/main" id="{A1AE85CF-944E-45AF-932E-A23D5EC8BC42}"/>
              </a:ext>
            </a:extLst>
          </p:cNvPr>
          <p:cNvSpPr>
            <a:spLocks noGrp="1"/>
          </p:cNvSpPr>
          <p:nvPr>
            <p:ph type="body" sz="quarter" idx="26"/>
          </p:nvPr>
        </p:nvSpPr>
        <p:spPr>
          <a:xfrm>
            <a:off x="8331200" y="3073575"/>
            <a:ext cx="3442157" cy="675889"/>
          </a:xfrm>
        </p:spPr>
        <p:txBody>
          <a:bodyPr/>
          <a:lstStyle/>
          <a:p>
            <a:pPr lvl="1"/>
            <a:r>
              <a:rPr lang="en-US" dirty="0"/>
              <a:t>Configure rewrite policies </a:t>
            </a:r>
          </a:p>
        </p:txBody>
      </p:sp>
      <p:sp>
        <p:nvSpPr>
          <p:cNvPr id="98" name="Text Placeholder 97">
            <a:extLst>
              <a:ext uri="{FF2B5EF4-FFF2-40B4-BE49-F238E27FC236}">
                <a16:creationId xmlns:a16="http://schemas.microsoft.com/office/drawing/2014/main" id="{5730627D-2E75-4982-9D94-E57D2121967E}"/>
              </a:ext>
            </a:extLst>
          </p:cNvPr>
          <p:cNvSpPr>
            <a:spLocks noGrp="1"/>
          </p:cNvSpPr>
          <p:nvPr>
            <p:ph type="body" sz="quarter" idx="27"/>
          </p:nvPr>
        </p:nvSpPr>
        <p:spPr>
          <a:xfrm>
            <a:off x="8331200" y="3917426"/>
            <a:ext cx="3442157" cy="675889"/>
          </a:xfrm>
        </p:spPr>
        <p:txBody>
          <a:bodyPr/>
          <a:lstStyle/>
          <a:p>
            <a:pPr lvl="1"/>
            <a:r>
              <a:rPr lang="en-US" dirty="0"/>
              <a:t>Demonstration</a:t>
            </a:r>
          </a:p>
        </p:txBody>
      </p:sp>
      <p:sp>
        <p:nvSpPr>
          <p:cNvPr id="99" name="Text Placeholder 98">
            <a:extLst>
              <a:ext uri="{FF2B5EF4-FFF2-40B4-BE49-F238E27FC236}">
                <a16:creationId xmlns:a16="http://schemas.microsoft.com/office/drawing/2014/main" id="{9D82B098-BD37-4658-BAAB-A95CD4F98789}"/>
              </a:ext>
            </a:extLst>
          </p:cNvPr>
          <p:cNvSpPr>
            <a:spLocks noGrp="1"/>
          </p:cNvSpPr>
          <p:nvPr>
            <p:ph type="body" sz="quarter" idx="28"/>
          </p:nvPr>
        </p:nvSpPr>
        <p:spPr>
          <a:xfrm>
            <a:off x="8331200" y="4761277"/>
            <a:ext cx="3442157" cy="675889"/>
          </a:xfrm>
        </p:spPr>
        <p:txBody>
          <a:bodyPr/>
          <a:lstStyle/>
          <a:p>
            <a:pPr lvl="1"/>
            <a:r>
              <a:rPr lang="en-US" dirty="0"/>
              <a:t>Review </a:t>
            </a:r>
          </a:p>
        </p:txBody>
      </p:sp>
      <p:grpSp>
        <p:nvGrpSpPr>
          <p:cNvPr id="7" name="Group 6">
            <a:extLst>
              <a:ext uri="{FF2B5EF4-FFF2-40B4-BE49-F238E27FC236}">
                <a16:creationId xmlns:a16="http://schemas.microsoft.com/office/drawing/2014/main" id="{824DD526-FB13-4C60-86A9-DB069EFCC286}"/>
              </a:ext>
              <a:ext uri="{C183D7F6-B498-43B3-948B-1728B52AA6E4}">
                <adec:decorative xmlns:adec="http://schemas.microsoft.com/office/drawing/2017/decorative" val="1"/>
              </a:ext>
            </a:extLst>
          </p:cNvPr>
          <p:cNvGrpSpPr/>
          <p:nvPr/>
        </p:nvGrpSpPr>
        <p:grpSpPr>
          <a:xfrm>
            <a:off x="2744702" y="1407544"/>
            <a:ext cx="648329" cy="4017477"/>
            <a:chOff x="2744702" y="1407544"/>
            <a:chExt cx="648329" cy="4017477"/>
          </a:xfrm>
        </p:grpSpPr>
        <p:grpSp>
          <p:nvGrpSpPr>
            <p:cNvPr id="22" name="Group 21">
              <a:extLst>
                <a:ext uri="{FF2B5EF4-FFF2-40B4-BE49-F238E27FC236}">
                  <a16:creationId xmlns:a16="http://schemas.microsoft.com/office/drawing/2014/main" id="{204B5399-A43E-4092-B45A-8C78C5FAF293}"/>
                </a:ext>
              </a:extLst>
            </p:cNvPr>
            <p:cNvGrpSpPr/>
            <p:nvPr/>
          </p:nvGrpSpPr>
          <p:grpSpPr>
            <a:xfrm>
              <a:off x="2744702" y="1407544"/>
              <a:ext cx="648329" cy="648421"/>
              <a:chOff x="2744702" y="480082"/>
              <a:chExt cx="648329" cy="648421"/>
            </a:xfrm>
          </p:grpSpPr>
          <p:grpSp>
            <p:nvGrpSpPr>
              <p:cNvPr id="21" name="Group 20">
                <a:extLst>
                  <a:ext uri="{FF2B5EF4-FFF2-40B4-BE49-F238E27FC236}">
                    <a16:creationId xmlns:a16="http://schemas.microsoft.com/office/drawing/2014/main" id="{CE4DF085-32CE-4720-9E44-607B924EFE11}"/>
                  </a:ext>
                </a:extLst>
              </p:cNvPr>
              <p:cNvGrpSpPr/>
              <p:nvPr/>
            </p:nvGrpSpPr>
            <p:grpSpPr>
              <a:xfrm>
                <a:off x="2744702" y="480082"/>
                <a:ext cx="648329" cy="648421"/>
                <a:chOff x="2744702" y="480082"/>
                <a:chExt cx="648329" cy="648421"/>
              </a:xfrm>
            </p:grpSpPr>
            <p:sp>
              <p:nvSpPr>
                <p:cNvPr id="102" name="Freeform 5">
                  <a:extLst>
                    <a:ext uri="{FF2B5EF4-FFF2-40B4-BE49-F238E27FC236}">
                      <a16:creationId xmlns:a16="http://schemas.microsoft.com/office/drawing/2014/main" id="{64E369D0-09B4-4225-A6A0-8F0806DF1504}"/>
                    </a:ext>
                  </a:extLst>
                </p:cNvPr>
                <p:cNvSpPr>
                  <a:spLocks/>
                </p:cNvSpPr>
                <p:nvPr/>
              </p:nvSpPr>
              <p:spPr bwMode="auto">
                <a:xfrm>
                  <a:off x="2744702"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3" name="Freeform 6">
                  <a:extLst>
                    <a:ext uri="{FF2B5EF4-FFF2-40B4-BE49-F238E27FC236}">
                      <a16:creationId xmlns:a16="http://schemas.microsoft.com/office/drawing/2014/main" id="{7832EB4A-0718-4AB1-AD45-365DA0ECE835}"/>
                    </a:ext>
                  </a:extLst>
                </p:cNvPr>
                <p:cNvSpPr>
                  <a:spLocks noEditPoints="1"/>
                </p:cNvSpPr>
                <p:nvPr/>
              </p:nvSpPr>
              <p:spPr bwMode="auto">
                <a:xfrm>
                  <a:off x="2789287"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66844BE-B585-4087-B292-C5DD5794EAFC}"/>
                  </a:ext>
                </a:extLst>
              </p:cNvPr>
              <p:cNvPicPr>
                <a:picLocks noChangeAspect="1"/>
              </p:cNvPicPr>
              <p:nvPr/>
            </p:nvPicPr>
            <p:blipFill>
              <a:blip r:embed="rId3"/>
              <a:stretch>
                <a:fillRect/>
              </a:stretch>
            </p:blipFill>
            <p:spPr>
              <a:xfrm>
                <a:off x="2896970" y="632395"/>
                <a:ext cx="343794" cy="343794"/>
              </a:xfrm>
              <a:prstGeom prst="rect">
                <a:avLst/>
              </a:prstGeom>
            </p:spPr>
          </p:pic>
        </p:grpSp>
        <p:grpSp>
          <p:nvGrpSpPr>
            <p:cNvPr id="24" name="Group 23">
              <a:extLst>
                <a:ext uri="{FF2B5EF4-FFF2-40B4-BE49-F238E27FC236}">
                  <a16:creationId xmlns:a16="http://schemas.microsoft.com/office/drawing/2014/main" id="{D01EA723-2D9D-465E-BDF0-C446B21A5226}"/>
                </a:ext>
              </a:extLst>
            </p:cNvPr>
            <p:cNvGrpSpPr/>
            <p:nvPr/>
          </p:nvGrpSpPr>
          <p:grpSpPr>
            <a:xfrm>
              <a:off x="2744702" y="2249808"/>
              <a:ext cx="648329" cy="648421"/>
              <a:chOff x="2744702" y="1322346"/>
              <a:chExt cx="648329" cy="648421"/>
            </a:xfrm>
          </p:grpSpPr>
          <p:grpSp>
            <p:nvGrpSpPr>
              <p:cNvPr id="23" name="Group 22">
                <a:extLst>
                  <a:ext uri="{FF2B5EF4-FFF2-40B4-BE49-F238E27FC236}">
                    <a16:creationId xmlns:a16="http://schemas.microsoft.com/office/drawing/2014/main" id="{1120E625-64C4-478B-A446-B66EAF967212}"/>
                  </a:ext>
                </a:extLst>
              </p:cNvPr>
              <p:cNvGrpSpPr/>
              <p:nvPr/>
            </p:nvGrpSpPr>
            <p:grpSpPr>
              <a:xfrm>
                <a:off x="2744702" y="1322346"/>
                <a:ext cx="648329" cy="648421"/>
                <a:chOff x="2744702" y="1322346"/>
                <a:chExt cx="648329" cy="648421"/>
              </a:xfrm>
            </p:grpSpPr>
            <p:sp>
              <p:nvSpPr>
                <p:cNvPr id="115" name="Freeform 5">
                  <a:extLst>
                    <a:ext uri="{FF2B5EF4-FFF2-40B4-BE49-F238E27FC236}">
                      <a16:creationId xmlns:a16="http://schemas.microsoft.com/office/drawing/2014/main" id="{0F9EA0B3-F8A7-4544-A4CB-C6278812FEA4}"/>
                    </a:ext>
                  </a:extLst>
                </p:cNvPr>
                <p:cNvSpPr>
                  <a:spLocks/>
                </p:cNvSpPr>
                <p:nvPr/>
              </p:nvSpPr>
              <p:spPr bwMode="auto">
                <a:xfrm>
                  <a:off x="2744702"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16" name="Freeform 6">
                  <a:extLst>
                    <a:ext uri="{FF2B5EF4-FFF2-40B4-BE49-F238E27FC236}">
                      <a16:creationId xmlns:a16="http://schemas.microsoft.com/office/drawing/2014/main" id="{6EEBBF9F-9136-4D4F-B8E3-F83373417461}"/>
                    </a:ext>
                  </a:extLst>
                </p:cNvPr>
                <p:cNvSpPr>
                  <a:spLocks noEditPoints="1"/>
                </p:cNvSpPr>
                <p:nvPr/>
              </p:nvSpPr>
              <p:spPr bwMode="auto">
                <a:xfrm>
                  <a:off x="2789287"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C041E934-8D6C-4586-A86A-09C8400C57BA}"/>
                  </a:ext>
                </a:extLst>
              </p:cNvPr>
              <p:cNvPicPr>
                <a:picLocks noChangeAspect="1"/>
              </p:cNvPicPr>
              <p:nvPr/>
            </p:nvPicPr>
            <p:blipFill>
              <a:blip r:embed="rId4"/>
              <a:stretch>
                <a:fillRect/>
              </a:stretch>
            </p:blipFill>
            <p:spPr>
              <a:xfrm>
                <a:off x="2896969" y="1474659"/>
                <a:ext cx="343794" cy="343794"/>
              </a:xfrm>
              <a:prstGeom prst="rect">
                <a:avLst/>
              </a:prstGeom>
            </p:spPr>
          </p:pic>
        </p:grpSp>
        <p:grpSp>
          <p:nvGrpSpPr>
            <p:cNvPr id="26" name="Group 25">
              <a:extLst>
                <a:ext uri="{FF2B5EF4-FFF2-40B4-BE49-F238E27FC236}">
                  <a16:creationId xmlns:a16="http://schemas.microsoft.com/office/drawing/2014/main" id="{06A56B65-6A6C-424B-BB12-C57220C2E0CC}"/>
                </a:ext>
              </a:extLst>
            </p:cNvPr>
            <p:cNvGrpSpPr/>
            <p:nvPr/>
          </p:nvGrpSpPr>
          <p:grpSpPr>
            <a:xfrm>
              <a:off x="2744702" y="3092072"/>
              <a:ext cx="648329" cy="648421"/>
              <a:chOff x="2744702" y="2164610"/>
              <a:chExt cx="648329" cy="648421"/>
            </a:xfrm>
          </p:grpSpPr>
          <p:grpSp>
            <p:nvGrpSpPr>
              <p:cNvPr id="25" name="Group 24">
                <a:extLst>
                  <a:ext uri="{FF2B5EF4-FFF2-40B4-BE49-F238E27FC236}">
                    <a16:creationId xmlns:a16="http://schemas.microsoft.com/office/drawing/2014/main" id="{6D7C2B52-DB73-42EA-AE95-458C77C5B973}"/>
                  </a:ext>
                </a:extLst>
              </p:cNvPr>
              <p:cNvGrpSpPr/>
              <p:nvPr/>
            </p:nvGrpSpPr>
            <p:grpSpPr>
              <a:xfrm>
                <a:off x="2744702" y="2164610"/>
                <a:ext cx="648329" cy="648421"/>
                <a:chOff x="2744702" y="2164610"/>
                <a:chExt cx="648329" cy="648421"/>
              </a:xfrm>
            </p:grpSpPr>
            <p:sp>
              <p:nvSpPr>
                <p:cNvPr id="127" name="Freeform 5">
                  <a:extLst>
                    <a:ext uri="{FF2B5EF4-FFF2-40B4-BE49-F238E27FC236}">
                      <a16:creationId xmlns:a16="http://schemas.microsoft.com/office/drawing/2014/main" id="{BD418F4B-C5AC-41FE-90C4-0CBDC6F67679}"/>
                    </a:ext>
                  </a:extLst>
                </p:cNvPr>
                <p:cNvSpPr>
                  <a:spLocks/>
                </p:cNvSpPr>
                <p:nvPr/>
              </p:nvSpPr>
              <p:spPr bwMode="auto">
                <a:xfrm>
                  <a:off x="2744702"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29" name="Freeform 6">
                  <a:extLst>
                    <a:ext uri="{FF2B5EF4-FFF2-40B4-BE49-F238E27FC236}">
                      <a16:creationId xmlns:a16="http://schemas.microsoft.com/office/drawing/2014/main" id="{4D213CC6-4D71-444D-86E7-980D05CFD496}"/>
                    </a:ext>
                  </a:extLst>
                </p:cNvPr>
                <p:cNvSpPr>
                  <a:spLocks noEditPoints="1"/>
                </p:cNvSpPr>
                <p:nvPr/>
              </p:nvSpPr>
              <p:spPr bwMode="auto">
                <a:xfrm>
                  <a:off x="2789287"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D4D76706-6DBF-4640-9C93-14B9423D3757}"/>
                  </a:ext>
                </a:extLst>
              </p:cNvPr>
              <p:cNvPicPr>
                <a:picLocks noChangeAspect="1"/>
              </p:cNvPicPr>
              <p:nvPr/>
            </p:nvPicPr>
            <p:blipFill>
              <a:blip r:embed="rId5"/>
              <a:stretch>
                <a:fillRect/>
              </a:stretch>
            </p:blipFill>
            <p:spPr>
              <a:xfrm>
                <a:off x="2896970" y="2316856"/>
                <a:ext cx="343794" cy="343794"/>
              </a:xfrm>
              <a:prstGeom prst="rect">
                <a:avLst/>
              </a:prstGeom>
            </p:spPr>
          </p:pic>
        </p:grpSp>
        <p:grpSp>
          <p:nvGrpSpPr>
            <p:cNvPr id="29" name="Group 28">
              <a:extLst>
                <a:ext uri="{FF2B5EF4-FFF2-40B4-BE49-F238E27FC236}">
                  <a16:creationId xmlns:a16="http://schemas.microsoft.com/office/drawing/2014/main" id="{CF1C27DF-2C00-4A45-ADDE-DF01E309475E}"/>
                </a:ext>
              </a:extLst>
            </p:cNvPr>
            <p:cNvGrpSpPr/>
            <p:nvPr/>
          </p:nvGrpSpPr>
          <p:grpSpPr>
            <a:xfrm>
              <a:off x="2744702" y="3934336"/>
              <a:ext cx="648329" cy="648421"/>
              <a:chOff x="2744702" y="3006874"/>
              <a:chExt cx="648329" cy="648421"/>
            </a:xfrm>
          </p:grpSpPr>
          <p:grpSp>
            <p:nvGrpSpPr>
              <p:cNvPr id="28" name="Group 27">
                <a:extLst>
                  <a:ext uri="{FF2B5EF4-FFF2-40B4-BE49-F238E27FC236}">
                    <a16:creationId xmlns:a16="http://schemas.microsoft.com/office/drawing/2014/main" id="{F0CE17E5-0A70-4749-8B1D-C69988842CCA}"/>
                  </a:ext>
                </a:extLst>
              </p:cNvPr>
              <p:cNvGrpSpPr/>
              <p:nvPr/>
            </p:nvGrpSpPr>
            <p:grpSpPr>
              <a:xfrm>
                <a:off x="2744702" y="3006874"/>
                <a:ext cx="648329" cy="648421"/>
                <a:chOff x="2744702" y="3006874"/>
                <a:chExt cx="648329" cy="648421"/>
              </a:xfrm>
            </p:grpSpPr>
            <p:sp>
              <p:nvSpPr>
                <p:cNvPr id="158" name="Freeform 5">
                  <a:extLst>
                    <a:ext uri="{FF2B5EF4-FFF2-40B4-BE49-F238E27FC236}">
                      <a16:creationId xmlns:a16="http://schemas.microsoft.com/office/drawing/2014/main" id="{9CF42A4E-EB4F-44F1-BFCB-2057B0D31F06}"/>
                    </a:ext>
                  </a:extLst>
                </p:cNvPr>
                <p:cNvSpPr>
                  <a:spLocks/>
                </p:cNvSpPr>
                <p:nvPr/>
              </p:nvSpPr>
              <p:spPr bwMode="auto">
                <a:xfrm>
                  <a:off x="2744702"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60" name="Freeform 6">
                  <a:extLst>
                    <a:ext uri="{FF2B5EF4-FFF2-40B4-BE49-F238E27FC236}">
                      <a16:creationId xmlns:a16="http://schemas.microsoft.com/office/drawing/2014/main" id="{DBD82E7C-DF60-416D-95A1-9F29ECA1BD16}"/>
                    </a:ext>
                  </a:extLst>
                </p:cNvPr>
                <p:cNvSpPr>
                  <a:spLocks noEditPoints="1"/>
                </p:cNvSpPr>
                <p:nvPr/>
              </p:nvSpPr>
              <p:spPr bwMode="auto">
                <a:xfrm>
                  <a:off x="2789287"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10619E75-2DB9-4804-AD98-96A2B9188EED}"/>
                  </a:ext>
                </a:extLst>
              </p:cNvPr>
              <p:cNvPicPr>
                <a:picLocks noChangeAspect="1"/>
              </p:cNvPicPr>
              <p:nvPr/>
            </p:nvPicPr>
            <p:blipFill>
              <a:blip r:embed="rId6"/>
              <a:stretch>
                <a:fillRect/>
              </a:stretch>
            </p:blipFill>
            <p:spPr>
              <a:xfrm>
                <a:off x="2945272" y="3159187"/>
                <a:ext cx="247191" cy="343794"/>
              </a:xfrm>
              <a:prstGeom prst="rect">
                <a:avLst/>
              </a:prstGeom>
            </p:spPr>
          </p:pic>
        </p:grpSp>
        <p:grpSp>
          <p:nvGrpSpPr>
            <p:cNvPr id="31" name="Group 30">
              <a:extLst>
                <a:ext uri="{FF2B5EF4-FFF2-40B4-BE49-F238E27FC236}">
                  <a16:creationId xmlns:a16="http://schemas.microsoft.com/office/drawing/2014/main" id="{5FCBCBA0-2D4A-4E80-9B7F-8C503DC68F17}"/>
                </a:ext>
              </a:extLst>
            </p:cNvPr>
            <p:cNvGrpSpPr/>
            <p:nvPr/>
          </p:nvGrpSpPr>
          <p:grpSpPr>
            <a:xfrm>
              <a:off x="2744702" y="4776600"/>
              <a:ext cx="648329" cy="648421"/>
              <a:chOff x="2744702" y="3849138"/>
              <a:chExt cx="648329" cy="648421"/>
            </a:xfrm>
          </p:grpSpPr>
          <p:grpSp>
            <p:nvGrpSpPr>
              <p:cNvPr id="30" name="Group 29">
                <a:extLst>
                  <a:ext uri="{FF2B5EF4-FFF2-40B4-BE49-F238E27FC236}">
                    <a16:creationId xmlns:a16="http://schemas.microsoft.com/office/drawing/2014/main" id="{8937348B-CC1B-4A60-A129-B846017B9F46}"/>
                  </a:ext>
                </a:extLst>
              </p:cNvPr>
              <p:cNvGrpSpPr/>
              <p:nvPr/>
            </p:nvGrpSpPr>
            <p:grpSpPr>
              <a:xfrm>
                <a:off x="2744702" y="3849138"/>
                <a:ext cx="648329" cy="648421"/>
                <a:chOff x="2744702" y="3849138"/>
                <a:chExt cx="648329" cy="648421"/>
              </a:xfrm>
            </p:grpSpPr>
            <p:sp>
              <p:nvSpPr>
                <p:cNvPr id="172" name="Freeform 5">
                  <a:extLst>
                    <a:ext uri="{FF2B5EF4-FFF2-40B4-BE49-F238E27FC236}">
                      <a16:creationId xmlns:a16="http://schemas.microsoft.com/office/drawing/2014/main" id="{E3809A20-017B-4B88-86C5-C5074965D327}"/>
                    </a:ext>
                  </a:extLst>
                </p:cNvPr>
                <p:cNvSpPr>
                  <a:spLocks/>
                </p:cNvSpPr>
                <p:nvPr/>
              </p:nvSpPr>
              <p:spPr bwMode="auto">
                <a:xfrm>
                  <a:off x="2744702" y="3849138"/>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73" name="Freeform 6">
                  <a:extLst>
                    <a:ext uri="{FF2B5EF4-FFF2-40B4-BE49-F238E27FC236}">
                      <a16:creationId xmlns:a16="http://schemas.microsoft.com/office/drawing/2014/main" id="{3778FB8E-D7E5-4F26-9C8E-CFB30C3C9617}"/>
                    </a:ext>
                  </a:extLst>
                </p:cNvPr>
                <p:cNvSpPr>
                  <a:spLocks noEditPoints="1"/>
                </p:cNvSpPr>
                <p:nvPr/>
              </p:nvSpPr>
              <p:spPr bwMode="auto">
                <a:xfrm>
                  <a:off x="2789287" y="3894255"/>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E7064263-D8DA-43D1-8BA3-A8EE0085D643}"/>
                  </a:ext>
                </a:extLst>
              </p:cNvPr>
              <p:cNvPicPr>
                <a:picLocks noChangeAspect="1"/>
              </p:cNvPicPr>
              <p:nvPr/>
            </p:nvPicPr>
            <p:blipFill>
              <a:blip r:embed="rId7"/>
              <a:stretch>
                <a:fillRect/>
              </a:stretch>
            </p:blipFill>
            <p:spPr>
              <a:xfrm>
                <a:off x="2900000" y="4046628"/>
                <a:ext cx="337732" cy="253437"/>
              </a:xfrm>
              <a:prstGeom prst="rect">
                <a:avLst/>
              </a:prstGeom>
            </p:spPr>
          </p:pic>
        </p:grpSp>
      </p:grpSp>
      <p:grpSp>
        <p:nvGrpSpPr>
          <p:cNvPr id="13" name="Group 12">
            <a:extLst>
              <a:ext uri="{FF2B5EF4-FFF2-40B4-BE49-F238E27FC236}">
                <a16:creationId xmlns:a16="http://schemas.microsoft.com/office/drawing/2014/main" id="{123E15B0-7388-4430-B432-83E1AE75FE6A}"/>
              </a:ext>
              <a:ext uri="{C183D7F6-B498-43B3-948B-1728B52AA6E4}">
                <adec:decorative xmlns:adec="http://schemas.microsoft.com/office/drawing/2017/decorative" val="1"/>
              </a:ext>
            </a:extLst>
          </p:cNvPr>
          <p:cNvGrpSpPr/>
          <p:nvPr/>
        </p:nvGrpSpPr>
        <p:grpSpPr>
          <a:xfrm>
            <a:off x="7465384" y="1407544"/>
            <a:ext cx="648329" cy="4017477"/>
            <a:chOff x="7465384" y="1407544"/>
            <a:chExt cx="648329" cy="4017477"/>
          </a:xfrm>
        </p:grpSpPr>
        <p:grpSp>
          <p:nvGrpSpPr>
            <p:cNvPr id="46" name="Group 45">
              <a:extLst>
                <a:ext uri="{FF2B5EF4-FFF2-40B4-BE49-F238E27FC236}">
                  <a16:creationId xmlns:a16="http://schemas.microsoft.com/office/drawing/2014/main" id="{3F9A8503-939D-4DD5-B78C-EC416EEDC730}"/>
                </a:ext>
              </a:extLst>
            </p:cNvPr>
            <p:cNvGrpSpPr/>
            <p:nvPr/>
          </p:nvGrpSpPr>
          <p:grpSpPr>
            <a:xfrm>
              <a:off x="7465384" y="1407544"/>
              <a:ext cx="648329" cy="648421"/>
              <a:chOff x="7465384" y="480082"/>
              <a:chExt cx="648329" cy="648421"/>
            </a:xfrm>
          </p:grpSpPr>
          <p:grpSp>
            <p:nvGrpSpPr>
              <p:cNvPr id="45" name="Group 44">
                <a:extLst>
                  <a:ext uri="{FF2B5EF4-FFF2-40B4-BE49-F238E27FC236}">
                    <a16:creationId xmlns:a16="http://schemas.microsoft.com/office/drawing/2014/main" id="{44FBE7E9-E9B0-4FAE-9022-BC64CD64759E}"/>
                  </a:ext>
                </a:extLst>
              </p:cNvPr>
              <p:cNvGrpSpPr/>
              <p:nvPr/>
            </p:nvGrpSpPr>
            <p:grpSpPr>
              <a:xfrm>
                <a:off x="7465384" y="480082"/>
                <a:ext cx="648329" cy="648421"/>
                <a:chOff x="7465384" y="480082"/>
                <a:chExt cx="648329" cy="648421"/>
              </a:xfrm>
            </p:grpSpPr>
            <p:sp>
              <p:nvSpPr>
                <p:cNvPr id="161" name="Freeform 5">
                  <a:extLst>
                    <a:ext uri="{FF2B5EF4-FFF2-40B4-BE49-F238E27FC236}">
                      <a16:creationId xmlns:a16="http://schemas.microsoft.com/office/drawing/2014/main" id="{DE863DBE-BF83-4BD8-945A-7A99DA7AEC9C}"/>
                    </a:ext>
                  </a:extLst>
                </p:cNvPr>
                <p:cNvSpPr>
                  <a:spLocks/>
                </p:cNvSpPr>
                <p:nvPr/>
              </p:nvSpPr>
              <p:spPr bwMode="auto">
                <a:xfrm>
                  <a:off x="7465384"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62" name="Freeform 6">
                  <a:extLst>
                    <a:ext uri="{FF2B5EF4-FFF2-40B4-BE49-F238E27FC236}">
                      <a16:creationId xmlns:a16="http://schemas.microsoft.com/office/drawing/2014/main" id="{19A42A39-FE92-4EC5-BCE2-E1380924622A}"/>
                    </a:ext>
                  </a:extLst>
                </p:cNvPr>
                <p:cNvSpPr>
                  <a:spLocks noEditPoints="1"/>
                </p:cNvSpPr>
                <p:nvPr/>
              </p:nvSpPr>
              <p:spPr bwMode="auto">
                <a:xfrm>
                  <a:off x="7509969"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4" name="Picture 13" descr="Icon of three concentric arcs">
                <a:extLst>
                  <a:ext uri="{FF2B5EF4-FFF2-40B4-BE49-F238E27FC236}">
                    <a16:creationId xmlns:a16="http://schemas.microsoft.com/office/drawing/2014/main" id="{C8C18832-CB43-4668-B162-049185D820E8}"/>
                  </a:ext>
                </a:extLst>
              </p:cNvPr>
              <p:cNvPicPr>
                <a:picLocks noChangeAspect="1"/>
              </p:cNvPicPr>
              <p:nvPr/>
            </p:nvPicPr>
            <p:blipFill>
              <a:blip r:embed="rId3"/>
              <a:stretch>
                <a:fillRect/>
              </a:stretch>
            </p:blipFill>
            <p:spPr>
              <a:xfrm>
                <a:off x="7617652" y="632395"/>
                <a:ext cx="343794" cy="343794"/>
              </a:xfrm>
              <a:prstGeom prst="rect">
                <a:avLst/>
              </a:prstGeom>
            </p:spPr>
          </p:pic>
        </p:grpSp>
        <p:grpSp>
          <p:nvGrpSpPr>
            <p:cNvPr id="44" name="Group 43">
              <a:extLst>
                <a:ext uri="{FF2B5EF4-FFF2-40B4-BE49-F238E27FC236}">
                  <a16:creationId xmlns:a16="http://schemas.microsoft.com/office/drawing/2014/main" id="{2FA37299-4C2D-444A-81DE-A55D5E652C3F}"/>
                </a:ext>
              </a:extLst>
            </p:cNvPr>
            <p:cNvGrpSpPr/>
            <p:nvPr/>
          </p:nvGrpSpPr>
          <p:grpSpPr>
            <a:xfrm>
              <a:off x="7465384" y="2249808"/>
              <a:ext cx="648329" cy="648421"/>
              <a:chOff x="7465384" y="1322346"/>
              <a:chExt cx="648329" cy="648421"/>
            </a:xfrm>
          </p:grpSpPr>
          <p:grpSp>
            <p:nvGrpSpPr>
              <p:cNvPr id="43" name="Group 42">
                <a:extLst>
                  <a:ext uri="{FF2B5EF4-FFF2-40B4-BE49-F238E27FC236}">
                    <a16:creationId xmlns:a16="http://schemas.microsoft.com/office/drawing/2014/main" id="{ECD12940-0915-47B9-98C6-0D988B69B842}"/>
                  </a:ext>
                </a:extLst>
              </p:cNvPr>
              <p:cNvGrpSpPr/>
              <p:nvPr/>
            </p:nvGrpSpPr>
            <p:grpSpPr>
              <a:xfrm>
                <a:off x="7465384" y="1322346"/>
                <a:ext cx="648329" cy="648421"/>
                <a:chOff x="7465384" y="1322346"/>
                <a:chExt cx="648329" cy="648421"/>
              </a:xfrm>
            </p:grpSpPr>
            <p:sp>
              <p:nvSpPr>
                <p:cNvPr id="201" name="Freeform 5">
                  <a:extLst>
                    <a:ext uri="{FF2B5EF4-FFF2-40B4-BE49-F238E27FC236}">
                      <a16:creationId xmlns:a16="http://schemas.microsoft.com/office/drawing/2014/main" id="{C7DE1906-F80E-405F-AE6A-E2B5F7771A42}"/>
                    </a:ext>
                  </a:extLst>
                </p:cNvPr>
                <p:cNvSpPr>
                  <a:spLocks/>
                </p:cNvSpPr>
                <p:nvPr/>
              </p:nvSpPr>
              <p:spPr bwMode="auto">
                <a:xfrm>
                  <a:off x="7465384"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02" name="Freeform 6">
                  <a:extLst>
                    <a:ext uri="{FF2B5EF4-FFF2-40B4-BE49-F238E27FC236}">
                      <a16:creationId xmlns:a16="http://schemas.microsoft.com/office/drawing/2014/main" id="{215198FA-59CE-4083-A98A-E953582E7214}"/>
                    </a:ext>
                  </a:extLst>
                </p:cNvPr>
                <p:cNvSpPr>
                  <a:spLocks noEditPoints="1"/>
                </p:cNvSpPr>
                <p:nvPr/>
              </p:nvSpPr>
              <p:spPr bwMode="auto">
                <a:xfrm>
                  <a:off x="7509969"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5" name="Picture 14" descr="Icon of a arrow in a circular path with a timer inside the circle">
                <a:extLst>
                  <a:ext uri="{FF2B5EF4-FFF2-40B4-BE49-F238E27FC236}">
                    <a16:creationId xmlns:a16="http://schemas.microsoft.com/office/drawing/2014/main" id="{E4459D42-4F56-476D-A35F-75CECAC6A057}"/>
                  </a:ext>
                </a:extLst>
              </p:cNvPr>
              <p:cNvPicPr>
                <a:picLocks noChangeAspect="1"/>
              </p:cNvPicPr>
              <p:nvPr/>
            </p:nvPicPr>
            <p:blipFill>
              <a:blip r:embed="rId4"/>
              <a:stretch>
                <a:fillRect/>
              </a:stretch>
            </p:blipFill>
            <p:spPr>
              <a:xfrm>
                <a:off x="7617651" y="1474659"/>
                <a:ext cx="343794" cy="343794"/>
              </a:xfrm>
              <a:prstGeom prst="rect">
                <a:avLst/>
              </a:prstGeom>
            </p:spPr>
          </p:pic>
        </p:grpSp>
        <p:grpSp>
          <p:nvGrpSpPr>
            <p:cNvPr id="42" name="Group 41">
              <a:extLst>
                <a:ext uri="{FF2B5EF4-FFF2-40B4-BE49-F238E27FC236}">
                  <a16:creationId xmlns:a16="http://schemas.microsoft.com/office/drawing/2014/main" id="{1C245463-3230-4B72-8056-DC885406DBBB}"/>
                </a:ext>
              </a:extLst>
            </p:cNvPr>
            <p:cNvGrpSpPr/>
            <p:nvPr/>
          </p:nvGrpSpPr>
          <p:grpSpPr>
            <a:xfrm>
              <a:off x="7465384" y="3092072"/>
              <a:ext cx="648329" cy="648421"/>
              <a:chOff x="7465384" y="2164610"/>
              <a:chExt cx="648329" cy="648421"/>
            </a:xfrm>
          </p:grpSpPr>
          <p:grpSp>
            <p:nvGrpSpPr>
              <p:cNvPr id="41" name="Group 40">
                <a:extLst>
                  <a:ext uri="{FF2B5EF4-FFF2-40B4-BE49-F238E27FC236}">
                    <a16:creationId xmlns:a16="http://schemas.microsoft.com/office/drawing/2014/main" id="{003EFA45-3C02-49BE-99BF-A2C364D8438D}"/>
                  </a:ext>
                </a:extLst>
              </p:cNvPr>
              <p:cNvGrpSpPr/>
              <p:nvPr/>
            </p:nvGrpSpPr>
            <p:grpSpPr>
              <a:xfrm>
                <a:off x="7465384" y="2164610"/>
                <a:ext cx="648329" cy="648421"/>
                <a:chOff x="7465384" y="2164610"/>
                <a:chExt cx="648329" cy="648421"/>
              </a:xfrm>
            </p:grpSpPr>
            <p:sp>
              <p:nvSpPr>
                <p:cNvPr id="275" name="Freeform 5">
                  <a:extLst>
                    <a:ext uri="{FF2B5EF4-FFF2-40B4-BE49-F238E27FC236}">
                      <a16:creationId xmlns:a16="http://schemas.microsoft.com/office/drawing/2014/main" id="{D9F5808C-9B3D-433C-B434-806D1B5FEDA4}"/>
                    </a:ext>
                  </a:extLst>
                </p:cNvPr>
                <p:cNvSpPr>
                  <a:spLocks/>
                </p:cNvSpPr>
                <p:nvPr/>
              </p:nvSpPr>
              <p:spPr bwMode="auto">
                <a:xfrm>
                  <a:off x="7465384"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76" name="Freeform 6">
                  <a:extLst>
                    <a:ext uri="{FF2B5EF4-FFF2-40B4-BE49-F238E27FC236}">
                      <a16:creationId xmlns:a16="http://schemas.microsoft.com/office/drawing/2014/main" id="{55675F26-DDB6-4831-BB09-3FFCECC8E39C}"/>
                    </a:ext>
                  </a:extLst>
                </p:cNvPr>
                <p:cNvSpPr>
                  <a:spLocks noEditPoints="1"/>
                </p:cNvSpPr>
                <p:nvPr/>
              </p:nvSpPr>
              <p:spPr bwMode="auto">
                <a:xfrm>
                  <a:off x="7509969"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6" name="Picture 15" descr="Icon of a gear inside a circle">
                <a:extLst>
                  <a:ext uri="{FF2B5EF4-FFF2-40B4-BE49-F238E27FC236}">
                    <a16:creationId xmlns:a16="http://schemas.microsoft.com/office/drawing/2014/main" id="{FF57670B-F209-45D7-9C7A-731155FB750B}"/>
                  </a:ext>
                </a:extLst>
              </p:cNvPr>
              <p:cNvPicPr>
                <a:picLocks noChangeAspect="1"/>
              </p:cNvPicPr>
              <p:nvPr/>
            </p:nvPicPr>
            <p:blipFill>
              <a:blip r:embed="rId5"/>
              <a:stretch>
                <a:fillRect/>
              </a:stretch>
            </p:blipFill>
            <p:spPr>
              <a:xfrm>
                <a:off x="7617652" y="2316856"/>
                <a:ext cx="343794" cy="343794"/>
              </a:xfrm>
              <a:prstGeom prst="rect">
                <a:avLst/>
              </a:prstGeom>
            </p:spPr>
          </p:pic>
        </p:grpSp>
        <p:grpSp>
          <p:nvGrpSpPr>
            <p:cNvPr id="40" name="Group 39">
              <a:extLst>
                <a:ext uri="{FF2B5EF4-FFF2-40B4-BE49-F238E27FC236}">
                  <a16:creationId xmlns:a16="http://schemas.microsoft.com/office/drawing/2014/main" id="{CD360B4F-EE2B-4DA6-AB98-B9DB81B9024A}"/>
                </a:ext>
              </a:extLst>
            </p:cNvPr>
            <p:cNvGrpSpPr/>
            <p:nvPr/>
          </p:nvGrpSpPr>
          <p:grpSpPr>
            <a:xfrm>
              <a:off x="7465384" y="3934336"/>
              <a:ext cx="648329" cy="648421"/>
              <a:chOff x="7465384" y="3006874"/>
              <a:chExt cx="648329" cy="648421"/>
            </a:xfrm>
          </p:grpSpPr>
          <p:grpSp>
            <p:nvGrpSpPr>
              <p:cNvPr id="39" name="Group 38">
                <a:extLst>
                  <a:ext uri="{FF2B5EF4-FFF2-40B4-BE49-F238E27FC236}">
                    <a16:creationId xmlns:a16="http://schemas.microsoft.com/office/drawing/2014/main" id="{90D3577D-CE30-4170-A24D-7F611D25D278}"/>
                  </a:ext>
                </a:extLst>
              </p:cNvPr>
              <p:cNvGrpSpPr/>
              <p:nvPr/>
            </p:nvGrpSpPr>
            <p:grpSpPr>
              <a:xfrm>
                <a:off x="7465384" y="3006874"/>
                <a:ext cx="648329" cy="648421"/>
                <a:chOff x="7465384" y="3006874"/>
                <a:chExt cx="648329" cy="648421"/>
              </a:xfrm>
            </p:grpSpPr>
            <p:sp>
              <p:nvSpPr>
                <p:cNvPr id="288" name="Freeform 5">
                  <a:extLst>
                    <a:ext uri="{FF2B5EF4-FFF2-40B4-BE49-F238E27FC236}">
                      <a16:creationId xmlns:a16="http://schemas.microsoft.com/office/drawing/2014/main" id="{A73611B5-BF2A-49C4-B3C4-7A02CA678CE5}"/>
                    </a:ext>
                  </a:extLst>
                </p:cNvPr>
                <p:cNvSpPr>
                  <a:spLocks/>
                </p:cNvSpPr>
                <p:nvPr/>
              </p:nvSpPr>
              <p:spPr bwMode="auto">
                <a:xfrm>
                  <a:off x="7465384"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89" name="Freeform 6">
                  <a:extLst>
                    <a:ext uri="{FF2B5EF4-FFF2-40B4-BE49-F238E27FC236}">
                      <a16:creationId xmlns:a16="http://schemas.microsoft.com/office/drawing/2014/main" id="{8099A7AA-C1B5-4B98-AAA5-85438FCAFA30}"/>
                    </a:ext>
                  </a:extLst>
                </p:cNvPr>
                <p:cNvSpPr>
                  <a:spLocks noEditPoints="1"/>
                </p:cNvSpPr>
                <p:nvPr/>
              </p:nvSpPr>
              <p:spPr bwMode="auto">
                <a:xfrm>
                  <a:off x="7509969"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8" name="Picture 17" descr="Icon of a bulb">
                <a:extLst>
                  <a:ext uri="{FF2B5EF4-FFF2-40B4-BE49-F238E27FC236}">
                    <a16:creationId xmlns:a16="http://schemas.microsoft.com/office/drawing/2014/main" id="{BD13A457-70B7-4884-980F-27ACDD65C9BD}"/>
                  </a:ext>
                </a:extLst>
              </p:cNvPr>
              <p:cNvPicPr>
                <a:picLocks noChangeAspect="1"/>
              </p:cNvPicPr>
              <p:nvPr/>
            </p:nvPicPr>
            <p:blipFill>
              <a:blip r:embed="rId6"/>
              <a:stretch>
                <a:fillRect/>
              </a:stretch>
            </p:blipFill>
            <p:spPr>
              <a:xfrm>
                <a:off x="7665954" y="3159187"/>
                <a:ext cx="247191" cy="343794"/>
              </a:xfrm>
              <a:prstGeom prst="rect">
                <a:avLst/>
              </a:prstGeom>
            </p:spPr>
          </p:pic>
        </p:grpSp>
        <p:grpSp>
          <p:nvGrpSpPr>
            <p:cNvPr id="38" name="Group 37">
              <a:extLst>
                <a:ext uri="{FF2B5EF4-FFF2-40B4-BE49-F238E27FC236}">
                  <a16:creationId xmlns:a16="http://schemas.microsoft.com/office/drawing/2014/main" id="{F92A0205-4849-46DA-94AE-12B53B09EFF2}"/>
                </a:ext>
              </a:extLst>
            </p:cNvPr>
            <p:cNvGrpSpPr/>
            <p:nvPr/>
          </p:nvGrpSpPr>
          <p:grpSpPr>
            <a:xfrm>
              <a:off x="7465384" y="4776600"/>
              <a:ext cx="648329" cy="648421"/>
              <a:chOff x="7465384" y="3849138"/>
              <a:chExt cx="648329" cy="648421"/>
            </a:xfrm>
          </p:grpSpPr>
          <p:grpSp>
            <p:nvGrpSpPr>
              <p:cNvPr id="37" name="Group 36">
                <a:extLst>
                  <a:ext uri="{FF2B5EF4-FFF2-40B4-BE49-F238E27FC236}">
                    <a16:creationId xmlns:a16="http://schemas.microsoft.com/office/drawing/2014/main" id="{BD0BD5A1-A5E2-4AE5-A0DA-7814A59E31B9}"/>
                  </a:ext>
                </a:extLst>
              </p:cNvPr>
              <p:cNvGrpSpPr/>
              <p:nvPr/>
            </p:nvGrpSpPr>
            <p:grpSpPr>
              <a:xfrm>
                <a:off x="7465384" y="3849138"/>
                <a:ext cx="648329" cy="648421"/>
                <a:chOff x="7465384" y="3849138"/>
                <a:chExt cx="648329" cy="648421"/>
              </a:xfrm>
            </p:grpSpPr>
            <p:sp>
              <p:nvSpPr>
                <p:cNvPr id="295" name="Freeform 5">
                  <a:extLst>
                    <a:ext uri="{FF2B5EF4-FFF2-40B4-BE49-F238E27FC236}">
                      <a16:creationId xmlns:a16="http://schemas.microsoft.com/office/drawing/2014/main" id="{AEC8F748-5A1D-48AE-9734-03FB168C7969}"/>
                    </a:ext>
                  </a:extLst>
                </p:cNvPr>
                <p:cNvSpPr>
                  <a:spLocks/>
                </p:cNvSpPr>
                <p:nvPr/>
              </p:nvSpPr>
              <p:spPr bwMode="auto">
                <a:xfrm>
                  <a:off x="7465384" y="3849138"/>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96" name="Freeform 6">
                  <a:extLst>
                    <a:ext uri="{FF2B5EF4-FFF2-40B4-BE49-F238E27FC236}">
                      <a16:creationId xmlns:a16="http://schemas.microsoft.com/office/drawing/2014/main" id="{A052CBFC-AE43-4D3C-90BA-25BE664B3444}"/>
                    </a:ext>
                  </a:extLst>
                </p:cNvPr>
                <p:cNvSpPr>
                  <a:spLocks noEditPoints="1"/>
                </p:cNvSpPr>
                <p:nvPr/>
              </p:nvSpPr>
              <p:spPr bwMode="auto">
                <a:xfrm>
                  <a:off x="7509969" y="3894255"/>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9" name="Picture 18" descr="Icon of a screen with dots">
                <a:extLst>
                  <a:ext uri="{FF2B5EF4-FFF2-40B4-BE49-F238E27FC236}">
                    <a16:creationId xmlns:a16="http://schemas.microsoft.com/office/drawing/2014/main" id="{8E4535D7-6290-48FF-B3F7-FD97910E1A00}"/>
                  </a:ext>
                </a:extLst>
              </p:cNvPr>
              <p:cNvPicPr>
                <a:picLocks noChangeAspect="1"/>
              </p:cNvPicPr>
              <p:nvPr/>
            </p:nvPicPr>
            <p:blipFill>
              <a:blip r:embed="rId7"/>
              <a:stretch>
                <a:fillRect/>
              </a:stretch>
            </p:blipFill>
            <p:spPr>
              <a:xfrm>
                <a:off x="7620683" y="4046628"/>
                <a:ext cx="337732" cy="253437"/>
              </a:xfrm>
              <a:prstGeom prst="rect">
                <a:avLst/>
              </a:prstGeom>
            </p:spPr>
          </p:pic>
        </p:grpSp>
      </p:grpSp>
    </p:spTree>
    <p:extLst>
      <p:ext uri="{BB962C8B-B14F-4D97-AF65-F5344CB8AC3E}">
        <p14:creationId xmlns:p14="http://schemas.microsoft.com/office/powerpoint/2010/main" val="1938514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13FE2-5230-45AC-8B59-F650A65773FB}"/>
              </a:ext>
            </a:extLst>
          </p:cNvPr>
          <p:cNvSpPr>
            <a:spLocks noGrp="1"/>
          </p:cNvSpPr>
          <p:nvPr>
            <p:ph type="title"/>
          </p:nvPr>
        </p:nvSpPr>
        <p:spPr/>
        <p:txBody>
          <a:bodyPr/>
          <a:lstStyle/>
          <a:p>
            <a:r>
              <a:rPr lang="en-US" dirty="0">
                <a:solidFill>
                  <a:schemeClr val="tx1"/>
                </a:solidFill>
              </a:rPr>
              <a:t>Configure Application Gateway</a:t>
            </a:r>
          </a:p>
        </p:txBody>
      </p:sp>
      <p:sp>
        <p:nvSpPr>
          <p:cNvPr id="4" name="Rectangle 3">
            <a:extLst>
              <a:ext uri="{FF2B5EF4-FFF2-40B4-BE49-F238E27FC236}">
                <a16:creationId xmlns:a16="http://schemas.microsoft.com/office/drawing/2014/main" id="{B121C80F-72FB-4122-A278-AE5A1D809509}"/>
              </a:ext>
            </a:extLst>
          </p:cNvPr>
          <p:cNvSpPr/>
          <p:nvPr/>
        </p:nvSpPr>
        <p:spPr>
          <a:xfrm>
            <a:off x="423314" y="1169263"/>
            <a:ext cx="2611459" cy="68298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Frontend IP</a:t>
            </a:r>
          </a:p>
        </p:txBody>
      </p:sp>
      <p:sp>
        <p:nvSpPr>
          <p:cNvPr id="5" name="Rectangle 4">
            <a:extLst>
              <a:ext uri="{FF2B5EF4-FFF2-40B4-BE49-F238E27FC236}">
                <a16:creationId xmlns:a16="http://schemas.microsoft.com/office/drawing/2014/main" id="{10ED4579-96A4-43F1-B0AE-58ADAD88576D}"/>
              </a:ext>
            </a:extLst>
          </p:cNvPr>
          <p:cNvSpPr/>
          <p:nvPr/>
        </p:nvSpPr>
        <p:spPr>
          <a:xfrm>
            <a:off x="423314" y="2000532"/>
            <a:ext cx="2611459" cy="68298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Listeners</a:t>
            </a:r>
          </a:p>
        </p:txBody>
      </p:sp>
      <p:sp>
        <p:nvSpPr>
          <p:cNvPr id="6" name="Rectangle 5">
            <a:extLst>
              <a:ext uri="{FF2B5EF4-FFF2-40B4-BE49-F238E27FC236}">
                <a16:creationId xmlns:a16="http://schemas.microsoft.com/office/drawing/2014/main" id="{B24E9653-FC14-45D3-B782-D5465D834BBD}"/>
              </a:ext>
            </a:extLst>
          </p:cNvPr>
          <p:cNvSpPr/>
          <p:nvPr/>
        </p:nvSpPr>
        <p:spPr>
          <a:xfrm>
            <a:off x="423314" y="2831800"/>
            <a:ext cx="2611459" cy="68298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Routing rules</a:t>
            </a:r>
          </a:p>
        </p:txBody>
      </p:sp>
      <p:sp>
        <p:nvSpPr>
          <p:cNvPr id="7" name="Rectangle 6">
            <a:extLst>
              <a:ext uri="{FF2B5EF4-FFF2-40B4-BE49-F238E27FC236}">
                <a16:creationId xmlns:a16="http://schemas.microsoft.com/office/drawing/2014/main" id="{4D2F20E0-AF52-4C9A-8DA5-3AD8CC45697B}"/>
              </a:ext>
            </a:extLst>
          </p:cNvPr>
          <p:cNvSpPr/>
          <p:nvPr/>
        </p:nvSpPr>
        <p:spPr>
          <a:xfrm>
            <a:off x="423314" y="3663068"/>
            <a:ext cx="2611459" cy="68298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Backend pools</a:t>
            </a:r>
          </a:p>
        </p:txBody>
      </p:sp>
      <p:sp>
        <p:nvSpPr>
          <p:cNvPr id="9" name="Rectangle 8">
            <a:extLst>
              <a:ext uri="{FF2B5EF4-FFF2-40B4-BE49-F238E27FC236}">
                <a16:creationId xmlns:a16="http://schemas.microsoft.com/office/drawing/2014/main" id="{CBC0BE49-A224-410C-878B-F512D977DD55}"/>
              </a:ext>
            </a:extLst>
          </p:cNvPr>
          <p:cNvSpPr/>
          <p:nvPr/>
        </p:nvSpPr>
        <p:spPr>
          <a:xfrm>
            <a:off x="423314" y="4494337"/>
            <a:ext cx="2611459" cy="9345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Web application firewall (optional)</a:t>
            </a:r>
          </a:p>
        </p:txBody>
      </p:sp>
      <p:sp>
        <p:nvSpPr>
          <p:cNvPr id="8" name="Rectangle 7">
            <a:extLst>
              <a:ext uri="{FF2B5EF4-FFF2-40B4-BE49-F238E27FC236}">
                <a16:creationId xmlns:a16="http://schemas.microsoft.com/office/drawing/2014/main" id="{2432F561-A45A-4C1B-8433-2C9A716CCCFE}"/>
              </a:ext>
            </a:extLst>
          </p:cNvPr>
          <p:cNvSpPr/>
          <p:nvPr/>
        </p:nvSpPr>
        <p:spPr>
          <a:xfrm>
            <a:off x="423314" y="5554191"/>
            <a:ext cx="2611459" cy="68298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Health probes</a:t>
            </a:r>
          </a:p>
        </p:txBody>
      </p:sp>
      <p:sp>
        <p:nvSpPr>
          <p:cNvPr id="3" name="Rectangle 2">
            <a:extLst>
              <a:ext uri="{FF2B5EF4-FFF2-40B4-BE49-F238E27FC236}">
                <a16:creationId xmlns:a16="http://schemas.microsoft.com/office/drawing/2014/main" id="{0543E1E2-97F4-40D9-9F4B-0FDF2E790FA8}"/>
              </a:ext>
              <a:ext uri="{C183D7F6-B498-43B3-948B-1728B52AA6E4}">
                <adec:decorative xmlns:adec="http://schemas.microsoft.com/office/drawing/2017/decorative" val="1"/>
              </a:ext>
            </a:extLst>
          </p:cNvPr>
          <p:cNvSpPr/>
          <p:nvPr/>
        </p:nvSpPr>
        <p:spPr bwMode="auto">
          <a:xfrm>
            <a:off x="3185514" y="1169264"/>
            <a:ext cx="8587844" cy="5067911"/>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pic>
        <p:nvPicPr>
          <p:cNvPr id="10" name="Picture 9" descr="Flowchart top to bottom: frontend IP, listener, rule, and backend instances">
            <a:extLst>
              <a:ext uri="{FF2B5EF4-FFF2-40B4-BE49-F238E27FC236}">
                <a16:creationId xmlns:a16="http://schemas.microsoft.com/office/drawing/2014/main" id="{59E46486-0FBE-49E9-B5B6-C150C2D8BB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1974" y="1538103"/>
            <a:ext cx="8049148" cy="4575502"/>
          </a:xfrm>
          <a:prstGeom prst="rect">
            <a:avLst/>
          </a:prstGeom>
        </p:spPr>
      </p:pic>
    </p:spTree>
    <p:extLst>
      <p:ext uri="{BB962C8B-B14F-4D97-AF65-F5344CB8AC3E}">
        <p14:creationId xmlns:p14="http://schemas.microsoft.com/office/powerpoint/2010/main" val="269055743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0A907-3206-4C8D-B651-76ED70E02C2B}"/>
              </a:ext>
            </a:extLst>
          </p:cNvPr>
          <p:cNvSpPr>
            <a:spLocks noGrp="1"/>
          </p:cNvSpPr>
          <p:nvPr>
            <p:ph type="title"/>
          </p:nvPr>
        </p:nvSpPr>
        <p:spPr/>
        <p:txBody>
          <a:bodyPr/>
          <a:lstStyle/>
          <a:p>
            <a:r>
              <a:rPr lang="en-US" dirty="0"/>
              <a:t>Configure health probes </a:t>
            </a:r>
          </a:p>
        </p:txBody>
      </p:sp>
      <p:sp>
        <p:nvSpPr>
          <p:cNvPr id="7" name="Rectangle 6">
            <a:extLst>
              <a:ext uri="{FF2B5EF4-FFF2-40B4-BE49-F238E27FC236}">
                <a16:creationId xmlns:a16="http://schemas.microsoft.com/office/drawing/2014/main" id="{8F7011E9-0553-4069-B511-105CCF0EF51B}"/>
              </a:ext>
              <a:ext uri="{C183D7F6-B498-43B3-948B-1728B52AA6E4}">
                <adec:decorative xmlns:adec="http://schemas.microsoft.com/office/drawing/2017/decorative" val="1"/>
              </a:ext>
            </a:extLst>
          </p:cNvPr>
          <p:cNvSpPr/>
          <p:nvPr/>
        </p:nvSpPr>
        <p:spPr bwMode="auto">
          <a:xfrm>
            <a:off x="6096000" y="1169263"/>
            <a:ext cx="5680664" cy="4667866"/>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
        <p:nvSpPr>
          <p:cNvPr id="9" name="TextBox 1">
            <a:extLst>
              <a:ext uri="{FF2B5EF4-FFF2-40B4-BE49-F238E27FC236}">
                <a16:creationId xmlns:a16="http://schemas.microsoft.com/office/drawing/2014/main" id="{9CA9FDEF-7587-4876-B9B8-B1CA29A6B3C3}"/>
              </a:ext>
            </a:extLst>
          </p:cNvPr>
          <p:cNvSpPr txBox="1"/>
          <p:nvPr/>
        </p:nvSpPr>
        <p:spPr>
          <a:xfrm>
            <a:off x="455995" y="1415865"/>
            <a:ext cx="4937760" cy="1280160"/>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Default health probe</a:t>
            </a:r>
          </a:p>
        </p:txBody>
      </p:sp>
      <p:sp>
        <p:nvSpPr>
          <p:cNvPr id="11" name="TextBox 1">
            <a:extLst>
              <a:ext uri="{FF2B5EF4-FFF2-40B4-BE49-F238E27FC236}">
                <a16:creationId xmlns:a16="http://schemas.microsoft.com/office/drawing/2014/main" id="{3409D6C6-BAD5-4165-BD09-6E2BFAEAD1F8}"/>
              </a:ext>
            </a:extLst>
          </p:cNvPr>
          <p:cNvSpPr txBox="1"/>
          <p:nvPr/>
        </p:nvSpPr>
        <p:spPr>
          <a:xfrm>
            <a:off x="455995" y="2966434"/>
            <a:ext cx="4937760" cy="1280160"/>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Custom health probe </a:t>
            </a:r>
          </a:p>
        </p:txBody>
      </p:sp>
      <p:sp>
        <p:nvSpPr>
          <p:cNvPr id="13" name="TextBox 1">
            <a:extLst>
              <a:ext uri="{FF2B5EF4-FFF2-40B4-BE49-F238E27FC236}">
                <a16:creationId xmlns:a16="http://schemas.microsoft.com/office/drawing/2014/main" id="{21B61771-6986-41D3-B899-6C5A31D602D2}"/>
              </a:ext>
            </a:extLst>
          </p:cNvPr>
          <p:cNvSpPr txBox="1"/>
          <p:nvPr/>
        </p:nvSpPr>
        <p:spPr>
          <a:xfrm>
            <a:off x="455995" y="4556969"/>
            <a:ext cx="4937760" cy="1280160"/>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Probe matching </a:t>
            </a:r>
          </a:p>
        </p:txBody>
      </p:sp>
      <p:pic>
        <p:nvPicPr>
          <p:cNvPr id="4" name="Picture 3" descr="Azure portal screenshot add health probe to an application gateway ">
            <a:extLst>
              <a:ext uri="{FF2B5EF4-FFF2-40B4-BE49-F238E27FC236}">
                <a16:creationId xmlns:a16="http://schemas.microsoft.com/office/drawing/2014/main" id="{8FF8328E-DCAE-4A4D-9F55-373C8EB48A8B}"/>
              </a:ext>
            </a:extLst>
          </p:cNvPr>
          <p:cNvPicPr>
            <a:picLocks noChangeAspect="1"/>
          </p:cNvPicPr>
          <p:nvPr/>
        </p:nvPicPr>
        <p:blipFill>
          <a:blip r:embed="rId3"/>
          <a:stretch>
            <a:fillRect/>
          </a:stretch>
        </p:blipFill>
        <p:spPr>
          <a:xfrm>
            <a:off x="6498954" y="1233194"/>
            <a:ext cx="4874755" cy="4603935"/>
          </a:xfrm>
          <a:prstGeom prst="rect">
            <a:avLst/>
          </a:prstGeom>
        </p:spPr>
      </p:pic>
    </p:spTree>
    <p:extLst>
      <p:ext uri="{BB962C8B-B14F-4D97-AF65-F5344CB8AC3E}">
        <p14:creationId xmlns:p14="http://schemas.microsoft.com/office/powerpoint/2010/main" val="306591282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FC652-61D8-4F59-B4EA-78F990D15E69}"/>
              </a:ext>
            </a:extLst>
          </p:cNvPr>
          <p:cNvSpPr>
            <a:spLocks noGrp="1"/>
          </p:cNvSpPr>
          <p:nvPr>
            <p:ph type="title"/>
          </p:nvPr>
        </p:nvSpPr>
        <p:spPr/>
        <p:txBody>
          <a:bodyPr/>
          <a:lstStyle/>
          <a:p>
            <a:r>
              <a:rPr lang="en-US" dirty="0"/>
              <a:t>Configure listeners </a:t>
            </a:r>
          </a:p>
        </p:txBody>
      </p:sp>
      <p:sp>
        <p:nvSpPr>
          <p:cNvPr id="4" name="Rectangle 3">
            <a:extLst>
              <a:ext uri="{FF2B5EF4-FFF2-40B4-BE49-F238E27FC236}">
                <a16:creationId xmlns:a16="http://schemas.microsoft.com/office/drawing/2014/main" id="{D0D8078E-26FF-4CDE-ADE3-AEE3EF57D479}"/>
              </a:ext>
            </a:extLst>
          </p:cNvPr>
          <p:cNvSpPr/>
          <p:nvPr/>
        </p:nvSpPr>
        <p:spPr>
          <a:xfrm>
            <a:off x="455995" y="1374703"/>
            <a:ext cx="5100664" cy="68298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Basic or Multi Site</a:t>
            </a:r>
          </a:p>
        </p:txBody>
      </p:sp>
      <p:sp>
        <p:nvSpPr>
          <p:cNvPr id="6" name="Rectangle 5">
            <a:extLst>
              <a:ext uri="{FF2B5EF4-FFF2-40B4-BE49-F238E27FC236}">
                <a16:creationId xmlns:a16="http://schemas.microsoft.com/office/drawing/2014/main" id="{3893AC94-54E6-4C90-8C09-0C668495815D}"/>
              </a:ext>
            </a:extLst>
          </p:cNvPr>
          <p:cNvSpPr/>
          <p:nvPr/>
        </p:nvSpPr>
        <p:spPr>
          <a:xfrm>
            <a:off x="455995" y="2307398"/>
            <a:ext cx="5100664" cy="68298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Order of Processing Listeners </a:t>
            </a:r>
          </a:p>
        </p:txBody>
      </p:sp>
      <p:sp>
        <p:nvSpPr>
          <p:cNvPr id="8" name="Rectangle 7">
            <a:extLst>
              <a:ext uri="{FF2B5EF4-FFF2-40B4-BE49-F238E27FC236}">
                <a16:creationId xmlns:a16="http://schemas.microsoft.com/office/drawing/2014/main" id="{E838FC8B-BB53-41E7-96EC-A75DDF1094C9}"/>
              </a:ext>
            </a:extLst>
          </p:cNvPr>
          <p:cNvSpPr/>
          <p:nvPr/>
        </p:nvSpPr>
        <p:spPr>
          <a:xfrm>
            <a:off x="455995" y="3198749"/>
            <a:ext cx="5100664" cy="68298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Frontend IP address</a:t>
            </a:r>
          </a:p>
        </p:txBody>
      </p:sp>
      <p:sp>
        <p:nvSpPr>
          <p:cNvPr id="10" name="Rectangle 9">
            <a:extLst>
              <a:ext uri="{FF2B5EF4-FFF2-40B4-BE49-F238E27FC236}">
                <a16:creationId xmlns:a16="http://schemas.microsoft.com/office/drawing/2014/main" id="{E1835CA6-4CB9-465D-8C2A-9EF96A8F66F7}"/>
              </a:ext>
            </a:extLst>
          </p:cNvPr>
          <p:cNvSpPr/>
          <p:nvPr/>
        </p:nvSpPr>
        <p:spPr>
          <a:xfrm>
            <a:off x="455995" y="4136788"/>
            <a:ext cx="5100664" cy="68298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Frontend Port</a:t>
            </a:r>
          </a:p>
        </p:txBody>
      </p:sp>
      <p:sp>
        <p:nvSpPr>
          <p:cNvPr id="12" name="Rectangle 11">
            <a:extLst>
              <a:ext uri="{FF2B5EF4-FFF2-40B4-BE49-F238E27FC236}">
                <a16:creationId xmlns:a16="http://schemas.microsoft.com/office/drawing/2014/main" id="{772F4AF6-934E-45B0-BC45-C97E14C8D438}"/>
              </a:ext>
            </a:extLst>
          </p:cNvPr>
          <p:cNvSpPr/>
          <p:nvPr/>
        </p:nvSpPr>
        <p:spPr>
          <a:xfrm>
            <a:off x="455995" y="5074827"/>
            <a:ext cx="5100664" cy="9345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Protocol HTTP or HTTPS</a:t>
            </a:r>
          </a:p>
        </p:txBody>
      </p:sp>
      <p:pic>
        <p:nvPicPr>
          <p:cNvPr id="15" name="Picture 14" descr="app gateway listener configuration ">
            <a:extLst>
              <a:ext uri="{FF2B5EF4-FFF2-40B4-BE49-F238E27FC236}">
                <a16:creationId xmlns:a16="http://schemas.microsoft.com/office/drawing/2014/main" id="{097C9E31-BCD3-4B20-B2BF-5469E75E5877}"/>
              </a:ext>
            </a:extLst>
          </p:cNvPr>
          <p:cNvPicPr/>
          <p:nvPr/>
        </p:nvPicPr>
        <p:blipFill>
          <a:blip r:embed="rId2"/>
          <a:stretch>
            <a:fillRect/>
          </a:stretch>
        </p:blipFill>
        <p:spPr bwMode="auto">
          <a:xfrm>
            <a:off x="6870032" y="1315922"/>
            <a:ext cx="4016492" cy="4372815"/>
          </a:xfrm>
          <a:prstGeom prst="rect">
            <a:avLst/>
          </a:prstGeom>
          <a:noFill/>
          <a:ln>
            <a:noFill/>
          </a:ln>
        </p:spPr>
      </p:pic>
      <p:sp>
        <p:nvSpPr>
          <p:cNvPr id="17" name="Rectangle 16">
            <a:extLst>
              <a:ext uri="{FF2B5EF4-FFF2-40B4-BE49-F238E27FC236}">
                <a16:creationId xmlns:a16="http://schemas.microsoft.com/office/drawing/2014/main" id="{9727B727-426F-4BBF-A207-59EF62EF54B8}"/>
              </a:ext>
              <a:ext uri="{C183D7F6-B498-43B3-948B-1728B52AA6E4}">
                <adec:decorative xmlns:adec="http://schemas.microsoft.com/office/drawing/2017/decorative" val="1"/>
              </a:ext>
            </a:extLst>
          </p:cNvPr>
          <p:cNvSpPr/>
          <p:nvPr/>
        </p:nvSpPr>
        <p:spPr bwMode="auto">
          <a:xfrm>
            <a:off x="6096000" y="1169263"/>
            <a:ext cx="5680664" cy="4667866"/>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47790969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77F00-4159-423C-B2E4-66F4E794D598}"/>
              </a:ext>
            </a:extLst>
          </p:cNvPr>
          <p:cNvSpPr>
            <a:spLocks noGrp="1"/>
          </p:cNvSpPr>
          <p:nvPr>
            <p:ph type="title"/>
          </p:nvPr>
        </p:nvSpPr>
        <p:spPr/>
        <p:txBody>
          <a:bodyPr/>
          <a:lstStyle/>
          <a:p>
            <a:r>
              <a:rPr lang="en-US" dirty="0"/>
              <a:t>Redirection overview </a:t>
            </a:r>
          </a:p>
        </p:txBody>
      </p:sp>
      <p:sp>
        <p:nvSpPr>
          <p:cNvPr id="4" name="Rectangle 3">
            <a:extLst>
              <a:ext uri="{FF2B5EF4-FFF2-40B4-BE49-F238E27FC236}">
                <a16:creationId xmlns:a16="http://schemas.microsoft.com/office/drawing/2014/main" id="{F63C17D1-4C38-44BB-9BFE-B4A19699A122}"/>
              </a:ext>
            </a:extLst>
          </p:cNvPr>
          <p:cNvSpPr/>
          <p:nvPr/>
        </p:nvSpPr>
        <p:spPr>
          <a:xfrm>
            <a:off x="435830" y="1263995"/>
            <a:ext cx="6469467" cy="15022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1961" b="1" dirty="0">
                <a:solidFill>
                  <a:schemeClr val="tx1"/>
                </a:solidFill>
              </a:rPr>
              <a:t>Global redirection</a:t>
            </a:r>
            <a:r>
              <a:rPr lang="en-US" sz="1961" dirty="0">
                <a:solidFill>
                  <a:schemeClr val="tx1"/>
                </a:solidFill>
              </a:rPr>
              <a:t>: Redirects from one listener to another listener on the gateway. This enables HTTP to HTTPS redirection on a site</a:t>
            </a:r>
          </a:p>
        </p:txBody>
      </p:sp>
      <p:sp>
        <p:nvSpPr>
          <p:cNvPr id="6" name="Rectangle 5">
            <a:extLst>
              <a:ext uri="{FF2B5EF4-FFF2-40B4-BE49-F238E27FC236}">
                <a16:creationId xmlns:a16="http://schemas.microsoft.com/office/drawing/2014/main" id="{DCD0F49C-A155-46A9-8CD1-9F64EDCB81ED}"/>
              </a:ext>
            </a:extLst>
          </p:cNvPr>
          <p:cNvSpPr/>
          <p:nvPr/>
        </p:nvSpPr>
        <p:spPr>
          <a:xfrm>
            <a:off x="435828" y="3034916"/>
            <a:ext cx="6469467" cy="15022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1961" b="1" dirty="0">
                <a:solidFill>
                  <a:schemeClr val="tx1"/>
                </a:solidFill>
              </a:rPr>
              <a:t>Path-based redirection:</a:t>
            </a:r>
            <a:r>
              <a:rPr lang="en-US" sz="2400" b="1" dirty="0">
                <a:solidFill>
                  <a:schemeClr val="tx1"/>
                </a:solidFill>
                <a:cs typeface="Segoe UI Semilight"/>
              </a:rPr>
              <a:t> </a:t>
            </a:r>
            <a:r>
              <a:rPr lang="en-US" sz="1961" dirty="0">
                <a:solidFill>
                  <a:schemeClr val="tx1"/>
                </a:solidFill>
              </a:rPr>
              <a:t>Enables HTTP to HTTPS redirection only on a specific site area, for example a shopping cart area denoted by /cart/*.</a:t>
            </a:r>
          </a:p>
        </p:txBody>
      </p:sp>
      <p:sp>
        <p:nvSpPr>
          <p:cNvPr id="8" name="Rectangle 7">
            <a:extLst>
              <a:ext uri="{FF2B5EF4-FFF2-40B4-BE49-F238E27FC236}">
                <a16:creationId xmlns:a16="http://schemas.microsoft.com/office/drawing/2014/main" id="{FFF26B04-A253-4DA5-B45F-239A0391640C}"/>
              </a:ext>
            </a:extLst>
          </p:cNvPr>
          <p:cNvSpPr/>
          <p:nvPr/>
        </p:nvSpPr>
        <p:spPr>
          <a:xfrm>
            <a:off x="435829" y="4820803"/>
            <a:ext cx="6469466" cy="15022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1961" b="1" dirty="0">
                <a:solidFill>
                  <a:schemeClr val="tx1"/>
                </a:solidFill>
              </a:rPr>
              <a:t>Redirect to external site:  </a:t>
            </a:r>
            <a:r>
              <a:rPr lang="en-US" sz="1961" dirty="0">
                <a:solidFill>
                  <a:schemeClr val="tx1"/>
                </a:solidFill>
              </a:rPr>
              <a:t>Requires a new redirect configuration object, which specifies the target listener or external site to which redirection is desired</a:t>
            </a:r>
          </a:p>
        </p:txBody>
      </p:sp>
      <p:sp>
        <p:nvSpPr>
          <p:cNvPr id="10" name="Rectangle 9">
            <a:extLst>
              <a:ext uri="{FF2B5EF4-FFF2-40B4-BE49-F238E27FC236}">
                <a16:creationId xmlns:a16="http://schemas.microsoft.com/office/drawing/2014/main" id="{C849918D-1D3A-4DDF-B23B-416FD643957B}"/>
              </a:ext>
            </a:extLst>
          </p:cNvPr>
          <p:cNvSpPr/>
          <p:nvPr/>
        </p:nvSpPr>
        <p:spPr>
          <a:xfrm>
            <a:off x="7383169" y="1416395"/>
            <a:ext cx="4504032" cy="454297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l"/>
            <a:r>
              <a:rPr lang="en-US" sz="1961" dirty="0">
                <a:solidFill>
                  <a:schemeClr val="tx1"/>
                </a:solidFill>
              </a:rPr>
              <a:t>The following types of redirection are supported:</a:t>
            </a:r>
          </a:p>
          <a:p>
            <a:pPr algn="l"/>
            <a:endParaRPr lang="en-US" sz="1961" dirty="0">
              <a:solidFill>
                <a:schemeClr val="tx1"/>
              </a:solidFill>
            </a:endParaRPr>
          </a:p>
          <a:p>
            <a:pPr marL="342900" indent="-342900" algn="l">
              <a:buFont typeface="Arial" panose="020B0604020202020204" pitchFamily="34" charset="0"/>
              <a:buChar char="•"/>
            </a:pPr>
            <a:r>
              <a:rPr lang="en-US" sz="1961" dirty="0">
                <a:solidFill>
                  <a:schemeClr val="tx1"/>
                </a:solidFill>
              </a:rPr>
              <a:t>301 Permanent Redirect</a:t>
            </a:r>
          </a:p>
          <a:p>
            <a:pPr marL="342900" indent="-342900" algn="l">
              <a:buFont typeface="Arial" panose="020B0604020202020204" pitchFamily="34" charset="0"/>
              <a:buChar char="•"/>
            </a:pPr>
            <a:r>
              <a:rPr lang="en-US" sz="1961" dirty="0">
                <a:solidFill>
                  <a:schemeClr val="tx1"/>
                </a:solidFill>
              </a:rPr>
              <a:t>302 Found</a:t>
            </a:r>
          </a:p>
          <a:p>
            <a:pPr marL="342900" indent="-342900" algn="l">
              <a:buFont typeface="Arial" panose="020B0604020202020204" pitchFamily="34" charset="0"/>
              <a:buChar char="•"/>
            </a:pPr>
            <a:r>
              <a:rPr lang="en-US" sz="1961" dirty="0">
                <a:solidFill>
                  <a:schemeClr val="tx1"/>
                </a:solidFill>
              </a:rPr>
              <a:t>303 See Other</a:t>
            </a:r>
          </a:p>
          <a:p>
            <a:pPr marL="342900" indent="-342900" algn="l">
              <a:buFont typeface="Arial" panose="020B0604020202020204" pitchFamily="34" charset="0"/>
              <a:buChar char="•"/>
            </a:pPr>
            <a:r>
              <a:rPr lang="en-US" sz="1961" dirty="0">
                <a:solidFill>
                  <a:schemeClr val="tx1"/>
                </a:solidFill>
              </a:rPr>
              <a:t>307 Temporary Redirect</a:t>
            </a:r>
          </a:p>
        </p:txBody>
      </p:sp>
    </p:spTree>
    <p:extLst>
      <p:ext uri="{BB962C8B-B14F-4D97-AF65-F5344CB8AC3E}">
        <p14:creationId xmlns:p14="http://schemas.microsoft.com/office/powerpoint/2010/main" val="362323030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B665E-9836-40AC-BCD4-44BA2BBE27F4}"/>
              </a:ext>
            </a:extLst>
          </p:cNvPr>
          <p:cNvSpPr>
            <a:spLocks noGrp="1"/>
          </p:cNvSpPr>
          <p:nvPr>
            <p:ph type="title"/>
          </p:nvPr>
        </p:nvSpPr>
        <p:spPr>
          <a:xfrm>
            <a:off x="455995" y="623224"/>
            <a:ext cx="11306469" cy="397545"/>
          </a:xfrm>
        </p:spPr>
        <p:txBody>
          <a:bodyPr/>
          <a:lstStyle/>
          <a:p>
            <a:r>
              <a:rPr lang="en-US" sz="2800" dirty="0"/>
              <a:t>Application Gateway Request routing rules</a:t>
            </a:r>
            <a:endParaRPr lang="en-US" dirty="0"/>
          </a:p>
        </p:txBody>
      </p:sp>
      <p:sp>
        <p:nvSpPr>
          <p:cNvPr id="4" name="Rectangle 3">
            <a:extLst>
              <a:ext uri="{FF2B5EF4-FFF2-40B4-BE49-F238E27FC236}">
                <a16:creationId xmlns:a16="http://schemas.microsoft.com/office/drawing/2014/main" id="{853FC0DF-EE6F-4E94-94A9-76B467E6D846}"/>
              </a:ext>
            </a:extLst>
          </p:cNvPr>
          <p:cNvSpPr/>
          <p:nvPr/>
        </p:nvSpPr>
        <p:spPr>
          <a:xfrm>
            <a:off x="465138" y="1292773"/>
            <a:ext cx="3753661" cy="506897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pPr>
              <a:lnSpc>
                <a:spcPct val="110000"/>
              </a:lnSpc>
            </a:pPr>
            <a:r>
              <a:rPr lang="en-US" sz="2000" b="1" dirty="0">
                <a:solidFill>
                  <a:schemeClr val="tx1"/>
                </a:solidFill>
              </a:rPr>
              <a:t>Rule Types: </a:t>
            </a:r>
          </a:p>
          <a:p>
            <a:pPr>
              <a:lnSpc>
                <a:spcPct val="110000"/>
              </a:lnSpc>
            </a:pPr>
            <a:endParaRPr lang="en-US" sz="2000" dirty="0">
              <a:solidFill>
                <a:schemeClr val="tx1"/>
              </a:solidFill>
            </a:endParaRPr>
          </a:p>
          <a:p>
            <a:pPr>
              <a:lnSpc>
                <a:spcPct val="110000"/>
              </a:lnSpc>
            </a:pPr>
            <a:r>
              <a:rPr lang="en-US" sz="2000" b="1" dirty="0">
                <a:solidFill>
                  <a:schemeClr val="tx1"/>
                </a:solidFill>
              </a:rPr>
              <a:t>Basic</a:t>
            </a:r>
            <a:r>
              <a:rPr lang="en-US" sz="2000" dirty="0">
                <a:solidFill>
                  <a:schemeClr val="tx1"/>
                </a:solidFill>
              </a:rPr>
              <a:t> </a:t>
            </a:r>
          </a:p>
          <a:p>
            <a:pPr>
              <a:lnSpc>
                <a:spcPct val="110000"/>
              </a:lnSpc>
            </a:pPr>
            <a:r>
              <a:rPr lang="en-US" sz="2000" b="1" dirty="0">
                <a:solidFill>
                  <a:schemeClr val="tx1"/>
                </a:solidFill>
              </a:rPr>
              <a:t>Path-based</a:t>
            </a:r>
            <a:r>
              <a:rPr lang="en-US" sz="2000" dirty="0">
                <a:solidFill>
                  <a:schemeClr val="tx1"/>
                </a:solidFill>
              </a:rPr>
              <a:t> </a:t>
            </a:r>
          </a:p>
          <a:p>
            <a:pPr>
              <a:lnSpc>
                <a:spcPct val="110000"/>
              </a:lnSpc>
            </a:pPr>
            <a:endParaRPr lang="en-US" sz="2000" dirty="0">
              <a:solidFill>
                <a:schemeClr val="tx1"/>
              </a:solidFill>
            </a:endParaRPr>
          </a:p>
          <a:p>
            <a:pPr>
              <a:lnSpc>
                <a:spcPct val="110000"/>
              </a:lnSpc>
            </a:pPr>
            <a:endParaRPr lang="en-US" sz="2000" dirty="0">
              <a:solidFill>
                <a:schemeClr val="tx1"/>
              </a:solidFill>
            </a:endParaRPr>
          </a:p>
          <a:p>
            <a:pPr>
              <a:lnSpc>
                <a:spcPct val="110000"/>
              </a:lnSpc>
            </a:pPr>
            <a:r>
              <a:rPr lang="en-US" sz="2000" b="1" dirty="0">
                <a:solidFill>
                  <a:schemeClr val="tx1"/>
                </a:solidFill>
                <a:latin typeface="+mj-lt"/>
              </a:rPr>
              <a:t>Order of processing rules</a:t>
            </a:r>
          </a:p>
          <a:p>
            <a:pPr>
              <a:lnSpc>
                <a:spcPct val="110000"/>
              </a:lnSpc>
            </a:pPr>
            <a:r>
              <a:rPr lang="en-US" sz="2000" dirty="0">
                <a:solidFill>
                  <a:schemeClr val="tx1"/>
                </a:solidFill>
              </a:rPr>
              <a:t>For the v1 and v2 SKU, pattern matching of incoming requests is processed in the order that the paths are listed in the URL path map of the path-based rule. </a:t>
            </a:r>
          </a:p>
          <a:p>
            <a:pPr>
              <a:lnSpc>
                <a:spcPct val="110000"/>
              </a:lnSpc>
            </a:pPr>
            <a:endParaRPr lang="en-US" sz="2000" dirty="0">
              <a:solidFill>
                <a:schemeClr val="tx1"/>
              </a:solidFill>
            </a:endParaRPr>
          </a:p>
        </p:txBody>
      </p:sp>
      <p:sp>
        <p:nvSpPr>
          <p:cNvPr id="8" name="Rectangle 7">
            <a:extLst>
              <a:ext uri="{FF2B5EF4-FFF2-40B4-BE49-F238E27FC236}">
                <a16:creationId xmlns:a16="http://schemas.microsoft.com/office/drawing/2014/main" id="{E490421C-5836-4874-928E-58AF44D25D4B}"/>
              </a:ext>
            </a:extLst>
          </p:cNvPr>
          <p:cNvSpPr/>
          <p:nvPr/>
        </p:nvSpPr>
        <p:spPr>
          <a:xfrm>
            <a:off x="4447090" y="1292774"/>
            <a:ext cx="3753661" cy="506897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pPr>
              <a:lnSpc>
                <a:spcPct val="110000"/>
              </a:lnSpc>
            </a:pPr>
            <a:r>
              <a:rPr lang="en-US" sz="2000" b="1" dirty="0">
                <a:solidFill>
                  <a:schemeClr val="tx1"/>
                </a:solidFill>
              </a:rPr>
              <a:t>Associated listener</a:t>
            </a:r>
          </a:p>
          <a:p>
            <a:pPr>
              <a:lnSpc>
                <a:spcPct val="110000"/>
              </a:lnSpc>
            </a:pPr>
            <a:endParaRPr lang="en-US" sz="2000" dirty="0">
              <a:solidFill>
                <a:schemeClr val="tx1"/>
              </a:solidFill>
            </a:endParaRPr>
          </a:p>
          <a:p>
            <a:pPr>
              <a:lnSpc>
                <a:spcPct val="110000"/>
              </a:lnSpc>
            </a:pPr>
            <a:r>
              <a:rPr lang="en-US" sz="2000" dirty="0">
                <a:solidFill>
                  <a:schemeClr val="tx1"/>
                </a:solidFill>
              </a:rPr>
              <a:t>Associate a listener to the rule so that the request-routing rule that's associated with the listener is evaluated to determine the back-end pool to route the request to.</a:t>
            </a:r>
          </a:p>
        </p:txBody>
      </p:sp>
      <p:sp>
        <p:nvSpPr>
          <p:cNvPr id="6" name="Rectangle 5">
            <a:extLst>
              <a:ext uri="{FF2B5EF4-FFF2-40B4-BE49-F238E27FC236}">
                <a16:creationId xmlns:a16="http://schemas.microsoft.com/office/drawing/2014/main" id="{10820E4D-D4A6-4BF4-9A0F-213A8155D70E}"/>
              </a:ext>
            </a:extLst>
          </p:cNvPr>
          <p:cNvSpPr/>
          <p:nvPr/>
        </p:nvSpPr>
        <p:spPr>
          <a:xfrm>
            <a:off x="8429042" y="1299808"/>
            <a:ext cx="3558965" cy="506897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pPr>
              <a:lnSpc>
                <a:spcPct val="110000"/>
              </a:lnSpc>
            </a:pPr>
            <a:r>
              <a:rPr lang="en-US" sz="2000" b="1" dirty="0">
                <a:solidFill>
                  <a:schemeClr val="tx1"/>
                </a:solidFill>
              </a:rPr>
              <a:t>Associated back-end pool</a:t>
            </a:r>
          </a:p>
          <a:p>
            <a:pPr>
              <a:lnSpc>
                <a:spcPct val="110000"/>
              </a:lnSpc>
            </a:pPr>
            <a:endParaRPr lang="en-US" sz="2000" dirty="0">
              <a:solidFill>
                <a:schemeClr val="tx1"/>
              </a:solidFill>
            </a:endParaRPr>
          </a:p>
          <a:p>
            <a:pPr>
              <a:lnSpc>
                <a:spcPct val="110000"/>
              </a:lnSpc>
            </a:pPr>
            <a:r>
              <a:rPr lang="en-US" sz="2000" b="1" dirty="0">
                <a:solidFill>
                  <a:schemeClr val="tx1"/>
                </a:solidFill>
              </a:rPr>
              <a:t>basic rule: </a:t>
            </a:r>
            <a:r>
              <a:rPr lang="en-US" sz="2000" dirty="0">
                <a:solidFill>
                  <a:schemeClr val="tx1"/>
                </a:solidFill>
              </a:rPr>
              <a:t>only one back-end pool is allowed. All requests on the associated listener are forwarded to that back-end pool.</a:t>
            </a:r>
          </a:p>
          <a:p>
            <a:pPr>
              <a:lnSpc>
                <a:spcPct val="110000"/>
              </a:lnSpc>
            </a:pPr>
            <a:endParaRPr lang="en-US" sz="2000" dirty="0">
              <a:solidFill>
                <a:schemeClr val="tx1"/>
              </a:solidFill>
            </a:endParaRPr>
          </a:p>
          <a:p>
            <a:pPr>
              <a:lnSpc>
                <a:spcPct val="110000"/>
              </a:lnSpc>
            </a:pPr>
            <a:r>
              <a:rPr lang="en-US" sz="2000" b="1" dirty="0">
                <a:solidFill>
                  <a:schemeClr val="tx1"/>
                </a:solidFill>
              </a:rPr>
              <a:t>path-based rule:</a:t>
            </a:r>
            <a:r>
              <a:rPr lang="en-US" sz="2000" dirty="0">
                <a:solidFill>
                  <a:schemeClr val="tx1"/>
                </a:solidFill>
              </a:rPr>
              <a:t> add multiple back-end pools that correspond to each URL path. The requests that match the URL path that's entered are forwarded to the corresponding back-end pool. </a:t>
            </a:r>
          </a:p>
        </p:txBody>
      </p:sp>
    </p:spTree>
    <p:extLst>
      <p:ext uri="{BB962C8B-B14F-4D97-AF65-F5344CB8AC3E}">
        <p14:creationId xmlns:p14="http://schemas.microsoft.com/office/powerpoint/2010/main" val="220906319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172C7-F57A-4E31-B7EE-1545C1BBA935}"/>
              </a:ext>
            </a:extLst>
          </p:cNvPr>
          <p:cNvSpPr>
            <a:spLocks noGrp="1"/>
          </p:cNvSpPr>
          <p:nvPr>
            <p:ph type="title"/>
          </p:nvPr>
        </p:nvSpPr>
        <p:spPr>
          <a:xfrm>
            <a:off x="455995" y="623224"/>
            <a:ext cx="11306469" cy="397545"/>
          </a:xfrm>
        </p:spPr>
        <p:txBody>
          <a:bodyPr/>
          <a:lstStyle/>
          <a:p>
            <a:r>
              <a:rPr lang="en-US" sz="2800" dirty="0"/>
              <a:t>Configure URL Path-based routing </a:t>
            </a:r>
            <a:endParaRPr lang="en-US" dirty="0"/>
          </a:p>
        </p:txBody>
      </p:sp>
      <p:sp>
        <p:nvSpPr>
          <p:cNvPr id="6" name="Rectangle 5">
            <a:extLst>
              <a:ext uri="{FF2B5EF4-FFF2-40B4-BE49-F238E27FC236}">
                <a16:creationId xmlns:a16="http://schemas.microsoft.com/office/drawing/2014/main" id="{D1FDEF94-A7AD-4A99-99BC-8A06796DA6FF}"/>
              </a:ext>
            </a:extLst>
          </p:cNvPr>
          <p:cNvSpPr/>
          <p:nvPr/>
        </p:nvSpPr>
        <p:spPr>
          <a:xfrm>
            <a:off x="455994" y="1453924"/>
            <a:ext cx="3942583" cy="395015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URL Path Based Routing allows you to route traffic to back-end server pools based on URL Paths of the request</a:t>
            </a:r>
          </a:p>
        </p:txBody>
      </p:sp>
      <p:pic>
        <p:nvPicPr>
          <p:cNvPr id="4" name="Picture 3" descr="Application Gateway is serving traffic for contoso.com from three back-end server pools ">
            <a:extLst>
              <a:ext uri="{FF2B5EF4-FFF2-40B4-BE49-F238E27FC236}">
                <a16:creationId xmlns:a16="http://schemas.microsoft.com/office/drawing/2014/main" id="{FE785582-F0E0-46A6-938A-42928294175E}"/>
              </a:ext>
            </a:extLst>
          </p:cNvPr>
          <p:cNvPicPr>
            <a:picLocks noChangeAspect="1"/>
          </p:cNvPicPr>
          <p:nvPr/>
        </p:nvPicPr>
        <p:blipFill>
          <a:blip r:embed="rId3"/>
          <a:stretch>
            <a:fillRect/>
          </a:stretch>
        </p:blipFill>
        <p:spPr>
          <a:xfrm>
            <a:off x="5015726" y="1453924"/>
            <a:ext cx="6448141" cy="3950152"/>
          </a:xfrm>
          <a:prstGeom prst="rect">
            <a:avLst/>
          </a:prstGeom>
        </p:spPr>
      </p:pic>
    </p:spTree>
    <p:extLst>
      <p:ext uri="{BB962C8B-B14F-4D97-AF65-F5344CB8AC3E}">
        <p14:creationId xmlns:p14="http://schemas.microsoft.com/office/powerpoint/2010/main" val="314062073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A797E-0EF4-4274-9842-7D7B366AB743}"/>
              </a:ext>
            </a:extLst>
          </p:cNvPr>
          <p:cNvSpPr>
            <a:spLocks noGrp="1"/>
          </p:cNvSpPr>
          <p:nvPr>
            <p:ph type="title"/>
          </p:nvPr>
        </p:nvSpPr>
        <p:spPr>
          <a:xfrm>
            <a:off x="455995" y="623224"/>
            <a:ext cx="11306469" cy="397545"/>
          </a:xfrm>
        </p:spPr>
        <p:txBody>
          <a:bodyPr/>
          <a:lstStyle/>
          <a:p>
            <a:r>
              <a:rPr lang="en-US" sz="2800" dirty="0"/>
              <a:t>Configure rewrite policies </a:t>
            </a:r>
            <a:endParaRPr lang="en-US" dirty="0"/>
          </a:p>
        </p:txBody>
      </p:sp>
      <p:sp>
        <p:nvSpPr>
          <p:cNvPr id="12" name="TextBox 1">
            <a:extLst>
              <a:ext uri="{FF2B5EF4-FFF2-40B4-BE49-F238E27FC236}">
                <a16:creationId xmlns:a16="http://schemas.microsoft.com/office/drawing/2014/main" id="{773C4AD3-755E-4374-B238-F7EA8AB6D7AF}"/>
              </a:ext>
            </a:extLst>
          </p:cNvPr>
          <p:cNvSpPr txBox="1"/>
          <p:nvPr/>
        </p:nvSpPr>
        <p:spPr>
          <a:xfrm>
            <a:off x="455995" y="1337310"/>
            <a:ext cx="4771098" cy="5036193"/>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800" dirty="0">
                <a:effectLst/>
                <a:latin typeface="Calibri" panose="020F0502020204030204" pitchFamily="34" charset="0"/>
                <a:ea typeface="Calibri" panose="020F0502020204030204" pitchFamily="34" charset="0"/>
                <a:cs typeface="Times New Roman" panose="02020603050405020304" pitchFamily="18" charset="0"/>
              </a:rPr>
              <a:t>A rewrite rule set contains:</a:t>
            </a:r>
          </a:p>
          <a:p>
            <a:pPr>
              <a:spcBef>
                <a:spcPts val="1176"/>
              </a:spcBef>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Request routing rule association</a:t>
            </a:r>
            <a:endParaRPr lang="en-US" b="1" dirty="0">
              <a:latin typeface="Calibri" panose="020F0502020204030204" pitchFamily="34" charset="0"/>
              <a:ea typeface="Calibri" panose="020F0502020204030204" pitchFamily="34" charset="0"/>
              <a:cs typeface="Times New Roman" panose="02020603050405020304" pitchFamily="18" charset="0"/>
            </a:endParaRPr>
          </a:p>
          <a:p>
            <a:pPr>
              <a:spcBef>
                <a:spcPts val="1176"/>
              </a:spcBef>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Rewrite Condition</a:t>
            </a:r>
          </a:p>
          <a:p>
            <a:pPr>
              <a:spcBef>
                <a:spcPts val="1176"/>
              </a:spcBef>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Rewrite type</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Rewriting request headers</a:t>
            </a:r>
          </a:p>
          <a:p>
            <a:pPr marL="342900" marR="0" lvl="0" indent="-342900">
              <a:spcBef>
                <a:spcPts val="0"/>
              </a:spcBef>
              <a:spcAft>
                <a:spcPts val="0"/>
              </a:spcAft>
              <a:buFont typeface="Courier New" panose="02070309020205020404" pitchFamily="49" charset="0"/>
              <a:buChar char="o"/>
              <a:tabLst>
                <a:tab pos="228600" algn="l"/>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Rewriting response headers</a:t>
            </a:r>
          </a:p>
          <a:p>
            <a:pPr marL="342900" marR="0" lvl="0" indent="-342900">
              <a:spcBef>
                <a:spcPts val="0"/>
              </a:spcBef>
              <a:spcAft>
                <a:spcPts val="1000"/>
              </a:spcAft>
              <a:buFont typeface="Courier New" panose="02070309020205020404" pitchFamily="49" charset="0"/>
              <a:buChar char="o"/>
              <a:tabLst>
                <a:tab pos="228600" algn="l"/>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Rewriting URL components: </a:t>
            </a:r>
          </a:p>
          <a:p>
            <a:pPr marL="809271" lvl="1" indent="-342900">
              <a:spcAft>
                <a:spcPts val="1000"/>
              </a:spcAft>
              <a:buFont typeface="Courier New" panose="02070309020205020404" pitchFamily="49" charset="0"/>
              <a:buChar char="o"/>
              <a:tabLst>
                <a:tab pos="228600" algn="l"/>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URL path</a:t>
            </a:r>
          </a:p>
          <a:p>
            <a:pPr marL="809271" lvl="1" indent="-342900">
              <a:spcAft>
                <a:spcPts val="1000"/>
              </a:spcAft>
              <a:buFont typeface="Courier New" panose="02070309020205020404" pitchFamily="49" charset="0"/>
              <a:buChar char="o"/>
              <a:tabLst>
                <a:tab pos="228600" algn="l"/>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URL Query String</a:t>
            </a:r>
          </a:p>
          <a:p>
            <a:pPr marL="809271" lvl="1" indent="-342900">
              <a:spcAft>
                <a:spcPts val="1000"/>
              </a:spcAft>
              <a:buFont typeface="Courier New" panose="02070309020205020404" pitchFamily="49" charset="0"/>
              <a:buChar char="o"/>
              <a:tabLst>
                <a:tab pos="228600" algn="l"/>
                <a:tab pos="457200" algn="l"/>
              </a:tabLst>
            </a:pPr>
            <a:r>
              <a:rPr lang="en-US" b="1" dirty="0">
                <a:effectLst/>
                <a:latin typeface="Calibri" panose="020F0502020204030204" pitchFamily="34" charset="0"/>
                <a:ea typeface="Calibri" panose="020F0502020204030204" pitchFamily="34" charset="0"/>
                <a:cs typeface="Times New Roman" panose="02020603050405020304" pitchFamily="18" charset="0"/>
              </a:rPr>
              <a:t>Re-evaluate path map</a:t>
            </a:r>
            <a:endParaRPr lang="en-US" sz="1961" dirty="0"/>
          </a:p>
        </p:txBody>
      </p:sp>
      <p:sp>
        <p:nvSpPr>
          <p:cNvPr id="3" name="Rectangle 2">
            <a:extLst>
              <a:ext uri="{FF2B5EF4-FFF2-40B4-BE49-F238E27FC236}">
                <a16:creationId xmlns:a16="http://schemas.microsoft.com/office/drawing/2014/main" id="{5B25C9D9-15A1-4D9F-999B-084FD503D3E8}"/>
              </a:ext>
              <a:ext uri="{C183D7F6-B498-43B3-948B-1728B52AA6E4}">
                <adec:decorative xmlns:adec="http://schemas.microsoft.com/office/drawing/2017/decorative" val="1"/>
              </a:ext>
            </a:extLst>
          </p:cNvPr>
          <p:cNvSpPr/>
          <p:nvPr/>
        </p:nvSpPr>
        <p:spPr bwMode="auto">
          <a:xfrm>
            <a:off x="5452280" y="1893851"/>
            <a:ext cx="6564573" cy="3971499"/>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pic>
        <p:nvPicPr>
          <p:cNvPr id="2050" name="Picture 2" descr="Azure portal screenshot create rewrite set ">
            <a:extLst>
              <a:ext uri="{FF2B5EF4-FFF2-40B4-BE49-F238E27FC236}">
                <a16:creationId xmlns:a16="http://schemas.microsoft.com/office/drawing/2014/main" id="{5CE44C63-48D8-4262-B13A-E7EAD35898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0991" y="2482132"/>
            <a:ext cx="6387152" cy="2794939"/>
          </a:xfrm>
          <a:prstGeom prst="rect">
            <a:avLst/>
          </a:prstGeom>
          <a:noFill/>
        </p:spPr>
      </p:pic>
    </p:spTree>
    <p:extLst>
      <p:ext uri="{BB962C8B-B14F-4D97-AF65-F5344CB8AC3E}">
        <p14:creationId xmlns:p14="http://schemas.microsoft.com/office/powerpoint/2010/main" val="23763885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C7171-1D45-4B5C-88D7-977221F0D85F}"/>
              </a:ext>
            </a:extLst>
          </p:cNvPr>
          <p:cNvSpPr>
            <a:spLocks noGrp="1"/>
          </p:cNvSpPr>
          <p:nvPr>
            <p:ph type="title"/>
          </p:nvPr>
        </p:nvSpPr>
        <p:spPr/>
        <p:txBody>
          <a:bodyPr/>
          <a:lstStyle/>
          <a:p>
            <a:r>
              <a:rPr lang="en-US" dirty="0"/>
              <a:t>Demo</a:t>
            </a:r>
          </a:p>
        </p:txBody>
      </p:sp>
      <p:pic>
        <p:nvPicPr>
          <p:cNvPr id="3" name="Picture 2" descr="Icon of two gears">
            <a:extLst>
              <a:ext uri="{FF2B5EF4-FFF2-40B4-BE49-F238E27FC236}">
                <a16:creationId xmlns:a16="http://schemas.microsoft.com/office/drawing/2014/main" id="{AA9939B9-D4F4-4555-A655-14685440C15C}"/>
              </a:ext>
            </a:extLst>
          </p:cNvPr>
          <p:cNvPicPr>
            <a:picLocks noChangeAspect="1"/>
          </p:cNvPicPr>
          <p:nvPr/>
        </p:nvPicPr>
        <p:blipFill>
          <a:blip r:embed="rId3"/>
          <a:stretch>
            <a:fillRect/>
          </a:stretch>
        </p:blipFill>
        <p:spPr>
          <a:xfrm>
            <a:off x="455995" y="1362243"/>
            <a:ext cx="1026406" cy="1026406"/>
          </a:xfrm>
          <a:prstGeom prst="rect">
            <a:avLst/>
          </a:prstGeom>
        </p:spPr>
      </p:pic>
      <p:sp>
        <p:nvSpPr>
          <p:cNvPr id="7" name="Rectangle 6">
            <a:extLst>
              <a:ext uri="{FF2B5EF4-FFF2-40B4-BE49-F238E27FC236}">
                <a16:creationId xmlns:a16="http://schemas.microsoft.com/office/drawing/2014/main" id="{CB932D51-7927-429B-9136-BB5AA95BB30D}"/>
              </a:ext>
            </a:extLst>
          </p:cNvPr>
          <p:cNvSpPr/>
          <p:nvPr/>
        </p:nvSpPr>
        <p:spPr bwMode="auto">
          <a:xfrm>
            <a:off x="1668346" y="1693663"/>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Create an application gateway</a:t>
            </a:r>
          </a:p>
        </p:txBody>
      </p:sp>
      <p:cxnSp>
        <p:nvCxnSpPr>
          <p:cNvPr id="9" name="Straight Connector 8">
            <a:extLst>
              <a:ext uri="{FF2B5EF4-FFF2-40B4-BE49-F238E27FC236}">
                <a16:creationId xmlns:a16="http://schemas.microsoft.com/office/drawing/2014/main" id="{3425EE82-F397-4C09-912A-89987AA7CBC7}"/>
              </a:ext>
              <a:ext uri="{C183D7F6-B498-43B3-948B-1728B52AA6E4}">
                <adec:decorative xmlns:adec="http://schemas.microsoft.com/office/drawing/2017/decorative" val="1"/>
              </a:ext>
            </a:extLst>
          </p:cNvPr>
          <p:cNvCxnSpPr>
            <a:cxnSpLocks/>
          </p:cNvCxnSpPr>
          <p:nvPr/>
        </p:nvCxnSpPr>
        <p:spPr>
          <a:xfrm>
            <a:off x="1668346" y="2495815"/>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1" name="Picture 10" descr="Icon of a wrench">
            <a:extLst>
              <a:ext uri="{FF2B5EF4-FFF2-40B4-BE49-F238E27FC236}">
                <a16:creationId xmlns:a16="http://schemas.microsoft.com/office/drawing/2014/main" id="{C76DDB35-309B-43FE-9ACE-B57CB34A557E}"/>
              </a:ext>
            </a:extLst>
          </p:cNvPr>
          <p:cNvPicPr>
            <a:picLocks noChangeAspect="1"/>
          </p:cNvPicPr>
          <p:nvPr/>
        </p:nvPicPr>
        <p:blipFill>
          <a:blip r:embed="rId4"/>
          <a:stretch>
            <a:fillRect/>
          </a:stretch>
        </p:blipFill>
        <p:spPr>
          <a:xfrm>
            <a:off x="455995" y="2604476"/>
            <a:ext cx="1026406" cy="1026406"/>
          </a:xfrm>
          <a:prstGeom prst="rect">
            <a:avLst/>
          </a:prstGeom>
        </p:spPr>
      </p:pic>
      <p:sp>
        <p:nvSpPr>
          <p:cNvPr id="13" name="Rectangle 12">
            <a:extLst>
              <a:ext uri="{FF2B5EF4-FFF2-40B4-BE49-F238E27FC236}">
                <a16:creationId xmlns:a16="http://schemas.microsoft.com/office/drawing/2014/main" id="{B07C25BF-F0B9-44F2-94FB-B0B5CDCA52A3}"/>
              </a:ext>
            </a:extLst>
          </p:cNvPr>
          <p:cNvSpPr/>
          <p:nvPr/>
        </p:nvSpPr>
        <p:spPr bwMode="auto">
          <a:xfrm>
            <a:off x="1668346" y="2935896"/>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Add backend targets </a:t>
            </a:r>
          </a:p>
        </p:txBody>
      </p:sp>
      <p:cxnSp>
        <p:nvCxnSpPr>
          <p:cNvPr id="15" name="Straight Connector 14">
            <a:extLst>
              <a:ext uri="{FF2B5EF4-FFF2-40B4-BE49-F238E27FC236}">
                <a16:creationId xmlns:a16="http://schemas.microsoft.com/office/drawing/2014/main" id="{DDF97B91-FF92-4E75-BC95-C9A824BF9C5A}"/>
              </a:ext>
              <a:ext uri="{C183D7F6-B498-43B3-948B-1728B52AA6E4}">
                <adec:decorative xmlns:adec="http://schemas.microsoft.com/office/drawing/2017/decorative" val="1"/>
              </a:ext>
            </a:extLst>
          </p:cNvPr>
          <p:cNvCxnSpPr>
            <a:cxnSpLocks/>
          </p:cNvCxnSpPr>
          <p:nvPr/>
        </p:nvCxnSpPr>
        <p:spPr>
          <a:xfrm>
            <a:off x="1668346" y="3738048"/>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7" name="Picture 16" descr="Icon of a checkmark">
            <a:extLst>
              <a:ext uri="{FF2B5EF4-FFF2-40B4-BE49-F238E27FC236}">
                <a16:creationId xmlns:a16="http://schemas.microsoft.com/office/drawing/2014/main" id="{1252CC70-EB1C-4B20-B82E-A5EE6A5B26B9}"/>
              </a:ext>
            </a:extLst>
          </p:cNvPr>
          <p:cNvPicPr>
            <a:picLocks noChangeAspect="1"/>
          </p:cNvPicPr>
          <p:nvPr/>
        </p:nvPicPr>
        <p:blipFill>
          <a:blip r:embed="rId5"/>
          <a:stretch>
            <a:fillRect/>
          </a:stretch>
        </p:blipFill>
        <p:spPr>
          <a:xfrm>
            <a:off x="455995" y="3845214"/>
            <a:ext cx="1026406" cy="1026406"/>
          </a:xfrm>
          <a:prstGeom prst="rect">
            <a:avLst/>
          </a:prstGeom>
        </p:spPr>
      </p:pic>
      <p:sp>
        <p:nvSpPr>
          <p:cNvPr id="19" name="Rectangle 18">
            <a:extLst>
              <a:ext uri="{FF2B5EF4-FFF2-40B4-BE49-F238E27FC236}">
                <a16:creationId xmlns:a16="http://schemas.microsoft.com/office/drawing/2014/main" id="{DA7B0F78-C4D2-4C51-9C96-3C916776D33E}"/>
              </a:ext>
            </a:extLst>
          </p:cNvPr>
          <p:cNvSpPr/>
          <p:nvPr/>
        </p:nvSpPr>
        <p:spPr bwMode="auto">
          <a:xfrm>
            <a:off x="1668346" y="4178128"/>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Test the application gateway</a:t>
            </a:r>
          </a:p>
        </p:txBody>
      </p:sp>
    </p:spTree>
    <p:extLst>
      <p:ext uri="{BB962C8B-B14F-4D97-AF65-F5344CB8AC3E}">
        <p14:creationId xmlns:p14="http://schemas.microsoft.com/office/powerpoint/2010/main" val="9014593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Summary – </a:t>
            </a:r>
            <a:r>
              <a:rPr lang="en-US" sz="2800" dirty="0"/>
              <a:t>Configure Azure Application Gateway </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28B44AA-2F34-4903-A207-077E9A8BA00E}"/>
              </a:ext>
            </a:extLst>
          </p:cNvPr>
          <p:cNvSpPr txBox="1"/>
          <p:nvPr/>
        </p:nvSpPr>
        <p:spPr>
          <a:xfrm>
            <a:off x="4172422" y="2263230"/>
            <a:ext cx="6093912" cy="369332"/>
          </a:xfrm>
          <a:prstGeom prst="rect">
            <a:avLst/>
          </a:prstGeom>
          <a:noFill/>
        </p:spPr>
        <p:txBody>
          <a:bodyPr wrap="square">
            <a:spAutoFit/>
          </a:bodyPr>
          <a:lstStyle/>
          <a:p>
            <a:r>
              <a:rPr lang="en-US" dirty="0">
                <a:hlinkClick r:id="rId3"/>
              </a:rPr>
              <a:t>Azure Application Gateway documentation | Microsoft Docs</a:t>
            </a:r>
            <a:endParaRPr lang="en-US" dirty="0"/>
          </a:p>
        </p:txBody>
      </p:sp>
      <p:sp>
        <p:nvSpPr>
          <p:cNvPr id="10" name="Rectangle 9">
            <a:extLst>
              <a:ext uri="{FF2B5EF4-FFF2-40B4-BE49-F238E27FC236}">
                <a16:creationId xmlns:a16="http://schemas.microsoft.com/office/drawing/2014/main" id="{7A1C3FAD-9381-4EE0-8345-F88F6A7F84D6}"/>
              </a:ext>
            </a:extLst>
          </p:cNvPr>
          <p:cNvSpPr/>
          <p:nvPr/>
        </p:nvSpPr>
        <p:spPr>
          <a:xfrm>
            <a:off x="4172422" y="2828769"/>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r>
              <a:rPr lang="en-US" sz="1600" dirty="0">
                <a:hlinkClick r:id="rId4"/>
              </a:rPr>
              <a:t>What is Azure Application Gateway | Microsoft Docs</a:t>
            </a:r>
            <a:endParaRPr lang="en-US" sz="1765" dirty="0">
              <a:solidFill>
                <a:schemeClr val="tx1"/>
              </a:solidFill>
            </a:endParaRP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72422" y="3429000"/>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Tree>
    <p:extLst>
      <p:ext uri="{BB962C8B-B14F-4D97-AF65-F5344CB8AC3E}">
        <p14:creationId xmlns:p14="http://schemas.microsoft.com/office/powerpoint/2010/main" val="423504866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AF917B-5B52-4F42-907A-1ECDBF6B9454}"/>
              </a:ext>
            </a:extLst>
          </p:cNvPr>
          <p:cNvSpPr>
            <a:spLocks noGrp="1"/>
          </p:cNvSpPr>
          <p:nvPr>
            <p:ph type="title"/>
          </p:nvPr>
        </p:nvSpPr>
        <p:spPr>
          <a:xfrm>
            <a:off x="585217" y="2940213"/>
            <a:ext cx="8892608" cy="977575"/>
          </a:xfrm>
        </p:spPr>
        <p:txBody>
          <a:bodyPr/>
          <a:lstStyle/>
          <a:p>
            <a:r>
              <a:rPr lang="en-US" dirty="0"/>
              <a:t>Lesson 03: Exercise: </a:t>
            </a:r>
            <a:r>
              <a:rPr kumimoji="0" lang="en-US" b="0" i="0" u="none" strike="noStrike" kern="1200" cap="none" spc="0" normalizeH="0" baseline="0" noProof="0" dirty="0">
                <a:ln>
                  <a:noFill/>
                </a:ln>
                <a:effectLst/>
                <a:uLnTx/>
                <a:uFillTx/>
                <a:latin typeface="Calibri" panose="020F0502020204030204"/>
                <a:ea typeface="+mn-ea"/>
                <a:cs typeface="+mn-cs"/>
              </a:rPr>
              <a:t>deploy Azure Application Gateway</a:t>
            </a:r>
            <a:endParaRPr lang="en-US" dirty="0"/>
          </a:p>
        </p:txBody>
      </p:sp>
      <p:grpSp>
        <p:nvGrpSpPr>
          <p:cNvPr id="7" name="Group 6">
            <a:extLst>
              <a:ext uri="{FF2B5EF4-FFF2-40B4-BE49-F238E27FC236}">
                <a16:creationId xmlns:a16="http://schemas.microsoft.com/office/drawing/2014/main" id="{5A2B39F1-BE8B-4CD6-BEDC-1ABF2F8E5266}"/>
              </a:ext>
              <a:ext uri="{C183D7F6-B498-43B3-948B-1728B52AA6E4}">
                <adec:decorative xmlns:adec="http://schemas.microsoft.com/office/drawing/2017/decorative" val="1"/>
              </a:ext>
            </a:extLst>
          </p:cNvPr>
          <p:cNvGrpSpPr/>
          <p:nvPr/>
        </p:nvGrpSpPr>
        <p:grpSpPr>
          <a:xfrm>
            <a:off x="10333352" y="3070379"/>
            <a:ext cx="717140" cy="717242"/>
            <a:chOff x="418643" y="3578249"/>
            <a:chExt cx="717140" cy="717242"/>
          </a:xfrm>
        </p:grpSpPr>
        <p:grpSp>
          <p:nvGrpSpPr>
            <p:cNvPr id="8" name="Group 7">
              <a:extLst>
                <a:ext uri="{FF2B5EF4-FFF2-40B4-BE49-F238E27FC236}">
                  <a16:creationId xmlns:a16="http://schemas.microsoft.com/office/drawing/2014/main" id="{7C6030A1-EB29-44B5-A7DB-9BBFE95B4F9E}"/>
                </a:ext>
                <a:ext uri="{C183D7F6-B498-43B3-948B-1728B52AA6E4}">
                  <adec:decorative xmlns:adec="http://schemas.microsoft.com/office/drawing/2017/decorative" val="1"/>
                </a:ext>
              </a:extLst>
            </p:cNvPr>
            <p:cNvGrpSpPr/>
            <p:nvPr/>
          </p:nvGrpSpPr>
          <p:grpSpPr>
            <a:xfrm>
              <a:off x="418643" y="3578249"/>
              <a:ext cx="717140" cy="717242"/>
              <a:chOff x="7962901" y="3032919"/>
              <a:chExt cx="981074" cy="981076"/>
            </a:xfrm>
          </p:grpSpPr>
          <p:sp>
            <p:nvSpPr>
              <p:cNvPr id="10" name="Freeform 5">
                <a:extLst>
                  <a:ext uri="{FF2B5EF4-FFF2-40B4-BE49-F238E27FC236}">
                    <a16:creationId xmlns:a16="http://schemas.microsoft.com/office/drawing/2014/main" id="{FE558404-4C48-4A29-BC52-DF3BF3E9C523}"/>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1" name="Freeform 6">
                <a:extLst>
                  <a:ext uri="{FF2B5EF4-FFF2-40B4-BE49-F238E27FC236}">
                    <a16:creationId xmlns:a16="http://schemas.microsoft.com/office/drawing/2014/main" id="{217229B8-C964-4862-9BC8-3048D272B3A5}"/>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9" name="Picture 8" descr="Icon of three dots and outward pointing chevrons on left and right">
              <a:extLst>
                <a:ext uri="{FF2B5EF4-FFF2-40B4-BE49-F238E27FC236}">
                  <a16:creationId xmlns:a16="http://schemas.microsoft.com/office/drawing/2014/main" id="{7E190BB1-AB10-4AE8-A37A-6150CF8ABA43}"/>
                </a:ext>
              </a:extLst>
            </p:cNvPr>
            <p:cNvPicPr>
              <a:picLocks noChangeAspect="1"/>
            </p:cNvPicPr>
            <p:nvPr/>
          </p:nvPicPr>
          <p:blipFill>
            <a:blip r:embed="rId3"/>
            <a:stretch>
              <a:fillRect/>
            </a:stretch>
          </p:blipFill>
          <p:spPr>
            <a:xfrm>
              <a:off x="532902" y="3829050"/>
              <a:ext cx="488622" cy="215640"/>
            </a:xfrm>
            <a:prstGeom prst="rect">
              <a:avLst/>
            </a:prstGeom>
          </p:spPr>
        </p:pic>
      </p:grpSp>
    </p:spTree>
    <p:extLst>
      <p:ext uri="{BB962C8B-B14F-4D97-AF65-F5344CB8AC3E}">
        <p14:creationId xmlns:p14="http://schemas.microsoft.com/office/powerpoint/2010/main" val="353991399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9E304-95F9-42B1-94B7-92B6A476220A}"/>
              </a:ext>
            </a:extLst>
          </p:cNvPr>
          <p:cNvSpPr>
            <a:spLocks noGrp="1"/>
          </p:cNvSpPr>
          <p:nvPr>
            <p:ph type="title"/>
          </p:nvPr>
        </p:nvSpPr>
        <p:spPr/>
        <p:txBody>
          <a:bodyPr/>
          <a:lstStyle/>
          <a:p>
            <a:r>
              <a:rPr lang="en-US" dirty="0"/>
              <a:t>Exercise: </a:t>
            </a:r>
            <a:r>
              <a:rPr kumimoji="0" lang="en-US" b="0" i="0" u="none" strike="noStrike" kern="1200" cap="none" spc="0" normalizeH="0" baseline="0" noProof="0" dirty="0">
                <a:ln>
                  <a:noFill/>
                </a:ln>
                <a:effectLst/>
                <a:uLnTx/>
                <a:uFillTx/>
                <a:latin typeface="Calibri" panose="020F0502020204030204"/>
                <a:ea typeface="+mn-ea"/>
                <a:cs typeface="+mn-cs"/>
              </a:rPr>
              <a:t>deploy Azure Application Gateway</a:t>
            </a:r>
            <a:endParaRPr lang="en-US" dirty="0"/>
          </a:p>
        </p:txBody>
      </p:sp>
      <p:sp>
        <p:nvSpPr>
          <p:cNvPr id="3" name="TextBox 1">
            <a:extLst>
              <a:ext uri="{FF2B5EF4-FFF2-40B4-BE49-F238E27FC236}">
                <a16:creationId xmlns:a16="http://schemas.microsoft.com/office/drawing/2014/main" id="{45AA516C-9C93-45F6-8584-2032056EA881}"/>
              </a:ext>
            </a:extLst>
          </p:cNvPr>
          <p:cNvSpPr txBox="1"/>
          <p:nvPr/>
        </p:nvSpPr>
        <p:spPr>
          <a:xfrm>
            <a:off x="455995" y="1337310"/>
            <a:ext cx="4771098" cy="5036193"/>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l">
              <a:buFont typeface="Arial" panose="020B0604020202020204" pitchFamily="34" charset="0"/>
              <a:buChar char="•"/>
            </a:pPr>
            <a:r>
              <a:rPr lang="en-US" sz="2400" b="0" i="0" dirty="0">
                <a:solidFill>
                  <a:srgbClr val="24292E"/>
                </a:solidFill>
                <a:effectLst/>
                <a:latin typeface="-apple-system"/>
              </a:rPr>
              <a:t>Task 1: Create an application gateway</a:t>
            </a:r>
          </a:p>
          <a:p>
            <a:pPr algn="l">
              <a:buFont typeface="Arial" panose="020B0604020202020204" pitchFamily="34" charset="0"/>
              <a:buChar char="•"/>
            </a:pPr>
            <a:endParaRPr lang="en-US" sz="2400" b="0" i="0" dirty="0">
              <a:solidFill>
                <a:srgbClr val="24292E"/>
              </a:solidFill>
              <a:effectLst/>
              <a:latin typeface="-apple-system"/>
            </a:endParaRPr>
          </a:p>
          <a:p>
            <a:pPr algn="l">
              <a:buFont typeface="Arial" panose="020B0604020202020204" pitchFamily="34" charset="0"/>
              <a:buChar char="•"/>
            </a:pPr>
            <a:r>
              <a:rPr lang="en-US" sz="2400" b="0" i="0" dirty="0">
                <a:solidFill>
                  <a:srgbClr val="24292E"/>
                </a:solidFill>
                <a:effectLst/>
                <a:latin typeface="-apple-system"/>
              </a:rPr>
              <a:t>Task 2: Add backend targets</a:t>
            </a:r>
          </a:p>
          <a:p>
            <a:pPr algn="l">
              <a:buFont typeface="Arial" panose="020B0604020202020204" pitchFamily="34" charset="0"/>
              <a:buChar char="•"/>
            </a:pPr>
            <a:endParaRPr lang="en-US" sz="2400" b="0" i="0" dirty="0">
              <a:solidFill>
                <a:srgbClr val="24292E"/>
              </a:solidFill>
              <a:effectLst/>
              <a:latin typeface="-apple-system"/>
            </a:endParaRPr>
          </a:p>
          <a:p>
            <a:pPr algn="l">
              <a:buFont typeface="Arial" panose="020B0604020202020204" pitchFamily="34" charset="0"/>
              <a:buChar char="•"/>
            </a:pPr>
            <a:r>
              <a:rPr lang="en-US" sz="2400" b="0" i="0" dirty="0">
                <a:solidFill>
                  <a:srgbClr val="24292E"/>
                </a:solidFill>
                <a:effectLst/>
                <a:latin typeface="-apple-system"/>
              </a:rPr>
              <a:t>Task 3: Add backend servers to backend pool</a:t>
            </a:r>
          </a:p>
          <a:p>
            <a:pPr algn="l"/>
            <a:endParaRPr lang="en-US" sz="2400" b="0" i="0" dirty="0">
              <a:solidFill>
                <a:srgbClr val="24292E"/>
              </a:solidFill>
              <a:effectLst/>
              <a:latin typeface="-apple-system"/>
            </a:endParaRPr>
          </a:p>
          <a:p>
            <a:pPr algn="l">
              <a:buFont typeface="Arial" panose="020B0604020202020204" pitchFamily="34" charset="0"/>
              <a:buChar char="•"/>
            </a:pPr>
            <a:r>
              <a:rPr lang="en-US" sz="2400" b="0" i="0" dirty="0">
                <a:solidFill>
                  <a:srgbClr val="24292E"/>
                </a:solidFill>
                <a:effectLst/>
                <a:latin typeface="-apple-system"/>
              </a:rPr>
              <a:t>Task 4: Test the application gateway</a:t>
            </a:r>
          </a:p>
        </p:txBody>
      </p:sp>
      <p:pic>
        <p:nvPicPr>
          <p:cNvPr id="4" name="Picture 3" descr="Application Gateway in a virtual network with two backend servers ">
            <a:extLst>
              <a:ext uri="{FF2B5EF4-FFF2-40B4-BE49-F238E27FC236}">
                <a16:creationId xmlns:a16="http://schemas.microsoft.com/office/drawing/2014/main" id="{3AB0110B-4409-48BF-B185-FFFCE7906FA5}"/>
              </a:ext>
            </a:extLst>
          </p:cNvPr>
          <p:cNvPicPr>
            <a:picLocks noChangeAspect="1"/>
          </p:cNvPicPr>
          <p:nvPr/>
        </p:nvPicPr>
        <p:blipFill>
          <a:blip r:embed="rId3"/>
          <a:stretch>
            <a:fillRect/>
          </a:stretch>
        </p:blipFill>
        <p:spPr>
          <a:xfrm>
            <a:off x="5861502" y="1983789"/>
            <a:ext cx="5543204" cy="3633240"/>
          </a:xfrm>
          <a:prstGeom prst="rect">
            <a:avLst/>
          </a:prstGeom>
        </p:spPr>
      </p:pic>
      <p:sp>
        <p:nvSpPr>
          <p:cNvPr id="7" name="Rectangle 6">
            <a:extLst>
              <a:ext uri="{FF2B5EF4-FFF2-40B4-BE49-F238E27FC236}">
                <a16:creationId xmlns:a16="http://schemas.microsoft.com/office/drawing/2014/main" id="{BE29944C-A868-480E-A689-45D42758B7B7}"/>
              </a:ext>
              <a:ext uri="{C183D7F6-B498-43B3-948B-1728B52AA6E4}">
                <adec:decorative xmlns:adec="http://schemas.microsoft.com/office/drawing/2017/decorative" val="1"/>
              </a:ext>
            </a:extLst>
          </p:cNvPr>
          <p:cNvSpPr/>
          <p:nvPr/>
        </p:nvSpPr>
        <p:spPr bwMode="auto">
          <a:xfrm>
            <a:off x="5470071" y="1453243"/>
            <a:ext cx="6292393" cy="444137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102" fontAlgn="base">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409976785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Summary – </a:t>
            </a:r>
            <a:r>
              <a:rPr kumimoji="0" lang="en-US" b="0" i="0" u="none" strike="noStrike" kern="1200" cap="none" spc="0" normalizeH="0" baseline="0" noProof="0" dirty="0">
                <a:ln>
                  <a:noFill/>
                </a:ln>
                <a:effectLst/>
                <a:uLnTx/>
                <a:uFillTx/>
                <a:latin typeface="Calibri" panose="020F0502020204030204"/>
                <a:ea typeface="+mn-ea"/>
                <a:cs typeface="+mn-cs"/>
              </a:rPr>
              <a:t>deploy Azure Application Gateway</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 uri="{C183D7F6-B498-43B3-948B-1728B52AA6E4}">
                <adec:decorative xmlns:adec="http://schemas.microsoft.com/office/drawing/2017/decorative" val="1"/>
              </a:ext>
            </a:extLst>
          </p:cNvPr>
          <p:cNvSpPr/>
          <p:nvPr/>
        </p:nvSpPr>
        <p:spPr>
          <a:xfrm>
            <a:off x="4172422" y="2828769"/>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8AB6EA66-73C3-4A67-A027-C1C7196D6472}"/>
              </a:ext>
            </a:extLst>
          </p:cNvPr>
          <p:cNvSpPr txBox="1"/>
          <p:nvPr/>
        </p:nvSpPr>
        <p:spPr>
          <a:xfrm>
            <a:off x="4172422" y="2282989"/>
            <a:ext cx="6093912" cy="369332"/>
          </a:xfrm>
          <a:prstGeom prst="rect">
            <a:avLst/>
          </a:prstGeom>
          <a:noFill/>
        </p:spPr>
        <p:txBody>
          <a:bodyPr wrap="square">
            <a:spAutoFit/>
          </a:bodyPr>
          <a:lstStyle/>
          <a:p>
            <a:r>
              <a:rPr lang="en-US" dirty="0">
                <a:hlinkClick r:id="rId4"/>
              </a:rPr>
              <a:t>What is Azure Application Gateway | Microsoft Docs</a:t>
            </a:r>
            <a:endParaRPr lang="en-US" dirty="0"/>
          </a:p>
        </p:txBody>
      </p:sp>
      <p:sp>
        <p:nvSpPr>
          <p:cNvPr id="13" name="TextBox 12">
            <a:extLst>
              <a:ext uri="{FF2B5EF4-FFF2-40B4-BE49-F238E27FC236}">
                <a16:creationId xmlns:a16="http://schemas.microsoft.com/office/drawing/2014/main" id="{60E5E816-BBEB-4627-B88D-12E640FD7E4A}"/>
              </a:ext>
            </a:extLst>
          </p:cNvPr>
          <p:cNvSpPr txBox="1"/>
          <p:nvPr/>
        </p:nvSpPr>
        <p:spPr>
          <a:xfrm>
            <a:off x="4172422" y="2885412"/>
            <a:ext cx="6093912" cy="646331"/>
          </a:xfrm>
          <a:prstGeom prst="rect">
            <a:avLst/>
          </a:prstGeom>
          <a:noFill/>
        </p:spPr>
        <p:txBody>
          <a:bodyPr wrap="square">
            <a:spAutoFit/>
          </a:bodyPr>
          <a:lstStyle/>
          <a:p>
            <a:r>
              <a:rPr lang="en-US" dirty="0">
                <a:hlinkClick r:id="rId5"/>
              </a:rPr>
              <a:t>Quickstart: Direct web traffic using the portal - Azure Application Gateway | Microsoft Docs</a:t>
            </a:r>
            <a:endParaRPr lang="en-US" dirty="0"/>
          </a:p>
        </p:txBody>
      </p:sp>
    </p:spTree>
    <p:extLst>
      <p:ext uri="{BB962C8B-B14F-4D97-AF65-F5344CB8AC3E}">
        <p14:creationId xmlns:p14="http://schemas.microsoft.com/office/powerpoint/2010/main" val="9669957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r>
              <a:rPr lang="en-US" dirty="0"/>
              <a:t>Lesson 04: Design and configure </a:t>
            </a:r>
            <a:r>
              <a:rPr lang="en-US" sz="3600" dirty="0"/>
              <a:t>Azure Front Door</a:t>
            </a:r>
            <a:endParaRPr lang="en-US" dirty="0"/>
          </a:p>
        </p:txBody>
      </p:sp>
      <p:grpSp>
        <p:nvGrpSpPr>
          <p:cNvPr id="7" name="Group 6">
            <a:extLst>
              <a:ext uri="{FF2B5EF4-FFF2-40B4-BE49-F238E27FC236}">
                <a16:creationId xmlns:a16="http://schemas.microsoft.com/office/drawing/2014/main" id="{E0CA05D2-8849-4B36-A6DB-5D9084F96A9B}"/>
              </a:ext>
              <a:ext uri="{C183D7F6-B498-43B3-948B-1728B52AA6E4}">
                <adec:decorative xmlns:adec="http://schemas.microsoft.com/office/drawing/2017/decorative" val="1"/>
              </a:ext>
            </a:extLst>
          </p:cNvPr>
          <p:cNvGrpSpPr/>
          <p:nvPr/>
        </p:nvGrpSpPr>
        <p:grpSpPr>
          <a:xfrm>
            <a:off x="10307226" y="3070379"/>
            <a:ext cx="717140" cy="717242"/>
            <a:chOff x="418643" y="4623409"/>
            <a:chExt cx="717140" cy="717242"/>
          </a:xfrm>
        </p:grpSpPr>
        <p:grpSp>
          <p:nvGrpSpPr>
            <p:cNvPr id="9" name="Group 8">
              <a:extLst>
                <a:ext uri="{FF2B5EF4-FFF2-40B4-BE49-F238E27FC236}">
                  <a16:creationId xmlns:a16="http://schemas.microsoft.com/office/drawing/2014/main" id="{59C1A59E-A06E-4310-ADD6-14A570114D2D}"/>
                </a:ext>
                <a:ext uri="{C183D7F6-B498-43B3-948B-1728B52AA6E4}">
                  <adec:decorative xmlns:adec="http://schemas.microsoft.com/office/drawing/2017/decorative" val="1"/>
                </a:ext>
              </a:extLst>
            </p:cNvPr>
            <p:cNvGrpSpPr/>
            <p:nvPr/>
          </p:nvGrpSpPr>
          <p:grpSpPr>
            <a:xfrm>
              <a:off x="418643" y="4623409"/>
              <a:ext cx="717140" cy="717242"/>
              <a:chOff x="7962901" y="3032919"/>
              <a:chExt cx="981074" cy="981076"/>
            </a:xfrm>
          </p:grpSpPr>
          <p:sp>
            <p:nvSpPr>
              <p:cNvPr id="11" name="Freeform 5">
                <a:extLst>
                  <a:ext uri="{FF2B5EF4-FFF2-40B4-BE49-F238E27FC236}">
                    <a16:creationId xmlns:a16="http://schemas.microsoft.com/office/drawing/2014/main" id="{12CEE87F-8023-4C74-A1AF-AFB568AF7AAC}"/>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2" name="Freeform 6">
                <a:extLst>
                  <a:ext uri="{FF2B5EF4-FFF2-40B4-BE49-F238E27FC236}">
                    <a16:creationId xmlns:a16="http://schemas.microsoft.com/office/drawing/2014/main" id="{7121405D-7FE0-45B0-8748-138B7C00E352}"/>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0" name="Picture 9" descr="Icon of a bulb">
              <a:extLst>
                <a:ext uri="{FF2B5EF4-FFF2-40B4-BE49-F238E27FC236}">
                  <a16:creationId xmlns:a16="http://schemas.microsoft.com/office/drawing/2014/main" id="{22CCE873-46E9-4607-AF13-5A61D03216AD}"/>
                </a:ext>
              </a:extLst>
            </p:cNvPr>
            <p:cNvPicPr>
              <a:picLocks noChangeAspect="1"/>
            </p:cNvPicPr>
            <p:nvPr/>
          </p:nvPicPr>
          <p:blipFill>
            <a:blip r:embed="rId2"/>
            <a:stretch>
              <a:fillRect/>
            </a:stretch>
          </p:blipFill>
          <p:spPr>
            <a:xfrm>
              <a:off x="619369" y="4762500"/>
              <a:ext cx="315688" cy="439060"/>
            </a:xfrm>
            <a:prstGeom prst="rect">
              <a:avLst/>
            </a:prstGeom>
          </p:spPr>
        </p:pic>
      </p:grpSp>
    </p:spTree>
    <p:extLst>
      <p:ext uri="{BB962C8B-B14F-4D97-AF65-F5344CB8AC3E}">
        <p14:creationId xmlns:p14="http://schemas.microsoft.com/office/powerpoint/2010/main" val="333293306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288013" y="3088902"/>
            <a:ext cx="1959432" cy="680196"/>
          </a:xfrm>
        </p:spPr>
        <p:txBody>
          <a:bodyPr/>
          <a:lstStyle/>
          <a:p>
            <a:r>
              <a:rPr lang="en-US" sz="2750" dirty="0"/>
              <a:t>Design and configure Azure Front Door overview</a:t>
            </a:r>
          </a:p>
        </p:txBody>
      </p:sp>
      <p:sp>
        <p:nvSpPr>
          <p:cNvPr id="6" name="Text Placeholder 5"/>
          <p:cNvSpPr>
            <a:spLocks noGrp="1"/>
          </p:cNvSpPr>
          <p:nvPr>
            <p:ph type="body" sz="quarter" idx="11"/>
          </p:nvPr>
        </p:nvSpPr>
        <p:spPr>
          <a:xfrm>
            <a:off x="3619500" y="1385873"/>
            <a:ext cx="3330574" cy="675889"/>
          </a:xfrm>
        </p:spPr>
        <p:txBody>
          <a:bodyPr/>
          <a:lstStyle/>
          <a:p>
            <a:pPr lvl="1"/>
            <a:r>
              <a:rPr lang="en-US" dirty="0"/>
              <a:t>What is Azure Front Door</a:t>
            </a:r>
          </a:p>
        </p:txBody>
      </p:sp>
      <p:sp>
        <p:nvSpPr>
          <p:cNvPr id="2" name="Text Placeholder 1"/>
          <p:cNvSpPr>
            <a:spLocks noGrp="1"/>
          </p:cNvSpPr>
          <p:nvPr>
            <p:ph type="body" sz="quarter" idx="15"/>
          </p:nvPr>
        </p:nvSpPr>
        <p:spPr>
          <a:xfrm>
            <a:off x="3619500" y="2229724"/>
            <a:ext cx="3330574" cy="675889"/>
          </a:xfrm>
        </p:spPr>
        <p:txBody>
          <a:bodyPr/>
          <a:lstStyle/>
          <a:p>
            <a:pPr lvl="1"/>
            <a:r>
              <a:rPr lang="en-US" dirty="0"/>
              <a:t>Azure Front Door Standard and Premium </a:t>
            </a:r>
          </a:p>
        </p:txBody>
      </p:sp>
      <p:sp>
        <p:nvSpPr>
          <p:cNvPr id="3" name="Text Placeholder 2"/>
          <p:cNvSpPr>
            <a:spLocks noGrp="1"/>
          </p:cNvSpPr>
          <p:nvPr>
            <p:ph type="body" sz="quarter" idx="17"/>
          </p:nvPr>
        </p:nvSpPr>
        <p:spPr>
          <a:xfrm>
            <a:off x="3619500" y="3073575"/>
            <a:ext cx="3330574" cy="675889"/>
          </a:xfrm>
        </p:spPr>
        <p:txBody>
          <a:bodyPr/>
          <a:lstStyle/>
          <a:p>
            <a:pPr lvl="1"/>
            <a:r>
              <a:rPr lang="en-US" dirty="0"/>
              <a:t>Create a Front Door in the Azure portal </a:t>
            </a:r>
          </a:p>
        </p:txBody>
      </p:sp>
      <p:sp>
        <p:nvSpPr>
          <p:cNvPr id="4" name="Text Placeholder 3"/>
          <p:cNvSpPr>
            <a:spLocks noGrp="1"/>
          </p:cNvSpPr>
          <p:nvPr>
            <p:ph type="body" sz="quarter" idx="19"/>
          </p:nvPr>
        </p:nvSpPr>
        <p:spPr>
          <a:xfrm>
            <a:off x="3619500" y="3917426"/>
            <a:ext cx="3330574" cy="675889"/>
          </a:xfrm>
        </p:spPr>
        <p:txBody>
          <a:bodyPr/>
          <a:lstStyle/>
          <a:p>
            <a:pPr lvl="1"/>
            <a:r>
              <a:rPr lang="en-US" dirty="0"/>
              <a:t>Configure routing and redirection rules </a:t>
            </a:r>
          </a:p>
        </p:txBody>
      </p:sp>
      <p:sp>
        <p:nvSpPr>
          <p:cNvPr id="5" name="Text Placeholder 4"/>
          <p:cNvSpPr>
            <a:spLocks noGrp="1"/>
          </p:cNvSpPr>
          <p:nvPr>
            <p:ph type="body" sz="quarter" idx="21"/>
          </p:nvPr>
        </p:nvSpPr>
        <p:spPr>
          <a:xfrm>
            <a:off x="3619499" y="4761277"/>
            <a:ext cx="3690585" cy="675889"/>
          </a:xfrm>
        </p:spPr>
        <p:txBody>
          <a:bodyPr/>
          <a:lstStyle/>
          <a:p>
            <a:pPr lvl="1"/>
            <a:r>
              <a:rPr lang="en-US" dirty="0"/>
              <a:t>Configure back-end targets </a:t>
            </a:r>
          </a:p>
        </p:txBody>
      </p:sp>
      <p:sp>
        <p:nvSpPr>
          <p:cNvPr id="33" name="Text Placeholder 32">
            <a:extLst>
              <a:ext uri="{FF2B5EF4-FFF2-40B4-BE49-F238E27FC236}">
                <a16:creationId xmlns:a16="http://schemas.microsoft.com/office/drawing/2014/main" id="{9FB4CA60-E833-4C8E-B701-0CE6B78FE809}"/>
              </a:ext>
            </a:extLst>
          </p:cNvPr>
          <p:cNvSpPr>
            <a:spLocks noGrp="1"/>
          </p:cNvSpPr>
          <p:nvPr>
            <p:ph type="body" sz="quarter" idx="24"/>
          </p:nvPr>
        </p:nvSpPr>
        <p:spPr>
          <a:xfrm>
            <a:off x="8331200" y="1385873"/>
            <a:ext cx="3442157" cy="675889"/>
          </a:xfrm>
        </p:spPr>
        <p:txBody>
          <a:bodyPr/>
          <a:lstStyle/>
          <a:p>
            <a:pPr lvl="1"/>
            <a:r>
              <a:rPr lang="en-US" dirty="0"/>
              <a:t>Configure health probes</a:t>
            </a:r>
          </a:p>
        </p:txBody>
      </p:sp>
      <p:sp>
        <p:nvSpPr>
          <p:cNvPr id="96" name="Text Placeholder 95">
            <a:extLst>
              <a:ext uri="{FF2B5EF4-FFF2-40B4-BE49-F238E27FC236}">
                <a16:creationId xmlns:a16="http://schemas.microsoft.com/office/drawing/2014/main" id="{1D55D3DF-CA9F-4510-A000-D8F91802EEB6}"/>
              </a:ext>
            </a:extLst>
          </p:cNvPr>
          <p:cNvSpPr>
            <a:spLocks noGrp="1"/>
          </p:cNvSpPr>
          <p:nvPr>
            <p:ph type="body" sz="quarter" idx="25"/>
          </p:nvPr>
        </p:nvSpPr>
        <p:spPr>
          <a:xfrm>
            <a:off x="8331200" y="2229724"/>
            <a:ext cx="3442157" cy="675889"/>
          </a:xfrm>
        </p:spPr>
        <p:txBody>
          <a:bodyPr/>
          <a:lstStyle/>
          <a:p>
            <a:pPr lvl="1"/>
            <a:r>
              <a:rPr lang="en-US" dirty="0"/>
              <a:t>Secure Front Door with SSL and end-to-end SSL encryption </a:t>
            </a:r>
          </a:p>
        </p:txBody>
      </p:sp>
      <p:sp>
        <p:nvSpPr>
          <p:cNvPr id="97" name="Text Placeholder 96">
            <a:extLst>
              <a:ext uri="{FF2B5EF4-FFF2-40B4-BE49-F238E27FC236}">
                <a16:creationId xmlns:a16="http://schemas.microsoft.com/office/drawing/2014/main" id="{A1AE85CF-944E-45AF-932E-A23D5EC8BC42}"/>
              </a:ext>
            </a:extLst>
          </p:cNvPr>
          <p:cNvSpPr>
            <a:spLocks noGrp="1"/>
          </p:cNvSpPr>
          <p:nvPr>
            <p:ph type="body" sz="quarter" idx="26"/>
          </p:nvPr>
        </p:nvSpPr>
        <p:spPr>
          <a:xfrm>
            <a:off x="8331200" y="3073575"/>
            <a:ext cx="3442157" cy="675889"/>
          </a:xfrm>
        </p:spPr>
        <p:txBody>
          <a:bodyPr/>
          <a:lstStyle/>
          <a:p>
            <a:pPr lvl="1"/>
            <a:r>
              <a:rPr lang="en-US" dirty="0"/>
              <a:t>Demo </a:t>
            </a:r>
          </a:p>
        </p:txBody>
      </p:sp>
      <p:sp>
        <p:nvSpPr>
          <p:cNvPr id="98" name="Text Placeholder 97">
            <a:extLst>
              <a:ext uri="{FF2B5EF4-FFF2-40B4-BE49-F238E27FC236}">
                <a16:creationId xmlns:a16="http://schemas.microsoft.com/office/drawing/2014/main" id="{5730627D-2E75-4982-9D94-E57D2121967E}"/>
              </a:ext>
            </a:extLst>
          </p:cNvPr>
          <p:cNvSpPr>
            <a:spLocks noGrp="1"/>
          </p:cNvSpPr>
          <p:nvPr>
            <p:ph type="body" sz="quarter" idx="27"/>
          </p:nvPr>
        </p:nvSpPr>
        <p:spPr>
          <a:xfrm>
            <a:off x="8331200" y="3917426"/>
            <a:ext cx="3442157" cy="675889"/>
          </a:xfrm>
        </p:spPr>
        <p:txBody>
          <a:bodyPr/>
          <a:lstStyle/>
          <a:p>
            <a:pPr lvl="1"/>
            <a:r>
              <a:rPr lang="en-US" dirty="0"/>
              <a:t>Review </a:t>
            </a:r>
          </a:p>
        </p:txBody>
      </p:sp>
      <p:grpSp>
        <p:nvGrpSpPr>
          <p:cNvPr id="7" name="Group 6">
            <a:extLst>
              <a:ext uri="{FF2B5EF4-FFF2-40B4-BE49-F238E27FC236}">
                <a16:creationId xmlns:a16="http://schemas.microsoft.com/office/drawing/2014/main" id="{8222D5A2-3344-4E81-8048-AF1C0B69CD57}"/>
              </a:ext>
              <a:ext uri="{C183D7F6-B498-43B3-948B-1728B52AA6E4}">
                <adec:decorative xmlns:adec="http://schemas.microsoft.com/office/drawing/2017/decorative" val="1"/>
              </a:ext>
            </a:extLst>
          </p:cNvPr>
          <p:cNvGrpSpPr/>
          <p:nvPr/>
        </p:nvGrpSpPr>
        <p:grpSpPr>
          <a:xfrm>
            <a:off x="2744702" y="1407544"/>
            <a:ext cx="648329" cy="4017477"/>
            <a:chOff x="2744702" y="1407544"/>
            <a:chExt cx="648329" cy="4017477"/>
          </a:xfrm>
        </p:grpSpPr>
        <p:grpSp>
          <p:nvGrpSpPr>
            <p:cNvPr id="22" name="Group 21">
              <a:extLst>
                <a:ext uri="{FF2B5EF4-FFF2-40B4-BE49-F238E27FC236}">
                  <a16:creationId xmlns:a16="http://schemas.microsoft.com/office/drawing/2014/main" id="{204B5399-A43E-4092-B45A-8C78C5FAF293}"/>
                </a:ext>
              </a:extLst>
            </p:cNvPr>
            <p:cNvGrpSpPr/>
            <p:nvPr/>
          </p:nvGrpSpPr>
          <p:grpSpPr>
            <a:xfrm>
              <a:off x="2744702" y="1407544"/>
              <a:ext cx="648329" cy="648421"/>
              <a:chOff x="2744702" y="480082"/>
              <a:chExt cx="648329" cy="648421"/>
            </a:xfrm>
          </p:grpSpPr>
          <p:grpSp>
            <p:nvGrpSpPr>
              <p:cNvPr id="21" name="Group 20">
                <a:extLst>
                  <a:ext uri="{FF2B5EF4-FFF2-40B4-BE49-F238E27FC236}">
                    <a16:creationId xmlns:a16="http://schemas.microsoft.com/office/drawing/2014/main" id="{CE4DF085-32CE-4720-9E44-607B924EFE11}"/>
                  </a:ext>
                </a:extLst>
              </p:cNvPr>
              <p:cNvGrpSpPr/>
              <p:nvPr/>
            </p:nvGrpSpPr>
            <p:grpSpPr>
              <a:xfrm>
                <a:off x="2744702" y="480082"/>
                <a:ext cx="648329" cy="648421"/>
                <a:chOff x="2744702" y="480082"/>
                <a:chExt cx="648329" cy="648421"/>
              </a:xfrm>
            </p:grpSpPr>
            <p:sp>
              <p:nvSpPr>
                <p:cNvPr id="102" name="Freeform 5">
                  <a:extLst>
                    <a:ext uri="{FF2B5EF4-FFF2-40B4-BE49-F238E27FC236}">
                      <a16:creationId xmlns:a16="http://schemas.microsoft.com/office/drawing/2014/main" id="{64E369D0-09B4-4225-A6A0-8F0806DF1504}"/>
                    </a:ext>
                  </a:extLst>
                </p:cNvPr>
                <p:cNvSpPr>
                  <a:spLocks/>
                </p:cNvSpPr>
                <p:nvPr/>
              </p:nvSpPr>
              <p:spPr bwMode="auto">
                <a:xfrm>
                  <a:off x="2744702"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3" name="Freeform 6">
                  <a:extLst>
                    <a:ext uri="{FF2B5EF4-FFF2-40B4-BE49-F238E27FC236}">
                      <a16:creationId xmlns:a16="http://schemas.microsoft.com/office/drawing/2014/main" id="{7832EB4A-0718-4AB1-AD45-365DA0ECE835}"/>
                    </a:ext>
                  </a:extLst>
                </p:cNvPr>
                <p:cNvSpPr>
                  <a:spLocks noEditPoints="1"/>
                </p:cNvSpPr>
                <p:nvPr/>
              </p:nvSpPr>
              <p:spPr bwMode="auto">
                <a:xfrm>
                  <a:off x="2789287"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66844BE-B585-4087-B292-C5DD5794EAFC}"/>
                  </a:ext>
                </a:extLst>
              </p:cNvPr>
              <p:cNvPicPr>
                <a:picLocks noChangeAspect="1"/>
              </p:cNvPicPr>
              <p:nvPr/>
            </p:nvPicPr>
            <p:blipFill>
              <a:blip r:embed="rId3"/>
              <a:stretch>
                <a:fillRect/>
              </a:stretch>
            </p:blipFill>
            <p:spPr>
              <a:xfrm>
                <a:off x="2896970" y="632395"/>
                <a:ext cx="343794" cy="343794"/>
              </a:xfrm>
              <a:prstGeom prst="rect">
                <a:avLst/>
              </a:prstGeom>
            </p:spPr>
          </p:pic>
        </p:grpSp>
        <p:grpSp>
          <p:nvGrpSpPr>
            <p:cNvPr id="24" name="Group 23">
              <a:extLst>
                <a:ext uri="{FF2B5EF4-FFF2-40B4-BE49-F238E27FC236}">
                  <a16:creationId xmlns:a16="http://schemas.microsoft.com/office/drawing/2014/main" id="{D01EA723-2D9D-465E-BDF0-C446B21A5226}"/>
                </a:ext>
              </a:extLst>
            </p:cNvPr>
            <p:cNvGrpSpPr/>
            <p:nvPr/>
          </p:nvGrpSpPr>
          <p:grpSpPr>
            <a:xfrm>
              <a:off x="2744702" y="2249808"/>
              <a:ext cx="648329" cy="648421"/>
              <a:chOff x="2744702" y="1322346"/>
              <a:chExt cx="648329" cy="648421"/>
            </a:xfrm>
          </p:grpSpPr>
          <p:grpSp>
            <p:nvGrpSpPr>
              <p:cNvPr id="23" name="Group 22">
                <a:extLst>
                  <a:ext uri="{FF2B5EF4-FFF2-40B4-BE49-F238E27FC236}">
                    <a16:creationId xmlns:a16="http://schemas.microsoft.com/office/drawing/2014/main" id="{1120E625-64C4-478B-A446-B66EAF967212}"/>
                  </a:ext>
                </a:extLst>
              </p:cNvPr>
              <p:cNvGrpSpPr/>
              <p:nvPr/>
            </p:nvGrpSpPr>
            <p:grpSpPr>
              <a:xfrm>
                <a:off x="2744702" y="1322346"/>
                <a:ext cx="648329" cy="648421"/>
                <a:chOff x="2744702" y="1322346"/>
                <a:chExt cx="648329" cy="648421"/>
              </a:xfrm>
            </p:grpSpPr>
            <p:sp>
              <p:nvSpPr>
                <p:cNvPr id="115" name="Freeform 5">
                  <a:extLst>
                    <a:ext uri="{FF2B5EF4-FFF2-40B4-BE49-F238E27FC236}">
                      <a16:creationId xmlns:a16="http://schemas.microsoft.com/office/drawing/2014/main" id="{0F9EA0B3-F8A7-4544-A4CB-C6278812FEA4}"/>
                    </a:ext>
                  </a:extLst>
                </p:cNvPr>
                <p:cNvSpPr>
                  <a:spLocks/>
                </p:cNvSpPr>
                <p:nvPr/>
              </p:nvSpPr>
              <p:spPr bwMode="auto">
                <a:xfrm>
                  <a:off x="2744702"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16" name="Freeform 6">
                  <a:extLst>
                    <a:ext uri="{FF2B5EF4-FFF2-40B4-BE49-F238E27FC236}">
                      <a16:creationId xmlns:a16="http://schemas.microsoft.com/office/drawing/2014/main" id="{6EEBBF9F-9136-4D4F-B8E3-F83373417461}"/>
                    </a:ext>
                  </a:extLst>
                </p:cNvPr>
                <p:cNvSpPr>
                  <a:spLocks noEditPoints="1"/>
                </p:cNvSpPr>
                <p:nvPr/>
              </p:nvSpPr>
              <p:spPr bwMode="auto">
                <a:xfrm>
                  <a:off x="2789287"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C041E934-8D6C-4586-A86A-09C8400C57BA}"/>
                  </a:ext>
                </a:extLst>
              </p:cNvPr>
              <p:cNvPicPr>
                <a:picLocks noChangeAspect="1"/>
              </p:cNvPicPr>
              <p:nvPr/>
            </p:nvPicPr>
            <p:blipFill>
              <a:blip r:embed="rId4"/>
              <a:stretch>
                <a:fillRect/>
              </a:stretch>
            </p:blipFill>
            <p:spPr>
              <a:xfrm>
                <a:off x="2896969" y="1474659"/>
                <a:ext cx="343794" cy="343794"/>
              </a:xfrm>
              <a:prstGeom prst="rect">
                <a:avLst/>
              </a:prstGeom>
            </p:spPr>
          </p:pic>
        </p:grpSp>
        <p:grpSp>
          <p:nvGrpSpPr>
            <p:cNvPr id="26" name="Group 25">
              <a:extLst>
                <a:ext uri="{FF2B5EF4-FFF2-40B4-BE49-F238E27FC236}">
                  <a16:creationId xmlns:a16="http://schemas.microsoft.com/office/drawing/2014/main" id="{06A56B65-6A6C-424B-BB12-C57220C2E0CC}"/>
                </a:ext>
              </a:extLst>
            </p:cNvPr>
            <p:cNvGrpSpPr/>
            <p:nvPr/>
          </p:nvGrpSpPr>
          <p:grpSpPr>
            <a:xfrm>
              <a:off x="2744702" y="3092072"/>
              <a:ext cx="648329" cy="648421"/>
              <a:chOff x="2744702" y="2164610"/>
              <a:chExt cx="648329" cy="648421"/>
            </a:xfrm>
          </p:grpSpPr>
          <p:grpSp>
            <p:nvGrpSpPr>
              <p:cNvPr id="25" name="Group 24">
                <a:extLst>
                  <a:ext uri="{FF2B5EF4-FFF2-40B4-BE49-F238E27FC236}">
                    <a16:creationId xmlns:a16="http://schemas.microsoft.com/office/drawing/2014/main" id="{6D7C2B52-DB73-42EA-AE95-458C77C5B973}"/>
                  </a:ext>
                </a:extLst>
              </p:cNvPr>
              <p:cNvGrpSpPr/>
              <p:nvPr/>
            </p:nvGrpSpPr>
            <p:grpSpPr>
              <a:xfrm>
                <a:off x="2744702" y="2164610"/>
                <a:ext cx="648329" cy="648421"/>
                <a:chOff x="2744702" y="2164610"/>
                <a:chExt cx="648329" cy="648421"/>
              </a:xfrm>
            </p:grpSpPr>
            <p:sp>
              <p:nvSpPr>
                <p:cNvPr id="127" name="Freeform 5">
                  <a:extLst>
                    <a:ext uri="{FF2B5EF4-FFF2-40B4-BE49-F238E27FC236}">
                      <a16:creationId xmlns:a16="http://schemas.microsoft.com/office/drawing/2014/main" id="{BD418F4B-C5AC-41FE-90C4-0CBDC6F67679}"/>
                    </a:ext>
                  </a:extLst>
                </p:cNvPr>
                <p:cNvSpPr>
                  <a:spLocks/>
                </p:cNvSpPr>
                <p:nvPr/>
              </p:nvSpPr>
              <p:spPr bwMode="auto">
                <a:xfrm>
                  <a:off x="2744702"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29" name="Freeform 6">
                  <a:extLst>
                    <a:ext uri="{FF2B5EF4-FFF2-40B4-BE49-F238E27FC236}">
                      <a16:creationId xmlns:a16="http://schemas.microsoft.com/office/drawing/2014/main" id="{4D213CC6-4D71-444D-86E7-980D05CFD496}"/>
                    </a:ext>
                  </a:extLst>
                </p:cNvPr>
                <p:cNvSpPr>
                  <a:spLocks noEditPoints="1"/>
                </p:cNvSpPr>
                <p:nvPr/>
              </p:nvSpPr>
              <p:spPr bwMode="auto">
                <a:xfrm>
                  <a:off x="2789287"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D4D76706-6DBF-4640-9C93-14B9423D3757}"/>
                  </a:ext>
                </a:extLst>
              </p:cNvPr>
              <p:cNvPicPr>
                <a:picLocks noChangeAspect="1"/>
              </p:cNvPicPr>
              <p:nvPr/>
            </p:nvPicPr>
            <p:blipFill>
              <a:blip r:embed="rId5"/>
              <a:stretch>
                <a:fillRect/>
              </a:stretch>
            </p:blipFill>
            <p:spPr>
              <a:xfrm>
                <a:off x="2896970" y="2316856"/>
                <a:ext cx="343794" cy="343794"/>
              </a:xfrm>
              <a:prstGeom prst="rect">
                <a:avLst/>
              </a:prstGeom>
            </p:spPr>
          </p:pic>
        </p:grpSp>
        <p:grpSp>
          <p:nvGrpSpPr>
            <p:cNvPr id="29" name="Group 28">
              <a:extLst>
                <a:ext uri="{FF2B5EF4-FFF2-40B4-BE49-F238E27FC236}">
                  <a16:creationId xmlns:a16="http://schemas.microsoft.com/office/drawing/2014/main" id="{CF1C27DF-2C00-4A45-ADDE-DF01E309475E}"/>
                </a:ext>
              </a:extLst>
            </p:cNvPr>
            <p:cNvGrpSpPr/>
            <p:nvPr/>
          </p:nvGrpSpPr>
          <p:grpSpPr>
            <a:xfrm>
              <a:off x="2744702" y="3934336"/>
              <a:ext cx="648329" cy="648421"/>
              <a:chOff x="2744702" y="3006874"/>
              <a:chExt cx="648329" cy="648421"/>
            </a:xfrm>
          </p:grpSpPr>
          <p:grpSp>
            <p:nvGrpSpPr>
              <p:cNvPr id="28" name="Group 27">
                <a:extLst>
                  <a:ext uri="{FF2B5EF4-FFF2-40B4-BE49-F238E27FC236}">
                    <a16:creationId xmlns:a16="http://schemas.microsoft.com/office/drawing/2014/main" id="{F0CE17E5-0A70-4749-8B1D-C69988842CCA}"/>
                  </a:ext>
                </a:extLst>
              </p:cNvPr>
              <p:cNvGrpSpPr/>
              <p:nvPr/>
            </p:nvGrpSpPr>
            <p:grpSpPr>
              <a:xfrm>
                <a:off x="2744702" y="3006874"/>
                <a:ext cx="648329" cy="648421"/>
                <a:chOff x="2744702" y="3006874"/>
                <a:chExt cx="648329" cy="648421"/>
              </a:xfrm>
            </p:grpSpPr>
            <p:sp>
              <p:nvSpPr>
                <p:cNvPr id="158" name="Freeform 5">
                  <a:extLst>
                    <a:ext uri="{FF2B5EF4-FFF2-40B4-BE49-F238E27FC236}">
                      <a16:creationId xmlns:a16="http://schemas.microsoft.com/office/drawing/2014/main" id="{9CF42A4E-EB4F-44F1-BFCB-2057B0D31F06}"/>
                    </a:ext>
                  </a:extLst>
                </p:cNvPr>
                <p:cNvSpPr>
                  <a:spLocks/>
                </p:cNvSpPr>
                <p:nvPr/>
              </p:nvSpPr>
              <p:spPr bwMode="auto">
                <a:xfrm>
                  <a:off x="2744702"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60" name="Freeform 6">
                  <a:extLst>
                    <a:ext uri="{FF2B5EF4-FFF2-40B4-BE49-F238E27FC236}">
                      <a16:creationId xmlns:a16="http://schemas.microsoft.com/office/drawing/2014/main" id="{DBD82E7C-DF60-416D-95A1-9F29ECA1BD16}"/>
                    </a:ext>
                  </a:extLst>
                </p:cNvPr>
                <p:cNvSpPr>
                  <a:spLocks noEditPoints="1"/>
                </p:cNvSpPr>
                <p:nvPr/>
              </p:nvSpPr>
              <p:spPr bwMode="auto">
                <a:xfrm>
                  <a:off x="2789287"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10619E75-2DB9-4804-AD98-96A2B9188EED}"/>
                  </a:ext>
                </a:extLst>
              </p:cNvPr>
              <p:cNvPicPr>
                <a:picLocks noChangeAspect="1"/>
              </p:cNvPicPr>
              <p:nvPr/>
            </p:nvPicPr>
            <p:blipFill>
              <a:blip r:embed="rId6"/>
              <a:stretch>
                <a:fillRect/>
              </a:stretch>
            </p:blipFill>
            <p:spPr>
              <a:xfrm>
                <a:off x="2945272" y="3159187"/>
                <a:ext cx="247191" cy="343794"/>
              </a:xfrm>
              <a:prstGeom prst="rect">
                <a:avLst/>
              </a:prstGeom>
            </p:spPr>
          </p:pic>
        </p:grpSp>
        <p:grpSp>
          <p:nvGrpSpPr>
            <p:cNvPr id="31" name="Group 30">
              <a:extLst>
                <a:ext uri="{FF2B5EF4-FFF2-40B4-BE49-F238E27FC236}">
                  <a16:creationId xmlns:a16="http://schemas.microsoft.com/office/drawing/2014/main" id="{5FCBCBA0-2D4A-4E80-9B7F-8C503DC68F17}"/>
                </a:ext>
              </a:extLst>
            </p:cNvPr>
            <p:cNvGrpSpPr/>
            <p:nvPr/>
          </p:nvGrpSpPr>
          <p:grpSpPr>
            <a:xfrm>
              <a:off x="2744702" y="4776600"/>
              <a:ext cx="648329" cy="648421"/>
              <a:chOff x="2744702" y="3849138"/>
              <a:chExt cx="648329" cy="648421"/>
            </a:xfrm>
          </p:grpSpPr>
          <p:grpSp>
            <p:nvGrpSpPr>
              <p:cNvPr id="30" name="Group 29">
                <a:extLst>
                  <a:ext uri="{FF2B5EF4-FFF2-40B4-BE49-F238E27FC236}">
                    <a16:creationId xmlns:a16="http://schemas.microsoft.com/office/drawing/2014/main" id="{8937348B-CC1B-4A60-A129-B846017B9F46}"/>
                  </a:ext>
                </a:extLst>
              </p:cNvPr>
              <p:cNvGrpSpPr/>
              <p:nvPr/>
            </p:nvGrpSpPr>
            <p:grpSpPr>
              <a:xfrm>
                <a:off x="2744702" y="3849138"/>
                <a:ext cx="648329" cy="648421"/>
                <a:chOff x="2744702" y="3849138"/>
                <a:chExt cx="648329" cy="648421"/>
              </a:xfrm>
            </p:grpSpPr>
            <p:sp>
              <p:nvSpPr>
                <p:cNvPr id="172" name="Freeform 5">
                  <a:extLst>
                    <a:ext uri="{FF2B5EF4-FFF2-40B4-BE49-F238E27FC236}">
                      <a16:creationId xmlns:a16="http://schemas.microsoft.com/office/drawing/2014/main" id="{E3809A20-017B-4B88-86C5-C5074965D327}"/>
                    </a:ext>
                  </a:extLst>
                </p:cNvPr>
                <p:cNvSpPr>
                  <a:spLocks/>
                </p:cNvSpPr>
                <p:nvPr/>
              </p:nvSpPr>
              <p:spPr bwMode="auto">
                <a:xfrm>
                  <a:off x="2744702" y="3849138"/>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73" name="Freeform 6">
                  <a:extLst>
                    <a:ext uri="{FF2B5EF4-FFF2-40B4-BE49-F238E27FC236}">
                      <a16:creationId xmlns:a16="http://schemas.microsoft.com/office/drawing/2014/main" id="{3778FB8E-D7E5-4F26-9C8E-CFB30C3C9617}"/>
                    </a:ext>
                  </a:extLst>
                </p:cNvPr>
                <p:cNvSpPr>
                  <a:spLocks noEditPoints="1"/>
                </p:cNvSpPr>
                <p:nvPr/>
              </p:nvSpPr>
              <p:spPr bwMode="auto">
                <a:xfrm>
                  <a:off x="2789287" y="3894255"/>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E7064263-D8DA-43D1-8BA3-A8EE0085D643}"/>
                  </a:ext>
                </a:extLst>
              </p:cNvPr>
              <p:cNvPicPr>
                <a:picLocks noChangeAspect="1"/>
              </p:cNvPicPr>
              <p:nvPr/>
            </p:nvPicPr>
            <p:blipFill>
              <a:blip r:embed="rId7"/>
              <a:stretch>
                <a:fillRect/>
              </a:stretch>
            </p:blipFill>
            <p:spPr>
              <a:xfrm>
                <a:off x="2900000" y="4046628"/>
                <a:ext cx="337732" cy="253437"/>
              </a:xfrm>
              <a:prstGeom prst="rect">
                <a:avLst/>
              </a:prstGeom>
            </p:spPr>
          </p:pic>
        </p:grpSp>
      </p:grpSp>
      <p:grpSp>
        <p:nvGrpSpPr>
          <p:cNvPr id="13" name="Group 12">
            <a:extLst>
              <a:ext uri="{FF2B5EF4-FFF2-40B4-BE49-F238E27FC236}">
                <a16:creationId xmlns:a16="http://schemas.microsoft.com/office/drawing/2014/main" id="{591B97C4-9D41-49CD-AF44-F9E41D238D55}"/>
              </a:ext>
              <a:ext uri="{C183D7F6-B498-43B3-948B-1728B52AA6E4}">
                <adec:decorative xmlns:adec="http://schemas.microsoft.com/office/drawing/2017/decorative" val="1"/>
              </a:ext>
            </a:extLst>
          </p:cNvPr>
          <p:cNvGrpSpPr/>
          <p:nvPr/>
        </p:nvGrpSpPr>
        <p:grpSpPr>
          <a:xfrm>
            <a:off x="7465384" y="1407544"/>
            <a:ext cx="648329" cy="3175213"/>
            <a:chOff x="7465384" y="1407544"/>
            <a:chExt cx="648329" cy="3175213"/>
          </a:xfrm>
        </p:grpSpPr>
        <p:grpSp>
          <p:nvGrpSpPr>
            <p:cNvPr id="46" name="Group 45">
              <a:extLst>
                <a:ext uri="{FF2B5EF4-FFF2-40B4-BE49-F238E27FC236}">
                  <a16:creationId xmlns:a16="http://schemas.microsoft.com/office/drawing/2014/main" id="{3F9A8503-939D-4DD5-B78C-EC416EEDC730}"/>
                </a:ext>
              </a:extLst>
            </p:cNvPr>
            <p:cNvGrpSpPr/>
            <p:nvPr/>
          </p:nvGrpSpPr>
          <p:grpSpPr>
            <a:xfrm>
              <a:off x="7465384" y="1407544"/>
              <a:ext cx="648329" cy="648421"/>
              <a:chOff x="7465384" y="480082"/>
              <a:chExt cx="648329" cy="648421"/>
            </a:xfrm>
          </p:grpSpPr>
          <p:grpSp>
            <p:nvGrpSpPr>
              <p:cNvPr id="45" name="Group 44">
                <a:extLst>
                  <a:ext uri="{FF2B5EF4-FFF2-40B4-BE49-F238E27FC236}">
                    <a16:creationId xmlns:a16="http://schemas.microsoft.com/office/drawing/2014/main" id="{44FBE7E9-E9B0-4FAE-9022-BC64CD64759E}"/>
                  </a:ext>
                </a:extLst>
              </p:cNvPr>
              <p:cNvGrpSpPr/>
              <p:nvPr/>
            </p:nvGrpSpPr>
            <p:grpSpPr>
              <a:xfrm>
                <a:off x="7465384" y="480082"/>
                <a:ext cx="648329" cy="648421"/>
                <a:chOff x="7465384" y="480082"/>
                <a:chExt cx="648329" cy="648421"/>
              </a:xfrm>
            </p:grpSpPr>
            <p:sp>
              <p:nvSpPr>
                <p:cNvPr id="161" name="Freeform 5">
                  <a:extLst>
                    <a:ext uri="{FF2B5EF4-FFF2-40B4-BE49-F238E27FC236}">
                      <a16:creationId xmlns:a16="http://schemas.microsoft.com/office/drawing/2014/main" id="{DE863DBE-BF83-4BD8-945A-7A99DA7AEC9C}"/>
                    </a:ext>
                  </a:extLst>
                </p:cNvPr>
                <p:cNvSpPr>
                  <a:spLocks/>
                </p:cNvSpPr>
                <p:nvPr/>
              </p:nvSpPr>
              <p:spPr bwMode="auto">
                <a:xfrm>
                  <a:off x="7465384"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62" name="Freeform 6">
                  <a:extLst>
                    <a:ext uri="{FF2B5EF4-FFF2-40B4-BE49-F238E27FC236}">
                      <a16:creationId xmlns:a16="http://schemas.microsoft.com/office/drawing/2014/main" id="{19A42A39-FE92-4EC5-BCE2-E1380924622A}"/>
                    </a:ext>
                  </a:extLst>
                </p:cNvPr>
                <p:cNvSpPr>
                  <a:spLocks noEditPoints="1"/>
                </p:cNvSpPr>
                <p:nvPr/>
              </p:nvSpPr>
              <p:spPr bwMode="auto">
                <a:xfrm>
                  <a:off x="7509969"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4" name="Picture 13" descr="Icon of three concentric arcs">
                <a:extLst>
                  <a:ext uri="{FF2B5EF4-FFF2-40B4-BE49-F238E27FC236}">
                    <a16:creationId xmlns:a16="http://schemas.microsoft.com/office/drawing/2014/main" id="{C8C18832-CB43-4668-B162-049185D820E8}"/>
                  </a:ext>
                </a:extLst>
              </p:cNvPr>
              <p:cNvPicPr>
                <a:picLocks noChangeAspect="1"/>
              </p:cNvPicPr>
              <p:nvPr/>
            </p:nvPicPr>
            <p:blipFill>
              <a:blip r:embed="rId3"/>
              <a:stretch>
                <a:fillRect/>
              </a:stretch>
            </p:blipFill>
            <p:spPr>
              <a:xfrm>
                <a:off x="7617652" y="632395"/>
                <a:ext cx="343794" cy="343794"/>
              </a:xfrm>
              <a:prstGeom prst="rect">
                <a:avLst/>
              </a:prstGeom>
            </p:spPr>
          </p:pic>
        </p:grpSp>
        <p:grpSp>
          <p:nvGrpSpPr>
            <p:cNvPr id="44" name="Group 43">
              <a:extLst>
                <a:ext uri="{FF2B5EF4-FFF2-40B4-BE49-F238E27FC236}">
                  <a16:creationId xmlns:a16="http://schemas.microsoft.com/office/drawing/2014/main" id="{2FA37299-4C2D-444A-81DE-A55D5E652C3F}"/>
                </a:ext>
              </a:extLst>
            </p:cNvPr>
            <p:cNvGrpSpPr/>
            <p:nvPr/>
          </p:nvGrpSpPr>
          <p:grpSpPr>
            <a:xfrm>
              <a:off x="7465384" y="2249808"/>
              <a:ext cx="648329" cy="648421"/>
              <a:chOff x="7465384" y="1322346"/>
              <a:chExt cx="648329" cy="648421"/>
            </a:xfrm>
          </p:grpSpPr>
          <p:grpSp>
            <p:nvGrpSpPr>
              <p:cNvPr id="43" name="Group 42">
                <a:extLst>
                  <a:ext uri="{FF2B5EF4-FFF2-40B4-BE49-F238E27FC236}">
                    <a16:creationId xmlns:a16="http://schemas.microsoft.com/office/drawing/2014/main" id="{ECD12940-0915-47B9-98C6-0D988B69B842}"/>
                  </a:ext>
                </a:extLst>
              </p:cNvPr>
              <p:cNvGrpSpPr/>
              <p:nvPr/>
            </p:nvGrpSpPr>
            <p:grpSpPr>
              <a:xfrm>
                <a:off x="7465384" y="1322346"/>
                <a:ext cx="648329" cy="648421"/>
                <a:chOff x="7465384" y="1322346"/>
                <a:chExt cx="648329" cy="648421"/>
              </a:xfrm>
            </p:grpSpPr>
            <p:sp>
              <p:nvSpPr>
                <p:cNvPr id="201" name="Freeform 5">
                  <a:extLst>
                    <a:ext uri="{FF2B5EF4-FFF2-40B4-BE49-F238E27FC236}">
                      <a16:creationId xmlns:a16="http://schemas.microsoft.com/office/drawing/2014/main" id="{C7DE1906-F80E-405F-AE6A-E2B5F7771A42}"/>
                    </a:ext>
                  </a:extLst>
                </p:cNvPr>
                <p:cNvSpPr>
                  <a:spLocks/>
                </p:cNvSpPr>
                <p:nvPr/>
              </p:nvSpPr>
              <p:spPr bwMode="auto">
                <a:xfrm>
                  <a:off x="7465384"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02" name="Freeform 6">
                  <a:extLst>
                    <a:ext uri="{FF2B5EF4-FFF2-40B4-BE49-F238E27FC236}">
                      <a16:creationId xmlns:a16="http://schemas.microsoft.com/office/drawing/2014/main" id="{215198FA-59CE-4083-A98A-E953582E7214}"/>
                    </a:ext>
                  </a:extLst>
                </p:cNvPr>
                <p:cNvSpPr>
                  <a:spLocks noEditPoints="1"/>
                </p:cNvSpPr>
                <p:nvPr/>
              </p:nvSpPr>
              <p:spPr bwMode="auto">
                <a:xfrm>
                  <a:off x="7509969"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5" name="Picture 14" descr="Icon of a arrow in a circular path with a timer inside the circle">
                <a:extLst>
                  <a:ext uri="{FF2B5EF4-FFF2-40B4-BE49-F238E27FC236}">
                    <a16:creationId xmlns:a16="http://schemas.microsoft.com/office/drawing/2014/main" id="{E4459D42-4F56-476D-A35F-75CECAC6A057}"/>
                  </a:ext>
                </a:extLst>
              </p:cNvPr>
              <p:cNvPicPr>
                <a:picLocks noChangeAspect="1"/>
              </p:cNvPicPr>
              <p:nvPr/>
            </p:nvPicPr>
            <p:blipFill>
              <a:blip r:embed="rId4"/>
              <a:stretch>
                <a:fillRect/>
              </a:stretch>
            </p:blipFill>
            <p:spPr>
              <a:xfrm>
                <a:off x="7617651" y="1474659"/>
                <a:ext cx="343794" cy="343794"/>
              </a:xfrm>
              <a:prstGeom prst="rect">
                <a:avLst/>
              </a:prstGeom>
            </p:spPr>
          </p:pic>
        </p:grpSp>
        <p:grpSp>
          <p:nvGrpSpPr>
            <p:cNvPr id="42" name="Group 41">
              <a:extLst>
                <a:ext uri="{FF2B5EF4-FFF2-40B4-BE49-F238E27FC236}">
                  <a16:creationId xmlns:a16="http://schemas.microsoft.com/office/drawing/2014/main" id="{1C245463-3230-4B72-8056-DC885406DBBB}"/>
                </a:ext>
              </a:extLst>
            </p:cNvPr>
            <p:cNvGrpSpPr/>
            <p:nvPr/>
          </p:nvGrpSpPr>
          <p:grpSpPr>
            <a:xfrm>
              <a:off x="7465384" y="3092072"/>
              <a:ext cx="648329" cy="648421"/>
              <a:chOff x="7465384" y="2164610"/>
              <a:chExt cx="648329" cy="648421"/>
            </a:xfrm>
          </p:grpSpPr>
          <p:grpSp>
            <p:nvGrpSpPr>
              <p:cNvPr id="41" name="Group 40">
                <a:extLst>
                  <a:ext uri="{FF2B5EF4-FFF2-40B4-BE49-F238E27FC236}">
                    <a16:creationId xmlns:a16="http://schemas.microsoft.com/office/drawing/2014/main" id="{003EFA45-3C02-49BE-99BF-A2C364D8438D}"/>
                  </a:ext>
                </a:extLst>
              </p:cNvPr>
              <p:cNvGrpSpPr/>
              <p:nvPr/>
            </p:nvGrpSpPr>
            <p:grpSpPr>
              <a:xfrm>
                <a:off x="7465384" y="2164610"/>
                <a:ext cx="648329" cy="648421"/>
                <a:chOff x="7465384" y="2164610"/>
                <a:chExt cx="648329" cy="648421"/>
              </a:xfrm>
            </p:grpSpPr>
            <p:sp>
              <p:nvSpPr>
                <p:cNvPr id="275" name="Freeform 5">
                  <a:extLst>
                    <a:ext uri="{FF2B5EF4-FFF2-40B4-BE49-F238E27FC236}">
                      <a16:creationId xmlns:a16="http://schemas.microsoft.com/office/drawing/2014/main" id="{D9F5808C-9B3D-433C-B434-806D1B5FEDA4}"/>
                    </a:ext>
                  </a:extLst>
                </p:cNvPr>
                <p:cNvSpPr>
                  <a:spLocks/>
                </p:cNvSpPr>
                <p:nvPr/>
              </p:nvSpPr>
              <p:spPr bwMode="auto">
                <a:xfrm>
                  <a:off x="7465384"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76" name="Freeform 6">
                  <a:extLst>
                    <a:ext uri="{FF2B5EF4-FFF2-40B4-BE49-F238E27FC236}">
                      <a16:creationId xmlns:a16="http://schemas.microsoft.com/office/drawing/2014/main" id="{55675F26-DDB6-4831-BB09-3FFCECC8E39C}"/>
                    </a:ext>
                  </a:extLst>
                </p:cNvPr>
                <p:cNvSpPr>
                  <a:spLocks noEditPoints="1"/>
                </p:cNvSpPr>
                <p:nvPr/>
              </p:nvSpPr>
              <p:spPr bwMode="auto">
                <a:xfrm>
                  <a:off x="7509969"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6" name="Picture 15" descr="Icon of a gear inside a circle">
                <a:extLst>
                  <a:ext uri="{FF2B5EF4-FFF2-40B4-BE49-F238E27FC236}">
                    <a16:creationId xmlns:a16="http://schemas.microsoft.com/office/drawing/2014/main" id="{FF57670B-F209-45D7-9C7A-731155FB750B}"/>
                  </a:ext>
                </a:extLst>
              </p:cNvPr>
              <p:cNvPicPr>
                <a:picLocks noChangeAspect="1"/>
              </p:cNvPicPr>
              <p:nvPr/>
            </p:nvPicPr>
            <p:blipFill>
              <a:blip r:embed="rId5"/>
              <a:stretch>
                <a:fillRect/>
              </a:stretch>
            </p:blipFill>
            <p:spPr>
              <a:xfrm>
                <a:off x="7617652" y="2316856"/>
                <a:ext cx="343794" cy="343794"/>
              </a:xfrm>
              <a:prstGeom prst="rect">
                <a:avLst/>
              </a:prstGeom>
            </p:spPr>
          </p:pic>
        </p:grpSp>
        <p:grpSp>
          <p:nvGrpSpPr>
            <p:cNvPr id="40" name="Group 39">
              <a:extLst>
                <a:ext uri="{FF2B5EF4-FFF2-40B4-BE49-F238E27FC236}">
                  <a16:creationId xmlns:a16="http://schemas.microsoft.com/office/drawing/2014/main" id="{CD360B4F-EE2B-4DA6-AB98-B9DB81B9024A}"/>
                </a:ext>
              </a:extLst>
            </p:cNvPr>
            <p:cNvGrpSpPr/>
            <p:nvPr/>
          </p:nvGrpSpPr>
          <p:grpSpPr>
            <a:xfrm>
              <a:off x="7465384" y="3934336"/>
              <a:ext cx="648329" cy="648421"/>
              <a:chOff x="7465384" y="3006874"/>
              <a:chExt cx="648329" cy="648421"/>
            </a:xfrm>
          </p:grpSpPr>
          <p:grpSp>
            <p:nvGrpSpPr>
              <p:cNvPr id="39" name="Group 38">
                <a:extLst>
                  <a:ext uri="{FF2B5EF4-FFF2-40B4-BE49-F238E27FC236}">
                    <a16:creationId xmlns:a16="http://schemas.microsoft.com/office/drawing/2014/main" id="{90D3577D-CE30-4170-A24D-7F611D25D278}"/>
                  </a:ext>
                </a:extLst>
              </p:cNvPr>
              <p:cNvGrpSpPr/>
              <p:nvPr/>
            </p:nvGrpSpPr>
            <p:grpSpPr>
              <a:xfrm>
                <a:off x="7465384" y="3006874"/>
                <a:ext cx="648329" cy="648421"/>
                <a:chOff x="7465384" y="3006874"/>
                <a:chExt cx="648329" cy="648421"/>
              </a:xfrm>
            </p:grpSpPr>
            <p:sp>
              <p:nvSpPr>
                <p:cNvPr id="288" name="Freeform 5">
                  <a:extLst>
                    <a:ext uri="{FF2B5EF4-FFF2-40B4-BE49-F238E27FC236}">
                      <a16:creationId xmlns:a16="http://schemas.microsoft.com/office/drawing/2014/main" id="{A73611B5-BF2A-49C4-B3C4-7A02CA678CE5}"/>
                    </a:ext>
                  </a:extLst>
                </p:cNvPr>
                <p:cNvSpPr>
                  <a:spLocks/>
                </p:cNvSpPr>
                <p:nvPr/>
              </p:nvSpPr>
              <p:spPr bwMode="auto">
                <a:xfrm>
                  <a:off x="7465384"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89" name="Freeform 6">
                  <a:extLst>
                    <a:ext uri="{FF2B5EF4-FFF2-40B4-BE49-F238E27FC236}">
                      <a16:creationId xmlns:a16="http://schemas.microsoft.com/office/drawing/2014/main" id="{8099A7AA-C1B5-4B98-AAA5-85438FCAFA30}"/>
                    </a:ext>
                  </a:extLst>
                </p:cNvPr>
                <p:cNvSpPr>
                  <a:spLocks noEditPoints="1"/>
                </p:cNvSpPr>
                <p:nvPr/>
              </p:nvSpPr>
              <p:spPr bwMode="auto">
                <a:xfrm>
                  <a:off x="7509969"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8" name="Picture 17" descr="Icon of a bulb">
                <a:extLst>
                  <a:ext uri="{FF2B5EF4-FFF2-40B4-BE49-F238E27FC236}">
                    <a16:creationId xmlns:a16="http://schemas.microsoft.com/office/drawing/2014/main" id="{BD13A457-70B7-4884-980F-27ACDD65C9BD}"/>
                  </a:ext>
                </a:extLst>
              </p:cNvPr>
              <p:cNvPicPr>
                <a:picLocks noChangeAspect="1"/>
              </p:cNvPicPr>
              <p:nvPr/>
            </p:nvPicPr>
            <p:blipFill>
              <a:blip r:embed="rId6"/>
              <a:stretch>
                <a:fillRect/>
              </a:stretch>
            </p:blipFill>
            <p:spPr>
              <a:xfrm>
                <a:off x="7665954" y="3159187"/>
                <a:ext cx="247191" cy="343794"/>
              </a:xfrm>
              <a:prstGeom prst="rect">
                <a:avLst/>
              </a:prstGeom>
            </p:spPr>
          </p:pic>
        </p:grpSp>
      </p:grpSp>
    </p:spTree>
    <p:extLst>
      <p:ext uri="{BB962C8B-B14F-4D97-AF65-F5344CB8AC3E}">
        <p14:creationId xmlns:p14="http://schemas.microsoft.com/office/powerpoint/2010/main" val="61723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966613-1526-42A2-9960-9CAE6180C44C}"/>
              </a:ext>
            </a:extLst>
          </p:cNvPr>
          <p:cNvSpPr>
            <a:spLocks noGrp="1"/>
          </p:cNvSpPr>
          <p:nvPr>
            <p:ph type="title"/>
          </p:nvPr>
        </p:nvSpPr>
        <p:spPr/>
        <p:txBody>
          <a:bodyPr/>
          <a:lstStyle/>
          <a:p>
            <a:r>
              <a:rPr lang="en-US" dirty="0"/>
              <a:t>What is Azure Front Door</a:t>
            </a:r>
          </a:p>
        </p:txBody>
      </p:sp>
      <p:sp>
        <p:nvSpPr>
          <p:cNvPr id="7" name="TextBox 1">
            <a:extLst>
              <a:ext uri="{FF2B5EF4-FFF2-40B4-BE49-F238E27FC236}">
                <a16:creationId xmlns:a16="http://schemas.microsoft.com/office/drawing/2014/main" id="{5FD71E3F-7C6A-4566-981C-7DFDE877487F}"/>
              </a:ext>
            </a:extLst>
          </p:cNvPr>
          <p:cNvSpPr txBox="1"/>
          <p:nvPr/>
        </p:nvSpPr>
        <p:spPr>
          <a:xfrm>
            <a:off x="418643" y="1215860"/>
            <a:ext cx="5521378" cy="1040233"/>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latin typeface="+mj-lt"/>
              </a:rPr>
              <a:t>Global, scalable entry-point that uses the Microsoft global edge network to create fast, secure, and widely scalable web applications</a:t>
            </a:r>
          </a:p>
        </p:txBody>
      </p:sp>
      <p:sp>
        <p:nvSpPr>
          <p:cNvPr id="9" name="TextBox 1">
            <a:extLst>
              <a:ext uri="{FF2B5EF4-FFF2-40B4-BE49-F238E27FC236}">
                <a16:creationId xmlns:a16="http://schemas.microsoft.com/office/drawing/2014/main" id="{B179488E-EB3F-4DBD-8949-89C16479AF92}"/>
              </a:ext>
            </a:extLst>
          </p:cNvPr>
          <p:cNvSpPr txBox="1"/>
          <p:nvPr/>
        </p:nvSpPr>
        <p:spPr>
          <a:xfrm>
            <a:off x="418643" y="2448388"/>
            <a:ext cx="5521378" cy="891842"/>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latin typeface="+mj-lt"/>
              </a:rPr>
              <a:t>Accelerated application performance by using split TCP-based anycast protocol</a:t>
            </a:r>
          </a:p>
        </p:txBody>
      </p:sp>
      <p:sp>
        <p:nvSpPr>
          <p:cNvPr id="11" name="TextBox 1">
            <a:extLst>
              <a:ext uri="{FF2B5EF4-FFF2-40B4-BE49-F238E27FC236}">
                <a16:creationId xmlns:a16="http://schemas.microsoft.com/office/drawing/2014/main" id="{0D437B97-25A9-47EB-BAFD-B5E77FC0F98C}"/>
              </a:ext>
            </a:extLst>
          </p:cNvPr>
          <p:cNvSpPr txBox="1"/>
          <p:nvPr/>
        </p:nvSpPr>
        <p:spPr>
          <a:xfrm>
            <a:off x="418643" y="3488621"/>
            <a:ext cx="5521378" cy="891842"/>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latin typeface="+mj-lt"/>
              </a:rPr>
              <a:t>Intelligent health probe monitoring for backend resources</a:t>
            </a:r>
          </a:p>
        </p:txBody>
      </p:sp>
      <p:sp>
        <p:nvSpPr>
          <p:cNvPr id="13" name="TextBox 1">
            <a:extLst>
              <a:ext uri="{FF2B5EF4-FFF2-40B4-BE49-F238E27FC236}">
                <a16:creationId xmlns:a16="http://schemas.microsoft.com/office/drawing/2014/main" id="{03BFC306-18F5-4FAC-B902-2CD25E936D81}"/>
              </a:ext>
            </a:extLst>
          </p:cNvPr>
          <p:cNvSpPr txBox="1"/>
          <p:nvPr/>
        </p:nvSpPr>
        <p:spPr>
          <a:xfrm>
            <a:off x="418643" y="4528854"/>
            <a:ext cx="5521378" cy="891842"/>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latin typeface="+mj-lt"/>
              </a:rPr>
              <a:t>URL-path based routing for requests</a:t>
            </a:r>
          </a:p>
        </p:txBody>
      </p:sp>
      <p:sp>
        <p:nvSpPr>
          <p:cNvPr id="15" name="TextBox 1">
            <a:extLst>
              <a:ext uri="{FF2B5EF4-FFF2-40B4-BE49-F238E27FC236}">
                <a16:creationId xmlns:a16="http://schemas.microsoft.com/office/drawing/2014/main" id="{0B5A65DD-ADA9-4948-9A6E-98E6C76E8462}"/>
              </a:ext>
            </a:extLst>
          </p:cNvPr>
          <p:cNvSpPr txBox="1"/>
          <p:nvPr/>
        </p:nvSpPr>
        <p:spPr>
          <a:xfrm>
            <a:off x="418643" y="5569087"/>
            <a:ext cx="5521378" cy="860383"/>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effectLst/>
                <a:latin typeface="+mj-lt"/>
                <a:ea typeface="Calibri" panose="020F0502020204030204" pitchFamily="34" charset="0"/>
                <a:cs typeface="Times New Roman" panose="02020603050405020304" pitchFamily="18" charset="0"/>
              </a:rPr>
              <a:t>Enables hosting of multiple websites for efficient application infrastructure</a:t>
            </a:r>
          </a:p>
        </p:txBody>
      </p:sp>
      <p:pic>
        <p:nvPicPr>
          <p:cNvPr id="4" name="Picture 3" descr="Azure Front Door layout diagram">
            <a:extLst>
              <a:ext uri="{FF2B5EF4-FFF2-40B4-BE49-F238E27FC236}">
                <a16:creationId xmlns:a16="http://schemas.microsoft.com/office/drawing/2014/main" id="{C28F1B90-6664-46BE-B65F-5C479E4546A1}"/>
              </a:ext>
            </a:extLst>
          </p:cNvPr>
          <p:cNvPicPr/>
          <p:nvPr/>
        </p:nvPicPr>
        <p:blipFill>
          <a:blip r:embed="rId3"/>
          <a:stretch>
            <a:fillRect/>
          </a:stretch>
        </p:blipFill>
        <p:spPr bwMode="auto">
          <a:xfrm>
            <a:off x="5940021" y="593373"/>
            <a:ext cx="6068939" cy="5644199"/>
          </a:xfrm>
          <a:prstGeom prst="rect">
            <a:avLst/>
          </a:prstGeom>
          <a:noFill/>
          <a:ln>
            <a:noFill/>
          </a:ln>
        </p:spPr>
      </p:pic>
      <p:sp>
        <p:nvSpPr>
          <p:cNvPr id="17" name="Rectangle 16">
            <a:extLst>
              <a:ext uri="{FF2B5EF4-FFF2-40B4-BE49-F238E27FC236}">
                <a16:creationId xmlns:a16="http://schemas.microsoft.com/office/drawing/2014/main" id="{82905BDD-237F-4435-B24C-083DB7ACA3F6}"/>
              </a:ext>
              <a:ext uri="{C183D7F6-B498-43B3-948B-1728B52AA6E4}">
                <adec:decorative xmlns:adec="http://schemas.microsoft.com/office/drawing/2017/decorative" val="1"/>
              </a:ext>
            </a:extLst>
          </p:cNvPr>
          <p:cNvSpPr/>
          <p:nvPr/>
        </p:nvSpPr>
        <p:spPr bwMode="auto">
          <a:xfrm>
            <a:off x="6096000" y="593373"/>
            <a:ext cx="5912959" cy="567125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102" fontAlgn="base">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70150128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C5E02-39B2-46B0-A025-66604E42C2E2}"/>
              </a:ext>
            </a:extLst>
          </p:cNvPr>
          <p:cNvSpPr>
            <a:spLocks noGrp="1"/>
          </p:cNvSpPr>
          <p:nvPr>
            <p:ph type="title"/>
          </p:nvPr>
        </p:nvSpPr>
        <p:spPr>
          <a:xfrm>
            <a:off x="429536" y="388416"/>
            <a:ext cx="11306469" cy="403137"/>
          </a:xfrm>
        </p:spPr>
        <p:txBody>
          <a:bodyPr/>
          <a:lstStyle/>
          <a:p>
            <a:r>
              <a:rPr lang="en-US" dirty="0"/>
              <a:t>Azure Front Door Standard and Premium </a:t>
            </a:r>
          </a:p>
        </p:txBody>
      </p:sp>
      <p:sp>
        <p:nvSpPr>
          <p:cNvPr id="4" name="TextBox 1">
            <a:extLst>
              <a:ext uri="{FF2B5EF4-FFF2-40B4-BE49-F238E27FC236}">
                <a16:creationId xmlns:a16="http://schemas.microsoft.com/office/drawing/2014/main" id="{7A2D5AB1-4045-4393-9DAD-66F498E9ACED}"/>
              </a:ext>
            </a:extLst>
          </p:cNvPr>
          <p:cNvSpPr txBox="1"/>
          <p:nvPr/>
        </p:nvSpPr>
        <p:spPr>
          <a:xfrm>
            <a:off x="429536" y="4531057"/>
            <a:ext cx="5521378" cy="2103113"/>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effectLst/>
                <a:latin typeface="+mj-lt"/>
                <a:ea typeface="Calibri" panose="020F0502020204030204" pitchFamily="34" charset="0"/>
                <a:cs typeface="Times New Roman" panose="02020603050405020304" pitchFamily="18" charset="0"/>
              </a:rPr>
              <a:t>Azure Front Door Standard SKU is: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effectLst/>
                <a:latin typeface="+mj-lt"/>
                <a:ea typeface="Calibri" panose="020F0502020204030204" pitchFamily="34" charset="0"/>
                <a:cs typeface="Times New Roman" panose="02020603050405020304" pitchFamily="18" charset="0"/>
              </a:rPr>
              <a:t>Content delivery optimized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effectLst/>
                <a:latin typeface="+mj-lt"/>
                <a:ea typeface="Calibri" panose="020F0502020204030204" pitchFamily="34" charset="0"/>
                <a:cs typeface="Times New Roman" panose="02020603050405020304" pitchFamily="18" charset="0"/>
              </a:rPr>
              <a:t>Offering both static and dynamic content acceleration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effectLst/>
                <a:latin typeface="+mj-lt"/>
                <a:ea typeface="Calibri" panose="020F0502020204030204" pitchFamily="34" charset="0"/>
                <a:cs typeface="Times New Roman" panose="02020603050405020304" pitchFamily="18" charset="0"/>
              </a:rPr>
              <a:t>Global load balancing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effectLst/>
                <a:latin typeface="+mj-lt"/>
                <a:ea typeface="Calibri" panose="020F0502020204030204" pitchFamily="34" charset="0"/>
                <a:cs typeface="Times New Roman" panose="02020603050405020304" pitchFamily="18" charset="0"/>
              </a:rPr>
              <a:t>SSL offload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effectLst/>
                <a:latin typeface="+mj-lt"/>
                <a:ea typeface="Calibri" panose="020F0502020204030204" pitchFamily="34" charset="0"/>
                <a:cs typeface="Times New Roman" panose="02020603050405020304" pitchFamily="18" charset="0"/>
              </a:rPr>
              <a:t>Domain and certificate management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effectLst/>
                <a:latin typeface="+mj-lt"/>
                <a:ea typeface="Calibri" panose="020F0502020204030204" pitchFamily="34" charset="0"/>
                <a:cs typeface="Times New Roman" panose="02020603050405020304" pitchFamily="18" charset="0"/>
              </a:rPr>
              <a:t>Enhanced traffic analytics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effectLst/>
                <a:latin typeface="+mj-lt"/>
                <a:ea typeface="Calibri" panose="020F0502020204030204" pitchFamily="34" charset="0"/>
                <a:cs typeface="Times New Roman" panose="02020603050405020304" pitchFamily="18" charset="0"/>
              </a:rPr>
              <a:t>Basic security capabilities</a:t>
            </a:r>
          </a:p>
        </p:txBody>
      </p:sp>
      <p:sp>
        <p:nvSpPr>
          <p:cNvPr id="6" name="TextBox 1">
            <a:extLst>
              <a:ext uri="{FF2B5EF4-FFF2-40B4-BE49-F238E27FC236}">
                <a16:creationId xmlns:a16="http://schemas.microsoft.com/office/drawing/2014/main" id="{33CD28B1-3353-432E-8B0F-1E618B6920F8}"/>
              </a:ext>
            </a:extLst>
          </p:cNvPr>
          <p:cNvSpPr txBox="1"/>
          <p:nvPr/>
        </p:nvSpPr>
        <p:spPr>
          <a:xfrm>
            <a:off x="6122317" y="4531057"/>
            <a:ext cx="5646112" cy="2103114"/>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defTabSz="914400">
              <a:defRPr/>
            </a:pPr>
            <a:r>
              <a:rPr lang="en-US" b="1" dirty="0">
                <a:latin typeface="+mj-lt"/>
                <a:cs typeface="Times New Roman" panose="02020603050405020304" pitchFamily="18" charset="0"/>
              </a:rPr>
              <a:t>Azure Front Door Premium SKU builds on capabilities of Standard SKU, and adds:</a:t>
            </a:r>
            <a:endParaRPr lang="en-US" dirty="0">
              <a:latin typeface="+mj-lt"/>
              <a:cs typeface="Times New Roman" panose="02020603050405020304" pitchFamily="18" charset="0"/>
            </a:endParaRPr>
          </a:p>
          <a:p>
            <a:pPr marL="285750" indent="-285750" defTabSz="914400">
              <a:buFont typeface="Arial" panose="020B0604020202020204" pitchFamily="34" charset="0"/>
              <a:buChar char="•"/>
              <a:defRPr/>
            </a:pPr>
            <a:r>
              <a:rPr lang="en-US" dirty="0">
                <a:latin typeface="+mj-lt"/>
                <a:cs typeface="Times New Roman" panose="02020603050405020304" pitchFamily="18" charset="0"/>
              </a:rPr>
              <a:t>Extensive security capabilities across WAF</a:t>
            </a:r>
          </a:p>
          <a:p>
            <a:pPr marL="285750" indent="-285750" defTabSz="914400">
              <a:buFont typeface="Arial" panose="020B0604020202020204" pitchFamily="34" charset="0"/>
              <a:buChar char="•"/>
              <a:defRPr/>
            </a:pPr>
            <a:r>
              <a:rPr lang="en-US" dirty="0">
                <a:latin typeface="+mj-lt"/>
                <a:cs typeface="Times New Roman" panose="02020603050405020304" pitchFamily="18" charset="0"/>
              </a:rPr>
              <a:t>BOT protection</a:t>
            </a:r>
          </a:p>
          <a:p>
            <a:pPr marL="285750" indent="-285750" defTabSz="914400">
              <a:buFont typeface="Arial" panose="020B0604020202020204" pitchFamily="34" charset="0"/>
              <a:buChar char="•"/>
              <a:defRPr/>
            </a:pPr>
            <a:r>
              <a:rPr lang="en-US" dirty="0">
                <a:latin typeface="+mj-lt"/>
                <a:cs typeface="Times New Roman" panose="02020603050405020304" pitchFamily="18" charset="0"/>
              </a:rPr>
              <a:t>Private Link support</a:t>
            </a:r>
          </a:p>
          <a:p>
            <a:pPr marL="285750" indent="-285750" defTabSz="914400">
              <a:buFont typeface="Arial" panose="020B0604020202020204" pitchFamily="34" charset="0"/>
              <a:buChar char="•"/>
              <a:defRPr/>
            </a:pPr>
            <a:r>
              <a:rPr lang="en-US" dirty="0">
                <a:latin typeface="+mj-lt"/>
                <a:cs typeface="Times New Roman" panose="02020603050405020304" pitchFamily="18" charset="0"/>
              </a:rPr>
              <a:t>Integration with Microsoft Threat Intelligence and security analytics.</a:t>
            </a:r>
          </a:p>
        </p:txBody>
      </p:sp>
      <p:grpSp>
        <p:nvGrpSpPr>
          <p:cNvPr id="7" name="Group 6" descr="Azure Front Door Standard and Premium come from Azure CDN, Azure Front Door and Azure WAF">
            <a:extLst>
              <a:ext uri="{FF2B5EF4-FFF2-40B4-BE49-F238E27FC236}">
                <a16:creationId xmlns:a16="http://schemas.microsoft.com/office/drawing/2014/main" id="{C8887C09-EE3C-5450-EF7A-EEF01974BA03}"/>
              </a:ext>
            </a:extLst>
          </p:cNvPr>
          <p:cNvGrpSpPr/>
          <p:nvPr/>
        </p:nvGrpSpPr>
        <p:grpSpPr>
          <a:xfrm>
            <a:off x="1703540" y="1113020"/>
            <a:ext cx="7432262" cy="2650654"/>
            <a:chOff x="1703540" y="1113020"/>
            <a:chExt cx="7432262" cy="2650654"/>
          </a:xfrm>
        </p:grpSpPr>
        <p:pic>
          <p:nvPicPr>
            <p:cNvPr id="5" name="Graphic 4" descr="Azure CDN icon  ">
              <a:extLst>
                <a:ext uri="{FF2B5EF4-FFF2-40B4-BE49-F238E27FC236}">
                  <a16:creationId xmlns:a16="http://schemas.microsoft.com/office/drawing/2014/main" id="{3C6A7DE1-7A07-4F49-8DF3-8A15EF18C4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03540" y="1113020"/>
              <a:ext cx="778832" cy="778832"/>
            </a:xfrm>
            <a:prstGeom prst="rect">
              <a:avLst/>
            </a:prstGeom>
          </p:spPr>
        </p:pic>
        <p:sp>
          <p:nvSpPr>
            <p:cNvPr id="13" name="TextBox 12">
              <a:extLst>
                <a:ext uri="{FF2B5EF4-FFF2-40B4-BE49-F238E27FC236}">
                  <a16:creationId xmlns:a16="http://schemas.microsoft.com/office/drawing/2014/main" id="{79CCF7D4-4CC0-4049-B1FD-54A25D852635}"/>
                </a:ext>
              </a:extLst>
            </p:cNvPr>
            <p:cNvSpPr txBox="1"/>
            <p:nvPr/>
          </p:nvSpPr>
          <p:spPr>
            <a:xfrm>
              <a:off x="2657194" y="1356687"/>
              <a:ext cx="1214452" cy="369332"/>
            </a:xfrm>
            <a:prstGeom prst="rect">
              <a:avLst/>
            </a:prstGeom>
            <a:noFill/>
          </p:spPr>
          <p:txBody>
            <a:bodyPr wrap="square" rtlCol="0">
              <a:spAutoFit/>
            </a:bodyPr>
            <a:lstStyle/>
            <a:p>
              <a:r>
                <a:rPr lang="en-US" dirty="0"/>
                <a:t>Azure CDN</a:t>
              </a:r>
            </a:p>
          </p:txBody>
        </p:sp>
        <p:pic>
          <p:nvPicPr>
            <p:cNvPr id="8" name="Graphic 7" descr="Azure Front Door icon ">
              <a:extLst>
                <a:ext uri="{FF2B5EF4-FFF2-40B4-BE49-F238E27FC236}">
                  <a16:creationId xmlns:a16="http://schemas.microsoft.com/office/drawing/2014/main" id="{5D054B5F-9868-40D3-8941-8EC73CE766A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3540" y="2087223"/>
              <a:ext cx="778832" cy="778832"/>
            </a:xfrm>
            <a:prstGeom prst="rect">
              <a:avLst/>
            </a:prstGeom>
          </p:spPr>
        </p:pic>
        <p:sp>
          <p:nvSpPr>
            <p:cNvPr id="14" name="TextBox 13">
              <a:extLst>
                <a:ext uri="{FF2B5EF4-FFF2-40B4-BE49-F238E27FC236}">
                  <a16:creationId xmlns:a16="http://schemas.microsoft.com/office/drawing/2014/main" id="{2A7FAB58-AAB0-4E37-8C24-913BA8D54ED7}"/>
                </a:ext>
              </a:extLst>
            </p:cNvPr>
            <p:cNvSpPr txBox="1"/>
            <p:nvPr/>
          </p:nvSpPr>
          <p:spPr>
            <a:xfrm>
              <a:off x="2666784" y="2326943"/>
              <a:ext cx="1993856" cy="369332"/>
            </a:xfrm>
            <a:prstGeom prst="rect">
              <a:avLst/>
            </a:prstGeom>
            <a:noFill/>
          </p:spPr>
          <p:txBody>
            <a:bodyPr wrap="square" rtlCol="0">
              <a:spAutoFit/>
            </a:bodyPr>
            <a:lstStyle/>
            <a:p>
              <a:r>
                <a:rPr lang="en-US" dirty="0"/>
                <a:t>Azure Front Door  </a:t>
              </a:r>
            </a:p>
          </p:txBody>
        </p:sp>
        <p:pic>
          <p:nvPicPr>
            <p:cNvPr id="10" name="Graphic 9" descr="Azure WAF icon">
              <a:extLst>
                <a:ext uri="{FF2B5EF4-FFF2-40B4-BE49-F238E27FC236}">
                  <a16:creationId xmlns:a16="http://schemas.microsoft.com/office/drawing/2014/main" id="{9A06E940-8915-4C5D-B28A-DBEDBEEC8F8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17938" y="3099240"/>
              <a:ext cx="664434" cy="664434"/>
            </a:xfrm>
            <a:prstGeom prst="rect">
              <a:avLst/>
            </a:prstGeom>
          </p:spPr>
        </p:pic>
        <p:sp>
          <p:nvSpPr>
            <p:cNvPr id="16" name="TextBox 15">
              <a:extLst>
                <a:ext uri="{FF2B5EF4-FFF2-40B4-BE49-F238E27FC236}">
                  <a16:creationId xmlns:a16="http://schemas.microsoft.com/office/drawing/2014/main" id="{F779A8D2-DB38-43EC-B45B-60AD78E66F42}"/>
                </a:ext>
              </a:extLst>
            </p:cNvPr>
            <p:cNvSpPr txBox="1"/>
            <p:nvPr/>
          </p:nvSpPr>
          <p:spPr>
            <a:xfrm>
              <a:off x="2687237" y="3261409"/>
              <a:ext cx="1993856" cy="369332"/>
            </a:xfrm>
            <a:prstGeom prst="rect">
              <a:avLst/>
            </a:prstGeom>
            <a:noFill/>
          </p:spPr>
          <p:txBody>
            <a:bodyPr wrap="square" rtlCol="0">
              <a:spAutoFit/>
            </a:bodyPr>
            <a:lstStyle/>
            <a:p>
              <a:r>
                <a:rPr lang="en-US" dirty="0"/>
                <a:t>Azure WAF</a:t>
              </a:r>
            </a:p>
          </p:txBody>
        </p:sp>
        <p:pic>
          <p:nvPicPr>
            <p:cNvPr id="11" name="Graphic 10" descr="Azure Front Door Standard and Premium SKU &#10;">
              <a:extLst>
                <a:ext uri="{FF2B5EF4-FFF2-40B4-BE49-F238E27FC236}">
                  <a16:creationId xmlns:a16="http://schemas.microsoft.com/office/drawing/2014/main" id="{4D4AE036-4280-45FF-A52C-6F906C7E1D7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1946" y="1555980"/>
              <a:ext cx="778832" cy="778832"/>
            </a:xfrm>
            <a:prstGeom prst="rect">
              <a:avLst/>
            </a:prstGeom>
          </p:spPr>
        </p:pic>
        <p:sp>
          <p:nvSpPr>
            <p:cNvPr id="18" name="TextBox 17">
              <a:extLst>
                <a:ext uri="{FF2B5EF4-FFF2-40B4-BE49-F238E27FC236}">
                  <a16:creationId xmlns:a16="http://schemas.microsoft.com/office/drawing/2014/main" id="{893A3872-8AB5-4CB4-9773-6CB18E82E068}"/>
                </a:ext>
              </a:extLst>
            </p:cNvPr>
            <p:cNvSpPr txBox="1"/>
            <p:nvPr/>
          </p:nvSpPr>
          <p:spPr>
            <a:xfrm>
              <a:off x="7141946" y="2365733"/>
              <a:ext cx="1993856" cy="923330"/>
            </a:xfrm>
            <a:prstGeom prst="rect">
              <a:avLst/>
            </a:prstGeom>
            <a:noFill/>
          </p:spPr>
          <p:txBody>
            <a:bodyPr wrap="square" rtlCol="0">
              <a:spAutoFit/>
            </a:bodyPr>
            <a:lstStyle/>
            <a:p>
              <a:r>
                <a:rPr lang="en-US" dirty="0"/>
                <a:t>Azure Front Door Standard and Premium SKU </a:t>
              </a:r>
            </a:p>
          </p:txBody>
        </p:sp>
        <p:sp>
          <p:nvSpPr>
            <p:cNvPr id="20" name="Arrow: Right 19">
              <a:extLst>
                <a:ext uri="{FF2B5EF4-FFF2-40B4-BE49-F238E27FC236}">
                  <a16:creationId xmlns:a16="http://schemas.microsoft.com/office/drawing/2014/main" id="{ECC1DD65-011E-45B0-AB61-B82C2410D17B}"/>
                </a:ext>
                <a:ext uri="{C183D7F6-B498-43B3-948B-1728B52AA6E4}">
                  <adec:decorative xmlns:adec="http://schemas.microsoft.com/office/drawing/2017/decorative" val="1"/>
                </a:ext>
              </a:extLst>
            </p:cNvPr>
            <p:cNvSpPr/>
            <p:nvPr/>
          </p:nvSpPr>
          <p:spPr>
            <a:xfrm>
              <a:off x="5235879" y="2511609"/>
              <a:ext cx="1227551"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Rectangle 2">
            <a:extLst>
              <a:ext uri="{FF2B5EF4-FFF2-40B4-BE49-F238E27FC236}">
                <a16:creationId xmlns:a16="http://schemas.microsoft.com/office/drawing/2014/main" id="{B30296A6-7D1A-4218-ADD6-7F765ABA1BEC}"/>
              </a:ext>
              <a:ext uri="{C183D7F6-B498-43B3-948B-1728B52AA6E4}">
                <adec:decorative xmlns:adec="http://schemas.microsoft.com/office/drawing/2017/decorative" val="1"/>
              </a:ext>
            </a:extLst>
          </p:cNvPr>
          <p:cNvSpPr/>
          <p:nvPr/>
        </p:nvSpPr>
        <p:spPr bwMode="auto">
          <a:xfrm>
            <a:off x="1246414" y="963386"/>
            <a:ext cx="8288392" cy="3200372"/>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102" fontAlgn="base">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67159019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7F9FC-EF7B-494F-A343-96D87A5A82EE}"/>
              </a:ext>
            </a:extLst>
          </p:cNvPr>
          <p:cNvSpPr>
            <a:spLocks noGrp="1"/>
          </p:cNvSpPr>
          <p:nvPr>
            <p:ph type="title"/>
          </p:nvPr>
        </p:nvSpPr>
        <p:spPr/>
        <p:txBody>
          <a:bodyPr/>
          <a:lstStyle/>
          <a:p>
            <a:r>
              <a:rPr lang="en-US" dirty="0"/>
              <a:t>Create a Front Door in the Azure portal </a:t>
            </a:r>
          </a:p>
        </p:txBody>
      </p:sp>
      <p:sp>
        <p:nvSpPr>
          <p:cNvPr id="5" name="Rectangle 4">
            <a:extLst>
              <a:ext uri="{FF2B5EF4-FFF2-40B4-BE49-F238E27FC236}">
                <a16:creationId xmlns:a16="http://schemas.microsoft.com/office/drawing/2014/main" id="{0ADB8B1E-C32C-471D-832C-759F763C9DC0}"/>
              </a:ext>
              <a:ext uri="{C183D7F6-B498-43B3-948B-1728B52AA6E4}">
                <adec:decorative xmlns:adec="http://schemas.microsoft.com/office/drawing/2017/decorative" val="1"/>
              </a:ext>
            </a:extLst>
          </p:cNvPr>
          <p:cNvSpPr/>
          <p:nvPr/>
        </p:nvSpPr>
        <p:spPr bwMode="auto">
          <a:xfrm>
            <a:off x="6096000" y="1023565"/>
            <a:ext cx="5677358" cy="532264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102" fontAlgn="base">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
        <p:nvSpPr>
          <p:cNvPr id="7" name="TextBox 1">
            <a:extLst>
              <a:ext uri="{FF2B5EF4-FFF2-40B4-BE49-F238E27FC236}">
                <a16:creationId xmlns:a16="http://schemas.microsoft.com/office/drawing/2014/main" id="{7E5B07EA-2BB2-468C-AD4C-BDE7ECEB5F62}"/>
              </a:ext>
            </a:extLst>
          </p:cNvPr>
          <p:cNvSpPr txBox="1"/>
          <p:nvPr/>
        </p:nvSpPr>
        <p:spPr>
          <a:xfrm>
            <a:off x="344661" y="1638751"/>
            <a:ext cx="5029200" cy="105087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Quick Create or Custom Create </a:t>
            </a:r>
          </a:p>
        </p:txBody>
      </p:sp>
      <p:sp>
        <p:nvSpPr>
          <p:cNvPr id="9" name="TextBox 1">
            <a:extLst>
              <a:ext uri="{FF2B5EF4-FFF2-40B4-BE49-F238E27FC236}">
                <a16:creationId xmlns:a16="http://schemas.microsoft.com/office/drawing/2014/main" id="{17C39FE7-F15E-404A-BC87-10C39E15F9A4}"/>
              </a:ext>
            </a:extLst>
          </p:cNvPr>
          <p:cNvSpPr txBox="1"/>
          <p:nvPr/>
        </p:nvSpPr>
        <p:spPr>
          <a:xfrm>
            <a:off x="344661" y="2857611"/>
            <a:ext cx="5029200" cy="105087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Select between Standard and Premium tier</a:t>
            </a:r>
          </a:p>
        </p:txBody>
      </p:sp>
      <p:sp>
        <p:nvSpPr>
          <p:cNvPr id="11" name="TextBox 1">
            <a:extLst>
              <a:ext uri="{FF2B5EF4-FFF2-40B4-BE49-F238E27FC236}">
                <a16:creationId xmlns:a16="http://schemas.microsoft.com/office/drawing/2014/main" id="{8A482EC6-86B9-48E8-874E-1AED82FE567C}"/>
              </a:ext>
            </a:extLst>
          </p:cNvPr>
          <p:cNvSpPr txBox="1"/>
          <p:nvPr/>
        </p:nvSpPr>
        <p:spPr>
          <a:xfrm>
            <a:off x="344661" y="4076471"/>
            <a:ext cx="5029200" cy="105087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Globally unique endpoint name </a:t>
            </a:r>
          </a:p>
        </p:txBody>
      </p:sp>
      <p:sp>
        <p:nvSpPr>
          <p:cNvPr id="13" name="TextBox 1">
            <a:extLst>
              <a:ext uri="{FF2B5EF4-FFF2-40B4-BE49-F238E27FC236}">
                <a16:creationId xmlns:a16="http://schemas.microsoft.com/office/drawing/2014/main" id="{2B15EDA1-DD17-4556-BA56-A12C0F9B2F57}"/>
              </a:ext>
            </a:extLst>
          </p:cNvPr>
          <p:cNvSpPr txBox="1"/>
          <p:nvPr/>
        </p:nvSpPr>
        <p:spPr>
          <a:xfrm>
            <a:off x="344661" y="5295331"/>
            <a:ext cx="5029200" cy="105087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Select Origin type, for example:  App service or App Gateway</a:t>
            </a:r>
          </a:p>
        </p:txBody>
      </p:sp>
      <p:pic>
        <p:nvPicPr>
          <p:cNvPr id="3" name="Picture 2" descr="Azure portal screenshot compare Front door offerings ">
            <a:extLst>
              <a:ext uri="{FF2B5EF4-FFF2-40B4-BE49-F238E27FC236}">
                <a16:creationId xmlns:a16="http://schemas.microsoft.com/office/drawing/2014/main" id="{CCE7342A-B223-52DA-E57F-CB74549505B0}"/>
              </a:ext>
            </a:extLst>
          </p:cNvPr>
          <p:cNvPicPr>
            <a:picLocks noChangeAspect="1"/>
          </p:cNvPicPr>
          <p:nvPr/>
        </p:nvPicPr>
        <p:blipFill>
          <a:blip r:embed="rId3"/>
          <a:stretch>
            <a:fillRect/>
          </a:stretch>
        </p:blipFill>
        <p:spPr>
          <a:xfrm>
            <a:off x="6999424" y="1084082"/>
            <a:ext cx="4112943" cy="5243273"/>
          </a:xfrm>
          <a:prstGeom prst="rect">
            <a:avLst/>
          </a:prstGeom>
        </p:spPr>
      </p:pic>
    </p:spTree>
    <p:extLst>
      <p:ext uri="{BB962C8B-B14F-4D97-AF65-F5344CB8AC3E}">
        <p14:creationId xmlns:p14="http://schemas.microsoft.com/office/powerpoint/2010/main" val="151637534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DB204-9C57-4225-ADAF-45E6E88B98D7}"/>
              </a:ext>
            </a:extLst>
          </p:cNvPr>
          <p:cNvSpPr>
            <a:spLocks noGrp="1"/>
          </p:cNvSpPr>
          <p:nvPr>
            <p:ph type="title"/>
          </p:nvPr>
        </p:nvSpPr>
        <p:spPr>
          <a:xfrm>
            <a:off x="383453" y="492898"/>
            <a:ext cx="11306469" cy="403137"/>
          </a:xfrm>
        </p:spPr>
        <p:txBody>
          <a:bodyPr/>
          <a:lstStyle/>
          <a:p>
            <a:r>
              <a:rPr lang="en-US" sz="2800" dirty="0"/>
              <a:t>Configure routing and redirection rules </a:t>
            </a:r>
          </a:p>
        </p:txBody>
      </p:sp>
      <p:sp>
        <p:nvSpPr>
          <p:cNvPr id="5" name="TextBox 1">
            <a:extLst>
              <a:ext uri="{FF2B5EF4-FFF2-40B4-BE49-F238E27FC236}">
                <a16:creationId xmlns:a16="http://schemas.microsoft.com/office/drawing/2014/main" id="{BFEB36CB-76C0-4CFB-B6C6-12BCC00FC0A9}"/>
              </a:ext>
            </a:extLst>
          </p:cNvPr>
          <p:cNvSpPr txBox="1"/>
          <p:nvPr/>
        </p:nvSpPr>
        <p:spPr>
          <a:xfrm>
            <a:off x="418642" y="1215305"/>
            <a:ext cx="7010032" cy="997339"/>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Routing architecture overview</a:t>
            </a:r>
          </a:p>
        </p:txBody>
      </p:sp>
      <p:sp>
        <p:nvSpPr>
          <p:cNvPr id="11" name="TextBox 1">
            <a:extLst>
              <a:ext uri="{FF2B5EF4-FFF2-40B4-BE49-F238E27FC236}">
                <a16:creationId xmlns:a16="http://schemas.microsoft.com/office/drawing/2014/main" id="{42549C1A-B439-4798-8583-0FA5831212F9}"/>
              </a:ext>
            </a:extLst>
          </p:cNvPr>
          <p:cNvSpPr txBox="1"/>
          <p:nvPr/>
        </p:nvSpPr>
        <p:spPr>
          <a:xfrm>
            <a:off x="418641" y="2448048"/>
            <a:ext cx="7010033" cy="997339"/>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Front Door matches the incoming request to the left-hand side of the route. The right-hand side defines how Front Door processes the request</a:t>
            </a:r>
          </a:p>
        </p:txBody>
      </p:sp>
      <p:sp>
        <p:nvSpPr>
          <p:cNvPr id="12" name="TextBox 1">
            <a:extLst>
              <a:ext uri="{FF2B5EF4-FFF2-40B4-BE49-F238E27FC236}">
                <a16:creationId xmlns:a16="http://schemas.microsoft.com/office/drawing/2014/main" id="{C19A5929-92B6-4569-A11F-8962B4F66202}"/>
              </a:ext>
            </a:extLst>
          </p:cNvPr>
          <p:cNvSpPr txBox="1"/>
          <p:nvPr/>
        </p:nvSpPr>
        <p:spPr>
          <a:xfrm>
            <a:off x="418642" y="3623589"/>
            <a:ext cx="7010034" cy="1368881"/>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Incoming match (left-hand side)</a:t>
            </a:r>
          </a:p>
          <a:p>
            <a:pPr marL="342900" indent="-342900">
              <a:buFont typeface="Arial" panose="020B0604020202020204" pitchFamily="34" charset="0"/>
              <a:buChar char="•"/>
            </a:pPr>
            <a:r>
              <a:rPr lang="en-US" sz="1961" dirty="0"/>
              <a:t>HTTP Protocols (HTTP/HTTPS)</a:t>
            </a:r>
          </a:p>
          <a:p>
            <a:pPr marL="342900" indent="-342900">
              <a:buFont typeface="Arial" panose="020B0604020202020204" pitchFamily="34" charset="0"/>
              <a:buChar char="•"/>
            </a:pPr>
            <a:r>
              <a:rPr lang="en-US" sz="1961" dirty="0"/>
              <a:t>Hosts (for example, www.foo.com, *.bar.com)</a:t>
            </a:r>
          </a:p>
          <a:p>
            <a:pPr marL="342900" indent="-342900">
              <a:buFont typeface="Arial" panose="020B0604020202020204" pitchFamily="34" charset="0"/>
              <a:buChar char="•"/>
            </a:pPr>
            <a:r>
              <a:rPr lang="en-US" sz="1961" dirty="0"/>
              <a:t>Paths (for example, /*, /users/*, /file.gif)</a:t>
            </a:r>
          </a:p>
        </p:txBody>
      </p:sp>
      <p:sp>
        <p:nvSpPr>
          <p:cNvPr id="6" name="Rectangle 5">
            <a:extLst>
              <a:ext uri="{FF2B5EF4-FFF2-40B4-BE49-F238E27FC236}">
                <a16:creationId xmlns:a16="http://schemas.microsoft.com/office/drawing/2014/main" id="{682D4FB2-62C5-4058-8404-A6D746525401}"/>
              </a:ext>
              <a:ext uri="{C183D7F6-B498-43B3-948B-1728B52AA6E4}">
                <adec:decorative xmlns:adec="http://schemas.microsoft.com/office/drawing/2017/decorative" val="1"/>
              </a:ext>
            </a:extLst>
          </p:cNvPr>
          <p:cNvSpPr/>
          <p:nvPr/>
        </p:nvSpPr>
        <p:spPr bwMode="auto">
          <a:xfrm>
            <a:off x="8069344" y="757779"/>
            <a:ext cx="3704014" cy="547939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102" fontAlgn="base">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
        <p:nvSpPr>
          <p:cNvPr id="3" name="TextBox 1">
            <a:extLst>
              <a:ext uri="{FF2B5EF4-FFF2-40B4-BE49-F238E27FC236}">
                <a16:creationId xmlns:a16="http://schemas.microsoft.com/office/drawing/2014/main" id="{188F3D0A-AA14-455E-B19D-007B4088CCF3}"/>
              </a:ext>
            </a:extLst>
          </p:cNvPr>
          <p:cNvSpPr txBox="1"/>
          <p:nvPr/>
        </p:nvSpPr>
        <p:spPr>
          <a:xfrm>
            <a:off x="455995" y="5170672"/>
            <a:ext cx="7010034" cy="1368881"/>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Route data (right-hand side)</a:t>
            </a:r>
          </a:p>
          <a:p>
            <a:pPr>
              <a:spcBef>
                <a:spcPts val="1176"/>
              </a:spcBef>
            </a:pPr>
            <a:r>
              <a:rPr lang="en-US" sz="1961" dirty="0"/>
              <a:t>The decision of how to process the request, depends on whether caching is enabled or not for the specific route</a:t>
            </a:r>
          </a:p>
        </p:txBody>
      </p:sp>
      <p:pic>
        <p:nvPicPr>
          <p:cNvPr id="4" name="Picture 3" descr="The following diagram illustrates the routing architecture from the client to Front Door. Front Door first routes traffic from the client to Front Door. Then, Front Door uses your configuration to determine the origin to send the traffic to. &#10;&#10;">
            <a:extLst>
              <a:ext uri="{FF2B5EF4-FFF2-40B4-BE49-F238E27FC236}">
                <a16:creationId xmlns:a16="http://schemas.microsoft.com/office/drawing/2014/main" id="{2BB93D98-806F-9B66-01CE-09618F69FDE3}"/>
              </a:ext>
            </a:extLst>
          </p:cNvPr>
          <p:cNvPicPr>
            <a:picLocks noChangeAspect="1"/>
          </p:cNvPicPr>
          <p:nvPr/>
        </p:nvPicPr>
        <p:blipFill>
          <a:blip r:embed="rId3"/>
          <a:stretch>
            <a:fillRect/>
          </a:stretch>
        </p:blipFill>
        <p:spPr>
          <a:xfrm>
            <a:off x="8502028" y="980386"/>
            <a:ext cx="2954619" cy="5119835"/>
          </a:xfrm>
          <a:prstGeom prst="rect">
            <a:avLst/>
          </a:prstGeom>
        </p:spPr>
      </p:pic>
    </p:spTree>
    <p:extLst>
      <p:ext uri="{BB962C8B-B14F-4D97-AF65-F5344CB8AC3E}">
        <p14:creationId xmlns:p14="http://schemas.microsoft.com/office/powerpoint/2010/main" val="406461472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70F23-B0ED-4582-90BE-5DD7703A3E16}"/>
              </a:ext>
            </a:extLst>
          </p:cNvPr>
          <p:cNvSpPr>
            <a:spLocks noGrp="1"/>
          </p:cNvSpPr>
          <p:nvPr>
            <p:ph type="title"/>
          </p:nvPr>
        </p:nvSpPr>
        <p:spPr>
          <a:xfrm>
            <a:off x="455995" y="623224"/>
            <a:ext cx="11306469" cy="397545"/>
          </a:xfrm>
        </p:spPr>
        <p:txBody>
          <a:bodyPr/>
          <a:lstStyle/>
          <a:p>
            <a:r>
              <a:rPr lang="en-US" sz="2800" dirty="0"/>
              <a:t>Configure back-end targets </a:t>
            </a:r>
            <a:endParaRPr lang="en-US" dirty="0"/>
          </a:p>
        </p:txBody>
      </p:sp>
      <p:sp>
        <p:nvSpPr>
          <p:cNvPr id="3" name="TextBox 1">
            <a:extLst>
              <a:ext uri="{FF2B5EF4-FFF2-40B4-BE49-F238E27FC236}">
                <a16:creationId xmlns:a16="http://schemas.microsoft.com/office/drawing/2014/main" id="{343D080D-63D8-4961-89F7-ADA870E25914}"/>
              </a:ext>
            </a:extLst>
          </p:cNvPr>
          <p:cNvSpPr txBox="1"/>
          <p:nvPr/>
        </p:nvSpPr>
        <p:spPr>
          <a:xfrm>
            <a:off x="344661" y="1638751"/>
            <a:ext cx="4213691" cy="105087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2000" i="0" dirty="0">
                <a:solidFill>
                  <a:srgbClr val="171717"/>
                </a:solidFill>
                <a:effectLst/>
                <a:latin typeface="+mj-lt"/>
              </a:rPr>
              <a:t>Backend host type</a:t>
            </a:r>
            <a:endParaRPr lang="en-US" sz="1961" dirty="0">
              <a:latin typeface="+mj-lt"/>
            </a:endParaRPr>
          </a:p>
        </p:txBody>
      </p:sp>
      <p:sp>
        <p:nvSpPr>
          <p:cNvPr id="5" name="TextBox 1">
            <a:extLst>
              <a:ext uri="{FF2B5EF4-FFF2-40B4-BE49-F238E27FC236}">
                <a16:creationId xmlns:a16="http://schemas.microsoft.com/office/drawing/2014/main" id="{75B2DB43-70D8-4505-AA98-935351959583}"/>
              </a:ext>
            </a:extLst>
          </p:cNvPr>
          <p:cNvSpPr txBox="1"/>
          <p:nvPr/>
        </p:nvSpPr>
        <p:spPr>
          <a:xfrm>
            <a:off x="344661" y="2857611"/>
            <a:ext cx="4213691" cy="105087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Subscription and Backend host name</a:t>
            </a:r>
          </a:p>
        </p:txBody>
      </p:sp>
      <p:sp>
        <p:nvSpPr>
          <p:cNvPr id="7" name="TextBox 1">
            <a:extLst>
              <a:ext uri="{FF2B5EF4-FFF2-40B4-BE49-F238E27FC236}">
                <a16:creationId xmlns:a16="http://schemas.microsoft.com/office/drawing/2014/main" id="{202A0AEB-8862-4337-B498-6CBDE4DBAA49}"/>
              </a:ext>
            </a:extLst>
          </p:cNvPr>
          <p:cNvSpPr txBox="1"/>
          <p:nvPr/>
        </p:nvSpPr>
        <p:spPr>
          <a:xfrm>
            <a:off x="344661" y="4076471"/>
            <a:ext cx="4213691" cy="105087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Backend host header</a:t>
            </a:r>
          </a:p>
        </p:txBody>
      </p:sp>
      <p:sp>
        <p:nvSpPr>
          <p:cNvPr id="9" name="TextBox 1">
            <a:extLst>
              <a:ext uri="{FF2B5EF4-FFF2-40B4-BE49-F238E27FC236}">
                <a16:creationId xmlns:a16="http://schemas.microsoft.com/office/drawing/2014/main" id="{99AED919-0296-48DA-99BC-E5738C1C0C05}"/>
              </a:ext>
            </a:extLst>
          </p:cNvPr>
          <p:cNvSpPr txBox="1"/>
          <p:nvPr/>
        </p:nvSpPr>
        <p:spPr>
          <a:xfrm>
            <a:off x="344661" y="5295331"/>
            <a:ext cx="4213691" cy="105087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t>Priority and Weight </a:t>
            </a:r>
          </a:p>
        </p:txBody>
      </p:sp>
      <p:pic>
        <p:nvPicPr>
          <p:cNvPr id="6146" name="Picture 2" descr="Azure portal screenshot add a backend for Azure Front Door">
            <a:extLst>
              <a:ext uri="{FF2B5EF4-FFF2-40B4-BE49-F238E27FC236}">
                <a16:creationId xmlns:a16="http://schemas.microsoft.com/office/drawing/2014/main" id="{AC7A9AFA-8458-404B-90CA-BF50B194F5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3992" y="1358344"/>
            <a:ext cx="7002771" cy="4755852"/>
          </a:xfrm>
          <a:prstGeom prst="rect">
            <a:avLst/>
          </a:prstGeom>
          <a:noFill/>
        </p:spPr>
      </p:pic>
      <p:sp>
        <p:nvSpPr>
          <p:cNvPr id="11" name="Rectangle 10">
            <a:extLst>
              <a:ext uri="{FF2B5EF4-FFF2-40B4-BE49-F238E27FC236}">
                <a16:creationId xmlns:a16="http://schemas.microsoft.com/office/drawing/2014/main" id="{FE605E9D-8DF1-4BF4-8293-7BAD37363FF5}"/>
              </a:ext>
              <a:ext uri="{C183D7F6-B498-43B3-948B-1728B52AA6E4}">
                <adec:decorative xmlns:adec="http://schemas.microsoft.com/office/drawing/2017/decorative" val="1"/>
              </a:ext>
            </a:extLst>
          </p:cNvPr>
          <p:cNvSpPr/>
          <p:nvPr/>
        </p:nvSpPr>
        <p:spPr bwMode="auto">
          <a:xfrm>
            <a:off x="4770587" y="1023565"/>
            <a:ext cx="7307682" cy="532264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102" fontAlgn="base">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560054533"/>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91F10-5BDC-4612-8D4A-B49897F26AAB}"/>
              </a:ext>
            </a:extLst>
          </p:cNvPr>
          <p:cNvSpPr>
            <a:spLocks noGrp="1"/>
          </p:cNvSpPr>
          <p:nvPr>
            <p:ph type="title"/>
          </p:nvPr>
        </p:nvSpPr>
        <p:spPr>
          <a:xfrm>
            <a:off x="455995" y="623224"/>
            <a:ext cx="11306469" cy="397545"/>
          </a:xfrm>
        </p:spPr>
        <p:txBody>
          <a:bodyPr/>
          <a:lstStyle/>
          <a:p>
            <a:r>
              <a:rPr lang="en-US" sz="2800" dirty="0"/>
              <a:t>Configure health probes</a:t>
            </a:r>
            <a:endParaRPr lang="en-US" dirty="0"/>
          </a:p>
        </p:txBody>
      </p:sp>
      <p:sp>
        <p:nvSpPr>
          <p:cNvPr id="4" name="TextBox 1">
            <a:extLst>
              <a:ext uri="{FF2B5EF4-FFF2-40B4-BE49-F238E27FC236}">
                <a16:creationId xmlns:a16="http://schemas.microsoft.com/office/drawing/2014/main" id="{2E95664E-A530-4556-8700-1B17ACBD9809}"/>
              </a:ext>
            </a:extLst>
          </p:cNvPr>
          <p:cNvSpPr txBox="1"/>
          <p:nvPr/>
        </p:nvSpPr>
        <p:spPr>
          <a:xfrm>
            <a:off x="455995" y="1443054"/>
            <a:ext cx="5521378" cy="4791722"/>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l"/>
            <a:r>
              <a:rPr lang="en-US" b="0" i="0" dirty="0">
                <a:solidFill>
                  <a:srgbClr val="171717"/>
                </a:solidFill>
                <a:effectLst/>
                <a:latin typeface="+mj-lt"/>
              </a:rPr>
              <a:t>Front Door supports the following HTTP methods for sending the health probes:</a:t>
            </a:r>
          </a:p>
          <a:p>
            <a:pPr algn="l"/>
            <a:endParaRPr lang="en-US" dirty="0">
              <a:solidFill>
                <a:srgbClr val="171717"/>
              </a:solidFill>
              <a:latin typeface="+mj-lt"/>
            </a:endParaRPr>
          </a:p>
          <a:p>
            <a:pPr algn="l"/>
            <a:r>
              <a:rPr lang="en-US" b="1" i="0" dirty="0">
                <a:solidFill>
                  <a:srgbClr val="171717"/>
                </a:solidFill>
                <a:effectLst/>
                <a:latin typeface="+mj-lt"/>
              </a:rPr>
              <a:t>GET:</a:t>
            </a:r>
            <a:r>
              <a:rPr lang="en-US" b="0" i="0" dirty="0">
                <a:solidFill>
                  <a:srgbClr val="171717"/>
                </a:solidFill>
                <a:effectLst/>
                <a:latin typeface="+mj-lt"/>
              </a:rPr>
              <a:t> The GET method means retrieve whatever information (in the form of an entity) is identified by the Request-URI.</a:t>
            </a:r>
          </a:p>
          <a:p>
            <a:pPr algn="l"/>
            <a:endParaRPr lang="en-US" b="0" i="0" dirty="0">
              <a:solidFill>
                <a:srgbClr val="171717"/>
              </a:solidFill>
              <a:effectLst/>
              <a:latin typeface="+mj-lt"/>
            </a:endParaRPr>
          </a:p>
          <a:p>
            <a:pPr algn="l"/>
            <a:r>
              <a:rPr lang="en-US" b="1" i="0" dirty="0">
                <a:solidFill>
                  <a:srgbClr val="171717"/>
                </a:solidFill>
                <a:effectLst/>
                <a:latin typeface="+mj-lt"/>
              </a:rPr>
              <a:t>HEAD:</a:t>
            </a:r>
            <a:r>
              <a:rPr lang="en-US" b="0" i="0" dirty="0">
                <a:solidFill>
                  <a:srgbClr val="171717"/>
                </a:solidFill>
                <a:effectLst/>
                <a:latin typeface="+mj-lt"/>
              </a:rPr>
              <a:t> The HEAD method is identical to GET except that the server MUST NOT return a message-body in the response. For new Front Door profiles, by default, the probe method is set as HEAD.</a:t>
            </a:r>
          </a:p>
        </p:txBody>
      </p:sp>
      <p:pic>
        <p:nvPicPr>
          <p:cNvPr id="4098" name="Picture 2" descr="Azure portal screenshot create health probe ">
            <a:extLst>
              <a:ext uri="{FF2B5EF4-FFF2-40B4-BE49-F238E27FC236}">
                <a16:creationId xmlns:a16="http://schemas.microsoft.com/office/drawing/2014/main" id="{E787D618-047D-4035-97A5-33D60D706B7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169" t="38607" r="124"/>
          <a:stretch/>
        </p:blipFill>
        <p:spPr bwMode="auto">
          <a:xfrm>
            <a:off x="6494432" y="1624084"/>
            <a:ext cx="4942393" cy="4210334"/>
          </a:xfrm>
          <a:prstGeom prst="rect">
            <a:avLst/>
          </a:prstGeom>
          <a:noFill/>
        </p:spPr>
      </p:pic>
      <p:sp>
        <p:nvSpPr>
          <p:cNvPr id="3" name="Rectangle 2">
            <a:extLst>
              <a:ext uri="{FF2B5EF4-FFF2-40B4-BE49-F238E27FC236}">
                <a16:creationId xmlns:a16="http://schemas.microsoft.com/office/drawing/2014/main" id="{809192F6-3CBC-414B-B036-0B8185092245}"/>
              </a:ext>
              <a:ext uri="{C183D7F6-B498-43B3-948B-1728B52AA6E4}">
                <adec:decorative xmlns:adec="http://schemas.microsoft.com/office/drawing/2017/decorative" val="1"/>
              </a:ext>
            </a:extLst>
          </p:cNvPr>
          <p:cNvSpPr/>
          <p:nvPr/>
        </p:nvSpPr>
        <p:spPr bwMode="auto">
          <a:xfrm>
            <a:off x="6251979" y="1443054"/>
            <a:ext cx="5521378" cy="4791722"/>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102" fontAlgn="base">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52800249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15480-A97C-4A11-8C8C-C52C6BCA7EB9}"/>
              </a:ext>
            </a:extLst>
          </p:cNvPr>
          <p:cNvSpPr>
            <a:spLocks noGrp="1"/>
          </p:cNvSpPr>
          <p:nvPr>
            <p:ph type="title"/>
          </p:nvPr>
        </p:nvSpPr>
        <p:spPr>
          <a:xfrm>
            <a:off x="455995" y="623224"/>
            <a:ext cx="11306469" cy="397545"/>
          </a:xfrm>
        </p:spPr>
        <p:txBody>
          <a:bodyPr/>
          <a:lstStyle/>
          <a:p>
            <a:r>
              <a:rPr lang="en-US" sz="2800" dirty="0"/>
              <a:t>Secure Front Door with SSL and end-to-end SSL encryption </a:t>
            </a:r>
            <a:endParaRPr lang="en-US" dirty="0"/>
          </a:p>
        </p:txBody>
      </p:sp>
      <p:sp>
        <p:nvSpPr>
          <p:cNvPr id="6" name="TextBox 1">
            <a:extLst>
              <a:ext uri="{FF2B5EF4-FFF2-40B4-BE49-F238E27FC236}">
                <a16:creationId xmlns:a16="http://schemas.microsoft.com/office/drawing/2014/main" id="{F5661C4E-6020-4198-BF1C-011C0C214C6B}"/>
              </a:ext>
            </a:extLst>
          </p:cNvPr>
          <p:cNvSpPr txBox="1"/>
          <p:nvPr/>
        </p:nvSpPr>
        <p:spPr>
          <a:xfrm>
            <a:off x="344661" y="1638751"/>
            <a:ext cx="4213691" cy="105087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latin typeface="+mj-lt"/>
              </a:rPr>
              <a:t>Create HTTP to HTTPS redirect rule</a:t>
            </a:r>
          </a:p>
        </p:txBody>
      </p:sp>
      <p:sp>
        <p:nvSpPr>
          <p:cNvPr id="8" name="TextBox 1">
            <a:extLst>
              <a:ext uri="{FF2B5EF4-FFF2-40B4-BE49-F238E27FC236}">
                <a16:creationId xmlns:a16="http://schemas.microsoft.com/office/drawing/2014/main" id="{E410637C-C84B-4E7D-834F-A8248B514EBF}"/>
              </a:ext>
            </a:extLst>
          </p:cNvPr>
          <p:cNvSpPr txBox="1"/>
          <p:nvPr/>
        </p:nvSpPr>
        <p:spPr>
          <a:xfrm>
            <a:off x="344661" y="2857611"/>
            <a:ext cx="4213691" cy="881876"/>
          </a:xfrm>
          <a:prstGeom prst="rect">
            <a:avLst/>
          </a:prstGeom>
          <a:solidFill>
            <a:schemeClr val="bg1">
              <a:lumMod val="95000"/>
            </a:schemeClr>
          </a:solidFill>
        </p:spPr>
        <p:txBody>
          <a:bodyPr wrap="square" lIns="134464" tIns="89642" rIns="134464" bIns="89642" rtlCol="0" anchor="b">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endParaRPr lang="en-US" sz="1961" dirty="0"/>
          </a:p>
          <a:p>
            <a:pPr>
              <a:spcBef>
                <a:spcPts val="1176"/>
              </a:spcBef>
            </a:pPr>
            <a:r>
              <a:rPr lang="en-US" sz="1961" dirty="0">
                <a:latin typeface="+mj-lt"/>
              </a:rPr>
              <a:t>Create a routing rule for HTTP to HTTPS redirect</a:t>
            </a:r>
          </a:p>
        </p:txBody>
      </p:sp>
      <p:sp>
        <p:nvSpPr>
          <p:cNvPr id="10" name="TextBox 1">
            <a:extLst>
              <a:ext uri="{FF2B5EF4-FFF2-40B4-BE49-F238E27FC236}">
                <a16:creationId xmlns:a16="http://schemas.microsoft.com/office/drawing/2014/main" id="{FE767429-BE33-464A-8B3B-D933EC7970EE}"/>
              </a:ext>
            </a:extLst>
          </p:cNvPr>
          <p:cNvSpPr txBox="1"/>
          <p:nvPr/>
        </p:nvSpPr>
        <p:spPr>
          <a:xfrm>
            <a:off x="344661" y="4076471"/>
            <a:ext cx="4213691" cy="105087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latin typeface="+mj-lt"/>
              </a:rPr>
              <a:t>Add routing rule to handle the HTTPS traffic</a:t>
            </a:r>
          </a:p>
        </p:txBody>
      </p:sp>
      <p:sp>
        <p:nvSpPr>
          <p:cNvPr id="12" name="TextBox 1">
            <a:extLst>
              <a:ext uri="{FF2B5EF4-FFF2-40B4-BE49-F238E27FC236}">
                <a16:creationId xmlns:a16="http://schemas.microsoft.com/office/drawing/2014/main" id="{818B7FDD-C354-463A-A0DC-47D207A7C830}"/>
              </a:ext>
            </a:extLst>
          </p:cNvPr>
          <p:cNvSpPr txBox="1"/>
          <p:nvPr/>
        </p:nvSpPr>
        <p:spPr>
          <a:xfrm>
            <a:off x="344661" y="5295331"/>
            <a:ext cx="4213691" cy="1050878"/>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176"/>
              </a:spcBef>
            </a:pPr>
            <a:r>
              <a:rPr lang="en-US" sz="1961" dirty="0">
                <a:latin typeface="+mj-lt"/>
              </a:rPr>
              <a:t>On the Route Details section, set the Route Type to Forward. </a:t>
            </a:r>
          </a:p>
        </p:txBody>
      </p:sp>
      <p:pic>
        <p:nvPicPr>
          <p:cNvPr id="4" name="Picture 3" descr="Azure portal screenshot add a rule ">
            <a:extLst>
              <a:ext uri="{FF2B5EF4-FFF2-40B4-BE49-F238E27FC236}">
                <a16:creationId xmlns:a16="http://schemas.microsoft.com/office/drawing/2014/main" id="{FB39316E-4364-4EF9-A941-48DE5BACB1F6}"/>
              </a:ext>
            </a:extLst>
          </p:cNvPr>
          <p:cNvPicPr>
            <a:picLocks noChangeAspect="1"/>
          </p:cNvPicPr>
          <p:nvPr/>
        </p:nvPicPr>
        <p:blipFill>
          <a:blip r:embed="rId3"/>
          <a:stretch>
            <a:fillRect/>
          </a:stretch>
        </p:blipFill>
        <p:spPr>
          <a:xfrm>
            <a:off x="5847607" y="1196015"/>
            <a:ext cx="3287505" cy="5588758"/>
          </a:xfrm>
          <a:prstGeom prst="rect">
            <a:avLst/>
          </a:prstGeom>
        </p:spPr>
      </p:pic>
      <p:sp>
        <p:nvSpPr>
          <p:cNvPr id="3" name="Rectangle 2">
            <a:extLst>
              <a:ext uri="{FF2B5EF4-FFF2-40B4-BE49-F238E27FC236}">
                <a16:creationId xmlns:a16="http://schemas.microsoft.com/office/drawing/2014/main" id="{0834A0E0-36C8-4052-8174-0051A9296AC4}"/>
              </a:ext>
              <a:ext uri="{C183D7F6-B498-43B3-948B-1728B52AA6E4}">
                <adec:decorative xmlns:adec="http://schemas.microsoft.com/office/drawing/2017/decorative" val="1"/>
              </a:ext>
            </a:extLst>
          </p:cNvPr>
          <p:cNvSpPr/>
          <p:nvPr/>
        </p:nvSpPr>
        <p:spPr bwMode="auto">
          <a:xfrm>
            <a:off x="5486399" y="1020769"/>
            <a:ext cx="4065815" cy="571160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14102" fontAlgn="base">
              <a:spcBef>
                <a:spcPct val="0"/>
              </a:spcBef>
              <a:spcAft>
                <a:spcPct val="0"/>
              </a:spcAft>
            </a:pPr>
            <a:endParaRPr lang="en-IN" sz="2353" err="1">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74967327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5DB92-F0C2-4A2B-8B7E-88ECC7E664C2}"/>
              </a:ext>
            </a:extLst>
          </p:cNvPr>
          <p:cNvSpPr>
            <a:spLocks noGrp="1"/>
          </p:cNvSpPr>
          <p:nvPr>
            <p:ph type="title"/>
          </p:nvPr>
        </p:nvSpPr>
        <p:spPr/>
        <p:txBody>
          <a:bodyPr/>
          <a:lstStyle/>
          <a:p>
            <a:r>
              <a:rPr lang="en-US" dirty="0"/>
              <a:t>Demonstration – deploy Azure Front Door </a:t>
            </a:r>
          </a:p>
        </p:txBody>
      </p:sp>
      <p:pic>
        <p:nvPicPr>
          <p:cNvPr id="4" name="Picture 3" descr="Icon of two gears">
            <a:extLst>
              <a:ext uri="{FF2B5EF4-FFF2-40B4-BE49-F238E27FC236}">
                <a16:creationId xmlns:a16="http://schemas.microsoft.com/office/drawing/2014/main" id="{F06C6382-CDD8-499E-BAFB-0458E50484BB}"/>
              </a:ext>
            </a:extLst>
          </p:cNvPr>
          <p:cNvPicPr>
            <a:picLocks noChangeAspect="1"/>
          </p:cNvPicPr>
          <p:nvPr/>
        </p:nvPicPr>
        <p:blipFill>
          <a:blip r:embed="rId3"/>
          <a:stretch>
            <a:fillRect/>
          </a:stretch>
        </p:blipFill>
        <p:spPr>
          <a:xfrm>
            <a:off x="455995" y="1362243"/>
            <a:ext cx="1026406" cy="1026406"/>
          </a:xfrm>
          <a:prstGeom prst="rect">
            <a:avLst/>
          </a:prstGeom>
        </p:spPr>
      </p:pic>
      <p:sp>
        <p:nvSpPr>
          <p:cNvPr id="6" name="Rectangle 5">
            <a:extLst>
              <a:ext uri="{FF2B5EF4-FFF2-40B4-BE49-F238E27FC236}">
                <a16:creationId xmlns:a16="http://schemas.microsoft.com/office/drawing/2014/main" id="{E0B95280-CFAA-4D14-9CA2-1E78B811EA42}"/>
              </a:ext>
            </a:extLst>
          </p:cNvPr>
          <p:cNvSpPr/>
          <p:nvPr/>
        </p:nvSpPr>
        <p:spPr bwMode="auto">
          <a:xfrm>
            <a:off x="1668346" y="1693663"/>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Create two instances of a web app</a:t>
            </a:r>
          </a:p>
        </p:txBody>
      </p:sp>
      <p:cxnSp>
        <p:nvCxnSpPr>
          <p:cNvPr id="8" name="Straight Connector 7">
            <a:extLst>
              <a:ext uri="{FF2B5EF4-FFF2-40B4-BE49-F238E27FC236}">
                <a16:creationId xmlns:a16="http://schemas.microsoft.com/office/drawing/2014/main" id="{26AF87FA-FA1C-4BE7-9C04-F60397F9F0FA}"/>
              </a:ext>
              <a:ext uri="{C183D7F6-B498-43B3-948B-1728B52AA6E4}">
                <adec:decorative xmlns:adec="http://schemas.microsoft.com/office/drawing/2017/decorative" val="1"/>
              </a:ext>
            </a:extLst>
          </p:cNvPr>
          <p:cNvCxnSpPr>
            <a:cxnSpLocks/>
          </p:cNvCxnSpPr>
          <p:nvPr/>
        </p:nvCxnSpPr>
        <p:spPr>
          <a:xfrm>
            <a:off x="1668346" y="2495815"/>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a wrench">
            <a:extLst>
              <a:ext uri="{FF2B5EF4-FFF2-40B4-BE49-F238E27FC236}">
                <a16:creationId xmlns:a16="http://schemas.microsoft.com/office/drawing/2014/main" id="{D8F76A8C-1692-4921-B1FC-25DCA6D88D34}"/>
              </a:ext>
            </a:extLst>
          </p:cNvPr>
          <p:cNvPicPr>
            <a:picLocks noChangeAspect="1"/>
          </p:cNvPicPr>
          <p:nvPr/>
        </p:nvPicPr>
        <p:blipFill>
          <a:blip r:embed="rId4"/>
          <a:stretch>
            <a:fillRect/>
          </a:stretch>
        </p:blipFill>
        <p:spPr>
          <a:xfrm>
            <a:off x="455995" y="2604476"/>
            <a:ext cx="1026406" cy="1026406"/>
          </a:xfrm>
          <a:prstGeom prst="rect">
            <a:avLst/>
          </a:prstGeom>
        </p:spPr>
      </p:pic>
      <p:sp>
        <p:nvSpPr>
          <p:cNvPr id="12" name="Rectangle 11">
            <a:extLst>
              <a:ext uri="{FF2B5EF4-FFF2-40B4-BE49-F238E27FC236}">
                <a16:creationId xmlns:a16="http://schemas.microsoft.com/office/drawing/2014/main" id="{3BC5BA76-3D66-4A40-B214-9E6757399855}"/>
              </a:ext>
            </a:extLst>
          </p:cNvPr>
          <p:cNvSpPr/>
          <p:nvPr/>
        </p:nvSpPr>
        <p:spPr bwMode="auto">
          <a:xfrm>
            <a:off x="1668346" y="2935896"/>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Create a Front Door for your application</a:t>
            </a:r>
          </a:p>
        </p:txBody>
      </p:sp>
      <p:cxnSp>
        <p:nvCxnSpPr>
          <p:cNvPr id="14" name="Straight Connector 13">
            <a:extLst>
              <a:ext uri="{FF2B5EF4-FFF2-40B4-BE49-F238E27FC236}">
                <a16:creationId xmlns:a16="http://schemas.microsoft.com/office/drawing/2014/main" id="{0C60F5BD-0300-4428-9E79-261EBEACC740}"/>
              </a:ext>
              <a:ext uri="{C183D7F6-B498-43B3-948B-1728B52AA6E4}">
                <adec:decorative xmlns:adec="http://schemas.microsoft.com/office/drawing/2017/decorative" val="1"/>
              </a:ext>
            </a:extLst>
          </p:cNvPr>
          <p:cNvCxnSpPr>
            <a:cxnSpLocks/>
          </p:cNvCxnSpPr>
          <p:nvPr/>
        </p:nvCxnSpPr>
        <p:spPr>
          <a:xfrm>
            <a:off x="1668346" y="3738048"/>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6" name="Picture 15" descr="Icon of a checkmark">
            <a:extLst>
              <a:ext uri="{FF2B5EF4-FFF2-40B4-BE49-F238E27FC236}">
                <a16:creationId xmlns:a16="http://schemas.microsoft.com/office/drawing/2014/main" id="{790BFEF9-4CED-4152-B9D1-D35FB22F3E9A}"/>
              </a:ext>
            </a:extLst>
          </p:cNvPr>
          <p:cNvPicPr>
            <a:picLocks noChangeAspect="1"/>
          </p:cNvPicPr>
          <p:nvPr/>
        </p:nvPicPr>
        <p:blipFill>
          <a:blip r:embed="rId5"/>
          <a:stretch>
            <a:fillRect/>
          </a:stretch>
        </p:blipFill>
        <p:spPr>
          <a:xfrm>
            <a:off x="455995" y="3845214"/>
            <a:ext cx="1026406" cy="1026406"/>
          </a:xfrm>
          <a:prstGeom prst="rect">
            <a:avLst/>
          </a:prstGeom>
        </p:spPr>
      </p:pic>
      <p:sp>
        <p:nvSpPr>
          <p:cNvPr id="18" name="Rectangle 17">
            <a:extLst>
              <a:ext uri="{FF2B5EF4-FFF2-40B4-BE49-F238E27FC236}">
                <a16:creationId xmlns:a16="http://schemas.microsoft.com/office/drawing/2014/main" id="{1BC948BF-4706-4BD1-9F39-6BBAE1173901}"/>
              </a:ext>
            </a:extLst>
          </p:cNvPr>
          <p:cNvSpPr/>
          <p:nvPr/>
        </p:nvSpPr>
        <p:spPr bwMode="auto">
          <a:xfrm>
            <a:off x="1668346" y="4178128"/>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View Azure Front Door in action</a:t>
            </a:r>
          </a:p>
        </p:txBody>
      </p:sp>
      <p:cxnSp>
        <p:nvCxnSpPr>
          <p:cNvPr id="20" name="Straight Connector 19">
            <a:extLst>
              <a:ext uri="{FF2B5EF4-FFF2-40B4-BE49-F238E27FC236}">
                <a16:creationId xmlns:a16="http://schemas.microsoft.com/office/drawing/2014/main" id="{99D28518-EF95-425D-B4CB-7AF5E2DBAD29}"/>
              </a:ext>
              <a:ext uri="{C183D7F6-B498-43B3-948B-1728B52AA6E4}">
                <adec:decorative xmlns:adec="http://schemas.microsoft.com/office/drawing/2017/decorative" val="1"/>
              </a:ext>
            </a:extLst>
          </p:cNvPr>
          <p:cNvCxnSpPr>
            <a:cxnSpLocks/>
          </p:cNvCxnSpPr>
          <p:nvPr/>
        </p:nvCxnSpPr>
        <p:spPr>
          <a:xfrm>
            <a:off x="1668346" y="4980281"/>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295892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Summary – Design and Configure </a:t>
            </a:r>
            <a:r>
              <a:rPr lang="en-US" sz="2800" dirty="0"/>
              <a:t>Azure Front Door</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 uri="{C183D7F6-B498-43B3-948B-1728B52AA6E4}">
                <adec:decorative xmlns:adec="http://schemas.microsoft.com/office/drawing/2017/decorative" val="1"/>
              </a:ext>
            </a:extLst>
          </p:cNvPr>
          <p:cNvSpPr/>
          <p:nvPr/>
        </p:nvSpPr>
        <p:spPr>
          <a:xfrm>
            <a:off x="4172422" y="2828769"/>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81146" y="3717809"/>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C0052B74-9B2F-4E41-90E0-72508A8D9FE1}"/>
              </a:ext>
            </a:extLst>
          </p:cNvPr>
          <p:cNvSpPr txBox="1"/>
          <p:nvPr/>
        </p:nvSpPr>
        <p:spPr>
          <a:xfrm>
            <a:off x="4172422" y="2263230"/>
            <a:ext cx="6093912" cy="369332"/>
          </a:xfrm>
          <a:prstGeom prst="rect">
            <a:avLst/>
          </a:prstGeom>
          <a:noFill/>
        </p:spPr>
        <p:txBody>
          <a:bodyPr wrap="square">
            <a:spAutoFit/>
          </a:bodyPr>
          <a:lstStyle/>
          <a:p>
            <a:r>
              <a:rPr lang="en-US" dirty="0">
                <a:hlinkClick r:id="rId4"/>
              </a:rPr>
              <a:t>Azure Front Door | Microsoft Docs</a:t>
            </a:r>
            <a:endParaRPr lang="en-US" dirty="0"/>
          </a:p>
        </p:txBody>
      </p:sp>
      <p:sp>
        <p:nvSpPr>
          <p:cNvPr id="13" name="TextBox 12">
            <a:extLst>
              <a:ext uri="{FF2B5EF4-FFF2-40B4-BE49-F238E27FC236}">
                <a16:creationId xmlns:a16="http://schemas.microsoft.com/office/drawing/2014/main" id="{6AED092A-D1B1-41D4-A655-CCCF8F23167E}"/>
              </a:ext>
            </a:extLst>
          </p:cNvPr>
          <p:cNvSpPr txBox="1"/>
          <p:nvPr/>
        </p:nvSpPr>
        <p:spPr>
          <a:xfrm>
            <a:off x="4181145" y="2935017"/>
            <a:ext cx="7405429" cy="646331"/>
          </a:xfrm>
          <a:prstGeom prst="rect">
            <a:avLst/>
          </a:prstGeom>
          <a:noFill/>
        </p:spPr>
        <p:txBody>
          <a:bodyPr wrap="square">
            <a:spAutoFit/>
          </a:bodyPr>
          <a:lstStyle/>
          <a:p>
            <a:r>
              <a:rPr lang="en-US" dirty="0">
                <a:hlinkClick r:id="rId5"/>
              </a:rPr>
              <a:t>Tutorial: Scale and protect a web app by using Azure Front Door and Azure Web Application Firewall (WAF) | Microsoft Docs</a:t>
            </a:r>
            <a:endParaRPr lang="en-US" dirty="0"/>
          </a:p>
        </p:txBody>
      </p:sp>
    </p:spTree>
    <p:extLst>
      <p:ext uri="{BB962C8B-B14F-4D97-AF65-F5344CB8AC3E}">
        <p14:creationId xmlns:p14="http://schemas.microsoft.com/office/powerpoint/2010/main" val="2453630756"/>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AF917B-5B52-4F42-907A-1ECDBF6B9454}"/>
              </a:ext>
            </a:extLst>
          </p:cNvPr>
          <p:cNvSpPr>
            <a:spLocks noGrp="1"/>
          </p:cNvSpPr>
          <p:nvPr>
            <p:ph type="title"/>
          </p:nvPr>
        </p:nvSpPr>
        <p:spPr>
          <a:xfrm>
            <a:off x="585217" y="2940213"/>
            <a:ext cx="8892608" cy="977575"/>
          </a:xfrm>
        </p:spPr>
        <p:txBody>
          <a:bodyPr/>
          <a:lstStyle/>
          <a:p>
            <a:r>
              <a:rPr lang="en-US" dirty="0"/>
              <a:t>Lesson 05: Exercise: </a:t>
            </a:r>
            <a:r>
              <a:rPr kumimoji="0" lang="en-US" i="0" u="none" strike="noStrike" kern="1200" cap="none" spc="0" normalizeH="0" baseline="0" noProof="0" dirty="0">
                <a:ln>
                  <a:noFill/>
                </a:ln>
                <a:effectLst/>
                <a:uLnTx/>
                <a:uFillTx/>
                <a:ea typeface="+mn-ea"/>
                <a:cs typeface="+mn-cs"/>
              </a:rPr>
              <a:t>create a Front Door for a highly available web application </a:t>
            </a:r>
            <a:endParaRPr lang="en-US" dirty="0"/>
          </a:p>
        </p:txBody>
      </p:sp>
      <p:grpSp>
        <p:nvGrpSpPr>
          <p:cNvPr id="7" name="Group 6">
            <a:extLst>
              <a:ext uri="{FF2B5EF4-FFF2-40B4-BE49-F238E27FC236}">
                <a16:creationId xmlns:a16="http://schemas.microsoft.com/office/drawing/2014/main" id="{D07A736C-6604-47E9-B683-D6EF69A9D0B9}"/>
              </a:ext>
              <a:ext uri="{C183D7F6-B498-43B3-948B-1728B52AA6E4}">
                <adec:decorative xmlns:adec="http://schemas.microsoft.com/office/drawing/2017/decorative" val="1"/>
              </a:ext>
            </a:extLst>
          </p:cNvPr>
          <p:cNvGrpSpPr/>
          <p:nvPr/>
        </p:nvGrpSpPr>
        <p:grpSpPr>
          <a:xfrm>
            <a:off x="10336286" y="3070379"/>
            <a:ext cx="717140" cy="717242"/>
            <a:chOff x="418643" y="4842674"/>
            <a:chExt cx="717140" cy="717242"/>
          </a:xfrm>
        </p:grpSpPr>
        <p:grpSp>
          <p:nvGrpSpPr>
            <p:cNvPr id="8" name="Group 7">
              <a:extLst>
                <a:ext uri="{FF2B5EF4-FFF2-40B4-BE49-F238E27FC236}">
                  <a16:creationId xmlns:a16="http://schemas.microsoft.com/office/drawing/2014/main" id="{7D430A52-13C7-4FF5-BFCA-35948A05240A}"/>
                </a:ext>
                <a:ext uri="{C183D7F6-B498-43B3-948B-1728B52AA6E4}">
                  <adec:decorative xmlns:adec="http://schemas.microsoft.com/office/drawing/2017/decorative" val="1"/>
                </a:ext>
              </a:extLst>
            </p:cNvPr>
            <p:cNvGrpSpPr/>
            <p:nvPr/>
          </p:nvGrpSpPr>
          <p:grpSpPr>
            <a:xfrm>
              <a:off x="418643" y="4842674"/>
              <a:ext cx="717140" cy="717242"/>
              <a:chOff x="7962901" y="3032919"/>
              <a:chExt cx="981074" cy="981076"/>
            </a:xfrm>
          </p:grpSpPr>
          <p:sp>
            <p:nvSpPr>
              <p:cNvPr id="10" name="Freeform 5">
                <a:extLst>
                  <a:ext uri="{FF2B5EF4-FFF2-40B4-BE49-F238E27FC236}">
                    <a16:creationId xmlns:a16="http://schemas.microsoft.com/office/drawing/2014/main" id="{C209C218-A909-4C97-A3D4-07683F06AAE8}"/>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 name="Freeform 6">
                <a:extLst>
                  <a:ext uri="{FF2B5EF4-FFF2-40B4-BE49-F238E27FC236}">
                    <a16:creationId xmlns:a16="http://schemas.microsoft.com/office/drawing/2014/main" id="{9D06C283-B228-49D1-8D2D-E3A950DA00E4}"/>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coding brackets">
              <a:extLst>
                <a:ext uri="{FF2B5EF4-FFF2-40B4-BE49-F238E27FC236}">
                  <a16:creationId xmlns:a16="http://schemas.microsoft.com/office/drawing/2014/main" id="{DF940D9B-901E-4FB7-BA56-67B56EBCB529}"/>
                </a:ext>
              </a:extLst>
            </p:cNvPr>
            <p:cNvPicPr>
              <a:picLocks noChangeAspect="1"/>
            </p:cNvPicPr>
            <p:nvPr/>
          </p:nvPicPr>
          <p:blipFill>
            <a:blip r:embed="rId3"/>
            <a:stretch>
              <a:fillRect/>
            </a:stretch>
          </p:blipFill>
          <p:spPr>
            <a:xfrm>
              <a:off x="568446" y="4992528"/>
              <a:ext cx="417534" cy="417534"/>
            </a:xfrm>
            <a:prstGeom prst="rect">
              <a:avLst/>
            </a:prstGeom>
          </p:spPr>
        </p:pic>
      </p:grpSp>
    </p:spTree>
    <p:extLst>
      <p:ext uri="{BB962C8B-B14F-4D97-AF65-F5344CB8AC3E}">
        <p14:creationId xmlns:p14="http://schemas.microsoft.com/office/powerpoint/2010/main" val="221798200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9D137-B7AA-41FB-B2AF-DA1B6BD17570}"/>
              </a:ext>
            </a:extLst>
          </p:cNvPr>
          <p:cNvSpPr>
            <a:spLocks noGrp="1"/>
          </p:cNvSpPr>
          <p:nvPr>
            <p:ph type="title"/>
          </p:nvPr>
        </p:nvSpPr>
        <p:spPr/>
        <p:txBody>
          <a:bodyPr/>
          <a:lstStyle/>
          <a:p>
            <a:r>
              <a:rPr lang="en-US" dirty="0"/>
              <a:t>Exercise: </a:t>
            </a:r>
            <a:r>
              <a:rPr kumimoji="0" lang="en-US" i="0" u="none" strike="noStrike" kern="1200" cap="none" spc="0" normalizeH="0" baseline="0" noProof="0" dirty="0">
                <a:ln>
                  <a:noFill/>
                </a:ln>
                <a:effectLst/>
                <a:uLnTx/>
                <a:uFillTx/>
                <a:ea typeface="+mn-ea"/>
                <a:cs typeface="+mn-cs"/>
              </a:rPr>
              <a:t>create a Front Door for a highly available web application</a:t>
            </a:r>
            <a:endParaRPr lang="en-US" dirty="0"/>
          </a:p>
        </p:txBody>
      </p:sp>
      <p:sp>
        <p:nvSpPr>
          <p:cNvPr id="5" name="TextBox 1">
            <a:extLst>
              <a:ext uri="{FF2B5EF4-FFF2-40B4-BE49-F238E27FC236}">
                <a16:creationId xmlns:a16="http://schemas.microsoft.com/office/drawing/2014/main" id="{D328A52C-E9F1-4872-B411-ADFC8F34A36E}"/>
              </a:ext>
            </a:extLst>
          </p:cNvPr>
          <p:cNvSpPr txBox="1"/>
          <p:nvPr/>
        </p:nvSpPr>
        <p:spPr>
          <a:xfrm>
            <a:off x="455995" y="1337310"/>
            <a:ext cx="4771098" cy="5036193"/>
          </a:xfrm>
          <a:prstGeom prst="rect">
            <a:avLst/>
          </a:prstGeom>
          <a:solidFill>
            <a:schemeClr val="bg1">
              <a:lumMod val="95000"/>
            </a:schemeClr>
          </a:solidFill>
        </p:spPr>
        <p:txBody>
          <a:bodyPr wrap="square" lIns="134464" tIns="89642" rIns="134464" bIns="89642"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lgn="l"/>
            <a:r>
              <a:rPr lang="en-US" sz="2400" b="0" i="0" dirty="0">
                <a:solidFill>
                  <a:srgbClr val="24292E"/>
                </a:solidFill>
                <a:effectLst/>
                <a:latin typeface="-apple-system"/>
              </a:rPr>
              <a:t>Task 1: Create two instances of a web app</a:t>
            </a:r>
          </a:p>
          <a:p>
            <a:pPr algn="l">
              <a:buFont typeface="Arial" panose="020B0604020202020204" pitchFamily="34" charset="0"/>
              <a:buChar char="•"/>
            </a:pPr>
            <a:endParaRPr lang="en-US" sz="2400" b="0" i="0" dirty="0">
              <a:solidFill>
                <a:srgbClr val="24292E"/>
              </a:solidFill>
              <a:effectLst/>
              <a:latin typeface="-apple-system"/>
            </a:endParaRPr>
          </a:p>
          <a:p>
            <a:pPr algn="l"/>
            <a:r>
              <a:rPr lang="en-US" sz="2400" b="0" i="0" dirty="0">
                <a:solidFill>
                  <a:srgbClr val="24292E"/>
                </a:solidFill>
                <a:effectLst/>
                <a:latin typeface="-apple-system"/>
              </a:rPr>
              <a:t>Task 2: Create a Front Door for your application</a:t>
            </a:r>
          </a:p>
          <a:p>
            <a:pPr algn="l">
              <a:buFont typeface="Arial" panose="020B0604020202020204" pitchFamily="34" charset="0"/>
              <a:buChar char="•"/>
            </a:pPr>
            <a:endParaRPr lang="en-US" sz="2400" b="0" i="0" dirty="0">
              <a:solidFill>
                <a:srgbClr val="24292E"/>
              </a:solidFill>
              <a:effectLst/>
              <a:latin typeface="-apple-system"/>
            </a:endParaRPr>
          </a:p>
          <a:p>
            <a:pPr algn="l"/>
            <a:r>
              <a:rPr lang="en-US" sz="2400" b="0" i="0" dirty="0">
                <a:solidFill>
                  <a:srgbClr val="24292E"/>
                </a:solidFill>
                <a:effectLst/>
                <a:latin typeface="-apple-system"/>
              </a:rPr>
              <a:t>Task 3: View Azure Front Door in action</a:t>
            </a:r>
          </a:p>
          <a:p>
            <a:pPr algn="l">
              <a:buFont typeface="Arial" panose="020B0604020202020204" pitchFamily="34" charset="0"/>
              <a:buChar char="•"/>
            </a:pPr>
            <a:endParaRPr lang="en-US" sz="2400" b="0" i="0" dirty="0">
              <a:solidFill>
                <a:srgbClr val="24292E"/>
              </a:solidFill>
              <a:effectLst/>
              <a:latin typeface="-apple-system"/>
            </a:endParaRPr>
          </a:p>
          <a:p>
            <a:pPr algn="l"/>
            <a:r>
              <a:rPr lang="en-US" sz="2400" b="0" i="0" dirty="0">
                <a:solidFill>
                  <a:srgbClr val="24292E"/>
                </a:solidFill>
                <a:effectLst/>
                <a:latin typeface="-apple-system"/>
              </a:rPr>
              <a:t>Task 4: Clean up resources</a:t>
            </a:r>
          </a:p>
        </p:txBody>
      </p:sp>
      <p:pic>
        <p:nvPicPr>
          <p:cNvPr id="3" name="Picture 2" descr="Network configuration for Azure Front Door.">
            <a:extLst>
              <a:ext uri="{FF2B5EF4-FFF2-40B4-BE49-F238E27FC236}">
                <a16:creationId xmlns:a16="http://schemas.microsoft.com/office/drawing/2014/main" id="{E69C269F-A460-4E32-80C8-EAE483A32467}"/>
              </a:ext>
            </a:extLst>
          </p:cNvPr>
          <p:cNvPicPr/>
          <p:nvPr/>
        </p:nvPicPr>
        <p:blipFill>
          <a:blip r:embed="rId3"/>
          <a:stretch>
            <a:fillRect/>
          </a:stretch>
        </p:blipFill>
        <p:spPr bwMode="auto">
          <a:xfrm>
            <a:off x="5702968" y="2000033"/>
            <a:ext cx="6059496" cy="3510430"/>
          </a:xfrm>
          <a:prstGeom prst="rect">
            <a:avLst/>
          </a:prstGeom>
          <a:noFill/>
          <a:ln>
            <a:noFill/>
          </a:ln>
        </p:spPr>
      </p:pic>
    </p:spTree>
    <p:extLst>
      <p:ext uri="{BB962C8B-B14F-4D97-AF65-F5344CB8AC3E}">
        <p14:creationId xmlns:p14="http://schemas.microsoft.com/office/powerpoint/2010/main" val="361532026"/>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Summary – </a:t>
            </a:r>
            <a:r>
              <a:rPr kumimoji="0" lang="en-US" b="0" i="0" u="none" strike="noStrike" kern="1200" cap="none" spc="0" normalizeH="0" baseline="0" noProof="0" dirty="0">
                <a:ln>
                  <a:noFill/>
                </a:ln>
                <a:effectLst/>
                <a:uLnTx/>
                <a:uFillTx/>
                <a:latin typeface="Calibri" panose="020F0502020204030204"/>
                <a:ea typeface="+mn-ea"/>
                <a:cs typeface="+mn-cs"/>
              </a:rPr>
              <a:t>deploy Front Door </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80FD65E0-F029-4754-B9A6-CFE9005CC0A0}"/>
              </a:ext>
            </a:extLst>
          </p:cNvPr>
          <p:cNvSpPr txBox="1"/>
          <p:nvPr/>
        </p:nvSpPr>
        <p:spPr>
          <a:xfrm>
            <a:off x="4172422" y="2120062"/>
            <a:ext cx="7600933" cy="646331"/>
          </a:xfrm>
          <a:prstGeom prst="rect">
            <a:avLst/>
          </a:prstGeom>
          <a:noFill/>
        </p:spPr>
        <p:txBody>
          <a:bodyPr wrap="square">
            <a:spAutoFit/>
          </a:bodyPr>
          <a:lstStyle/>
          <a:p>
            <a:r>
              <a:rPr lang="en-US" dirty="0">
                <a:hlinkClick r:id="rId4"/>
              </a:rPr>
              <a:t>Quickstart: Set up high availability with Azure Front Door Service - Azure portal | Microsoft Docs</a:t>
            </a:r>
            <a:endParaRPr lang="en-US" dirty="0"/>
          </a:p>
        </p:txBody>
      </p:sp>
    </p:spTree>
    <p:extLst>
      <p:ext uri="{BB962C8B-B14F-4D97-AF65-F5344CB8AC3E}">
        <p14:creationId xmlns:p14="http://schemas.microsoft.com/office/powerpoint/2010/main" val="2125603468"/>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B4F3F-CDE4-4DFF-AA15-D699813BE349}"/>
              </a:ext>
            </a:extLst>
          </p:cNvPr>
          <p:cNvSpPr>
            <a:spLocks noGrp="1"/>
          </p:cNvSpPr>
          <p:nvPr>
            <p:ph type="title"/>
          </p:nvPr>
        </p:nvSpPr>
        <p:spPr/>
        <p:txBody>
          <a:bodyPr/>
          <a:lstStyle/>
          <a:p>
            <a:r>
              <a:rPr lang="en-US" dirty="0"/>
              <a:t>End of presentation</a:t>
            </a:r>
          </a:p>
        </p:txBody>
      </p:sp>
    </p:spTree>
    <p:extLst>
      <p:ext uri="{BB962C8B-B14F-4D97-AF65-F5344CB8AC3E}">
        <p14:creationId xmlns:p14="http://schemas.microsoft.com/office/powerpoint/2010/main" val="1043983413"/>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escription xmlns="e8bab37c-6053-4066-b569-fd9fbae908bd"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9163849240324E9E04492C11FECC70" ma:contentTypeVersion="15" ma:contentTypeDescription="Create a new document." ma:contentTypeScope="" ma:versionID="8f9d8de33abc71b2d05badd92e2b5931">
  <xsd:schema xmlns:xsd="http://www.w3.org/2001/XMLSchema" xmlns:xs="http://www.w3.org/2001/XMLSchema" xmlns:p="http://schemas.microsoft.com/office/2006/metadata/properties" xmlns:ns1="http://schemas.microsoft.com/sharepoint/v3" xmlns:ns2="e8bab37c-6053-4066-b569-fd9fbae908bd" xmlns:ns3="1d16016b-1e11-4dbd-8bd0-b44cb6539c58" targetNamespace="http://schemas.microsoft.com/office/2006/metadata/properties" ma:root="true" ma:fieldsID="fce38079b6a51eb356cb81d02c0f0cc5" ns1:_="" ns2:_="" ns3:_="">
    <xsd:import namespace="http://schemas.microsoft.com/sharepoint/v3"/>
    <xsd:import namespace="e8bab37c-6053-4066-b569-fd9fbae908bd"/>
    <xsd:import namespace="1d16016b-1e11-4dbd-8bd0-b44cb6539c5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DateTaken" minOccurs="0"/>
                <xsd:element ref="ns2:MediaServiceAutoTags" minOccurs="0"/>
                <xsd:element ref="ns1:_ip_UnifiedCompliancePolicyProperties" minOccurs="0"/>
                <xsd:element ref="ns1:_ip_UnifiedCompliancePolicyUIAction" minOccurs="0"/>
                <xsd:element ref="ns2:MediaServiceGenerationTime" minOccurs="0"/>
                <xsd:element ref="ns2:MediaServiceEventHashCode" minOccurs="0"/>
                <xsd:element ref="ns2:Descrip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bab37c-6053-4066-b569-fd9fbae908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Description" ma:index="19" nillable="true" ma:displayName="Description" ma:format="Dropdown" ma:internalName="Description">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d16016b-1e11-4dbd-8bd0-b44cb6539c58"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2D1C4F-1588-4A5D-93A6-09141CBDB0A2}">
  <ds:schemaRefs>
    <ds:schemaRef ds:uri="http://schemas.microsoft.com/sharepoint/v3/contenttype/forms"/>
  </ds:schemaRefs>
</ds:datastoreItem>
</file>

<file path=customXml/itemProps2.xml><?xml version="1.0" encoding="utf-8"?>
<ds:datastoreItem xmlns:ds="http://schemas.openxmlformats.org/officeDocument/2006/customXml" ds:itemID="{DE773FEE-B6FC-4402-95D0-D4AA6D1CD7E8}">
  <ds:schemaRefs>
    <ds:schemaRef ds:uri="1d16016b-1e11-4dbd-8bd0-b44cb6539c58"/>
    <ds:schemaRef ds:uri="e8bab37c-6053-4066-b569-fd9fbae908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91A2CEC-E177-4409-A53E-AE1A99A521A5}">
  <ds:schemaRefs>
    <ds:schemaRef ds:uri="1d16016b-1e11-4dbd-8bd0-b44cb6539c58"/>
    <ds:schemaRef ds:uri="e8bab37c-6053-4066-b569-fd9fbae908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342</TotalTime>
  <Words>5451</Words>
  <Application>Microsoft Office PowerPoint</Application>
  <PresentationFormat>Widescreen</PresentationFormat>
  <Paragraphs>449</Paragraphs>
  <Slides>38</Slides>
  <Notes>32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38</vt:i4>
      </vt:variant>
    </vt:vector>
  </HeadingPairs>
  <TitlesOfParts>
    <vt:vector size="50" baseType="lpstr">
      <vt:lpstr>-apple-system</vt:lpstr>
      <vt:lpstr>Arial</vt:lpstr>
      <vt:lpstr>Calibri</vt:lpstr>
      <vt:lpstr>Calibri Light</vt:lpstr>
      <vt:lpstr>Consolas</vt:lpstr>
      <vt:lpstr>Courier New</vt:lpstr>
      <vt:lpstr>Segoe UI</vt:lpstr>
      <vt:lpstr>Segoe UI Semibold</vt:lpstr>
      <vt:lpstr>Symbol</vt:lpstr>
      <vt:lpstr>Wingdings</vt:lpstr>
      <vt:lpstr>Office Theme</vt:lpstr>
      <vt:lpstr>Microsoft Azure Template</vt:lpstr>
      <vt:lpstr>AZ-700T00A Module 05: Load balancing HTTP(S) traffic in Azure</vt:lpstr>
      <vt:lpstr>Module Overview</vt:lpstr>
      <vt:lpstr>Lesson 01: Design Azure Application Gateway</vt:lpstr>
      <vt:lpstr>Design Azure Application Gateway overview</vt:lpstr>
      <vt:lpstr>Application Gateway features</vt:lpstr>
      <vt:lpstr>Determine Application Gateway Routing</vt:lpstr>
      <vt:lpstr>Choosing an Azure App Gateway SKU</vt:lpstr>
      <vt:lpstr>Application Gateway configuration planning</vt:lpstr>
      <vt:lpstr>Summary – Design Azure Application Gateway </vt:lpstr>
      <vt:lpstr>Lesson 02: Configure Azure Application Gateway</vt:lpstr>
      <vt:lpstr>Configure Azure Application Gateway overview</vt:lpstr>
      <vt:lpstr>Configure Application Gateway</vt:lpstr>
      <vt:lpstr>Configure health probes </vt:lpstr>
      <vt:lpstr>Configure listeners </vt:lpstr>
      <vt:lpstr>Redirection overview </vt:lpstr>
      <vt:lpstr>Application Gateway Request routing rules</vt:lpstr>
      <vt:lpstr>Configure URL Path-based routing </vt:lpstr>
      <vt:lpstr>Configure rewrite policies </vt:lpstr>
      <vt:lpstr>Demo</vt:lpstr>
      <vt:lpstr>Summary – Configure Azure Application Gateway </vt:lpstr>
      <vt:lpstr>Lesson 03: Exercise: deploy Azure Application Gateway</vt:lpstr>
      <vt:lpstr>Exercise: deploy Azure Application Gateway</vt:lpstr>
      <vt:lpstr>Summary – deploy Azure Application Gateway</vt:lpstr>
      <vt:lpstr>Lesson 04: Design and configure Azure Front Door</vt:lpstr>
      <vt:lpstr>Design and configure Azure Front Door overview</vt:lpstr>
      <vt:lpstr>What is Azure Front Door</vt:lpstr>
      <vt:lpstr>Azure Front Door Standard and Premium </vt:lpstr>
      <vt:lpstr>Create a Front Door in the Azure portal </vt:lpstr>
      <vt:lpstr>Configure routing and redirection rules </vt:lpstr>
      <vt:lpstr>Configure back-end targets </vt:lpstr>
      <vt:lpstr>Configure health probes</vt:lpstr>
      <vt:lpstr>Secure Front Door with SSL and end-to-end SSL encryption </vt:lpstr>
      <vt:lpstr>Demonstration – deploy Azure Front Door </vt:lpstr>
      <vt:lpstr>Summary – Design and Configure Azure Front Door</vt:lpstr>
      <vt:lpstr>Lesson 05: Exercise: create a Front Door for a highly available web application </vt:lpstr>
      <vt:lpstr>Exercise: create a Front Door for a highly available web application</vt:lpstr>
      <vt:lpstr>Summary – deploy Front Door </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Jill Leary</dc:creator>
  <cp:lastModifiedBy>Jill Leary</cp:lastModifiedBy>
  <cp:revision>8</cp:revision>
  <dcterms:created xsi:type="dcterms:W3CDTF">2021-03-31T15:39:33Z</dcterms:created>
  <dcterms:modified xsi:type="dcterms:W3CDTF">2022-04-26T19:42:19Z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0x010100329163849240324E9E04492C11FECC70</vt:lpwstr>
  </property>
</Properties>
</file>
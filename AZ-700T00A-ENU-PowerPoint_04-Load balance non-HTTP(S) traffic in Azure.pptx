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Lst>
  <p:notesMasterIdLst>
    <p:notesMasterId r:id="rId47"/>
  </p:notesMasterIdLst>
  <p:sldIdLst>
    <p:sldId id="1746" r:id="rId6"/>
    <p:sldId id="1761" r:id="rId7"/>
    <p:sldId id="1865" r:id="rId8"/>
    <p:sldId id="1781" r:id="rId9"/>
    <p:sldId id="2076137787" r:id="rId10"/>
    <p:sldId id="2076137772" r:id="rId11"/>
    <p:sldId id="2076137774" r:id="rId12"/>
    <p:sldId id="2076137794" r:id="rId13"/>
    <p:sldId id="2532" r:id="rId14"/>
    <p:sldId id="2076137765" r:id="rId15"/>
    <p:sldId id="1782" r:id="rId16"/>
    <p:sldId id="2076137775" r:id="rId17"/>
    <p:sldId id="2076137776" r:id="rId18"/>
    <p:sldId id="2530" r:id="rId19"/>
    <p:sldId id="2076137777" r:id="rId20"/>
    <p:sldId id="1921" r:id="rId21"/>
    <p:sldId id="2459" r:id="rId22"/>
    <p:sldId id="2461" r:id="rId23"/>
    <p:sldId id="1896" r:id="rId24"/>
    <p:sldId id="2076137788" r:id="rId25"/>
    <p:sldId id="2076137792" r:id="rId26"/>
    <p:sldId id="2076137767" r:id="rId27"/>
    <p:sldId id="2076137763" r:id="rId28"/>
    <p:sldId id="2076137786" r:id="rId29"/>
    <p:sldId id="2076137771" r:id="rId30"/>
    <p:sldId id="2076137766" r:id="rId31"/>
    <p:sldId id="2076137795" r:id="rId32"/>
    <p:sldId id="2076137778" r:id="rId33"/>
    <p:sldId id="2076137779" r:id="rId34"/>
    <p:sldId id="2076137780" r:id="rId35"/>
    <p:sldId id="2076137789" r:id="rId36"/>
    <p:sldId id="2076137790" r:id="rId37"/>
    <p:sldId id="2076137791" r:id="rId38"/>
    <p:sldId id="2076137781" r:id="rId39"/>
    <p:sldId id="2076137782" r:id="rId40"/>
    <p:sldId id="2076137783" r:id="rId41"/>
    <p:sldId id="2076137793" r:id="rId42"/>
    <p:sldId id="2076137768" r:id="rId43"/>
    <p:sldId id="2076137784" r:id="rId44"/>
    <p:sldId id="2076137785" r:id="rId45"/>
    <p:sldId id="189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1C9C55-7A79-46D6-AFD5-D22465431689}" v="14" dt="2021-07-14T22:14:39.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24" autoAdjust="0"/>
  </p:normalViewPr>
  <p:slideViewPr>
    <p:cSldViewPr snapToGrid="0">
      <p:cViewPr varScale="1">
        <p:scale>
          <a:sx n="64" d="100"/>
          <a:sy n="64" d="100"/>
        </p:scale>
        <p:origin x="72"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4C573-DDE7-4816-8239-79FB69BB613D}" type="datetimeFigureOut">
              <a:rPr lang="en-US" smtClean="0"/>
              <a:t>4/25/2022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9185C-5C72-45C2-88F0-D7DF9039278A}" type="slidenum">
              <a:rPr lang="en-US" smtClean="0"/>
              <a:t>‹#›</a:t>
            </a:fld>
            <a:endParaRPr lang="en-US"/>
          </a:p>
        </p:txBody>
      </p:sp>
    </p:spTree>
    <p:extLst>
      <p:ext uri="{BB962C8B-B14F-4D97-AF65-F5344CB8AC3E}">
        <p14:creationId xmlns:p14="http://schemas.microsoft.com/office/powerpoint/2010/main" val="342723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docs.microsoft.com/en-us/azure/load-balancer/load-balancer-custom-probe-overview" TargetMode="External"/><Relationship Id="rId13" Type="http://schemas.openxmlformats.org/officeDocument/2006/relationships/hyperlink" Target="https://docs.microsoft.com/en-us/azure/load-balancer/load-balancer-insights" TargetMode="External"/><Relationship Id="rId18" Type="http://schemas.openxmlformats.org/officeDocument/2006/relationships/hyperlink" Target="https://docs.microsoft.com/en-us/azure/load-balancer/load-balancer-ha-ports-overview" TargetMode="External"/><Relationship Id="rId3" Type="http://schemas.openxmlformats.org/officeDocument/2006/relationships/hyperlink" Target="https://docs.microsoft.com/en-us/azure/load-balancer/quickstart-load-balancer-standard-internal-portal" TargetMode="External"/><Relationship Id="rId7" Type="http://schemas.openxmlformats.org/officeDocument/2006/relationships/hyperlink" Target="https://docs.microsoft.com/en-us/azure/load-balancer/load-balancer-outbound-connections" TargetMode="External"/><Relationship Id="rId12" Type="http://schemas.openxmlformats.org/officeDocument/2006/relationships/hyperlink" Target="https://docs.microsoft.com/en-us/azure/azure-monitor/overview" TargetMode="External"/><Relationship Id="rId17" Type="http://schemas.openxmlformats.org/officeDocument/2006/relationships/hyperlink" Target="https://docs.microsoft.com/en-us/azure/load-balancer/move-across-regions-external-load-balancer-portal" TargetMode="External"/><Relationship Id="rId2" Type="http://schemas.openxmlformats.org/officeDocument/2006/relationships/slide" Target="../slides/slide5.xml"/><Relationship Id="rId16" Type="http://schemas.openxmlformats.org/officeDocument/2006/relationships/hyperlink" Target="https://docs.microsoft.com/en-us/azure/load-balancer/move-across-regions-internal-load-balancer-portal" TargetMode="External"/><Relationship Id="rId1" Type="http://schemas.openxmlformats.org/officeDocument/2006/relationships/notesMaster" Target="../notesMasters/notesMaster1.xml"/><Relationship Id="rId6" Type="http://schemas.openxmlformats.org/officeDocument/2006/relationships/hyperlink" Target="https://docs.microsoft.com/en-us/azure/load-balancer/tutorial-load-balancer-standard-public-zone-redundant-portal" TargetMode="External"/><Relationship Id="rId11" Type="http://schemas.openxmlformats.org/officeDocument/2006/relationships/hyperlink" Target="https://docs.microsoft.com/en-us/azure/virtual-network/ipv6-overview" TargetMode="External"/><Relationship Id="rId5" Type="http://schemas.openxmlformats.org/officeDocument/2006/relationships/hyperlink" Target="https://docs.microsoft.com/en-us/azure/load-balancer/tutorial-load-balancer-standard-public-zonal-portal" TargetMode="External"/><Relationship Id="rId15" Type="http://schemas.openxmlformats.org/officeDocument/2006/relationships/hyperlink" Target="https://docs.microsoft.com/en-us/azure/load-balancer/load-balancer-multivip-overview" TargetMode="External"/><Relationship Id="rId10" Type="http://schemas.openxmlformats.org/officeDocument/2006/relationships/hyperlink" Target="https://docs.microsoft.com/en-us/azure/virtual-network/virtual-network-ipv4-ipv6-dual-stack-standard-load-balancer-powershell" TargetMode="External"/><Relationship Id="rId4" Type="http://schemas.openxmlformats.org/officeDocument/2006/relationships/hyperlink" Target="https://docs.microsoft.com/en-us/azure/load-balancer/quickstart-load-balancer-standard-public-portal" TargetMode="External"/><Relationship Id="rId9" Type="http://schemas.openxmlformats.org/officeDocument/2006/relationships/hyperlink" Target="https://docs.microsoft.com/en-us/azure/load-balancer/tutorial-load-balancer-port-forwarding-portal" TargetMode="External"/><Relationship Id="rId14" Type="http://schemas.openxmlformats.org/officeDocument/2006/relationships/hyperlink" Target="https://docs.microsoft.com/en-us/azure/load-balancer/load-balancer-standard-diagnostic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zure.microsoft.com/en-gb/pricing/details/load-balancer/"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docs.microsoft.com/en-us/azure/azure-resource-manager/management/azure-subscription-service-limits#load-balancer"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azure/load-balancer/quickstart-load-balancer-standard-internal-portal?tabs=option-1-create-internal-load-balancer-standard"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microsoft.com/en-us/azure/load-balancer/components#frontend-ip-configuration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azure/load-balancer/gateway-overview"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docs.microsoft.com/en-us/azure/azure-resource-manager/management/move-support-resources" TargetMode="External"/><Relationship Id="rId4" Type="http://schemas.openxmlformats.org/officeDocument/2006/relationships/hyperlink" Target="https://docs.microsoft.com/en-us/azure/azure-resource-manager/management/move-resource-group-and-subscription"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ocs.microsoft.com/en-us/azure/load-balancer/quickstart-load-balancer-standard-public-portal?tabs=option-1-create-load-balancer-standard"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4/Module%2004%20Load%20balancing%20non-HTTP(S)%20traffic%20in%20Azure/4-exercise-create-configure-azure-load-balancer.md"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_Endpoint_Monitoring_Options"/><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_Traffic_Routing_Methods"/></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microsoft.com/en-us/azure/traffic-manager/quickstart-create-traffic-manager-profile"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4/Module%2004%20Load%20balancing%20non-HTTP(S)%20traffic%20in%20Azure/6-exercise-create-traffic-manager-profile-using-azure-portal.md"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Design and Implement Routing (25–30%) </a:t>
            </a:r>
          </a:p>
          <a:p>
            <a:endParaRPr lang="en-US" altLang="zh-CN" dirty="0"/>
          </a:p>
          <a:p>
            <a:r>
              <a:rPr lang="en-US" altLang="zh-CN" dirty="0"/>
              <a:t>Design and implement an Azure Load Balancer</a:t>
            </a:r>
          </a:p>
          <a:p>
            <a:endParaRPr lang="en-US" altLang="zh-CN" dirty="0"/>
          </a:p>
          <a:p>
            <a:r>
              <a:rPr lang="en-US" altLang="zh-CN" dirty="0"/>
              <a:t> choose an Azure Load Balancer SKU (Basic versus Standard)</a:t>
            </a:r>
          </a:p>
          <a:p>
            <a:r>
              <a:rPr lang="en-US" altLang="zh-CN" dirty="0"/>
              <a:t> choose between public and internal </a:t>
            </a:r>
          </a:p>
          <a:p>
            <a:r>
              <a:rPr lang="en-US" altLang="zh-CN" dirty="0"/>
              <a:t> create and configure an Azure Load Balancer (including cross-region)</a:t>
            </a:r>
          </a:p>
          <a:p>
            <a:r>
              <a:rPr lang="en-US" altLang="zh-CN" dirty="0"/>
              <a:t> implement a load balancing rule </a:t>
            </a:r>
          </a:p>
          <a:p>
            <a:r>
              <a:rPr lang="en-US" altLang="zh-CN" dirty="0"/>
              <a:t> create and configure inbound NAT rules </a:t>
            </a:r>
          </a:p>
          <a:p>
            <a:r>
              <a:rPr lang="en-US" altLang="zh-CN" dirty="0"/>
              <a:t> create explicit outbound rules for a load balancer </a:t>
            </a:r>
          </a:p>
          <a:p>
            <a:endParaRPr lang="en-US" altLang="zh-CN" dirty="0"/>
          </a:p>
          <a:p>
            <a:r>
              <a:rPr lang="en-US" altLang="zh-CN" dirty="0"/>
              <a:t>Implement an Azure Traffic Manager profile </a:t>
            </a:r>
          </a:p>
          <a:p>
            <a:endParaRPr lang="en-US" altLang="zh-CN" dirty="0"/>
          </a:p>
          <a:p>
            <a:r>
              <a:rPr lang="en-US" altLang="zh-CN" dirty="0"/>
              <a:t> configure a routing method (mode) </a:t>
            </a:r>
          </a:p>
          <a:p>
            <a:r>
              <a:rPr lang="en-US" altLang="zh-CN" dirty="0"/>
              <a:t> configure endpoints </a:t>
            </a:r>
          </a:p>
          <a:p>
            <a:r>
              <a:rPr lang="en-US" altLang="zh-CN" dirty="0"/>
              <a:t> create HTTP settings </a:t>
            </a:r>
          </a:p>
          <a:p>
            <a:endParaRPr lang="en-US" altLang="zh-CN" dirty="0"/>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3:53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80146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spcBef>
                <a:spcPts val="0"/>
              </a:spcBef>
              <a:spcAft>
                <a:spcPts val="0"/>
              </a:spcAft>
            </a:pPr>
            <a:r>
              <a:rPr lang="en-US" sz="1800" b="0" i="0">
                <a:solidFill>
                  <a:srgbClr val="201F1E"/>
                </a:solidFill>
                <a:effectLst/>
                <a:latin typeface="Calibri" panose="020F0502020204030204" pitchFamily="34" charset="0"/>
              </a:rPr>
              <a:t>- Virtual networks (the hub-spoke topology)</a:t>
            </a:r>
          </a:p>
          <a:p>
            <a:pPr marL="0" marR="0" algn="l">
              <a:spcBef>
                <a:spcPts val="0"/>
              </a:spcBef>
              <a:spcAft>
                <a:spcPts val="0"/>
              </a:spcAft>
            </a:pPr>
            <a:r>
              <a:rPr lang="en-US" sz="1800" b="0" i="0">
                <a:solidFill>
                  <a:srgbClr val="201F1E"/>
                </a:solidFill>
                <a:effectLst/>
                <a:latin typeface="Calibri" panose="020F0502020204030204" pitchFamily="34" charset="0"/>
              </a:rPr>
              <a:t>- ExpressRoute (including ExpressRoute gateways)</a:t>
            </a:r>
          </a:p>
          <a:p>
            <a:pPr marL="0" marR="0" algn="l">
              <a:spcBef>
                <a:spcPts val="0"/>
              </a:spcBef>
              <a:spcAft>
                <a:spcPts val="0"/>
              </a:spcAft>
            </a:pPr>
            <a:r>
              <a:rPr lang="en-US" sz="1800" b="0" i="0">
                <a:solidFill>
                  <a:srgbClr val="201F1E"/>
                </a:solidFill>
                <a:effectLst/>
                <a:latin typeface="Calibri" panose="020F0502020204030204" pitchFamily="34" charset="0"/>
              </a:rPr>
              <a:t>- Site-to-site VPN and Point-to-site VPN (including VPN gateways)</a:t>
            </a:r>
          </a:p>
          <a:p>
            <a:pPr marL="0" marR="0" algn="l">
              <a:spcBef>
                <a:spcPts val="0"/>
              </a:spcBef>
              <a:spcAft>
                <a:spcPts val="0"/>
              </a:spcAft>
            </a:pPr>
            <a:r>
              <a:rPr lang="en-US" sz="1800" b="0" i="0">
                <a:solidFill>
                  <a:srgbClr val="201F1E"/>
                </a:solidFill>
                <a:effectLst/>
                <a:latin typeface="Calibri" panose="020F0502020204030204" pitchFamily="34" charset="0"/>
              </a:rPr>
              <a:t>- Virtual WAN</a:t>
            </a:r>
          </a:p>
          <a:p>
            <a:pPr marL="0" marR="0" algn="l">
              <a:spcBef>
                <a:spcPts val="0"/>
              </a:spcBef>
              <a:spcAft>
                <a:spcPts val="0"/>
              </a:spcAft>
            </a:pPr>
            <a:r>
              <a:rPr lang="en-US" sz="1800" b="0" i="0">
                <a:solidFill>
                  <a:srgbClr val="201F1E"/>
                </a:solidFill>
                <a:effectLst/>
                <a:latin typeface="Calibri" panose="020F0502020204030204" pitchFamily="34" charset="0"/>
              </a:rPr>
              <a:t>- VNet peering</a:t>
            </a:r>
          </a:p>
          <a:p>
            <a:pPr marL="0" marR="0" algn="l">
              <a:spcBef>
                <a:spcPts val="0"/>
              </a:spcBef>
              <a:spcAft>
                <a:spcPts val="0"/>
              </a:spcAft>
            </a:pPr>
            <a:r>
              <a:rPr lang="en-US" sz="1800" b="0" i="0">
                <a:solidFill>
                  <a:srgbClr val="201F1E"/>
                </a:solidFill>
                <a:effectLst/>
                <a:latin typeface="Calibri" panose="020F0502020204030204" pitchFamily="34" charset="0"/>
              </a:rPr>
              <a:t>- Azure Firewall</a:t>
            </a:r>
          </a:p>
          <a:p>
            <a:pPr marL="0" marR="0" algn="l">
              <a:spcBef>
                <a:spcPts val="0"/>
              </a:spcBef>
              <a:spcAft>
                <a:spcPts val="0"/>
              </a:spcAft>
            </a:pPr>
            <a:r>
              <a:rPr lang="en-US" sz="1800" b="0" i="0">
                <a:solidFill>
                  <a:srgbClr val="201F1E"/>
                </a:solidFill>
                <a:effectLst/>
                <a:latin typeface="Calibri" panose="020F0502020204030204" pitchFamily="34" charset="0"/>
              </a:rPr>
              <a:t>- Virtual network DDoS</a:t>
            </a:r>
          </a:p>
          <a:p>
            <a:pPr marL="0" marR="0" algn="l">
              <a:spcBef>
                <a:spcPts val="0"/>
              </a:spcBef>
              <a:spcAft>
                <a:spcPts val="0"/>
              </a:spcAft>
            </a:pPr>
            <a:r>
              <a:rPr lang="en-US" sz="1800" b="0" i="0">
                <a:solidFill>
                  <a:srgbClr val="201F1E"/>
                </a:solidFill>
                <a:effectLst/>
                <a:latin typeface="Calibri" panose="020F0502020204030204" pitchFamily="34" charset="0"/>
              </a:rPr>
              <a:t>- User Defined Routes</a:t>
            </a:r>
          </a:p>
          <a:p>
            <a:pPr marL="0" marR="0" algn="l">
              <a:spcBef>
                <a:spcPts val="0"/>
              </a:spcBef>
              <a:spcAft>
                <a:spcPts val="0"/>
              </a:spcAft>
            </a:pPr>
            <a:r>
              <a:rPr lang="en-US" sz="1800" b="0" i="0">
                <a:solidFill>
                  <a:srgbClr val="201F1E"/>
                </a:solidFill>
                <a:effectLst/>
                <a:latin typeface="Calibri" panose="020F0502020204030204" pitchFamily="34" charset="0"/>
              </a:rPr>
              <a:t>- Azure Bastion</a:t>
            </a:r>
          </a:p>
          <a:p>
            <a:pPr marL="0" marR="0" algn="l">
              <a:spcBef>
                <a:spcPts val="0"/>
              </a:spcBef>
              <a:spcAft>
                <a:spcPts val="0"/>
              </a:spcAft>
            </a:pPr>
            <a:r>
              <a:rPr lang="en-US" sz="1800" b="0" i="0">
                <a:solidFill>
                  <a:srgbClr val="201F1E"/>
                </a:solidFill>
                <a:effectLst/>
                <a:latin typeface="Calibri" panose="020F0502020204030204" pitchFamily="34" charset="0"/>
              </a:rPr>
              <a:t> </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Configure and manage virtual networking (25–30%)</a:t>
            </a:r>
          </a:p>
          <a:p>
            <a:r>
              <a:rPr lang="en-US" altLang="zh-CN" b="0" dirty="0">
                <a:solidFill>
                  <a:srgbClr val="000000"/>
                </a:solidFill>
                <a:effectLst/>
                <a:latin typeface="Consolas" panose="020B0609020204030204" pitchFamily="49" charset="0"/>
              </a:rPr>
              <a:t>Configure load balancing</a:t>
            </a:r>
          </a:p>
          <a:p>
            <a:r>
              <a:rPr lang="en-US" altLang="zh-CN" b="0" dirty="0">
                <a:solidFill>
                  <a:srgbClr val="0000FF"/>
                </a:solidFill>
                <a:effectLst/>
                <a:latin typeface="Consolas" panose="020B0609020204030204" pitchFamily="49" charset="0"/>
              </a:rPr>
              <a:t>* </a:t>
            </a:r>
            <a:r>
              <a:rPr lang="en-US" altLang="zh-CN" b="0" dirty="0">
                <a:solidFill>
                  <a:srgbClr val="000000"/>
                </a:solidFill>
                <a:effectLst/>
                <a:latin typeface="Consolas" panose="020B0609020204030204" pitchFamily="49" charset="0"/>
              </a:rPr>
              <a:t>Configure an internal or public load balancer.</a:t>
            </a:r>
          </a:p>
          <a:p>
            <a:r>
              <a:rPr lang="en-US" altLang="zh-CN" b="0" dirty="0">
                <a:solidFill>
                  <a:srgbClr val="0000FF"/>
                </a:solidFill>
                <a:effectLst/>
                <a:latin typeface="Consolas" panose="020B0609020204030204" pitchFamily="49" charset="0"/>
              </a:rPr>
              <a:t>* </a:t>
            </a:r>
            <a:r>
              <a:rPr lang="en-US" altLang="zh-CN" b="0" dirty="0">
                <a:solidFill>
                  <a:srgbClr val="000000"/>
                </a:solidFill>
                <a:effectLst/>
                <a:latin typeface="Consolas" panose="020B0609020204030204" pitchFamily="49" charset="0"/>
              </a:rPr>
              <a:t>Troubleshoot load-balancing.</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3:53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With Azure Load Balancer, you can scale your applications and create highly available services. Load balancer supports both inbound and outbound scenarios. Load balancer provides low latency and high throughput, and scales up to millions of flows for all TCP and UDP applications.</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Key scenarios that you can accomplish using Azure Standard Load Balancer include:</a:t>
            </a:r>
          </a:p>
          <a:p>
            <a:pPr algn="l"/>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Load balance </a:t>
            </a:r>
            <a:r>
              <a:rPr lang="en-US" b="1" i="0" u="none" strike="noStrike">
                <a:solidFill>
                  <a:srgbClr val="171717"/>
                </a:solidFill>
                <a:effectLst/>
                <a:latin typeface="Segoe UI" panose="020B0502040204020203" pitchFamily="34" charset="0"/>
                <a:hlinkClick r:id="rId3"/>
              </a:rPr>
              <a:t>internal</a:t>
            </a:r>
            <a:r>
              <a:rPr lang="en-US" b="0" i="0">
                <a:solidFill>
                  <a:srgbClr val="171717"/>
                </a:solidFill>
                <a:effectLst/>
                <a:latin typeface="Segoe UI" panose="020B0502040204020203" pitchFamily="34" charset="0"/>
              </a:rPr>
              <a:t> and </a:t>
            </a:r>
            <a:r>
              <a:rPr lang="en-US" b="1" i="0" u="none" strike="noStrike">
                <a:solidFill>
                  <a:srgbClr val="171717"/>
                </a:solidFill>
                <a:effectLst/>
                <a:latin typeface="Segoe UI" panose="020B0502040204020203" pitchFamily="34" charset="0"/>
                <a:hlinkClick r:id="rId4"/>
              </a:rPr>
              <a:t>external</a:t>
            </a:r>
            <a:r>
              <a:rPr lang="en-US" b="0" i="0">
                <a:solidFill>
                  <a:srgbClr val="171717"/>
                </a:solidFill>
                <a:effectLst/>
                <a:latin typeface="Segoe UI" panose="020B0502040204020203" pitchFamily="34" charset="0"/>
              </a:rPr>
              <a:t> traffic to Azure virtual machines.</a:t>
            </a:r>
          </a:p>
          <a:p>
            <a:pPr algn="l">
              <a:buFont typeface="Arial" panose="020B0604020202020204" pitchFamily="34" charset="0"/>
              <a:buChar char="•"/>
            </a:pPr>
            <a:r>
              <a:rPr lang="en-US" b="0" i="0">
                <a:solidFill>
                  <a:srgbClr val="171717"/>
                </a:solidFill>
                <a:effectLst/>
                <a:latin typeface="Segoe UI" panose="020B0502040204020203" pitchFamily="34" charset="0"/>
              </a:rPr>
              <a:t>Increase availability by distributing resources </a:t>
            </a:r>
            <a:r>
              <a:rPr lang="en-US" b="1" i="0" u="none" strike="noStrike">
                <a:solidFill>
                  <a:srgbClr val="171717"/>
                </a:solidFill>
                <a:effectLst/>
                <a:latin typeface="Segoe UI" panose="020B0502040204020203" pitchFamily="34" charset="0"/>
                <a:hlinkClick r:id="rId5"/>
              </a:rPr>
              <a:t>within</a:t>
            </a:r>
            <a:r>
              <a:rPr lang="en-US" b="0" i="0">
                <a:solidFill>
                  <a:srgbClr val="171717"/>
                </a:solidFill>
                <a:effectLst/>
                <a:latin typeface="Segoe UI" panose="020B0502040204020203" pitchFamily="34" charset="0"/>
              </a:rPr>
              <a:t> and </a:t>
            </a:r>
            <a:r>
              <a:rPr lang="en-US" b="1" i="0" u="none" strike="noStrike">
                <a:solidFill>
                  <a:srgbClr val="171717"/>
                </a:solidFill>
                <a:effectLst/>
                <a:latin typeface="Segoe UI" panose="020B0502040204020203" pitchFamily="34" charset="0"/>
                <a:hlinkClick r:id="rId6"/>
              </a:rPr>
              <a:t>across</a:t>
            </a:r>
            <a:r>
              <a:rPr lang="en-US" b="0" i="0">
                <a:solidFill>
                  <a:srgbClr val="171717"/>
                </a:solidFill>
                <a:effectLst/>
                <a:latin typeface="Segoe UI" panose="020B0502040204020203" pitchFamily="34" charset="0"/>
              </a:rPr>
              <a:t> zones.</a:t>
            </a:r>
          </a:p>
          <a:p>
            <a:pPr algn="l">
              <a:buFont typeface="Arial" panose="020B0604020202020204" pitchFamily="34" charset="0"/>
              <a:buChar char="•"/>
            </a:pPr>
            <a:r>
              <a:rPr lang="en-US" b="0" i="0">
                <a:solidFill>
                  <a:srgbClr val="171717"/>
                </a:solidFill>
                <a:effectLst/>
                <a:latin typeface="Segoe UI" panose="020B0502040204020203" pitchFamily="34" charset="0"/>
              </a:rPr>
              <a:t>Configure </a:t>
            </a:r>
            <a:r>
              <a:rPr lang="en-US" b="1" i="0" u="none" strike="noStrike">
                <a:solidFill>
                  <a:srgbClr val="171717"/>
                </a:solidFill>
                <a:effectLst/>
                <a:latin typeface="Segoe UI" panose="020B0502040204020203" pitchFamily="34" charset="0"/>
                <a:hlinkClick r:id="rId7"/>
              </a:rPr>
              <a:t>outbound connectivity </a:t>
            </a:r>
            <a:r>
              <a:rPr lang="en-US" b="0" i="0">
                <a:solidFill>
                  <a:srgbClr val="171717"/>
                </a:solidFill>
                <a:effectLst/>
                <a:latin typeface="Segoe UI" panose="020B0502040204020203" pitchFamily="34" charset="0"/>
              </a:rPr>
              <a:t>for Azure virtual machines.</a:t>
            </a:r>
          </a:p>
          <a:p>
            <a:pPr algn="l">
              <a:buFont typeface="Arial" panose="020B0604020202020204" pitchFamily="34" charset="0"/>
              <a:buChar char="•"/>
            </a:pPr>
            <a:r>
              <a:rPr lang="en-US" b="0" i="0">
                <a:solidFill>
                  <a:srgbClr val="171717"/>
                </a:solidFill>
                <a:effectLst/>
                <a:latin typeface="Segoe UI" panose="020B0502040204020203" pitchFamily="34" charset="0"/>
              </a:rPr>
              <a:t>Use </a:t>
            </a:r>
            <a:r>
              <a:rPr lang="en-US" b="1" i="0" u="none" strike="noStrike">
                <a:solidFill>
                  <a:srgbClr val="171717"/>
                </a:solidFill>
                <a:effectLst/>
                <a:latin typeface="Segoe UI" panose="020B0502040204020203" pitchFamily="34" charset="0"/>
                <a:hlinkClick r:id="rId8"/>
              </a:rPr>
              <a:t>health probes</a:t>
            </a:r>
            <a:r>
              <a:rPr lang="en-US" b="0" i="0">
                <a:solidFill>
                  <a:srgbClr val="171717"/>
                </a:solidFill>
                <a:effectLst/>
                <a:latin typeface="Segoe UI" panose="020B0502040204020203" pitchFamily="34" charset="0"/>
              </a:rPr>
              <a:t> to monitor load-balanced resources.</a:t>
            </a:r>
          </a:p>
          <a:p>
            <a:pPr algn="l">
              <a:buFont typeface="Arial" panose="020B0604020202020204" pitchFamily="34" charset="0"/>
              <a:buChar char="•"/>
            </a:pPr>
            <a:r>
              <a:rPr lang="en-US" b="0" i="0">
                <a:solidFill>
                  <a:srgbClr val="171717"/>
                </a:solidFill>
                <a:effectLst/>
                <a:latin typeface="Segoe UI" panose="020B0502040204020203" pitchFamily="34" charset="0"/>
              </a:rPr>
              <a:t>Employ </a:t>
            </a:r>
            <a:r>
              <a:rPr lang="en-US" b="1" i="0" u="none" strike="noStrike">
                <a:solidFill>
                  <a:srgbClr val="171717"/>
                </a:solidFill>
                <a:effectLst/>
                <a:latin typeface="Segoe UI" panose="020B0502040204020203" pitchFamily="34" charset="0"/>
                <a:hlinkClick r:id="rId9"/>
              </a:rPr>
              <a:t>port forwarding</a:t>
            </a:r>
            <a:r>
              <a:rPr lang="en-US" b="0" i="0">
                <a:solidFill>
                  <a:srgbClr val="171717"/>
                </a:solidFill>
                <a:effectLst/>
                <a:latin typeface="Segoe UI" panose="020B0502040204020203" pitchFamily="34" charset="0"/>
              </a:rPr>
              <a:t> to access virtual machines in a virtual network by public IP address and port.</a:t>
            </a:r>
          </a:p>
          <a:p>
            <a:pPr algn="l">
              <a:buFont typeface="Arial" panose="020B0604020202020204" pitchFamily="34" charset="0"/>
              <a:buChar char="•"/>
            </a:pPr>
            <a:r>
              <a:rPr lang="en-US" b="0" i="0">
                <a:solidFill>
                  <a:srgbClr val="171717"/>
                </a:solidFill>
                <a:effectLst/>
                <a:latin typeface="Segoe UI" panose="020B0502040204020203" pitchFamily="34" charset="0"/>
              </a:rPr>
              <a:t>Enable support for </a:t>
            </a:r>
            <a:r>
              <a:rPr lang="en-US" b="1" i="0" u="none" strike="noStrike">
                <a:solidFill>
                  <a:srgbClr val="171717"/>
                </a:solidFill>
                <a:effectLst/>
                <a:latin typeface="Segoe UI" panose="020B0502040204020203" pitchFamily="34" charset="0"/>
                <a:hlinkClick r:id="rId10"/>
              </a:rPr>
              <a:t>load-balancing</a:t>
            </a:r>
            <a:r>
              <a:rPr lang="en-US" b="0" i="0">
                <a:solidFill>
                  <a:srgbClr val="171717"/>
                </a:solidFill>
                <a:effectLst/>
                <a:latin typeface="Segoe UI" panose="020B0502040204020203" pitchFamily="34" charset="0"/>
              </a:rPr>
              <a:t> of </a:t>
            </a:r>
            <a:r>
              <a:rPr lang="en-US" b="1" i="0" u="none" strike="noStrike">
                <a:solidFill>
                  <a:srgbClr val="171717"/>
                </a:solidFill>
                <a:effectLst/>
                <a:latin typeface="Segoe UI" panose="020B0502040204020203" pitchFamily="34" charset="0"/>
                <a:hlinkClick r:id="rId11"/>
              </a:rPr>
              <a:t>IPv6</a:t>
            </a:r>
            <a:r>
              <a:rPr lang="en-US" b="0" i="0">
                <a:solidFill>
                  <a:srgbClr val="171717"/>
                </a:solidFill>
                <a:effectLst/>
                <a:latin typeface="Segoe UI" panose="020B0502040204020203" pitchFamily="34" charset="0"/>
              </a:rPr>
              <a:t>.</a:t>
            </a:r>
          </a:p>
          <a:p>
            <a:pPr algn="l">
              <a:buFont typeface="Arial" panose="020B0604020202020204" pitchFamily="34" charset="0"/>
              <a:buChar char="•"/>
            </a:pPr>
            <a:r>
              <a:rPr lang="en-US" b="0" i="0">
                <a:solidFill>
                  <a:srgbClr val="171717"/>
                </a:solidFill>
                <a:effectLst/>
                <a:latin typeface="Segoe UI" panose="020B0502040204020203" pitchFamily="34" charset="0"/>
              </a:rPr>
              <a:t>Standard load balancer provides multi-dimensional metrics through </a:t>
            </a:r>
            <a:r>
              <a:rPr lang="en-US" b="0" i="0" u="none" strike="noStrike">
                <a:solidFill>
                  <a:srgbClr val="171717"/>
                </a:solidFill>
                <a:effectLst/>
                <a:latin typeface="Segoe UI" panose="020B0502040204020203" pitchFamily="34" charset="0"/>
                <a:hlinkClick r:id="rId12"/>
              </a:rPr>
              <a:t>Azure Monitor</a:t>
            </a:r>
            <a:r>
              <a:rPr lang="en-US" b="0" i="0">
                <a:solidFill>
                  <a:srgbClr val="171717"/>
                </a:solidFill>
                <a:effectLst/>
                <a:latin typeface="Segoe UI" panose="020B0502040204020203" pitchFamily="34" charset="0"/>
              </a:rPr>
              <a:t>. These metrics can be filtered, grouped, and broken out for a given dimension. They provide current and historic insights into performance and health of your service. </a:t>
            </a:r>
            <a:r>
              <a:rPr lang="en-US" b="0" i="0" u="none" strike="noStrike">
                <a:solidFill>
                  <a:srgbClr val="171717"/>
                </a:solidFill>
                <a:effectLst/>
                <a:latin typeface="Segoe UI" panose="020B0502040204020203" pitchFamily="34" charset="0"/>
                <a:hlinkClick r:id="rId13"/>
              </a:rPr>
              <a:t>Insights for Azure Load Balancer</a:t>
            </a:r>
            <a:r>
              <a:rPr lang="en-US" b="0" i="0">
                <a:solidFill>
                  <a:srgbClr val="171717"/>
                </a:solidFill>
                <a:effectLst/>
                <a:latin typeface="Segoe UI" panose="020B0502040204020203" pitchFamily="34" charset="0"/>
              </a:rPr>
              <a:t> offers a preconfigured dashboard with useful visualizations for these metrics. Resource Health is also supported. Review </a:t>
            </a:r>
            <a:r>
              <a:rPr lang="en-US" b="1" i="0" u="none" strike="noStrike">
                <a:solidFill>
                  <a:srgbClr val="171717"/>
                </a:solidFill>
                <a:effectLst/>
                <a:latin typeface="Segoe UI" panose="020B0502040204020203" pitchFamily="34" charset="0"/>
                <a:hlinkClick r:id="rId14"/>
              </a:rPr>
              <a:t>Standard load balancer diagnostics</a:t>
            </a:r>
            <a:r>
              <a:rPr lang="en-US" b="0" i="0">
                <a:solidFill>
                  <a:srgbClr val="171717"/>
                </a:solidFill>
                <a:effectLst/>
                <a:latin typeface="Segoe UI" panose="020B0502040204020203" pitchFamily="34" charset="0"/>
              </a:rPr>
              <a:t> for more details.</a:t>
            </a:r>
          </a:p>
          <a:p>
            <a:pPr algn="l">
              <a:buFont typeface="Arial" panose="020B0604020202020204" pitchFamily="34" charset="0"/>
              <a:buChar char="•"/>
            </a:pPr>
            <a:r>
              <a:rPr lang="en-US" b="0" i="0">
                <a:solidFill>
                  <a:srgbClr val="171717"/>
                </a:solidFill>
                <a:effectLst/>
                <a:latin typeface="Segoe UI" panose="020B0502040204020203" pitchFamily="34" charset="0"/>
              </a:rPr>
              <a:t>Load balance services on </a:t>
            </a:r>
            <a:r>
              <a:rPr lang="en-US" b="1" i="0" u="none" strike="noStrike">
                <a:solidFill>
                  <a:srgbClr val="171717"/>
                </a:solidFill>
                <a:effectLst/>
                <a:latin typeface="Segoe UI" panose="020B0502040204020203" pitchFamily="34" charset="0"/>
                <a:hlinkClick r:id="rId15"/>
              </a:rPr>
              <a:t>multiple ports, multiple IP addresses, or both</a:t>
            </a:r>
            <a:r>
              <a:rPr lang="en-US" b="0" i="0">
                <a:solidFill>
                  <a:srgbClr val="171717"/>
                </a:solidFill>
                <a:effectLst/>
                <a:latin typeface="Segoe UI" panose="020B0502040204020203" pitchFamily="34" charset="0"/>
              </a:rPr>
              <a:t>.</a:t>
            </a:r>
          </a:p>
          <a:p>
            <a:pPr algn="l">
              <a:buFont typeface="Arial" panose="020B0604020202020204" pitchFamily="34" charset="0"/>
              <a:buChar char="•"/>
            </a:pPr>
            <a:r>
              <a:rPr lang="en-US" b="0" i="0">
                <a:solidFill>
                  <a:srgbClr val="171717"/>
                </a:solidFill>
                <a:effectLst/>
                <a:latin typeface="Segoe UI" panose="020B0502040204020203" pitchFamily="34" charset="0"/>
              </a:rPr>
              <a:t>Move </a:t>
            </a:r>
            <a:r>
              <a:rPr lang="en-US" b="1" i="0" u="none" strike="noStrike">
                <a:solidFill>
                  <a:srgbClr val="171717"/>
                </a:solidFill>
                <a:effectLst/>
                <a:latin typeface="Segoe UI" panose="020B0502040204020203" pitchFamily="34" charset="0"/>
                <a:hlinkClick r:id="rId16"/>
              </a:rPr>
              <a:t>internal</a:t>
            </a:r>
            <a:r>
              <a:rPr lang="en-US" b="0" i="0">
                <a:solidFill>
                  <a:srgbClr val="171717"/>
                </a:solidFill>
                <a:effectLst/>
                <a:latin typeface="Segoe UI" panose="020B0502040204020203" pitchFamily="34" charset="0"/>
              </a:rPr>
              <a:t> and </a:t>
            </a:r>
            <a:r>
              <a:rPr lang="en-US" b="1" i="0" u="none" strike="noStrike">
                <a:solidFill>
                  <a:srgbClr val="171717"/>
                </a:solidFill>
                <a:effectLst/>
                <a:latin typeface="Segoe UI" panose="020B0502040204020203" pitchFamily="34" charset="0"/>
                <a:hlinkClick r:id="rId17"/>
              </a:rPr>
              <a:t>external</a:t>
            </a:r>
            <a:r>
              <a:rPr lang="en-US" b="0" i="0">
                <a:solidFill>
                  <a:srgbClr val="171717"/>
                </a:solidFill>
                <a:effectLst/>
                <a:latin typeface="Segoe UI" panose="020B0502040204020203" pitchFamily="34" charset="0"/>
              </a:rPr>
              <a:t> load balancer resources across Azure regions.</a:t>
            </a:r>
          </a:p>
          <a:p>
            <a:pPr algn="l">
              <a:buFont typeface="Arial" panose="020B0604020202020204" pitchFamily="34" charset="0"/>
              <a:buChar char="•"/>
            </a:pPr>
            <a:r>
              <a:rPr lang="en-US" b="0" i="0">
                <a:solidFill>
                  <a:srgbClr val="171717"/>
                </a:solidFill>
                <a:effectLst/>
                <a:latin typeface="Segoe UI" panose="020B0502040204020203" pitchFamily="34" charset="0"/>
              </a:rPr>
              <a:t>Load balance TCP and UDP flow on all ports simultaneously using </a:t>
            </a:r>
            <a:r>
              <a:rPr lang="en-US" b="1" i="0" u="none" strike="noStrike">
                <a:solidFill>
                  <a:srgbClr val="171717"/>
                </a:solidFill>
                <a:effectLst/>
                <a:latin typeface="Segoe UI" panose="020B0502040204020203" pitchFamily="34" charset="0"/>
                <a:hlinkClick r:id="rId18"/>
              </a:rPr>
              <a:t>HA ports</a:t>
            </a:r>
            <a:r>
              <a:rPr lang="en-US" b="0" i="0">
                <a:solidFill>
                  <a:srgbClr val="171717"/>
                </a:solidFill>
                <a:effectLst/>
                <a:latin typeface="Segoe UI" panose="020B0502040204020203" pitchFamily="34" charset="0"/>
              </a:rPr>
              <a:t>.</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5</a:t>
            </a:fld>
            <a:endParaRPr lang="en-US"/>
          </a:p>
        </p:txBody>
      </p:sp>
    </p:spTree>
    <p:extLst>
      <p:ext uri="{BB962C8B-B14F-4D97-AF65-F5344CB8AC3E}">
        <p14:creationId xmlns:p14="http://schemas.microsoft.com/office/powerpoint/2010/main" val="1925287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a:solidFill>
                  <a:schemeClr val="tx1"/>
                </a:solidFill>
              </a:rPr>
              <a:t>Global vs regional </a:t>
            </a:r>
          </a:p>
          <a:p>
            <a:r>
              <a:rPr lang="en-US" sz="1800" b="1">
                <a:solidFill>
                  <a:schemeClr val="tx1"/>
                </a:solidFill>
              </a:rPr>
              <a:t>Global load-balancing </a:t>
            </a:r>
            <a:r>
              <a:rPr lang="en-US" sz="1800">
                <a:solidFill>
                  <a:schemeClr val="tx1"/>
                </a:solidFill>
              </a:rPr>
              <a:t>services distribute traffic across regional backends, clouds, or hybrid on-premises services. These services route end-user traffic to the closest available backend. They also react to changes in service reliability or performance, in order to maximize availability and performance. </a:t>
            </a:r>
          </a:p>
          <a:p>
            <a:r>
              <a:rPr lang="en-US" sz="1800" b="1">
                <a:solidFill>
                  <a:schemeClr val="tx1"/>
                </a:solidFill>
              </a:rPr>
              <a:t>Regional load-balancing </a:t>
            </a:r>
            <a:r>
              <a:rPr lang="en-US" sz="1800">
                <a:solidFill>
                  <a:schemeClr val="tx1"/>
                </a:solidFill>
              </a:rPr>
              <a:t>services distribute traffic within virtual networks across virtual machines (VMs) or zonal and zone-redundant service endpoints within a region. You can think of them as systems that load balance between VMs, containers, or clusters within a region in a virtual network.</a:t>
            </a:r>
          </a:p>
          <a:p>
            <a:endParaRPr lang="en-US" sz="1800" b="1"/>
          </a:p>
          <a:p>
            <a:r>
              <a:rPr lang="en-US" sz="1800" b="1">
                <a:solidFill>
                  <a:schemeClr val="tx1"/>
                </a:solidFill>
              </a:rPr>
              <a:t>HTTP(S) load-balancing services </a:t>
            </a:r>
            <a:r>
              <a:rPr lang="en-US" sz="1800">
                <a:solidFill>
                  <a:schemeClr val="tx1"/>
                </a:solidFill>
              </a:rPr>
              <a:t>are Layer 7 load balancers that only accept HTTP(S) traffic. They are intended for web applications or other HTTP(S) endpoints. They include features such as SSL offload, web application firewall, path-based load balancing, and session affinity.</a:t>
            </a:r>
          </a:p>
          <a:p>
            <a:endParaRPr lang="en-US" sz="1800">
              <a:solidFill>
                <a:schemeClr val="tx1"/>
              </a:solidFill>
            </a:endParaRPr>
          </a:p>
          <a:p>
            <a:r>
              <a:rPr lang="en-US" sz="1800" b="1">
                <a:solidFill>
                  <a:schemeClr val="tx1"/>
                </a:solidFill>
              </a:rPr>
              <a:t>non-HTTP(S) load-balancing services </a:t>
            </a:r>
            <a:r>
              <a:rPr lang="en-US" sz="1800">
                <a:solidFill>
                  <a:schemeClr val="tx1"/>
                </a:solidFill>
              </a:rPr>
              <a:t>can handle non-HTTP(S) traffic and are recommended for non-web workloads.</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Azure provides various load balancing services that you can use to distribute your workloads across multiple computing resources, but the following are the main services: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Azure Load Balancer</a:t>
            </a:r>
            <a:r>
              <a:rPr lang="en-US" sz="1800">
                <a:effectLst/>
                <a:latin typeface="Calibri" panose="020F0502020204030204" pitchFamily="34" charset="0"/>
                <a:ea typeface="Calibri" panose="020F0502020204030204" pitchFamily="34" charset="0"/>
                <a:cs typeface="Arial" panose="020B0604020202020204" pitchFamily="34" charset="0"/>
              </a:rPr>
              <a:t> - this is a high-performance, ultra-low-latency Layer 4 load-balancing service (inbound and outbound) for all UDP and TCP protocols. It is built to handle millions of requests per second while ensuring your solution is highly available. Azure Load Balancer is zone-redundant, ensuring high availability across Availability Zones.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Traffic Manager</a:t>
            </a:r>
            <a:r>
              <a:rPr lang="en-US" sz="1800">
                <a:effectLst/>
                <a:latin typeface="Calibri" panose="020F0502020204030204" pitchFamily="34" charset="0"/>
                <a:ea typeface="Calibri" panose="020F0502020204030204" pitchFamily="34" charset="0"/>
                <a:cs typeface="Arial" panose="020B0604020202020204" pitchFamily="34" charset="0"/>
              </a:rPr>
              <a:t> - this is a DNS-based traffic load balancer that enables you to distribute traffic optimally to services across global Azure regions, while providing high availability and responsiveness. Because Traffic Manager is a DNS-based load-balancing service, it load-balances only at the domain level. For that reason, it can't fail over as quickly as Front Door, because of common challenges around DNS caching and systems not honoring DNS time-to-live values (TTLs).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Azure Application Gateway</a:t>
            </a:r>
            <a:r>
              <a:rPr lang="en-US" sz="1800">
                <a:effectLst/>
                <a:latin typeface="Calibri" panose="020F0502020204030204" pitchFamily="34" charset="0"/>
                <a:ea typeface="Calibri" panose="020F0502020204030204" pitchFamily="34" charset="0"/>
                <a:cs typeface="Arial" panose="020B0604020202020204" pitchFamily="34" charset="0"/>
              </a:rPr>
              <a:t> - this provides application delivery controller (ADC) as a service, offering various Layer 7 load-balancing capabilities. Use it to optimize web farm productivity by offloading CPU-intensive SSL termination to the gateway.</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Azure Front Door</a:t>
            </a:r>
            <a:r>
              <a:rPr lang="en-US" sz="1800">
                <a:effectLst/>
                <a:latin typeface="Calibri" panose="020F0502020204030204" pitchFamily="34" charset="0"/>
                <a:ea typeface="Calibri" panose="020F0502020204030204" pitchFamily="34" charset="0"/>
                <a:cs typeface="Arial" panose="020B0604020202020204" pitchFamily="34" charset="0"/>
              </a:rPr>
              <a:t> - this is an application delivery network that provides global load balancing and site acceleration service for web applications. It offers Layer 7 capabilities for your application like SSL offload, path-based routing, fast failover, caching, etc. to improve performance and high-availability of your applications.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6</a:t>
            </a:fld>
            <a:endParaRPr lang="en-US"/>
          </a:p>
        </p:txBody>
      </p:sp>
    </p:spTree>
    <p:extLst>
      <p:ext uri="{BB962C8B-B14F-4D97-AF65-F5344CB8AC3E}">
        <p14:creationId xmlns:p14="http://schemas.microsoft.com/office/powerpoint/2010/main" val="3610956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When choosing an appropriate load balancing option, there are some key factors to consider:</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Type of traffic</a:t>
            </a:r>
            <a:r>
              <a:rPr lang="en-US" sz="1800">
                <a:effectLst/>
                <a:latin typeface="Calibri" panose="020F0502020204030204" pitchFamily="34" charset="0"/>
                <a:ea typeface="Calibri" panose="020F0502020204030204" pitchFamily="34" charset="0"/>
                <a:cs typeface="Arial" panose="020B0604020202020204" pitchFamily="34" charset="0"/>
              </a:rPr>
              <a:t> - is it for a web application? Is it a public-facing or private application?</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Scope</a:t>
            </a:r>
            <a:r>
              <a:rPr lang="en-US" sz="1800">
                <a:effectLst/>
                <a:latin typeface="Calibri" panose="020F0502020204030204" pitchFamily="34" charset="0"/>
                <a:ea typeface="Calibri" panose="020F0502020204030204" pitchFamily="34" charset="0"/>
                <a:cs typeface="Arial" panose="020B0604020202020204" pitchFamily="34" charset="0"/>
              </a:rPr>
              <a:t> - do you need to load balance virtual machines and containers within a virtual network, or load balance across regions, or both? (see '</a:t>
            </a:r>
            <a:r>
              <a:rPr lang="en-US" sz="1800" i="1">
                <a:effectLst/>
                <a:latin typeface="Calibri" panose="020F0502020204030204" pitchFamily="34" charset="0"/>
                <a:ea typeface="Calibri" panose="020F0502020204030204" pitchFamily="34" charset="0"/>
                <a:cs typeface="Arial" panose="020B0604020202020204" pitchFamily="34" charset="0"/>
              </a:rPr>
              <a:t>Global versus regional'</a:t>
            </a:r>
            <a:r>
              <a:rPr lang="en-US" sz="1800">
                <a:effectLst/>
                <a:latin typeface="Calibri" panose="020F0502020204030204" pitchFamily="34" charset="0"/>
                <a:ea typeface="Calibri" panose="020F0502020204030204" pitchFamily="34" charset="0"/>
                <a:cs typeface="Arial" panose="020B0604020202020204" pitchFamily="34" charset="0"/>
              </a:rPr>
              <a:t> above) </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Availability</a:t>
            </a:r>
            <a:r>
              <a:rPr lang="en-US" sz="1800">
                <a:effectLst/>
                <a:latin typeface="Calibri" panose="020F0502020204030204" pitchFamily="34" charset="0"/>
                <a:ea typeface="Calibri" panose="020F0502020204030204" pitchFamily="34" charset="0"/>
                <a:cs typeface="Arial" panose="020B0604020202020204" pitchFamily="34" charset="0"/>
              </a:rPr>
              <a:t> - what is the Service Level Agreement (SLA) for the service?</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Cost</a:t>
            </a:r>
            <a:r>
              <a:rPr lang="en-US" sz="1800">
                <a:effectLst/>
                <a:latin typeface="Calibri" panose="020F0502020204030204" pitchFamily="34" charset="0"/>
                <a:ea typeface="Calibri" panose="020F0502020204030204" pitchFamily="34" charset="0"/>
                <a:cs typeface="Arial" panose="020B0604020202020204" pitchFamily="34" charset="0"/>
              </a:rPr>
              <a:t> - In addition to the cost of the actual service itself, consider the operational cost to manage and maintain a solution built on that service. See </a:t>
            </a:r>
            <a:r>
              <a:rPr lang="en-US" sz="1800" u="sng">
                <a:solidFill>
                  <a:srgbClr val="4472C4"/>
                </a:solidFill>
                <a:effectLst/>
                <a:latin typeface="Calibri" panose="020F0502020204030204" pitchFamily="34" charset="0"/>
                <a:ea typeface="Calibri" panose="020F0502020204030204" pitchFamily="34" charset="0"/>
                <a:cs typeface="Arial" panose="020B0604020202020204" pitchFamily="34" charset="0"/>
                <a:hlinkClick r:id="rId3"/>
              </a:rPr>
              <a:t>Load balancing pricing</a:t>
            </a:r>
            <a:r>
              <a:rPr lang="en-US" sz="1800">
                <a:effectLst/>
                <a:latin typeface="Calibri" panose="020F0502020204030204" pitchFamily="34" charset="0"/>
                <a:ea typeface="Calibri" panose="020F0502020204030204" pitchFamily="34" charset="0"/>
                <a:cs typeface="Arial" panose="020B0604020202020204" pitchFamily="34" charset="0"/>
              </a:rPr>
              <a:t>.</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Arial" panose="020B0604020202020204" pitchFamily="34" charset="0"/>
              </a:rPr>
              <a:t>Features and limitations</a:t>
            </a:r>
            <a:r>
              <a:rPr lang="en-US" sz="1800">
                <a:effectLst/>
                <a:latin typeface="Calibri" panose="020F0502020204030204" pitchFamily="34" charset="0"/>
                <a:ea typeface="Calibri" panose="020F0502020204030204" pitchFamily="34" charset="0"/>
                <a:cs typeface="Arial" panose="020B0604020202020204" pitchFamily="34" charset="0"/>
              </a:rPr>
              <a:t> - what features and benefits does each service provide, and what are its limitations? See </a:t>
            </a:r>
            <a:r>
              <a:rPr lang="en-US" sz="1800" u="sng">
                <a:solidFill>
                  <a:srgbClr val="4472C4"/>
                </a:solidFill>
                <a:effectLst/>
                <a:latin typeface="Calibri" panose="020F0502020204030204" pitchFamily="34" charset="0"/>
                <a:ea typeface="Calibri" panose="020F0502020204030204" pitchFamily="34" charset="0"/>
                <a:cs typeface="Arial" panose="020B0604020202020204" pitchFamily="34" charset="0"/>
                <a:hlinkClick r:id="rId4"/>
              </a:rPr>
              <a:t>Load balancer limits</a:t>
            </a:r>
            <a:r>
              <a:rPr lang="en-US" sz="1800">
                <a:effectLst/>
                <a:latin typeface="Calibri" panose="020F0502020204030204" pitchFamily="34" charset="0"/>
                <a:ea typeface="Calibri" panose="020F0502020204030204" pitchFamily="34" charset="0"/>
                <a:cs typeface="Arial" panose="020B0604020202020204" pitchFamily="34" charset="0"/>
              </a:rPr>
              <a:t>.</a:t>
            </a:r>
          </a:p>
          <a:p>
            <a:endParaRPr lang="en-US" b="1"/>
          </a:p>
        </p:txBody>
      </p:sp>
      <p:sp>
        <p:nvSpPr>
          <p:cNvPr id="4" name="Slide Number Placeholder 3"/>
          <p:cNvSpPr>
            <a:spLocks noGrp="1"/>
          </p:cNvSpPr>
          <p:nvPr>
            <p:ph type="sldNum" sz="quarter" idx="5"/>
          </p:nvPr>
        </p:nvSpPr>
        <p:spPr/>
        <p:txBody>
          <a:bodyPr/>
          <a:lstStyle/>
          <a:p>
            <a:fld id="{89B9185C-5C72-45C2-88F0-D7DF9039278A}" type="slidenum">
              <a:rPr lang="en-US" smtClean="0"/>
              <a:t>7</a:t>
            </a:fld>
            <a:endParaRPr lang="en-US"/>
          </a:p>
        </p:txBody>
      </p:sp>
    </p:spTree>
    <p:extLst>
      <p:ext uri="{BB962C8B-B14F-4D97-AF65-F5344CB8AC3E}">
        <p14:creationId xmlns:p14="http://schemas.microsoft.com/office/powerpoint/2010/main" val="375827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hlinkClick r:id="rId3"/>
              </a:rPr>
              <a:t>Quickstart</a:t>
            </a:r>
            <a:r>
              <a:rPr lang="en-US" dirty="0">
                <a:hlinkClick r:id="rId3"/>
              </a:rPr>
              <a:t>: Create an internal load balancer - Azure portal - Azure Load Balancer | Microsoft Docs</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8</a:t>
            </a:fld>
            <a:endParaRPr lang="en-US"/>
          </a:p>
        </p:txBody>
      </p:sp>
    </p:spTree>
    <p:extLst>
      <p:ext uri="{BB962C8B-B14F-4D97-AF65-F5344CB8AC3E}">
        <p14:creationId xmlns:p14="http://schemas.microsoft.com/office/powerpoint/2010/main" val="111857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p:txBody>
      </p:sp>
      <p:sp>
        <p:nvSpPr>
          <p:cNvPr id="4" name="Slide Number Placeholder 3"/>
          <p:cNvSpPr>
            <a:spLocks noGrp="1"/>
          </p:cNvSpPr>
          <p:nvPr>
            <p:ph type="sldNum" sz="quarter" idx="5"/>
          </p:nvPr>
        </p:nvSpPr>
        <p:spPr/>
        <p:txBody>
          <a:bodyPr/>
          <a:lstStyle/>
          <a:p>
            <a:fld id="{8507DC7E-BC41-4478-BA30-CBCC3A644F0A}" type="slidenum">
              <a:rPr lang="en-US" smtClean="0"/>
              <a:t>9</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3:53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Load balancers can be public (a.k.a. external) or internal (a.k.a. private).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 </a:t>
            </a:r>
            <a:r>
              <a:rPr lang="en-US" sz="1800" b="1" u="none" strike="noStrike">
                <a:effectLst/>
                <a:latin typeface="Calibri" panose="020F0502020204030204" pitchFamily="34" charset="0"/>
                <a:ea typeface="Calibri" panose="020F0502020204030204" pitchFamily="34" charset="0"/>
                <a:cs typeface="Arial" panose="020B0604020202020204" pitchFamily="34" charset="0"/>
                <a:hlinkClick r:id="rId3"/>
              </a:rPr>
              <a:t>public load balancer</a:t>
            </a:r>
            <a:r>
              <a:rPr lang="en-US" sz="1800">
                <a:effectLst/>
                <a:latin typeface="Calibri" panose="020F0502020204030204" pitchFamily="34" charset="0"/>
                <a:ea typeface="Calibri" panose="020F0502020204030204" pitchFamily="34" charset="0"/>
                <a:cs typeface="Arial" panose="020B0604020202020204" pitchFamily="34" charset="0"/>
              </a:rPr>
              <a:t> can provide outbound connections for virtual machines (VMs) inside your virtual network. These connections are accomplished by translating their private IP addresses to public IP addresses. External load balancers are used to distribute client traffic from the internet across your VMs. That internet traffic might come from web browsers, module apps, or other sources.</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An </a:t>
            </a:r>
            <a:r>
              <a:rPr lang="en-US" sz="1800" b="1" u="none" strike="noStrike">
                <a:effectLst/>
                <a:latin typeface="Calibri" panose="020F0502020204030204" pitchFamily="34" charset="0"/>
                <a:ea typeface="Calibri" panose="020F0502020204030204" pitchFamily="34" charset="0"/>
                <a:cs typeface="Arial" panose="020B0604020202020204" pitchFamily="34" charset="0"/>
                <a:hlinkClick r:id="rId3"/>
              </a:rPr>
              <a:t>internal load balancer</a:t>
            </a:r>
            <a:r>
              <a:rPr lang="en-US" sz="1800">
                <a:effectLst/>
                <a:latin typeface="Calibri" panose="020F0502020204030204" pitchFamily="34" charset="0"/>
                <a:ea typeface="Calibri" panose="020F0502020204030204" pitchFamily="34" charset="0"/>
                <a:cs typeface="Arial" panose="020B0604020202020204" pitchFamily="34" charset="0"/>
              </a:rPr>
              <a:t> is used where private IPs are needed at the frontend only. Internal load balancers are used to load balance traffic from internal Azure resources to other Azure resources inside a virtual network. A load balancer frontend can also be accessed from an on-premises network in a hybrid scenario.</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4131289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1000"/>
              </a:spcBef>
              <a:spcAft>
                <a:spcPts val="0"/>
              </a:spcAft>
            </a:pPr>
            <a:r>
              <a:rPr lang="en-US" sz="1800" b="1">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Zone redundant</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In a region with Availability Zones, a Standard Load Balancer can be zone-redundant. This traffic is served by a single IP address.</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 single frontend IP address will survive zone failure. The frontend IP may be used to reach all (non-impacted) backend pool members no matter the zone. One or more availability zones can fail and the data path survives as long as one zone in the region remains healthy.</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The frontend's IP address is served simultaneously by multiple independent infrastructure deployments in multiple availability zones. Any retries or reestablishment will succeed in other zones not affected by the zone failure.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 </a:t>
            </a:r>
          </a:p>
          <a:p>
            <a:pPr marL="0" marR="0">
              <a:spcBef>
                <a:spcPts val="1000"/>
              </a:spcBef>
              <a:spcAft>
                <a:spcPts val="0"/>
              </a:spcAft>
            </a:pPr>
            <a:r>
              <a:rPr lang="en-US" sz="1800" b="1">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Zonal</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You can choose to have a frontend guaranteed to a single zone, which is known as a </a:t>
            </a:r>
            <a:r>
              <a:rPr lang="en-US" sz="1800" i="1">
                <a:effectLst/>
                <a:latin typeface="Calibri" panose="020F0502020204030204" pitchFamily="34" charset="0"/>
                <a:ea typeface="Calibri" panose="020F0502020204030204" pitchFamily="34" charset="0"/>
                <a:cs typeface="Arial" panose="020B0604020202020204" pitchFamily="34" charset="0"/>
              </a:rPr>
              <a:t>zonal</a:t>
            </a:r>
            <a:r>
              <a:rPr lang="en-US" sz="1800">
                <a:effectLst/>
                <a:latin typeface="Calibri" panose="020F0502020204030204" pitchFamily="34" charset="0"/>
                <a:ea typeface="Calibri" panose="020F0502020204030204" pitchFamily="34" charset="0"/>
                <a:cs typeface="Arial" panose="020B0604020202020204" pitchFamily="34" charset="0"/>
              </a:rPr>
              <a:t>. This scenario means any inbound or outbound flow is served by a single zone in a region. Your frontend shares fate with the health of the zone. The data path is unaffected by failures in zones other than where it was guaranteed. You can use zonal frontends to expose an IP address per Availability Zone.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Additionally, the use of zonal frontends directly for load balanced endpoints within each zone is supported. You can use this configuration to expose per zone load-balanced endpoints to individually monitor each zone. </a:t>
            </a:r>
          </a:p>
          <a:p>
            <a:endParaRPr lang="en-US" b="1"/>
          </a:p>
        </p:txBody>
      </p:sp>
      <p:sp>
        <p:nvSpPr>
          <p:cNvPr id="4" name="Slide Number Placeholder 3"/>
          <p:cNvSpPr>
            <a:spLocks noGrp="1"/>
          </p:cNvSpPr>
          <p:nvPr>
            <p:ph type="sldNum" sz="quarter" idx="5"/>
          </p:nvPr>
        </p:nvSpPr>
        <p:spPr/>
        <p:txBody>
          <a:bodyPr/>
          <a:lstStyle/>
          <a:p>
            <a:fld id="{89B9185C-5C72-45C2-88F0-D7DF9039278A}" type="slidenum">
              <a:rPr lang="en-US" smtClean="0"/>
              <a:t>13</a:t>
            </a:fld>
            <a:endParaRPr lang="en-US"/>
          </a:p>
        </p:txBody>
      </p:sp>
    </p:spTree>
    <p:extLst>
      <p:ext uri="{BB962C8B-B14F-4D97-AF65-F5344CB8AC3E}">
        <p14:creationId xmlns:p14="http://schemas.microsoft.com/office/powerpoint/2010/main" val="813425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balancer SKUs - https://docs.microsoft.com/en-us/azure/load-balancer/skus</a:t>
            </a:r>
          </a:p>
          <a:p>
            <a:endParaRPr lang="en-US" dirty="0"/>
          </a:p>
          <a:p>
            <a:pPr algn="l"/>
            <a:r>
              <a:rPr lang="en-US" b="0" i="0" dirty="0">
                <a:solidFill>
                  <a:srgbClr val="171717"/>
                </a:solidFill>
                <a:effectLst/>
                <a:latin typeface="Segoe UI" panose="020B0502040204020203" pitchFamily="34" charset="0"/>
              </a:rPr>
              <a:t>Azure Load Balancer has 3 SKUs - Basic, Standard, and Gateway. Each SKU is catered towards a specific scenario and has differences in scale, features, and pricing.</a:t>
            </a:r>
          </a:p>
          <a:p>
            <a:pPr algn="l"/>
            <a:r>
              <a:rPr lang="en-US" b="0" i="0" dirty="0">
                <a:solidFill>
                  <a:srgbClr val="171717"/>
                </a:solidFill>
                <a:effectLst/>
                <a:latin typeface="Segoe UI" panose="020B0502040204020203" pitchFamily="34" charset="0"/>
              </a:rPr>
              <a:t>To compare and understand the differences between Basic and Standard SKU, use the table. </a:t>
            </a:r>
            <a:r>
              <a:rPr lang="en-US" b="0" i="0">
                <a:solidFill>
                  <a:srgbClr val="171717"/>
                </a:solidFill>
                <a:effectLst/>
                <a:latin typeface="Segoe UI" panose="020B0502040204020203" pitchFamily="34" charset="0"/>
              </a:rPr>
              <a:t>For information on Gateway SKU - catered for third-party network virtual appliances (NVAs) currently in preview, see </a:t>
            </a:r>
            <a:r>
              <a:rPr lang="en-US" b="0" i="0" u="none" strike="noStrike">
                <a:effectLst/>
                <a:latin typeface="Segoe UI" panose="020B0502040204020203" pitchFamily="34" charset="0"/>
                <a:hlinkClick r:id="rId3"/>
              </a:rPr>
              <a:t>Gateway Load Balancer overview</a:t>
            </a:r>
            <a:r>
              <a:rPr lang="en-US" b="0" i="0" u="none" strike="noStrike">
                <a:effectLst/>
                <a:latin typeface="Segoe UI" panose="020B0502040204020203" pitchFamily="34" charset="0"/>
              </a:rPr>
              <a:t> (https://docs.microsoft.com/azure/load-balancer/gateway-overview)</a:t>
            </a:r>
            <a:endParaRPr lang="en-US" b="0" i="0" dirty="0">
              <a:solidFill>
                <a:srgbClr val="171717"/>
              </a:solidFill>
              <a:effectLst/>
              <a:latin typeface="Segoe UI" panose="020B0502040204020203" pitchFamily="34" charset="0"/>
            </a:endParaRPr>
          </a:p>
          <a:p>
            <a:endParaRPr lang="en-US" dirty="0"/>
          </a:p>
          <a:p>
            <a:endParaRPr lang="en-US" dirty="0"/>
          </a:p>
          <a:p>
            <a:pPr algn="l">
              <a:buFont typeface="Arial" panose="020B0604020202020204" pitchFamily="34" charset="0"/>
              <a:buChar char="•"/>
            </a:pPr>
            <a:r>
              <a:rPr lang="en-US" b="0" i="0" dirty="0">
                <a:solidFill>
                  <a:srgbClr val="171717"/>
                </a:solidFill>
                <a:effectLst/>
                <a:latin typeface="Segoe UI" panose="020B0502040204020203" pitchFamily="34" charset="0"/>
              </a:rPr>
              <a:t>SKUs aren't mutable. You can't change the SKU of an existing resource.</a:t>
            </a:r>
          </a:p>
          <a:p>
            <a:pPr algn="l">
              <a:buFont typeface="Arial" panose="020B0604020202020204" pitchFamily="34" charset="0"/>
              <a:buChar char="•"/>
            </a:pPr>
            <a:r>
              <a:rPr lang="en-US" b="0" i="0" dirty="0">
                <a:solidFill>
                  <a:srgbClr val="171717"/>
                </a:solidFill>
                <a:effectLst/>
                <a:latin typeface="Segoe UI" panose="020B0502040204020203" pitchFamily="34" charset="0"/>
              </a:rPr>
              <a:t>A standalone virtual machine resource, availability set resource, or virtual machine scale set resource can reference one SKU, never both.</a:t>
            </a:r>
          </a:p>
          <a:p>
            <a:pPr algn="l">
              <a:buFont typeface="Arial" panose="020B0604020202020204" pitchFamily="34" charset="0"/>
              <a:buChar char="•"/>
            </a:pPr>
            <a:r>
              <a:rPr lang="en-US" b="0" i="0" u="none" strike="noStrike" dirty="0">
                <a:solidFill>
                  <a:srgbClr val="171717"/>
                </a:solidFill>
                <a:effectLst/>
                <a:latin typeface="Segoe UI" panose="020B0502040204020203" pitchFamily="34" charset="0"/>
                <a:hlinkClick r:id="rId4"/>
              </a:rPr>
              <a:t>Move operations</a:t>
            </a:r>
            <a:r>
              <a:rPr lang="en-US" b="0" i="0" dirty="0">
                <a:solidFill>
                  <a:srgbClr val="171717"/>
                </a:solidFill>
                <a:effectLst/>
                <a:latin typeface="Segoe UI" panose="020B0502040204020203" pitchFamily="34" charset="0"/>
              </a:rPr>
              <a:t>:</a:t>
            </a:r>
          </a:p>
          <a:p>
            <a:pPr marL="742950" lvl="1" indent="-285750" algn="l">
              <a:buFont typeface="Arial" panose="020B0604020202020204" pitchFamily="34" charset="0"/>
              <a:buChar char="•"/>
            </a:pPr>
            <a:r>
              <a:rPr lang="en-US" b="0" i="0" dirty="0">
                <a:solidFill>
                  <a:srgbClr val="171717"/>
                </a:solidFill>
                <a:effectLst/>
                <a:latin typeface="Segoe UI" panose="020B0502040204020203" pitchFamily="34" charset="0"/>
              </a:rPr>
              <a:t>Resource group move operations (within same subscription) </a:t>
            </a:r>
            <a:r>
              <a:rPr lang="en-US" b="1" i="0" dirty="0">
                <a:solidFill>
                  <a:srgbClr val="171717"/>
                </a:solidFill>
                <a:effectLst/>
                <a:latin typeface="Segoe UI" panose="020B0502040204020203" pitchFamily="34" charset="0"/>
              </a:rPr>
              <a:t>are supported</a:t>
            </a:r>
            <a:r>
              <a:rPr lang="en-US" b="0" i="0" dirty="0">
                <a:solidFill>
                  <a:srgbClr val="171717"/>
                </a:solidFill>
                <a:effectLst/>
                <a:latin typeface="Segoe UI" panose="020B0502040204020203" pitchFamily="34" charset="0"/>
              </a:rPr>
              <a:t> for Standard Load Balancer and Standard Public IP.</a:t>
            </a:r>
          </a:p>
          <a:p>
            <a:pPr marL="742950" lvl="1" indent="-285750" algn="l">
              <a:buFont typeface="Arial" panose="020B0604020202020204" pitchFamily="34" charset="0"/>
              <a:buChar char="•"/>
            </a:pPr>
            <a:r>
              <a:rPr lang="en-US" b="0" i="0" u="none" strike="noStrike" dirty="0">
                <a:solidFill>
                  <a:srgbClr val="171717"/>
                </a:solidFill>
                <a:effectLst/>
                <a:latin typeface="Segoe UI" panose="020B0502040204020203" pitchFamily="34" charset="0"/>
                <a:hlinkClick r:id="rId5"/>
              </a:rPr>
              <a:t>Subscription group move operations</a:t>
            </a:r>
            <a:r>
              <a:rPr lang="en-US" b="0" i="0" dirty="0">
                <a:solidFill>
                  <a:srgbClr val="171717"/>
                </a:solidFill>
                <a:effectLst/>
                <a:latin typeface="Segoe UI" panose="020B0502040204020203" pitchFamily="34" charset="0"/>
              </a:rPr>
              <a:t> are </a:t>
            </a:r>
            <a:r>
              <a:rPr lang="en-US" b="1" i="0" dirty="0">
                <a:solidFill>
                  <a:srgbClr val="171717"/>
                </a:solidFill>
                <a:effectLst/>
                <a:latin typeface="Segoe UI" panose="020B0502040204020203" pitchFamily="34" charset="0"/>
              </a:rPr>
              <a:t>not</a:t>
            </a:r>
            <a:r>
              <a:rPr lang="en-US" b="0" i="0" dirty="0">
                <a:solidFill>
                  <a:srgbClr val="171717"/>
                </a:solidFill>
                <a:effectLst/>
                <a:latin typeface="Segoe UI" panose="020B0502040204020203" pitchFamily="34" charset="0"/>
              </a:rPr>
              <a:t> supported for Standard Load Balancer and Standard Public IP resources.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803969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the Standard SKU you can have up to 1000 instances in the backend pool. In the Basic SKU you can have up to 100 instances. </a:t>
            </a:r>
          </a:p>
          <a:p>
            <a:endParaRPr lang="en-US"/>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4143078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Tutorial: Load balance internet traffic to VMs using the Azure portal - https://docs.microsoft.com/en-us/azure/load-balancer/tutorial-load-balancer-standard-manage-portal</a:t>
            </a:r>
          </a:p>
          <a:p>
            <a:endParaRPr lang="en-US"/>
          </a:p>
          <a:p>
            <a:r>
              <a:rPr lang="en-US"/>
              <a:t>✔ Can you see the difference between load balancing rules and NAT rules? Remember, this approach should only be used when you need connectivity from the Internet. Most normal communications would occur from on-premises to Azure connections such as site-to-site VPN and ExpressRoute.</a:t>
            </a:r>
          </a:p>
          <a:p>
            <a:endParaRPr lang="en-US"/>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490994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✔Keeping session persistence information is very important in applications that use a shopping cart. Can you think of any other applications?</a:t>
            </a:r>
          </a:p>
          <a:p>
            <a:endParaRPr lang="en-US"/>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87660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Load Balancer health probes - https://docs.microsoft.com/en-us/azure/load-balancer/load-balancer-custom-probe-overview</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a:p>
          <a:p>
            <a:r>
              <a:rPr lang="en-US"/>
              <a:t>✔  There is also a guest agent probe. This probe uses the guest agent inside the VM. It is not recommended when HTTP or TCP custom probe configurations are possible. Relate back to the original diagram to ensure all the components are covered. </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3:53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766556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configure internet outbound: </a:t>
            </a:r>
          </a:p>
          <a:p>
            <a:endParaRPr lang="en-US" dirty="0"/>
          </a:p>
          <a:p>
            <a:r>
              <a:rPr lang="en-US" b="0" i="0" dirty="0">
                <a:solidFill>
                  <a:srgbClr val="171717"/>
                </a:solidFill>
                <a:effectLst/>
                <a:latin typeface="Segoe UI" panose="020B0502040204020203" pitchFamily="34" charset="0"/>
              </a:rPr>
              <a:t>Certain scenarios require virtual machines or compute instances to have outbound connectivity to the internet. The frontend IPs of an Azure public load balancer can be used to provide outbound connectivity to the internet for backend instances. This configuration uses </a:t>
            </a:r>
            <a:r>
              <a:rPr lang="en-US" b="1" i="0" dirty="0">
                <a:solidFill>
                  <a:srgbClr val="171717"/>
                </a:solidFill>
                <a:effectLst/>
                <a:latin typeface="Segoe UI" panose="020B0502040204020203" pitchFamily="34" charset="0"/>
              </a:rPr>
              <a:t>source network address translation (SNAT)</a:t>
            </a:r>
            <a:r>
              <a:rPr lang="en-US" b="0" i="0" dirty="0">
                <a:solidFill>
                  <a:srgbClr val="171717"/>
                </a:solidFill>
                <a:effectLst/>
                <a:latin typeface="Segoe UI" panose="020B0502040204020203" pitchFamily="34" charset="0"/>
              </a:rPr>
              <a:t> as the </a:t>
            </a:r>
            <a:r>
              <a:rPr lang="en-US" b="1" i="0" dirty="0">
                <a:solidFill>
                  <a:srgbClr val="171717"/>
                </a:solidFill>
                <a:effectLst/>
                <a:latin typeface="Segoe UI" panose="020B0502040204020203" pitchFamily="34" charset="0"/>
              </a:rPr>
              <a:t>source</a:t>
            </a:r>
            <a:r>
              <a:rPr lang="en-US" b="0" i="0" dirty="0">
                <a:solidFill>
                  <a:srgbClr val="171717"/>
                </a:solidFill>
                <a:effectLst/>
                <a:latin typeface="Segoe UI" panose="020B0502040204020203" pitchFamily="34" charset="0"/>
              </a:rPr>
              <a:t> or virtual machine's IP is translated to a public IP address. SNAT maps the IP address of the backend to the public IP address of your load balancer. SNAT prevents outside sources from having a direct address to the backend instances.</a:t>
            </a:r>
          </a:p>
          <a:p>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Outbound rules allow you to explicitly define SNAT(source network address translation) for a public standard load balancer. This configuration allows you to use the public IP(s) of your load balancer to provide outbound internet connectivity for your backend instances.</a:t>
            </a:r>
          </a:p>
          <a:p>
            <a:pPr algn="l"/>
            <a:r>
              <a:rPr lang="en-US" b="0" i="0" dirty="0">
                <a:solidFill>
                  <a:srgbClr val="171717"/>
                </a:solidFill>
                <a:effectLst/>
                <a:latin typeface="Segoe UI" panose="020B0502040204020203" pitchFamily="34" charset="0"/>
              </a:rPr>
              <a:t>This configuration enables:</a:t>
            </a:r>
          </a:p>
          <a:p>
            <a:pPr algn="l">
              <a:buFont typeface="Arial" panose="020B0604020202020204" pitchFamily="34" charset="0"/>
              <a:buChar char="•"/>
            </a:pPr>
            <a:endParaRPr lang="en-US" b="0" i="0" dirty="0">
              <a:solidFill>
                <a:srgbClr val="171717"/>
              </a:solidFill>
              <a:effectLst/>
              <a:latin typeface="Segoe UI" panose="020B0502040204020203" pitchFamily="34" charset="0"/>
            </a:endParaRPr>
          </a:p>
          <a:p>
            <a:pPr lvl="1" algn="l">
              <a:buFont typeface="Arial" panose="020B0604020202020204" pitchFamily="34" charset="0"/>
              <a:buChar char="•"/>
            </a:pPr>
            <a:r>
              <a:rPr lang="en-US" b="0" i="0" dirty="0">
                <a:solidFill>
                  <a:srgbClr val="171717"/>
                </a:solidFill>
                <a:effectLst/>
                <a:latin typeface="Segoe UI" panose="020B0502040204020203" pitchFamily="34" charset="0"/>
              </a:rPr>
              <a:t>IP masquerading</a:t>
            </a:r>
          </a:p>
          <a:p>
            <a:pPr lvl="1" algn="l">
              <a:buFont typeface="Arial" panose="020B0604020202020204" pitchFamily="34" charset="0"/>
              <a:buChar char="•"/>
            </a:pPr>
            <a:r>
              <a:rPr lang="en-US" b="0" i="0" dirty="0">
                <a:solidFill>
                  <a:srgbClr val="171717"/>
                </a:solidFill>
                <a:effectLst/>
                <a:latin typeface="Segoe UI" panose="020B0502040204020203" pitchFamily="34" charset="0"/>
              </a:rPr>
              <a:t>Simplifying your </a:t>
            </a:r>
            <a:r>
              <a:rPr lang="en-US" b="0" i="0" dirty="0" err="1">
                <a:solidFill>
                  <a:srgbClr val="171717"/>
                </a:solidFill>
                <a:effectLst/>
                <a:latin typeface="Segoe UI" panose="020B0502040204020203" pitchFamily="34" charset="0"/>
              </a:rPr>
              <a:t>allowlists</a:t>
            </a:r>
            <a:r>
              <a:rPr lang="en-US" b="0" i="0" dirty="0">
                <a:solidFill>
                  <a:srgbClr val="171717"/>
                </a:solidFill>
                <a:effectLst/>
                <a:latin typeface="Segoe UI" panose="020B0502040204020203" pitchFamily="34" charset="0"/>
              </a:rPr>
              <a:t>.</a:t>
            </a:r>
          </a:p>
          <a:p>
            <a:pPr lvl="1" algn="l">
              <a:buFont typeface="Arial" panose="020B0604020202020204" pitchFamily="34" charset="0"/>
              <a:buChar char="•"/>
            </a:pPr>
            <a:r>
              <a:rPr lang="en-US" b="0" i="0" dirty="0">
                <a:solidFill>
                  <a:srgbClr val="171717"/>
                </a:solidFill>
                <a:effectLst/>
                <a:latin typeface="Segoe UI" panose="020B0502040204020203" pitchFamily="34" charset="0"/>
              </a:rPr>
              <a:t>Reduces the number of public IP resources for deployment.</a:t>
            </a:r>
          </a:p>
          <a:p>
            <a:pPr algn="l"/>
            <a:r>
              <a:rPr lang="en-US" b="0" i="0" dirty="0">
                <a:solidFill>
                  <a:srgbClr val="171717"/>
                </a:solidFill>
                <a:effectLst/>
                <a:latin typeface="Segoe UI" panose="020B0502040204020203" pitchFamily="34" charset="0"/>
              </a:rPr>
              <a:t>With outbound rules, you have full declarative control over outbound internet connectivity. Outbound rules allow you to scale and tune this ability to your specific needs.</a:t>
            </a:r>
          </a:p>
          <a:p>
            <a:pPr algn="l"/>
            <a:r>
              <a:rPr lang="en-US" b="0" i="0" dirty="0">
                <a:solidFill>
                  <a:srgbClr val="171717"/>
                </a:solidFill>
                <a:effectLst/>
                <a:latin typeface="Segoe UI" panose="020B0502040204020203" pitchFamily="34" charset="0"/>
              </a:rPr>
              <a:t>Outbound rules will only be followed if the backend VM doesn't have an instance-level public IP address (ILPIP).</a:t>
            </a:r>
          </a:p>
          <a:p>
            <a:endParaRPr lang="en-US" dirty="0"/>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20</a:t>
            </a:fld>
            <a:endParaRPr lang="en-US"/>
          </a:p>
        </p:txBody>
      </p:sp>
    </p:spTree>
    <p:extLst>
      <p:ext uri="{BB962C8B-B14F-4D97-AF65-F5344CB8AC3E}">
        <p14:creationId xmlns:p14="http://schemas.microsoft.com/office/powerpoint/2010/main" val="2002109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azure portal and load balancing option </a:t>
            </a:r>
          </a:p>
          <a:p>
            <a:r>
              <a:rPr lang="en-US" dirty="0"/>
              <a:t>Deploy an External LB with 2 VMs in a backend pool </a:t>
            </a:r>
          </a:p>
          <a:p>
            <a:endParaRPr lang="en-US" dirty="0"/>
          </a:p>
          <a:p>
            <a:r>
              <a:rPr lang="en-US" dirty="0" err="1">
                <a:hlinkClick r:id="rId3"/>
              </a:rPr>
              <a:t>Quickstart</a:t>
            </a:r>
            <a:r>
              <a:rPr lang="en-US" dirty="0">
                <a:hlinkClick r:id="rId3"/>
              </a:rPr>
              <a:t>: Create a public load balancer - Azure portal - Azure Load Balancer | Microsoft Docs</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21</a:t>
            </a:fld>
            <a:endParaRPr lang="en-US"/>
          </a:p>
        </p:txBody>
      </p:sp>
    </p:spTree>
    <p:extLst>
      <p:ext uri="{BB962C8B-B14F-4D97-AF65-F5344CB8AC3E}">
        <p14:creationId xmlns:p14="http://schemas.microsoft.com/office/powerpoint/2010/main" val="2174077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22</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AZ-700-Designing-and-Implementing-Microsoft-Azure-Networking-Solutions/4-exercise-create-configure-azure-load-balancer.md at master · </a:t>
            </a:r>
            <a:r>
              <a:rPr lang="en-US" dirty="0" err="1">
                <a:hlinkClick r:id="rId3"/>
              </a:rPr>
              <a:t>MicrosoftLearning</a:t>
            </a:r>
            <a:r>
              <a:rPr lang="en-US" dirty="0">
                <a:hlinkClick r:id="rId3"/>
              </a:rPr>
              <a:t>/AZ-700-Designing-and-Implementing-Microsoft-Azure-Networking-Solutions (github.com)</a:t>
            </a:r>
            <a:endParaRPr lang="en-US" dirty="0"/>
          </a:p>
          <a:p>
            <a:endParaRPr lang="en-US" dirty="0"/>
          </a:p>
          <a:p>
            <a:r>
              <a:rPr lang="en-US"/>
              <a:t>https://microsoftlearning.github.io/AZ-700-Designing-and-Implementing-Microsoft-Azure-Networking-Solutions/Instructions/Exercises/M04-Unit%204%20Create%20and%20configure%20an%20Azure%20load%20balancer.html</a:t>
            </a:r>
          </a:p>
          <a:p>
            <a:endParaRPr lang="en-US" dirty="0"/>
          </a:p>
          <a:p>
            <a:pPr algn="l">
              <a:buFont typeface="Arial" panose="020B0604020202020204" pitchFamily="34" charset="0"/>
              <a:buChar char="•"/>
            </a:pPr>
            <a:r>
              <a:rPr lang="en-US" b="0" i="0" dirty="0">
                <a:solidFill>
                  <a:srgbClr val="24292E"/>
                </a:solidFill>
                <a:effectLst/>
                <a:latin typeface="-apple-system"/>
              </a:rPr>
              <a:t>Task 1: Create the virtual network</a:t>
            </a:r>
          </a:p>
          <a:p>
            <a:pPr algn="l">
              <a:buFont typeface="Arial" panose="020B0604020202020204" pitchFamily="34" charset="0"/>
              <a:buChar char="•"/>
            </a:pPr>
            <a:r>
              <a:rPr lang="en-US" b="0" i="0" dirty="0">
                <a:solidFill>
                  <a:srgbClr val="24292E"/>
                </a:solidFill>
                <a:effectLst/>
                <a:latin typeface="-apple-system"/>
              </a:rPr>
              <a:t>Task 2: Create the load balancer</a:t>
            </a:r>
          </a:p>
          <a:p>
            <a:pPr algn="l">
              <a:buFont typeface="Arial" panose="020B0604020202020204" pitchFamily="34" charset="0"/>
              <a:buChar char="•"/>
            </a:pPr>
            <a:r>
              <a:rPr lang="en-US" b="0" i="0" dirty="0">
                <a:solidFill>
                  <a:srgbClr val="24292E"/>
                </a:solidFill>
                <a:effectLst/>
                <a:latin typeface="-apple-system"/>
              </a:rPr>
              <a:t>Task 3: Create load balancer resources</a:t>
            </a:r>
          </a:p>
          <a:p>
            <a:pPr algn="l">
              <a:buFont typeface="Arial" panose="020B0604020202020204" pitchFamily="34" charset="0"/>
              <a:buChar char="•"/>
            </a:pPr>
            <a:r>
              <a:rPr lang="en-US" b="0" i="0" dirty="0">
                <a:solidFill>
                  <a:srgbClr val="24292E"/>
                </a:solidFill>
                <a:effectLst/>
                <a:latin typeface="-apple-system"/>
              </a:rPr>
              <a:t>Task 4: Create backend servers</a:t>
            </a:r>
          </a:p>
          <a:p>
            <a:pPr algn="l">
              <a:buFont typeface="Arial" panose="020B0604020202020204" pitchFamily="34" charset="0"/>
              <a:buChar char="•"/>
            </a:pPr>
            <a:r>
              <a:rPr lang="en-US" b="0" i="0" dirty="0">
                <a:solidFill>
                  <a:srgbClr val="24292E"/>
                </a:solidFill>
                <a:effectLst/>
                <a:latin typeface="-apple-system"/>
              </a:rPr>
              <a:t>Task 5: Test the load balancer</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24</a:t>
            </a:fld>
            <a:endParaRPr lang="en-US"/>
          </a:p>
        </p:txBody>
      </p:sp>
    </p:spTree>
    <p:extLst>
      <p:ext uri="{BB962C8B-B14F-4D97-AF65-F5344CB8AC3E}">
        <p14:creationId xmlns:p14="http://schemas.microsoft.com/office/powerpoint/2010/main" val="340696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25</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3:53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b="1">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Feature</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Increase application availability</a:t>
            </a:r>
            <a:r>
              <a:rPr lang="en-US" sz="1800">
                <a:effectLst/>
                <a:latin typeface="Calibri" panose="020F0502020204030204" pitchFamily="34" charset="0"/>
                <a:ea typeface="Calibri" panose="020F0502020204030204" pitchFamily="34" charset="0"/>
                <a:cs typeface="Arial" panose="020B0604020202020204" pitchFamily="34" charset="0"/>
              </a:rPr>
              <a:t>: Traffic Manager delivers high availability for your critical applications by monitoring your endpoints and providing automatic failover when an endpoint goes down.</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Improve application performance</a:t>
            </a:r>
            <a:r>
              <a:rPr lang="en-US" sz="1800">
                <a:effectLst/>
                <a:latin typeface="Calibri" panose="020F0502020204030204" pitchFamily="34" charset="0"/>
                <a:ea typeface="Calibri" panose="020F0502020204030204" pitchFamily="34" charset="0"/>
                <a:cs typeface="Arial" panose="020B0604020202020204" pitchFamily="34" charset="0"/>
              </a:rPr>
              <a:t>: Azure allows you to run cloud services and websites in datacenters located around the world. Traffic Manager can improve the responsiveness of your website by directing traffic to the endpoint with the lowest latency.</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Service maintenance without downtime</a:t>
            </a:r>
            <a:r>
              <a:rPr lang="en-US" sz="1800">
                <a:effectLst/>
                <a:latin typeface="Calibri" panose="020F0502020204030204" pitchFamily="34" charset="0"/>
                <a:ea typeface="Calibri" panose="020F0502020204030204" pitchFamily="34" charset="0"/>
                <a:cs typeface="Arial" panose="020B0604020202020204" pitchFamily="34" charset="0"/>
              </a:rPr>
              <a:t>: You can have planned maintenance done on your applications without downtime. Traffic Manager can direct traffic to alternative endpoints while the maintenance is in progress.</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Combine hybrid applications: </a:t>
            </a:r>
            <a:r>
              <a:rPr lang="en-US" sz="1800">
                <a:effectLst/>
                <a:latin typeface="Calibri" panose="020F0502020204030204" pitchFamily="34" charset="0"/>
                <a:ea typeface="Calibri" panose="020F0502020204030204" pitchFamily="34" charset="0"/>
                <a:cs typeface="Arial" panose="020B0604020202020204" pitchFamily="34" charset="0"/>
              </a:rPr>
              <a:t>Traffic Manager supports external, non-Azure endpoints enabling it to be used with hybrid cloud and on-premises deployments, including the </a:t>
            </a:r>
            <a:r>
              <a:rPr lang="en-US" sz="1800" i="1">
                <a:effectLst/>
                <a:latin typeface="Calibri" panose="020F0502020204030204" pitchFamily="34" charset="0"/>
                <a:ea typeface="Calibri" panose="020F0502020204030204" pitchFamily="34" charset="0"/>
                <a:cs typeface="Arial" panose="020B0604020202020204" pitchFamily="34" charset="0"/>
              </a:rPr>
              <a:t>burst-to-cloud</a:t>
            </a:r>
            <a:r>
              <a:rPr lang="en-US" sz="1800">
                <a:effectLst/>
                <a:latin typeface="Calibri" panose="020F0502020204030204" pitchFamily="34" charset="0"/>
                <a:ea typeface="Calibri" panose="020F0502020204030204" pitchFamily="34" charset="0"/>
                <a:cs typeface="Arial" panose="020B0604020202020204" pitchFamily="34" charset="0"/>
              </a:rPr>
              <a:t>, </a:t>
            </a:r>
            <a:r>
              <a:rPr lang="en-US" sz="1800" i="1">
                <a:effectLst/>
                <a:latin typeface="Calibri" panose="020F0502020204030204" pitchFamily="34" charset="0"/>
                <a:ea typeface="Calibri" panose="020F0502020204030204" pitchFamily="34" charset="0"/>
                <a:cs typeface="Arial" panose="020B0604020202020204" pitchFamily="34" charset="0"/>
              </a:rPr>
              <a:t>migrate-to-cloud</a:t>
            </a:r>
            <a:r>
              <a:rPr lang="en-US" sz="1800">
                <a:effectLst/>
                <a:latin typeface="Calibri" panose="020F0502020204030204" pitchFamily="34" charset="0"/>
                <a:ea typeface="Calibri" panose="020F0502020204030204" pitchFamily="34" charset="0"/>
                <a:cs typeface="Arial" panose="020B0604020202020204" pitchFamily="34" charset="0"/>
              </a:rPr>
              <a:t>, and </a:t>
            </a:r>
            <a:r>
              <a:rPr lang="en-US" sz="1800" i="1">
                <a:effectLst/>
                <a:latin typeface="Calibri" panose="020F0502020204030204" pitchFamily="34" charset="0"/>
                <a:ea typeface="Calibri" panose="020F0502020204030204" pitchFamily="34" charset="0"/>
                <a:cs typeface="Arial" panose="020B0604020202020204" pitchFamily="34" charset="0"/>
              </a:rPr>
              <a:t>failover-to-cloud</a:t>
            </a:r>
            <a:r>
              <a:rPr lang="en-US" sz="1800">
                <a:effectLst/>
                <a:latin typeface="Calibri" panose="020F0502020204030204" pitchFamily="34" charset="0"/>
                <a:ea typeface="Calibri" panose="020F0502020204030204" pitchFamily="34" charset="0"/>
                <a:cs typeface="Arial" panose="020B0604020202020204" pitchFamily="34" charset="0"/>
              </a:rPr>
              <a:t> scenarios.</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Distribute traffic for complex deployments</a:t>
            </a:r>
            <a:r>
              <a:rPr lang="en-US" sz="1800">
                <a:effectLst/>
                <a:latin typeface="Calibri" panose="020F0502020204030204" pitchFamily="34" charset="0"/>
                <a:ea typeface="Calibri" panose="020F0502020204030204" pitchFamily="34" charset="0"/>
                <a:cs typeface="Arial" panose="020B0604020202020204" pitchFamily="34" charset="0"/>
              </a:rPr>
              <a:t>: Using nested Traffic Manager profiles, multiple traffic-routing methods can be combined to create sophisticated and flexible rules to scale to the needs of larger, more complex deployments.</a:t>
            </a:r>
          </a:p>
          <a:p>
            <a:pPr marL="0" marR="0">
              <a:spcBef>
                <a:spcPts val="0"/>
              </a:spcBef>
              <a:spcAft>
                <a:spcPts val="1000"/>
              </a:spcAft>
            </a:pPr>
            <a:endParaRPr lang="en-US" sz="1800" b="1">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Azure Traffic Manager is a DNS-based traffic load balancer. This service allows you to distribute traffic to your public facing applications across the global Azure regions. Traffic Manager also provides your public endpoints with high availability and quick responsiveness.</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Traffic Manager uses DNS to direct the client requests to the appropriate service endpoint based on a traffic-routing method. Traffic manager also provides health monitoring for every endpoint. The endpoint can be any Internet-facing service hosted inside or outside of Azure. Traffic Manager provides a range of traffic-routing methods and endpoint monitoring options to suit different application needs and automatic failover models. Traffic Manager is resilient to failure, including the failure of an entire Azure region.</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28</a:t>
            </a:fld>
            <a:endParaRPr lang="en-US"/>
          </a:p>
        </p:txBody>
      </p:sp>
    </p:spTree>
    <p:extLst>
      <p:ext uri="{BB962C8B-B14F-4D97-AF65-F5344CB8AC3E}">
        <p14:creationId xmlns:p14="http://schemas.microsoft.com/office/powerpoint/2010/main" val="2683684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The client sends a DNS query to its configured recursive DNS service to resolve the name 'partners.contoso.com'. A recursive DNS service, sometimes called a 'local DNS' service, does not host DNS domains directly. Rather, the client off-loads the work of contacting the various authoritative DNS services across the Internet needed to resolve a DNS name.</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To resolve the DNS name, the recursive DNS service finds the name servers for the 'contoso.com' domain. It then contacts those name servers to request the 'partners.contoso.com' DNS record. The contoso.com DNS servers return the CNAME record which points to contoso.trafficmanager.net.</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Next, the recursive DNS service finds the name servers for the 'trafficmanager.net' domain, which are provided by the Azure Traffic Manager service. It then sends a request for the 'contoso.trafficmanager.net' DNS record to those DNS servers.</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The Traffic Manager name servers receive the request. They choose an endpoint based on:</a:t>
            </a:r>
          </a:p>
          <a:p>
            <a:pPr marL="800100" marR="0" lvl="1" indent="-342900">
              <a:spcBef>
                <a:spcPts val="0"/>
              </a:spcBef>
              <a:spcAft>
                <a:spcPts val="0"/>
              </a:spcAft>
              <a:buFont typeface="Courier New" panose="02070309020205020404" pitchFamily="49" charset="0"/>
              <a:buChar char="o"/>
              <a:tabLst>
                <a:tab pos="228600" algn="l"/>
                <a:tab pos="457200" algn="l"/>
              </a:tabLst>
            </a:pPr>
            <a:r>
              <a:rPr lang="en-US" sz="1800">
                <a:effectLst/>
                <a:latin typeface="Calibri" panose="020F0502020204030204" pitchFamily="34" charset="0"/>
                <a:ea typeface="Calibri" panose="020F0502020204030204" pitchFamily="34" charset="0"/>
                <a:cs typeface="Arial" panose="020B0604020202020204" pitchFamily="34" charset="0"/>
              </a:rPr>
              <a:t>The configured state of each endpoint (disabled endpoints are not returned).</a:t>
            </a:r>
          </a:p>
          <a:p>
            <a:pPr marL="800100" marR="0" lvl="1" indent="-342900">
              <a:spcBef>
                <a:spcPts val="0"/>
              </a:spcBef>
              <a:spcAft>
                <a:spcPts val="0"/>
              </a:spcAft>
              <a:buFont typeface="Courier New" panose="02070309020205020404" pitchFamily="49" charset="0"/>
              <a:buChar char="o"/>
              <a:tabLst>
                <a:tab pos="228600" algn="l"/>
                <a:tab pos="457200" algn="l"/>
              </a:tabLst>
            </a:pPr>
            <a:r>
              <a:rPr lang="en-US" sz="1800">
                <a:effectLst/>
                <a:latin typeface="Calibri" panose="020F0502020204030204" pitchFamily="34" charset="0"/>
                <a:ea typeface="Calibri" panose="020F0502020204030204" pitchFamily="34" charset="0"/>
                <a:cs typeface="Arial" panose="020B0604020202020204" pitchFamily="34" charset="0"/>
              </a:rPr>
              <a:t>The current health of each endpoint, as determined by the Traffic Manager health checks (see </a:t>
            </a:r>
            <a:r>
              <a:rPr lang="en-US" sz="1800" u="sng">
                <a:solidFill>
                  <a:srgbClr val="4472C4"/>
                </a:solidFill>
                <a:effectLst/>
                <a:latin typeface="Calibri" panose="020F0502020204030204" pitchFamily="34" charset="0"/>
                <a:ea typeface="Calibri" panose="020F0502020204030204" pitchFamily="34" charset="0"/>
                <a:cs typeface="Arial" panose="020B0604020202020204" pitchFamily="34" charset="0"/>
                <a:hlinkClick r:id="rId3"/>
              </a:rPr>
              <a:t>Endpoint Monitoring Options</a:t>
            </a:r>
            <a:r>
              <a:rPr lang="en-US" sz="1800">
                <a:effectLst/>
                <a:latin typeface="Calibri" panose="020F0502020204030204" pitchFamily="34" charset="0"/>
                <a:ea typeface="Calibri" panose="020F0502020204030204" pitchFamily="34" charset="0"/>
                <a:cs typeface="Arial" panose="020B0604020202020204" pitchFamily="34" charset="0"/>
              </a:rPr>
              <a:t>).</a:t>
            </a:r>
          </a:p>
          <a:p>
            <a:pPr marL="800100" marR="0" lvl="1" indent="-342900">
              <a:spcBef>
                <a:spcPts val="0"/>
              </a:spcBef>
              <a:spcAft>
                <a:spcPts val="1000"/>
              </a:spcAft>
              <a:buFont typeface="Courier New" panose="02070309020205020404" pitchFamily="49" charset="0"/>
              <a:buChar char="o"/>
              <a:tabLst>
                <a:tab pos="228600" algn="l"/>
                <a:tab pos="457200" algn="l"/>
              </a:tabLst>
            </a:pPr>
            <a:r>
              <a:rPr lang="en-US" sz="1800">
                <a:effectLst/>
                <a:latin typeface="Calibri" panose="020F0502020204030204" pitchFamily="34" charset="0"/>
                <a:ea typeface="Calibri" panose="020F0502020204030204" pitchFamily="34" charset="0"/>
                <a:cs typeface="Arial" panose="020B0604020202020204" pitchFamily="34" charset="0"/>
              </a:rPr>
              <a:t>The chosen traffic-routing method (see </a:t>
            </a:r>
            <a:r>
              <a:rPr lang="en-US" sz="1800" u="sng">
                <a:solidFill>
                  <a:srgbClr val="4472C4"/>
                </a:solidFill>
                <a:effectLst/>
                <a:latin typeface="Calibri" panose="020F0502020204030204" pitchFamily="34" charset="0"/>
                <a:ea typeface="Calibri" panose="020F0502020204030204" pitchFamily="34" charset="0"/>
                <a:cs typeface="Arial" panose="020B0604020202020204" pitchFamily="34" charset="0"/>
                <a:hlinkClick r:id="rId4"/>
              </a:rPr>
              <a:t>Traffic Routing Methods</a:t>
            </a:r>
            <a:r>
              <a:rPr lang="en-US" sz="1800">
                <a:effectLst/>
                <a:latin typeface="Calibri" panose="020F0502020204030204" pitchFamily="34" charset="0"/>
                <a:ea typeface="Calibri" panose="020F0502020204030204" pitchFamily="34" charset="0"/>
                <a:cs typeface="Arial" panose="020B0604020202020204" pitchFamily="34" charset="0"/>
              </a:rPr>
              <a:t>).</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The chosen endpoint is returned as another DNS CNAME record. In this case, let us suppose contoso-eu.cloudapp.net is returned.</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Next, the recursive DNS service finds the name servers for the 'cloudapp.net' domain. It contacts those name servers to request the 'contoso-eu.cloudapp.net' DNS record. A DNS 'A' record containing the IP address of the EU-based service endpoint is returned.</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The recursive DNS service consolidates the results and returns a single DNS response to the client.</a:t>
            </a:r>
          </a:p>
          <a:p>
            <a:pPr marL="342900" marR="0" lvl="0" indent="-342900">
              <a:spcBef>
                <a:spcPts val="0"/>
              </a:spcBef>
              <a:spcAft>
                <a:spcPts val="1000"/>
              </a:spcAft>
              <a:buFont typeface="+mj-lt"/>
              <a:buAutoNum type="arabicPeriod"/>
            </a:pPr>
            <a:r>
              <a:rPr lang="en-US" sz="1800">
                <a:effectLst/>
                <a:latin typeface="Calibri" panose="020F0502020204030204" pitchFamily="34" charset="0"/>
                <a:ea typeface="Calibri" panose="020F0502020204030204" pitchFamily="34" charset="0"/>
                <a:cs typeface="Arial" panose="020B0604020202020204" pitchFamily="34" charset="0"/>
              </a:rPr>
              <a:t>The client receives the DNS results and connects to the given IP address. The client connects to the application service endpoint directly, not through Traffic Manager. Since it is an HTTPS endpoint, the client performs the necessary SSL/TLS handshake, and then makes an HTTP GET request for the '/login.aspx' page.</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29</a:t>
            </a:fld>
            <a:endParaRPr lang="en-US"/>
          </a:p>
        </p:txBody>
      </p:sp>
    </p:spTree>
    <p:extLst>
      <p:ext uri="{BB962C8B-B14F-4D97-AF65-F5344CB8AC3E}">
        <p14:creationId xmlns:p14="http://schemas.microsoft.com/office/powerpoint/2010/main" val="2833693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Azure Traffic Manager supports six traffic-routing methods to determine how to route network traffic to the various service endpoints. For any profile, Traffic Manager applies the traffic-routing method associated to it to each DNS query it receives. The traffic-routing method determines which endpoint is returned in the DNS response.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The following traffic routing methods are available in Traffic Manager:</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Routing method</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Priority</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this routing method when you want to have a primary service endpoint for all traffic. You can provide multiple backup endpoints in case the primary or one of the backup endpoints is unavailable.</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Weighted</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this routing method when you want to distribute traffic across a set of endpoints based on their weight. Set the weight the same to distribute evenly across all endpoints.</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Performance</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the routing method when you have endpoints in different geographic locations, and you want end users to use the "closest" endpoint for the lowest network latency.</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Geographic</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this routing method to direct users to specific endpoints (Azure, External, or Nested) based on where their DNS queries originate from geographically. With this routing method, it enables you to be compliant with scenarios such as data sovereignty mandates, localization of content &amp; user experience and measuring traffic from different regions.</a:t>
            </a:r>
          </a:p>
          <a:p>
            <a:pPr marL="0" marR="0">
              <a:spcBef>
                <a:spcPts val="0"/>
              </a:spcBef>
              <a:spcAft>
                <a:spcPts val="1000"/>
              </a:spcAft>
            </a:pPr>
            <a:r>
              <a:rPr lang="en-US" sz="1800" b="1" err="1">
                <a:effectLst/>
                <a:latin typeface="Calibri" panose="020F0502020204030204" pitchFamily="34" charset="0"/>
                <a:ea typeface="Calibri" panose="020F0502020204030204" pitchFamily="34" charset="0"/>
                <a:cs typeface="Arial" panose="020B0604020202020204" pitchFamily="34" charset="0"/>
              </a:rPr>
              <a:t>MultiValue</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this routing method for Traffic Manager profiles that can only have IPv4/IPv6 addresses as endpoints. When a query is received for this profile, all healthy endpoints are returned.</a:t>
            </a:r>
          </a:p>
          <a:p>
            <a:pPr marL="0" marR="0">
              <a:spcBef>
                <a:spcPts val="0"/>
              </a:spcBef>
              <a:spcAft>
                <a:spcPts val="1000"/>
              </a:spcAft>
            </a:pPr>
            <a:r>
              <a:rPr lang="en-US" sz="1800" b="1">
                <a:effectLst/>
                <a:latin typeface="Calibri" panose="020F0502020204030204" pitchFamily="34" charset="0"/>
                <a:ea typeface="Calibri" panose="020F0502020204030204" pitchFamily="34" charset="0"/>
                <a:cs typeface="Arial" panose="020B0604020202020204" pitchFamily="34" charset="0"/>
              </a:rPr>
              <a:t>Subnet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Select this routing method to map sets of end-user IP address ranges to a specific endpoint. When a request is received, the endpoint returned will be the one mapped for that request’s source IP address.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30</a:t>
            </a:fld>
            <a:endParaRPr lang="en-US"/>
          </a:p>
        </p:txBody>
      </p:sp>
    </p:spTree>
    <p:extLst>
      <p:ext uri="{BB962C8B-B14F-4D97-AF65-F5344CB8AC3E}">
        <p14:creationId xmlns:p14="http://schemas.microsoft.com/office/powerpoint/2010/main" val="664669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200" b="1" dirty="0">
                <a:effectLst/>
                <a:latin typeface="Calibri" panose="020F0502020204030204" pitchFamily="34" charset="0"/>
                <a:ea typeface="Calibri" panose="020F0502020204030204" pitchFamily="34" charset="0"/>
                <a:cs typeface="Arial" panose="020B0604020202020204" pitchFamily="34" charset="0"/>
              </a:rPr>
              <a:t>Weighted</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Arial" panose="020B0604020202020204" pitchFamily="34" charset="0"/>
              </a:rPr>
              <a:t>Select this routing method when you want to distribute traffic across a set of endpoints based on their weight. Set the weight the same to distribute evenly across all endpoints.</a:t>
            </a:r>
          </a:p>
          <a:p>
            <a:pPr marL="0" marR="0">
              <a:spcBef>
                <a:spcPts val="0"/>
              </a:spcBef>
              <a:spcAft>
                <a:spcPts val="1000"/>
              </a:spcAft>
            </a:pP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lang="en-US" sz="1200" dirty="0">
                <a:solidFill>
                  <a:schemeClr val="tx1"/>
                </a:solidFill>
                <a:cs typeface="Segoe UI Semilight"/>
              </a:rPr>
              <a:t>You want to distribute traffic across endpoints, either evenly or using different weights.</a:t>
            </a:r>
          </a:p>
          <a:p>
            <a:pPr marL="0" marR="0">
              <a:spcBef>
                <a:spcPts val="0"/>
              </a:spcBef>
              <a:spcAft>
                <a:spcPts val="1000"/>
              </a:spcAft>
            </a:pPr>
            <a:endParaRPr lang="en-US" sz="12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31</a:t>
            </a:fld>
            <a:endParaRPr lang="en-US"/>
          </a:p>
        </p:txBody>
      </p:sp>
    </p:spTree>
    <p:extLst>
      <p:ext uri="{BB962C8B-B14F-4D97-AF65-F5344CB8AC3E}">
        <p14:creationId xmlns:p14="http://schemas.microsoft.com/office/powerpoint/2010/main" val="13651183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200" b="1">
                <a:effectLst/>
                <a:latin typeface="Calibri" panose="020F0502020204030204" pitchFamily="34" charset="0"/>
                <a:ea typeface="Calibri" panose="020F0502020204030204" pitchFamily="34" charset="0"/>
                <a:cs typeface="Arial" panose="020B0604020202020204" pitchFamily="34" charset="0"/>
              </a:rPr>
              <a:t>Performance</a:t>
            </a:r>
            <a:endParaRPr lang="en-US" sz="12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200">
                <a:effectLst/>
                <a:latin typeface="Calibri" panose="020F0502020204030204" pitchFamily="34" charset="0"/>
                <a:ea typeface="Calibri" panose="020F0502020204030204" pitchFamily="34" charset="0"/>
                <a:cs typeface="Arial" panose="020B0604020202020204" pitchFamily="34" charset="0"/>
              </a:rPr>
              <a:t>Select the routing method when you have endpoints in different geographic locations, and you want end users to use the "closest" endpoint for the lowest network latency.</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32</a:t>
            </a:fld>
            <a:endParaRPr lang="en-US"/>
          </a:p>
        </p:txBody>
      </p:sp>
    </p:spTree>
    <p:extLst>
      <p:ext uri="{BB962C8B-B14F-4D97-AF65-F5344CB8AC3E}">
        <p14:creationId xmlns:p14="http://schemas.microsoft.com/office/powerpoint/2010/main" val="557978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200" b="1">
                <a:effectLst/>
                <a:latin typeface="Calibri" panose="020F0502020204030204" pitchFamily="34" charset="0"/>
                <a:ea typeface="Calibri" panose="020F0502020204030204" pitchFamily="34" charset="0"/>
                <a:cs typeface="Arial" panose="020B0604020202020204" pitchFamily="34" charset="0"/>
              </a:rPr>
              <a:t>Geographic</a:t>
            </a:r>
            <a:endParaRPr lang="en-US" sz="12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200">
                <a:effectLst/>
                <a:latin typeface="Calibri" panose="020F0502020204030204" pitchFamily="34" charset="0"/>
                <a:ea typeface="Calibri" panose="020F0502020204030204" pitchFamily="34" charset="0"/>
                <a:cs typeface="Arial" panose="020B0604020202020204" pitchFamily="34" charset="0"/>
              </a:rPr>
              <a:t>Select this routing method to direct users to specific endpoints (Azure, External, or Nested) based on where their DNS queries originate from geographically. With this routing method, it enables you to be compliant with scenarios such as data sovereignty mandates, localization of content &amp; user experience and measuring traffic from different regions.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33</a:t>
            </a:fld>
            <a:endParaRPr lang="en-US"/>
          </a:p>
        </p:txBody>
      </p:sp>
    </p:spTree>
    <p:extLst>
      <p:ext uri="{BB962C8B-B14F-4D97-AF65-F5344CB8AC3E}">
        <p14:creationId xmlns:p14="http://schemas.microsoft.com/office/powerpoint/2010/main" val="28096090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Image shows example of combining Performance and Weighted traffic routing </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Azure Traffic Manager enables you to control how network traffic is distributed to application deployments running in your different datacenters. You configure each application deployment as an </a:t>
            </a:r>
            <a:r>
              <a:rPr lang="en-US" sz="1800" i="1" dirty="0">
                <a:effectLst/>
                <a:latin typeface="Calibri" panose="020F0502020204030204" pitchFamily="34" charset="0"/>
                <a:ea typeface="Calibri" panose="020F0502020204030204" pitchFamily="34" charset="0"/>
                <a:cs typeface="Arial" panose="020B0604020202020204" pitchFamily="34" charset="0"/>
              </a:rPr>
              <a:t>endpoint</a:t>
            </a:r>
            <a:r>
              <a:rPr lang="en-US" sz="1800" dirty="0">
                <a:effectLst/>
                <a:latin typeface="Calibri" panose="020F0502020204030204" pitchFamily="34" charset="0"/>
                <a:ea typeface="Calibri" panose="020F0502020204030204" pitchFamily="34" charset="0"/>
                <a:cs typeface="Arial" panose="020B0604020202020204" pitchFamily="34" charset="0"/>
              </a:rPr>
              <a:t> in Traffic Manager. When Traffic Manager receives a DNS request, it chooses an available endpoint to return in the DNS response. Traffic manager bases the choice on the current endpoint status and the traffic-routing method.</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Traffic Manager supports three types of endpoints:</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Arial" panose="020B0604020202020204" pitchFamily="34" charset="0"/>
              </a:rPr>
              <a:t>Azure endpoints</a:t>
            </a:r>
            <a:r>
              <a:rPr lang="en-US" sz="1800" dirty="0">
                <a:effectLst/>
                <a:latin typeface="Calibri" panose="020F0502020204030204" pitchFamily="34" charset="0"/>
                <a:ea typeface="Calibri" panose="020F0502020204030204" pitchFamily="34" charset="0"/>
                <a:cs typeface="Arial" panose="020B0604020202020204" pitchFamily="34" charset="0"/>
              </a:rPr>
              <a:t> - Use this type of endpoint to load-balance traffic to a cloud service, web app, or public IP address in the same subscription within Azure.</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Arial" panose="020B0604020202020204" pitchFamily="34" charset="0"/>
              </a:rPr>
              <a:t>External endpoints</a:t>
            </a:r>
            <a:r>
              <a:rPr lang="en-US" sz="1800" dirty="0">
                <a:effectLst/>
                <a:latin typeface="Calibri" panose="020F0502020204030204" pitchFamily="34" charset="0"/>
                <a:ea typeface="Calibri" panose="020F0502020204030204" pitchFamily="34" charset="0"/>
                <a:cs typeface="Arial" panose="020B0604020202020204" pitchFamily="34" charset="0"/>
              </a:rPr>
              <a:t> - Use this type of endpoint to load balance traffic for IPv4/IPv6 addresses, FQDNs, or for services hosted outside Azure. These services can either be on-premises or with a different hosting provider. </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Arial" panose="020B0604020202020204" pitchFamily="34" charset="0"/>
              </a:rPr>
              <a:t>Nested endpoints</a:t>
            </a:r>
            <a:r>
              <a:rPr lang="en-US" sz="1800" dirty="0">
                <a:effectLst/>
                <a:latin typeface="Calibri" panose="020F0502020204030204" pitchFamily="34" charset="0"/>
                <a:ea typeface="Calibri" panose="020F0502020204030204" pitchFamily="34" charset="0"/>
                <a:cs typeface="Arial" panose="020B0604020202020204" pitchFamily="34" charset="0"/>
              </a:rPr>
              <a:t> - Use this type of endpoint to combine Traffic Manager profiles to create more flexible traffic-routing schemes to support the needs of larger, more complex deployments. With Nested endpoints, a </a:t>
            </a:r>
            <a:r>
              <a:rPr lang="en-US" sz="1800" i="1" dirty="0">
                <a:effectLst/>
                <a:latin typeface="Calibri" panose="020F0502020204030204" pitchFamily="34" charset="0"/>
                <a:ea typeface="Calibri" panose="020F0502020204030204" pitchFamily="34" charset="0"/>
                <a:cs typeface="Arial" panose="020B0604020202020204" pitchFamily="34" charset="0"/>
              </a:rPr>
              <a:t>child</a:t>
            </a:r>
            <a:r>
              <a:rPr lang="en-US" sz="1800" dirty="0">
                <a:effectLst/>
                <a:latin typeface="Calibri" panose="020F0502020204030204" pitchFamily="34" charset="0"/>
                <a:ea typeface="Calibri" panose="020F0502020204030204" pitchFamily="34" charset="0"/>
                <a:cs typeface="Arial" panose="020B0604020202020204" pitchFamily="34" charset="0"/>
              </a:rPr>
              <a:t> profile is added as an endpoint to a </a:t>
            </a:r>
            <a:r>
              <a:rPr lang="en-US" sz="1800" i="1" dirty="0">
                <a:effectLst/>
                <a:latin typeface="Calibri" panose="020F0502020204030204" pitchFamily="34" charset="0"/>
                <a:ea typeface="Calibri" panose="020F0502020204030204" pitchFamily="34" charset="0"/>
                <a:cs typeface="Arial" panose="020B0604020202020204" pitchFamily="34" charset="0"/>
              </a:rPr>
              <a:t>parent</a:t>
            </a:r>
            <a:r>
              <a:rPr lang="en-US" sz="1800" dirty="0">
                <a:effectLst/>
                <a:latin typeface="Calibri" panose="020F0502020204030204" pitchFamily="34" charset="0"/>
                <a:ea typeface="Calibri" panose="020F0502020204030204" pitchFamily="34" charset="0"/>
                <a:cs typeface="Arial" panose="020B0604020202020204" pitchFamily="34" charset="0"/>
              </a:rPr>
              <a:t> profile. Both the child and parent profiles can contain other endpoints of any type, including other nested profiles.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There are no restrictions on how different endpoints types can be combined in a single Traffic Manager profile; each profile can contain any mix of endpoint types.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You add endpoints to existing Traffic Manager profiles from the </a:t>
            </a:r>
            <a:r>
              <a:rPr lang="en-US" sz="1800" b="1" dirty="0">
                <a:effectLst/>
                <a:latin typeface="Calibri" panose="020F0502020204030204" pitchFamily="34" charset="0"/>
                <a:ea typeface="Calibri" panose="020F0502020204030204" pitchFamily="34" charset="0"/>
                <a:cs typeface="Arial" panose="020B0604020202020204" pitchFamily="34" charset="0"/>
              </a:rPr>
              <a:t>Endpoints</a:t>
            </a:r>
            <a:r>
              <a:rPr lang="en-US" sz="1800" dirty="0">
                <a:effectLst/>
                <a:latin typeface="Calibri" panose="020F0502020204030204" pitchFamily="34" charset="0"/>
                <a:ea typeface="Calibri" panose="020F0502020204030204" pitchFamily="34" charset="0"/>
                <a:cs typeface="Arial" panose="020B0604020202020204" pitchFamily="34" charset="0"/>
              </a:rPr>
              <a:t> page of a Traffic Manager profile in the Azure portal.</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34</a:t>
            </a:fld>
            <a:endParaRPr lang="en-US"/>
          </a:p>
        </p:txBody>
      </p:sp>
    </p:spTree>
    <p:extLst>
      <p:ext uri="{BB962C8B-B14F-4D97-AF65-F5344CB8AC3E}">
        <p14:creationId xmlns:p14="http://schemas.microsoft.com/office/powerpoint/2010/main" val="2425257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When the monitoring protocol is set as HTTP or HTTPS, the Traffic Manager probing agent makes a GET request to the endpoint using the protocol, port, and relative path given. An endpoint is considered healthy if probing agent receives a 200-OK response, or any of the responses configured in the Expected status code *ranges. If the response is a different value or no response get received within the timeout period, the Traffic Manager probing agent reattempts according to the Tolerated Number of Failures setting. No reattempts are done if this setting is 0. The endpoint is marked unhealthy if the number of consecutive failures is higher than the Tolerated Number of Failures setting.</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When the monitoring protocol is TCP, the Traffic Manager probing agent creates a TCP connection request using the port specified. If the endpoint responds to the request with a response to establish the connection, that health check is marked as a success. The Traffic Manager probing agent resets the TCP connection. In cases where the response is a different value or no response get received within the timeout period, the Traffic Manager probing agent reattempts according to the Tolerated Number of Failures setting. No reattempts are made if this setting is 0. If the number of consecutive failures is higher than the Tolerated Number of Failures setting, then that endpoint is marked unhealthy.</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Arial" panose="020B0604020202020204" pitchFamily="34" charset="0"/>
              </a:rPr>
              <a:t>In all cases, Traffic Manager probes from multiple locations. The consecutive failure determines what happen within each region. That is why endpoints are receiving health probes from Traffic Manager with a higher frequency than the setting used for Probing Interval.</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36</a:t>
            </a:fld>
            <a:endParaRPr lang="en-US"/>
          </a:p>
        </p:txBody>
      </p:sp>
    </p:spTree>
    <p:extLst>
      <p:ext uri="{BB962C8B-B14F-4D97-AF65-F5344CB8AC3E}">
        <p14:creationId xmlns:p14="http://schemas.microsoft.com/office/powerpoint/2010/main" val="34869524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hlinkClick r:id="rId3"/>
              </a:rPr>
              <a:t>Quickstart</a:t>
            </a:r>
            <a:r>
              <a:rPr lang="en-US" dirty="0">
                <a:hlinkClick r:id="rId3"/>
              </a:rPr>
              <a:t>: Create a profile for HA of applications - Azure portal - Azure Traffic Manager | Microsoft Docs</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37</a:t>
            </a:fld>
            <a:endParaRPr lang="en-US"/>
          </a:p>
        </p:txBody>
      </p:sp>
    </p:spTree>
    <p:extLst>
      <p:ext uri="{BB962C8B-B14F-4D97-AF65-F5344CB8AC3E}">
        <p14:creationId xmlns:p14="http://schemas.microsoft.com/office/powerpoint/2010/main" val="19843513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38</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AZ-700-Designing-and-Implementing-Microsoft-Azure-Networking-Solutions/6-exercise-create-traffic-manager-profile-using-azure-portal.md at master · </a:t>
            </a:r>
            <a:r>
              <a:rPr lang="en-US" dirty="0" err="1">
                <a:hlinkClick r:id="rId3"/>
              </a:rPr>
              <a:t>MicrosoftLearning</a:t>
            </a:r>
            <a:r>
              <a:rPr lang="en-US" dirty="0">
                <a:hlinkClick r:id="rId3"/>
              </a:rPr>
              <a:t>/AZ-700-Designing-and-Implementing-Microsoft-Azure-Networking-Solutions (github.com)</a:t>
            </a:r>
          </a:p>
          <a:p>
            <a:endParaRPr lang="en-US" dirty="0">
              <a:hlinkClick r:id="rId3"/>
            </a:endParaRPr>
          </a:p>
          <a:p>
            <a:r>
              <a:rPr lang="en-US" dirty="0">
                <a:hlinkClick r:id="rId3"/>
              </a:rPr>
              <a:t>https://microsoftlearning.github.io/AZ-700-Designing-and-Implementing-Microsoft-Azure-Networking-Solutions/Instructions/Exercises/M04-Unit%206%20Create%20a%20Traffic%20Manager%20profile%20using%20the%20Azure%20portal.html</a:t>
            </a:r>
          </a:p>
          <a:p>
            <a:endParaRPr lang="en-US" dirty="0">
              <a:hlinkClick r:id="rId3"/>
            </a:endParaRPr>
          </a:p>
          <a:p>
            <a:pPr algn="l">
              <a:buFont typeface="Arial" panose="020B0604020202020204" pitchFamily="34" charset="0"/>
              <a:buChar char="•"/>
            </a:pPr>
            <a:r>
              <a:rPr lang="en-US" b="0" i="0" dirty="0">
                <a:solidFill>
                  <a:srgbClr val="24292E"/>
                </a:solidFill>
                <a:effectLst/>
                <a:latin typeface="-apple-system"/>
              </a:rPr>
              <a:t>Task 1: Create the web apps</a:t>
            </a:r>
          </a:p>
          <a:p>
            <a:pPr algn="l">
              <a:buFont typeface="Arial" panose="020B0604020202020204" pitchFamily="34" charset="0"/>
              <a:buChar char="•"/>
            </a:pPr>
            <a:r>
              <a:rPr lang="en-US" b="0" i="0" dirty="0">
                <a:solidFill>
                  <a:srgbClr val="24292E"/>
                </a:solidFill>
                <a:effectLst/>
                <a:latin typeface="-apple-system"/>
              </a:rPr>
              <a:t>Task 2: Create a Traffic Manager profile</a:t>
            </a:r>
          </a:p>
          <a:p>
            <a:pPr algn="l">
              <a:buFont typeface="Arial" panose="020B0604020202020204" pitchFamily="34" charset="0"/>
              <a:buChar char="•"/>
            </a:pPr>
            <a:r>
              <a:rPr lang="en-US" b="0" i="0" dirty="0">
                <a:solidFill>
                  <a:srgbClr val="24292E"/>
                </a:solidFill>
                <a:effectLst/>
                <a:latin typeface="-apple-system"/>
              </a:rPr>
              <a:t>Task 3: Add Traffic Manager endpoints</a:t>
            </a:r>
          </a:p>
          <a:p>
            <a:pPr algn="l">
              <a:buFont typeface="Arial" panose="020B0604020202020204" pitchFamily="34" charset="0"/>
              <a:buChar char="•"/>
            </a:pPr>
            <a:r>
              <a:rPr lang="en-US" b="0" i="0" dirty="0">
                <a:solidFill>
                  <a:srgbClr val="24292E"/>
                </a:solidFill>
                <a:effectLst/>
                <a:latin typeface="-apple-system"/>
              </a:rPr>
              <a:t>Task 4: Test the Traffic Manager profile</a:t>
            </a:r>
          </a:p>
        </p:txBody>
      </p:sp>
      <p:sp>
        <p:nvSpPr>
          <p:cNvPr id="4" name="Slide Number Placeholder 3"/>
          <p:cNvSpPr>
            <a:spLocks noGrp="1"/>
          </p:cNvSpPr>
          <p:nvPr>
            <p:ph type="sldNum" sz="quarter" idx="5"/>
          </p:nvPr>
        </p:nvSpPr>
        <p:spPr/>
        <p:txBody>
          <a:bodyPr/>
          <a:lstStyle/>
          <a:p>
            <a:fld id="{89B9185C-5C72-45C2-88F0-D7DF9039278A}" type="slidenum">
              <a:rPr lang="en-US" smtClean="0"/>
              <a:t>40</a:t>
            </a:fld>
            <a:endParaRPr lang="en-US"/>
          </a:p>
        </p:txBody>
      </p:sp>
    </p:spTree>
    <p:extLst>
      <p:ext uri="{BB962C8B-B14F-4D97-AF65-F5344CB8AC3E}">
        <p14:creationId xmlns:p14="http://schemas.microsoft.com/office/powerpoint/2010/main" val="204089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B5D8-9BFF-4ABD-926F-F83ECB5DB4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BF38F1-E3AE-4CC3-9F47-A4A761B8D6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35292-69B2-4927-AB6D-D99E7A71500F}"/>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AF5CC8FD-85C2-4741-B57F-145B97864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1141B-8F77-4550-A74C-43D5F8353F7C}"/>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07082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8E33-2A30-43F7-A76E-A8DBF2C67A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A7FD6-634D-47E1-981D-01039FCEE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C7C2A-60B4-4823-B253-E5C58A73B607}"/>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ABF597AB-8B27-4717-A857-B67DFD2FE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229B7-9946-419B-8AEA-D11129DF7DC4}"/>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65063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B6EF-F61E-4F83-8633-E23C51D1FB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CAA6EB-2F27-4D5D-B79A-995BF904D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2C0817-69A8-480F-997D-7E8F65EEAC75}"/>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5B37135-9038-4B89-B479-57C0F597B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C3FD3-970F-4447-A1FF-91962F02F153}"/>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704969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EE38-9667-4B66-ABEE-F776814C5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AC956-6A9E-4449-991C-9BE64D9C5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77C12A-D388-4D33-AA83-CF5B37B09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C8215D-B5D4-44FA-A783-73EAFC5032F7}"/>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140B3C21-EEAE-4DBA-A266-25F18AB7A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CBC4F-E534-45A2-B227-641606E9A93C}"/>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328288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5DA1-01C3-4262-85F0-D1039BE78D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3BF4B0-B356-4B87-A28B-F806BF833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50F934-E292-4A2F-8021-3810A66036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34CF99-A8A1-4107-B585-4E1905012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6FF14-3204-42CE-BFB5-3A8EB71589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94B716-2B35-476D-8E1D-7E11B84E34EA}"/>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8" name="Footer Placeholder 7">
            <a:extLst>
              <a:ext uri="{FF2B5EF4-FFF2-40B4-BE49-F238E27FC236}">
                <a16:creationId xmlns:a16="http://schemas.microsoft.com/office/drawing/2014/main" id="{37F57B46-949E-4D36-8B30-BD719DD5C6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954712-17FC-443C-AD99-5CA2A7F61FA8}"/>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559713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A6BB-56F5-4AEF-AE2C-5ACB8D2CDA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A0A6DF-1B1D-484A-AB5F-4BBF7B9CAF7A}"/>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4" name="Footer Placeholder 3">
            <a:extLst>
              <a:ext uri="{FF2B5EF4-FFF2-40B4-BE49-F238E27FC236}">
                <a16:creationId xmlns:a16="http://schemas.microsoft.com/office/drawing/2014/main" id="{CA6C465D-C1F8-4E33-8B27-2E51E22CB1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8116AA-3416-447B-9C39-F99900A305BD}"/>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3220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62A52-92E2-4599-8639-AFCDE9E2C313}"/>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3" name="Footer Placeholder 2">
            <a:extLst>
              <a:ext uri="{FF2B5EF4-FFF2-40B4-BE49-F238E27FC236}">
                <a16:creationId xmlns:a16="http://schemas.microsoft.com/office/drawing/2014/main" id="{DA9BFD1A-3E96-4954-8E03-1B567F5F12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13DF88-540D-4D3A-87FA-70F8BF879741}"/>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415355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6833-E3A1-4306-8244-5101EC585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E7549B-338E-4D50-B815-4D168604A2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91CC05-4CE5-40EC-A8D7-058565071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97756B-8173-4888-8F07-9204999AEBBF}"/>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38EBEA95-65F6-4658-93C9-052A10DBF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D3D114-4A08-4BBD-BE09-145CE4212FE4}"/>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643096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DFD8-CE4A-49AF-8A1D-B3C57FF66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AC462F-475B-4ED0-8DA3-CB54FCD05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EB265F-2C0E-4345-82C6-1C24FBA0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60DDDD-CAA2-4C1D-8776-FC24EDC45882}"/>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425381F6-B9C6-4795-9CA2-624178032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9B0A05-87C6-44F8-91BA-B253D31BA26A}"/>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919250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5D57-FA98-42EE-A30C-483067E379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05299B-27F1-4A4D-BB39-E2D1EC1076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C3B699-ABDC-4E6B-ABFF-CF7DB37D78B2}"/>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0AE92FA1-053B-456E-A054-BD01A41A12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6376-86B6-4F1E-9289-897F87DF1E88}"/>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1792298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3D2CF5-FF24-4AC3-AD63-D113315C3E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5DC503-CB80-408E-888C-7FA9CCC34F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A19AE-AF6E-4B26-9AA3-74D3652AD1B6}"/>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DCC7CB5-5D74-4BE2-96E8-61A5F7D011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C3DCD-E5AC-4DAB-B17A-A6726897C2F3}"/>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533920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19845313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7A88F767-C524-4EB1-8396-3C478E23A2A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54203727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090" y="463300"/>
            <a:ext cx="11343820"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B48AA0CF-DFAD-4DF5-AF33-6EDC3354EC6F}"/>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369424246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8337274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7724295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74387351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2541738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spTree>
    <p:extLst>
      <p:ext uri="{BB962C8B-B14F-4D97-AF65-F5344CB8AC3E}">
        <p14:creationId xmlns:p14="http://schemas.microsoft.com/office/powerpoint/2010/main" val="249727036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5577343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0934028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3199131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3136719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3262387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4618347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067908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7655104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4903443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0694330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844827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8815556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4798349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4479222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037655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305632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6415579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9366751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917722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426031877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106374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8636789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0284053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6510038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1791827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3805785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8794972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9031677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7080932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ext option -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1"/>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userDrawn="1"/>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3344578" y="2739465"/>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userDrawn="1"/>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6258062"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userDrawn="1"/>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9171546"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19D8CB66-B611-4CE7-A43F-AA9D9AFBFDA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073199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4417049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18315700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6600776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9178861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4537850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7578091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1328513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82262433"/>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0801253"/>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4422326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23022953"/>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35038387"/>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7629403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79833948"/>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77560189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92536460"/>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802371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6658435"/>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3073031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9017802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45447898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59968122"/>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84769933"/>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83243907"/>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9649458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790713343"/>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96368573"/>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18912724"/>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83105214"/>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9940521"/>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36530182"/>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78087781"/>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96235162"/>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6711528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31439554"/>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21312585"/>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20232062"/>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303754619"/>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userDrawn="1"/>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102997916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1546340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66" Type="http://schemas.openxmlformats.org/officeDocument/2006/relationships/slideLayout" Target="../slideLayouts/slideLayout80.xml"/><Relationship Id="rId74" Type="http://schemas.openxmlformats.org/officeDocument/2006/relationships/slideLayout" Target="../slideLayouts/slideLayout88.xml"/><Relationship Id="rId5" Type="http://schemas.openxmlformats.org/officeDocument/2006/relationships/slideLayout" Target="../slideLayouts/slideLayout19.xml"/><Relationship Id="rId61" Type="http://schemas.openxmlformats.org/officeDocument/2006/relationships/slideLayout" Target="../slideLayouts/slideLayout75.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slideLayout" Target="../slideLayouts/slideLayout8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theme" Target="../theme/theme2.xml"/><Relationship Id="rId7" Type="http://schemas.openxmlformats.org/officeDocument/2006/relationships/slideLayout" Target="../slideLayouts/slideLayout21.xml"/><Relationship Id="rId7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FF898-DEE1-477D-8ACE-3F1D91FA3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43AD7-D9EA-42F1-9388-61BAB9C2A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73340-414E-47F2-B1A6-BB01CEBC2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F50716D-66A0-4E9B-AFE8-DFED252AA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751632-0E63-450E-9BA6-A4FF0361E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77433-B1D6-4140-98AE-D060540B36D1}" type="slidenum">
              <a:rPr lang="en-US" smtClean="0"/>
              <a:t>‹#›</a:t>
            </a:fld>
            <a:endParaRPr lang="en-US"/>
          </a:p>
        </p:txBody>
      </p:sp>
    </p:spTree>
    <p:extLst>
      <p:ext uri="{BB962C8B-B14F-4D97-AF65-F5344CB8AC3E}">
        <p14:creationId xmlns:p14="http://schemas.microsoft.com/office/powerpoint/2010/main" val="2828749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349516996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02" r:id="rId37"/>
    <p:sldLayoutId id="2147483703" r:id="rId38"/>
    <p:sldLayoutId id="2147483704" r:id="rId39"/>
    <p:sldLayoutId id="2147483705" r:id="rId40"/>
    <p:sldLayoutId id="2147483706" r:id="rId41"/>
    <p:sldLayoutId id="2147483707" r:id="rId42"/>
    <p:sldLayoutId id="2147483708" r:id="rId43"/>
    <p:sldLayoutId id="2147483709" r:id="rId44"/>
    <p:sldLayoutId id="2147483710" r:id="rId45"/>
    <p:sldLayoutId id="2147483711" r:id="rId46"/>
    <p:sldLayoutId id="2147483712" r:id="rId47"/>
    <p:sldLayoutId id="2147483713" r:id="rId48"/>
    <p:sldLayoutId id="2147483714" r:id="rId49"/>
    <p:sldLayoutId id="2147483715" r:id="rId50"/>
    <p:sldLayoutId id="2147483716" r:id="rId51"/>
    <p:sldLayoutId id="2147483717" r:id="rId52"/>
    <p:sldLayoutId id="2147483718" r:id="rId53"/>
    <p:sldLayoutId id="2147483719" r:id="rId54"/>
    <p:sldLayoutId id="2147483720" r:id="rId55"/>
    <p:sldLayoutId id="2147483721" r:id="rId56"/>
    <p:sldLayoutId id="2147483722" r:id="rId57"/>
    <p:sldLayoutId id="2147483723" r:id="rId58"/>
    <p:sldLayoutId id="2147483724" r:id="rId59"/>
    <p:sldLayoutId id="2147483725" r:id="rId60"/>
    <p:sldLayoutId id="2147483726" r:id="rId61"/>
    <p:sldLayoutId id="2147483727" r:id="rId62"/>
    <p:sldLayoutId id="2147483728" r:id="rId63"/>
    <p:sldLayoutId id="2147483729" r:id="rId64"/>
    <p:sldLayoutId id="2147483730" r:id="rId65"/>
    <p:sldLayoutId id="2147483731" r:id="rId66"/>
    <p:sldLayoutId id="2147483732" r:id="rId67"/>
    <p:sldLayoutId id="2147483733" r:id="rId68"/>
    <p:sldLayoutId id="2147483734" r:id="rId69"/>
    <p:sldLayoutId id="2147483735" r:id="rId70"/>
    <p:sldLayoutId id="2147483736" r:id="rId71"/>
    <p:sldLayoutId id="2147483737" r:id="rId72"/>
    <p:sldLayoutId id="2147483738" r:id="rId73"/>
    <p:sldLayoutId id="2147483739" r:id="rId74"/>
    <p:sldLayoutId id="2147483740" r:id="rId7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notesSlide" Target="../notesSlides/notesSlide2.xml"/><Relationship Id="rId1" Type="http://schemas.openxmlformats.org/officeDocument/2006/relationships/slideLayout" Target="../slideLayouts/slideLayout59.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4.emf"/><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slides/_rels/slide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8.emf"/><Relationship Id="rId7" Type="http://schemas.openxmlformats.org/officeDocument/2006/relationships/image" Target="../media/image24.emf"/><Relationship Id="rId2" Type="http://schemas.openxmlformats.org/officeDocument/2006/relationships/notesSlide" Target="../notesSlides/notesSlide10.xml"/><Relationship Id="rId1" Type="http://schemas.openxmlformats.org/officeDocument/2006/relationships/slideLayout" Target="../slideLayouts/slideLayout34.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s>
</file>

<file path=ppt/slides/_rels/slide2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hyperlink" Target="https://docs.microsoft.com/en-us/azure/load-balancer/load-balancer-overview"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hyperlink" Target="https://docs.microsoft.com/en-us/azure/load-balancer/quickstart-load-balancer-standard-public-portal?tabs=option-1-create-load-balancer-standard"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3.xml"/><Relationship Id="rId1" Type="http://schemas.openxmlformats.org/officeDocument/2006/relationships/slideLayout" Target="../slideLayouts/slideLayout34.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2.xml"/><Relationship Id="rId1" Type="http://schemas.openxmlformats.org/officeDocument/2006/relationships/slideLayout" Target="../slideLayouts/slideLayout14.xml"/><Relationship Id="rId5" Type="http://schemas.openxmlformats.org/officeDocument/2006/relationships/image" Target="../media/image37.wmf"/><Relationship Id="rId4" Type="http://schemas.openxmlformats.org/officeDocument/2006/relationships/image" Target="../media/image36.wmf"/></Relationships>
</file>

<file path=ppt/slides/_rels/slide3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33.xml"/><Relationship Id="rId1" Type="http://schemas.openxmlformats.org/officeDocument/2006/relationships/slideLayout" Target="../slideLayouts/slideLayout14.xml"/><Relationship Id="rId5" Type="http://schemas.openxmlformats.org/officeDocument/2006/relationships/hyperlink" Target="https://docs.microsoft.com/en-us/azure/traffic-manager/tutorial-traffic-manager-improve-website-response" TargetMode="External"/><Relationship Id="rId4" Type="http://schemas.openxmlformats.org/officeDocument/2006/relationships/hyperlink" Target="https://docs.microsoft.com/en-us/azure/traffic-manager/traffic-manager-overview"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hyperlink" Target="https://github.com/MicrosoftLearning/AZ-700-Designing-and-Implementing-Microsoft-Azure-Networking-Solutions/blob/master/Exercises/Module%2004/Module%2004%20Load%20balancing%20non-HTTP(S)%20traffic%20in%20Azure/6-exercise-create-traffic-manager-profile-using-azure-portal.m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a:bodyPr>
          <a:lstStyle/>
          <a:p>
            <a:r>
              <a:rPr lang="en-US" sz="4509" dirty="0">
                <a:latin typeface="Segoe UI Semibold" panose="020B0702040204020203" pitchFamily="34" charset="0"/>
                <a:cs typeface="Segoe UI Semibold" panose="020B0702040204020203" pitchFamily="34" charset="0"/>
              </a:rPr>
              <a:t>AZ-700T00A</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04: Load balancing non-HTTP(S) traffic </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en-US" dirty="0"/>
              <a:t>Lesson 01: Explore load balancing options in the Azure portal</a:t>
            </a:r>
          </a:p>
        </p:txBody>
      </p:sp>
      <p:sp>
        <p:nvSpPr>
          <p:cNvPr id="2" name="Text Placeholder 1"/>
          <p:cNvSpPr>
            <a:spLocks noGrp="1"/>
          </p:cNvSpPr>
          <p:nvPr>
            <p:ph type="body" sz="quarter" idx="15"/>
          </p:nvPr>
        </p:nvSpPr>
        <p:spPr/>
        <p:txBody>
          <a:bodyPr/>
          <a:lstStyle/>
          <a:p>
            <a:pPr lvl="1"/>
            <a:r>
              <a:rPr lang="en-US" dirty="0"/>
              <a:t>Lesson 02: Design and implement Azure Load Balancer using the Azure portal</a:t>
            </a:r>
          </a:p>
        </p:txBody>
      </p:sp>
      <p:sp>
        <p:nvSpPr>
          <p:cNvPr id="3" name="Text Placeholder 2"/>
          <p:cNvSpPr>
            <a:spLocks noGrp="1"/>
          </p:cNvSpPr>
          <p:nvPr>
            <p:ph type="body" sz="quarter" idx="17"/>
          </p:nvPr>
        </p:nvSpPr>
        <p:spPr/>
        <p:txBody>
          <a:bodyPr/>
          <a:lstStyle/>
          <a:p>
            <a:pPr lvl="1"/>
            <a:r>
              <a:rPr lang="en-US" dirty="0"/>
              <a:t>Lesson 03: Exercise - Create and configure an internal load balancer using the Azure portal</a:t>
            </a:r>
          </a:p>
        </p:txBody>
      </p:sp>
      <p:sp>
        <p:nvSpPr>
          <p:cNvPr id="4" name="Text Placeholder 3"/>
          <p:cNvSpPr>
            <a:spLocks noGrp="1"/>
          </p:cNvSpPr>
          <p:nvPr>
            <p:ph type="body" sz="quarter" idx="19"/>
          </p:nvPr>
        </p:nvSpPr>
        <p:spPr/>
        <p:txBody>
          <a:bodyPr/>
          <a:lstStyle/>
          <a:p>
            <a:pPr lvl="1"/>
            <a:r>
              <a:rPr lang="en-US" dirty="0"/>
              <a:t>Lesson 04: Explore Azure Traffic Manager </a:t>
            </a:r>
          </a:p>
        </p:txBody>
      </p:sp>
      <p:sp>
        <p:nvSpPr>
          <p:cNvPr id="5" name="Text Placeholder 4"/>
          <p:cNvSpPr>
            <a:spLocks noGrp="1"/>
          </p:cNvSpPr>
          <p:nvPr>
            <p:ph type="body" sz="quarter" idx="21"/>
          </p:nvPr>
        </p:nvSpPr>
        <p:spPr/>
        <p:txBody>
          <a:bodyPr/>
          <a:lstStyle/>
          <a:p>
            <a:pPr lvl="1"/>
            <a:r>
              <a:rPr lang="en-US" dirty="0"/>
              <a:t>Lesson 05: Exercise: create a traffic manager profile using the Azure portal </a:t>
            </a:r>
          </a:p>
        </p:txBody>
      </p:sp>
      <p:grpSp>
        <p:nvGrpSpPr>
          <p:cNvPr id="9" name="Group 8">
            <a:extLst>
              <a:ext uri="{FF2B5EF4-FFF2-40B4-BE49-F238E27FC236}">
                <a16:creationId xmlns:a16="http://schemas.microsoft.com/office/drawing/2014/main" id="{124C5D1D-87D8-485D-B94A-F1F5D11B07B1}"/>
              </a:ext>
              <a:ext uri="{C183D7F6-B498-43B3-948B-1728B52AA6E4}">
                <adec:decorative xmlns:adec="http://schemas.microsoft.com/office/drawing/2017/decorative" val="1"/>
              </a:ext>
            </a:extLst>
          </p:cNvPr>
          <p:cNvGrpSpPr/>
          <p:nvPr/>
        </p:nvGrpSpPr>
        <p:grpSpPr>
          <a:xfrm>
            <a:off x="418643" y="1422406"/>
            <a:ext cx="717140" cy="4137510"/>
            <a:chOff x="418643" y="1422406"/>
            <a:chExt cx="717140" cy="4137510"/>
          </a:xfrm>
        </p:grpSpPr>
        <p:grpSp>
          <p:nvGrpSpPr>
            <p:cNvPr id="120" name="Group 119">
              <a:extLst>
                <a:ext uri="{FF2B5EF4-FFF2-40B4-BE49-F238E27FC236}">
                  <a16:creationId xmlns:a16="http://schemas.microsoft.com/office/drawing/2014/main" id="{4A674176-DC59-4820-A292-875AD0AFB884}"/>
                </a:ext>
              </a:extLst>
            </p:cNvPr>
            <p:cNvGrpSpPr/>
            <p:nvPr/>
          </p:nvGrpSpPr>
          <p:grpSpPr>
            <a:xfrm>
              <a:off x="418643" y="1422406"/>
              <a:ext cx="717140" cy="717242"/>
              <a:chOff x="418643" y="1487929"/>
              <a:chExt cx="717140" cy="717242"/>
            </a:xfrm>
          </p:grpSpPr>
          <p:grpSp>
            <p:nvGrpSpPr>
              <p:cNvPr id="121" name="Group 120">
                <a:extLst>
                  <a:ext uri="{FF2B5EF4-FFF2-40B4-BE49-F238E27FC236}">
                    <a16:creationId xmlns:a16="http://schemas.microsoft.com/office/drawing/2014/main" id="{9E1A0A5B-0F5C-4E43-AB56-2EDB2FCB1CE2}"/>
                  </a:ext>
                </a:extLst>
              </p:cNvPr>
              <p:cNvGrpSpPr/>
              <p:nvPr/>
            </p:nvGrpSpPr>
            <p:grpSpPr>
              <a:xfrm>
                <a:off x="418643" y="1487929"/>
                <a:ext cx="717140" cy="717242"/>
                <a:chOff x="418643" y="1487929"/>
                <a:chExt cx="717140" cy="717242"/>
              </a:xfrm>
            </p:grpSpPr>
            <p:sp>
              <p:nvSpPr>
                <p:cNvPr id="123" name="Freeform 5">
                  <a:extLst>
                    <a:ext uri="{FF2B5EF4-FFF2-40B4-BE49-F238E27FC236}">
                      <a16:creationId xmlns:a16="http://schemas.microsoft.com/office/drawing/2014/main" id="{A0583DD7-16E9-4F79-94DE-77F7D9EF127E}"/>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4" name="Freeform 6">
                  <a:extLst>
                    <a:ext uri="{FF2B5EF4-FFF2-40B4-BE49-F238E27FC236}">
                      <a16:creationId xmlns:a16="http://schemas.microsoft.com/office/drawing/2014/main" id="{4771F1EC-9305-4657-BF5C-1CDA86862346}"/>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2" name="Picture 121" descr="Icon of three concentric arcs">
                <a:extLst>
                  <a:ext uri="{FF2B5EF4-FFF2-40B4-BE49-F238E27FC236}">
                    <a16:creationId xmlns:a16="http://schemas.microsoft.com/office/drawing/2014/main" id="{B7004DEE-4F61-4F20-80A9-641C39F92F14}"/>
                  </a:ext>
                </a:extLst>
              </p:cNvPr>
              <p:cNvPicPr>
                <a:picLocks noChangeAspect="1"/>
              </p:cNvPicPr>
              <p:nvPr/>
            </p:nvPicPr>
            <p:blipFill>
              <a:blip r:embed="rId3"/>
              <a:stretch>
                <a:fillRect/>
              </a:stretch>
            </p:blipFill>
            <p:spPr>
              <a:xfrm>
                <a:off x="546738" y="1616076"/>
                <a:ext cx="460952" cy="460950"/>
              </a:xfrm>
              <a:prstGeom prst="rect">
                <a:avLst/>
              </a:prstGeom>
            </p:spPr>
          </p:pic>
        </p:grpSp>
        <p:grpSp>
          <p:nvGrpSpPr>
            <p:cNvPr id="115" name="Group 114">
              <a:extLst>
                <a:ext uri="{FF2B5EF4-FFF2-40B4-BE49-F238E27FC236}">
                  <a16:creationId xmlns:a16="http://schemas.microsoft.com/office/drawing/2014/main" id="{869B9CF7-CB98-47D7-8A83-476533347DE2}"/>
                </a:ext>
              </a:extLst>
            </p:cNvPr>
            <p:cNvGrpSpPr/>
            <p:nvPr/>
          </p:nvGrpSpPr>
          <p:grpSpPr>
            <a:xfrm>
              <a:off x="418643" y="2277473"/>
              <a:ext cx="717140" cy="717242"/>
              <a:chOff x="418643" y="2533089"/>
              <a:chExt cx="717140" cy="717242"/>
            </a:xfrm>
          </p:grpSpPr>
          <p:grpSp>
            <p:nvGrpSpPr>
              <p:cNvPr id="116" name="Group 115">
                <a:extLst>
                  <a:ext uri="{FF2B5EF4-FFF2-40B4-BE49-F238E27FC236}">
                    <a16:creationId xmlns:a16="http://schemas.microsoft.com/office/drawing/2014/main" id="{FA7B8AD0-55EC-45AF-BDD7-780499AA4279}"/>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118" name="Freeform 5">
                  <a:extLst>
                    <a:ext uri="{FF2B5EF4-FFF2-40B4-BE49-F238E27FC236}">
                      <a16:creationId xmlns:a16="http://schemas.microsoft.com/office/drawing/2014/main" id="{036D0CD6-B197-4B76-89FF-4408B8903C17}"/>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9" name="Freeform 6">
                  <a:extLst>
                    <a:ext uri="{FF2B5EF4-FFF2-40B4-BE49-F238E27FC236}">
                      <a16:creationId xmlns:a16="http://schemas.microsoft.com/office/drawing/2014/main" id="{363E3F21-BD34-4B65-8F38-B6C413E92810}"/>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7" name="Picture 116" descr="Icon of a arrow in a circular path with a timer inside the circle">
                <a:extLst>
                  <a:ext uri="{FF2B5EF4-FFF2-40B4-BE49-F238E27FC236}">
                    <a16:creationId xmlns:a16="http://schemas.microsoft.com/office/drawing/2014/main" id="{96616C5A-2919-4DD4-A93C-4ED095E5DD6B}"/>
                  </a:ext>
                </a:extLst>
              </p:cNvPr>
              <p:cNvPicPr>
                <a:picLocks noChangeAspect="1"/>
              </p:cNvPicPr>
              <p:nvPr/>
            </p:nvPicPr>
            <p:blipFill>
              <a:blip r:embed="rId4"/>
              <a:stretch>
                <a:fillRect/>
              </a:stretch>
            </p:blipFill>
            <p:spPr>
              <a:xfrm>
                <a:off x="566791" y="2681289"/>
                <a:ext cx="420846" cy="420844"/>
              </a:xfrm>
              <a:prstGeom prst="rect">
                <a:avLst/>
              </a:prstGeom>
            </p:spPr>
          </p:pic>
        </p:grpSp>
        <p:grpSp>
          <p:nvGrpSpPr>
            <p:cNvPr id="125" name="Group 124">
              <a:extLst>
                <a:ext uri="{FF2B5EF4-FFF2-40B4-BE49-F238E27FC236}">
                  <a16:creationId xmlns:a16="http://schemas.microsoft.com/office/drawing/2014/main" id="{49616D34-901A-485E-96F4-D6F6874D36DE}"/>
                </a:ext>
              </a:extLst>
            </p:cNvPr>
            <p:cNvGrpSpPr/>
            <p:nvPr/>
          </p:nvGrpSpPr>
          <p:grpSpPr>
            <a:xfrm>
              <a:off x="418643" y="3132540"/>
              <a:ext cx="717140" cy="717242"/>
              <a:chOff x="418643" y="3578249"/>
              <a:chExt cx="717140" cy="717242"/>
            </a:xfrm>
          </p:grpSpPr>
          <p:grpSp>
            <p:nvGrpSpPr>
              <p:cNvPr id="126" name="Group 125">
                <a:extLst>
                  <a:ext uri="{FF2B5EF4-FFF2-40B4-BE49-F238E27FC236}">
                    <a16:creationId xmlns:a16="http://schemas.microsoft.com/office/drawing/2014/main" id="{262319FD-E064-46F9-BD47-46BC4C84FC47}"/>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128" name="Freeform 5">
                  <a:extLst>
                    <a:ext uri="{FF2B5EF4-FFF2-40B4-BE49-F238E27FC236}">
                      <a16:creationId xmlns:a16="http://schemas.microsoft.com/office/drawing/2014/main" id="{6F419DCC-5F4F-4554-835B-15965F712F52}"/>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8AC96372-902C-4AE5-9FD7-B0C99860A551}"/>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7" name="Picture 126" descr="Icon of three dots and outward pointing chevrons on left and right">
                <a:extLst>
                  <a:ext uri="{FF2B5EF4-FFF2-40B4-BE49-F238E27FC236}">
                    <a16:creationId xmlns:a16="http://schemas.microsoft.com/office/drawing/2014/main" id="{134128E0-043C-4E8B-98EE-7A3830577470}"/>
                  </a:ext>
                </a:extLst>
              </p:cNvPr>
              <p:cNvPicPr>
                <a:picLocks noChangeAspect="1"/>
              </p:cNvPicPr>
              <p:nvPr/>
            </p:nvPicPr>
            <p:blipFill>
              <a:blip r:embed="rId5"/>
              <a:stretch>
                <a:fillRect/>
              </a:stretch>
            </p:blipFill>
            <p:spPr>
              <a:xfrm>
                <a:off x="532902" y="3829050"/>
                <a:ext cx="488622" cy="215640"/>
              </a:xfrm>
              <a:prstGeom prst="rect">
                <a:avLst/>
              </a:prstGeom>
            </p:spPr>
          </p:pic>
        </p:grpSp>
        <p:grpSp>
          <p:nvGrpSpPr>
            <p:cNvPr id="110" name="Group 109">
              <a:extLst>
                <a:ext uri="{FF2B5EF4-FFF2-40B4-BE49-F238E27FC236}">
                  <a16:creationId xmlns:a16="http://schemas.microsoft.com/office/drawing/2014/main" id="{4EED7A9E-AE7C-49CC-ACE0-4770D04B77EA}"/>
                </a:ext>
              </a:extLst>
            </p:cNvPr>
            <p:cNvGrpSpPr/>
            <p:nvPr/>
          </p:nvGrpSpPr>
          <p:grpSpPr>
            <a:xfrm>
              <a:off x="418643" y="3987607"/>
              <a:ext cx="717140" cy="717242"/>
              <a:chOff x="418643" y="4623409"/>
              <a:chExt cx="717140" cy="717242"/>
            </a:xfrm>
          </p:grpSpPr>
          <p:grpSp>
            <p:nvGrpSpPr>
              <p:cNvPr id="111" name="Group 110">
                <a:extLst>
                  <a:ext uri="{FF2B5EF4-FFF2-40B4-BE49-F238E27FC236}">
                    <a16:creationId xmlns:a16="http://schemas.microsoft.com/office/drawing/2014/main" id="{D8693CE6-86F9-4925-9BE1-EEA0FF7BD159}"/>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113" name="Freeform 5">
                  <a:extLst>
                    <a:ext uri="{FF2B5EF4-FFF2-40B4-BE49-F238E27FC236}">
                      <a16:creationId xmlns:a16="http://schemas.microsoft.com/office/drawing/2014/main" id="{F62D88D0-261F-4831-9225-1BF1B4333567}"/>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4" name="Freeform 6">
                  <a:extLst>
                    <a:ext uri="{FF2B5EF4-FFF2-40B4-BE49-F238E27FC236}">
                      <a16:creationId xmlns:a16="http://schemas.microsoft.com/office/drawing/2014/main" id="{40EAE490-D0A4-45CD-BAB9-E10AF049C700}"/>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2" name="Picture 111" descr="Icon of a bulb">
                <a:extLst>
                  <a:ext uri="{FF2B5EF4-FFF2-40B4-BE49-F238E27FC236}">
                    <a16:creationId xmlns:a16="http://schemas.microsoft.com/office/drawing/2014/main" id="{F3EEECB5-482E-403B-A00F-CD1BB74147D6}"/>
                  </a:ext>
                </a:extLst>
              </p:cNvPr>
              <p:cNvPicPr>
                <a:picLocks noChangeAspect="1"/>
              </p:cNvPicPr>
              <p:nvPr/>
            </p:nvPicPr>
            <p:blipFill>
              <a:blip r:embed="rId6"/>
              <a:stretch>
                <a:fillRect/>
              </a:stretch>
            </p:blipFill>
            <p:spPr>
              <a:xfrm>
                <a:off x="619369" y="4762500"/>
                <a:ext cx="315688" cy="439060"/>
              </a:xfrm>
              <a:prstGeom prst="rect">
                <a:avLst/>
              </a:prstGeom>
            </p:spPr>
          </p:pic>
        </p:grpSp>
        <p:grpSp>
          <p:nvGrpSpPr>
            <p:cNvPr id="8" name="Group 7">
              <a:extLst>
                <a:ext uri="{FF2B5EF4-FFF2-40B4-BE49-F238E27FC236}">
                  <a16:creationId xmlns:a16="http://schemas.microsoft.com/office/drawing/2014/main" id="{14704876-6488-4616-925B-161C44DBA580}"/>
                </a:ext>
              </a:extLst>
            </p:cNvPr>
            <p:cNvGrpSpPr/>
            <p:nvPr/>
          </p:nvGrpSpPr>
          <p:grpSpPr>
            <a:xfrm>
              <a:off x="418643" y="4842674"/>
              <a:ext cx="717140" cy="717242"/>
              <a:chOff x="418643" y="4842674"/>
              <a:chExt cx="717140" cy="717242"/>
            </a:xfrm>
          </p:grpSpPr>
          <p:grpSp>
            <p:nvGrpSpPr>
              <p:cNvPr id="146" name="Group 145">
                <a:extLst>
                  <a:ext uri="{FF2B5EF4-FFF2-40B4-BE49-F238E27FC236}">
                    <a16:creationId xmlns:a16="http://schemas.microsoft.com/office/drawing/2014/main" id="{1FD66236-A217-4269-8636-22F73E742ED6}"/>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148" name="Freeform 5">
                  <a:extLst>
                    <a:ext uri="{FF2B5EF4-FFF2-40B4-BE49-F238E27FC236}">
                      <a16:creationId xmlns:a16="http://schemas.microsoft.com/office/drawing/2014/main" id="{89DF616E-B57C-4851-842A-11F1FA08DBE2}"/>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49" name="Freeform 6">
                  <a:extLst>
                    <a:ext uri="{FF2B5EF4-FFF2-40B4-BE49-F238E27FC236}">
                      <a16:creationId xmlns:a16="http://schemas.microsoft.com/office/drawing/2014/main" id="{BB570B94-5E60-45CD-8316-1FCAA58C8642}"/>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coding brackets">
                <a:extLst>
                  <a:ext uri="{FF2B5EF4-FFF2-40B4-BE49-F238E27FC236}">
                    <a16:creationId xmlns:a16="http://schemas.microsoft.com/office/drawing/2014/main" id="{2BAE4BEA-542A-41B5-A5D1-490B9CA29507}"/>
                  </a:ext>
                </a:extLst>
              </p:cNvPr>
              <p:cNvPicPr>
                <a:picLocks noChangeAspect="1"/>
              </p:cNvPicPr>
              <p:nvPr/>
            </p:nvPicPr>
            <p:blipFill>
              <a:blip r:embed="rId7"/>
              <a:stretch>
                <a:fillRect/>
              </a:stretch>
            </p:blipFill>
            <p:spPr>
              <a:xfrm>
                <a:off x="568446" y="4992528"/>
                <a:ext cx="417534" cy="417534"/>
              </a:xfrm>
              <a:prstGeom prst="rect">
                <a:avLst/>
              </a:prstGeom>
            </p:spPr>
          </p:pic>
        </p:grpSp>
      </p:grpSp>
    </p:spTree>
    <p:extLst>
      <p:ext uri="{BB962C8B-B14F-4D97-AF65-F5344CB8AC3E}">
        <p14:creationId xmlns:p14="http://schemas.microsoft.com/office/powerpoint/2010/main" val="1950383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a:t>Lesson 01: </a:t>
            </a:r>
            <a:r>
              <a:rPr lang="en-US" sz="3600"/>
              <a:t>Explore load balancing options in the Azure portal</a:t>
            </a:r>
            <a:endParaRPr lang="en-US"/>
          </a:p>
        </p:txBody>
      </p:sp>
      <p:grpSp>
        <p:nvGrpSpPr>
          <p:cNvPr id="5" name="Group 4">
            <a:extLst>
              <a:ext uri="{FF2B5EF4-FFF2-40B4-BE49-F238E27FC236}">
                <a16:creationId xmlns:a16="http://schemas.microsoft.com/office/drawing/2014/main" id="{85E648DB-7F96-4ABF-A0A5-BC1AAC51DFB0}"/>
              </a:ext>
              <a:ext uri="{C183D7F6-B498-43B3-948B-1728B52AA6E4}">
                <adec:decorative xmlns:adec="http://schemas.microsoft.com/office/drawing/2017/decorative" val="1"/>
              </a:ext>
            </a:extLst>
          </p:cNvPr>
          <p:cNvGrpSpPr/>
          <p:nvPr/>
        </p:nvGrpSpPr>
        <p:grpSpPr>
          <a:xfrm>
            <a:off x="10289153" y="3070379"/>
            <a:ext cx="717140" cy="717242"/>
            <a:chOff x="418643" y="1487929"/>
            <a:chExt cx="717140" cy="717242"/>
          </a:xfrm>
        </p:grpSpPr>
        <p:grpSp>
          <p:nvGrpSpPr>
            <p:cNvPr id="6" name="Group 5">
              <a:extLst>
                <a:ext uri="{FF2B5EF4-FFF2-40B4-BE49-F238E27FC236}">
                  <a16:creationId xmlns:a16="http://schemas.microsoft.com/office/drawing/2014/main" id="{913A3F0D-4344-4DB4-BF5B-E32D06BD69C5}"/>
                </a:ext>
              </a:extLst>
            </p:cNvPr>
            <p:cNvGrpSpPr/>
            <p:nvPr/>
          </p:nvGrpSpPr>
          <p:grpSpPr>
            <a:xfrm>
              <a:off x="418643" y="1487929"/>
              <a:ext cx="717140" cy="717242"/>
              <a:chOff x="418643" y="1487929"/>
              <a:chExt cx="717140" cy="717242"/>
            </a:xfrm>
          </p:grpSpPr>
          <p:sp>
            <p:nvSpPr>
              <p:cNvPr id="8" name="Freeform 5">
                <a:extLst>
                  <a:ext uri="{FF2B5EF4-FFF2-40B4-BE49-F238E27FC236}">
                    <a16:creationId xmlns:a16="http://schemas.microsoft.com/office/drawing/2014/main" id="{B563EB56-EDBB-4929-AE9F-8B2518F184D2}"/>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29C73BD8-9B88-496B-9CA7-9EF52B1991C0}"/>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B1CA5260-B7C5-489D-8162-11E5C6700A92}"/>
                </a:ext>
              </a:extLst>
            </p:cNvPr>
            <p:cNvPicPr>
              <a:picLocks noChangeAspect="1"/>
            </p:cNvPicPr>
            <p:nvPr/>
          </p:nvPicPr>
          <p:blipFill>
            <a:blip r:embed="rId3"/>
            <a:stretch>
              <a:fillRect/>
            </a:stretch>
          </p:blipFill>
          <p:spPr>
            <a:xfrm>
              <a:off x="546738" y="1616076"/>
              <a:ext cx="460952" cy="46095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43083" y="3088902"/>
            <a:ext cx="2444097" cy="680196"/>
          </a:xfrm>
        </p:spPr>
        <p:txBody>
          <a:bodyPr/>
          <a:lstStyle/>
          <a:p>
            <a:r>
              <a:rPr lang="en-US" dirty="0"/>
              <a:t>Explore load balancing options in the Azure portal overview</a:t>
            </a:r>
          </a:p>
        </p:txBody>
      </p:sp>
      <p:sp>
        <p:nvSpPr>
          <p:cNvPr id="6" name="Text Placeholder 5"/>
          <p:cNvSpPr>
            <a:spLocks noGrp="1"/>
          </p:cNvSpPr>
          <p:nvPr>
            <p:ph type="body" sz="quarter" idx="11"/>
          </p:nvPr>
        </p:nvSpPr>
        <p:spPr>
          <a:xfrm>
            <a:off x="4078288" y="1358784"/>
            <a:ext cx="7695070" cy="741783"/>
          </a:xfrm>
        </p:spPr>
        <p:txBody>
          <a:bodyPr/>
          <a:lstStyle/>
          <a:p>
            <a:pPr lvl="1"/>
            <a:r>
              <a:rPr lang="en-US" dirty="0"/>
              <a:t>What is a Load balancer </a:t>
            </a:r>
          </a:p>
        </p:txBody>
      </p:sp>
      <p:sp>
        <p:nvSpPr>
          <p:cNvPr id="2" name="Text Placeholder 1"/>
          <p:cNvSpPr>
            <a:spLocks noGrp="1"/>
          </p:cNvSpPr>
          <p:nvPr>
            <p:ph type="body" sz="quarter" idx="15"/>
          </p:nvPr>
        </p:nvSpPr>
        <p:spPr>
          <a:xfrm>
            <a:off x="4078288" y="2223843"/>
            <a:ext cx="7695070" cy="741783"/>
          </a:xfrm>
        </p:spPr>
        <p:txBody>
          <a:bodyPr/>
          <a:lstStyle/>
          <a:p>
            <a:pPr lvl="1"/>
            <a:r>
              <a:rPr lang="en-US" dirty="0"/>
              <a:t>Load balancing options for Azure </a:t>
            </a:r>
          </a:p>
        </p:txBody>
      </p:sp>
      <p:sp>
        <p:nvSpPr>
          <p:cNvPr id="3" name="Text Placeholder 2"/>
          <p:cNvSpPr>
            <a:spLocks noGrp="1"/>
          </p:cNvSpPr>
          <p:nvPr>
            <p:ph type="body" sz="quarter" idx="17"/>
          </p:nvPr>
        </p:nvSpPr>
        <p:spPr>
          <a:xfrm>
            <a:off x="4078288" y="3088902"/>
            <a:ext cx="7695070" cy="741783"/>
          </a:xfrm>
        </p:spPr>
        <p:txBody>
          <a:bodyPr/>
          <a:lstStyle/>
          <a:p>
            <a:pPr lvl="1"/>
            <a:r>
              <a:rPr lang="en-US" dirty="0"/>
              <a:t>Choosing a load balancing option</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953961"/>
            <a:ext cx="7695070" cy="741783"/>
          </a:xfrm>
        </p:spPr>
        <p:txBody>
          <a:bodyPr/>
          <a:lstStyle/>
          <a:p>
            <a:pPr lvl="1"/>
            <a:r>
              <a:rPr lang="en-US" dirty="0"/>
              <a:t>Demonstration </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819020"/>
            <a:ext cx="7695070" cy="741783"/>
          </a:xfrm>
        </p:spPr>
        <p:txBody>
          <a:bodyPr/>
          <a:lstStyle/>
          <a:p>
            <a:pPr lvl="1"/>
            <a:r>
              <a:rPr lang="en-US" dirty="0"/>
              <a:t>Review </a:t>
            </a:r>
          </a:p>
        </p:txBody>
      </p:sp>
      <p:grpSp>
        <p:nvGrpSpPr>
          <p:cNvPr id="7" name="Group 6">
            <a:extLst>
              <a:ext uri="{FF2B5EF4-FFF2-40B4-BE49-F238E27FC236}">
                <a16:creationId xmlns:a16="http://schemas.microsoft.com/office/drawing/2014/main" id="{E3E55E88-01C0-4CAD-B2A8-6DEC5175E63B}"/>
              </a:ext>
              <a:ext uri="{C183D7F6-B498-43B3-948B-1728B52AA6E4}">
                <adec:decorative xmlns:adec="http://schemas.microsoft.com/office/drawing/2017/decorative" val="1"/>
              </a:ext>
            </a:extLst>
          </p:cNvPr>
          <p:cNvGrpSpPr/>
          <p:nvPr/>
        </p:nvGrpSpPr>
        <p:grpSpPr>
          <a:xfrm>
            <a:off x="3031668" y="1364356"/>
            <a:ext cx="702132" cy="4174487"/>
            <a:chOff x="3031668" y="1364356"/>
            <a:chExt cx="702132" cy="4174487"/>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136435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224307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310758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972098"/>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836611"/>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spTree>
    <p:extLst>
      <p:ext uri="{BB962C8B-B14F-4D97-AF65-F5344CB8AC3E}">
        <p14:creationId xmlns:p14="http://schemas.microsoft.com/office/powerpoint/2010/main" val="28297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9D155E-69B7-4AB0-92A2-25F28820FA10}"/>
              </a:ext>
            </a:extLst>
          </p:cNvPr>
          <p:cNvSpPr>
            <a:spLocks noGrp="1"/>
          </p:cNvSpPr>
          <p:nvPr>
            <p:ph type="title"/>
          </p:nvPr>
        </p:nvSpPr>
        <p:spPr/>
        <p:txBody>
          <a:bodyPr/>
          <a:lstStyle/>
          <a:p>
            <a:r>
              <a:rPr lang="en-US"/>
              <a:t>What is a Load balancer </a:t>
            </a:r>
          </a:p>
        </p:txBody>
      </p:sp>
      <p:grpSp>
        <p:nvGrpSpPr>
          <p:cNvPr id="41" name="Group 40" descr="diagram illustrating a client unable to access a server because it is down">
            <a:extLst>
              <a:ext uri="{FF2B5EF4-FFF2-40B4-BE49-F238E27FC236}">
                <a16:creationId xmlns:a16="http://schemas.microsoft.com/office/drawing/2014/main" id="{0D5B1793-F594-414D-B796-5D36CAAE52A2}"/>
              </a:ext>
            </a:extLst>
          </p:cNvPr>
          <p:cNvGrpSpPr/>
          <p:nvPr/>
        </p:nvGrpSpPr>
        <p:grpSpPr>
          <a:xfrm>
            <a:off x="687243" y="1614559"/>
            <a:ext cx="4232312" cy="4042846"/>
            <a:chOff x="1080174" y="971960"/>
            <a:chExt cx="5160829" cy="4700353"/>
          </a:xfrm>
        </p:grpSpPr>
        <p:pic>
          <p:nvPicPr>
            <p:cNvPr id="24" name="Graphic 23">
              <a:extLst>
                <a:ext uri="{FF2B5EF4-FFF2-40B4-BE49-F238E27FC236}">
                  <a16:creationId xmlns:a16="http://schemas.microsoft.com/office/drawing/2014/main" id="{2C4948D6-37CA-40D2-9621-0E8FEA798F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0174" y="3943412"/>
              <a:ext cx="848571" cy="848571"/>
            </a:xfrm>
            <a:prstGeom prst="rect">
              <a:avLst/>
            </a:prstGeom>
          </p:spPr>
        </p:pic>
        <p:pic>
          <p:nvPicPr>
            <p:cNvPr id="25" name="Graphic 24">
              <a:extLst>
                <a:ext uri="{FF2B5EF4-FFF2-40B4-BE49-F238E27FC236}">
                  <a16:creationId xmlns:a16="http://schemas.microsoft.com/office/drawing/2014/main" id="{C16C14AF-BA38-42AD-BCD3-E99A39E364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49353" y="4647361"/>
              <a:ext cx="848570" cy="848570"/>
            </a:xfrm>
            <a:prstGeom prst="rect">
              <a:avLst/>
            </a:prstGeom>
          </p:spPr>
        </p:pic>
        <p:sp>
          <p:nvSpPr>
            <p:cNvPr id="26" name="Freeform: Shape 25">
              <a:extLst>
                <a:ext uri="{FF2B5EF4-FFF2-40B4-BE49-F238E27FC236}">
                  <a16:creationId xmlns:a16="http://schemas.microsoft.com/office/drawing/2014/main" id="{E947AB4A-148A-43E8-B332-57EB835D9F37}"/>
                </a:ext>
              </a:extLst>
            </p:cNvPr>
            <p:cNvSpPr/>
            <p:nvPr/>
          </p:nvSpPr>
          <p:spPr>
            <a:xfrm>
              <a:off x="4760191" y="3667125"/>
              <a:ext cx="1426894" cy="47625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0" marR="0" lvl="0" indent="0" algn="ctr" defTabSz="914400" rtl="0" eaLnBrk="1" fontAlgn="auto" latinLnBrk="0" hangingPunct="1">
                <a:lnSpc>
                  <a:spcPct val="100000"/>
                </a:lnSpc>
                <a:spcBef>
                  <a:spcPts val="1176"/>
                </a:spcBef>
                <a:spcAft>
                  <a:spcPts val="0"/>
                </a:spcAft>
                <a:buClrTx/>
                <a:buSzTx/>
                <a:buFontTx/>
                <a:buNone/>
                <a:tabLst/>
                <a:defRPr/>
              </a:pPr>
              <a:r>
                <a:rPr kumimoji="0" lang="en-US" sz="2157" b="0" i="0" u="none" strike="noStrike" kern="1200" cap="none" spc="0" normalizeH="0" baseline="0" noProof="0">
                  <a:ln>
                    <a:noFill/>
                  </a:ln>
                  <a:solidFill>
                    <a:prstClr val="black"/>
                  </a:solidFill>
                  <a:effectLst/>
                  <a:uLnTx/>
                  <a:uFillTx/>
                  <a:latin typeface="Calibri" panose="020F0502020204030204"/>
                  <a:ea typeface="+mn-ea"/>
                  <a:cs typeface="+mn-cs"/>
                </a:rPr>
                <a:t>Public IP</a:t>
              </a:r>
            </a:p>
          </p:txBody>
        </p:sp>
        <p:cxnSp>
          <p:nvCxnSpPr>
            <p:cNvPr id="27" name="Straight Connector 26">
              <a:extLst>
                <a:ext uri="{FF2B5EF4-FFF2-40B4-BE49-F238E27FC236}">
                  <a16:creationId xmlns:a16="http://schemas.microsoft.com/office/drawing/2014/main" id="{1720458A-F98E-4E8F-A339-EE23DEC586D0}"/>
                </a:ext>
              </a:extLst>
            </p:cNvPr>
            <p:cNvCxnSpPr>
              <a:stCxn id="25" idx="0"/>
            </p:cNvCxnSpPr>
            <p:nvPr/>
          </p:nvCxnSpPr>
          <p:spPr>
            <a:xfrm flipV="1">
              <a:off x="5473638" y="4143375"/>
              <a:ext cx="0" cy="503986"/>
            </a:xfrm>
            <a:prstGeom prst="line">
              <a:avLst/>
            </a:prstGeom>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3CB296F3-3459-40E0-BF05-BDB1CBD60FDD}"/>
                </a:ext>
              </a:extLst>
            </p:cNvPr>
            <p:cNvGrpSpPr/>
            <p:nvPr/>
          </p:nvGrpSpPr>
          <p:grpSpPr>
            <a:xfrm>
              <a:off x="4706272" y="971960"/>
              <a:ext cx="1534731" cy="1318020"/>
              <a:chOff x="3404854" y="1343448"/>
              <a:chExt cx="1180604" cy="1093419"/>
            </a:xfrm>
          </p:grpSpPr>
          <p:sp>
            <p:nvSpPr>
              <p:cNvPr id="29" name="Graphic 88">
                <a:extLst>
                  <a:ext uri="{FF2B5EF4-FFF2-40B4-BE49-F238E27FC236}">
                    <a16:creationId xmlns:a16="http://schemas.microsoft.com/office/drawing/2014/main" id="{151581B3-6DED-4223-85A9-8894E8192D32}"/>
                  </a:ext>
                </a:extLst>
              </p:cNvPr>
              <p:cNvSpPr/>
              <p:nvPr/>
            </p:nvSpPr>
            <p:spPr>
              <a:xfrm>
                <a:off x="3404854" y="1343448"/>
                <a:ext cx="1093419" cy="1093419"/>
              </a:xfrm>
              <a:custGeom>
                <a:avLst/>
                <a:gdLst>
                  <a:gd name="connsiteX0" fmla="*/ 187603 w 1093419"/>
                  <a:gd name="connsiteY0" fmla="*/ 1093419 h 1093419"/>
                  <a:gd name="connsiteX1" fmla="*/ 0 w 1093419"/>
                  <a:gd name="connsiteY1" fmla="*/ 640497 h 1093419"/>
                  <a:gd name="connsiteX2" fmla="*/ 187574 w 1093419"/>
                  <a:gd name="connsiteY2" fmla="*/ 187574 h 1093419"/>
                  <a:gd name="connsiteX3" fmla="*/ 640468 w 1093419"/>
                  <a:gd name="connsiteY3" fmla="*/ 0 h 1093419"/>
                  <a:gd name="connsiteX4" fmla="*/ 1093419 w 1093419"/>
                  <a:gd name="connsiteY4" fmla="*/ 187603 h 1093419"/>
                  <a:gd name="connsiteX5" fmla="*/ 187603 w 1093419"/>
                  <a:gd name="connsiteY5" fmla="*/ 1093419 h 109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19" h="1093419">
                    <a:moveTo>
                      <a:pt x="187603" y="1093419"/>
                    </a:moveTo>
                    <a:cubicBezTo>
                      <a:pt x="66623" y="972411"/>
                      <a:pt x="0" y="811601"/>
                      <a:pt x="0" y="640497"/>
                    </a:cubicBezTo>
                    <a:cubicBezTo>
                      <a:pt x="0" y="469393"/>
                      <a:pt x="66623" y="308554"/>
                      <a:pt x="187574" y="187574"/>
                    </a:cubicBezTo>
                    <a:cubicBezTo>
                      <a:pt x="308525" y="66594"/>
                      <a:pt x="469364" y="0"/>
                      <a:pt x="640468" y="0"/>
                    </a:cubicBezTo>
                    <a:cubicBezTo>
                      <a:pt x="811572" y="0"/>
                      <a:pt x="972411" y="66623"/>
                      <a:pt x="1093419" y="187603"/>
                    </a:cubicBezTo>
                    <a:lnTo>
                      <a:pt x="187603" y="1093419"/>
                    </a:lnTo>
                    <a:close/>
                  </a:path>
                </a:pathLst>
              </a:custGeom>
              <a:solidFill>
                <a:srgbClr val="FFFFFF">
                  <a:alpha val="50000"/>
                </a:srgb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Graphic 88">
                <a:extLst>
                  <a:ext uri="{FF2B5EF4-FFF2-40B4-BE49-F238E27FC236}">
                    <a16:creationId xmlns:a16="http://schemas.microsoft.com/office/drawing/2014/main" id="{7415885A-B07F-461E-A7F8-A7BAA5CBF0B4}"/>
                  </a:ext>
                </a:extLst>
              </p:cNvPr>
              <p:cNvSpPr/>
              <p:nvPr/>
            </p:nvSpPr>
            <p:spPr>
              <a:xfrm>
                <a:off x="4420134" y="1443819"/>
                <a:ext cx="165324" cy="165342"/>
              </a:xfrm>
              <a:custGeom>
                <a:avLst/>
                <a:gdLst>
                  <a:gd name="connsiteX0" fmla="*/ 141159 w 165324"/>
                  <a:gd name="connsiteY0" fmla="*/ 24240 h 165342"/>
                  <a:gd name="connsiteX1" fmla="*/ 24240 w 165324"/>
                  <a:gd name="connsiteY1" fmla="*/ 24183 h 165342"/>
                  <a:gd name="connsiteX2" fmla="*/ 24183 w 165324"/>
                  <a:gd name="connsiteY2" fmla="*/ 141102 h 165342"/>
                  <a:gd name="connsiteX3" fmla="*/ 141102 w 165324"/>
                  <a:gd name="connsiteY3" fmla="*/ 141159 h 165342"/>
                  <a:gd name="connsiteX4" fmla="*/ 141131 w 165324"/>
                  <a:gd name="connsiteY4" fmla="*/ 141131 h 165342"/>
                  <a:gd name="connsiteX5" fmla="*/ 141159 w 165324"/>
                  <a:gd name="connsiteY5" fmla="*/ 24240 h 16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324" h="165342">
                    <a:moveTo>
                      <a:pt x="141159" y="24240"/>
                    </a:moveTo>
                    <a:cubicBezTo>
                      <a:pt x="108877" y="-8071"/>
                      <a:pt x="56551" y="-8071"/>
                      <a:pt x="24240" y="24183"/>
                    </a:cubicBezTo>
                    <a:cubicBezTo>
                      <a:pt x="-8071" y="56465"/>
                      <a:pt x="-8071" y="108792"/>
                      <a:pt x="24183" y="141102"/>
                    </a:cubicBezTo>
                    <a:cubicBezTo>
                      <a:pt x="56465" y="173413"/>
                      <a:pt x="108791" y="173413"/>
                      <a:pt x="141102" y="141159"/>
                    </a:cubicBezTo>
                    <a:lnTo>
                      <a:pt x="141131" y="141131"/>
                    </a:lnTo>
                    <a:cubicBezTo>
                      <a:pt x="173384" y="108877"/>
                      <a:pt x="173384" y="56522"/>
                      <a:pt x="141159" y="24240"/>
                    </a:cubicBezTo>
                  </a:path>
                </a:pathLst>
              </a:custGeom>
              <a:solidFill>
                <a:srgbClr val="FFFFFF"/>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Graphic 88">
                <a:extLst>
                  <a:ext uri="{FF2B5EF4-FFF2-40B4-BE49-F238E27FC236}">
                    <a16:creationId xmlns:a16="http://schemas.microsoft.com/office/drawing/2014/main" id="{5521660F-A28D-480D-89A6-40DF885B5008}"/>
                  </a:ext>
                </a:extLst>
              </p:cNvPr>
              <p:cNvSpPr/>
              <p:nvPr/>
            </p:nvSpPr>
            <p:spPr>
              <a:xfrm>
                <a:off x="3959570" y="1898164"/>
                <a:ext cx="171561" cy="257342"/>
              </a:xfrm>
              <a:custGeom>
                <a:avLst/>
                <a:gdLst>
                  <a:gd name="connsiteX0" fmla="*/ 0 w 171561"/>
                  <a:gd name="connsiteY0" fmla="*/ 0 h 257342"/>
                  <a:gd name="connsiteX1" fmla="*/ 85781 w 171561"/>
                  <a:gd name="connsiteY1" fmla="*/ 257342 h 257342"/>
                  <a:gd name="connsiteX2" fmla="*/ 171562 w 171561"/>
                  <a:gd name="connsiteY2" fmla="*/ 0 h 257342"/>
                </a:gdLst>
                <a:ahLst/>
                <a:cxnLst>
                  <a:cxn ang="0">
                    <a:pos x="connsiteX0" y="connsiteY0"/>
                  </a:cxn>
                  <a:cxn ang="0">
                    <a:pos x="connsiteX1" y="connsiteY1"/>
                  </a:cxn>
                  <a:cxn ang="0">
                    <a:pos x="connsiteX2" y="connsiteY2"/>
                  </a:cxn>
                </a:cxnLst>
                <a:rect l="l" t="t" r="r" b="b"/>
                <a:pathLst>
                  <a:path w="171561" h="257342">
                    <a:moveTo>
                      <a:pt x="0" y="0"/>
                    </a:moveTo>
                    <a:lnTo>
                      <a:pt x="85781" y="257342"/>
                    </a:lnTo>
                    <a:lnTo>
                      <a:pt x="171562" y="0"/>
                    </a:lnTo>
                    <a:close/>
                  </a:path>
                </a:pathLst>
              </a:custGeom>
              <a:solidFill>
                <a:srgbClr val="FFFFFF"/>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Graphic 88">
                <a:extLst>
                  <a:ext uri="{FF2B5EF4-FFF2-40B4-BE49-F238E27FC236}">
                    <a16:creationId xmlns:a16="http://schemas.microsoft.com/office/drawing/2014/main" id="{0A2CC926-7E03-4562-A8A9-057D1C7EA5C1}"/>
                  </a:ext>
                </a:extLst>
              </p:cNvPr>
              <p:cNvSpPr/>
              <p:nvPr/>
            </p:nvSpPr>
            <p:spPr>
              <a:xfrm>
                <a:off x="3758223" y="1898164"/>
                <a:ext cx="574264" cy="371717"/>
              </a:xfrm>
              <a:custGeom>
                <a:avLst/>
                <a:gdLst>
                  <a:gd name="connsiteX0" fmla="*/ 573921 w 574264"/>
                  <a:gd name="connsiteY0" fmla="*/ 308182 h 371717"/>
                  <a:gd name="connsiteX1" fmla="*/ 372908 w 574264"/>
                  <a:gd name="connsiteY1" fmla="*/ 0 h 371717"/>
                  <a:gd name="connsiteX2" fmla="*/ 287127 w 574264"/>
                  <a:gd name="connsiteY2" fmla="*/ 257342 h 371717"/>
                  <a:gd name="connsiteX3" fmla="*/ 201347 w 574264"/>
                  <a:gd name="connsiteY3" fmla="*/ 0 h 371717"/>
                  <a:gd name="connsiteX4" fmla="*/ 276 w 574264"/>
                  <a:gd name="connsiteY4" fmla="*/ 308668 h 371717"/>
                  <a:gd name="connsiteX5" fmla="*/ 46083 w 574264"/>
                  <a:gd name="connsiteY5" fmla="*/ 371402 h 371717"/>
                  <a:gd name="connsiteX6" fmla="*/ 51230 w 574264"/>
                  <a:gd name="connsiteY6" fmla="*/ 371717 h 371717"/>
                  <a:gd name="connsiteX7" fmla="*/ 523025 w 574264"/>
                  <a:gd name="connsiteY7" fmla="*/ 371717 h 371717"/>
                  <a:gd name="connsiteX8" fmla="*/ 574264 w 574264"/>
                  <a:gd name="connsiteY8" fmla="*/ 315044 h 371717"/>
                  <a:gd name="connsiteX9" fmla="*/ 573921 w 574264"/>
                  <a:gd name="connsiteY9" fmla="*/ 308182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264" h="371717">
                    <a:moveTo>
                      <a:pt x="573921" y="308182"/>
                    </a:moveTo>
                    <a:cubicBezTo>
                      <a:pt x="557594" y="162869"/>
                      <a:pt x="489970" y="41060"/>
                      <a:pt x="372908" y="0"/>
                    </a:cubicBezTo>
                    <a:lnTo>
                      <a:pt x="287127" y="257342"/>
                    </a:lnTo>
                    <a:lnTo>
                      <a:pt x="201347" y="0"/>
                    </a:lnTo>
                    <a:cubicBezTo>
                      <a:pt x="87086" y="38401"/>
                      <a:pt x="14516" y="148029"/>
                      <a:pt x="276" y="308668"/>
                    </a:cubicBezTo>
                    <a:cubicBezTo>
                      <a:pt x="-2640" y="340092"/>
                      <a:pt x="17861" y="368171"/>
                      <a:pt x="46083" y="371402"/>
                    </a:cubicBezTo>
                    <a:cubicBezTo>
                      <a:pt x="47799" y="371602"/>
                      <a:pt x="49515" y="371688"/>
                      <a:pt x="51230" y="371717"/>
                    </a:cubicBezTo>
                    <a:lnTo>
                      <a:pt x="523025" y="371717"/>
                    </a:lnTo>
                    <a:cubicBezTo>
                      <a:pt x="551218" y="371831"/>
                      <a:pt x="574179" y="346469"/>
                      <a:pt x="574264" y="315044"/>
                    </a:cubicBezTo>
                    <a:cubicBezTo>
                      <a:pt x="574264" y="312757"/>
                      <a:pt x="574150" y="310469"/>
                      <a:pt x="573921" y="308182"/>
                    </a:cubicBezTo>
                    <a:close/>
                  </a:path>
                </a:pathLst>
              </a:custGeom>
              <a:solidFill>
                <a:schemeClr val="bg1">
                  <a:lumMod val="50000"/>
                </a:scheme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Graphic 88">
                <a:extLst>
                  <a:ext uri="{FF2B5EF4-FFF2-40B4-BE49-F238E27FC236}">
                    <a16:creationId xmlns:a16="http://schemas.microsoft.com/office/drawing/2014/main" id="{D81A7669-FE75-41FA-959A-0542A623BFC4}"/>
                  </a:ext>
                </a:extLst>
              </p:cNvPr>
              <p:cNvSpPr/>
              <p:nvPr/>
            </p:nvSpPr>
            <p:spPr>
              <a:xfrm>
                <a:off x="3876648" y="1586494"/>
                <a:ext cx="337404" cy="337404"/>
              </a:xfrm>
              <a:custGeom>
                <a:avLst/>
                <a:gdLst>
                  <a:gd name="connsiteX0" fmla="*/ 337404 w 337404"/>
                  <a:gd name="connsiteY0" fmla="*/ 168702 h 337404"/>
                  <a:gd name="connsiteX1" fmla="*/ 168702 w 337404"/>
                  <a:gd name="connsiteY1" fmla="*/ 337404 h 337404"/>
                  <a:gd name="connsiteX2" fmla="*/ 0 w 337404"/>
                  <a:gd name="connsiteY2" fmla="*/ 168702 h 337404"/>
                  <a:gd name="connsiteX3" fmla="*/ 168702 w 337404"/>
                  <a:gd name="connsiteY3" fmla="*/ 0 h 337404"/>
                  <a:gd name="connsiteX4" fmla="*/ 337404 w 337404"/>
                  <a:gd name="connsiteY4" fmla="*/ 168702 h 337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04" h="337404">
                    <a:moveTo>
                      <a:pt x="337404" y="168702"/>
                    </a:moveTo>
                    <a:cubicBezTo>
                      <a:pt x="337404" y="261874"/>
                      <a:pt x="261874" y="337404"/>
                      <a:pt x="168702" y="337404"/>
                    </a:cubicBezTo>
                    <a:cubicBezTo>
                      <a:pt x="75531" y="337404"/>
                      <a:pt x="0" y="261874"/>
                      <a:pt x="0" y="168702"/>
                    </a:cubicBezTo>
                    <a:cubicBezTo>
                      <a:pt x="0" y="75531"/>
                      <a:pt x="75531" y="0"/>
                      <a:pt x="168702" y="0"/>
                    </a:cubicBezTo>
                    <a:cubicBezTo>
                      <a:pt x="261874" y="0"/>
                      <a:pt x="337404" y="75531"/>
                      <a:pt x="337404" y="168702"/>
                    </a:cubicBezTo>
                    <a:close/>
                  </a:path>
                </a:pathLst>
              </a:custGeom>
              <a:solidFill>
                <a:schemeClr val="bg1">
                  <a:lumMod val="50000"/>
                </a:scheme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34" name="Straight Arrow Connector 33">
              <a:extLst>
                <a:ext uri="{FF2B5EF4-FFF2-40B4-BE49-F238E27FC236}">
                  <a16:creationId xmlns:a16="http://schemas.microsoft.com/office/drawing/2014/main" id="{DA1CBBF5-219D-4043-99D5-2E2FFC638466}"/>
                </a:ext>
              </a:extLst>
            </p:cNvPr>
            <p:cNvCxnSpPr/>
            <p:nvPr/>
          </p:nvCxnSpPr>
          <p:spPr>
            <a:xfrm flipH="1">
              <a:off x="2021305" y="2088693"/>
              <a:ext cx="2839453" cy="1816557"/>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531449A-583D-4EC9-89B0-C6C5289851FD}"/>
                </a:ext>
              </a:extLst>
            </p:cNvPr>
            <p:cNvSpPr txBox="1"/>
            <p:nvPr/>
          </p:nvSpPr>
          <p:spPr>
            <a:xfrm rot="19674290">
              <a:off x="2392033" y="2505689"/>
              <a:ext cx="2466442" cy="4293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www.contoso.com</a:t>
              </a:r>
            </a:p>
          </p:txBody>
        </p:sp>
        <p:grpSp>
          <p:nvGrpSpPr>
            <p:cNvPr id="36" name="Group 35">
              <a:extLst>
                <a:ext uri="{FF2B5EF4-FFF2-40B4-BE49-F238E27FC236}">
                  <a16:creationId xmlns:a16="http://schemas.microsoft.com/office/drawing/2014/main" id="{073C36FC-822A-4DBA-8D41-6E8ABBD2C048}"/>
                </a:ext>
              </a:extLst>
            </p:cNvPr>
            <p:cNvGrpSpPr/>
            <p:nvPr/>
          </p:nvGrpSpPr>
          <p:grpSpPr>
            <a:xfrm>
              <a:off x="2133140" y="2289980"/>
              <a:ext cx="2916213" cy="1853396"/>
              <a:chOff x="2133140" y="2289980"/>
              <a:chExt cx="2916213" cy="1853396"/>
            </a:xfrm>
          </p:grpSpPr>
          <p:cxnSp>
            <p:nvCxnSpPr>
              <p:cNvPr id="37" name="Straight Arrow Connector 36">
                <a:extLst>
                  <a:ext uri="{FF2B5EF4-FFF2-40B4-BE49-F238E27FC236}">
                    <a16:creationId xmlns:a16="http://schemas.microsoft.com/office/drawing/2014/main" id="{96031989-DD46-4472-9DC6-FA5FBF07DC06}"/>
                  </a:ext>
                </a:extLst>
              </p:cNvPr>
              <p:cNvCxnSpPr>
                <a:cxnSpLocks/>
              </p:cNvCxnSpPr>
              <p:nvPr/>
            </p:nvCxnSpPr>
            <p:spPr>
              <a:xfrm flipV="1">
                <a:off x="2133140" y="2289980"/>
                <a:ext cx="2916213" cy="185339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E0BA6F-9FD2-4E17-9611-FFFB2D191224}"/>
                  </a:ext>
                </a:extLst>
              </p:cNvPr>
              <p:cNvSpPr txBox="1"/>
              <p:nvPr/>
            </p:nvSpPr>
            <p:spPr>
              <a:xfrm rot="19674290">
                <a:off x="2722104" y="3173998"/>
                <a:ext cx="195392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IP</a:t>
                </a:r>
              </a:p>
            </p:txBody>
          </p:sp>
        </p:grpSp>
        <p:cxnSp>
          <p:nvCxnSpPr>
            <p:cNvPr id="39" name="Straight Arrow Connector 38">
              <a:extLst>
                <a:ext uri="{FF2B5EF4-FFF2-40B4-BE49-F238E27FC236}">
                  <a16:creationId xmlns:a16="http://schemas.microsoft.com/office/drawing/2014/main" id="{5E2B2A34-57B1-448E-A62C-D747A76D9B8E}"/>
                </a:ext>
              </a:extLst>
            </p:cNvPr>
            <p:cNvCxnSpPr>
              <a:cxnSpLocks/>
            </p:cNvCxnSpPr>
            <p:nvPr/>
          </p:nvCxnSpPr>
          <p:spPr>
            <a:xfrm flipH="1">
              <a:off x="5468085" y="2296150"/>
              <a:ext cx="10225" cy="1254319"/>
            </a:xfrm>
            <a:prstGeom prst="straightConnector1">
              <a:avLst/>
            </a:prstGeom>
            <a:ln w="381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0" name="Graphic 39" descr="No sign with solid fill">
              <a:extLst>
                <a:ext uri="{FF2B5EF4-FFF2-40B4-BE49-F238E27FC236}">
                  <a16:creationId xmlns:a16="http://schemas.microsoft.com/office/drawing/2014/main" id="{94B010DF-82F8-416D-B7D1-C16EED7262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19383" y="4574909"/>
              <a:ext cx="1097404" cy="1097404"/>
            </a:xfrm>
            <a:prstGeom prst="rect">
              <a:avLst/>
            </a:prstGeom>
          </p:spPr>
        </p:pic>
      </p:grpSp>
      <p:sp>
        <p:nvSpPr>
          <p:cNvPr id="45" name="Rectangle 44">
            <a:extLst>
              <a:ext uri="{FF2B5EF4-FFF2-40B4-BE49-F238E27FC236}">
                <a16:creationId xmlns:a16="http://schemas.microsoft.com/office/drawing/2014/main" id="{753B3F8E-4264-4CB5-B03D-280CE8838FD4}"/>
              </a:ext>
              <a:ext uri="{C183D7F6-B498-43B3-948B-1728B52AA6E4}">
                <adec:decorative xmlns:adec="http://schemas.microsoft.com/office/drawing/2017/decorative" val="1"/>
              </a:ext>
            </a:extLst>
          </p:cNvPr>
          <p:cNvSpPr/>
          <p:nvPr/>
        </p:nvSpPr>
        <p:spPr bwMode="auto">
          <a:xfrm>
            <a:off x="277244" y="1118415"/>
            <a:ext cx="5029658" cy="48082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grpSp>
        <p:nvGrpSpPr>
          <p:cNvPr id="4" name="Group 3" descr="diagram illustrating a client able to access a server because it is deployed behind a public load balancer with 3 servers in the backend pool where two servers are available and one is not ">
            <a:extLst>
              <a:ext uri="{FF2B5EF4-FFF2-40B4-BE49-F238E27FC236}">
                <a16:creationId xmlns:a16="http://schemas.microsoft.com/office/drawing/2014/main" id="{6B0387D3-AC1C-49EA-8833-61D892CAB516}"/>
              </a:ext>
            </a:extLst>
          </p:cNvPr>
          <p:cNvGrpSpPr/>
          <p:nvPr/>
        </p:nvGrpSpPr>
        <p:grpSpPr>
          <a:xfrm>
            <a:off x="5768625" y="904323"/>
            <a:ext cx="6004733" cy="5022344"/>
            <a:chOff x="5768625" y="904323"/>
            <a:chExt cx="6004733" cy="5022344"/>
          </a:xfrm>
        </p:grpSpPr>
        <p:grpSp>
          <p:nvGrpSpPr>
            <p:cNvPr id="23" name="Group 22" descr="diagram illustrating a client able to access a server because it is deployed behind a public load balancer with 3 servers in the backend pool where two servers are available and one is not ">
              <a:extLst>
                <a:ext uri="{FF2B5EF4-FFF2-40B4-BE49-F238E27FC236}">
                  <a16:creationId xmlns:a16="http://schemas.microsoft.com/office/drawing/2014/main" id="{2E817B53-E838-4CF5-80E1-8475F6D54B54}"/>
                </a:ext>
              </a:extLst>
            </p:cNvPr>
            <p:cNvGrpSpPr/>
            <p:nvPr/>
          </p:nvGrpSpPr>
          <p:grpSpPr>
            <a:xfrm>
              <a:off x="6096000" y="1614559"/>
              <a:ext cx="5189808" cy="3821041"/>
              <a:chOff x="1080174" y="2088693"/>
              <a:chExt cx="6090834" cy="4273296"/>
            </a:xfrm>
          </p:grpSpPr>
          <p:pic>
            <p:nvPicPr>
              <p:cNvPr id="6" name="Graphic 5">
                <a:extLst>
                  <a:ext uri="{FF2B5EF4-FFF2-40B4-BE49-F238E27FC236}">
                    <a16:creationId xmlns:a16="http://schemas.microsoft.com/office/drawing/2014/main" id="{CF2AA125-EF79-4B83-9C9C-7C92BA97E7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80174" y="3943412"/>
                <a:ext cx="848571" cy="848571"/>
              </a:xfrm>
              <a:prstGeom prst="rect">
                <a:avLst/>
              </a:prstGeom>
            </p:spPr>
          </p:pic>
          <p:pic>
            <p:nvPicPr>
              <p:cNvPr id="7" name="Graphic 6">
                <a:extLst>
                  <a:ext uri="{FF2B5EF4-FFF2-40B4-BE49-F238E27FC236}">
                    <a16:creationId xmlns:a16="http://schemas.microsoft.com/office/drawing/2014/main" id="{E8614D95-F12D-4464-8666-8FCD71DD35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49353" y="5389002"/>
                <a:ext cx="848570" cy="848570"/>
              </a:xfrm>
              <a:prstGeom prst="rect">
                <a:avLst/>
              </a:prstGeom>
            </p:spPr>
          </p:pic>
          <p:sp>
            <p:nvSpPr>
              <p:cNvPr id="8" name="Freeform: Shape 7">
                <a:extLst>
                  <a:ext uri="{FF2B5EF4-FFF2-40B4-BE49-F238E27FC236}">
                    <a16:creationId xmlns:a16="http://schemas.microsoft.com/office/drawing/2014/main" id="{252F33A4-8662-4FC5-AB72-D2DC7344D195}"/>
                  </a:ext>
                </a:extLst>
              </p:cNvPr>
              <p:cNvSpPr/>
              <p:nvPr/>
            </p:nvSpPr>
            <p:spPr>
              <a:xfrm>
                <a:off x="4752564" y="3067990"/>
                <a:ext cx="1426894" cy="47625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0" marR="0" lvl="0" indent="0" algn="ctr" defTabSz="914400" rtl="0" eaLnBrk="1" fontAlgn="auto" latinLnBrk="0" hangingPunct="1">
                  <a:lnSpc>
                    <a:spcPct val="100000"/>
                  </a:lnSpc>
                  <a:spcBef>
                    <a:spcPts val="1176"/>
                  </a:spcBef>
                  <a:spcAft>
                    <a:spcPts val="0"/>
                  </a:spcAft>
                  <a:buClrTx/>
                  <a:buSzTx/>
                  <a:buFontTx/>
                  <a:buNone/>
                  <a:tabLst/>
                  <a:defRPr/>
                </a:pPr>
                <a:r>
                  <a:rPr kumimoji="0" lang="en-US" sz="2157" b="0" i="0" u="none" strike="noStrike" kern="1200" cap="none" spc="0" normalizeH="0" baseline="0" noProof="0">
                    <a:ln>
                      <a:noFill/>
                    </a:ln>
                    <a:solidFill>
                      <a:prstClr val="black"/>
                    </a:solidFill>
                    <a:effectLst/>
                    <a:uLnTx/>
                    <a:uFillTx/>
                    <a:latin typeface="Calibri" panose="020F0502020204030204"/>
                    <a:ea typeface="+mn-ea"/>
                    <a:cs typeface="+mn-cs"/>
                  </a:rPr>
                  <a:t>Public IP</a:t>
                </a:r>
              </a:p>
            </p:txBody>
          </p:sp>
          <p:cxnSp>
            <p:nvCxnSpPr>
              <p:cNvPr id="9" name="Straight Connector 8">
                <a:extLst>
                  <a:ext uri="{FF2B5EF4-FFF2-40B4-BE49-F238E27FC236}">
                    <a16:creationId xmlns:a16="http://schemas.microsoft.com/office/drawing/2014/main" id="{05175A7C-68AB-4ADF-8270-6B63BA179119}"/>
                  </a:ext>
                </a:extLst>
              </p:cNvPr>
              <p:cNvCxnSpPr>
                <a:cxnSpLocks/>
                <a:stCxn id="7" idx="0"/>
                <a:endCxn id="18" idx="2"/>
              </p:cNvCxnSpPr>
              <p:nvPr/>
            </p:nvCxnSpPr>
            <p:spPr>
              <a:xfrm flipH="1" flipV="1">
                <a:off x="5466011" y="4879108"/>
                <a:ext cx="7627" cy="50989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239F309-2CD1-4C79-8F39-A41B6954C438}"/>
                  </a:ext>
                </a:extLst>
              </p:cNvPr>
              <p:cNvCxnSpPr/>
              <p:nvPr/>
            </p:nvCxnSpPr>
            <p:spPr>
              <a:xfrm flipH="1">
                <a:off x="2021305" y="2088693"/>
                <a:ext cx="2839453" cy="1816557"/>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73E37D0-2097-4A59-A0D2-A224A667F5C9}"/>
                  </a:ext>
                </a:extLst>
              </p:cNvPr>
              <p:cNvSpPr txBox="1"/>
              <p:nvPr/>
            </p:nvSpPr>
            <p:spPr>
              <a:xfrm rot="19674290">
                <a:off x="2358869" y="2433146"/>
                <a:ext cx="2688026" cy="4130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www.contoso.com</a:t>
                </a:r>
              </a:p>
            </p:txBody>
          </p:sp>
          <p:grpSp>
            <p:nvGrpSpPr>
              <p:cNvPr id="12" name="Group 11">
                <a:extLst>
                  <a:ext uri="{FF2B5EF4-FFF2-40B4-BE49-F238E27FC236}">
                    <a16:creationId xmlns:a16="http://schemas.microsoft.com/office/drawing/2014/main" id="{FD0ED4E3-BEC8-475E-9A5F-1810DAAA957B}"/>
                  </a:ext>
                </a:extLst>
              </p:cNvPr>
              <p:cNvGrpSpPr/>
              <p:nvPr/>
            </p:nvGrpSpPr>
            <p:grpSpPr>
              <a:xfrm>
                <a:off x="2133140" y="2289980"/>
                <a:ext cx="2916213" cy="1853396"/>
                <a:chOff x="2133140" y="2289980"/>
                <a:chExt cx="2916213" cy="1853396"/>
              </a:xfrm>
            </p:grpSpPr>
            <p:cxnSp>
              <p:nvCxnSpPr>
                <p:cNvPr id="13" name="Straight Arrow Connector 12">
                  <a:extLst>
                    <a:ext uri="{FF2B5EF4-FFF2-40B4-BE49-F238E27FC236}">
                      <a16:creationId xmlns:a16="http://schemas.microsoft.com/office/drawing/2014/main" id="{192340AB-22B2-488D-838B-053020733739}"/>
                    </a:ext>
                  </a:extLst>
                </p:cNvPr>
                <p:cNvCxnSpPr>
                  <a:cxnSpLocks/>
                </p:cNvCxnSpPr>
                <p:nvPr/>
              </p:nvCxnSpPr>
              <p:spPr>
                <a:xfrm flipV="1">
                  <a:off x="2133140" y="2289980"/>
                  <a:ext cx="2916213" cy="185339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419BE95-CE15-46A3-8DF9-995AD66DB02B}"/>
                    </a:ext>
                  </a:extLst>
                </p:cNvPr>
                <p:cNvSpPr txBox="1"/>
                <p:nvPr/>
              </p:nvSpPr>
              <p:spPr>
                <a:xfrm rot="19674290">
                  <a:off x="2722104" y="3173998"/>
                  <a:ext cx="195392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IP</a:t>
                  </a:r>
                </a:p>
              </p:txBody>
            </p:sp>
          </p:grpSp>
          <p:cxnSp>
            <p:nvCxnSpPr>
              <p:cNvPr id="15" name="Straight Arrow Connector 14">
                <a:extLst>
                  <a:ext uri="{FF2B5EF4-FFF2-40B4-BE49-F238E27FC236}">
                    <a16:creationId xmlns:a16="http://schemas.microsoft.com/office/drawing/2014/main" id="{04AEECD7-316E-453C-8F6D-FC92A426ACDB}"/>
                  </a:ext>
                </a:extLst>
              </p:cNvPr>
              <p:cNvCxnSpPr>
                <a:cxnSpLocks/>
              </p:cNvCxnSpPr>
              <p:nvPr/>
            </p:nvCxnSpPr>
            <p:spPr>
              <a:xfrm flipH="1">
                <a:off x="5466065" y="2296150"/>
                <a:ext cx="12246" cy="752636"/>
              </a:xfrm>
              <a:prstGeom prst="straightConnector1">
                <a:avLst/>
              </a:prstGeom>
              <a:ln w="38100">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D12D93BE-C0DD-4579-ADC7-08F111A1D9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76268" y="5389002"/>
                <a:ext cx="848570" cy="848570"/>
              </a:xfrm>
              <a:prstGeom prst="rect">
                <a:avLst/>
              </a:prstGeom>
            </p:spPr>
          </p:pic>
          <p:pic>
            <p:nvPicPr>
              <p:cNvPr id="17" name="Graphic 16">
                <a:extLst>
                  <a:ext uri="{FF2B5EF4-FFF2-40B4-BE49-F238E27FC236}">
                    <a16:creationId xmlns:a16="http://schemas.microsoft.com/office/drawing/2014/main" id="{914E858C-AE20-4907-8C42-2EBCA463919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22438" y="5389002"/>
                <a:ext cx="848570" cy="848570"/>
              </a:xfrm>
              <a:prstGeom prst="rect">
                <a:avLst/>
              </a:prstGeom>
            </p:spPr>
          </p:pic>
          <p:pic>
            <p:nvPicPr>
              <p:cNvPr id="18" name="Graphic 17">
                <a:extLst>
                  <a:ext uri="{FF2B5EF4-FFF2-40B4-BE49-F238E27FC236}">
                    <a16:creationId xmlns:a16="http://schemas.microsoft.com/office/drawing/2014/main" id="{508645B2-D269-42F9-BB60-90F41437B19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41726" y="4030538"/>
                <a:ext cx="848570" cy="848570"/>
              </a:xfrm>
              <a:prstGeom prst="rect">
                <a:avLst/>
              </a:prstGeom>
            </p:spPr>
          </p:pic>
          <p:cxnSp>
            <p:nvCxnSpPr>
              <p:cNvPr id="19" name="Straight Connector 18">
                <a:extLst>
                  <a:ext uri="{FF2B5EF4-FFF2-40B4-BE49-F238E27FC236}">
                    <a16:creationId xmlns:a16="http://schemas.microsoft.com/office/drawing/2014/main" id="{DA2AF543-842A-4F65-8DBF-0A5D38A2D6ED}"/>
                  </a:ext>
                </a:extLst>
              </p:cNvPr>
              <p:cNvCxnSpPr>
                <a:cxnSpLocks/>
                <a:stCxn id="18" idx="0"/>
              </p:cNvCxnSpPr>
              <p:nvPr/>
            </p:nvCxnSpPr>
            <p:spPr>
              <a:xfrm flipV="1">
                <a:off x="5466011" y="3544240"/>
                <a:ext cx="0" cy="48629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AB1319B-47AD-4803-8BCB-D9DC26DEE238}"/>
                  </a:ext>
                </a:extLst>
              </p:cNvPr>
              <p:cNvCxnSpPr>
                <a:cxnSpLocks/>
                <a:stCxn id="17" idx="0"/>
                <a:endCxn id="18" idx="2"/>
              </p:cNvCxnSpPr>
              <p:nvPr/>
            </p:nvCxnSpPr>
            <p:spPr>
              <a:xfrm flipH="1" flipV="1">
                <a:off x="5466011" y="4879108"/>
                <a:ext cx="1280712" cy="50989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818A68-FCE2-41D3-9410-26FB7CE71C1F}"/>
                  </a:ext>
                </a:extLst>
              </p:cNvPr>
              <p:cNvCxnSpPr>
                <a:cxnSpLocks/>
                <a:stCxn id="16" idx="0"/>
                <a:endCxn id="18" idx="2"/>
              </p:cNvCxnSpPr>
              <p:nvPr/>
            </p:nvCxnSpPr>
            <p:spPr>
              <a:xfrm flipV="1">
                <a:off x="4200553" y="4879108"/>
                <a:ext cx="1265458" cy="50989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2" name="Graphic 21" descr="No sign with solid fill">
                <a:extLst>
                  <a:ext uri="{FF2B5EF4-FFF2-40B4-BE49-F238E27FC236}">
                    <a16:creationId xmlns:a16="http://schemas.microsoft.com/office/drawing/2014/main" id="{AEDF228B-6082-4622-9844-12E267C8BA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44224" y="5264585"/>
                <a:ext cx="1097404" cy="1097404"/>
              </a:xfrm>
              <a:prstGeom prst="rect">
                <a:avLst/>
              </a:prstGeom>
            </p:spPr>
          </p:pic>
        </p:grpSp>
        <p:sp>
          <p:nvSpPr>
            <p:cNvPr id="43" name="Rectangle 42">
              <a:extLst>
                <a:ext uri="{FF2B5EF4-FFF2-40B4-BE49-F238E27FC236}">
                  <a16:creationId xmlns:a16="http://schemas.microsoft.com/office/drawing/2014/main" id="{B7716402-4327-4762-A495-3C3A412FF32D}"/>
                </a:ext>
                <a:ext uri="{C183D7F6-B498-43B3-948B-1728B52AA6E4}">
                  <adec:decorative xmlns:adec="http://schemas.microsoft.com/office/drawing/2017/decorative" val="1"/>
                </a:ext>
              </a:extLst>
            </p:cNvPr>
            <p:cNvSpPr/>
            <p:nvPr/>
          </p:nvSpPr>
          <p:spPr bwMode="auto">
            <a:xfrm>
              <a:off x="5768625" y="1169264"/>
              <a:ext cx="6004733" cy="475740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grpSp>
          <p:nvGrpSpPr>
            <p:cNvPr id="46" name="Group 45">
              <a:extLst>
                <a:ext uri="{FF2B5EF4-FFF2-40B4-BE49-F238E27FC236}">
                  <a16:creationId xmlns:a16="http://schemas.microsoft.com/office/drawing/2014/main" id="{68A64E17-501E-4023-9E69-F88AD6CCEB4A}"/>
                </a:ext>
              </a:extLst>
            </p:cNvPr>
            <p:cNvGrpSpPr/>
            <p:nvPr/>
          </p:nvGrpSpPr>
          <p:grpSpPr>
            <a:xfrm>
              <a:off x="9293905" y="904323"/>
              <a:ext cx="966380" cy="962224"/>
              <a:chOff x="3404854" y="1343448"/>
              <a:chExt cx="1180604" cy="1093419"/>
            </a:xfrm>
          </p:grpSpPr>
          <p:sp>
            <p:nvSpPr>
              <p:cNvPr id="47" name="Graphic 88">
                <a:extLst>
                  <a:ext uri="{FF2B5EF4-FFF2-40B4-BE49-F238E27FC236}">
                    <a16:creationId xmlns:a16="http://schemas.microsoft.com/office/drawing/2014/main" id="{1208ACAE-BF30-4A5C-BC5C-394863C7AA55}"/>
                  </a:ext>
                </a:extLst>
              </p:cNvPr>
              <p:cNvSpPr/>
              <p:nvPr/>
            </p:nvSpPr>
            <p:spPr>
              <a:xfrm>
                <a:off x="3404854" y="1343448"/>
                <a:ext cx="1093419" cy="1093419"/>
              </a:xfrm>
              <a:custGeom>
                <a:avLst/>
                <a:gdLst>
                  <a:gd name="connsiteX0" fmla="*/ 187603 w 1093419"/>
                  <a:gd name="connsiteY0" fmla="*/ 1093419 h 1093419"/>
                  <a:gd name="connsiteX1" fmla="*/ 0 w 1093419"/>
                  <a:gd name="connsiteY1" fmla="*/ 640497 h 1093419"/>
                  <a:gd name="connsiteX2" fmla="*/ 187574 w 1093419"/>
                  <a:gd name="connsiteY2" fmla="*/ 187574 h 1093419"/>
                  <a:gd name="connsiteX3" fmla="*/ 640468 w 1093419"/>
                  <a:gd name="connsiteY3" fmla="*/ 0 h 1093419"/>
                  <a:gd name="connsiteX4" fmla="*/ 1093419 w 1093419"/>
                  <a:gd name="connsiteY4" fmla="*/ 187603 h 1093419"/>
                  <a:gd name="connsiteX5" fmla="*/ 187603 w 1093419"/>
                  <a:gd name="connsiteY5" fmla="*/ 1093419 h 109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19" h="1093419">
                    <a:moveTo>
                      <a:pt x="187603" y="1093419"/>
                    </a:moveTo>
                    <a:cubicBezTo>
                      <a:pt x="66623" y="972411"/>
                      <a:pt x="0" y="811601"/>
                      <a:pt x="0" y="640497"/>
                    </a:cubicBezTo>
                    <a:cubicBezTo>
                      <a:pt x="0" y="469393"/>
                      <a:pt x="66623" y="308554"/>
                      <a:pt x="187574" y="187574"/>
                    </a:cubicBezTo>
                    <a:cubicBezTo>
                      <a:pt x="308525" y="66594"/>
                      <a:pt x="469364" y="0"/>
                      <a:pt x="640468" y="0"/>
                    </a:cubicBezTo>
                    <a:cubicBezTo>
                      <a:pt x="811572" y="0"/>
                      <a:pt x="972411" y="66623"/>
                      <a:pt x="1093419" y="187603"/>
                    </a:cubicBezTo>
                    <a:lnTo>
                      <a:pt x="187603" y="1093419"/>
                    </a:lnTo>
                    <a:close/>
                  </a:path>
                </a:pathLst>
              </a:custGeom>
              <a:solidFill>
                <a:srgbClr val="FFFFFF">
                  <a:alpha val="50000"/>
                </a:srgb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Graphic 88">
                <a:extLst>
                  <a:ext uri="{FF2B5EF4-FFF2-40B4-BE49-F238E27FC236}">
                    <a16:creationId xmlns:a16="http://schemas.microsoft.com/office/drawing/2014/main" id="{5D1C3D9C-AB6B-4B1F-BA8B-8C72D1CAB23D}"/>
                  </a:ext>
                </a:extLst>
              </p:cNvPr>
              <p:cNvSpPr/>
              <p:nvPr/>
            </p:nvSpPr>
            <p:spPr>
              <a:xfrm>
                <a:off x="4420134" y="1443819"/>
                <a:ext cx="165324" cy="165342"/>
              </a:xfrm>
              <a:custGeom>
                <a:avLst/>
                <a:gdLst>
                  <a:gd name="connsiteX0" fmla="*/ 141159 w 165324"/>
                  <a:gd name="connsiteY0" fmla="*/ 24240 h 165342"/>
                  <a:gd name="connsiteX1" fmla="*/ 24240 w 165324"/>
                  <a:gd name="connsiteY1" fmla="*/ 24183 h 165342"/>
                  <a:gd name="connsiteX2" fmla="*/ 24183 w 165324"/>
                  <a:gd name="connsiteY2" fmla="*/ 141102 h 165342"/>
                  <a:gd name="connsiteX3" fmla="*/ 141102 w 165324"/>
                  <a:gd name="connsiteY3" fmla="*/ 141159 h 165342"/>
                  <a:gd name="connsiteX4" fmla="*/ 141131 w 165324"/>
                  <a:gd name="connsiteY4" fmla="*/ 141131 h 165342"/>
                  <a:gd name="connsiteX5" fmla="*/ 141159 w 165324"/>
                  <a:gd name="connsiteY5" fmla="*/ 24240 h 165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324" h="165342">
                    <a:moveTo>
                      <a:pt x="141159" y="24240"/>
                    </a:moveTo>
                    <a:cubicBezTo>
                      <a:pt x="108877" y="-8071"/>
                      <a:pt x="56551" y="-8071"/>
                      <a:pt x="24240" y="24183"/>
                    </a:cubicBezTo>
                    <a:cubicBezTo>
                      <a:pt x="-8071" y="56465"/>
                      <a:pt x="-8071" y="108792"/>
                      <a:pt x="24183" y="141102"/>
                    </a:cubicBezTo>
                    <a:cubicBezTo>
                      <a:pt x="56465" y="173413"/>
                      <a:pt x="108791" y="173413"/>
                      <a:pt x="141102" y="141159"/>
                    </a:cubicBezTo>
                    <a:lnTo>
                      <a:pt x="141131" y="141131"/>
                    </a:lnTo>
                    <a:cubicBezTo>
                      <a:pt x="173384" y="108877"/>
                      <a:pt x="173384" y="56522"/>
                      <a:pt x="141159" y="24240"/>
                    </a:cubicBezTo>
                  </a:path>
                </a:pathLst>
              </a:custGeom>
              <a:solidFill>
                <a:srgbClr val="FFFFFF"/>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Graphic 88">
                <a:extLst>
                  <a:ext uri="{FF2B5EF4-FFF2-40B4-BE49-F238E27FC236}">
                    <a16:creationId xmlns:a16="http://schemas.microsoft.com/office/drawing/2014/main" id="{C71F7FE5-2493-45F3-9F00-31472CF26D16}"/>
                  </a:ext>
                </a:extLst>
              </p:cNvPr>
              <p:cNvSpPr/>
              <p:nvPr/>
            </p:nvSpPr>
            <p:spPr>
              <a:xfrm>
                <a:off x="3959570" y="1898164"/>
                <a:ext cx="171561" cy="257342"/>
              </a:xfrm>
              <a:custGeom>
                <a:avLst/>
                <a:gdLst>
                  <a:gd name="connsiteX0" fmla="*/ 0 w 171561"/>
                  <a:gd name="connsiteY0" fmla="*/ 0 h 257342"/>
                  <a:gd name="connsiteX1" fmla="*/ 85781 w 171561"/>
                  <a:gd name="connsiteY1" fmla="*/ 257342 h 257342"/>
                  <a:gd name="connsiteX2" fmla="*/ 171562 w 171561"/>
                  <a:gd name="connsiteY2" fmla="*/ 0 h 257342"/>
                </a:gdLst>
                <a:ahLst/>
                <a:cxnLst>
                  <a:cxn ang="0">
                    <a:pos x="connsiteX0" y="connsiteY0"/>
                  </a:cxn>
                  <a:cxn ang="0">
                    <a:pos x="connsiteX1" y="connsiteY1"/>
                  </a:cxn>
                  <a:cxn ang="0">
                    <a:pos x="connsiteX2" y="connsiteY2"/>
                  </a:cxn>
                </a:cxnLst>
                <a:rect l="l" t="t" r="r" b="b"/>
                <a:pathLst>
                  <a:path w="171561" h="257342">
                    <a:moveTo>
                      <a:pt x="0" y="0"/>
                    </a:moveTo>
                    <a:lnTo>
                      <a:pt x="85781" y="257342"/>
                    </a:lnTo>
                    <a:lnTo>
                      <a:pt x="171562" y="0"/>
                    </a:lnTo>
                    <a:close/>
                  </a:path>
                </a:pathLst>
              </a:custGeom>
              <a:solidFill>
                <a:srgbClr val="FFFFFF"/>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Graphic 88">
                <a:extLst>
                  <a:ext uri="{FF2B5EF4-FFF2-40B4-BE49-F238E27FC236}">
                    <a16:creationId xmlns:a16="http://schemas.microsoft.com/office/drawing/2014/main" id="{AFB7DBD4-DC4E-43CC-8F10-E7CDC0BF4782}"/>
                  </a:ext>
                </a:extLst>
              </p:cNvPr>
              <p:cNvSpPr/>
              <p:nvPr/>
            </p:nvSpPr>
            <p:spPr>
              <a:xfrm>
                <a:off x="3758223" y="1898164"/>
                <a:ext cx="574264" cy="371717"/>
              </a:xfrm>
              <a:custGeom>
                <a:avLst/>
                <a:gdLst>
                  <a:gd name="connsiteX0" fmla="*/ 573921 w 574264"/>
                  <a:gd name="connsiteY0" fmla="*/ 308182 h 371717"/>
                  <a:gd name="connsiteX1" fmla="*/ 372908 w 574264"/>
                  <a:gd name="connsiteY1" fmla="*/ 0 h 371717"/>
                  <a:gd name="connsiteX2" fmla="*/ 287127 w 574264"/>
                  <a:gd name="connsiteY2" fmla="*/ 257342 h 371717"/>
                  <a:gd name="connsiteX3" fmla="*/ 201347 w 574264"/>
                  <a:gd name="connsiteY3" fmla="*/ 0 h 371717"/>
                  <a:gd name="connsiteX4" fmla="*/ 276 w 574264"/>
                  <a:gd name="connsiteY4" fmla="*/ 308668 h 371717"/>
                  <a:gd name="connsiteX5" fmla="*/ 46083 w 574264"/>
                  <a:gd name="connsiteY5" fmla="*/ 371402 h 371717"/>
                  <a:gd name="connsiteX6" fmla="*/ 51230 w 574264"/>
                  <a:gd name="connsiteY6" fmla="*/ 371717 h 371717"/>
                  <a:gd name="connsiteX7" fmla="*/ 523025 w 574264"/>
                  <a:gd name="connsiteY7" fmla="*/ 371717 h 371717"/>
                  <a:gd name="connsiteX8" fmla="*/ 574264 w 574264"/>
                  <a:gd name="connsiteY8" fmla="*/ 315044 h 371717"/>
                  <a:gd name="connsiteX9" fmla="*/ 573921 w 574264"/>
                  <a:gd name="connsiteY9" fmla="*/ 308182 h 37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264" h="371717">
                    <a:moveTo>
                      <a:pt x="573921" y="308182"/>
                    </a:moveTo>
                    <a:cubicBezTo>
                      <a:pt x="557594" y="162869"/>
                      <a:pt x="489970" y="41060"/>
                      <a:pt x="372908" y="0"/>
                    </a:cubicBezTo>
                    <a:lnTo>
                      <a:pt x="287127" y="257342"/>
                    </a:lnTo>
                    <a:lnTo>
                      <a:pt x="201347" y="0"/>
                    </a:lnTo>
                    <a:cubicBezTo>
                      <a:pt x="87086" y="38401"/>
                      <a:pt x="14516" y="148029"/>
                      <a:pt x="276" y="308668"/>
                    </a:cubicBezTo>
                    <a:cubicBezTo>
                      <a:pt x="-2640" y="340092"/>
                      <a:pt x="17861" y="368171"/>
                      <a:pt x="46083" y="371402"/>
                    </a:cubicBezTo>
                    <a:cubicBezTo>
                      <a:pt x="47799" y="371602"/>
                      <a:pt x="49515" y="371688"/>
                      <a:pt x="51230" y="371717"/>
                    </a:cubicBezTo>
                    <a:lnTo>
                      <a:pt x="523025" y="371717"/>
                    </a:lnTo>
                    <a:cubicBezTo>
                      <a:pt x="551218" y="371831"/>
                      <a:pt x="574179" y="346469"/>
                      <a:pt x="574264" y="315044"/>
                    </a:cubicBezTo>
                    <a:cubicBezTo>
                      <a:pt x="574264" y="312757"/>
                      <a:pt x="574150" y="310469"/>
                      <a:pt x="573921" y="308182"/>
                    </a:cubicBezTo>
                    <a:close/>
                  </a:path>
                </a:pathLst>
              </a:custGeom>
              <a:solidFill>
                <a:schemeClr val="bg1">
                  <a:lumMod val="50000"/>
                </a:scheme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Graphic 88">
                <a:extLst>
                  <a:ext uri="{FF2B5EF4-FFF2-40B4-BE49-F238E27FC236}">
                    <a16:creationId xmlns:a16="http://schemas.microsoft.com/office/drawing/2014/main" id="{763B8F58-6B2D-4427-97E3-00E5DCD494A1}"/>
                  </a:ext>
                </a:extLst>
              </p:cNvPr>
              <p:cNvSpPr/>
              <p:nvPr/>
            </p:nvSpPr>
            <p:spPr>
              <a:xfrm>
                <a:off x="3876648" y="1586494"/>
                <a:ext cx="337404" cy="337404"/>
              </a:xfrm>
              <a:custGeom>
                <a:avLst/>
                <a:gdLst>
                  <a:gd name="connsiteX0" fmla="*/ 337404 w 337404"/>
                  <a:gd name="connsiteY0" fmla="*/ 168702 h 337404"/>
                  <a:gd name="connsiteX1" fmla="*/ 168702 w 337404"/>
                  <a:gd name="connsiteY1" fmla="*/ 337404 h 337404"/>
                  <a:gd name="connsiteX2" fmla="*/ 0 w 337404"/>
                  <a:gd name="connsiteY2" fmla="*/ 168702 h 337404"/>
                  <a:gd name="connsiteX3" fmla="*/ 168702 w 337404"/>
                  <a:gd name="connsiteY3" fmla="*/ 0 h 337404"/>
                  <a:gd name="connsiteX4" fmla="*/ 337404 w 337404"/>
                  <a:gd name="connsiteY4" fmla="*/ 168702 h 337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04" h="337404">
                    <a:moveTo>
                      <a:pt x="337404" y="168702"/>
                    </a:moveTo>
                    <a:cubicBezTo>
                      <a:pt x="337404" y="261874"/>
                      <a:pt x="261874" y="337404"/>
                      <a:pt x="168702" y="337404"/>
                    </a:cubicBezTo>
                    <a:cubicBezTo>
                      <a:pt x="75531" y="337404"/>
                      <a:pt x="0" y="261874"/>
                      <a:pt x="0" y="168702"/>
                    </a:cubicBezTo>
                    <a:cubicBezTo>
                      <a:pt x="0" y="75531"/>
                      <a:pt x="75531" y="0"/>
                      <a:pt x="168702" y="0"/>
                    </a:cubicBezTo>
                    <a:cubicBezTo>
                      <a:pt x="261874" y="0"/>
                      <a:pt x="337404" y="75531"/>
                      <a:pt x="337404" y="168702"/>
                    </a:cubicBezTo>
                    <a:close/>
                  </a:path>
                </a:pathLst>
              </a:custGeom>
              <a:solidFill>
                <a:schemeClr val="bg1">
                  <a:lumMod val="50000"/>
                </a:schemeClr>
              </a:solid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Tree>
    <p:extLst>
      <p:ext uri="{BB962C8B-B14F-4D97-AF65-F5344CB8AC3E}">
        <p14:creationId xmlns:p14="http://schemas.microsoft.com/office/powerpoint/2010/main" val="30881029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3CC968-D9E3-44AE-BA30-B3E798079CB6}"/>
              </a:ext>
            </a:extLst>
          </p:cNvPr>
          <p:cNvSpPr>
            <a:spLocks noGrp="1"/>
          </p:cNvSpPr>
          <p:nvPr>
            <p:ph type="title"/>
          </p:nvPr>
        </p:nvSpPr>
        <p:spPr>
          <a:xfrm>
            <a:off x="424090" y="466096"/>
            <a:ext cx="11343820" cy="397545"/>
          </a:xfrm>
        </p:spPr>
        <p:txBody>
          <a:bodyPr/>
          <a:lstStyle/>
          <a:p>
            <a:r>
              <a:rPr lang="en-US" sz="2800">
                <a:solidFill>
                  <a:schemeClr val="tx1"/>
                </a:solidFill>
              </a:rPr>
              <a:t>Load balancing options for Azure </a:t>
            </a:r>
            <a:endParaRPr lang="en-US"/>
          </a:p>
        </p:txBody>
      </p:sp>
      <p:pic>
        <p:nvPicPr>
          <p:cNvPr id="5" name="Picture 4" descr="Application Gateway, Front Door, Load Balancer, and Traffic Manager. ">
            <a:extLst>
              <a:ext uri="{FF2B5EF4-FFF2-40B4-BE49-F238E27FC236}">
                <a16:creationId xmlns:a16="http://schemas.microsoft.com/office/drawing/2014/main" id="{749AE66D-D1DF-497D-A991-CCEB84F09C38}"/>
              </a:ext>
            </a:extLst>
          </p:cNvPr>
          <p:cNvPicPr>
            <a:picLocks noChangeAspect="1"/>
          </p:cNvPicPr>
          <p:nvPr/>
        </p:nvPicPr>
        <p:blipFill rotWithShape="1">
          <a:blip r:embed="rId3">
            <a:extLst>
              <a:ext uri="{28A0092B-C50C-407E-A947-70E740481C1C}">
                <a14:useLocalDpi xmlns:a14="http://schemas.microsoft.com/office/drawing/2010/main" val="0"/>
              </a:ext>
            </a:extLst>
          </a:blip>
          <a:srcRect t="12061"/>
          <a:stretch/>
        </p:blipFill>
        <p:spPr>
          <a:xfrm>
            <a:off x="166687" y="2106385"/>
            <a:ext cx="11858625" cy="3065689"/>
          </a:xfrm>
          <a:prstGeom prst="rect">
            <a:avLst/>
          </a:prstGeom>
        </p:spPr>
      </p:pic>
    </p:spTree>
    <p:extLst>
      <p:ext uri="{BB962C8B-B14F-4D97-AF65-F5344CB8AC3E}">
        <p14:creationId xmlns:p14="http://schemas.microsoft.com/office/powerpoint/2010/main" val="49899657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10668-AB8F-4E05-90C2-5F4AE930B792}"/>
              </a:ext>
            </a:extLst>
          </p:cNvPr>
          <p:cNvSpPr>
            <a:spLocks noGrp="1"/>
          </p:cNvSpPr>
          <p:nvPr>
            <p:ph type="title"/>
          </p:nvPr>
        </p:nvSpPr>
        <p:spPr>
          <a:xfrm>
            <a:off x="424090" y="466096"/>
            <a:ext cx="11343820" cy="397545"/>
          </a:xfrm>
        </p:spPr>
        <p:txBody>
          <a:bodyPr/>
          <a:lstStyle/>
          <a:p>
            <a:r>
              <a:rPr lang="en-US" sz="2800">
                <a:solidFill>
                  <a:schemeClr val="tx1"/>
                </a:solidFill>
              </a:rPr>
              <a:t>Choosing a load balancing option</a:t>
            </a:r>
            <a:endParaRPr lang="en-US"/>
          </a:p>
        </p:txBody>
      </p:sp>
      <p:pic>
        <p:nvPicPr>
          <p:cNvPr id="4" name="Picture 3" descr="decision tree for choosing the correct load balancing solution for your workload ">
            <a:extLst>
              <a:ext uri="{FF2B5EF4-FFF2-40B4-BE49-F238E27FC236}">
                <a16:creationId xmlns:a16="http://schemas.microsoft.com/office/drawing/2014/main" id="{A147F5C8-323F-471A-A5D9-DE0BE1332A46}"/>
              </a:ext>
            </a:extLst>
          </p:cNvPr>
          <p:cNvPicPr>
            <a:picLocks noChangeAspect="1"/>
          </p:cNvPicPr>
          <p:nvPr/>
        </p:nvPicPr>
        <p:blipFill>
          <a:blip r:embed="rId3"/>
          <a:stretch>
            <a:fillRect/>
          </a:stretch>
        </p:blipFill>
        <p:spPr>
          <a:xfrm>
            <a:off x="5609578" y="173879"/>
            <a:ext cx="6158332" cy="6218025"/>
          </a:xfrm>
          <a:prstGeom prst="rect">
            <a:avLst/>
          </a:prstGeom>
        </p:spPr>
      </p:pic>
      <p:sp>
        <p:nvSpPr>
          <p:cNvPr id="8" name="Rectangle 7">
            <a:extLst>
              <a:ext uri="{FF2B5EF4-FFF2-40B4-BE49-F238E27FC236}">
                <a16:creationId xmlns:a16="http://schemas.microsoft.com/office/drawing/2014/main" id="{8F2BFBF9-AC21-4689-BFAB-AFD144CBE433}"/>
              </a:ext>
            </a:extLst>
          </p:cNvPr>
          <p:cNvSpPr/>
          <p:nvPr/>
        </p:nvSpPr>
        <p:spPr>
          <a:xfrm>
            <a:off x="424093" y="1407459"/>
            <a:ext cx="4686945" cy="68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Type of traffic </a:t>
            </a:r>
          </a:p>
        </p:txBody>
      </p:sp>
      <p:sp>
        <p:nvSpPr>
          <p:cNvPr id="10" name="Rectangle 9">
            <a:extLst>
              <a:ext uri="{FF2B5EF4-FFF2-40B4-BE49-F238E27FC236}">
                <a16:creationId xmlns:a16="http://schemas.microsoft.com/office/drawing/2014/main" id="{A636D26A-AA9C-4907-B81A-F5472CCE7A9B}"/>
              </a:ext>
            </a:extLst>
          </p:cNvPr>
          <p:cNvSpPr/>
          <p:nvPr/>
        </p:nvSpPr>
        <p:spPr>
          <a:xfrm>
            <a:off x="424092" y="2364721"/>
            <a:ext cx="4686945" cy="68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Scope</a:t>
            </a:r>
          </a:p>
        </p:txBody>
      </p:sp>
      <p:sp>
        <p:nvSpPr>
          <p:cNvPr id="12" name="Rectangle 11">
            <a:extLst>
              <a:ext uri="{FF2B5EF4-FFF2-40B4-BE49-F238E27FC236}">
                <a16:creationId xmlns:a16="http://schemas.microsoft.com/office/drawing/2014/main" id="{56904323-E81C-46C4-99C0-B6A4E735C038}"/>
              </a:ext>
            </a:extLst>
          </p:cNvPr>
          <p:cNvSpPr/>
          <p:nvPr/>
        </p:nvSpPr>
        <p:spPr>
          <a:xfrm>
            <a:off x="424092" y="3253328"/>
            <a:ext cx="4686945" cy="68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Availability</a:t>
            </a:r>
          </a:p>
        </p:txBody>
      </p:sp>
      <p:sp>
        <p:nvSpPr>
          <p:cNvPr id="14" name="Rectangle 13">
            <a:extLst>
              <a:ext uri="{FF2B5EF4-FFF2-40B4-BE49-F238E27FC236}">
                <a16:creationId xmlns:a16="http://schemas.microsoft.com/office/drawing/2014/main" id="{87FC9F79-1BF6-4F44-90AE-2516AB89A00E}"/>
              </a:ext>
            </a:extLst>
          </p:cNvPr>
          <p:cNvSpPr/>
          <p:nvPr/>
        </p:nvSpPr>
        <p:spPr>
          <a:xfrm>
            <a:off x="424091" y="4210590"/>
            <a:ext cx="4686945" cy="68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Cost</a:t>
            </a:r>
          </a:p>
        </p:txBody>
      </p:sp>
      <p:sp>
        <p:nvSpPr>
          <p:cNvPr id="16" name="Rectangle 15">
            <a:extLst>
              <a:ext uri="{FF2B5EF4-FFF2-40B4-BE49-F238E27FC236}">
                <a16:creationId xmlns:a16="http://schemas.microsoft.com/office/drawing/2014/main" id="{85F10DAE-16CD-430E-ADD5-51EC60CE3B95}"/>
              </a:ext>
            </a:extLst>
          </p:cNvPr>
          <p:cNvSpPr/>
          <p:nvPr/>
        </p:nvSpPr>
        <p:spPr>
          <a:xfrm>
            <a:off x="424090" y="5167852"/>
            <a:ext cx="4686945" cy="68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Features and limitations</a:t>
            </a:r>
          </a:p>
        </p:txBody>
      </p:sp>
      <p:sp>
        <p:nvSpPr>
          <p:cNvPr id="3" name="Rectangle 2">
            <a:extLst>
              <a:ext uri="{FF2B5EF4-FFF2-40B4-BE49-F238E27FC236}">
                <a16:creationId xmlns:a16="http://schemas.microsoft.com/office/drawing/2014/main" id="{1794C09A-978A-45F4-98DD-C25DCDA4D74B}"/>
              </a:ext>
              <a:ext uri="{C183D7F6-B498-43B3-948B-1728B52AA6E4}">
                <adec:decorative xmlns:adec="http://schemas.microsoft.com/office/drawing/2017/decorative" val="1"/>
              </a:ext>
            </a:extLst>
          </p:cNvPr>
          <p:cNvSpPr/>
          <p:nvPr/>
        </p:nvSpPr>
        <p:spPr bwMode="auto">
          <a:xfrm>
            <a:off x="5266865" y="82571"/>
            <a:ext cx="6810339" cy="668636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12451141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563C-EFAE-41FA-B6DD-C485AB752FB5}"/>
              </a:ext>
            </a:extLst>
          </p:cNvPr>
          <p:cNvSpPr>
            <a:spLocks noGrp="1"/>
          </p:cNvSpPr>
          <p:nvPr>
            <p:ph type="title"/>
          </p:nvPr>
        </p:nvSpPr>
        <p:spPr/>
        <p:txBody>
          <a:bodyPr/>
          <a:lstStyle/>
          <a:p>
            <a:r>
              <a:rPr lang="en-US" dirty="0"/>
              <a:t>Demonstration </a:t>
            </a:r>
          </a:p>
        </p:txBody>
      </p:sp>
      <p:pic>
        <p:nvPicPr>
          <p:cNvPr id="4" name="Picture 3" descr="Icon of two gears">
            <a:extLst>
              <a:ext uri="{FF2B5EF4-FFF2-40B4-BE49-F238E27FC236}">
                <a16:creationId xmlns:a16="http://schemas.microsoft.com/office/drawing/2014/main" id="{082CC865-F1A3-4799-BFE6-2CD968204F39}"/>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02887E18-D8EB-4951-BB1C-D0DF02A914A8}"/>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the virtual network</a:t>
            </a:r>
          </a:p>
        </p:txBody>
      </p:sp>
      <p:cxnSp>
        <p:nvCxnSpPr>
          <p:cNvPr id="8" name="Straight Connector 7">
            <a:extLst>
              <a:ext uri="{FF2B5EF4-FFF2-40B4-BE49-F238E27FC236}">
                <a16:creationId xmlns:a16="http://schemas.microsoft.com/office/drawing/2014/main" id="{D9423C48-08D8-41DF-ACE5-80807FEC602F}"/>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8A5EB207-D64B-42E2-A298-5DFDDF2A9406}"/>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D1D6E9B0-6797-4613-A477-3AD6D839757F}"/>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load balancer</a:t>
            </a:r>
          </a:p>
        </p:txBody>
      </p:sp>
      <p:cxnSp>
        <p:nvCxnSpPr>
          <p:cNvPr id="14" name="Straight Connector 13">
            <a:extLst>
              <a:ext uri="{FF2B5EF4-FFF2-40B4-BE49-F238E27FC236}">
                <a16:creationId xmlns:a16="http://schemas.microsoft.com/office/drawing/2014/main" id="{A03FC719-FEC3-4B7D-A651-B35CDC38A52C}"/>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checkmark">
            <a:extLst>
              <a:ext uri="{FF2B5EF4-FFF2-40B4-BE49-F238E27FC236}">
                <a16:creationId xmlns:a16="http://schemas.microsoft.com/office/drawing/2014/main" id="{C38EDF14-A7F8-418D-921F-CF1A780FF3BA}"/>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8" name="Rectangle 17">
            <a:extLst>
              <a:ext uri="{FF2B5EF4-FFF2-40B4-BE49-F238E27FC236}">
                <a16:creationId xmlns:a16="http://schemas.microsoft.com/office/drawing/2014/main" id="{5D88E2AA-26CD-4006-BE4F-639EC6E609CB}"/>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backend servers and test virtual machine with IIS installed </a:t>
            </a:r>
          </a:p>
        </p:txBody>
      </p:sp>
      <p:cxnSp>
        <p:nvCxnSpPr>
          <p:cNvPr id="20" name="Straight Connector 19">
            <a:extLst>
              <a:ext uri="{FF2B5EF4-FFF2-40B4-BE49-F238E27FC236}">
                <a16:creationId xmlns:a16="http://schemas.microsoft.com/office/drawing/2014/main" id="{3EE745FF-4949-4F98-AA9A-CB83A32C0859}"/>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2" name="Picture 21" descr="Icon of two people">
            <a:extLst>
              <a:ext uri="{FF2B5EF4-FFF2-40B4-BE49-F238E27FC236}">
                <a16:creationId xmlns:a16="http://schemas.microsoft.com/office/drawing/2014/main" id="{A39316CC-FE68-4A2C-BD57-C442D30B0255}"/>
              </a:ext>
            </a:extLst>
          </p:cNvPr>
          <p:cNvPicPr>
            <a:picLocks noChangeAspect="1"/>
          </p:cNvPicPr>
          <p:nvPr/>
        </p:nvPicPr>
        <p:blipFill>
          <a:blip r:embed="rId6"/>
          <a:stretch>
            <a:fillRect/>
          </a:stretch>
        </p:blipFill>
        <p:spPr>
          <a:xfrm>
            <a:off x="455995" y="5087448"/>
            <a:ext cx="1026406" cy="1026406"/>
          </a:xfrm>
          <a:prstGeom prst="rect">
            <a:avLst/>
          </a:prstGeom>
        </p:spPr>
      </p:pic>
      <p:sp>
        <p:nvSpPr>
          <p:cNvPr id="24" name="Rectangle 23">
            <a:extLst>
              <a:ext uri="{FF2B5EF4-FFF2-40B4-BE49-F238E27FC236}">
                <a16:creationId xmlns:a16="http://schemas.microsoft.com/office/drawing/2014/main" id="{38865FC1-006A-4AD5-93DB-45093AAF0088}"/>
              </a:ext>
            </a:extLst>
          </p:cNvPr>
          <p:cNvSpPr/>
          <p:nvPr/>
        </p:nvSpPr>
        <p:spPr bwMode="auto">
          <a:xfrm>
            <a:off x="1668346" y="5420362"/>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Test the load balancer</a:t>
            </a:r>
          </a:p>
        </p:txBody>
      </p:sp>
    </p:spTree>
    <p:extLst>
      <p:ext uri="{BB962C8B-B14F-4D97-AF65-F5344CB8AC3E}">
        <p14:creationId xmlns:p14="http://schemas.microsoft.com/office/powerpoint/2010/main" val="37712529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466096"/>
            <a:ext cx="11343820" cy="397545"/>
          </a:xfrm>
        </p:spPr>
        <p:txBody>
          <a:bodyPr/>
          <a:lstStyle/>
          <a:p>
            <a:r>
              <a:rPr lang="en-US">
                <a:solidFill>
                  <a:schemeClr val="tx1"/>
                </a:solidFill>
              </a:rPr>
              <a:t>Summary and Resources – Explore load balancing options in the Azure portal</a:t>
            </a:r>
          </a:p>
        </p:txBody>
      </p:sp>
      <p:sp>
        <p:nvSpPr>
          <p:cNvPr id="3" name="Rectangle 2">
            <a:extLst>
              <a:ext uri="{FF2B5EF4-FFF2-40B4-BE49-F238E27FC236}">
                <a16:creationId xmlns:a16="http://schemas.microsoft.com/office/drawing/2014/main" id="{C986EA34-AF94-4FFE-ADB1-DD7F73179098}"/>
              </a:ext>
            </a:extLst>
          </p:cNvPr>
          <p:cNvSpPr/>
          <p:nvPr/>
        </p:nvSpPr>
        <p:spPr bwMode="auto">
          <a:xfrm>
            <a:off x="418645" y="1542916"/>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spcBef>
                <a:spcPts val="588"/>
              </a:spcBef>
            </a:pPr>
            <a:r>
              <a:rPr lang="en-US" sz="1961">
                <a:solidFill>
                  <a:schemeClr val="bg1"/>
                </a:solidFill>
                <a:latin typeface="+mj-lt"/>
              </a:rPr>
              <a:t>Knowledge Check Questions</a:t>
            </a:r>
          </a:p>
        </p:txBody>
      </p:sp>
      <p:sp>
        <p:nvSpPr>
          <p:cNvPr id="4" name="Rectangle 3">
            <a:extLst>
              <a:ext uri="{FF2B5EF4-FFF2-40B4-BE49-F238E27FC236}">
                <a16:creationId xmlns:a16="http://schemas.microsoft.com/office/drawing/2014/main" id="{23324CE0-D292-4187-AEF5-01EFFB0CE5F5}"/>
              </a:ext>
            </a:extLst>
          </p:cNvPr>
          <p:cNvSpPr/>
          <p:nvPr/>
        </p:nvSpPr>
        <p:spPr bwMode="auto">
          <a:xfrm>
            <a:off x="4780933" y="1542916"/>
            <a:ext cx="6991941"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spcBef>
                <a:spcPts val="588"/>
              </a:spcBef>
            </a:pPr>
            <a:r>
              <a:rPr lang="en-US" sz="1961">
                <a:solidFill>
                  <a:schemeClr val="bg1"/>
                </a:solidFill>
                <a:latin typeface="+mj-lt"/>
              </a:rPr>
              <a:t>Microsoft Learn Modules (docs.microsoft.com/Learn)</a:t>
            </a:r>
          </a:p>
        </p:txBody>
      </p:sp>
      <p:sp>
        <p:nvSpPr>
          <p:cNvPr id="7" name="Rectangle 6">
            <a:extLst>
              <a:ext uri="{FF2B5EF4-FFF2-40B4-BE49-F238E27FC236}">
                <a16:creationId xmlns:a16="http://schemas.microsoft.com/office/drawing/2014/main" id="{B065BE23-B7E3-411D-B438-736FFAA1956D}"/>
              </a:ext>
            </a:extLst>
          </p:cNvPr>
          <p:cNvSpPr/>
          <p:nvPr/>
        </p:nvSpPr>
        <p:spPr>
          <a:xfrm>
            <a:off x="4780933" y="2286032"/>
            <a:ext cx="6991941" cy="80678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9285" tIns="134464" rIns="179285" bIns="134464" numCol="1" spcCol="1270" anchor="ctr" anchorCtr="0">
            <a:noAutofit/>
          </a:bodyPr>
          <a:lstStyle/>
          <a:p>
            <a:pPr marL="0" lvl="1"/>
            <a:r>
              <a:rPr lang="en-US" sz="1961">
                <a:solidFill>
                  <a:schemeClr val="tx1"/>
                </a:solidFill>
              </a:rPr>
              <a:t>Improve application scalability and resiliency by using Azure</a:t>
            </a:r>
            <a:br>
              <a:rPr lang="en-US" sz="1961">
                <a:solidFill>
                  <a:schemeClr val="tx1"/>
                </a:solidFill>
              </a:rPr>
            </a:br>
            <a:r>
              <a:rPr lang="en-US" sz="1961">
                <a:solidFill>
                  <a:schemeClr val="tx1"/>
                </a:solidFill>
              </a:rPr>
              <a:t>Load Balancer</a:t>
            </a:r>
          </a:p>
        </p:txBody>
      </p:sp>
      <p:cxnSp>
        <p:nvCxnSpPr>
          <p:cNvPr id="8" name="Straight Connector 7">
            <a:extLst>
              <a:ext uri="{FF2B5EF4-FFF2-40B4-BE49-F238E27FC236}">
                <a16:creationId xmlns:a16="http://schemas.microsoft.com/office/drawing/2014/main" id="{DB465EFD-AEF7-4983-87B7-E852F434B9F5}"/>
              </a:ext>
              <a:ext uri="{C183D7F6-B498-43B3-948B-1728B52AA6E4}">
                <adec:decorative xmlns:adec="http://schemas.microsoft.com/office/drawing/2017/decorative" val="1"/>
              </a:ext>
            </a:extLst>
          </p:cNvPr>
          <p:cNvCxnSpPr>
            <a:cxnSpLocks/>
          </p:cNvCxnSpPr>
          <p:nvPr/>
        </p:nvCxnSpPr>
        <p:spPr>
          <a:xfrm>
            <a:off x="4780933" y="3219015"/>
            <a:ext cx="6991941"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0FA55D17-1DC9-43F6-8BC9-16D44769821F}"/>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4344" y="2949066"/>
            <a:ext cx="1465263" cy="2130976"/>
          </a:xfrm>
          <a:prstGeom prst="rect">
            <a:avLst/>
          </a:prstGeom>
        </p:spPr>
      </p:pic>
    </p:spTree>
    <p:extLst>
      <p:ext uri="{BB962C8B-B14F-4D97-AF65-F5344CB8AC3E}">
        <p14:creationId xmlns:p14="http://schemas.microsoft.com/office/powerpoint/2010/main" val="103499582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3377D2-7861-4C14-A5CC-34B7BDF1221F}"/>
              </a:ext>
            </a:extLst>
          </p:cNvPr>
          <p:cNvSpPr>
            <a:spLocks noGrp="1"/>
          </p:cNvSpPr>
          <p:nvPr>
            <p:ph type="title"/>
          </p:nvPr>
        </p:nvSpPr>
        <p:spPr>
          <a:xfrm>
            <a:off x="585217" y="2930402"/>
            <a:ext cx="8892608" cy="997196"/>
          </a:xfrm>
        </p:spPr>
        <p:txBody>
          <a:bodyPr/>
          <a:lstStyle/>
          <a:p>
            <a:r>
              <a:rPr lang="en-US"/>
              <a:t>Lesson 02: Design and implement </a:t>
            </a:r>
            <a:r>
              <a:rPr lang="en-US" sz="3600"/>
              <a:t>Azure Load balancer </a:t>
            </a:r>
            <a:endParaRPr lang="en-US"/>
          </a:p>
        </p:txBody>
      </p:sp>
      <p:grpSp>
        <p:nvGrpSpPr>
          <p:cNvPr id="4" name="Group 3">
            <a:extLst>
              <a:ext uri="{FF2B5EF4-FFF2-40B4-BE49-F238E27FC236}">
                <a16:creationId xmlns:a16="http://schemas.microsoft.com/office/drawing/2014/main" id="{FC9227BD-8B6C-41C8-9FD9-C2DE2BBC98CC}"/>
              </a:ext>
              <a:ext uri="{C183D7F6-B498-43B3-948B-1728B52AA6E4}">
                <adec:decorative xmlns:adec="http://schemas.microsoft.com/office/drawing/2017/decorative" val="1"/>
              </a:ext>
            </a:extLst>
          </p:cNvPr>
          <p:cNvGrpSpPr/>
          <p:nvPr/>
        </p:nvGrpSpPr>
        <p:grpSpPr>
          <a:xfrm>
            <a:off x="10289153" y="3070379"/>
            <a:ext cx="717140" cy="717242"/>
            <a:chOff x="418643" y="2533089"/>
            <a:chExt cx="717140" cy="717242"/>
          </a:xfrm>
        </p:grpSpPr>
        <p:grpSp>
          <p:nvGrpSpPr>
            <p:cNvPr id="5" name="Group 4">
              <a:extLst>
                <a:ext uri="{FF2B5EF4-FFF2-40B4-BE49-F238E27FC236}">
                  <a16:creationId xmlns:a16="http://schemas.microsoft.com/office/drawing/2014/main" id="{A11A52E9-F34D-4F6C-AB5E-CFF8875392B4}"/>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7" name="Freeform 5">
                <a:extLst>
                  <a:ext uri="{FF2B5EF4-FFF2-40B4-BE49-F238E27FC236}">
                    <a16:creationId xmlns:a16="http://schemas.microsoft.com/office/drawing/2014/main" id="{D5BD6E19-CF2F-43FE-80A8-51AD3E196381}"/>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BACAB8B-36DA-459A-BB48-F2DCA2F44D24}"/>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0F72C5A9-948C-4958-8427-0F95AEA42572}"/>
                </a:ext>
              </a:extLst>
            </p:cNvPr>
            <p:cNvPicPr>
              <a:picLocks noChangeAspect="1"/>
            </p:cNvPicPr>
            <p:nvPr/>
          </p:nvPicPr>
          <p:blipFill>
            <a:blip r:embed="rId2"/>
            <a:stretch>
              <a:fillRect/>
            </a:stretch>
          </p:blipFill>
          <p:spPr>
            <a:xfrm>
              <a:off x="566791" y="2681289"/>
              <a:ext cx="420846" cy="420844"/>
            </a:xfrm>
            <a:prstGeom prst="rect">
              <a:avLst/>
            </a:prstGeom>
          </p:spPr>
        </p:pic>
      </p:grpSp>
    </p:spTree>
    <p:extLst>
      <p:ext uri="{BB962C8B-B14F-4D97-AF65-F5344CB8AC3E}">
        <p14:creationId xmlns:p14="http://schemas.microsoft.com/office/powerpoint/2010/main" val="18180759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53590" y="3088902"/>
            <a:ext cx="2309142" cy="680196"/>
          </a:xfrm>
        </p:spPr>
        <p:txBody>
          <a:bodyPr/>
          <a:lstStyle/>
          <a:p>
            <a:r>
              <a:rPr lang="en-US" sz="2750" dirty="0"/>
              <a:t>Design and implement Azure Load Balancer overview</a:t>
            </a:r>
          </a:p>
        </p:txBody>
      </p:sp>
      <p:sp>
        <p:nvSpPr>
          <p:cNvPr id="6" name="Text Placeholder 5"/>
          <p:cNvSpPr>
            <a:spLocks noGrp="1"/>
          </p:cNvSpPr>
          <p:nvPr>
            <p:ph type="body" sz="quarter" idx="11"/>
          </p:nvPr>
        </p:nvSpPr>
        <p:spPr>
          <a:xfrm>
            <a:off x="3619500" y="896822"/>
            <a:ext cx="3330574" cy="675889"/>
          </a:xfrm>
        </p:spPr>
        <p:txBody>
          <a:bodyPr/>
          <a:lstStyle/>
          <a:p>
            <a:pPr lvl="1"/>
            <a:r>
              <a:rPr lang="en-US" dirty="0"/>
              <a:t>Determine Load Balancer type</a:t>
            </a:r>
          </a:p>
        </p:txBody>
      </p:sp>
      <p:sp>
        <p:nvSpPr>
          <p:cNvPr id="2" name="Text Placeholder 1"/>
          <p:cNvSpPr>
            <a:spLocks noGrp="1"/>
          </p:cNvSpPr>
          <p:nvPr>
            <p:ph type="body" sz="quarter" idx="15"/>
          </p:nvPr>
        </p:nvSpPr>
        <p:spPr>
          <a:xfrm>
            <a:off x="3619500" y="1740673"/>
            <a:ext cx="3330574" cy="675889"/>
          </a:xfrm>
        </p:spPr>
        <p:txBody>
          <a:bodyPr/>
          <a:lstStyle/>
          <a:p>
            <a:pPr lvl="1"/>
            <a:r>
              <a:rPr lang="en-US" dirty="0"/>
              <a:t>Azure Load balancer and availability zones </a:t>
            </a:r>
          </a:p>
        </p:txBody>
      </p:sp>
      <p:sp>
        <p:nvSpPr>
          <p:cNvPr id="3" name="Text Placeholder 2"/>
          <p:cNvSpPr>
            <a:spLocks noGrp="1"/>
          </p:cNvSpPr>
          <p:nvPr>
            <p:ph type="body" sz="quarter" idx="17"/>
          </p:nvPr>
        </p:nvSpPr>
        <p:spPr>
          <a:xfrm>
            <a:off x="3619500" y="2584524"/>
            <a:ext cx="3330574" cy="675889"/>
          </a:xfrm>
        </p:spPr>
        <p:txBody>
          <a:bodyPr/>
          <a:lstStyle/>
          <a:p>
            <a:pPr lvl="1"/>
            <a:r>
              <a:rPr lang="en-US" dirty="0"/>
              <a:t>Determine Load Balancer SKUs</a:t>
            </a:r>
          </a:p>
        </p:txBody>
      </p:sp>
      <p:sp>
        <p:nvSpPr>
          <p:cNvPr id="4" name="Text Placeholder 3"/>
          <p:cNvSpPr>
            <a:spLocks noGrp="1"/>
          </p:cNvSpPr>
          <p:nvPr>
            <p:ph type="body" sz="quarter" idx="19"/>
          </p:nvPr>
        </p:nvSpPr>
        <p:spPr>
          <a:xfrm>
            <a:off x="3619500" y="3428375"/>
            <a:ext cx="3330574" cy="675889"/>
          </a:xfrm>
        </p:spPr>
        <p:txBody>
          <a:bodyPr/>
          <a:lstStyle/>
          <a:p>
            <a:pPr lvl="1"/>
            <a:r>
              <a:rPr lang="en-US" dirty="0"/>
              <a:t>Create Load balancer in the Azure portal </a:t>
            </a:r>
          </a:p>
        </p:txBody>
      </p:sp>
      <p:sp>
        <p:nvSpPr>
          <p:cNvPr id="5" name="Text Placeholder 4"/>
          <p:cNvSpPr>
            <a:spLocks noGrp="1"/>
          </p:cNvSpPr>
          <p:nvPr>
            <p:ph type="body" sz="quarter" idx="21"/>
          </p:nvPr>
        </p:nvSpPr>
        <p:spPr>
          <a:xfrm>
            <a:off x="3619500" y="4272226"/>
            <a:ext cx="3330574" cy="675889"/>
          </a:xfrm>
        </p:spPr>
        <p:txBody>
          <a:bodyPr/>
          <a:lstStyle/>
          <a:p>
            <a:pPr lvl="1"/>
            <a:r>
              <a:rPr lang="en-US" dirty="0"/>
              <a:t>Create Backend Pools</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a:xfrm>
            <a:off x="3619500" y="5116079"/>
            <a:ext cx="3330574" cy="675889"/>
          </a:xfrm>
        </p:spPr>
        <p:txBody>
          <a:bodyPr/>
          <a:lstStyle/>
          <a:p>
            <a:pPr lvl="1"/>
            <a:r>
              <a:rPr lang="en-US" dirty="0"/>
              <a:t>Create Load Balancer Rules</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896822"/>
            <a:ext cx="3442157" cy="675889"/>
          </a:xfrm>
        </p:spPr>
        <p:txBody>
          <a:bodyPr/>
          <a:lstStyle/>
          <a:p>
            <a:pPr lvl="1"/>
            <a:r>
              <a:rPr lang="en-US" dirty="0"/>
              <a:t>Configure Session Persistence</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1740673"/>
            <a:ext cx="3442157" cy="675889"/>
          </a:xfrm>
        </p:spPr>
        <p:txBody>
          <a:bodyPr/>
          <a:lstStyle/>
          <a:p>
            <a:pPr lvl="1"/>
            <a:r>
              <a:rPr lang="en-US" dirty="0"/>
              <a:t>Create Health Probes</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2584524"/>
            <a:ext cx="3442157" cy="675889"/>
          </a:xfrm>
        </p:spPr>
        <p:txBody>
          <a:bodyPr/>
          <a:lstStyle/>
          <a:p>
            <a:pPr lvl="1"/>
            <a:r>
              <a:rPr lang="en-US" dirty="0"/>
              <a:t>Configure outbound traffic with Standard load balancer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a:xfrm>
            <a:off x="8331200" y="3428375"/>
            <a:ext cx="3442157" cy="675889"/>
          </a:xfrm>
        </p:spPr>
        <p:txBody>
          <a:bodyPr/>
          <a:lstStyle/>
          <a:p>
            <a:pPr lvl="1"/>
            <a:r>
              <a:rPr lang="en-US" dirty="0"/>
              <a:t>Demonstration </a:t>
            </a:r>
          </a:p>
        </p:txBody>
      </p:sp>
      <p:sp>
        <p:nvSpPr>
          <p:cNvPr id="99" name="Text Placeholder 98">
            <a:extLst>
              <a:ext uri="{FF2B5EF4-FFF2-40B4-BE49-F238E27FC236}">
                <a16:creationId xmlns:a16="http://schemas.microsoft.com/office/drawing/2014/main" id="{9D82B098-BD37-4658-BAAB-A95CD4F98789}"/>
              </a:ext>
            </a:extLst>
          </p:cNvPr>
          <p:cNvSpPr>
            <a:spLocks noGrp="1"/>
          </p:cNvSpPr>
          <p:nvPr>
            <p:ph type="body" sz="quarter" idx="28"/>
          </p:nvPr>
        </p:nvSpPr>
        <p:spPr>
          <a:xfrm>
            <a:off x="8331200" y="4272226"/>
            <a:ext cx="3442157" cy="675889"/>
          </a:xfrm>
        </p:spPr>
        <p:txBody>
          <a:bodyPr/>
          <a:lstStyle/>
          <a:p>
            <a:pPr lvl="1"/>
            <a:r>
              <a:rPr lang="en-US" dirty="0"/>
              <a:t>Review </a:t>
            </a:r>
          </a:p>
        </p:txBody>
      </p:sp>
      <p:grpSp>
        <p:nvGrpSpPr>
          <p:cNvPr id="20" name="Group 19">
            <a:extLst>
              <a:ext uri="{FF2B5EF4-FFF2-40B4-BE49-F238E27FC236}">
                <a16:creationId xmlns:a16="http://schemas.microsoft.com/office/drawing/2014/main" id="{2836C3FE-9026-44BE-8C96-83619A85BE60}"/>
              </a:ext>
              <a:ext uri="{C183D7F6-B498-43B3-948B-1728B52AA6E4}">
                <adec:decorative xmlns:adec="http://schemas.microsoft.com/office/drawing/2017/decorative" val="1"/>
              </a:ext>
            </a:extLst>
          </p:cNvPr>
          <p:cNvGrpSpPr/>
          <p:nvPr/>
        </p:nvGrpSpPr>
        <p:grpSpPr>
          <a:xfrm>
            <a:off x="2744702" y="918493"/>
            <a:ext cx="648329" cy="4859741"/>
            <a:chOff x="2744702" y="918493"/>
            <a:chExt cx="648329" cy="4859741"/>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918493"/>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1760757"/>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2603021"/>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445285"/>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4287549"/>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nvGrpSpPr>
            <p:cNvPr id="34" name="Group 33">
              <a:extLst>
                <a:ext uri="{FF2B5EF4-FFF2-40B4-BE49-F238E27FC236}">
                  <a16:creationId xmlns:a16="http://schemas.microsoft.com/office/drawing/2014/main" id="{32623F37-69BB-457C-BC7F-E582E6729645}"/>
                </a:ext>
              </a:extLst>
            </p:cNvPr>
            <p:cNvGrpSpPr/>
            <p:nvPr/>
          </p:nvGrpSpPr>
          <p:grpSpPr>
            <a:xfrm>
              <a:off x="2744702" y="5129813"/>
              <a:ext cx="648329" cy="648421"/>
              <a:chOff x="2744702" y="4691402"/>
              <a:chExt cx="648329" cy="648421"/>
            </a:xfrm>
          </p:grpSpPr>
          <p:grpSp>
            <p:nvGrpSpPr>
              <p:cNvPr id="32" name="Group 31">
                <a:extLst>
                  <a:ext uri="{FF2B5EF4-FFF2-40B4-BE49-F238E27FC236}">
                    <a16:creationId xmlns:a16="http://schemas.microsoft.com/office/drawing/2014/main" id="{FA81CEC7-5642-4708-9362-AA580144D854}"/>
                  </a:ext>
                </a:extLst>
              </p:cNvPr>
              <p:cNvGrpSpPr/>
              <p:nvPr/>
            </p:nvGrpSpPr>
            <p:grpSpPr>
              <a:xfrm>
                <a:off x="2744702" y="4691402"/>
                <a:ext cx="648329" cy="648421"/>
                <a:chOff x="2744702" y="4691402"/>
                <a:chExt cx="648329" cy="648421"/>
              </a:xfrm>
            </p:grpSpPr>
            <p:sp>
              <p:nvSpPr>
                <p:cNvPr id="181" name="Freeform 5">
                  <a:extLst>
                    <a:ext uri="{FF2B5EF4-FFF2-40B4-BE49-F238E27FC236}">
                      <a16:creationId xmlns:a16="http://schemas.microsoft.com/office/drawing/2014/main" id="{689DC39C-8F39-4654-8719-EA8E15139FAF}"/>
                    </a:ext>
                  </a:extLst>
                </p:cNvPr>
                <p:cNvSpPr>
                  <a:spLocks/>
                </p:cNvSpPr>
                <p:nvPr/>
              </p:nvSpPr>
              <p:spPr bwMode="auto">
                <a:xfrm>
                  <a:off x="2744702" y="469140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82" name="Freeform 6">
                  <a:extLst>
                    <a:ext uri="{FF2B5EF4-FFF2-40B4-BE49-F238E27FC236}">
                      <a16:creationId xmlns:a16="http://schemas.microsoft.com/office/drawing/2014/main" id="{1156CFFA-F629-4BBD-953A-57E679EAD741}"/>
                    </a:ext>
                  </a:extLst>
                </p:cNvPr>
                <p:cNvSpPr>
                  <a:spLocks noEditPoints="1"/>
                </p:cNvSpPr>
                <p:nvPr/>
              </p:nvSpPr>
              <p:spPr bwMode="auto">
                <a:xfrm>
                  <a:off x="2789287" y="473651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29115E6-0421-4003-BD11-0D1DA14BE9DD}"/>
                  </a:ext>
                </a:extLst>
              </p:cNvPr>
              <p:cNvPicPr>
                <a:picLocks noChangeAspect="1"/>
              </p:cNvPicPr>
              <p:nvPr/>
            </p:nvPicPr>
            <p:blipFill>
              <a:blip r:embed="rId8"/>
              <a:stretch>
                <a:fillRect/>
              </a:stretch>
            </p:blipFill>
            <p:spPr>
              <a:xfrm>
                <a:off x="2897349" y="4844094"/>
                <a:ext cx="343035" cy="343035"/>
              </a:xfrm>
              <a:prstGeom prst="rect">
                <a:avLst/>
              </a:prstGeom>
            </p:spPr>
          </p:pic>
        </p:grpSp>
      </p:grpSp>
      <p:grpSp>
        <p:nvGrpSpPr>
          <p:cNvPr id="27" name="Group 26">
            <a:extLst>
              <a:ext uri="{FF2B5EF4-FFF2-40B4-BE49-F238E27FC236}">
                <a16:creationId xmlns:a16="http://schemas.microsoft.com/office/drawing/2014/main" id="{1DA6CDA1-F6DC-478D-93E2-27AB54216996}"/>
              </a:ext>
              <a:ext uri="{C183D7F6-B498-43B3-948B-1728B52AA6E4}">
                <adec:decorative xmlns:adec="http://schemas.microsoft.com/office/drawing/2017/decorative" val="1"/>
              </a:ext>
            </a:extLst>
          </p:cNvPr>
          <p:cNvGrpSpPr/>
          <p:nvPr/>
        </p:nvGrpSpPr>
        <p:grpSpPr>
          <a:xfrm>
            <a:off x="7465384" y="918493"/>
            <a:ext cx="648329" cy="4017477"/>
            <a:chOff x="7465384" y="918493"/>
            <a:chExt cx="648329" cy="4017477"/>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918493"/>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1760757"/>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2603021"/>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445285"/>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nvGrpSpPr>
            <p:cNvPr id="38" name="Group 37">
              <a:extLst>
                <a:ext uri="{FF2B5EF4-FFF2-40B4-BE49-F238E27FC236}">
                  <a16:creationId xmlns:a16="http://schemas.microsoft.com/office/drawing/2014/main" id="{F92A0205-4849-46DA-94AE-12B53B09EFF2}"/>
                </a:ext>
              </a:extLst>
            </p:cNvPr>
            <p:cNvGrpSpPr/>
            <p:nvPr/>
          </p:nvGrpSpPr>
          <p:grpSpPr>
            <a:xfrm>
              <a:off x="7465384" y="4287549"/>
              <a:ext cx="648329" cy="648421"/>
              <a:chOff x="7465384" y="3849138"/>
              <a:chExt cx="648329" cy="648421"/>
            </a:xfrm>
          </p:grpSpPr>
          <p:grpSp>
            <p:nvGrpSpPr>
              <p:cNvPr id="37" name="Group 36">
                <a:extLst>
                  <a:ext uri="{FF2B5EF4-FFF2-40B4-BE49-F238E27FC236}">
                    <a16:creationId xmlns:a16="http://schemas.microsoft.com/office/drawing/2014/main" id="{BD0BD5A1-A5E2-4AE5-A0DA-7814A59E31B9}"/>
                  </a:ext>
                </a:extLst>
              </p:cNvPr>
              <p:cNvGrpSpPr/>
              <p:nvPr/>
            </p:nvGrpSpPr>
            <p:grpSpPr>
              <a:xfrm>
                <a:off x="7465384" y="3849138"/>
                <a:ext cx="648329" cy="648421"/>
                <a:chOff x="7465384" y="3849138"/>
                <a:chExt cx="648329" cy="648421"/>
              </a:xfrm>
            </p:grpSpPr>
            <p:sp>
              <p:nvSpPr>
                <p:cNvPr id="295" name="Freeform 5">
                  <a:extLst>
                    <a:ext uri="{FF2B5EF4-FFF2-40B4-BE49-F238E27FC236}">
                      <a16:creationId xmlns:a16="http://schemas.microsoft.com/office/drawing/2014/main" id="{AEC8F748-5A1D-48AE-9734-03FB168C7969}"/>
                    </a:ext>
                  </a:extLst>
                </p:cNvPr>
                <p:cNvSpPr>
                  <a:spLocks/>
                </p:cNvSpPr>
                <p:nvPr/>
              </p:nvSpPr>
              <p:spPr bwMode="auto">
                <a:xfrm>
                  <a:off x="7465384"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96" name="Freeform 6">
                  <a:extLst>
                    <a:ext uri="{FF2B5EF4-FFF2-40B4-BE49-F238E27FC236}">
                      <a16:creationId xmlns:a16="http://schemas.microsoft.com/office/drawing/2014/main" id="{A052CBFC-AE43-4D3C-90BA-25BE664B3444}"/>
                    </a:ext>
                  </a:extLst>
                </p:cNvPr>
                <p:cNvSpPr>
                  <a:spLocks noEditPoints="1"/>
                </p:cNvSpPr>
                <p:nvPr/>
              </p:nvSpPr>
              <p:spPr bwMode="auto">
                <a:xfrm>
                  <a:off x="7509969"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screen with dots">
                <a:extLst>
                  <a:ext uri="{FF2B5EF4-FFF2-40B4-BE49-F238E27FC236}">
                    <a16:creationId xmlns:a16="http://schemas.microsoft.com/office/drawing/2014/main" id="{8E4535D7-6290-48FF-B3F7-FD97910E1A00}"/>
                  </a:ext>
                </a:extLst>
              </p:cNvPr>
              <p:cNvPicPr>
                <a:picLocks noChangeAspect="1"/>
              </p:cNvPicPr>
              <p:nvPr/>
            </p:nvPicPr>
            <p:blipFill>
              <a:blip r:embed="rId7"/>
              <a:stretch>
                <a:fillRect/>
              </a:stretch>
            </p:blipFill>
            <p:spPr>
              <a:xfrm>
                <a:off x="7620683" y="4046628"/>
                <a:ext cx="337732" cy="253437"/>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Choosing a Load Balancer Type</a:t>
            </a:r>
          </a:p>
        </p:txBody>
      </p:sp>
      <p:sp>
        <p:nvSpPr>
          <p:cNvPr id="4" name="Rectangle 3">
            <a:extLst>
              <a:ext uri="{FF2B5EF4-FFF2-40B4-BE49-F238E27FC236}">
                <a16:creationId xmlns:a16="http://schemas.microsoft.com/office/drawing/2014/main" id="{29C81A2B-B710-47EE-A3D3-05BC3F161E97}"/>
              </a:ext>
            </a:extLst>
          </p:cNvPr>
          <p:cNvSpPr/>
          <p:nvPr/>
        </p:nvSpPr>
        <p:spPr>
          <a:xfrm>
            <a:off x="418641" y="2031403"/>
            <a:ext cx="4586521" cy="137723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A </a:t>
            </a:r>
            <a:r>
              <a:rPr lang="en-US" sz="1961" b="1">
                <a:solidFill>
                  <a:schemeClr val="tx1"/>
                </a:solidFill>
              </a:rPr>
              <a:t>public load balancer </a:t>
            </a:r>
            <a:r>
              <a:rPr lang="en-US" sz="1961">
                <a:solidFill>
                  <a:schemeClr val="tx1"/>
                </a:solidFill>
              </a:rPr>
              <a:t>can provide outbound connections for virtual machines (VMs) inside your virtual network</a:t>
            </a:r>
          </a:p>
        </p:txBody>
      </p:sp>
      <p:sp>
        <p:nvSpPr>
          <p:cNvPr id="5" name="Rectangle 4">
            <a:extLst>
              <a:ext uri="{FF2B5EF4-FFF2-40B4-BE49-F238E27FC236}">
                <a16:creationId xmlns:a16="http://schemas.microsoft.com/office/drawing/2014/main" id="{26C8C970-DBB5-4B3F-8673-A6E46380EFBB}"/>
              </a:ext>
            </a:extLst>
          </p:cNvPr>
          <p:cNvSpPr/>
          <p:nvPr/>
        </p:nvSpPr>
        <p:spPr>
          <a:xfrm>
            <a:off x="418642" y="4137979"/>
            <a:ext cx="4586521" cy="137723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a:solidFill>
                  <a:schemeClr val="tx1"/>
                </a:solidFill>
              </a:rPr>
              <a:t>An </a:t>
            </a:r>
            <a:r>
              <a:rPr lang="en-US" sz="1961" b="1">
                <a:solidFill>
                  <a:schemeClr val="tx1"/>
                </a:solidFill>
              </a:rPr>
              <a:t>internal load balancer </a:t>
            </a:r>
            <a:r>
              <a:rPr lang="en-US" sz="1961">
                <a:solidFill>
                  <a:schemeClr val="tx1"/>
                </a:solidFill>
              </a:rPr>
              <a:t>is used where private IPs are needed at the frontend only</a:t>
            </a:r>
          </a:p>
        </p:txBody>
      </p:sp>
      <p:sp>
        <p:nvSpPr>
          <p:cNvPr id="3" name="Rectangle 2">
            <a:extLst>
              <a:ext uri="{FF2B5EF4-FFF2-40B4-BE49-F238E27FC236}">
                <a16:creationId xmlns:a16="http://schemas.microsoft.com/office/drawing/2014/main" id="{4DE98120-0062-4BC3-9D92-B7596B225B22}"/>
              </a:ext>
              <a:ext uri="{C183D7F6-B498-43B3-948B-1728B52AA6E4}">
                <adec:decorative xmlns:adec="http://schemas.microsoft.com/office/drawing/2017/decorative" val="1"/>
              </a:ext>
            </a:extLst>
          </p:cNvPr>
          <p:cNvSpPr/>
          <p:nvPr/>
        </p:nvSpPr>
        <p:spPr bwMode="auto">
          <a:xfrm>
            <a:off x="6743700" y="1169264"/>
            <a:ext cx="5029658" cy="506791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9" name="Picture 8" descr="Diagram illustrating Internal and Public load balancers in Azure">
            <a:extLst>
              <a:ext uri="{FF2B5EF4-FFF2-40B4-BE49-F238E27FC236}">
                <a16:creationId xmlns:a16="http://schemas.microsoft.com/office/drawing/2014/main" id="{823CC5A5-739E-46C8-848D-E589B38F44E9}"/>
              </a:ext>
            </a:extLst>
          </p:cNvPr>
          <p:cNvPicPr/>
          <p:nvPr/>
        </p:nvPicPr>
        <p:blipFill>
          <a:blip r:embed="rId3"/>
          <a:stretch>
            <a:fillRect/>
          </a:stretch>
        </p:blipFill>
        <p:spPr bwMode="auto">
          <a:xfrm>
            <a:off x="7115175" y="1169264"/>
            <a:ext cx="3729038" cy="4900612"/>
          </a:xfrm>
          <a:prstGeom prst="rect">
            <a:avLst/>
          </a:prstGeom>
          <a:noFill/>
          <a:ln>
            <a:noFill/>
          </a:ln>
        </p:spPr>
      </p:pic>
    </p:spTree>
    <p:extLst>
      <p:ext uri="{BB962C8B-B14F-4D97-AF65-F5344CB8AC3E}">
        <p14:creationId xmlns:p14="http://schemas.microsoft.com/office/powerpoint/2010/main" val="300640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CD3C-C1DC-4040-92AB-41C0F703AD13}"/>
              </a:ext>
            </a:extLst>
          </p:cNvPr>
          <p:cNvSpPr>
            <a:spLocks noGrp="1"/>
          </p:cNvSpPr>
          <p:nvPr>
            <p:ph type="title"/>
          </p:nvPr>
        </p:nvSpPr>
        <p:spPr>
          <a:xfrm>
            <a:off x="424090" y="466096"/>
            <a:ext cx="11343820" cy="397545"/>
          </a:xfrm>
        </p:spPr>
        <p:txBody>
          <a:bodyPr/>
          <a:lstStyle/>
          <a:p>
            <a:r>
              <a:rPr lang="en-US" sz="2800">
                <a:solidFill>
                  <a:schemeClr val="tx1"/>
                </a:solidFill>
              </a:rPr>
              <a:t>Azure Load balancer and availability zones </a:t>
            </a:r>
            <a:endParaRPr lang="en-US"/>
          </a:p>
        </p:txBody>
      </p:sp>
      <p:pic>
        <p:nvPicPr>
          <p:cNvPr id="3" name="Picture 2" descr="zone redundant standard load balancer ">
            <a:extLst>
              <a:ext uri="{FF2B5EF4-FFF2-40B4-BE49-F238E27FC236}">
                <a16:creationId xmlns:a16="http://schemas.microsoft.com/office/drawing/2014/main" id="{B1657C1B-675E-41B8-8470-28C78F775903}"/>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609600" y="2322990"/>
            <a:ext cx="5486400" cy="3475353"/>
          </a:xfrm>
          <a:prstGeom prst="rect">
            <a:avLst/>
          </a:prstGeom>
          <a:noFill/>
          <a:ln>
            <a:noFill/>
          </a:ln>
        </p:spPr>
      </p:pic>
      <p:pic>
        <p:nvPicPr>
          <p:cNvPr id="4" name="Picture 3" descr="zonal standard load balancer ">
            <a:extLst>
              <a:ext uri="{FF2B5EF4-FFF2-40B4-BE49-F238E27FC236}">
                <a16:creationId xmlns:a16="http://schemas.microsoft.com/office/drawing/2014/main" id="{C5465E5D-8240-40B6-BABC-2F6B20C3E837}"/>
              </a:ext>
            </a:extLst>
          </p:cNvPr>
          <p:cNvPicPr/>
          <p:nvPr/>
        </p:nvPicPr>
        <p:blipFill>
          <a:blip r:embed="rId4"/>
          <a:stretch>
            <a:fillRect/>
          </a:stretch>
        </p:blipFill>
        <p:spPr bwMode="auto">
          <a:xfrm>
            <a:off x="6586539" y="2322990"/>
            <a:ext cx="5300662" cy="3312318"/>
          </a:xfrm>
          <a:prstGeom prst="rect">
            <a:avLst/>
          </a:prstGeom>
          <a:noFill/>
          <a:ln>
            <a:noFill/>
          </a:ln>
        </p:spPr>
      </p:pic>
      <p:sp>
        <p:nvSpPr>
          <p:cNvPr id="6" name="Rectangle 5">
            <a:extLst>
              <a:ext uri="{FF2B5EF4-FFF2-40B4-BE49-F238E27FC236}">
                <a16:creationId xmlns:a16="http://schemas.microsoft.com/office/drawing/2014/main" id="{4064BA1B-867B-4982-8D90-39B0B95E600C}"/>
              </a:ext>
            </a:extLst>
          </p:cNvPr>
          <p:cNvSpPr/>
          <p:nvPr/>
        </p:nvSpPr>
        <p:spPr>
          <a:xfrm>
            <a:off x="1088115" y="1439547"/>
            <a:ext cx="4517347" cy="8834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Zone redundant </a:t>
            </a:r>
          </a:p>
        </p:txBody>
      </p:sp>
      <p:sp>
        <p:nvSpPr>
          <p:cNvPr id="8" name="Rectangle 7">
            <a:extLst>
              <a:ext uri="{FF2B5EF4-FFF2-40B4-BE49-F238E27FC236}">
                <a16:creationId xmlns:a16="http://schemas.microsoft.com/office/drawing/2014/main" id="{E7F500C8-71EF-40E8-86AD-15BE66A65E20}"/>
              </a:ext>
            </a:extLst>
          </p:cNvPr>
          <p:cNvSpPr/>
          <p:nvPr/>
        </p:nvSpPr>
        <p:spPr>
          <a:xfrm>
            <a:off x="6978196" y="1439546"/>
            <a:ext cx="4517347" cy="8834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Zonal </a:t>
            </a:r>
          </a:p>
        </p:txBody>
      </p:sp>
      <p:sp>
        <p:nvSpPr>
          <p:cNvPr id="5" name="Rectangle 4">
            <a:extLst>
              <a:ext uri="{FF2B5EF4-FFF2-40B4-BE49-F238E27FC236}">
                <a16:creationId xmlns:a16="http://schemas.microsoft.com/office/drawing/2014/main" id="{B3DAB55E-0A2B-41D6-9E6E-9BA50526057C}"/>
              </a:ext>
              <a:ext uri="{C183D7F6-B498-43B3-948B-1728B52AA6E4}">
                <adec:decorative xmlns:adec="http://schemas.microsoft.com/office/drawing/2017/decorative" val="1"/>
              </a:ext>
            </a:extLst>
          </p:cNvPr>
          <p:cNvSpPr/>
          <p:nvPr/>
        </p:nvSpPr>
        <p:spPr bwMode="auto">
          <a:xfrm>
            <a:off x="870514" y="1024874"/>
            <a:ext cx="5029658" cy="48082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0" name="Rectangle 9">
            <a:extLst>
              <a:ext uri="{FF2B5EF4-FFF2-40B4-BE49-F238E27FC236}">
                <a16:creationId xmlns:a16="http://schemas.microsoft.com/office/drawing/2014/main" id="{97220DEA-0113-45E9-88B7-6FB82177F23F}"/>
              </a:ext>
              <a:ext uri="{C183D7F6-B498-43B3-948B-1728B52AA6E4}">
                <adec:decorative xmlns:adec="http://schemas.microsoft.com/office/drawing/2017/decorative" val="1"/>
              </a:ext>
            </a:extLst>
          </p:cNvPr>
          <p:cNvSpPr/>
          <p:nvPr/>
        </p:nvSpPr>
        <p:spPr bwMode="auto">
          <a:xfrm>
            <a:off x="6738252" y="1024874"/>
            <a:ext cx="5029658" cy="48082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0342246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Determine Load Balancer SKUs</a:t>
            </a:r>
          </a:p>
        </p:txBody>
      </p:sp>
      <p:graphicFrame>
        <p:nvGraphicFramePr>
          <p:cNvPr id="2" name="Table 2">
            <a:extLst>
              <a:ext uri="{FF2B5EF4-FFF2-40B4-BE49-F238E27FC236}">
                <a16:creationId xmlns:a16="http://schemas.microsoft.com/office/drawing/2014/main" id="{E0A57C7C-4FD0-44D9-AF5B-5AF5E4ACEDF9}"/>
              </a:ext>
            </a:extLst>
          </p:cNvPr>
          <p:cNvGraphicFramePr>
            <a:graphicFrameLocks noGrp="1"/>
          </p:cNvGraphicFramePr>
          <p:nvPr/>
        </p:nvGraphicFramePr>
        <p:xfrm>
          <a:off x="544704" y="1296878"/>
          <a:ext cx="7905968" cy="4742294"/>
        </p:xfrm>
        <a:graphic>
          <a:graphicData uri="http://schemas.openxmlformats.org/drawingml/2006/table">
            <a:tbl>
              <a:tblPr firstRow="1" bandRow="1">
                <a:tableStyleId>{00A15C55-8517-42AA-B614-E9B94910E393}</a:tableStyleId>
              </a:tblPr>
              <a:tblGrid>
                <a:gridCol w="2202570">
                  <a:extLst>
                    <a:ext uri="{9D8B030D-6E8A-4147-A177-3AD203B41FA5}">
                      <a16:colId xmlns:a16="http://schemas.microsoft.com/office/drawing/2014/main" val="828115051"/>
                    </a:ext>
                  </a:extLst>
                </a:gridCol>
                <a:gridCol w="2463196">
                  <a:extLst>
                    <a:ext uri="{9D8B030D-6E8A-4147-A177-3AD203B41FA5}">
                      <a16:colId xmlns:a16="http://schemas.microsoft.com/office/drawing/2014/main" val="2036691416"/>
                    </a:ext>
                  </a:extLst>
                </a:gridCol>
                <a:gridCol w="3240202">
                  <a:extLst>
                    <a:ext uri="{9D8B030D-6E8A-4147-A177-3AD203B41FA5}">
                      <a16:colId xmlns:a16="http://schemas.microsoft.com/office/drawing/2014/main" val="3335721742"/>
                    </a:ext>
                  </a:extLst>
                </a:gridCol>
              </a:tblGrid>
              <a:tr h="358570">
                <a:tc>
                  <a:txBody>
                    <a:bodyPr/>
                    <a:lstStyle/>
                    <a:p>
                      <a:pPr algn="ctr"/>
                      <a:r>
                        <a:rPr lang="en-US" sz="1800"/>
                        <a:t>Feature</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tc>
                  <a:txBody>
                    <a:bodyPr/>
                    <a:lstStyle/>
                    <a:p>
                      <a:pPr algn="ctr"/>
                      <a:r>
                        <a:rPr lang="en-US" sz="1800"/>
                        <a:t>Basic SKU</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tc>
                  <a:txBody>
                    <a:bodyPr/>
                    <a:lstStyle/>
                    <a:p>
                      <a:pPr algn="ctr"/>
                      <a:r>
                        <a:rPr lang="en-US" sz="1800"/>
                        <a:t>Standard SKU</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9128339"/>
                  </a:ext>
                </a:extLst>
              </a:tr>
              <a:tr h="363550">
                <a:tc>
                  <a:txBody>
                    <a:bodyPr/>
                    <a:lstStyle/>
                    <a:p>
                      <a:r>
                        <a:rPr lang="en-US" sz="1800"/>
                        <a:t>Backend pool</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a:solidFill>
                            <a:schemeClr val="dk1"/>
                          </a:solidFill>
                          <a:effectLst/>
                          <a:latin typeface="+mn-lt"/>
                          <a:ea typeface="+mn-ea"/>
                          <a:cs typeface="+mn-cs"/>
                        </a:rPr>
                        <a:t>Up to 300 instances</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b="0" i="0" kern="1200">
                          <a:solidFill>
                            <a:schemeClr val="dk1"/>
                          </a:solidFill>
                          <a:effectLst/>
                          <a:latin typeface="+mn-lt"/>
                          <a:ea typeface="+mn-ea"/>
                          <a:cs typeface="+mn-cs"/>
                        </a:rPr>
                        <a:t>Up to 1000 instances</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01834156"/>
                  </a:ext>
                </a:extLst>
              </a:tr>
              <a:tr h="363550">
                <a:tc>
                  <a:txBody>
                    <a:bodyPr/>
                    <a:lstStyle/>
                    <a:p>
                      <a:r>
                        <a:rPr lang="en-US" sz="1800"/>
                        <a:t>Health probes</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a:solidFill>
                            <a:schemeClr val="dk1"/>
                          </a:solidFill>
                          <a:effectLst/>
                          <a:latin typeface="+mn-lt"/>
                          <a:ea typeface="+mn-ea"/>
                          <a:cs typeface="+mn-cs"/>
                        </a:rPr>
                        <a:t>TCP, HTTP</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b="0" i="0" kern="1200">
                          <a:solidFill>
                            <a:schemeClr val="dk1"/>
                          </a:solidFill>
                          <a:effectLst/>
                          <a:latin typeface="+mn-lt"/>
                          <a:ea typeface="+mn-ea"/>
                          <a:cs typeface="+mn-cs"/>
                        </a:rPr>
                        <a:t>TCP, HTTP, HTTPS</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4354189"/>
                  </a:ext>
                </a:extLst>
              </a:tr>
              <a:tr h="896425">
                <a:tc>
                  <a:txBody>
                    <a:bodyPr/>
                    <a:lstStyle/>
                    <a:p>
                      <a:r>
                        <a:rPr lang="en-US" sz="1800"/>
                        <a:t>Availability zones</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a:solidFill>
                            <a:schemeClr val="dk1"/>
                          </a:solidFill>
                          <a:effectLst/>
                          <a:latin typeface="+mn-lt"/>
                          <a:ea typeface="+mn-ea"/>
                          <a:cs typeface="+mn-cs"/>
                        </a:rPr>
                        <a:t>Not available</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b="0" i="0" kern="1200">
                          <a:solidFill>
                            <a:schemeClr val="dk1"/>
                          </a:solidFill>
                          <a:effectLst/>
                          <a:latin typeface="+mn-lt"/>
                          <a:ea typeface="+mn-ea"/>
                          <a:cs typeface="+mn-cs"/>
                        </a:rPr>
                        <a:t>Zone-redundant and zonal frontends for inbound and outbound traffic</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14921975"/>
                  </a:ext>
                </a:extLst>
              </a:tr>
              <a:tr h="627497">
                <a:tc>
                  <a:txBody>
                    <a:bodyPr/>
                    <a:lstStyle/>
                    <a:p>
                      <a:r>
                        <a:rPr lang="en-US" sz="1800"/>
                        <a:t>Multiple frontends</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fontAlgn="t"/>
                      <a:r>
                        <a:rPr lang="en-US" sz="1800">
                          <a:effectLst/>
                        </a:rPr>
                        <a:t>Inbound only</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a:t>Inbound and outbound</a:t>
                      </a:r>
                    </a:p>
                    <a:p>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53307403"/>
                  </a:ext>
                </a:extLst>
              </a:tr>
              <a:tr h="1165352">
                <a:tc>
                  <a:txBody>
                    <a:bodyPr/>
                    <a:lstStyle/>
                    <a:p>
                      <a:r>
                        <a:rPr lang="en-US" sz="1800"/>
                        <a:t>Secure by default</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a:solidFill>
                            <a:schemeClr val="dk1"/>
                          </a:solidFill>
                          <a:effectLst/>
                          <a:latin typeface="+mn-lt"/>
                          <a:ea typeface="+mn-ea"/>
                          <a:cs typeface="+mn-cs"/>
                        </a:rPr>
                        <a:t>Open by default. NSG optional.</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b="0" i="0" kern="1200">
                          <a:solidFill>
                            <a:schemeClr val="dk1"/>
                          </a:solidFill>
                          <a:effectLst/>
                          <a:latin typeface="+mn-lt"/>
                          <a:ea typeface="+mn-ea"/>
                          <a:cs typeface="+mn-cs"/>
                        </a:rPr>
                        <a:t>Closed to inbound flows unless allowed by a NSG. Internal traffic from the virtual network to the internal load balancer is allowed.</a:t>
                      </a:r>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71377115"/>
                  </a:ext>
                </a:extLst>
              </a:tr>
              <a:tr h="627497">
                <a:tc>
                  <a:txBody>
                    <a:bodyPr/>
                    <a:lstStyle/>
                    <a:p>
                      <a:r>
                        <a:rPr lang="en-US" sz="1800"/>
                        <a:t>SLA</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b="0" i="0" kern="1200">
                          <a:solidFill>
                            <a:schemeClr val="dk1"/>
                          </a:solidFill>
                          <a:effectLst/>
                          <a:latin typeface="+mn-lt"/>
                          <a:ea typeface="+mn-ea"/>
                          <a:cs typeface="+mn-cs"/>
                        </a:rPr>
                        <a:t>Not available</a:t>
                      </a:r>
                      <a:endParaRPr lang="en-US" sz="1800"/>
                    </a:p>
                    <a:p>
                      <a:endParaRPr lang="en-US" sz="1800"/>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800"/>
                        <a:t>99.99%</a:t>
                      </a:r>
                    </a:p>
                  </a:txBody>
                  <a:tcPr marL="89642" marR="89642" marT="44821" marB="44821">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04432760"/>
                  </a:ext>
                </a:extLst>
              </a:tr>
            </a:tbl>
          </a:graphicData>
        </a:graphic>
      </p:graphicFrame>
      <p:sp>
        <p:nvSpPr>
          <p:cNvPr id="16" name="Rectangle 15">
            <a:extLst>
              <a:ext uri="{FF2B5EF4-FFF2-40B4-BE49-F238E27FC236}">
                <a16:creationId xmlns:a16="http://schemas.microsoft.com/office/drawing/2014/main" id="{17158759-6553-4354-8CBE-48E72E3836EA}"/>
              </a:ext>
              <a:ext uri="{C183D7F6-B498-43B3-948B-1728B52AA6E4}">
                <adec:decorative xmlns:adec="http://schemas.microsoft.com/office/drawing/2017/decorative" val="1"/>
              </a:ext>
            </a:extLst>
          </p:cNvPr>
          <p:cNvSpPr/>
          <p:nvPr/>
        </p:nvSpPr>
        <p:spPr bwMode="auto">
          <a:xfrm>
            <a:off x="8701236" y="1536193"/>
            <a:ext cx="3061228" cy="38794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7" name="Picture 6" descr="Screenshot of the Load Balancer SKUs Basic, Standard and Gateway. ">
            <a:extLst>
              <a:ext uri="{FF2B5EF4-FFF2-40B4-BE49-F238E27FC236}">
                <a16:creationId xmlns:a16="http://schemas.microsoft.com/office/drawing/2014/main" id="{8E486288-B6D4-AD5C-7AFC-D4A6A9396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9469" y="1728300"/>
            <a:ext cx="2904762" cy="3495238"/>
          </a:xfrm>
          <a:prstGeom prst="rect">
            <a:avLst/>
          </a:prstGeom>
        </p:spPr>
      </p:pic>
    </p:spTree>
    <p:extLst>
      <p:ext uri="{BB962C8B-B14F-4D97-AF65-F5344CB8AC3E}">
        <p14:creationId xmlns:p14="http://schemas.microsoft.com/office/powerpoint/2010/main" val="2164203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7C6A-D131-4178-8F0C-56FD8F24DCDD}"/>
              </a:ext>
            </a:extLst>
          </p:cNvPr>
          <p:cNvSpPr>
            <a:spLocks noGrp="1"/>
          </p:cNvSpPr>
          <p:nvPr>
            <p:ph type="title"/>
          </p:nvPr>
        </p:nvSpPr>
        <p:spPr>
          <a:xfrm>
            <a:off x="424090" y="466096"/>
            <a:ext cx="11343820" cy="397545"/>
          </a:xfrm>
        </p:spPr>
        <p:txBody>
          <a:bodyPr/>
          <a:lstStyle/>
          <a:p>
            <a:r>
              <a:rPr lang="en-US" sz="2800">
                <a:solidFill>
                  <a:schemeClr val="tx1"/>
                </a:solidFill>
              </a:rPr>
              <a:t>Create Load balancer in the Azure portal </a:t>
            </a:r>
            <a:endParaRPr lang="en-US"/>
          </a:p>
        </p:txBody>
      </p:sp>
      <p:pic>
        <p:nvPicPr>
          <p:cNvPr id="3" name="Picture 2" descr="Create load balancer - Basics tab">
            <a:extLst>
              <a:ext uri="{FF2B5EF4-FFF2-40B4-BE49-F238E27FC236}">
                <a16:creationId xmlns:a16="http://schemas.microsoft.com/office/drawing/2014/main" id="{740E91A0-0E0B-4D1D-AE5D-3D0844A90591}"/>
              </a:ext>
            </a:extLst>
          </p:cNvPr>
          <p:cNvPicPr/>
          <p:nvPr/>
        </p:nvPicPr>
        <p:blipFill>
          <a:blip r:embed="rId2"/>
          <a:stretch>
            <a:fillRect/>
          </a:stretch>
        </p:blipFill>
        <p:spPr bwMode="auto">
          <a:xfrm>
            <a:off x="7158038" y="582453"/>
            <a:ext cx="4609872" cy="5693093"/>
          </a:xfrm>
          <a:prstGeom prst="rect">
            <a:avLst/>
          </a:prstGeom>
          <a:noFill/>
          <a:ln>
            <a:noFill/>
          </a:ln>
        </p:spPr>
      </p:pic>
      <p:sp>
        <p:nvSpPr>
          <p:cNvPr id="5" name="Rectangle 4">
            <a:extLst>
              <a:ext uri="{FF2B5EF4-FFF2-40B4-BE49-F238E27FC236}">
                <a16:creationId xmlns:a16="http://schemas.microsoft.com/office/drawing/2014/main" id="{CDEF2798-8586-4ED6-8AF3-4505639B78DE}"/>
              </a:ext>
            </a:extLst>
          </p:cNvPr>
          <p:cNvSpPr/>
          <p:nvPr/>
        </p:nvSpPr>
        <p:spPr>
          <a:xfrm>
            <a:off x="678106" y="1500190"/>
            <a:ext cx="3074497" cy="431872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Subscription</a:t>
            </a:r>
          </a:p>
          <a:p>
            <a:endParaRPr lang="en-US" sz="1961" dirty="0">
              <a:solidFill>
                <a:schemeClr val="tx1"/>
              </a:solidFill>
            </a:endParaRPr>
          </a:p>
          <a:p>
            <a:r>
              <a:rPr lang="en-US" sz="1961" dirty="0">
                <a:solidFill>
                  <a:schemeClr val="tx1"/>
                </a:solidFill>
              </a:rPr>
              <a:t>Name</a:t>
            </a:r>
          </a:p>
          <a:p>
            <a:r>
              <a:rPr lang="en-US" sz="1961" dirty="0">
                <a:solidFill>
                  <a:schemeClr val="tx1"/>
                </a:solidFill>
              </a:rPr>
              <a:t> </a:t>
            </a:r>
          </a:p>
          <a:p>
            <a:r>
              <a:rPr lang="en-US" sz="1961" dirty="0">
                <a:solidFill>
                  <a:schemeClr val="tx1"/>
                </a:solidFill>
              </a:rPr>
              <a:t>Region </a:t>
            </a:r>
          </a:p>
          <a:p>
            <a:endParaRPr lang="en-US" sz="1961" dirty="0">
              <a:solidFill>
                <a:schemeClr val="tx1"/>
              </a:solidFill>
            </a:endParaRPr>
          </a:p>
          <a:p>
            <a:r>
              <a:rPr lang="en-US" sz="1961" dirty="0">
                <a:solidFill>
                  <a:schemeClr val="tx1"/>
                </a:solidFill>
              </a:rPr>
              <a:t>Type</a:t>
            </a:r>
          </a:p>
          <a:p>
            <a:endParaRPr lang="en-US" sz="1961" dirty="0">
              <a:solidFill>
                <a:schemeClr val="tx1"/>
              </a:solidFill>
            </a:endParaRPr>
          </a:p>
          <a:p>
            <a:r>
              <a:rPr lang="en-US" sz="1961" dirty="0">
                <a:solidFill>
                  <a:schemeClr val="tx1"/>
                </a:solidFill>
              </a:rPr>
              <a:t>SKU</a:t>
            </a:r>
          </a:p>
          <a:p>
            <a:endParaRPr lang="en-US" sz="1961" dirty="0">
              <a:solidFill>
                <a:schemeClr val="tx1"/>
              </a:solidFill>
            </a:endParaRPr>
          </a:p>
          <a:p>
            <a:r>
              <a:rPr lang="en-US" sz="1961" dirty="0">
                <a:solidFill>
                  <a:schemeClr val="tx1"/>
                </a:solidFill>
              </a:rPr>
              <a:t>Tier</a:t>
            </a:r>
          </a:p>
          <a:p>
            <a:endParaRPr lang="en-US" sz="1961" dirty="0">
              <a:solidFill>
                <a:schemeClr val="tx1"/>
              </a:solidFill>
            </a:endParaRPr>
          </a:p>
          <a:p>
            <a:endParaRPr lang="en-US" sz="1961" dirty="0">
              <a:solidFill>
                <a:schemeClr val="tx1"/>
              </a:solidFill>
            </a:endParaRPr>
          </a:p>
        </p:txBody>
      </p:sp>
      <p:sp>
        <p:nvSpPr>
          <p:cNvPr id="4" name="Rectangle 3">
            <a:extLst>
              <a:ext uri="{FF2B5EF4-FFF2-40B4-BE49-F238E27FC236}">
                <a16:creationId xmlns:a16="http://schemas.microsoft.com/office/drawing/2014/main" id="{6CE21DA9-F155-4B38-BC6C-FF0497E45D10}"/>
              </a:ext>
              <a:ext uri="{C183D7F6-B498-43B3-948B-1728B52AA6E4}">
                <adec:decorative xmlns:adec="http://schemas.microsoft.com/office/drawing/2017/decorative" val="1"/>
              </a:ext>
            </a:extLst>
          </p:cNvPr>
          <p:cNvSpPr/>
          <p:nvPr/>
        </p:nvSpPr>
        <p:spPr bwMode="auto">
          <a:xfrm>
            <a:off x="6979911" y="466096"/>
            <a:ext cx="5029658" cy="5925807"/>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10776290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Backend Pools</a:t>
            </a:r>
          </a:p>
        </p:txBody>
      </p:sp>
      <p:sp>
        <p:nvSpPr>
          <p:cNvPr id="2" name="Rectangle 1">
            <a:extLst>
              <a:ext uri="{FF2B5EF4-FFF2-40B4-BE49-F238E27FC236}">
                <a16:creationId xmlns:a16="http://schemas.microsoft.com/office/drawing/2014/main" id="{2463C883-F78A-4B30-AD1E-A13AAA5079EA}"/>
              </a:ext>
              <a:ext uri="{C183D7F6-B498-43B3-948B-1728B52AA6E4}">
                <adec:decorative xmlns:adec="http://schemas.microsoft.com/office/drawing/2017/decorative" val="1"/>
              </a:ext>
            </a:extLst>
          </p:cNvPr>
          <p:cNvSpPr/>
          <p:nvPr/>
        </p:nvSpPr>
        <p:spPr bwMode="auto">
          <a:xfrm>
            <a:off x="418644" y="1169264"/>
            <a:ext cx="5484409" cy="3985666"/>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cs typeface="Segoe UI" pitchFamily="34" charset="0"/>
            </a:endParaRPr>
          </a:p>
        </p:txBody>
      </p:sp>
      <p:graphicFrame>
        <p:nvGraphicFramePr>
          <p:cNvPr id="3" name="Table 2">
            <a:extLst>
              <a:ext uri="{FF2B5EF4-FFF2-40B4-BE49-F238E27FC236}">
                <a16:creationId xmlns:a16="http://schemas.microsoft.com/office/drawing/2014/main" id="{CBD5C4BE-8142-49FF-AF7E-5D58155D85E5}"/>
              </a:ext>
            </a:extLst>
          </p:cNvPr>
          <p:cNvGraphicFramePr>
            <a:graphicFrameLocks noGrp="1"/>
          </p:cNvGraphicFramePr>
          <p:nvPr/>
        </p:nvGraphicFramePr>
        <p:xfrm>
          <a:off x="6074709" y="1169264"/>
          <a:ext cx="5706829" cy="3988764"/>
        </p:xfrm>
        <a:graphic>
          <a:graphicData uri="http://schemas.openxmlformats.org/drawingml/2006/table">
            <a:tbl>
              <a:tblPr firstRow="1" firstCol="1" bandRow="1">
                <a:tableStyleId>{5C22544A-7EE6-4342-B048-85BDC9FD1C3A}</a:tableStyleId>
              </a:tblPr>
              <a:tblGrid>
                <a:gridCol w="1457751">
                  <a:extLst>
                    <a:ext uri="{9D8B030D-6E8A-4147-A177-3AD203B41FA5}">
                      <a16:colId xmlns:a16="http://schemas.microsoft.com/office/drawing/2014/main" val="3188652653"/>
                    </a:ext>
                  </a:extLst>
                </a:gridCol>
                <a:gridCol w="4249078">
                  <a:extLst>
                    <a:ext uri="{9D8B030D-6E8A-4147-A177-3AD203B41FA5}">
                      <a16:colId xmlns:a16="http://schemas.microsoft.com/office/drawing/2014/main" val="1801538278"/>
                    </a:ext>
                  </a:extLst>
                </a:gridCol>
              </a:tblGrid>
              <a:tr h="480984">
                <a:tc>
                  <a:txBody>
                    <a:bodyPr/>
                    <a:lstStyle/>
                    <a:p>
                      <a:pPr marL="0" marR="156845" algn="l"/>
                      <a:r>
                        <a:rPr lang="en-US" sz="2000" b="0">
                          <a:solidFill>
                            <a:schemeClr val="bg1"/>
                          </a:solidFill>
                          <a:effectLst/>
                          <a:latin typeface="+mj-lt"/>
                        </a:rPr>
                        <a:t> SKU</a:t>
                      </a:r>
                      <a:endParaRPr lang="en-US" sz="2000" b="0">
                        <a:solidFill>
                          <a:schemeClr val="bg1"/>
                        </a:solidFill>
                        <a:effectLst/>
                        <a:latin typeface="+mj-lt"/>
                        <a:ea typeface="Times New Roman" panose="02020603050405020304" pitchFamily="18" charset="0"/>
                      </a:endParaRPr>
                    </a:p>
                  </a:txBody>
                  <a:tcPr marL="134464" marR="134464" marT="89642" marB="8964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a:r>
                        <a:rPr lang="en-US" sz="2000" b="0" kern="1200">
                          <a:solidFill>
                            <a:schemeClr val="bg1"/>
                          </a:solidFill>
                          <a:effectLst/>
                          <a:latin typeface="+mj-lt"/>
                          <a:ea typeface="+mn-ea"/>
                          <a:cs typeface="+mn-cs"/>
                        </a:rPr>
                        <a:t>Backend pool endpoints</a:t>
                      </a:r>
                    </a:p>
                  </a:txBody>
                  <a:tcPr marL="134464" marR="134464" marT="89642" marB="8964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3728697460"/>
                  </a:ext>
                </a:extLst>
              </a:tr>
              <a:tr h="1752340">
                <a:tc>
                  <a:txBody>
                    <a:bodyPr/>
                    <a:lstStyle/>
                    <a:p>
                      <a:pPr marL="0" marR="156845" algn="l"/>
                      <a:r>
                        <a:rPr lang="en-US" sz="2000" b="0">
                          <a:solidFill>
                            <a:schemeClr val="tx1"/>
                          </a:solidFill>
                          <a:effectLst/>
                          <a:latin typeface="+mj-lt"/>
                          <a:ea typeface="Times New Roman" panose="02020603050405020304" pitchFamily="18" charset="0"/>
                        </a:rPr>
                        <a:t>Basic SKU</a:t>
                      </a:r>
                    </a:p>
                  </a:txBody>
                  <a:tcPr marL="134464" marR="0"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lvl="0" indent="0" algn="l" defTabSz="932742" rtl="0" eaLnBrk="1" fontAlgn="auto" latinLnBrk="0" hangingPunct="1">
                        <a:lnSpc>
                          <a:spcPct val="100000"/>
                        </a:lnSpc>
                        <a:spcBef>
                          <a:spcPts val="0"/>
                        </a:spcBef>
                        <a:spcAft>
                          <a:spcPts val="0"/>
                        </a:spcAft>
                        <a:buClrTx/>
                        <a:buSzTx/>
                        <a:buFontTx/>
                        <a:buNone/>
                        <a:tabLst/>
                        <a:defRPr/>
                      </a:pPr>
                      <a:r>
                        <a:rPr lang="en-US" sz="2000">
                          <a:solidFill>
                            <a:schemeClr val="tx1"/>
                          </a:solidFill>
                          <a:effectLst/>
                          <a:latin typeface="+mn-lt"/>
                        </a:rPr>
                        <a:t>VMs in a single availability set or VM scale set</a:t>
                      </a:r>
                      <a:endParaRPr lang="en-US" sz="2000">
                        <a:solidFill>
                          <a:schemeClr val="tx1"/>
                        </a:solidFill>
                        <a:effectLst/>
                        <a:latin typeface="+mn-lt"/>
                        <a:ea typeface="Times New Roman" panose="02020603050405020304" pitchFamily="18" charset="0"/>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2944636"/>
                  </a:ext>
                </a:extLst>
              </a:tr>
              <a:tr h="1752340">
                <a:tc>
                  <a:txBody>
                    <a:bodyPr/>
                    <a:lstStyle/>
                    <a:p>
                      <a:pPr marL="0" marR="156845" algn="l"/>
                      <a:r>
                        <a:rPr lang="en-US" sz="2000" b="0">
                          <a:solidFill>
                            <a:schemeClr val="tx1"/>
                          </a:solidFill>
                          <a:effectLst/>
                          <a:latin typeface="+mj-lt"/>
                          <a:ea typeface="Times New Roman" panose="02020603050405020304" pitchFamily="18" charset="0"/>
                        </a:rPr>
                        <a:t>Standard SKU</a:t>
                      </a:r>
                    </a:p>
                  </a:txBody>
                  <a:tcPr marL="134464" marR="134464" marT="89642"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a:r>
                        <a:rPr lang="en-US" sz="2000">
                          <a:solidFill>
                            <a:schemeClr val="tx1"/>
                          </a:solidFill>
                          <a:effectLst/>
                          <a:latin typeface="+mn-lt"/>
                        </a:rPr>
                        <a:t>Any VM in a single virtual network, including a blend of VMs, availability sets, and VM scale sets</a:t>
                      </a:r>
                      <a:endParaRPr lang="en-US" sz="2000">
                        <a:solidFill>
                          <a:schemeClr val="tx1"/>
                        </a:solidFill>
                        <a:effectLst/>
                        <a:latin typeface="+mn-lt"/>
                        <a:ea typeface="Times New Roman" panose="02020603050405020304" pitchFamily="18" charset="0"/>
                      </a:endParaRPr>
                    </a:p>
                  </a:txBody>
                  <a:tcPr marL="134464" marR="134464" marT="89642"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58724596"/>
                  </a:ext>
                </a:extLst>
              </a:tr>
            </a:tbl>
          </a:graphicData>
        </a:graphic>
      </p:graphicFrame>
      <p:sp>
        <p:nvSpPr>
          <p:cNvPr id="5" name="Rectangle 4">
            <a:extLst>
              <a:ext uri="{FF2B5EF4-FFF2-40B4-BE49-F238E27FC236}">
                <a16:creationId xmlns:a16="http://schemas.microsoft.com/office/drawing/2014/main" id="{C1280751-2AC1-425E-9DD3-16DD89334B90}"/>
              </a:ext>
            </a:extLst>
          </p:cNvPr>
          <p:cNvSpPr/>
          <p:nvPr/>
        </p:nvSpPr>
        <p:spPr bwMode="auto">
          <a:xfrm>
            <a:off x="416172" y="5300285"/>
            <a:ext cx="11362893" cy="92038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157">
                <a:solidFill>
                  <a:schemeClr val="tx1"/>
                </a:solidFill>
              </a:rPr>
              <a:t>To distribute traffic, a back-end address pool contains the</a:t>
            </a:r>
            <a:br>
              <a:rPr lang="en-US" sz="2157">
                <a:solidFill>
                  <a:schemeClr val="tx1"/>
                </a:solidFill>
              </a:rPr>
            </a:br>
            <a:r>
              <a:rPr lang="en-US" sz="2157">
                <a:solidFill>
                  <a:schemeClr val="tx1"/>
                </a:solidFill>
              </a:rPr>
              <a:t>IP addresses of the virtual NICs that are connected to the load balancer</a:t>
            </a:r>
          </a:p>
        </p:txBody>
      </p:sp>
      <p:pic>
        <p:nvPicPr>
          <p:cNvPr id="7" name="Picture 6" descr="Screenshot of the backend pool page. The Associated to drop-down is shown with a virtual machine or virtual machine scale set">
            <a:extLst>
              <a:ext uri="{FF2B5EF4-FFF2-40B4-BE49-F238E27FC236}">
                <a16:creationId xmlns:a16="http://schemas.microsoft.com/office/drawing/2014/main" id="{23B85E4F-DA53-708C-188E-F9C404A2BEB7}"/>
              </a:ext>
            </a:extLst>
          </p:cNvPr>
          <p:cNvPicPr>
            <a:picLocks noChangeAspect="1"/>
          </p:cNvPicPr>
          <p:nvPr/>
        </p:nvPicPr>
        <p:blipFill>
          <a:blip r:embed="rId3"/>
          <a:stretch>
            <a:fillRect/>
          </a:stretch>
        </p:blipFill>
        <p:spPr>
          <a:xfrm>
            <a:off x="741498" y="1554208"/>
            <a:ext cx="4838700" cy="2990850"/>
          </a:xfrm>
          <a:prstGeom prst="rect">
            <a:avLst/>
          </a:prstGeom>
        </p:spPr>
      </p:pic>
    </p:spTree>
    <p:extLst>
      <p:ext uri="{BB962C8B-B14F-4D97-AF65-F5344CB8AC3E}">
        <p14:creationId xmlns:p14="http://schemas.microsoft.com/office/powerpoint/2010/main" val="129820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Load Balancer Rules</a:t>
            </a:r>
          </a:p>
        </p:txBody>
      </p:sp>
      <p:sp>
        <p:nvSpPr>
          <p:cNvPr id="4" name="Rectangle 3">
            <a:extLst>
              <a:ext uri="{FF2B5EF4-FFF2-40B4-BE49-F238E27FC236}">
                <a16:creationId xmlns:a16="http://schemas.microsoft.com/office/drawing/2014/main" id="{9560EE8D-5296-4D8B-B213-72841D1EF6E7}"/>
              </a:ext>
            </a:extLst>
          </p:cNvPr>
          <p:cNvSpPr/>
          <p:nvPr/>
        </p:nvSpPr>
        <p:spPr>
          <a:xfrm>
            <a:off x="427980" y="1260906"/>
            <a:ext cx="5506685" cy="147020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353">
                <a:solidFill>
                  <a:schemeClr val="tx1"/>
                </a:solidFill>
              </a:rPr>
              <a:t>Maps a frontend IP and port combination to a set of backend pool and port combination</a:t>
            </a:r>
          </a:p>
        </p:txBody>
      </p:sp>
      <p:sp>
        <p:nvSpPr>
          <p:cNvPr id="5" name="Rectangle 4">
            <a:extLst>
              <a:ext uri="{FF2B5EF4-FFF2-40B4-BE49-F238E27FC236}">
                <a16:creationId xmlns:a16="http://schemas.microsoft.com/office/drawing/2014/main" id="{608B9852-17EE-4974-B604-13B74B91A2B0}"/>
              </a:ext>
            </a:extLst>
          </p:cNvPr>
          <p:cNvSpPr/>
          <p:nvPr/>
        </p:nvSpPr>
        <p:spPr>
          <a:xfrm>
            <a:off x="427980" y="2968116"/>
            <a:ext cx="5506685" cy="147020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353">
                <a:solidFill>
                  <a:schemeClr val="tx1"/>
                </a:solidFill>
              </a:rPr>
              <a:t>Rules can be used in combination</a:t>
            </a:r>
            <a:br>
              <a:rPr lang="en-US" sz="2353">
                <a:solidFill>
                  <a:schemeClr val="tx1"/>
                </a:solidFill>
              </a:rPr>
            </a:br>
            <a:r>
              <a:rPr lang="en-US" sz="2353">
                <a:solidFill>
                  <a:schemeClr val="tx1"/>
                </a:solidFill>
              </a:rPr>
              <a:t>with NAT rules</a:t>
            </a:r>
          </a:p>
        </p:txBody>
      </p:sp>
      <p:sp>
        <p:nvSpPr>
          <p:cNvPr id="6" name="Rectangle 5">
            <a:extLst>
              <a:ext uri="{FF2B5EF4-FFF2-40B4-BE49-F238E27FC236}">
                <a16:creationId xmlns:a16="http://schemas.microsoft.com/office/drawing/2014/main" id="{582052F9-578C-44D5-A555-8F63D399769B}"/>
              </a:ext>
            </a:extLst>
          </p:cNvPr>
          <p:cNvSpPr/>
          <p:nvPr/>
        </p:nvSpPr>
        <p:spPr>
          <a:xfrm>
            <a:off x="427980" y="4675326"/>
            <a:ext cx="5506685" cy="147020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353">
                <a:solidFill>
                  <a:schemeClr val="tx1"/>
                </a:solidFill>
              </a:rPr>
              <a:t>A NAT rule is explicitly attached to a VM (or network interface) to complete the path to the target</a:t>
            </a:r>
          </a:p>
        </p:txBody>
      </p:sp>
      <p:sp>
        <p:nvSpPr>
          <p:cNvPr id="3" name="Rectangle 2">
            <a:extLst>
              <a:ext uri="{FF2B5EF4-FFF2-40B4-BE49-F238E27FC236}">
                <a16:creationId xmlns:a16="http://schemas.microsoft.com/office/drawing/2014/main" id="{CD86EDDD-C65A-4B6E-B10E-0714987A132D}"/>
              </a:ext>
              <a:ext uri="{C183D7F6-B498-43B3-948B-1728B52AA6E4}">
                <adec:decorative xmlns:adec="http://schemas.microsoft.com/office/drawing/2017/decorative" val="1"/>
              </a:ext>
            </a:extLst>
          </p:cNvPr>
          <p:cNvSpPr/>
          <p:nvPr/>
        </p:nvSpPr>
        <p:spPr bwMode="auto">
          <a:xfrm>
            <a:off x="6096000" y="1169264"/>
            <a:ext cx="5677357" cy="506791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7" name="Picture 2" descr="A screen shot of adding a load balancing rule. The name of the rule is lb01. The IP Version is IPv4. The Frontend IP address is 10.1.0.4. The protocol is TCP. The port is 80. The backend port is 80. The Backend pool is bep01. The Health probe is hp01. The Session persistence is none. The Idle timeout is 4. The Floating IP is Disabled">
            <a:extLst>
              <a:ext uri="{FF2B5EF4-FFF2-40B4-BE49-F238E27FC236}">
                <a16:creationId xmlns:a16="http://schemas.microsoft.com/office/drawing/2014/main" id="{FC3CA881-8A04-42AD-B2B8-13348CB1AD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5252" y="1295653"/>
            <a:ext cx="4058853" cy="4815130"/>
          </a:xfrm>
          <a:prstGeom prst="rect">
            <a:avLst/>
          </a:prstGeom>
          <a:ln>
            <a:noFill/>
          </a:ln>
        </p:spPr>
      </p:pic>
    </p:spTree>
    <p:extLst>
      <p:ext uri="{BB962C8B-B14F-4D97-AF65-F5344CB8AC3E}">
        <p14:creationId xmlns:p14="http://schemas.microsoft.com/office/powerpoint/2010/main" val="249114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Configure Session Persistence</a:t>
            </a:r>
          </a:p>
        </p:txBody>
      </p:sp>
      <p:sp>
        <p:nvSpPr>
          <p:cNvPr id="3" name="Rectangle 2">
            <a:extLst>
              <a:ext uri="{FF2B5EF4-FFF2-40B4-BE49-F238E27FC236}">
                <a16:creationId xmlns:a16="http://schemas.microsoft.com/office/drawing/2014/main" id="{B026556F-D070-4A34-84DB-96B77B871E5B}"/>
              </a:ext>
              <a:ext uri="{C183D7F6-B498-43B3-948B-1728B52AA6E4}">
                <adec:decorative xmlns:adec="http://schemas.microsoft.com/office/drawing/2017/decorative" val="1"/>
              </a:ext>
            </a:extLst>
          </p:cNvPr>
          <p:cNvSpPr/>
          <p:nvPr/>
        </p:nvSpPr>
        <p:spPr bwMode="auto">
          <a:xfrm>
            <a:off x="418644" y="1169263"/>
            <a:ext cx="11354714" cy="330089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9" name="Picture 4" descr="A screen shot of the Session persistence setttings">
            <a:extLst>
              <a:ext uri="{FF2B5EF4-FFF2-40B4-BE49-F238E27FC236}">
                <a16:creationId xmlns:a16="http://schemas.microsoft.com/office/drawing/2014/main" id="{557F597A-9FDA-448D-B68E-315E52F15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931" y="1555246"/>
            <a:ext cx="3506558" cy="2531361"/>
          </a:xfrm>
          <a:prstGeom prst="rect">
            <a:avLst/>
          </a:prstGeom>
          <a:ln>
            <a:noFill/>
          </a:ln>
        </p:spPr>
      </p:pic>
      <p:pic>
        <p:nvPicPr>
          <p:cNvPr id="8" name="Picture 7" descr="Illustration of hash-based distribution with a load balancer and 3 virtual machines">
            <a:extLst>
              <a:ext uri="{FF2B5EF4-FFF2-40B4-BE49-F238E27FC236}">
                <a16:creationId xmlns:a16="http://schemas.microsoft.com/office/drawing/2014/main" id="{A1299FAA-EA52-4376-B8E6-D96CF076CBF5}"/>
              </a:ext>
            </a:extLst>
          </p:cNvPr>
          <p:cNvPicPr/>
          <p:nvPr/>
        </p:nvPicPr>
        <p:blipFill>
          <a:blip r:embed="rId4">
            <a:extLst>
              <a:ext uri="{28A0092B-C50C-407E-A947-70E740481C1C}">
                <a14:useLocalDpi xmlns:a14="http://schemas.microsoft.com/office/drawing/2010/main" val="0"/>
              </a:ext>
            </a:extLst>
          </a:blip>
          <a:stretch>
            <a:fillRect/>
          </a:stretch>
        </p:blipFill>
        <p:spPr>
          <a:xfrm>
            <a:off x="4917639" y="1362172"/>
            <a:ext cx="6436681" cy="2917508"/>
          </a:xfrm>
          <a:prstGeom prst="rect">
            <a:avLst/>
          </a:prstGeom>
        </p:spPr>
      </p:pic>
      <p:sp>
        <p:nvSpPr>
          <p:cNvPr id="4" name="Freeform: Shape 3">
            <a:extLst>
              <a:ext uri="{FF2B5EF4-FFF2-40B4-BE49-F238E27FC236}">
                <a16:creationId xmlns:a16="http://schemas.microsoft.com/office/drawing/2014/main" id="{B159A7E5-1D90-4853-8789-31BFF586D2D7}"/>
              </a:ext>
            </a:extLst>
          </p:cNvPr>
          <p:cNvSpPr/>
          <p:nvPr/>
        </p:nvSpPr>
        <p:spPr>
          <a:xfrm>
            <a:off x="418643" y="4615518"/>
            <a:ext cx="2290557" cy="1621657"/>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rPr>
              <a:t>Session persistence specifies how client traffic is handled </a:t>
            </a:r>
          </a:p>
        </p:txBody>
      </p:sp>
      <p:sp>
        <p:nvSpPr>
          <p:cNvPr id="5" name="Freeform: Shape 4">
            <a:extLst>
              <a:ext uri="{FF2B5EF4-FFF2-40B4-BE49-F238E27FC236}">
                <a16:creationId xmlns:a16="http://schemas.microsoft.com/office/drawing/2014/main" id="{5B1B9574-481E-49A3-86F8-77074801D8E7}"/>
              </a:ext>
            </a:extLst>
          </p:cNvPr>
          <p:cNvSpPr/>
          <p:nvPr/>
        </p:nvSpPr>
        <p:spPr>
          <a:xfrm>
            <a:off x="2855725" y="4615518"/>
            <a:ext cx="2290557" cy="1621657"/>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latin typeface="+mj-lt"/>
              </a:rPr>
              <a:t>None</a:t>
            </a:r>
            <a:r>
              <a:rPr lang="en-US" sz="1765" b="1">
                <a:solidFill>
                  <a:schemeClr val="tx1"/>
                </a:solidFill>
              </a:rPr>
              <a:t> </a:t>
            </a:r>
            <a:r>
              <a:rPr lang="en-US" sz="1765">
                <a:solidFill>
                  <a:schemeClr val="tx1"/>
                </a:solidFill>
              </a:rPr>
              <a:t>(default) requests can be handled by any</a:t>
            </a:r>
            <a:br>
              <a:rPr lang="en-US" sz="1765">
                <a:solidFill>
                  <a:schemeClr val="tx1"/>
                </a:solidFill>
              </a:rPr>
            </a:br>
            <a:r>
              <a:rPr lang="en-US" sz="1765">
                <a:solidFill>
                  <a:schemeClr val="tx1"/>
                </a:solidFill>
              </a:rPr>
              <a:t>virtual machine </a:t>
            </a:r>
          </a:p>
        </p:txBody>
      </p:sp>
      <p:sp>
        <p:nvSpPr>
          <p:cNvPr id="6" name="Freeform: Shape 5">
            <a:extLst>
              <a:ext uri="{FF2B5EF4-FFF2-40B4-BE49-F238E27FC236}">
                <a16:creationId xmlns:a16="http://schemas.microsoft.com/office/drawing/2014/main" id="{24C6D451-647D-43C3-9BCE-7DB0E7F8BE3B}"/>
              </a:ext>
            </a:extLst>
          </p:cNvPr>
          <p:cNvSpPr/>
          <p:nvPr/>
        </p:nvSpPr>
        <p:spPr>
          <a:xfrm>
            <a:off x="5292807" y="4615518"/>
            <a:ext cx="2290557" cy="1621657"/>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latin typeface="+mj-lt"/>
              </a:rPr>
              <a:t>Client IP </a:t>
            </a:r>
            <a:r>
              <a:rPr lang="en-US" sz="1765">
                <a:solidFill>
                  <a:schemeClr val="tx1"/>
                </a:solidFill>
              </a:rPr>
              <a:t>requests will be handled by the same virtual machine</a:t>
            </a:r>
          </a:p>
        </p:txBody>
      </p:sp>
      <p:sp>
        <p:nvSpPr>
          <p:cNvPr id="7" name="Freeform: Shape 6">
            <a:extLst>
              <a:ext uri="{FF2B5EF4-FFF2-40B4-BE49-F238E27FC236}">
                <a16:creationId xmlns:a16="http://schemas.microsoft.com/office/drawing/2014/main" id="{5A1B65C3-A482-47C0-B2EA-93D4E7434F83}"/>
              </a:ext>
            </a:extLst>
          </p:cNvPr>
          <p:cNvSpPr/>
          <p:nvPr/>
        </p:nvSpPr>
        <p:spPr>
          <a:xfrm>
            <a:off x="7729889" y="4615518"/>
            <a:ext cx="4043469" cy="1621657"/>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a:solidFill>
                  <a:schemeClr val="tx1"/>
                </a:solidFill>
                <a:latin typeface="+mj-lt"/>
              </a:rPr>
              <a:t>Client IP and protocol </a:t>
            </a:r>
            <a:r>
              <a:rPr lang="en-US" sz="1765">
                <a:solidFill>
                  <a:schemeClr val="tx1"/>
                </a:solidFill>
              </a:rPr>
              <a:t>specifies that successive requests from the same address and protocol will be handled by the same virtual machine</a:t>
            </a:r>
          </a:p>
        </p:txBody>
      </p:sp>
    </p:spTree>
    <p:extLst>
      <p:ext uri="{BB962C8B-B14F-4D97-AF65-F5344CB8AC3E}">
        <p14:creationId xmlns:p14="http://schemas.microsoft.com/office/powerpoint/2010/main" val="130988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Health Probes</a:t>
            </a:r>
          </a:p>
        </p:txBody>
      </p:sp>
      <p:sp>
        <p:nvSpPr>
          <p:cNvPr id="4" name="Rectangle 3">
            <a:extLst>
              <a:ext uri="{FF2B5EF4-FFF2-40B4-BE49-F238E27FC236}">
                <a16:creationId xmlns:a16="http://schemas.microsoft.com/office/drawing/2014/main" id="{827F8F06-6924-4524-8AE3-97EAD4E07413}"/>
              </a:ext>
            </a:extLst>
          </p:cNvPr>
          <p:cNvSpPr/>
          <p:nvPr/>
        </p:nvSpPr>
        <p:spPr>
          <a:xfrm>
            <a:off x="427982" y="1233896"/>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Allows the load balancer to monitor the status of an app</a:t>
            </a:r>
          </a:p>
        </p:txBody>
      </p:sp>
      <p:sp>
        <p:nvSpPr>
          <p:cNvPr id="5" name="Rectangle 4">
            <a:extLst>
              <a:ext uri="{FF2B5EF4-FFF2-40B4-BE49-F238E27FC236}">
                <a16:creationId xmlns:a16="http://schemas.microsoft.com/office/drawing/2014/main" id="{B2175430-2141-4962-BC79-B464B90F8302}"/>
              </a:ext>
            </a:extLst>
          </p:cNvPr>
          <p:cNvSpPr/>
          <p:nvPr/>
        </p:nvSpPr>
        <p:spPr>
          <a:xfrm>
            <a:off x="427982" y="2415397"/>
            <a:ext cx="4527256" cy="13948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Dynamically adds or removes VMs from the load balancer rotation based on their response to health checks</a:t>
            </a:r>
          </a:p>
        </p:txBody>
      </p:sp>
      <p:sp>
        <p:nvSpPr>
          <p:cNvPr id="6" name="Rectangle 5">
            <a:extLst>
              <a:ext uri="{FF2B5EF4-FFF2-40B4-BE49-F238E27FC236}">
                <a16:creationId xmlns:a16="http://schemas.microsoft.com/office/drawing/2014/main" id="{C204B8D4-B61F-4E6C-9C25-7F726F7D88F5}"/>
              </a:ext>
            </a:extLst>
          </p:cNvPr>
          <p:cNvSpPr/>
          <p:nvPr/>
        </p:nvSpPr>
        <p:spPr>
          <a:xfrm>
            <a:off x="455994" y="4061359"/>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HTTP custom probe</a:t>
            </a:r>
          </a:p>
        </p:txBody>
      </p:sp>
      <p:sp>
        <p:nvSpPr>
          <p:cNvPr id="7" name="Rectangle 6">
            <a:extLst>
              <a:ext uri="{FF2B5EF4-FFF2-40B4-BE49-F238E27FC236}">
                <a16:creationId xmlns:a16="http://schemas.microsoft.com/office/drawing/2014/main" id="{67838254-BA89-454D-A057-1ACD06ED0414}"/>
              </a:ext>
            </a:extLst>
          </p:cNvPr>
          <p:cNvSpPr/>
          <p:nvPr/>
        </p:nvSpPr>
        <p:spPr>
          <a:xfrm>
            <a:off x="455993" y="5242105"/>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TCP custom probe tries to establish a successful TCP session </a:t>
            </a:r>
          </a:p>
        </p:txBody>
      </p:sp>
      <p:sp>
        <p:nvSpPr>
          <p:cNvPr id="3" name="Rectangle 2">
            <a:extLst>
              <a:ext uri="{FF2B5EF4-FFF2-40B4-BE49-F238E27FC236}">
                <a16:creationId xmlns:a16="http://schemas.microsoft.com/office/drawing/2014/main" id="{030F7860-A12B-4133-B412-085CEF191914}"/>
              </a:ext>
              <a:ext uri="{C183D7F6-B498-43B3-948B-1728B52AA6E4}">
                <adec:decorative xmlns:adec="http://schemas.microsoft.com/office/drawing/2017/decorative" val="1"/>
              </a:ext>
            </a:extLst>
          </p:cNvPr>
          <p:cNvSpPr/>
          <p:nvPr/>
        </p:nvSpPr>
        <p:spPr bwMode="auto">
          <a:xfrm>
            <a:off x="5104642" y="1169263"/>
            <a:ext cx="6668715" cy="506791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8" name="Picture 2" descr="Screenshot of the HTTP custom probe page. The port is 80. The path is /. The interval is 5. The unhealthy threshold is 2 ">
            <a:extLst>
              <a:ext uri="{FF2B5EF4-FFF2-40B4-BE49-F238E27FC236}">
                <a16:creationId xmlns:a16="http://schemas.microsoft.com/office/drawing/2014/main" id="{8796594F-FA3B-4D99-93D1-AD3069D0E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0910" y="1476134"/>
            <a:ext cx="5816179" cy="4634075"/>
          </a:xfrm>
          <a:prstGeom prst="rect">
            <a:avLst/>
          </a:prstGeom>
          <a:ln>
            <a:noFill/>
          </a:ln>
        </p:spPr>
      </p:pic>
    </p:spTree>
    <p:extLst>
      <p:ext uri="{BB962C8B-B14F-4D97-AF65-F5344CB8AC3E}">
        <p14:creationId xmlns:p14="http://schemas.microsoft.com/office/powerpoint/2010/main" val="104186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C86A-4CBA-46D2-95F7-C19BEB4FF411}"/>
              </a:ext>
            </a:extLst>
          </p:cNvPr>
          <p:cNvSpPr>
            <a:spLocks noGrp="1"/>
          </p:cNvSpPr>
          <p:nvPr>
            <p:ph type="title"/>
          </p:nvPr>
        </p:nvSpPr>
        <p:spPr/>
        <p:txBody>
          <a:bodyPr/>
          <a:lstStyle/>
          <a:p>
            <a:r>
              <a:rPr lang="en-US" dirty="0"/>
              <a:t>Configure outbound traffic with Standard load balancer </a:t>
            </a:r>
          </a:p>
        </p:txBody>
      </p:sp>
      <p:pic>
        <p:nvPicPr>
          <p:cNvPr id="1026" name="Picture 2" descr="load balancer out bound rules ">
            <a:extLst>
              <a:ext uri="{FF2B5EF4-FFF2-40B4-BE49-F238E27FC236}">
                <a16:creationId xmlns:a16="http://schemas.microsoft.com/office/drawing/2014/main" id="{22B51EAC-96B8-4617-9271-6E22E317A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773" y="1881288"/>
            <a:ext cx="4496790" cy="3547468"/>
          </a:xfrm>
          <a:prstGeom prst="rect">
            <a:avLst/>
          </a:prstGeom>
          <a:noFill/>
        </p:spPr>
      </p:pic>
      <p:sp>
        <p:nvSpPr>
          <p:cNvPr id="3" name="Rectangle 2">
            <a:extLst>
              <a:ext uri="{FF2B5EF4-FFF2-40B4-BE49-F238E27FC236}">
                <a16:creationId xmlns:a16="http://schemas.microsoft.com/office/drawing/2014/main" id="{997EA309-2DEA-40F2-A29C-A464F0672704}"/>
              </a:ext>
              <a:ext uri="{C183D7F6-B498-43B3-948B-1728B52AA6E4}">
                <adec:decorative xmlns:adec="http://schemas.microsoft.com/office/drawing/2017/decorative" val="1"/>
              </a:ext>
            </a:extLst>
          </p:cNvPr>
          <p:cNvSpPr/>
          <p:nvPr/>
        </p:nvSpPr>
        <p:spPr bwMode="auto">
          <a:xfrm>
            <a:off x="6738252" y="1320296"/>
            <a:ext cx="5029658" cy="480825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5" name="Rectangle 4">
            <a:extLst>
              <a:ext uri="{FF2B5EF4-FFF2-40B4-BE49-F238E27FC236}">
                <a16:creationId xmlns:a16="http://schemas.microsoft.com/office/drawing/2014/main" id="{345D2AB4-D719-4B27-8929-5196A4A9E083}"/>
              </a:ext>
            </a:extLst>
          </p:cNvPr>
          <p:cNvSpPr/>
          <p:nvPr/>
        </p:nvSpPr>
        <p:spPr>
          <a:xfrm>
            <a:off x="424090" y="1762254"/>
            <a:ext cx="4527256" cy="13948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rPr>
              <a:t>source network address translation (SNAT) </a:t>
            </a:r>
          </a:p>
        </p:txBody>
      </p:sp>
      <p:sp>
        <p:nvSpPr>
          <p:cNvPr id="7" name="Rectangle 6">
            <a:extLst>
              <a:ext uri="{FF2B5EF4-FFF2-40B4-BE49-F238E27FC236}">
                <a16:creationId xmlns:a16="http://schemas.microsoft.com/office/drawing/2014/main" id="{012C190A-BC5C-49B8-8879-7B691B2FF115}"/>
              </a:ext>
            </a:extLst>
          </p:cNvPr>
          <p:cNvSpPr/>
          <p:nvPr/>
        </p:nvSpPr>
        <p:spPr>
          <a:xfrm>
            <a:off x="452102" y="3408216"/>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rPr>
              <a:t>Outbound rules allow you to explicitly define SNAT</a:t>
            </a:r>
          </a:p>
        </p:txBody>
      </p:sp>
      <p:sp>
        <p:nvSpPr>
          <p:cNvPr id="9" name="Rectangle 8">
            <a:extLst>
              <a:ext uri="{FF2B5EF4-FFF2-40B4-BE49-F238E27FC236}">
                <a16:creationId xmlns:a16="http://schemas.microsoft.com/office/drawing/2014/main" id="{E4C45F84-E0E0-48EA-BD00-C9631896D968}"/>
              </a:ext>
            </a:extLst>
          </p:cNvPr>
          <p:cNvSpPr/>
          <p:nvPr/>
        </p:nvSpPr>
        <p:spPr>
          <a:xfrm>
            <a:off x="452101" y="4588962"/>
            <a:ext cx="4527256" cy="153958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buFont typeface="Arial" panose="020B0604020202020204" pitchFamily="34" charset="0"/>
              <a:buChar char="•"/>
            </a:pPr>
            <a:r>
              <a:rPr lang="en-US" sz="2157" dirty="0">
                <a:solidFill>
                  <a:schemeClr val="tx1"/>
                </a:solidFill>
              </a:rPr>
              <a:t>IP masquerading</a:t>
            </a:r>
          </a:p>
          <a:p>
            <a:pPr>
              <a:buFont typeface="Arial" panose="020B0604020202020204" pitchFamily="34" charset="0"/>
              <a:buChar char="•"/>
            </a:pPr>
            <a:r>
              <a:rPr lang="en-US" sz="2157" dirty="0">
                <a:solidFill>
                  <a:schemeClr val="tx1"/>
                </a:solidFill>
              </a:rPr>
              <a:t>Simplifying your allow lists</a:t>
            </a:r>
          </a:p>
          <a:p>
            <a:pPr>
              <a:buFont typeface="Arial" panose="020B0604020202020204" pitchFamily="34" charset="0"/>
              <a:buChar char="•"/>
            </a:pPr>
            <a:r>
              <a:rPr lang="en-US" sz="2157" dirty="0">
                <a:solidFill>
                  <a:schemeClr val="tx1"/>
                </a:solidFill>
              </a:rPr>
              <a:t>Reduces the number of public IP resources for deployment.</a:t>
            </a:r>
          </a:p>
        </p:txBody>
      </p:sp>
    </p:spTree>
    <p:extLst>
      <p:ext uri="{BB962C8B-B14F-4D97-AF65-F5344CB8AC3E}">
        <p14:creationId xmlns:p14="http://schemas.microsoft.com/office/powerpoint/2010/main" val="237772696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4630-B82D-40CD-9155-89077130FD18}"/>
              </a:ext>
            </a:extLst>
          </p:cNvPr>
          <p:cNvSpPr>
            <a:spLocks noGrp="1"/>
          </p:cNvSpPr>
          <p:nvPr>
            <p:ph type="title"/>
          </p:nvPr>
        </p:nvSpPr>
        <p:spPr/>
        <p:txBody>
          <a:bodyPr/>
          <a:lstStyle/>
          <a:p>
            <a:r>
              <a:rPr lang="en-US" dirty="0"/>
              <a:t>Demonstration	 </a:t>
            </a:r>
          </a:p>
        </p:txBody>
      </p:sp>
      <p:pic>
        <p:nvPicPr>
          <p:cNvPr id="4" name="Picture 3" descr="Icon of two gears">
            <a:extLst>
              <a:ext uri="{FF2B5EF4-FFF2-40B4-BE49-F238E27FC236}">
                <a16:creationId xmlns:a16="http://schemas.microsoft.com/office/drawing/2014/main" id="{29A5ABE8-502A-4981-899A-E85D46BF9BBC}"/>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58900E61-A892-4D2B-B93F-AD4047426323}"/>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the virtual network</a:t>
            </a:r>
          </a:p>
        </p:txBody>
      </p:sp>
      <p:cxnSp>
        <p:nvCxnSpPr>
          <p:cNvPr id="8" name="Straight Connector 7">
            <a:extLst>
              <a:ext uri="{FF2B5EF4-FFF2-40B4-BE49-F238E27FC236}">
                <a16:creationId xmlns:a16="http://schemas.microsoft.com/office/drawing/2014/main" id="{113A03F0-47CD-4E20-AA47-82FDDD202A34}"/>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F6949767-AAEE-4F24-A0D9-DA88DDBA9407}"/>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900D1433-C58C-43F3-B89C-EDBA993639B5}"/>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public load balancer</a:t>
            </a:r>
          </a:p>
        </p:txBody>
      </p:sp>
      <p:cxnSp>
        <p:nvCxnSpPr>
          <p:cNvPr id="14" name="Straight Connector 13">
            <a:extLst>
              <a:ext uri="{FF2B5EF4-FFF2-40B4-BE49-F238E27FC236}">
                <a16:creationId xmlns:a16="http://schemas.microsoft.com/office/drawing/2014/main" id="{9219ED7E-57CA-409C-8CCB-13435FBC52FC}"/>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checkmark">
            <a:extLst>
              <a:ext uri="{FF2B5EF4-FFF2-40B4-BE49-F238E27FC236}">
                <a16:creationId xmlns:a16="http://schemas.microsoft.com/office/drawing/2014/main" id="{453A4583-7B45-4213-9248-B4B64C226C37}"/>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8" name="Rectangle 17">
            <a:extLst>
              <a:ext uri="{FF2B5EF4-FFF2-40B4-BE49-F238E27FC236}">
                <a16:creationId xmlns:a16="http://schemas.microsoft.com/office/drawing/2014/main" id="{91D15C13-B97B-4538-91C9-E9CF18A88127}"/>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backend pool</a:t>
            </a:r>
          </a:p>
        </p:txBody>
      </p:sp>
      <p:cxnSp>
        <p:nvCxnSpPr>
          <p:cNvPr id="20" name="Straight Connector 19">
            <a:extLst>
              <a:ext uri="{FF2B5EF4-FFF2-40B4-BE49-F238E27FC236}">
                <a16:creationId xmlns:a16="http://schemas.microsoft.com/office/drawing/2014/main" id="{C2001F50-F185-4C1E-ACA8-B108A994FD2C}"/>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2" name="Picture 21" descr="Icon of two people">
            <a:extLst>
              <a:ext uri="{FF2B5EF4-FFF2-40B4-BE49-F238E27FC236}">
                <a16:creationId xmlns:a16="http://schemas.microsoft.com/office/drawing/2014/main" id="{1E585F46-0E78-4B2A-9DFD-F65ECB4B7780}"/>
              </a:ext>
            </a:extLst>
          </p:cNvPr>
          <p:cNvPicPr>
            <a:picLocks noChangeAspect="1"/>
          </p:cNvPicPr>
          <p:nvPr/>
        </p:nvPicPr>
        <p:blipFill>
          <a:blip r:embed="rId6"/>
          <a:stretch>
            <a:fillRect/>
          </a:stretch>
        </p:blipFill>
        <p:spPr>
          <a:xfrm>
            <a:off x="455995" y="5087448"/>
            <a:ext cx="1026406" cy="1026406"/>
          </a:xfrm>
          <a:prstGeom prst="rect">
            <a:avLst/>
          </a:prstGeom>
        </p:spPr>
      </p:pic>
      <p:sp>
        <p:nvSpPr>
          <p:cNvPr id="24" name="Rectangle 23">
            <a:extLst>
              <a:ext uri="{FF2B5EF4-FFF2-40B4-BE49-F238E27FC236}">
                <a16:creationId xmlns:a16="http://schemas.microsoft.com/office/drawing/2014/main" id="{9D8CBB20-E2FA-4386-B838-87DFC69BEB5F}"/>
              </a:ext>
            </a:extLst>
          </p:cNvPr>
          <p:cNvSpPr/>
          <p:nvPr/>
        </p:nvSpPr>
        <p:spPr bwMode="auto">
          <a:xfrm>
            <a:off x="1668346" y="5420362"/>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 health probe </a:t>
            </a:r>
          </a:p>
        </p:txBody>
      </p:sp>
    </p:spTree>
    <p:extLst>
      <p:ext uri="{BB962C8B-B14F-4D97-AF65-F5344CB8AC3E}">
        <p14:creationId xmlns:p14="http://schemas.microsoft.com/office/powerpoint/2010/main" val="168119809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Review – </a:t>
            </a:r>
            <a:r>
              <a:rPr lang="en-US" sz="2800" dirty="0"/>
              <a:t>Design and implement Azure Load Balancer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A9C82355-7F00-4F64-8EDF-82DE4D9027CE}"/>
              </a:ext>
            </a:extLst>
          </p:cNvPr>
          <p:cNvSpPr txBox="1"/>
          <p:nvPr/>
        </p:nvSpPr>
        <p:spPr>
          <a:xfrm>
            <a:off x="4189871" y="2289644"/>
            <a:ext cx="7590042" cy="369332"/>
          </a:xfrm>
          <a:prstGeom prst="rect">
            <a:avLst/>
          </a:prstGeom>
          <a:noFill/>
        </p:spPr>
        <p:txBody>
          <a:bodyPr wrap="square">
            <a:spAutoFit/>
          </a:bodyPr>
          <a:lstStyle/>
          <a:p>
            <a:r>
              <a:rPr lang="en-US" dirty="0">
                <a:hlinkClick r:id="rId4"/>
              </a:rPr>
              <a:t>What is Azure Load Balancer? - Azure Load Balancer | Microsoft Docs</a:t>
            </a:r>
            <a:endParaRPr lang="en-US" dirty="0"/>
          </a:p>
        </p:txBody>
      </p:sp>
    </p:spTree>
    <p:extLst>
      <p:ext uri="{BB962C8B-B14F-4D97-AF65-F5344CB8AC3E}">
        <p14:creationId xmlns:p14="http://schemas.microsoft.com/office/powerpoint/2010/main" val="9669957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5E97E4-F958-4F6A-99C7-6081456CD2F1}"/>
              </a:ext>
            </a:extLst>
          </p:cNvPr>
          <p:cNvSpPr>
            <a:spLocks noGrp="1"/>
          </p:cNvSpPr>
          <p:nvPr>
            <p:ph type="title"/>
          </p:nvPr>
        </p:nvSpPr>
        <p:spPr>
          <a:xfrm>
            <a:off x="585217" y="2930402"/>
            <a:ext cx="8892608" cy="997196"/>
          </a:xfrm>
        </p:spPr>
        <p:txBody>
          <a:bodyPr/>
          <a:lstStyle/>
          <a:p>
            <a:r>
              <a:rPr lang="en-US" dirty="0"/>
              <a:t>Lesson 03: Exercise - </a:t>
            </a:r>
            <a:r>
              <a:rPr lang="en-US" sz="3600" dirty="0"/>
              <a:t>Create and configure an internal load balancer using the Azure portal</a:t>
            </a:r>
            <a:endParaRPr lang="en-US" dirty="0"/>
          </a:p>
        </p:txBody>
      </p:sp>
      <p:grpSp>
        <p:nvGrpSpPr>
          <p:cNvPr id="4" name="Group 3">
            <a:extLst>
              <a:ext uri="{FF2B5EF4-FFF2-40B4-BE49-F238E27FC236}">
                <a16:creationId xmlns:a16="http://schemas.microsoft.com/office/drawing/2014/main" id="{F899D515-B616-44B7-888A-A560FD8C177F}"/>
              </a:ext>
              <a:ext uri="{C183D7F6-B498-43B3-948B-1728B52AA6E4}">
                <adec:decorative xmlns:adec="http://schemas.microsoft.com/office/drawing/2017/decorative" val="1"/>
              </a:ext>
            </a:extLst>
          </p:cNvPr>
          <p:cNvGrpSpPr/>
          <p:nvPr/>
        </p:nvGrpSpPr>
        <p:grpSpPr>
          <a:xfrm>
            <a:off x="10339256" y="3070379"/>
            <a:ext cx="717140" cy="717242"/>
            <a:chOff x="418643" y="3578249"/>
            <a:chExt cx="717140" cy="717242"/>
          </a:xfrm>
        </p:grpSpPr>
        <p:grpSp>
          <p:nvGrpSpPr>
            <p:cNvPr id="5" name="Group 4">
              <a:extLst>
                <a:ext uri="{FF2B5EF4-FFF2-40B4-BE49-F238E27FC236}">
                  <a16:creationId xmlns:a16="http://schemas.microsoft.com/office/drawing/2014/main" id="{0B51C6A8-99A4-4274-ACDB-A7FA44FDF77D}"/>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7" name="Freeform 5">
                <a:extLst>
                  <a:ext uri="{FF2B5EF4-FFF2-40B4-BE49-F238E27FC236}">
                    <a16:creationId xmlns:a16="http://schemas.microsoft.com/office/drawing/2014/main" id="{E6148178-D744-4F4E-A580-530D14A0B756}"/>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F451579-FD46-4AAB-A123-6179F9F1230D}"/>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0E87B005-E1A1-4617-9FC1-80F3E5E326C2}"/>
                </a:ext>
              </a:extLst>
            </p:cNvPr>
            <p:cNvPicPr>
              <a:picLocks noChangeAspect="1"/>
            </p:cNvPicPr>
            <p:nvPr/>
          </p:nvPicPr>
          <p:blipFill>
            <a:blip r:embed="rId2"/>
            <a:stretch>
              <a:fillRect/>
            </a:stretch>
          </p:blipFill>
          <p:spPr>
            <a:xfrm>
              <a:off x="532902" y="3829050"/>
              <a:ext cx="488622" cy="215640"/>
            </a:xfrm>
            <a:prstGeom prst="rect">
              <a:avLst/>
            </a:prstGeom>
          </p:spPr>
        </p:pic>
      </p:grpSp>
    </p:spTree>
    <p:extLst>
      <p:ext uri="{BB962C8B-B14F-4D97-AF65-F5344CB8AC3E}">
        <p14:creationId xmlns:p14="http://schemas.microsoft.com/office/powerpoint/2010/main" val="248048003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36ACEB-041B-42CD-9997-F2347E4EE531}"/>
              </a:ext>
            </a:extLst>
          </p:cNvPr>
          <p:cNvSpPr>
            <a:spLocks noGrp="1"/>
          </p:cNvSpPr>
          <p:nvPr>
            <p:ph type="title"/>
          </p:nvPr>
        </p:nvSpPr>
        <p:spPr/>
        <p:txBody>
          <a:bodyPr/>
          <a:lstStyle/>
          <a:p>
            <a:r>
              <a:rPr lang="en-US" dirty="0"/>
              <a:t>Exercise - Create and configure an Azure load balancer</a:t>
            </a:r>
          </a:p>
        </p:txBody>
      </p:sp>
      <p:pic>
        <p:nvPicPr>
          <p:cNvPr id="1026" name="Picture 2" descr="internal load balancer diagram with 3 virtual machines in the backend pool ">
            <a:extLst>
              <a:ext uri="{FF2B5EF4-FFF2-40B4-BE49-F238E27FC236}">
                <a16:creationId xmlns:a16="http://schemas.microsoft.com/office/drawing/2014/main" id="{FB936BEB-90C1-4028-9004-43DCBFFB1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7375" y="1033462"/>
            <a:ext cx="7629525" cy="4791075"/>
          </a:xfrm>
          <a:prstGeom prst="rect">
            <a:avLst/>
          </a:prstGeom>
          <a:noFill/>
        </p:spPr>
      </p:pic>
      <p:sp>
        <p:nvSpPr>
          <p:cNvPr id="2" name="Rectangle 1">
            <a:extLst>
              <a:ext uri="{FF2B5EF4-FFF2-40B4-BE49-F238E27FC236}">
                <a16:creationId xmlns:a16="http://schemas.microsoft.com/office/drawing/2014/main" id="{906ED7E7-0ECB-4F73-A063-C412A05E335C}"/>
              </a:ext>
            </a:extLst>
          </p:cNvPr>
          <p:cNvSpPr/>
          <p:nvPr/>
        </p:nvSpPr>
        <p:spPr>
          <a:xfrm>
            <a:off x="424090" y="1462717"/>
            <a:ext cx="3433285" cy="436182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Task 1: Create the virtual network</a:t>
            </a:r>
          </a:p>
          <a:p>
            <a:r>
              <a:rPr lang="en-US" sz="2157">
                <a:solidFill>
                  <a:schemeClr val="tx1"/>
                </a:solidFill>
              </a:rPr>
              <a:t>Task 2: Create the load balancer</a:t>
            </a:r>
          </a:p>
          <a:p>
            <a:r>
              <a:rPr lang="en-US" sz="2157">
                <a:solidFill>
                  <a:schemeClr val="tx1"/>
                </a:solidFill>
              </a:rPr>
              <a:t>Task 3: Create load balancer resources</a:t>
            </a:r>
          </a:p>
          <a:p>
            <a:r>
              <a:rPr lang="en-US" sz="2157">
                <a:solidFill>
                  <a:schemeClr val="tx1"/>
                </a:solidFill>
              </a:rPr>
              <a:t>Task 4: Create backend servers</a:t>
            </a:r>
          </a:p>
          <a:p>
            <a:r>
              <a:rPr lang="en-US" sz="2157">
                <a:solidFill>
                  <a:schemeClr val="tx1"/>
                </a:solidFill>
              </a:rPr>
              <a:t>Task 5: Test the load balancer</a:t>
            </a:r>
            <a:endParaRPr lang="en-US" sz="2157" dirty="0">
              <a:solidFill>
                <a:schemeClr val="tx1"/>
              </a:solidFill>
            </a:endParaRPr>
          </a:p>
        </p:txBody>
      </p:sp>
    </p:spTree>
    <p:extLst>
      <p:ext uri="{BB962C8B-B14F-4D97-AF65-F5344CB8AC3E}">
        <p14:creationId xmlns:p14="http://schemas.microsoft.com/office/powerpoint/2010/main" val="128196169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267324"/>
            <a:ext cx="11343820" cy="795089"/>
          </a:xfrm>
        </p:spPr>
        <p:txBody>
          <a:bodyPr/>
          <a:lstStyle/>
          <a:p>
            <a:r>
              <a:rPr lang="en-US" dirty="0">
                <a:solidFill>
                  <a:schemeClr val="tx1"/>
                </a:solidFill>
              </a:rPr>
              <a:t>Review – </a:t>
            </a:r>
            <a:r>
              <a:rPr lang="en-US" sz="2800" dirty="0">
                <a:solidFill>
                  <a:schemeClr val="tx1"/>
                </a:solidFill>
              </a:rPr>
              <a:t>E</a:t>
            </a:r>
            <a:r>
              <a:rPr lang="en-US" sz="2800" dirty="0"/>
              <a:t>xercise create and configure an internal load balancer using the Azure portal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0A262250-8219-4C3C-BB74-F558578F94C1}"/>
              </a:ext>
            </a:extLst>
          </p:cNvPr>
          <p:cNvSpPr txBox="1"/>
          <p:nvPr/>
        </p:nvSpPr>
        <p:spPr>
          <a:xfrm>
            <a:off x="4172421" y="2159367"/>
            <a:ext cx="7590041" cy="646331"/>
          </a:xfrm>
          <a:prstGeom prst="rect">
            <a:avLst/>
          </a:prstGeom>
          <a:noFill/>
        </p:spPr>
        <p:txBody>
          <a:bodyPr wrap="square">
            <a:spAutoFit/>
          </a:bodyPr>
          <a:lstStyle/>
          <a:p>
            <a:r>
              <a:rPr lang="en-US" dirty="0" err="1">
                <a:hlinkClick r:id="rId4"/>
              </a:rPr>
              <a:t>Quickstart</a:t>
            </a:r>
            <a:r>
              <a:rPr lang="en-US" dirty="0">
                <a:hlinkClick r:id="rId4"/>
              </a:rPr>
              <a:t>: Create a public load balancer - Azure portal - Azure Load Balancer | Microsoft Docs</a:t>
            </a:r>
            <a:endParaRPr lang="en-US" dirty="0"/>
          </a:p>
        </p:txBody>
      </p:sp>
    </p:spTree>
    <p:extLst>
      <p:ext uri="{BB962C8B-B14F-4D97-AF65-F5344CB8AC3E}">
        <p14:creationId xmlns:p14="http://schemas.microsoft.com/office/powerpoint/2010/main" val="13739908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p:txBody>
          <a:bodyPr/>
          <a:lstStyle/>
          <a:p>
            <a:r>
              <a:rPr lang="en-US" dirty="0"/>
              <a:t>Lesson 04: </a:t>
            </a:r>
            <a:r>
              <a:rPr lang="en-US" sz="3600" dirty="0"/>
              <a:t>Explore Azure Traffic Manager </a:t>
            </a:r>
            <a:endParaRPr lang="en-US" dirty="0"/>
          </a:p>
        </p:txBody>
      </p:sp>
      <p:grpSp>
        <p:nvGrpSpPr>
          <p:cNvPr id="4" name="Group 3">
            <a:extLst>
              <a:ext uri="{FF2B5EF4-FFF2-40B4-BE49-F238E27FC236}">
                <a16:creationId xmlns:a16="http://schemas.microsoft.com/office/drawing/2014/main" id="{5BCB53AF-CF1D-419D-9DCA-692E6B1F9D72}"/>
              </a:ext>
              <a:ext uri="{C183D7F6-B498-43B3-948B-1728B52AA6E4}">
                <adec:decorative xmlns:adec="http://schemas.microsoft.com/office/drawing/2017/decorative" val="1"/>
              </a:ext>
            </a:extLst>
          </p:cNvPr>
          <p:cNvGrpSpPr/>
          <p:nvPr/>
        </p:nvGrpSpPr>
        <p:grpSpPr>
          <a:xfrm>
            <a:off x="10326730" y="3070379"/>
            <a:ext cx="717140" cy="717242"/>
            <a:chOff x="418643" y="4623409"/>
            <a:chExt cx="717140" cy="717242"/>
          </a:xfrm>
        </p:grpSpPr>
        <p:grpSp>
          <p:nvGrpSpPr>
            <p:cNvPr id="5" name="Group 4">
              <a:extLst>
                <a:ext uri="{FF2B5EF4-FFF2-40B4-BE49-F238E27FC236}">
                  <a16:creationId xmlns:a16="http://schemas.microsoft.com/office/drawing/2014/main" id="{D6F3F9FE-ACC0-4E4F-9975-4BFD5942318E}"/>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7" name="Freeform 5">
                <a:extLst>
                  <a:ext uri="{FF2B5EF4-FFF2-40B4-BE49-F238E27FC236}">
                    <a16:creationId xmlns:a16="http://schemas.microsoft.com/office/drawing/2014/main" id="{B8E671B9-8BFE-4ED2-96A8-740659BF8BCA}"/>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3DF95C40-D186-4AED-A834-186513DB64A1}"/>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791BE1FA-4B6D-4F4B-9629-7134F6B8D95B}"/>
                </a:ext>
              </a:extLst>
            </p:cNvPr>
            <p:cNvPicPr>
              <a:picLocks noChangeAspect="1"/>
            </p:cNvPicPr>
            <p:nvPr/>
          </p:nvPicPr>
          <p:blipFill>
            <a:blip r:embed="rId2"/>
            <a:stretch>
              <a:fillRect/>
            </a:stretch>
          </p:blipFill>
          <p:spPr>
            <a:xfrm>
              <a:off x="619369" y="4762500"/>
              <a:ext cx="315688" cy="439060"/>
            </a:xfrm>
            <a:prstGeom prst="rect">
              <a:avLst/>
            </a:prstGeom>
          </p:spPr>
        </p:pic>
      </p:grpSp>
    </p:spTree>
    <p:extLst>
      <p:ext uri="{BB962C8B-B14F-4D97-AF65-F5344CB8AC3E}">
        <p14:creationId xmlns:p14="http://schemas.microsoft.com/office/powerpoint/2010/main" val="34987714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69960" y="3088902"/>
            <a:ext cx="1959432" cy="680196"/>
          </a:xfrm>
        </p:spPr>
        <p:txBody>
          <a:bodyPr/>
          <a:lstStyle/>
          <a:p>
            <a:r>
              <a:rPr lang="en-US" sz="2750" dirty="0"/>
              <a:t>Explore Azure Traffic Manager overview</a:t>
            </a:r>
          </a:p>
        </p:txBody>
      </p:sp>
      <p:sp>
        <p:nvSpPr>
          <p:cNvPr id="6" name="Text Placeholder 5"/>
          <p:cNvSpPr>
            <a:spLocks noGrp="1"/>
          </p:cNvSpPr>
          <p:nvPr>
            <p:ph type="body" sz="quarter" idx="11"/>
          </p:nvPr>
        </p:nvSpPr>
        <p:spPr>
          <a:xfrm>
            <a:off x="3619500" y="1598279"/>
            <a:ext cx="3330574" cy="675889"/>
          </a:xfrm>
        </p:spPr>
        <p:txBody>
          <a:bodyPr/>
          <a:lstStyle/>
          <a:p>
            <a:pPr lvl="1"/>
            <a:r>
              <a:rPr lang="en-US" dirty="0"/>
              <a:t>Use cases for Azure Traffic Manager </a:t>
            </a:r>
          </a:p>
        </p:txBody>
      </p:sp>
      <p:sp>
        <p:nvSpPr>
          <p:cNvPr id="2" name="Text Placeholder 1"/>
          <p:cNvSpPr>
            <a:spLocks noGrp="1"/>
          </p:cNvSpPr>
          <p:nvPr>
            <p:ph type="body" sz="quarter" idx="15"/>
          </p:nvPr>
        </p:nvSpPr>
        <p:spPr>
          <a:xfrm>
            <a:off x="3619500" y="2442130"/>
            <a:ext cx="3330574" cy="675889"/>
          </a:xfrm>
        </p:spPr>
        <p:txBody>
          <a:bodyPr/>
          <a:lstStyle/>
          <a:p>
            <a:pPr lvl="1"/>
            <a:r>
              <a:rPr lang="en-US" dirty="0"/>
              <a:t>How Traffic manager works </a:t>
            </a:r>
          </a:p>
        </p:txBody>
      </p:sp>
      <p:sp>
        <p:nvSpPr>
          <p:cNvPr id="3" name="Text Placeholder 2"/>
          <p:cNvSpPr>
            <a:spLocks noGrp="1"/>
          </p:cNvSpPr>
          <p:nvPr>
            <p:ph type="body" sz="quarter" idx="17"/>
          </p:nvPr>
        </p:nvSpPr>
        <p:spPr>
          <a:xfrm>
            <a:off x="3619500" y="3285981"/>
            <a:ext cx="3330574" cy="675889"/>
          </a:xfrm>
        </p:spPr>
        <p:txBody>
          <a:bodyPr/>
          <a:lstStyle/>
          <a:p>
            <a:pPr lvl="1"/>
            <a:r>
              <a:rPr lang="en-US" dirty="0"/>
              <a:t>Traffic routing methods </a:t>
            </a:r>
          </a:p>
        </p:txBody>
      </p:sp>
      <p:sp>
        <p:nvSpPr>
          <p:cNvPr id="4" name="Text Placeholder 3"/>
          <p:cNvSpPr>
            <a:spLocks noGrp="1"/>
          </p:cNvSpPr>
          <p:nvPr>
            <p:ph type="body" sz="quarter" idx="19"/>
          </p:nvPr>
        </p:nvSpPr>
        <p:spPr>
          <a:xfrm>
            <a:off x="3619500" y="4129832"/>
            <a:ext cx="3330574" cy="675889"/>
          </a:xfrm>
        </p:spPr>
        <p:txBody>
          <a:bodyPr/>
          <a:lstStyle/>
          <a:p>
            <a:pPr lvl="1"/>
            <a:r>
              <a:rPr lang="en-US" dirty="0"/>
              <a:t>Traffic manager endpoints </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1598279"/>
            <a:ext cx="3442157" cy="675889"/>
          </a:xfrm>
        </p:spPr>
        <p:txBody>
          <a:bodyPr/>
          <a:lstStyle/>
          <a:p>
            <a:pPr lvl="1"/>
            <a:r>
              <a:rPr lang="en-US" dirty="0"/>
              <a:t>Configuring traffic manager profiles </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2442130"/>
            <a:ext cx="3442157" cy="675889"/>
          </a:xfrm>
        </p:spPr>
        <p:txBody>
          <a:bodyPr/>
          <a:lstStyle/>
          <a:p>
            <a:pPr lvl="1"/>
            <a:r>
              <a:rPr lang="en-US" dirty="0"/>
              <a:t>Configure Endpoint monitoring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3285981"/>
            <a:ext cx="3442157" cy="675889"/>
          </a:xfrm>
        </p:spPr>
        <p:txBody>
          <a:bodyPr/>
          <a:lstStyle/>
          <a:p>
            <a:pPr lvl="1"/>
            <a:r>
              <a:rPr lang="en-US" dirty="0"/>
              <a:t>Demonstration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a:xfrm>
            <a:off x="8331200" y="4129832"/>
            <a:ext cx="3442157" cy="675889"/>
          </a:xfrm>
        </p:spPr>
        <p:txBody>
          <a:bodyPr/>
          <a:lstStyle/>
          <a:p>
            <a:pPr lvl="1"/>
            <a:r>
              <a:rPr lang="en-US" dirty="0"/>
              <a:t>Review </a:t>
            </a:r>
          </a:p>
        </p:txBody>
      </p:sp>
      <p:grpSp>
        <p:nvGrpSpPr>
          <p:cNvPr id="5" name="Group 4">
            <a:extLst>
              <a:ext uri="{FF2B5EF4-FFF2-40B4-BE49-F238E27FC236}">
                <a16:creationId xmlns:a16="http://schemas.microsoft.com/office/drawing/2014/main" id="{EF491B9E-4D6D-4C70-AD06-88CF468C21B4}"/>
              </a:ext>
              <a:ext uri="{C183D7F6-B498-43B3-948B-1728B52AA6E4}">
                <adec:decorative xmlns:adec="http://schemas.microsoft.com/office/drawing/2017/decorative" val="1"/>
              </a:ext>
            </a:extLst>
          </p:cNvPr>
          <p:cNvGrpSpPr/>
          <p:nvPr/>
        </p:nvGrpSpPr>
        <p:grpSpPr>
          <a:xfrm>
            <a:off x="2744702" y="1619950"/>
            <a:ext cx="648329" cy="3175213"/>
            <a:chOff x="2744702" y="1619950"/>
            <a:chExt cx="648329" cy="3175213"/>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1619950"/>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2462214"/>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3304478"/>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4146742"/>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grpSp>
        <p:nvGrpSpPr>
          <p:cNvPr id="7" name="Group 6">
            <a:extLst>
              <a:ext uri="{FF2B5EF4-FFF2-40B4-BE49-F238E27FC236}">
                <a16:creationId xmlns:a16="http://schemas.microsoft.com/office/drawing/2014/main" id="{B1A4434A-D12C-413D-822D-801BC87ECA3E}"/>
              </a:ext>
              <a:ext uri="{C183D7F6-B498-43B3-948B-1728B52AA6E4}">
                <adec:decorative xmlns:adec="http://schemas.microsoft.com/office/drawing/2017/decorative" val="1"/>
              </a:ext>
            </a:extLst>
          </p:cNvPr>
          <p:cNvGrpSpPr/>
          <p:nvPr/>
        </p:nvGrpSpPr>
        <p:grpSpPr>
          <a:xfrm>
            <a:off x="7465384" y="1619950"/>
            <a:ext cx="648329" cy="3175213"/>
            <a:chOff x="7465384" y="1619950"/>
            <a:chExt cx="648329" cy="3175213"/>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1619950"/>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2462214"/>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3304478"/>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4146742"/>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spTree>
    <p:extLst>
      <p:ext uri="{BB962C8B-B14F-4D97-AF65-F5344CB8AC3E}">
        <p14:creationId xmlns:p14="http://schemas.microsoft.com/office/powerpoint/2010/main" val="394599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a:solidFill>
                  <a:schemeClr val="tx1"/>
                </a:solidFill>
              </a:rPr>
              <a:t>Use cases for Azure Traffic Manager </a:t>
            </a:r>
            <a:endParaRPr lang="en-US"/>
          </a:p>
        </p:txBody>
      </p:sp>
      <p:sp>
        <p:nvSpPr>
          <p:cNvPr id="7" name="Rectangle 6">
            <a:extLst>
              <a:ext uri="{FF2B5EF4-FFF2-40B4-BE49-F238E27FC236}">
                <a16:creationId xmlns:a16="http://schemas.microsoft.com/office/drawing/2014/main" id="{FB095684-B4A5-422F-A066-E08E01390D7A}"/>
              </a:ext>
            </a:extLst>
          </p:cNvPr>
          <p:cNvSpPr/>
          <p:nvPr/>
        </p:nvSpPr>
        <p:spPr>
          <a:xfrm>
            <a:off x="471070" y="1218147"/>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Increase application availability</a:t>
            </a:r>
          </a:p>
        </p:txBody>
      </p:sp>
      <p:sp>
        <p:nvSpPr>
          <p:cNvPr id="9" name="Rectangle 8">
            <a:extLst>
              <a:ext uri="{FF2B5EF4-FFF2-40B4-BE49-F238E27FC236}">
                <a16:creationId xmlns:a16="http://schemas.microsoft.com/office/drawing/2014/main" id="{62C93A08-3DAB-409A-9319-7F1399318D7F}"/>
              </a:ext>
            </a:extLst>
          </p:cNvPr>
          <p:cNvSpPr/>
          <p:nvPr/>
        </p:nvSpPr>
        <p:spPr>
          <a:xfrm>
            <a:off x="471070" y="2288125"/>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Improve application performance</a:t>
            </a:r>
          </a:p>
        </p:txBody>
      </p:sp>
      <p:sp>
        <p:nvSpPr>
          <p:cNvPr id="11" name="Rectangle 10">
            <a:extLst>
              <a:ext uri="{FF2B5EF4-FFF2-40B4-BE49-F238E27FC236}">
                <a16:creationId xmlns:a16="http://schemas.microsoft.com/office/drawing/2014/main" id="{3442F0C5-B587-4619-B1BE-497EF0A4CC5D}"/>
              </a:ext>
            </a:extLst>
          </p:cNvPr>
          <p:cNvSpPr/>
          <p:nvPr/>
        </p:nvSpPr>
        <p:spPr>
          <a:xfrm>
            <a:off x="471070" y="3358103"/>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Service maintenance without downtime</a:t>
            </a:r>
          </a:p>
        </p:txBody>
      </p:sp>
      <p:sp>
        <p:nvSpPr>
          <p:cNvPr id="13" name="Rectangle 12">
            <a:extLst>
              <a:ext uri="{FF2B5EF4-FFF2-40B4-BE49-F238E27FC236}">
                <a16:creationId xmlns:a16="http://schemas.microsoft.com/office/drawing/2014/main" id="{06EB3E5B-76A6-4EE9-A888-34DF05D19D44}"/>
              </a:ext>
            </a:extLst>
          </p:cNvPr>
          <p:cNvSpPr/>
          <p:nvPr/>
        </p:nvSpPr>
        <p:spPr>
          <a:xfrm>
            <a:off x="471070" y="4410593"/>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Combine hybrid applications</a:t>
            </a:r>
          </a:p>
        </p:txBody>
      </p:sp>
      <p:sp>
        <p:nvSpPr>
          <p:cNvPr id="15" name="Rectangle 14">
            <a:extLst>
              <a:ext uri="{FF2B5EF4-FFF2-40B4-BE49-F238E27FC236}">
                <a16:creationId xmlns:a16="http://schemas.microsoft.com/office/drawing/2014/main" id="{F3FA03AE-754A-462A-AB1E-DA6218DCF084}"/>
              </a:ext>
            </a:extLst>
          </p:cNvPr>
          <p:cNvSpPr/>
          <p:nvPr/>
        </p:nvSpPr>
        <p:spPr>
          <a:xfrm>
            <a:off x="471070" y="5496916"/>
            <a:ext cx="4527256" cy="9304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Distribute traffic for complex deployments</a:t>
            </a:r>
          </a:p>
        </p:txBody>
      </p:sp>
      <p:pic>
        <p:nvPicPr>
          <p:cNvPr id="2050" name="Picture 2" descr="Traffic Manager profile diagram with two endpoints ">
            <a:extLst>
              <a:ext uri="{FF2B5EF4-FFF2-40B4-BE49-F238E27FC236}">
                <a16:creationId xmlns:a16="http://schemas.microsoft.com/office/drawing/2014/main" id="{559E545F-F3C4-48E0-B51B-88B082C92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3995" y="3218558"/>
            <a:ext cx="5761659" cy="2633613"/>
          </a:xfrm>
          <a:prstGeom prst="rect">
            <a:avLst/>
          </a:prstGeom>
          <a:noFill/>
        </p:spPr>
      </p:pic>
      <p:sp>
        <p:nvSpPr>
          <p:cNvPr id="2" name="Rectangle 1">
            <a:extLst>
              <a:ext uri="{FF2B5EF4-FFF2-40B4-BE49-F238E27FC236}">
                <a16:creationId xmlns:a16="http://schemas.microsoft.com/office/drawing/2014/main" id="{48988B02-E314-4D38-9E46-7D1AD4AE9F53}"/>
              </a:ext>
              <a:ext uri="{C183D7F6-B498-43B3-948B-1728B52AA6E4}">
                <adec:decorative xmlns:adec="http://schemas.microsoft.com/office/drawing/2017/decorative" val="1"/>
              </a:ext>
            </a:extLst>
          </p:cNvPr>
          <p:cNvSpPr/>
          <p:nvPr/>
        </p:nvSpPr>
        <p:spPr bwMode="auto">
          <a:xfrm>
            <a:off x="5486400" y="2861953"/>
            <a:ext cx="6281510" cy="324196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31041773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a:solidFill>
                  <a:schemeClr val="tx1"/>
                </a:solidFill>
              </a:rPr>
              <a:t>How Traffic manager works </a:t>
            </a:r>
            <a:endParaRPr lang="en-US"/>
          </a:p>
        </p:txBody>
      </p:sp>
      <p:pic>
        <p:nvPicPr>
          <p:cNvPr id="4" name="Picture 3" descr="Diagram illustrating client usage flow in Traffic Manager">
            <a:extLst>
              <a:ext uri="{FF2B5EF4-FFF2-40B4-BE49-F238E27FC236}">
                <a16:creationId xmlns:a16="http://schemas.microsoft.com/office/drawing/2014/main" id="{A486AD63-CC2C-4A3E-B776-45193CC02936}"/>
              </a:ext>
            </a:extLst>
          </p:cNvPr>
          <p:cNvPicPr/>
          <p:nvPr/>
        </p:nvPicPr>
        <p:blipFill>
          <a:blip r:embed="rId3"/>
          <a:stretch>
            <a:fillRect/>
          </a:stretch>
        </p:blipFill>
        <p:spPr bwMode="auto">
          <a:xfrm>
            <a:off x="5500688" y="1174114"/>
            <a:ext cx="6441122" cy="4932039"/>
          </a:xfrm>
          <a:prstGeom prst="rect">
            <a:avLst/>
          </a:prstGeom>
          <a:noFill/>
          <a:ln>
            <a:noFill/>
          </a:ln>
        </p:spPr>
      </p:pic>
      <p:sp>
        <p:nvSpPr>
          <p:cNvPr id="7" name="Rectangle 6">
            <a:extLst>
              <a:ext uri="{FF2B5EF4-FFF2-40B4-BE49-F238E27FC236}">
                <a16:creationId xmlns:a16="http://schemas.microsoft.com/office/drawing/2014/main" id="{01D21617-0A81-4E4B-A637-923462AC10C9}"/>
              </a:ext>
            </a:extLst>
          </p:cNvPr>
          <p:cNvSpPr/>
          <p:nvPr/>
        </p:nvSpPr>
        <p:spPr>
          <a:xfrm>
            <a:off x="250190" y="1974528"/>
            <a:ext cx="5076598" cy="37212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000" dirty="0">
                <a:solidFill>
                  <a:schemeClr val="tx1"/>
                </a:solidFill>
              </a:rPr>
              <a:t>The Traffic Manager name servers receive the request. They choose an endpoint based on:</a:t>
            </a:r>
          </a:p>
          <a:p>
            <a:endParaRPr lang="en-US" sz="2000" dirty="0">
              <a:solidFill>
                <a:schemeClr val="tx1"/>
              </a:solidFill>
            </a:endParaRPr>
          </a:p>
          <a:p>
            <a:pPr marL="342900" indent="-342900">
              <a:buFont typeface="Arial" panose="020B0604020202020204" pitchFamily="34" charset="0"/>
              <a:buChar char="•"/>
            </a:pPr>
            <a:r>
              <a:rPr lang="en-US" sz="2000" dirty="0">
                <a:solidFill>
                  <a:schemeClr val="tx1"/>
                </a:solidFill>
              </a:rPr>
              <a:t>The configured state of each endpoint</a:t>
            </a:r>
          </a:p>
          <a:p>
            <a:pPr marL="342900" indent="-342900">
              <a:buFont typeface="Arial" panose="020B0604020202020204" pitchFamily="34" charset="0"/>
              <a:buChar char="•"/>
            </a:pPr>
            <a:r>
              <a:rPr lang="en-US" sz="2000" dirty="0">
                <a:solidFill>
                  <a:schemeClr val="tx1"/>
                </a:solidFill>
              </a:rPr>
              <a:t>The current health of each endpoint, as determined by the Traffic Manager health checks </a:t>
            </a:r>
          </a:p>
          <a:p>
            <a:pPr marL="342900" indent="-342900">
              <a:buFont typeface="Arial" panose="020B0604020202020204" pitchFamily="34" charset="0"/>
              <a:buChar char="•"/>
            </a:pPr>
            <a:r>
              <a:rPr lang="en-US" sz="2000" dirty="0">
                <a:solidFill>
                  <a:schemeClr val="tx1"/>
                </a:solidFill>
              </a:rPr>
              <a:t>The chosen traffic-routing method</a:t>
            </a:r>
          </a:p>
          <a:p>
            <a:pPr marL="342900" indent="-342900">
              <a:buFont typeface="Arial" panose="020B0604020202020204" pitchFamily="34" charset="0"/>
              <a:buChar char="•"/>
            </a:pPr>
            <a:r>
              <a:rPr lang="en-US" sz="2000" dirty="0">
                <a:solidFill>
                  <a:schemeClr val="tx1"/>
                </a:solidFill>
              </a:rPr>
              <a:t>Final connection is not going through Traffic Manager </a:t>
            </a:r>
          </a:p>
        </p:txBody>
      </p:sp>
      <p:sp>
        <p:nvSpPr>
          <p:cNvPr id="2" name="Rectangle 1">
            <a:extLst>
              <a:ext uri="{FF2B5EF4-FFF2-40B4-BE49-F238E27FC236}">
                <a16:creationId xmlns:a16="http://schemas.microsoft.com/office/drawing/2014/main" id="{B5280167-D212-4CAC-A043-D3A7929D6C65}"/>
              </a:ext>
              <a:ext uri="{C183D7F6-B498-43B3-948B-1728B52AA6E4}">
                <adec:decorative xmlns:adec="http://schemas.microsoft.com/office/drawing/2017/decorative" val="1"/>
              </a:ext>
            </a:extLst>
          </p:cNvPr>
          <p:cNvSpPr/>
          <p:nvPr/>
        </p:nvSpPr>
        <p:spPr bwMode="auto">
          <a:xfrm>
            <a:off x="5500688" y="1174114"/>
            <a:ext cx="6441122" cy="493203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98235009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dirty="0">
                <a:solidFill>
                  <a:schemeClr val="tx1"/>
                </a:solidFill>
              </a:rPr>
              <a:t>Traffic routing methods – Priority  </a:t>
            </a:r>
            <a:endParaRPr lang="en-US" dirty="0"/>
          </a:p>
        </p:txBody>
      </p:sp>
      <p:pic>
        <p:nvPicPr>
          <p:cNvPr id="4" name="Picture 3" descr="Diagram illustrating the 'Priority' routing method">
            <a:extLst>
              <a:ext uri="{FF2B5EF4-FFF2-40B4-BE49-F238E27FC236}">
                <a16:creationId xmlns:a16="http://schemas.microsoft.com/office/drawing/2014/main" id="{B3B92656-C9F5-4ED5-BDAE-BD59B990A630}"/>
              </a:ext>
            </a:extLst>
          </p:cNvPr>
          <p:cNvPicPr/>
          <p:nvPr/>
        </p:nvPicPr>
        <p:blipFill rotWithShape="1">
          <a:blip r:embed="rId3"/>
          <a:srcRect l="5247" r="7423"/>
          <a:stretch/>
        </p:blipFill>
        <p:spPr bwMode="auto">
          <a:xfrm>
            <a:off x="2431551" y="1243013"/>
            <a:ext cx="6497902" cy="5148891"/>
          </a:xfrm>
          <a:prstGeom prst="rect">
            <a:avLst/>
          </a:prstGeom>
          <a:noFill/>
          <a:ln>
            <a:noFill/>
          </a:ln>
        </p:spPr>
      </p:pic>
      <p:sp>
        <p:nvSpPr>
          <p:cNvPr id="2" name="Rectangle 1">
            <a:extLst>
              <a:ext uri="{FF2B5EF4-FFF2-40B4-BE49-F238E27FC236}">
                <a16:creationId xmlns:a16="http://schemas.microsoft.com/office/drawing/2014/main" id="{6580E47E-D86E-4DF9-A2E8-2043C5BD6296}"/>
              </a:ext>
              <a:ext uri="{C183D7F6-B498-43B3-948B-1728B52AA6E4}">
                <adec:decorative xmlns:adec="http://schemas.microsoft.com/office/drawing/2017/decorative" val="1"/>
              </a:ext>
            </a:extLst>
          </p:cNvPr>
          <p:cNvSpPr/>
          <p:nvPr/>
        </p:nvSpPr>
        <p:spPr bwMode="auto">
          <a:xfrm>
            <a:off x="2315688" y="1045029"/>
            <a:ext cx="7444761" cy="534687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21314862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5A878-23CB-4E42-83CB-404ED5B8C50E}"/>
              </a:ext>
            </a:extLst>
          </p:cNvPr>
          <p:cNvSpPr>
            <a:spLocks noGrp="1"/>
          </p:cNvSpPr>
          <p:nvPr>
            <p:ph type="title"/>
          </p:nvPr>
        </p:nvSpPr>
        <p:spPr>
          <a:xfrm>
            <a:off x="424090" y="475169"/>
            <a:ext cx="11343820" cy="379399"/>
          </a:xfrm>
        </p:spPr>
        <p:txBody>
          <a:bodyPr/>
          <a:lstStyle/>
          <a:p>
            <a:r>
              <a:rPr lang="en-US" sz="2400">
                <a:solidFill>
                  <a:schemeClr val="tx1"/>
                </a:solidFill>
              </a:rPr>
              <a:t>Traffic routing methods – Weighted </a:t>
            </a:r>
            <a:endParaRPr lang="en-US"/>
          </a:p>
        </p:txBody>
      </p:sp>
      <p:pic>
        <p:nvPicPr>
          <p:cNvPr id="4" name="Picture 3" descr="Traffic Manager uses Weighted routing.">
            <a:extLst>
              <a:ext uri="{FF2B5EF4-FFF2-40B4-BE49-F238E27FC236}">
                <a16:creationId xmlns:a16="http://schemas.microsoft.com/office/drawing/2014/main" id="{31531ECE-CAAE-4FE2-B654-CCDCCFABE1D2}"/>
              </a:ext>
            </a:extLst>
          </p:cNvPr>
          <p:cNvPicPr>
            <a:picLocks noChangeAspect="1"/>
          </p:cNvPicPr>
          <p:nvPr/>
        </p:nvPicPr>
        <p:blipFill>
          <a:blip r:embed="rId3"/>
          <a:stretch>
            <a:fillRect/>
          </a:stretch>
        </p:blipFill>
        <p:spPr>
          <a:xfrm>
            <a:off x="2675896" y="1383223"/>
            <a:ext cx="5529641" cy="4821847"/>
          </a:xfrm>
          <a:prstGeom prst="rect">
            <a:avLst/>
          </a:prstGeom>
        </p:spPr>
      </p:pic>
      <p:sp>
        <p:nvSpPr>
          <p:cNvPr id="6" name="Rectangle 5">
            <a:extLst>
              <a:ext uri="{FF2B5EF4-FFF2-40B4-BE49-F238E27FC236}">
                <a16:creationId xmlns:a16="http://schemas.microsoft.com/office/drawing/2014/main" id="{91B86BF0-4990-4F8E-AB3C-215386756011}"/>
              </a:ext>
              <a:ext uri="{C183D7F6-B498-43B3-948B-1728B52AA6E4}">
                <adec:decorative xmlns:adec="http://schemas.microsoft.com/office/drawing/2017/decorative" val="1"/>
              </a:ext>
            </a:extLst>
          </p:cNvPr>
          <p:cNvSpPr/>
          <p:nvPr/>
        </p:nvSpPr>
        <p:spPr bwMode="auto">
          <a:xfrm>
            <a:off x="2141621" y="1167063"/>
            <a:ext cx="6414149" cy="5038007"/>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2228420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5A878-23CB-4E42-83CB-404ED5B8C50E}"/>
              </a:ext>
            </a:extLst>
          </p:cNvPr>
          <p:cNvSpPr>
            <a:spLocks noGrp="1"/>
          </p:cNvSpPr>
          <p:nvPr>
            <p:ph type="title"/>
          </p:nvPr>
        </p:nvSpPr>
        <p:spPr>
          <a:xfrm>
            <a:off x="424090" y="475169"/>
            <a:ext cx="11343820" cy="379399"/>
          </a:xfrm>
        </p:spPr>
        <p:txBody>
          <a:bodyPr/>
          <a:lstStyle/>
          <a:p>
            <a:r>
              <a:rPr lang="en-US" sz="2400">
                <a:solidFill>
                  <a:schemeClr val="tx1"/>
                </a:solidFill>
              </a:rPr>
              <a:t>Traffic routing methods – Performance</a:t>
            </a:r>
            <a:endParaRPr lang="en-US"/>
          </a:p>
        </p:txBody>
      </p:sp>
      <p:pic>
        <p:nvPicPr>
          <p:cNvPr id="4" name="Picture 3" descr="Traffic Manager uses Performance routing.">
            <a:extLst>
              <a:ext uri="{FF2B5EF4-FFF2-40B4-BE49-F238E27FC236}">
                <a16:creationId xmlns:a16="http://schemas.microsoft.com/office/drawing/2014/main" id="{FFFCC586-A2D3-4714-BD5E-1D2E11A23F6C}"/>
              </a:ext>
            </a:extLst>
          </p:cNvPr>
          <p:cNvPicPr>
            <a:picLocks noChangeAspect="1"/>
          </p:cNvPicPr>
          <p:nvPr/>
        </p:nvPicPr>
        <p:blipFill>
          <a:blip r:embed="rId3"/>
          <a:stretch>
            <a:fillRect/>
          </a:stretch>
        </p:blipFill>
        <p:spPr>
          <a:xfrm>
            <a:off x="2334273" y="1079388"/>
            <a:ext cx="6713473" cy="5179505"/>
          </a:xfrm>
          <a:prstGeom prst="rect">
            <a:avLst/>
          </a:prstGeom>
        </p:spPr>
      </p:pic>
      <p:sp>
        <p:nvSpPr>
          <p:cNvPr id="6" name="Rectangle 5">
            <a:extLst>
              <a:ext uri="{FF2B5EF4-FFF2-40B4-BE49-F238E27FC236}">
                <a16:creationId xmlns:a16="http://schemas.microsoft.com/office/drawing/2014/main" id="{8C58C874-2D36-4CAD-A891-48EAFD0678A5}"/>
              </a:ext>
              <a:ext uri="{C183D7F6-B498-43B3-948B-1728B52AA6E4}">
                <adec:decorative xmlns:adec="http://schemas.microsoft.com/office/drawing/2017/decorative" val="1"/>
              </a:ext>
            </a:extLst>
          </p:cNvPr>
          <p:cNvSpPr/>
          <p:nvPr/>
        </p:nvSpPr>
        <p:spPr bwMode="auto">
          <a:xfrm>
            <a:off x="1961147" y="1079388"/>
            <a:ext cx="7388708" cy="530344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51670456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907F6-4A63-4AD0-84C2-99161849689D}"/>
              </a:ext>
            </a:extLst>
          </p:cNvPr>
          <p:cNvSpPr>
            <a:spLocks noGrp="1"/>
          </p:cNvSpPr>
          <p:nvPr>
            <p:ph type="title"/>
          </p:nvPr>
        </p:nvSpPr>
        <p:spPr>
          <a:xfrm>
            <a:off x="424090" y="466096"/>
            <a:ext cx="11343820" cy="397545"/>
          </a:xfrm>
        </p:spPr>
        <p:txBody>
          <a:bodyPr/>
          <a:lstStyle/>
          <a:p>
            <a:r>
              <a:rPr lang="en-US" sz="2400" dirty="0">
                <a:solidFill>
                  <a:schemeClr val="tx1"/>
                </a:solidFill>
              </a:rPr>
              <a:t>Traffic routing methods </a:t>
            </a:r>
            <a:r>
              <a:rPr lang="en-US" sz="2400" b="1" dirty="0">
                <a:solidFill>
                  <a:schemeClr val="tx1"/>
                </a:solidFill>
              </a:rPr>
              <a:t> - </a:t>
            </a:r>
            <a:r>
              <a:rPr lang="en-US" dirty="0"/>
              <a:t>Geographic</a:t>
            </a:r>
          </a:p>
        </p:txBody>
      </p:sp>
      <p:pic>
        <p:nvPicPr>
          <p:cNvPr id="3" name="Picture 2" descr="Traffic Manager uses Geographic routing.">
            <a:extLst>
              <a:ext uri="{FF2B5EF4-FFF2-40B4-BE49-F238E27FC236}">
                <a16:creationId xmlns:a16="http://schemas.microsoft.com/office/drawing/2014/main" id="{D537F8A1-0695-4159-BBE7-86FD4FF3BC0F}"/>
              </a:ext>
            </a:extLst>
          </p:cNvPr>
          <p:cNvPicPr>
            <a:picLocks noChangeAspect="1"/>
          </p:cNvPicPr>
          <p:nvPr/>
        </p:nvPicPr>
        <p:blipFill>
          <a:blip r:embed="rId3"/>
          <a:stretch>
            <a:fillRect/>
          </a:stretch>
        </p:blipFill>
        <p:spPr>
          <a:xfrm>
            <a:off x="2476683" y="1036321"/>
            <a:ext cx="6550141" cy="5192813"/>
          </a:xfrm>
          <a:prstGeom prst="rect">
            <a:avLst/>
          </a:prstGeom>
        </p:spPr>
      </p:pic>
      <p:sp>
        <p:nvSpPr>
          <p:cNvPr id="5" name="Rectangle 4">
            <a:extLst>
              <a:ext uri="{FF2B5EF4-FFF2-40B4-BE49-F238E27FC236}">
                <a16:creationId xmlns:a16="http://schemas.microsoft.com/office/drawing/2014/main" id="{2DA573B3-08F9-4AA4-B1AF-662350314B97}"/>
              </a:ext>
              <a:ext uri="{C183D7F6-B498-43B3-948B-1728B52AA6E4}">
                <adec:decorative xmlns:adec="http://schemas.microsoft.com/office/drawing/2017/decorative" val="1"/>
              </a:ext>
            </a:extLst>
          </p:cNvPr>
          <p:cNvSpPr/>
          <p:nvPr/>
        </p:nvSpPr>
        <p:spPr bwMode="auto">
          <a:xfrm>
            <a:off x="2237874" y="832593"/>
            <a:ext cx="7027760" cy="539654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68704789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a:solidFill>
                  <a:schemeClr val="tx1"/>
                </a:solidFill>
              </a:rPr>
              <a:t>Traffic manager endpoints </a:t>
            </a:r>
            <a:endParaRPr lang="en-US"/>
          </a:p>
        </p:txBody>
      </p:sp>
      <p:sp>
        <p:nvSpPr>
          <p:cNvPr id="6" name="Rectangle 5">
            <a:extLst>
              <a:ext uri="{FF2B5EF4-FFF2-40B4-BE49-F238E27FC236}">
                <a16:creationId xmlns:a16="http://schemas.microsoft.com/office/drawing/2014/main" id="{AD9932B5-F9B5-47CD-9E6C-C3FC25FE205A}"/>
              </a:ext>
            </a:extLst>
          </p:cNvPr>
          <p:cNvSpPr/>
          <p:nvPr/>
        </p:nvSpPr>
        <p:spPr>
          <a:xfrm>
            <a:off x="250189" y="1174114"/>
            <a:ext cx="6407786" cy="148336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b="1">
                <a:solidFill>
                  <a:schemeClr val="tx1"/>
                </a:solidFill>
              </a:rPr>
              <a:t>Azure endpoints </a:t>
            </a:r>
            <a:r>
              <a:rPr lang="en-US" sz="2157">
                <a:solidFill>
                  <a:schemeClr val="tx1"/>
                </a:solidFill>
              </a:rPr>
              <a:t>– load balance traffic to a cloud service, web app, or public IP address in the same subscription within Azure.</a:t>
            </a:r>
          </a:p>
        </p:txBody>
      </p:sp>
      <p:sp>
        <p:nvSpPr>
          <p:cNvPr id="8" name="Rectangle 7">
            <a:extLst>
              <a:ext uri="{FF2B5EF4-FFF2-40B4-BE49-F238E27FC236}">
                <a16:creationId xmlns:a16="http://schemas.microsoft.com/office/drawing/2014/main" id="{E76E1400-F0C5-46AA-91C0-FF52059D6F38}"/>
              </a:ext>
            </a:extLst>
          </p:cNvPr>
          <p:cNvSpPr/>
          <p:nvPr/>
        </p:nvSpPr>
        <p:spPr>
          <a:xfrm>
            <a:off x="250188" y="2814638"/>
            <a:ext cx="6407786" cy="17287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b="1">
                <a:solidFill>
                  <a:schemeClr val="tx1"/>
                </a:solidFill>
              </a:rPr>
              <a:t>External endpoints - </a:t>
            </a:r>
            <a:r>
              <a:rPr lang="en-US" sz="2157">
                <a:solidFill>
                  <a:schemeClr val="tx1"/>
                </a:solidFill>
              </a:rPr>
              <a:t>load balance traffic for IPv4/IPv6 addresses, FQDNs, or for services hosted outside Azure. These services can either be on-premises or with a hosting provider. </a:t>
            </a:r>
          </a:p>
        </p:txBody>
      </p:sp>
      <p:sp>
        <p:nvSpPr>
          <p:cNvPr id="10" name="Rectangle 9">
            <a:extLst>
              <a:ext uri="{FF2B5EF4-FFF2-40B4-BE49-F238E27FC236}">
                <a16:creationId xmlns:a16="http://schemas.microsoft.com/office/drawing/2014/main" id="{0B218284-AE12-415B-B3FF-4A8FE98628D9}"/>
              </a:ext>
            </a:extLst>
          </p:cNvPr>
          <p:cNvSpPr/>
          <p:nvPr/>
        </p:nvSpPr>
        <p:spPr>
          <a:xfrm>
            <a:off x="250188" y="4761782"/>
            <a:ext cx="6407786" cy="148336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b="1">
                <a:solidFill>
                  <a:schemeClr val="tx1"/>
                </a:solidFill>
              </a:rPr>
              <a:t>Nested endpoints - </a:t>
            </a:r>
            <a:r>
              <a:rPr lang="en-US" sz="2157">
                <a:solidFill>
                  <a:schemeClr val="tx1"/>
                </a:solidFill>
              </a:rPr>
              <a:t>combine Traffic Manager profiles to create more flexible traffic-routing schemes to support the needs of larger, more complex deployments. </a:t>
            </a:r>
          </a:p>
        </p:txBody>
      </p:sp>
      <p:pic>
        <p:nvPicPr>
          <p:cNvPr id="1026" name="Picture 2" descr="Traffic Manager profile West US, West Europe, and East Asia. You use Traffic Manager's 'Performance' traffic-routing method to distribute traffic to the region closest to the user.">
            <a:extLst>
              <a:ext uri="{FF2B5EF4-FFF2-40B4-BE49-F238E27FC236}">
                <a16:creationId xmlns:a16="http://schemas.microsoft.com/office/drawing/2014/main" id="{9535A977-4C65-4A6C-B08F-1D698354C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2065" y="2446421"/>
            <a:ext cx="4845845" cy="2828926"/>
          </a:xfrm>
          <a:prstGeom prst="rect">
            <a:avLst/>
          </a:prstGeom>
          <a:noFill/>
        </p:spPr>
      </p:pic>
      <p:sp>
        <p:nvSpPr>
          <p:cNvPr id="2" name="Rectangle 1">
            <a:extLst>
              <a:ext uri="{FF2B5EF4-FFF2-40B4-BE49-F238E27FC236}">
                <a16:creationId xmlns:a16="http://schemas.microsoft.com/office/drawing/2014/main" id="{4F168E15-6596-457B-8842-3C6F6B51E9EA}"/>
              </a:ext>
              <a:ext uri="{C183D7F6-B498-43B3-948B-1728B52AA6E4}">
                <adec:decorative xmlns:adec="http://schemas.microsoft.com/office/drawing/2017/decorative" val="1"/>
              </a:ext>
            </a:extLst>
          </p:cNvPr>
          <p:cNvSpPr/>
          <p:nvPr/>
        </p:nvSpPr>
        <p:spPr bwMode="auto">
          <a:xfrm>
            <a:off x="6922064" y="1454047"/>
            <a:ext cx="5019747" cy="4767740"/>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61076679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a:solidFill>
                  <a:schemeClr val="tx1"/>
                </a:solidFill>
              </a:rPr>
              <a:t>Configuring traffic manager profiles </a:t>
            </a:r>
            <a:endParaRPr lang="en-US"/>
          </a:p>
        </p:txBody>
      </p:sp>
      <p:pic>
        <p:nvPicPr>
          <p:cNvPr id="4" name="Picture 3" descr="Create Traffic Manager profile - Create">
            <a:extLst>
              <a:ext uri="{FF2B5EF4-FFF2-40B4-BE49-F238E27FC236}">
                <a16:creationId xmlns:a16="http://schemas.microsoft.com/office/drawing/2014/main" id="{B2A23C59-0EEF-4AE5-A792-6DAC65686372}"/>
              </a:ext>
            </a:extLst>
          </p:cNvPr>
          <p:cNvPicPr/>
          <p:nvPr/>
        </p:nvPicPr>
        <p:blipFill>
          <a:blip r:embed="rId2"/>
          <a:stretch>
            <a:fillRect/>
          </a:stretch>
        </p:blipFill>
        <p:spPr bwMode="auto">
          <a:xfrm>
            <a:off x="828675" y="1300163"/>
            <a:ext cx="4429125" cy="4640581"/>
          </a:xfrm>
          <a:prstGeom prst="rect">
            <a:avLst/>
          </a:prstGeom>
          <a:noFill/>
          <a:ln>
            <a:noFill/>
          </a:ln>
        </p:spPr>
      </p:pic>
      <p:pic>
        <p:nvPicPr>
          <p:cNvPr id="6" name="Picture 5" descr="screenshot of Azure portal creating a traffic manager profile ">
            <a:extLst>
              <a:ext uri="{FF2B5EF4-FFF2-40B4-BE49-F238E27FC236}">
                <a16:creationId xmlns:a16="http://schemas.microsoft.com/office/drawing/2014/main" id="{7C771134-8E20-4D47-BB5F-1305553FFE80}"/>
              </a:ext>
            </a:extLst>
          </p:cNvPr>
          <p:cNvPicPr>
            <a:picLocks noChangeAspect="1"/>
          </p:cNvPicPr>
          <p:nvPr/>
        </p:nvPicPr>
        <p:blipFill>
          <a:blip r:embed="rId3"/>
          <a:stretch>
            <a:fillRect/>
          </a:stretch>
        </p:blipFill>
        <p:spPr>
          <a:xfrm>
            <a:off x="5806017" y="1901190"/>
            <a:ext cx="3086100" cy="3438525"/>
          </a:xfrm>
          <a:prstGeom prst="rect">
            <a:avLst/>
          </a:prstGeom>
        </p:spPr>
      </p:pic>
      <p:sp>
        <p:nvSpPr>
          <p:cNvPr id="2" name="Rectangle 1">
            <a:extLst>
              <a:ext uri="{FF2B5EF4-FFF2-40B4-BE49-F238E27FC236}">
                <a16:creationId xmlns:a16="http://schemas.microsoft.com/office/drawing/2014/main" id="{316CF0C0-8115-47AD-B85E-E589A390B9E2}"/>
              </a:ext>
              <a:ext uri="{C183D7F6-B498-43B3-948B-1728B52AA6E4}">
                <adec:decorative xmlns:adec="http://schemas.microsoft.com/office/drawing/2017/decorative" val="1"/>
              </a:ext>
            </a:extLst>
          </p:cNvPr>
          <p:cNvSpPr/>
          <p:nvPr/>
        </p:nvSpPr>
        <p:spPr bwMode="auto">
          <a:xfrm>
            <a:off x="424089" y="968730"/>
            <a:ext cx="8468027" cy="542317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99137085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03F22-6B19-4785-95FA-EFA2C3C62806}"/>
              </a:ext>
            </a:extLst>
          </p:cNvPr>
          <p:cNvSpPr>
            <a:spLocks noGrp="1"/>
          </p:cNvSpPr>
          <p:nvPr>
            <p:ph type="title"/>
          </p:nvPr>
        </p:nvSpPr>
        <p:spPr>
          <a:xfrm>
            <a:off x="424090" y="466096"/>
            <a:ext cx="11343820" cy="397545"/>
          </a:xfrm>
        </p:spPr>
        <p:txBody>
          <a:bodyPr/>
          <a:lstStyle/>
          <a:p>
            <a:r>
              <a:rPr lang="en-US" sz="2800">
                <a:solidFill>
                  <a:schemeClr val="tx1"/>
                </a:solidFill>
              </a:rPr>
              <a:t>Configure Endpoint monitoring </a:t>
            </a:r>
            <a:endParaRPr lang="en-US"/>
          </a:p>
        </p:txBody>
      </p:sp>
      <p:sp>
        <p:nvSpPr>
          <p:cNvPr id="2" name="Rectangle 1">
            <a:extLst>
              <a:ext uri="{FF2B5EF4-FFF2-40B4-BE49-F238E27FC236}">
                <a16:creationId xmlns:a16="http://schemas.microsoft.com/office/drawing/2014/main" id="{03EEAA98-C2C9-4205-9675-B0C4347E9338}"/>
              </a:ext>
            </a:extLst>
          </p:cNvPr>
          <p:cNvSpPr/>
          <p:nvPr/>
        </p:nvSpPr>
        <p:spPr>
          <a:xfrm>
            <a:off x="424090" y="1263015"/>
            <a:ext cx="3976460" cy="7943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a:solidFill>
                  <a:schemeClr val="tx1"/>
                </a:solidFill>
              </a:rPr>
              <a:t>Open the </a:t>
            </a:r>
            <a:r>
              <a:rPr lang="en-US" sz="2157" b="1">
                <a:solidFill>
                  <a:schemeClr val="tx1"/>
                </a:solidFill>
              </a:rPr>
              <a:t>Configuration page</a:t>
            </a:r>
            <a:r>
              <a:rPr lang="en-US" sz="2157">
                <a:solidFill>
                  <a:schemeClr val="tx1"/>
                </a:solidFill>
              </a:rPr>
              <a:t> for the Traffic Manager profile</a:t>
            </a:r>
          </a:p>
        </p:txBody>
      </p:sp>
      <p:sp>
        <p:nvSpPr>
          <p:cNvPr id="6" name="Rectangle 5">
            <a:extLst>
              <a:ext uri="{FF2B5EF4-FFF2-40B4-BE49-F238E27FC236}">
                <a16:creationId xmlns:a16="http://schemas.microsoft.com/office/drawing/2014/main" id="{E8B91E90-C80A-444A-B6D1-7367ED5862F5}"/>
              </a:ext>
            </a:extLst>
          </p:cNvPr>
          <p:cNvSpPr/>
          <p:nvPr/>
        </p:nvSpPr>
        <p:spPr>
          <a:xfrm>
            <a:off x="424090" y="2343150"/>
            <a:ext cx="3976460" cy="404875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rPr>
              <a:t>Select </a:t>
            </a:r>
            <a:r>
              <a:rPr lang="en-US" sz="2157" b="1" dirty="0">
                <a:solidFill>
                  <a:schemeClr val="tx1"/>
                </a:solidFill>
              </a:rPr>
              <a:t>Endpoint monitor settings</a:t>
            </a:r>
            <a:r>
              <a:rPr lang="en-US" sz="2157" dirty="0">
                <a:solidFill>
                  <a:schemeClr val="tx1"/>
                </a:solidFill>
              </a:rPr>
              <a:t> section, and specify the following settings: </a:t>
            </a:r>
            <a:br>
              <a:rPr lang="en-US" sz="2157" dirty="0">
                <a:solidFill>
                  <a:schemeClr val="tx1"/>
                </a:solidFill>
              </a:rPr>
            </a:br>
            <a:r>
              <a:rPr lang="en-US" sz="2157" dirty="0">
                <a:solidFill>
                  <a:schemeClr val="tx1"/>
                </a:solidFill>
              </a:rPr>
              <a:t>Protocol</a:t>
            </a:r>
          </a:p>
          <a:p>
            <a:r>
              <a:rPr lang="en-US" sz="2157" dirty="0">
                <a:solidFill>
                  <a:schemeClr val="tx1"/>
                </a:solidFill>
              </a:rPr>
              <a:t>Port</a:t>
            </a:r>
          </a:p>
          <a:p>
            <a:r>
              <a:rPr lang="en-US" sz="2157" dirty="0">
                <a:solidFill>
                  <a:schemeClr val="tx1"/>
                </a:solidFill>
              </a:rPr>
              <a:t>Path</a:t>
            </a:r>
          </a:p>
          <a:p>
            <a:r>
              <a:rPr lang="en-US" sz="2157" dirty="0">
                <a:solidFill>
                  <a:schemeClr val="tx1"/>
                </a:solidFill>
              </a:rPr>
              <a:t>Custom header settings</a:t>
            </a:r>
          </a:p>
          <a:p>
            <a:r>
              <a:rPr lang="en-US" sz="2157" dirty="0">
                <a:solidFill>
                  <a:schemeClr val="tx1"/>
                </a:solidFill>
              </a:rPr>
              <a:t>Expected status code ranges </a:t>
            </a:r>
          </a:p>
          <a:p>
            <a:r>
              <a:rPr lang="en-US" sz="2157" dirty="0">
                <a:solidFill>
                  <a:schemeClr val="tx1"/>
                </a:solidFill>
              </a:rPr>
              <a:t>Probing interval </a:t>
            </a:r>
          </a:p>
          <a:p>
            <a:r>
              <a:rPr lang="en-US" sz="2157" dirty="0">
                <a:solidFill>
                  <a:schemeClr val="tx1"/>
                </a:solidFill>
              </a:rPr>
              <a:t>tolerated number of failures</a:t>
            </a:r>
          </a:p>
          <a:p>
            <a:r>
              <a:rPr lang="en-US" sz="2157" dirty="0">
                <a:solidFill>
                  <a:schemeClr val="tx1"/>
                </a:solidFill>
              </a:rPr>
              <a:t>probe timeout </a:t>
            </a:r>
          </a:p>
          <a:p>
            <a:endParaRPr lang="en-US" sz="2157" dirty="0">
              <a:solidFill>
                <a:schemeClr val="tx1"/>
              </a:solidFill>
            </a:endParaRPr>
          </a:p>
        </p:txBody>
      </p:sp>
      <p:pic>
        <p:nvPicPr>
          <p:cNvPr id="9" name="Picture 8" descr="Traffic Manager - Endpoint configuration - Save">
            <a:extLst>
              <a:ext uri="{FF2B5EF4-FFF2-40B4-BE49-F238E27FC236}">
                <a16:creationId xmlns:a16="http://schemas.microsoft.com/office/drawing/2014/main" id="{99ECEA17-A5DE-4ED0-B0E5-EFF300417076}"/>
              </a:ext>
            </a:extLst>
          </p:cNvPr>
          <p:cNvPicPr/>
          <p:nvPr/>
        </p:nvPicPr>
        <p:blipFill>
          <a:blip r:embed="rId3"/>
          <a:stretch>
            <a:fillRect/>
          </a:stretch>
        </p:blipFill>
        <p:spPr bwMode="auto">
          <a:xfrm>
            <a:off x="5157788" y="1110138"/>
            <a:ext cx="6610122" cy="4637724"/>
          </a:xfrm>
          <a:prstGeom prst="rect">
            <a:avLst/>
          </a:prstGeom>
          <a:noFill/>
          <a:ln>
            <a:noFill/>
          </a:ln>
        </p:spPr>
      </p:pic>
      <p:sp>
        <p:nvSpPr>
          <p:cNvPr id="4" name="Rectangle 3">
            <a:extLst>
              <a:ext uri="{FF2B5EF4-FFF2-40B4-BE49-F238E27FC236}">
                <a16:creationId xmlns:a16="http://schemas.microsoft.com/office/drawing/2014/main" id="{0D8D0EB4-A158-40D2-B142-969170AB84A8}"/>
              </a:ext>
              <a:ext uri="{C183D7F6-B498-43B3-948B-1728B52AA6E4}">
                <adec:decorative xmlns:adec="http://schemas.microsoft.com/office/drawing/2017/decorative" val="1"/>
              </a:ext>
            </a:extLst>
          </p:cNvPr>
          <p:cNvSpPr/>
          <p:nvPr/>
        </p:nvSpPr>
        <p:spPr bwMode="auto">
          <a:xfrm>
            <a:off x="4959179" y="863641"/>
            <a:ext cx="6808731" cy="5327297"/>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26566579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9FF0-836A-467B-83E0-5169B7213852}"/>
              </a:ext>
            </a:extLst>
          </p:cNvPr>
          <p:cNvSpPr>
            <a:spLocks noGrp="1"/>
          </p:cNvSpPr>
          <p:nvPr>
            <p:ph type="title"/>
          </p:nvPr>
        </p:nvSpPr>
        <p:spPr/>
        <p:txBody>
          <a:bodyPr/>
          <a:lstStyle/>
          <a:p>
            <a:r>
              <a:rPr lang="en-US" dirty="0"/>
              <a:t>Demonstration – Azure Traffic Manager  </a:t>
            </a:r>
          </a:p>
        </p:txBody>
      </p:sp>
      <p:pic>
        <p:nvPicPr>
          <p:cNvPr id="4" name="Picture 3" descr="Icon of two gears">
            <a:extLst>
              <a:ext uri="{FF2B5EF4-FFF2-40B4-BE49-F238E27FC236}">
                <a16:creationId xmlns:a16="http://schemas.microsoft.com/office/drawing/2014/main" id="{52C12361-B36E-4D24-838C-7D6A6AE0F7A0}"/>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5EEB0A50-AEF5-4C56-AC2B-297E8954B28C}"/>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 Traffic Manager profile </a:t>
            </a:r>
          </a:p>
        </p:txBody>
      </p:sp>
      <p:cxnSp>
        <p:nvCxnSpPr>
          <p:cNvPr id="8" name="Straight Connector 7">
            <a:extLst>
              <a:ext uri="{FF2B5EF4-FFF2-40B4-BE49-F238E27FC236}">
                <a16:creationId xmlns:a16="http://schemas.microsoft.com/office/drawing/2014/main" id="{D374A53E-39E1-4C14-A8FA-EE27C8838B66}"/>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24C18628-05D6-47E4-B189-B752123CB2A4}"/>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DE206344-B351-4302-BC51-894C4BC22040}"/>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Add Traffic Manager endpoints</a:t>
            </a:r>
          </a:p>
        </p:txBody>
      </p:sp>
      <p:cxnSp>
        <p:nvCxnSpPr>
          <p:cNvPr id="14" name="Straight Connector 13">
            <a:extLst>
              <a:ext uri="{FF2B5EF4-FFF2-40B4-BE49-F238E27FC236}">
                <a16:creationId xmlns:a16="http://schemas.microsoft.com/office/drawing/2014/main" id="{87C2C609-CE25-4124-9671-FD4C281C958C}"/>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checkmark">
            <a:extLst>
              <a:ext uri="{FF2B5EF4-FFF2-40B4-BE49-F238E27FC236}">
                <a16:creationId xmlns:a16="http://schemas.microsoft.com/office/drawing/2014/main" id="{F4457CA8-98C5-46BB-88E4-4DD52D166BCB}"/>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8" name="Rectangle 17">
            <a:extLst>
              <a:ext uri="{FF2B5EF4-FFF2-40B4-BE49-F238E27FC236}">
                <a16:creationId xmlns:a16="http://schemas.microsoft.com/office/drawing/2014/main" id="{836A8B4E-ECAD-4067-8ECC-F9173B574EC0}"/>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Test Traffic Manager profile</a:t>
            </a:r>
          </a:p>
        </p:txBody>
      </p:sp>
      <p:cxnSp>
        <p:nvCxnSpPr>
          <p:cNvPr id="20" name="Straight Connector 19">
            <a:extLst>
              <a:ext uri="{FF2B5EF4-FFF2-40B4-BE49-F238E27FC236}">
                <a16:creationId xmlns:a16="http://schemas.microsoft.com/office/drawing/2014/main" id="{DA148CD2-8B70-4D5F-8350-12B1F6D2964C}"/>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53757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Azure Traffic Manager </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431B03BC-53FB-470F-BFFB-79F3B61E498B}"/>
              </a:ext>
            </a:extLst>
          </p:cNvPr>
          <p:cNvSpPr txBox="1"/>
          <p:nvPr/>
        </p:nvSpPr>
        <p:spPr>
          <a:xfrm>
            <a:off x="4172422" y="2227267"/>
            <a:ext cx="6092890" cy="369332"/>
          </a:xfrm>
          <a:prstGeom prst="rect">
            <a:avLst/>
          </a:prstGeom>
          <a:noFill/>
        </p:spPr>
        <p:txBody>
          <a:bodyPr wrap="square">
            <a:spAutoFit/>
          </a:bodyPr>
          <a:lstStyle/>
          <a:p>
            <a:r>
              <a:rPr lang="en-US">
                <a:hlinkClick r:id="rId4"/>
              </a:rPr>
              <a:t>Azure Traffic Manager | Microsoft Docs</a:t>
            </a:r>
            <a:endParaRPr lang="en-US" dirty="0"/>
          </a:p>
        </p:txBody>
      </p:sp>
      <p:sp>
        <p:nvSpPr>
          <p:cNvPr id="13" name="TextBox 12">
            <a:extLst>
              <a:ext uri="{FF2B5EF4-FFF2-40B4-BE49-F238E27FC236}">
                <a16:creationId xmlns:a16="http://schemas.microsoft.com/office/drawing/2014/main" id="{38E4BC34-9110-4E91-8A60-574DD4410C02}"/>
              </a:ext>
            </a:extLst>
          </p:cNvPr>
          <p:cNvSpPr txBox="1"/>
          <p:nvPr/>
        </p:nvSpPr>
        <p:spPr>
          <a:xfrm>
            <a:off x="4189871" y="2845046"/>
            <a:ext cx="7590042" cy="646331"/>
          </a:xfrm>
          <a:prstGeom prst="rect">
            <a:avLst/>
          </a:prstGeom>
          <a:noFill/>
        </p:spPr>
        <p:txBody>
          <a:bodyPr wrap="square">
            <a:spAutoFit/>
          </a:bodyPr>
          <a:lstStyle/>
          <a:p>
            <a:r>
              <a:rPr lang="en-US" dirty="0">
                <a:hlinkClick r:id="rId5"/>
              </a:rPr>
              <a:t>Tutorial - Improve website response with Azure Traffic Manager | Microsoft Docs</a:t>
            </a:r>
            <a:endParaRPr lang="en-US" dirty="0"/>
          </a:p>
        </p:txBody>
      </p:sp>
    </p:spTree>
    <p:extLst>
      <p:ext uri="{BB962C8B-B14F-4D97-AF65-F5344CB8AC3E}">
        <p14:creationId xmlns:p14="http://schemas.microsoft.com/office/powerpoint/2010/main" val="383405751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5E97E4-F958-4F6A-99C7-6081456CD2F1}"/>
              </a:ext>
            </a:extLst>
          </p:cNvPr>
          <p:cNvSpPr>
            <a:spLocks noGrp="1"/>
          </p:cNvSpPr>
          <p:nvPr>
            <p:ph type="title"/>
          </p:nvPr>
        </p:nvSpPr>
        <p:spPr>
          <a:xfrm>
            <a:off x="585217" y="2930402"/>
            <a:ext cx="8892608" cy="997196"/>
          </a:xfrm>
        </p:spPr>
        <p:txBody>
          <a:bodyPr/>
          <a:lstStyle/>
          <a:p>
            <a:r>
              <a:rPr lang="en-US" dirty="0"/>
              <a:t>Lesson 05: </a:t>
            </a:r>
            <a:r>
              <a:rPr lang="en-US" sz="3600" dirty="0"/>
              <a:t>Exercise- create a traffic manager profile using the Azure portal </a:t>
            </a:r>
            <a:endParaRPr lang="en-US" dirty="0"/>
          </a:p>
        </p:txBody>
      </p:sp>
      <p:grpSp>
        <p:nvGrpSpPr>
          <p:cNvPr id="4" name="Group 3">
            <a:extLst>
              <a:ext uri="{FF2B5EF4-FFF2-40B4-BE49-F238E27FC236}">
                <a16:creationId xmlns:a16="http://schemas.microsoft.com/office/drawing/2014/main" id="{933985EC-C1D3-442F-823B-58910F6315C2}"/>
              </a:ext>
              <a:ext uri="{C183D7F6-B498-43B3-948B-1728B52AA6E4}">
                <adec:decorative xmlns:adec="http://schemas.microsoft.com/office/drawing/2017/decorative" val="1"/>
              </a:ext>
            </a:extLst>
          </p:cNvPr>
          <p:cNvGrpSpPr/>
          <p:nvPr/>
        </p:nvGrpSpPr>
        <p:grpSpPr>
          <a:xfrm>
            <a:off x="10364308" y="3070379"/>
            <a:ext cx="717140" cy="717242"/>
            <a:chOff x="418643" y="4842674"/>
            <a:chExt cx="717140" cy="717242"/>
          </a:xfrm>
        </p:grpSpPr>
        <p:grpSp>
          <p:nvGrpSpPr>
            <p:cNvPr id="5" name="Group 4">
              <a:extLst>
                <a:ext uri="{FF2B5EF4-FFF2-40B4-BE49-F238E27FC236}">
                  <a16:creationId xmlns:a16="http://schemas.microsoft.com/office/drawing/2014/main" id="{760BD577-3940-4C57-871D-DC8576DF3EC6}"/>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7" name="Freeform 5">
                <a:extLst>
                  <a:ext uri="{FF2B5EF4-FFF2-40B4-BE49-F238E27FC236}">
                    <a16:creationId xmlns:a16="http://schemas.microsoft.com/office/drawing/2014/main" id="{0861302F-DC36-462D-ADAA-AB42FBEA8B7C}"/>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6671B759-D5DB-41DB-9D09-CC47F48747CF}"/>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coding brackets">
              <a:extLst>
                <a:ext uri="{FF2B5EF4-FFF2-40B4-BE49-F238E27FC236}">
                  <a16:creationId xmlns:a16="http://schemas.microsoft.com/office/drawing/2014/main" id="{CB07174D-23DD-408E-BCD5-4ADD38B41B6B}"/>
                </a:ext>
              </a:extLst>
            </p:cNvPr>
            <p:cNvPicPr>
              <a:picLocks noChangeAspect="1"/>
            </p:cNvPicPr>
            <p:nvPr/>
          </p:nvPicPr>
          <p:blipFill>
            <a:blip r:embed="rId2"/>
            <a:stretch>
              <a:fillRect/>
            </a:stretch>
          </p:blipFill>
          <p:spPr>
            <a:xfrm>
              <a:off x="568446" y="4992528"/>
              <a:ext cx="417534" cy="417534"/>
            </a:xfrm>
            <a:prstGeom prst="rect">
              <a:avLst/>
            </a:prstGeom>
          </p:spPr>
        </p:pic>
      </p:grpSp>
    </p:spTree>
    <p:extLst>
      <p:ext uri="{BB962C8B-B14F-4D97-AF65-F5344CB8AC3E}">
        <p14:creationId xmlns:p14="http://schemas.microsoft.com/office/powerpoint/2010/main" val="325930077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2C12E3-2B16-43F8-95AB-423AE39186F3}"/>
              </a:ext>
            </a:extLst>
          </p:cNvPr>
          <p:cNvSpPr>
            <a:spLocks noGrp="1"/>
          </p:cNvSpPr>
          <p:nvPr>
            <p:ph type="title"/>
          </p:nvPr>
        </p:nvSpPr>
        <p:spPr/>
        <p:txBody>
          <a:bodyPr/>
          <a:lstStyle/>
          <a:p>
            <a:r>
              <a:rPr lang="en-US" dirty="0"/>
              <a:t>Exercise- create a traffic manager profile using the Azure portal </a:t>
            </a:r>
          </a:p>
        </p:txBody>
      </p:sp>
      <p:pic>
        <p:nvPicPr>
          <p:cNvPr id="2050" name="Picture 2" descr="&quot;myTMprofile&quot; Traffic Manager profile that is created during the exercise with two endpoints ">
            <a:extLst>
              <a:ext uri="{FF2B5EF4-FFF2-40B4-BE49-F238E27FC236}">
                <a16:creationId xmlns:a16="http://schemas.microsoft.com/office/drawing/2014/main" id="{C2B24BBE-BE08-4CDD-AAF4-26D56AFBA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959" y="1835357"/>
            <a:ext cx="6972951" cy="3187286"/>
          </a:xfrm>
          <a:prstGeom prst="rect">
            <a:avLst/>
          </a:prstGeom>
          <a:noFill/>
        </p:spPr>
      </p:pic>
      <p:sp>
        <p:nvSpPr>
          <p:cNvPr id="2" name="Rectangle 1">
            <a:extLst>
              <a:ext uri="{FF2B5EF4-FFF2-40B4-BE49-F238E27FC236}">
                <a16:creationId xmlns:a16="http://schemas.microsoft.com/office/drawing/2014/main" id="{11B8F6D8-B368-411C-B87E-B4227D0850D6}"/>
              </a:ext>
            </a:extLst>
          </p:cNvPr>
          <p:cNvSpPr/>
          <p:nvPr/>
        </p:nvSpPr>
        <p:spPr>
          <a:xfrm>
            <a:off x="424090" y="1334126"/>
            <a:ext cx="3976460" cy="46680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endParaRPr lang="en-US" sz="2800" dirty="0">
              <a:latin typeface="+mj-lt"/>
              <a:hlinkClick r:id="rId4"/>
            </a:endParaRPr>
          </a:p>
          <a:p>
            <a:pPr algn="l"/>
            <a:r>
              <a:rPr lang="en-US" sz="2800" b="0" i="0" dirty="0">
                <a:solidFill>
                  <a:srgbClr val="24292E"/>
                </a:solidFill>
                <a:effectLst/>
                <a:latin typeface="+mj-lt"/>
              </a:rPr>
              <a:t>Task 1: Create the web apps</a:t>
            </a:r>
          </a:p>
          <a:p>
            <a:pPr algn="l"/>
            <a:r>
              <a:rPr lang="en-US" sz="2800" b="0" i="0" dirty="0">
                <a:solidFill>
                  <a:srgbClr val="24292E"/>
                </a:solidFill>
                <a:effectLst/>
                <a:latin typeface="+mj-lt"/>
              </a:rPr>
              <a:t>Task 2: Create a Traffic Manager profile</a:t>
            </a:r>
          </a:p>
          <a:p>
            <a:pPr algn="l"/>
            <a:r>
              <a:rPr lang="en-US" sz="2800" b="0" i="0" dirty="0">
                <a:solidFill>
                  <a:srgbClr val="24292E"/>
                </a:solidFill>
                <a:effectLst/>
                <a:latin typeface="+mj-lt"/>
              </a:rPr>
              <a:t>Task 3: Add Traffic Manager endpoints</a:t>
            </a:r>
          </a:p>
          <a:p>
            <a:pPr algn="l"/>
            <a:r>
              <a:rPr lang="en-US" sz="2800" b="0" i="0" dirty="0">
                <a:solidFill>
                  <a:srgbClr val="24292E"/>
                </a:solidFill>
                <a:effectLst/>
                <a:latin typeface="+mj-lt"/>
              </a:rPr>
              <a:t>Task 4: Test the Traffic Manager profile</a:t>
            </a:r>
          </a:p>
          <a:p>
            <a:endParaRPr lang="en-US" sz="2800" dirty="0">
              <a:solidFill>
                <a:schemeClr val="tx1"/>
              </a:solidFill>
              <a:latin typeface="+mj-lt"/>
            </a:endParaRPr>
          </a:p>
        </p:txBody>
      </p:sp>
      <p:sp>
        <p:nvSpPr>
          <p:cNvPr id="5" name="Rectangle 4">
            <a:extLst>
              <a:ext uri="{FF2B5EF4-FFF2-40B4-BE49-F238E27FC236}">
                <a16:creationId xmlns:a16="http://schemas.microsoft.com/office/drawing/2014/main" id="{2B73BB38-53D3-4EA1-9999-BD1F3759A9C1}"/>
              </a:ext>
              <a:ext uri="{C183D7F6-B498-43B3-948B-1728B52AA6E4}">
                <adec:decorative xmlns:adec="http://schemas.microsoft.com/office/drawing/2017/decorative" val="1"/>
              </a:ext>
            </a:extLst>
          </p:cNvPr>
          <p:cNvSpPr/>
          <p:nvPr/>
        </p:nvSpPr>
        <p:spPr bwMode="auto">
          <a:xfrm>
            <a:off x="4794959" y="1334126"/>
            <a:ext cx="7287113" cy="466803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10808517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FDCFB5-E9E0-4152-AF44-5F85906A42B8}">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D6313F-D3BC-4F45-9719-E1D5B19F668C}">
  <ds:schemaRefs>
    <ds:schemaRef ds:uri="http://www.w3.org/XML/1998/namespace"/>
    <ds:schemaRef ds:uri="1d16016b-1e11-4dbd-8bd0-b44cb6539c58"/>
    <ds:schemaRef ds:uri="http://schemas.microsoft.com/office/infopath/2007/PartnerControls"/>
    <ds:schemaRef ds:uri="e8bab37c-6053-4066-b569-fd9fbae908bd"/>
    <ds:schemaRef ds:uri="http://purl.org/dc/dcmitype/"/>
    <ds:schemaRef ds:uri="http://schemas.microsoft.com/office/2006/documentManagement/types"/>
    <ds:schemaRef ds:uri="http://purl.org/dc/elements/1.1/"/>
    <ds:schemaRef ds:uri="http://schemas.microsoft.com/sharepoint/v3"/>
    <ds:schemaRef ds:uri="http://schemas.microsoft.com/office/2006/metadata/propertie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C4BD5491-B216-4029-BA6E-C6875413789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118</TotalTime>
  <Words>5406</Words>
  <Application>Microsoft Office PowerPoint</Application>
  <PresentationFormat>Widescreen</PresentationFormat>
  <Paragraphs>447</Paragraphs>
  <Slides>41</Slides>
  <Notes>34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41</vt:i4>
      </vt:variant>
    </vt:vector>
  </HeadingPairs>
  <TitlesOfParts>
    <vt:vector size="53" baseType="lpstr">
      <vt:lpstr>-apple-system</vt:lpstr>
      <vt:lpstr>Arial</vt:lpstr>
      <vt:lpstr>Calibri</vt:lpstr>
      <vt:lpstr>Calibri Light</vt:lpstr>
      <vt:lpstr>Consolas</vt:lpstr>
      <vt:lpstr>Courier New</vt:lpstr>
      <vt:lpstr>Segoe UI</vt:lpstr>
      <vt:lpstr>Segoe UI Semibold</vt:lpstr>
      <vt:lpstr>Symbol</vt:lpstr>
      <vt:lpstr>Wingdings</vt:lpstr>
      <vt:lpstr>Office Theme</vt:lpstr>
      <vt:lpstr>Microsoft Azure Template</vt:lpstr>
      <vt:lpstr>AZ-700T00A Module 04: Load balancing non-HTTP(S) traffic </vt:lpstr>
      <vt:lpstr>Module Overview</vt:lpstr>
      <vt:lpstr>Lesson 01: Explore load balancing options in the Azure portal</vt:lpstr>
      <vt:lpstr>Explore load balancing options in the Azure portal overview</vt:lpstr>
      <vt:lpstr>What is a Load balancer </vt:lpstr>
      <vt:lpstr>Load balancing options for Azure </vt:lpstr>
      <vt:lpstr>Choosing a load balancing option</vt:lpstr>
      <vt:lpstr>Demonstration </vt:lpstr>
      <vt:lpstr>Summary and Resources – Explore load balancing options in the Azure portal</vt:lpstr>
      <vt:lpstr>Lesson 02: Design and implement Azure Load balancer </vt:lpstr>
      <vt:lpstr>Design and implement Azure Load Balancer overview</vt:lpstr>
      <vt:lpstr>Choosing a Load Balancer Type</vt:lpstr>
      <vt:lpstr>Azure Load balancer and availability zones </vt:lpstr>
      <vt:lpstr>Determine Load Balancer SKUs</vt:lpstr>
      <vt:lpstr>Create Load balancer in the Azure portal </vt:lpstr>
      <vt:lpstr>Create Backend Pools</vt:lpstr>
      <vt:lpstr>Create Load Balancer Rules</vt:lpstr>
      <vt:lpstr>Configure Session Persistence</vt:lpstr>
      <vt:lpstr>Create Health Probes</vt:lpstr>
      <vt:lpstr>Configure outbound traffic with Standard load balancer </vt:lpstr>
      <vt:lpstr>Demonstration  </vt:lpstr>
      <vt:lpstr>Review – Design and implement Azure Load Balancer </vt:lpstr>
      <vt:lpstr>Lesson 03: Exercise - Create and configure an internal load balancer using the Azure portal</vt:lpstr>
      <vt:lpstr>Exercise - Create and configure an Azure load balancer</vt:lpstr>
      <vt:lpstr>Review – Exercise create and configure an internal load balancer using the Azure portal </vt:lpstr>
      <vt:lpstr>Lesson 04: Explore Azure Traffic Manager </vt:lpstr>
      <vt:lpstr>Explore Azure Traffic Manager overview</vt:lpstr>
      <vt:lpstr>Use cases for Azure Traffic Manager </vt:lpstr>
      <vt:lpstr>How Traffic manager works </vt:lpstr>
      <vt:lpstr>Traffic routing methods – Priority  </vt:lpstr>
      <vt:lpstr>Traffic routing methods – Weighted </vt:lpstr>
      <vt:lpstr>Traffic routing methods – Performance</vt:lpstr>
      <vt:lpstr>Traffic routing methods  - Geographic</vt:lpstr>
      <vt:lpstr>Traffic manager endpoints </vt:lpstr>
      <vt:lpstr>Configuring traffic manager profiles </vt:lpstr>
      <vt:lpstr>Configure Endpoint monitoring </vt:lpstr>
      <vt:lpstr>Demonstration – Azure Traffic Manager  </vt:lpstr>
      <vt:lpstr>Summary – Azure Traffic Manager </vt:lpstr>
      <vt:lpstr>Lesson 05: Exercise- create a traffic manager profile using the Azure portal </vt:lpstr>
      <vt:lpstr>Exercise- create a traffic manager profile using the Azure portal </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7</cp:revision>
  <dcterms:created xsi:type="dcterms:W3CDTF">2021-03-31T15:31:10Z</dcterms:created>
  <dcterms:modified xsi:type="dcterms:W3CDTF">2022-04-25T22:56:02Z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
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6" r:id="rId5"/>
  </p:sldMasterIdLst>
  <p:notesMasterIdLst>
    <p:notesMasterId r:id="rId70"/>
  </p:notesMasterIdLst>
  <p:sldIdLst>
    <p:sldId id="1746" r:id="rId6"/>
    <p:sldId id="2076138192" r:id="rId7"/>
    <p:sldId id="2076137770" r:id="rId8"/>
    <p:sldId id="1781" r:id="rId9"/>
    <p:sldId id="2076138150" r:id="rId10"/>
    <p:sldId id="2076138148" r:id="rId11"/>
    <p:sldId id="2076138149" r:id="rId12"/>
    <p:sldId id="2076138151" r:id="rId13"/>
    <p:sldId id="2076138143" r:id="rId14"/>
    <p:sldId id="1865" r:id="rId15"/>
    <p:sldId id="1779" r:id="rId16"/>
    <p:sldId id="2076138191" r:id="rId17"/>
    <p:sldId id="2076138157" r:id="rId18"/>
    <p:sldId id="2076138153" r:id="rId19"/>
    <p:sldId id="2076138155" r:id="rId20"/>
    <p:sldId id="2076138156" r:id="rId21"/>
    <p:sldId id="2076138185" r:id="rId22"/>
    <p:sldId id="2076138144" r:id="rId23"/>
    <p:sldId id="2076138134" r:id="rId24"/>
    <p:sldId id="2076138166" r:id="rId25"/>
    <p:sldId id="2076138145" r:id="rId26"/>
    <p:sldId id="2076138173" r:id="rId27"/>
    <p:sldId id="1782" r:id="rId28"/>
    <p:sldId id="2387" r:id="rId29"/>
    <p:sldId id="2388" r:id="rId30"/>
    <p:sldId id="2389" r:id="rId31"/>
    <p:sldId id="2392" r:id="rId32"/>
    <p:sldId id="2076137779" r:id="rId33"/>
    <p:sldId id="2076138179" r:id="rId34"/>
    <p:sldId id="2408" r:id="rId35"/>
    <p:sldId id="2547" r:id="rId36"/>
    <p:sldId id="2076138135" r:id="rId37"/>
    <p:sldId id="2076138194" r:id="rId38"/>
    <p:sldId id="2076138160" r:id="rId39"/>
    <p:sldId id="2076138161" r:id="rId40"/>
    <p:sldId id="2076138163" r:id="rId41"/>
    <p:sldId id="2076138162" r:id="rId42"/>
    <p:sldId id="2076138187" r:id="rId43"/>
    <p:sldId id="2076138146" r:id="rId44"/>
    <p:sldId id="2076138197" r:id="rId45"/>
    <p:sldId id="2076138199" r:id="rId46"/>
    <p:sldId id="2076138200" r:id="rId47"/>
    <p:sldId id="2076138165" r:id="rId48"/>
    <p:sldId id="2076138195" r:id="rId49"/>
    <p:sldId id="2076138167" r:id="rId50"/>
    <p:sldId id="2076138169" r:id="rId51"/>
    <p:sldId id="2076138170" r:id="rId52"/>
    <p:sldId id="2076138189" r:id="rId53"/>
    <p:sldId id="2076138171" r:id="rId54"/>
    <p:sldId id="1768" r:id="rId55"/>
    <p:sldId id="2076138172" r:id="rId56"/>
    <p:sldId id="2076138136" r:id="rId57"/>
    <p:sldId id="2076138164" r:id="rId58"/>
    <p:sldId id="2076138147" r:id="rId59"/>
    <p:sldId id="2076138175" r:id="rId60"/>
    <p:sldId id="2076138196" r:id="rId61"/>
    <p:sldId id="2076138182" r:id="rId62"/>
    <p:sldId id="2076138201" r:id="rId63"/>
    <p:sldId id="2076138174" r:id="rId64"/>
    <p:sldId id="2076138176" r:id="rId65"/>
    <p:sldId id="2076138180" r:id="rId66"/>
    <p:sldId id="2076138181" r:id="rId67"/>
    <p:sldId id="2076138183" r:id="rId68"/>
    <p:sldId id="1891"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96" autoAdjust="0"/>
    <p:restoredTop sz="86391" autoAdjust="0"/>
  </p:normalViewPr>
  <p:slideViewPr>
    <p:cSldViewPr snapToGrid="0">
      <p:cViewPr varScale="1">
        <p:scale>
          <a:sx n="60" d="100"/>
          <a:sy n="60" d="100"/>
        </p:scale>
        <p:origin x="84" y="852"/>
      </p:cViewPr>
      <p:guideLst/>
    </p:cSldViewPr>
  </p:slideViewPr>
  <p:outlineViewPr>
    <p:cViewPr>
      <p:scale>
        <a:sx n="33" d="100"/>
        <a:sy n="33" d="100"/>
      </p:scale>
      <p:origin x="0" y="-698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notesMaster" Target="notesMasters/notesMaster1.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4C573-DDE7-4816-8239-79FB69BB613D}" type="datetimeFigureOut">
              <a:rPr lang="en-US" smtClean="0"/>
              <a:t>4/25/2022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9185C-5C72-45C2-88F0-D7DF9039278A}" type="slidenum">
              <a:rPr lang="en-US" smtClean="0"/>
              <a:t>‹#›</a:t>
            </a:fld>
            <a:endParaRPr lang="en-US"/>
          </a:p>
        </p:txBody>
      </p:sp>
    </p:spTree>
    <p:extLst>
      <p:ext uri="{BB962C8B-B14F-4D97-AF65-F5344CB8AC3E}">
        <p14:creationId xmlns:p14="http://schemas.microsoft.com/office/powerpoint/2010/main" val="3427230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microsoft.com/en-us/security/benchmark/azure/security-controls-v3-network-security"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microsoft.com/securityinsights/DDo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microsoft.com/en-us/azure/ddos-protection/manage-ddos-protection"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cs.microsoft.com/en-us/azure/azure-resource-manager/management/azure-subscription-service-limits?toc=/azure/virtual-network/toc.json#azure-resource-manager-virtual-networking-limit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azure.microsoft.com/support/legal/sla/azure-firewall/v1_0/"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azure.microsoft.com/pricing/details/bandwidth/" TargetMode="Externa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azure.microsoft.com/support/legal/sla/azure-firewall/v1_0/" TargetMode="External"/><Relationship Id="rId2" Type="http://schemas.openxmlformats.org/officeDocument/2006/relationships/slide" Target="../slides/slide37.xml"/><Relationship Id="rId1" Type="http://schemas.openxmlformats.org/officeDocument/2006/relationships/notesMaster" Target="../notesMasters/notesMaster1.xml"/><Relationship Id="rId4" Type="http://schemas.openxmlformats.org/officeDocument/2006/relationships/hyperlink" Target="https://azure.microsoft.com/pricing/details/bandwidth/" TargetMode="Externa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ocs.microsoft.com/en-us/azure/firewall/firewall-faq#what-is-the-difference-between-network-security-groups--nsgs--and-azure-firewal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docs.microsoft.com/en-us/azure/firewall/quick-create-ipgroup-template"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docs.microsoft.com/en-us/azure/virtual-wan/virtual-wan-about#resources"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docs.microsoft.com/en-us/azure/firewall-manager/secured-virtual-hub" TargetMode="Externa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docs.microsoft.com/en-us/azure/firewall-manager/migrate-to-policy"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docs.microsoft.com/en-us/azure/firewall-manager/vhubs-and-vnets"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docs.microsoft.com/en-us/azure/firewall-manager/vhubs-and-vnets"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docs.microsoft.com/en-us/azure/firewall-manager/secure-hybrid-network"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docs.microsoft.com/en-us/azure/web-application-firewall/afds/waf-front-door-create-portal"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Module overview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rPr>
              <a:t>Lesson 03: </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mn-ea"/>
                <a:cs typeface="+mn-cs"/>
              </a:rPr>
              <a:t>Exercise: Configure DDoS Protection on a virtual network using the Azure portal</a:t>
            </a:r>
            <a:endParaRPr lang="en-IN" altLang="zh-CN"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rPr>
              <a:t>Lesson 05: </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mn-ea"/>
                <a:cs typeface="+mn-cs"/>
              </a:rPr>
              <a:t>Exercise: Secure your virtual hub using Azure Firewall Manager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altLang="zh-CN" dirty="0"/>
              <a:t>Secure and Monitor Networks (15–20%) </a:t>
            </a:r>
          </a:p>
          <a:p>
            <a:endParaRPr lang="en-US" altLang="zh-CN" dirty="0"/>
          </a:p>
          <a:p>
            <a:r>
              <a:rPr lang="en-US" altLang="zh-CN" dirty="0"/>
              <a:t>Design, implement, and manage an Azure Firewall deployment </a:t>
            </a:r>
          </a:p>
          <a:p>
            <a:endParaRPr lang="en-US" altLang="zh-CN" dirty="0"/>
          </a:p>
          <a:p>
            <a:r>
              <a:rPr lang="en-US" altLang="zh-CN" dirty="0"/>
              <a:t> design an Azure Firewall deployment </a:t>
            </a:r>
          </a:p>
          <a:p>
            <a:r>
              <a:rPr lang="en-US" altLang="zh-CN" dirty="0"/>
              <a:t> create and implement an Azure Firewall deployment </a:t>
            </a:r>
          </a:p>
          <a:p>
            <a:r>
              <a:rPr lang="en-US" altLang="zh-CN" dirty="0"/>
              <a:t> configure Azure Firewall rules </a:t>
            </a:r>
          </a:p>
          <a:p>
            <a:r>
              <a:rPr lang="en-US" altLang="zh-CN" dirty="0"/>
              <a:t> create and implement Azure Firewall Manager policies </a:t>
            </a:r>
          </a:p>
          <a:p>
            <a:r>
              <a:rPr lang="en-US" altLang="zh-CN" dirty="0"/>
              <a:t> create a secure hub by deploying Azure Firewall inside an Azure Virtual WAN hub </a:t>
            </a:r>
          </a:p>
          <a:p>
            <a:r>
              <a:rPr lang="en-US" altLang="zh-CN" dirty="0"/>
              <a:t> integrate an Azure Virtual WAN hub with a third-party NVA </a:t>
            </a:r>
          </a:p>
          <a:p>
            <a:endParaRPr lang="en-US" altLang="zh-CN" dirty="0"/>
          </a:p>
          <a:p>
            <a:r>
              <a:rPr lang="en-US" altLang="zh-CN" dirty="0"/>
              <a:t>Implement and manage network security groups (NSGs) </a:t>
            </a:r>
          </a:p>
          <a:p>
            <a:endParaRPr lang="en-US" altLang="zh-CN" dirty="0"/>
          </a:p>
          <a:p>
            <a:r>
              <a:rPr lang="en-US" altLang="zh-CN" dirty="0"/>
              <a:t> create an NSG</a:t>
            </a:r>
          </a:p>
          <a:p>
            <a:r>
              <a:rPr lang="en-US" altLang="zh-CN" dirty="0"/>
              <a:t> associate an NSG to a resource </a:t>
            </a:r>
          </a:p>
          <a:p>
            <a:r>
              <a:rPr lang="en-US" altLang="zh-CN" dirty="0"/>
              <a:t> create an application security group (ASG) </a:t>
            </a:r>
          </a:p>
          <a:p>
            <a:r>
              <a:rPr lang="en-US" altLang="zh-CN" dirty="0"/>
              <a:t> associate an ASG to a NIC </a:t>
            </a:r>
          </a:p>
          <a:p>
            <a:r>
              <a:rPr lang="en-US" altLang="zh-CN" dirty="0"/>
              <a:t> create and configure NSG rules </a:t>
            </a:r>
          </a:p>
          <a:p>
            <a:r>
              <a:rPr lang="en-US" altLang="zh-CN" dirty="0"/>
              <a:t> interpret NSG flow logs </a:t>
            </a:r>
          </a:p>
          <a:p>
            <a:r>
              <a:rPr lang="en-US" altLang="zh-CN" dirty="0"/>
              <a:t> validate NSG flow rules </a:t>
            </a:r>
          </a:p>
          <a:p>
            <a:r>
              <a:rPr lang="en-US" altLang="zh-CN" dirty="0"/>
              <a:t> verify IP flow </a:t>
            </a:r>
          </a:p>
          <a:p>
            <a:endParaRPr lang="en-US" altLang="zh-CN" dirty="0"/>
          </a:p>
          <a:p>
            <a:r>
              <a:rPr lang="en-US" altLang="zh-CN" dirty="0"/>
              <a:t>Implement a Web Application Firewall (WAF) deployment </a:t>
            </a:r>
          </a:p>
          <a:p>
            <a:endParaRPr lang="en-US" altLang="zh-CN" dirty="0"/>
          </a:p>
          <a:p>
            <a:r>
              <a:rPr lang="en-US" altLang="zh-CN" dirty="0"/>
              <a:t> configure detection or prevention mode </a:t>
            </a:r>
          </a:p>
          <a:p>
            <a:r>
              <a:rPr lang="en-US" altLang="zh-CN" dirty="0"/>
              <a:t> configure rule sets for Azure Front Door, including Microsoft managed and user defined </a:t>
            </a:r>
          </a:p>
          <a:p>
            <a:r>
              <a:rPr lang="en-US" altLang="zh-CN" dirty="0"/>
              <a:t> configure rule sets for Application Gateway, including Microsoft managed and user defined </a:t>
            </a:r>
          </a:p>
          <a:p>
            <a:r>
              <a:rPr lang="en-US" altLang="zh-CN" dirty="0"/>
              <a:t> implement a WAF policy</a:t>
            </a:r>
          </a:p>
          <a:p>
            <a:r>
              <a:rPr lang="en-US" altLang="zh-CN" dirty="0"/>
              <a:t> associate a WAF policy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altLang="zh-CN" sz="1200" dirty="0">
              <a:solidFill>
                <a:schemeClr val="tx1"/>
              </a:solidFill>
            </a:endParaRPr>
          </a:p>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12615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Network Security covers controls to secure and protect Azure networks, including securing virtual networks, establishing private connections, preventing and mitigating external attacks, and securing DNS. Full description of the controls can be found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hlinkClick r:id="rId3"/>
              </a:rPr>
              <a:t>Azure Security Benchmark v3 - Network Security | Microsoft Docs</a:t>
            </a:r>
            <a:endParaRPr 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https://docs.microsoft.com/security/benchmark/azure/security-controls-v3-network-security</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5</a:t>
            </a:fld>
            <a:endParaRPr lang="en-US"/>
          </a:p>
        </p:txBody>
      </p:sp>
    </p:spTree>
    <p:extLst>
      <p:ext uri="{BB962C8B-B14F-4D97-AF65-F5344CB8AC3E}">
        <p14:creationId xmlns:p14="http://schemas.microsoft.com/office/powerpoint/2010/main" val="376812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Azure Security Benchmark includes a collection of high-impact security recommendations you can use to help secure the services you use in Azure:</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Security controls:</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These recommendations are generally applicable across your Azure tenant and Azure services. Each recommendation identifies a list of stakeholders that are typically involved in planning, approval, or implementation of the benchmark.</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Service baselines:</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These apply the controls to individual Azure services to provide recommendations on that service’s security configuration.</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Implement the Azure Security Benchmark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Plan your Azure Security Benchmark implementation by reviewing the documentation for the enterprise controls and service-specific baselines to plan your control framework and how it maps to guidance like CIS (Controls v7.1) and NIST (SP 800-53) framework.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Monitor your compliance with Azure Security Benchmark status (and other control sets) using the Microsoft Defender for Cloud regulatory compliance dashboard.</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Establish guardrails to automate secure configurations and enforce compliance with Azure Security Benchmark (and other requirements in your organization) with Azure Blueprints and Azure Policy.</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6</a:t>
            </a:fld>
            <a:endParaRPr lang="en-US"/>
          </a:p>
        </p:txBody>
      </p:sp>
    </p:spTree>
    <p:extLst>
      <p:ext uri="{BB962C8B-B14F-4D97-AF65-F5344CB8AC3E}">
        <p14:creationId xmlns:p14="http://schemas.microsoft.com/office/powerpoint/2010/main" val="3111676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7</a:t>
            </a:fld>
            <a:endParaRPr lang="en-US"/>
          </a:p>
        </p:txBody>
      </p:sp>
    </p:spTree>
    <p:extLst>
      <p:ext uri="{BB962C8B-B14F-4D97-AF65-F5344CB8AC3E}">
        <p14:creationId xmlns:p14="http://schemas.microsoft.com/office/powerpoint/2010/main" val="1974292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9</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4148104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11810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a:cs typeface="Segoe UI Light"/>
              </a:rPr>
              <a:t>Cloud Provider DDoS attacks - </a:t>
            </a:r>
            <a:r>
              <a:rPr lang="en-US" sz="850" dirty="0">
                <a:latin typeface="Segoe UI Light"/>
                <a:cs typeface="Segoe UI Light"/>
                <a:hlinkClick r:id="rId3"/>
              </a:rPr>
              <a:t>https://www.microsoft.com/securityinsights/DDoS</a:t>
            </a:r>
            <a:endParaRPr lang="en-US" sz="850" dirty="0">
              <a:latin typeface="Segoe UI Light"/>
              <a:cs typeface="Segoe UI Light"/>
            </a:endParaRPr>
          </a:p>
          <a:p>
            <a:endParaRPr lang="en-US" sz="850" dirty="0">
              <a:latin typeface="Segoe UI Light"/>
              <a:cs typeface="Segoe UI Light"/>
            </a:endParaRPr>
          </a:p>
          <a:p>
            <a:r>
              <a:rPr lang="en-US" sz="850" dirty="0">
                <a:latin typeface="Segoe UI Light"/>
                <a:cs typeface="Segoe UI Light"/>
              </a:rPr>
              <a:t>A denial of service attack (DoS) is an attack that has the goal of preventing access to services or systems. If the attack originates from one location, it is called a DoS. If the attack originates from multiple networks and systems, it is called distributed denial of service (DDoS).</a:t>
            </a:r>
            <a:endParaRPr lang="bs-Latn-BA" sz="850">
              <a:latin typeface="Segoe UI Light"/>
              <a:cs typeface="Segoe UI Light"/>
            </a:endParaRPr>
          </a:p>
          <a:p>
            <a:r>
              <a:rPr lang="en-US" sz="850" dirty="0">
                <a:latin typeface="Segoe UI Light"/>
                <a:cs typeface="Segoe UI Light"/>
              </a:rPr>
              <a:t> </a:t>
            </a:r>
            <a:endParaRPr lang="bs-Latn-BA" sz="850">
              <a:latin typeface="Segoe UI Light"/>
              <a:cs typeface="Segoe UI Light"/>
            </a:endParaRPr>
          </a:p>
          <a:p>
            <a:r>
              <a:rPr lang="en-US" sz="850" dirty="0">
                <a:latin typeface="Segoe UI Light"/>
                <a:cs typeface="Segoe UI Light"/>
              </a:rPr>
              <a:t>Before learning more about DDoS, you need to know what botnets are. </a:t>
            </a:r>
            <a:r>
              <a:rPr lang="en-US" sz="850" i="1" dirty="0">
                <a:latin typeface="Segoe UI Light"/>
                <a:cs typeface="Segoe UI Light"/>
              </a:rPr>
              <a:t>Botnets</a:t>
            </a:r>
            <a:r>
              <a:rPr lang="en-US" sz="850" dirty="0">
                <a:latin typeface="Segoe UI Light"/>
                <a:cs typeface="Segoe UI Light"/>
              </a:rPr>
              <a:t> are collections of internet-connected systems that an individual controls and uses without their owners’ knowledge. Botnet owners use them to perform various actions of their choosing. Often, they use them for spamming, data storage, DDoS, or various other actions that are up to the person in control of the botnet. In the past, botnets were made up just of compromised computers, but now, botnets are also made up of Internet of Things (IoT) devices. Malicious hackers can get these poorly secured security cameras, digital video recorders, thermostats, and other internet-connected devices under their control.</a:t>
            </a:r>
            <a:endParaRPr lang="bs-Latn-BA" sz="850">
              <a:latin typeface="Segoe UI Light"/>
              <a:cs typeface="Segoe UI Light"/>
            </a:endParaRPr>
          </a:p>
          <a:p>
            <a:endParaRPr lang="en-US" sz="850" dirty="0">
              <a:latin typeface="Segoe UI Light"/>
              <a:cs typeface="Segoe UI Light"/>
            </a:endParaRPr>
          </a:p>
          <a:p>
            <a:r>
              <a:rPr lang="en-US" sz="850" dirty="0">
                <a:latin typeface="Segoe UI Light"/>
                <a:cs typeface="Segoe UI Light"/>
              </a:rPr>
              <a:t>So, DDoS is a collection of attack types aimed at disrupting the availability of a target. These attacks involve a coordinated effort that uses multiple internet-connected systems to launch many network requests against DNS, web services, email, and more. Pretty much any application that the malicious hacker can access might become the target of a DDoS. The malicious hacker’s goal is to overwhelm system resources on targeted servers so they can no longer process legitimate traffic, effectively making the system inaccessible.</a:t>
            </a:r>
            <a:endParaRPr lang="bs-Latn-BA" sz="850">
              <a:latin typeface="Segoe UI Light"/>
              <a:cs typeface="Segoe UI Light"/>
            </a:endParaRPr>
          </a:p>
          <a:p>
            <a:endParaRPr lang="en-US" sz="850" dirty="0">
              <a:latin typeface="Segoe UI Light"/>
              <a:cs typeface="Segoe UI Light"/>
            </a:endParaRPr>
          </a:p>
          <a:p>
            <a:r>
              <a:rPr lang="en-US" sz="850" dirty="0">
                <a:latin typeface="Segoe UI Light"/>
                <a:cs typeface="Segoe UI Light"/>
              </a:rPr>
              <a:t>A DDoS generally involves many systems sending traffic to targets as part of a botnet. In most cases, the owners of the systems in a botnet don’t know that their devices are compromised and participating in an attack. Botnets are becoming a bigger problem than before because of the increasing numbers of connected devices.</a:t>
            </a:r>
            <a:endParaRPr lang="bs-Latn-BA" sz="850" kern="1200">
              <a:solidFill>
                <a:schemeClr val="tx1"/>
              </a:solidFill>
              <a:effectLst/>
              <a:latin typeface="Segoe UI Light"/>
              <a:cs typeface="Segoe UI Light"/>
            </a:endParaRP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3:01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2789385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13</a:t>
            </a:fld>
            <a:endParaRPr lang="en-US"/>
          </a:p>
        </p:txBody>
      </p:sp>
    </p:spTree>
    <p:extLst>
      <p:ext uri="{BB962C8B-B14F-4D97-AF65-F5344CB8AC3E}">
        <p14:creationId xmlns:p14="http://schemas.microsoft.com/office/powerpoint/2010/main" val="3111676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Distributed Denial of Service (DDoS) attacks are some of the largest availability and security concerns facing customers that are moving their applications to the cloud. A DDoS attack tries to drain an API's or application's resources, making that application unavailable to legitimate users. DDoS attacks can be targeted at any endpoint that is publicly reachable through the internet.</a:t>
            </a:r>
          </a:p>
          <a:p>
            <a:pPr marL="0" marR="0">
              <a:spcBef>
                <a:spcPts val="1000"/>
              </a:spcBef>
              <a:spcAft>
                <a:spcPts val="0"/>
              </a:spcAft>
            </a:pPr>
            <a:r>
              <a:rPr lang="en-US" sz="1800" b="1">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Azure DDoS Protection Standard</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DDoS Protection Standard protects resources in a virtual network including public IP addresses associated with virtual machines, load balancers, and application gateways. When coupled with the Application Gateway web application firewall, or a third-party web application firewall deployed in a virtual network with a public IP, DDoS Protection Standard can provide full layer 3 to layer 7 mitigation capability.</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Every property in Azure is protected by Azure's infrastructure DDoS (Basic) Protection at no additional cost. While DDoS Protection Standard is a paid service, design for services that are deployed in a virtual network.</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Native platform integration:</a:t>
            </a:r>
            <a:r>
              <a:rPr lang="en-US" sz="1800">
                <a:effectLst/>
                <a:latin typeface="Calibri" panose="020F0502020204030204" pitchFamily="34" charset="0"/>
                <a:ea typeface="Calibri" panose="020F0502020204030204" pitchFamily="34" charset="0"/>
                <a:cs typeface="Times New Roman" panose="02020603050405020304" pitchFamily="18" charset="0"/>
              </a:rPr>
              <a:t> Natively integrated into Azure and configured through portal.</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Turnkey protection:</a:t>
            </a:r>
            <a:r>
              <a:rPr lang="en-US" sz="1800">
                <a:effectLst/>
                <a:latin typeface="Calibri" panose="020F0502020204030204" pitchFamily="34" charset="0"/>
                <a:ea typeface="Calibri" panose="020F0502020204030204" pitchFamily="34" charset="0"/>
                <a:cs typeface="Times New Roman" panose="02020603050405020304" pitchFamily="18" charset="0"/>
              </a:rPr>
              <a:t> Simplified configuration protecting all resources immediately.</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Always-on traffic monitoring:</a:t>
            </a:r>
            <a:r>
              <a:rPr lang="en-US" sz="1800">
                <a:effectLst/>
                <a:latin typeface="Calibri" panose="020F0502020204030204" pitchFamily="34" charset="0"/>
                <a:ea typeface="Calibri" panose="020F0502020204030204" pitchFamily="34" charset="0"/>
                <a:cs typeface="Times New Roman" panose="02020603050405020304" pitchFamily="18" charset="0"/>
              </a:rPr>
              <a:t> Your application traffic patterns are monitored 24 hours a day, 7 days a week, looking for indicators of DDoS attacks.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Adaptive tuning:</a:t>
            </a:r>
            <a:r>
              <a:rPr lang="en-US" sz="1800">
                <a:effectLst/>
                <a:latin typeface="Calibri" panose="020F0502020204030204" pitchFamily="34" charset="0"/>
                <a:ea typeface="Calibri" panose="020F0502020204030204" pitchFamily="34" charset="0"/>
                <a:cs typeface="Times New Roman" panose="02020603050405020304" pitchFamily="18" charset="0"/>
              </a:rPr>
              <a:t> Profiling and adjusting to your service's traffic.</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Attack analytics:</a:t>
            </a:r>
            <a:r>
              <a:rPr lang="en-US" sz="1800">
                <a:effectLst/>
                <a:latin typeface="Calibri" panose="020F0502020204030204" pitchFamily="34" charset="0"/>
                <a:ea typeface="Calibri" panose="020F0502020204030204" pitchFamily="34" charset="0"/>
                <a:cs typeface="Times New Roman" panose="02020603050405020304" pitchFamily="18" charset="0"/>
              </a:rPr>
              <a:t> Get detailed reports in five-minute increments during an attack, and a complete summary after the attack ends.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Attack metrics and alerts:</a:t>
            </a:r>
            <a:r>
              <a:rPr lang="en-US" sz="1800">
                <a:effectLst/>
                <a:latin typeface="Calibri" panose="020F0502020204030204" pitchFamily="34" charset="0"/>
                <a:ea typeface="Calibri" panose="020F0502020204030204" pitchFamily="34" charset="0"/>
                <a:cs typeface="Times New Roman" panose="02020603050405020304" pitchFamily="18" charset="0"/>
              </a:rPr>
              <a:t> Summarized metrics from each attack are accessible through Azure Monitor. Alerts can be configured at the start and stop of an attack, and over the attack's duration, using built-in attack metrics.</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Multi-layered protection:</a:t>
            </a:r>
            <a:r>
              <a:rPr lang="en-US" sz="1800">
                <a:effectLst/>
                <a:latin typeface="Calibri" panose="020F0502020204030204" pitchFamily="34" charset="0"/>
                <a:ea typeface="Calibri" panose="020F0502020204030204" pitchFamily="34" charset="0"/>
                <a:cs typeface="Times New Roman" panose="02020603050405020304" pitchFamily="18" charset="0"/>
              </a:rPr>
              <a:t> When deployed with a web application firewall (WAF), DDoS Protection Standard protects both at the network layer (Layer 3 and 4, offered by Azure DDoS Protection Standard) and at the application layer (Layer 7, offered by a WAF). </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14</a:t>
            </a:fld>
            <a:endParaRPr lang="en-US"/>
          </a:p>
        </p:txBody>
      </p:sp>
    </p:spTree>
    <p:extLst>
      <p:ext uri="{BB962C8B-B14F-4D97-AF65-F5344CB8AC3E}">
        <p14:creationId xmlns:p14="http://schemas.microsoft.com/office/powerpoint/2010/main" val="376812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Native platform integration:</a:t>
            </a:r>
            <a:r>
              <a:rPr lang="en-US" sz="1800">
                <a:effectLst/>
                <a:latin typeface="Calibri" panose="020F0502020204030204" pitchFamily="34" charset="0"/>
                <a:ea typeface="Calibri" panose="020F0502020204030204" pitchFamily="34" charset="0"/>
                <a:cs typeface="Times New Roman" panose="02020603050405020304" pitchFamily="18" charset="0"/>
              </a:rPr>
              <a:t> Natively integrated into Azure and configured through portal.</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Turnkey protection:</a:t>
            </a:r>
            <a:r>
              <a:rPr lang="en-US" sz="1800">
                <a:effectLst/>
                <a:latin typeface="Calibri" panose="020F0502020204030204" pitchFamily="34" charset="0"/>
                <a:ea typeface="Calibri" panose="020F0502020204030204" pitchFamily="34" charset="0"/>
                <a:cs typeface="Times New Roman" panose="02020603050405020304" pitchFamily="18" charset="0"/>
              </a:rPr>
              <a:t> Simplified configuration protecting all resources immediately.</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Always-on traffic monitoring:</a:t>
            </a:r>
            <a:r>
              <a:rPr lang="en-US" sz="1800">
                <a:effectLst/>
                <a:latin typeface="Calibri" panose="020F0502020204030204" pitchFamily="34" charset="0"/>
                <a:ea typeface="Calibri" panose="020F0502020204030204" pitchFamily="34" charset="0"/>
                <a:cs typeface="Times New Roman" panose="02020603050405020304" pitchFamily="18" charset="0"/>
              </a:rPr>
              <a:t> Your application traffic patterns are monitored 24 hours a day, 7 days a week, looking for indicators of DDoS attacks.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Adaptive tuning:</a:t>
            </a:r>
            <a:r>
              <a:rPr lang="en-US" sz="1800">
                <a:effectLst/>
                <a:latin typeface="Calibri" panose="020F0502020204030204" pitchFamily="34" charset="0"/>
                <a:ea typeface="Calibri" panose="020F0502020204030204" pitchFamily="34" charset="0"/>
                <a:cs typeface="Times New Roman" panose="02020603050405020304" pitchFamily="18" charset="0"/>
              </a:rPr>
              <a:t> Profiling and adjusting to your service's traffic.</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Attack analytics:</a:t>
            </a:r>
            <a:r>
              <a:rPr lang="en-US" sz="1800">
                <a:effectLst/>
                <a:latin typeface="Calibri" panose="020F0502020204030204" pitchFamily="34" charset="0"/>
                <a:ea typeface="Calibri" panose="020F0502020204030204" pitchFamily="34" charset="0"/>
                <a:cs typeface="Times New Roman" panose="02020603050405020304" pitchFamily="18" charset="0"/>
              </a:rPr>
              <a:t> Get detailed reports in five-minute increments during an attack, and a complete summary after the attack ends.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Attack metrics and alerts:</a:t>
            </a:r>
            <a:r>
              <a:rPr lang="en-US" sz="1800">
                <a:effectLst/>
                <a:latin typeface="Calibri" panose="020F0502020204030204" pitchFamily="34" charset="0"/>
                <a:ea typeface="Calibri" panose="020F0502020204030204" pitchFamily="34" charset="0"/>
                <a:cs typeface="Times New Roman" panose="02020603050405020304" pitchFamily="18" charset="0"/>
              </a:rPr>
              <a:t> Summarized metrics from each attack are accessible through Azure Monitor. Alerts can be configured at the start and stop of an attack, and over the attack's duration, using built-in attack metrics.</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Multi-layered protection:</a:t>
            </a:r>
            <a:r>
              <a:rPr lang="en-US" sz="1800">
                <a:effectLst/>
                <a:latin typeface="Calibri" panose="020F0502020204030204" pitchFamily="34" charset="0"/>
                <a:ea typeface="Calibri" panose="020F0502020204030204" pitchFamily="34" charset="0"/>
                <a:cs typeface="Times New Roman" panose="02020603050405020304" pitchFamily="18" charset="0"/>
              </a:rPr>
              <a:t> When deployed with a web application firewall (WAF), DDoS Protection Standard protects both at the network layer (Layer 3 and 4, offered by Azure DDoS Protection Standard) and at the application layer (Layer 7, offered by a WAF). </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15</a:t>
            </a:fld>
            <a:endParaRPr lang="en-US"/>
          </a:p>
        </p:txBody>
      </p:sp>
    </p:spTree>
    <p:extLst>
      <p:ext uri="{BB962C8B-B14F-4D97-AF65-F5344CB8AC3E}">
        <p14:creationId xmlns:p14="http://schemas.microsoft.com/office/powerpoint/2010/main" val="376812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sz="2800" b="0" i="0" dirty="0">
                <a:solidFill>
                  <a:srgbClr val="171717"/>
                </a:solidFill>
                <a:effectLst/>
                <a:latin typeface="Segoe UI" panose="020B0502040204020203" pitchFamily="34" charset="0"/>
              </a:rPr>
              <a:t>Image is end result of protected resource </a:t>
            </a:r>
          </a:p>
          <a:p>
            <a:pPr algn="l">
              <a:buFont typeface="+mj-lt"/>
              <a:buNone/>
            </a:pPr>
            <a:endParaRPr lang="en-US" sz="2800" b="0" i="0" dirty="0">
              <a:solidFill>
                <a:srgbClr val="171717"/>
              </a:solidFill>
              <a:effectLst/>
              <a:latin typeface="Segoe UI" panose="020B0502040204020203" pitchFamily="34" charset="0"/>
            </a:endParaRPr>
          </a:p>
          <a:p>
            <a:pPr algn="l">
              <a:buFont typeface="+mj-lt"/>
              <a:buAutoNum type="arabicPeriod"/>
            </a:pPr>
            <a:r>
              <a:rPr lang="en-US" sz="2800" b="0" i="0" dirty="0">
                <a:solidFill>
                  <a:srgbClr val="171717"/>
                </a:solidFill>
                <a:effectLst/>
                <a:latin typeface="Segoe UI" panose="020B0502040204020203" pitchFamily="34" charset="0"/>
              </a:rPr>
              <a:t>Select </a:t>
            </a:r>
            <a:r>
              <a:rPr lang="en-US" sz="2800" b="1" i="0" dirty="0">
                <a:solidFill>
                  <a:srgbClr val="171717"/>
                </a:solidFill>
                <a:effectLst/>
                <a:latin typeface="Segoe UI" panose="020B0502040204020203" pitchFamily="34" charset="0"/>
              </a:rPr>
              <a:t>Create a resource</a:t>
            </a:r>
            <a:r>
              <a:rPr lang="en-US" sz="2800" b="0" i="0" dirty="0">
                <a:solidFill>
                  <a:srgbClr val="171717"/>
                </a:solidFill>
                <a:effectLst/>
                <a:latin typeface="Segoe UI" panose="020B0502040204020203" pitchFamily="34" charset="0"/>
              </a:rPr>
              <a:t> in the upper left corner of the Azure portal.</a:t>
            </a:r>
          </a:p>
          <a:p>
            <a:pPr algn="l">
              <a:buFont typeface="+mj-lt"/>
              <a:buAutoNum type="arabicPeriod"/>
            </a:pPr>
            <a:r>
              <a:rPr lang="en-US" sz="2800" b="0" i="0" dirty="0">
                <a:solidFill>
                  <a:srgbClr val="171717"/>
                </a:solidFill>
                <a:effectLst/>
                <a:latin typeface="Segoe UI" panose="020B0502040204020203" pitchFamily="34" charset="0"/>
              </a:rPr>
              <a:t>Search the term </a:t>
            </a:r>
            <a:r>
              <a:rPr lang="en-US" sz="2800" b="0" i="1" dirty="0">
                <a:solidFill>
                  <a:srgbClr val="171717"/>
                </a:solidFill>
                <a:effectLst/>
                <a:latin typeface="Segoe UI" panose="020B0502040204020203" pitchFamily="34" charset="0"/>
              </a:rPr>
              <a:t>DDoS</a:t>
            </a:r>
            <a:r>
              <a:rPr lang="en-US" sz="2800" b="0" i="0" dirty="0">
                <a:solidFill>
                  <a:srgbClr val="171717"/>
                </a:solidFill>
                <a:effectLst/>
                <a:latin typeface="Segoe UI" panose="020B0502040204020203" pitchFamily="34" charset="0"/>
              </a:rPr>
              <a:t>. When </a:t>
            </a:r>
            <a:r>
              <a:rPr lang="en-US" sz="2800" b="1" i="0" dirty="0">
                <a:solidFill>
                  <a:srgbClr val="171717"/>
                </a:solidFill>
                <a:effectLst/>
                <a:latin typeface="Segoe UI" panose="020B0502040204020203" pitchFamily="34" charset="0"/>
              </a:rPr>
              <a:t>DDoS protection plan</a:t>
            </a:r>
            <a:r>
              <a:rPr lang="en-US" sz="2800" b="0" i="0" dirty="0">
                <a:solidFill>
                  <a:srgbClr val="171717"/>
                </a:solidFill>
                <a:effectLst/>
                <a:latin typeface="Segoe UI" panose="020B0502040204020203" pitchFamily="34" charset="0"/>
              </a:rPr>
              <a:t> appears in the search results, select it.</a:t>
            </a:r>
          </a:p>
          <a:p>
            <a:pPr algn="l">
              <a:buFont typeface="+mj-lt"/>
              <a:buAutoNum type="arabicPeriod"/>
            </a:pPr>
            <a:r>
              <a:rPr lang="en-US" sz="2800" b="0" i="0" dirty="0">
                <a:solidFill>
                  <a:srgbClr val="171717"/>
                </a:solidFill>
                <a:effectLst/>
                <a:latin typeface="Segoe UI" panose="020B0502040204020203" pitchFamily="34" charset="0"/>
              </a:rPr>
              <a:t>Select </a:t>
            </a:r>
            <a:r>
              <a:rPr lang="en-US" sz="2800" b="1" i="0" dirty="0">
                <a:solidFill>
                  <a:srgbClr val="171717"/>
                </a:solidFill>
                <a:effectLst/>
                <a:latin typeface="Segoe UI" panose="020B0502040204020203" pitchFamily="34" charset="0"/>
              </a:rPr>
              <a:t>Create</a:t>
            </a:r>
            <a:r>
              <a:rPr lang="en-US" sz="2800" b="0" i="0" dirty="0">
                <a:solidFill>
                  <a:srgbClr val="171717"/>
                </a:solidFill>
                <a:effectLst/>
                <a:latin typeface="Segoe UI" panose="020B0502040204020203" pitchFamily="34" charset="0"/>
              </a:rPr>
              <a:t>.</a:t>
            </a:r>
          </a:p>
          <a:p>
            <a:pPr algn="l">
              <a:buFont typeface="+mj-lt"/>
              <a:buAutoNum type="arabicPeriod"/>
            </a:pPr>
            <a:r>
              <a:rPr lang="en-US" sz="2800" b="0" i="0" dirty="0">
                <a:solidFill>
                  <a:srgbClr val="171717"/>
                </a:solidFill>
                <a:effectLst/>
                <a:latin typeface="Segoe UI" panose="020B0502040204020203" pitchFamily="34" charset="0"/>
              </a:rPr>
              <a:t>Enter or select the following values, then select </a:t>
            </a:r>
            <a:r>
              <a:rPr lang="en-US" sz="2800" b="1" i="0" dirty="0">
                <a:solidFill>
                  <a:srgbClr val="171717"/>
                </a:solidFill>
                <a:effectLst/>
                <a:latin typeface="Segoe UI" panose="020B0502040204020203" pitchFamily="34" charset="0"/>
              </a:rPr>
              <a:t>Create</a:t>
            </a:r>
            <a:r>
              <a:rPr lang="en-US" sz="2800" b="0" i="0" dirty="0">
                <a:solidFill>
                  <a:srgbClr val="171717"/>
                </a:solidFill>
                <a:effectLst/>
                <a:latin typeface="Segoe UI" panose="020B0502040204020203" pitchFamily="34" charset="0"/>
              </a:rPr>
              <a:t>:</a:t>
            </a:r>
          </a:p>
          <a:p>
            <a:pPr algn="l">
              <a:buFont typeface="+mj-lt"/>
              <a:buAutoNum type="arabicPeriod"/>
            </a:pPr>
            <a:r>
              <a:rPr lang="en-US" sz="2800" b="0" i="0" dirty="0" err="1">
                <a:solidFill>
                  <a:srgbClr val="171717"/>
                </a:solidFill>
                <a:effectLst/>
                <a:latin typeface="Segoe UI" panose="020B0502040204020203" pitchFamily="34" charset="0"/>
              </a:rPr>
              <a:t>SettingValueNameEnter</a:t>
            </a:r>
            <a:r>
              <a:rPr lang="en-US" sz="2800" b="0" i="0" dirty="0">
                <a:solidFill>
                  <a:srgbClr val="171717"/>
                </a:solidFill>
                <a:effectLst/>
                <a:latin typeface="Segoe UI" panose="020B0502040204020203" pitchFamily="34" charset="0"/>
              </a:rPr>
              <a:t> </a:t>
            </a:r>
            <a:r>
              <a:rPr lang="en-US" sz="2800" b="0" i="1" dirty="0" err="1">
                <a:solidFill>
                  <a:srgbClr val="171717"/>
                </a:solidFill>
                <a:effectLst/>
                <a:latin typeface="Segoe UI" panose="020B0502040204020203" pitchFamily="34" charset="0"/>
              </a:rPr>
              <a:t>MyDdosProtectionPlan</a:t>
            </a:r>
            <a:r>
              <a:rPr lang="en-US" sz="2800" b="0" i="0" dirty="0" err="1">
                <a:solidFill>
                  <a:srgbClr val="171717"/>
                </a:solidFill>
                <a:effectLst/>
                <a:latin typeface="Segoe UI" panose="020B0502040204020203" pitchFamily="34" charset="0"/>
              </a:rPr>
              <a:t>.SubscriptionSelect</a:t>
            </a:r>
            <a:r>
              <a:rPr lang="en-US" sz="2800" b="0" i="0" dirty="0">
                <a:solidFill>
                  <a:srgbClr val="171717"/>
                </a:solidFill>
                <a:effectLst/>
                <a:latin typeface="Segoe UI" panose="020B0502040204020203" pitchFamily="34" charset="0"/>
              </a:rPr>
              <a:t> your </a:t>
            </a:r>
            <a:r>
              <a:rPr lang="en-US" sz="2800" b="0" i="0" dirty="0" err="1">
                <a:solidFill>
                  <a:srgbClr val="171717"/>
                </a:solidFill>
                <a:effectLst/>
                <a:latin typeface="Segoe UI" panose="020B0502040204020203" pitchFamily="34" charset="0"/>
              </a:rPr>
              <a:t>subscription.Resource</a:t>
            </a:r>
            <a:r>
              <a:rPr lang="en-US" sz="2800" b="0" i="0" dirty="0">
                <a:solidFill>
                  <a:srgbClr val="171717"/>
                </a:solidFill>
                <a:effectLst/>
                <a:latin typeface="Segoe UI" panose="020B0502040204020203" pitchFamily="34" charset="0"/>
              </a:rPr>
              <a:t> </a:t>
            </a:r>
            <a:r>
              <a:rPr lang="en-US" sz="2800" b="0" i="0" dirty="0" err="1">
                <a:solidFill>
                  <a:srgbClr val="171717"/>
                </a:solidFill>
                <a:effectLst/>
                <a:latin typeface="Segoe UI" panose="020B0502040204020203" pitchFamily="34" charset="0"/>
              </a:rPr>
              <a:t>groupSelect</a:t>
            </a:r>
            <a:r>
              <a:rPr lang="en-US" sz="2800" b="0" i="0" dirty="0">
                <a:solidFill>
                  <a:srgbClr val="171717"/>
                </a:solidFill>
                <a:effectLst/>
                <a:latin typeface="Segoe UI" panose="020B0502040204020203" pitchFamily="34" charset="0"/>
              </a:rPr>
              <a:t> </a:t>
            </a:r>
            <a:r>
              <a:rPr lang="en-US" sz="2800" b="1" i="0" dirty="0">
                <a:solidFill>
                  <a:srgbClr val="171717"/>
                </a:solidFill>
                <a:effectLst/>
                <a:latin typeface="Segoe UI" panose="020B0502040204020203" pitchFamily="34" charset="0"/>
              </a:rPr>
              <a:t>Create new</a:t>
            </a:r>
            <a:r>
              <a:rPr lang="en-US" sz="2800" b="0" i="0" dirty="0">
                <a:solidFill>
                  <a:srgbClr val="171717"/>
                </a:solidFill>
                <a:effectLst/>
                <a:latin typeface="Segoe UI" panose="020B0502040204020203" pitchFamily="34" charset="0"/>
              </a:rPr>
              <a:t> and enter </a:t>
            </a:r>
            <a:r>
              <a:rPr lang="en-US" sz="2800" b="0" i="1" dirty="0" err="1">
                <a:solidFill>
                  <a:srgbClr val="171717"/>
                </a:solidFill>
                <a:effectLst/>
                <a:latin typeface="Segoe UI" panose="020B0502040204020203" pitchFamily="34" charset="0"/>
              </a:rPr>
              <a:t>MyResourceGroup</a:t>
            </a:r>
            <a:r>
              <a:rPr lang="en-US" sz="2800" b="0" i="0" dirty="0" err="1">
                <a:solidFill>
                  <a:srgbClr val="171717"/>
                </a:solidFill>
                <a:effectLst/>
                <a:latin typeface="Segoe UI" panose="020B0502040204020203" pitchFamily="34" charset="0"/>
              </a:rPr>
              <a:t>.LocationEnter</a:t>
            </a:r>
            <a:r>
              <a:rPr lang="en-US" sz="2800" b="0" i="0" dirty="0">
                <a:solidFill>
                  <a:srgbClr val="171717"/>
                </a:solidFill>
                <a:effectLst/>
                <a:latin typeface="Segoe UI" panose="020B0502040204020203" pitchFamily="34" charset="0"/>
              </a:rPr>
              <a:t> </a:t>
            </a:r>
            <a:r>
              <a:rPr lang="en-US" sz="2800" b="0" i="1" dirty="0">
                <a:solidFill>
                  <a:srgbClr val="171717"/>
                </a:solidFill>
                <a:effectLst/>
                <a:latin typeface="Segoe UI" panose="020B0502040204020203" pitchFamily="34" charset="0"/>
              </a:rPr>
              <a:t>East US</a:t>
            </a:r>
            <a:r>
              <a:rPr lang="en-US" sz="2800" b="0" i="0" dirty="0">
                <a:solidFill>
                  <a:srgbClr val="171717"/>
                </a:solidFill>
                <a:effectLst/>
                <a:latin typeface="Segoe UI" panose="020B0502040204020203" pitchFamily="34" charset="0"/>
              </a:rPr>
              <a:t>.</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key stages of deploying as DDoS Protection plan are as follows: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a resource group</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a DDoS Protection Plan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 DDoS protection on a new or existing virtual network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Configure DDoS telemetry</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Configure DDoS diagnostic logs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Configure DDoS alerts</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Run a test DDoS attack and monitor the results</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16</a:t>
            </a:fld>
            <a:endParaRPr lang="en-US"/>
          </a:p>
        </p:txBody>
      </p:sp>
    </p:spTree>
    <p:extLst>
      <p:ext uri="{BB962C8B-B14F-4D97-AF65-F5344CB8AC3E}">
        <p14:creationId xmlns:p14="http://schemas.microsoft.com/office/powerpoint/2010/main" val="376812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creating a DDoS protection plan </a:t>
            </a:r>
          </a:p>
          <a:p>
            <a:endParaRPr lang="en-US" dirty="0"/>
          </a:p>
          <a:p>
            <a:r>
              <a:rPr lang="en-US" dirty="0"/>
              <a:t>**PRICE** its expensive watch out </a:t>
            </a:r>
          </a:p>
          <a:p>
            <a:r>
              <a:rPr lang="en-US" dirty="0">
                <a:hlinkClick r:id="rId3"/>
              </a:rPr>
              <a:t>Manage Azure DDoS Protection Standard using the Azure portal | Microsoft Docs</a:t>
            </a:r>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17</a:t>
            </a:fld>
            <a:endParaRPr lang="en-US"/>
          </a:p>
        </p:txBody>
      </p:sp>
    </p:spTree>
    <p:extLst>
      <p:ext uri="{BB962C8B-B14F-4D97-AF65-F5344CB8AC3E}">
        <p14:creationId xmlns:p14="http://schemas.microsoft.com/office/powerpoint/2010/main" val="1271233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18</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24292E"/>
                </a:solidFill>
                <a:effectLst/>
                <a:latin typeface="-apple-system"/>
              </a:rPr>
              <a:t>Task 1: Create a resource group</a:t>
            </a:r>
          </a:p>
          <a:p>
            <a:pPr algn="l">
              <a:buFont typeface="Arial" panose="020B0604020202020204" pitchFamily="34" charset="0"/>
              <a:buChar char="•"/>
            </a:pPr>
            <a:r>
              <a:rPr lang="en-US" b="0" i="0" dirty="0">
                <a:solidFill>
                  <a:srgbClr val="24292E"/>
                </a:solidFill>
                <a:effectLst/>
                <a:latin typeface="-apple-system"/>
              </a:rPr>
              <a:t>Task 2: Create a DDoS Protection plan</a:t>
            </a:r>
          </a:p>
          <a:p>
            <a:pPr algn="l">
              <a:buFont typeface="Arial" panose="020B0604020202020204" pitchFamily="34" charset="0"/>
              <a:buChar char="•"/>
            </a:pPr>
            <a:r>
              <a:rPr lang="en-US" b="0" i="0" dirty="0">
                <a:solidFill>
                  <a:srgbClr val="24292E"/>
                </a:solidFill>
                <a:effectLst/>
                <a:latin typeface="-apple-system"/>
              </a:rPr>
              <a:t>Task 3: Enable DDoS Protection on a new virtual network</a:t>
            </a:r>
          </a:p>
          <a:p>
            <a:pPr algn="l">
              <a:buFont typeface="Arial" panose="020B0604020202020204" pitchFamily="34" charset="0"/>
              <a:buChar char="•"/>
            </a:pPr>
            <a:r>
              <a:rPr lang="en-US" b="0" i="0" dirty="0">
                <a:solidFill>
                  <a:srgbClr val="24292E"/>
                </a:solidFill>
                <a:effectLst/>
                <a:latin typeface="-apple-system"/>
              </a:rPr>
              <a:t>Task 4: Configure DDoS telemetry</a:t>
            </a:r>
          </a:p>
          <a:p>
            <a:pPr algn="l">
              <a:buFont typeface="Arial" panose="020B0604020202020204" pitchFamily="34" charset="0"/>
              <a:buChar char="•"/>
            </a:pPr>
            <a:r>
              <a:rPr lang="en-US" b="0" i="0" dirty="0">
                <a:solidFill>
                  <a:srgbClr val="24292E"/>
                </a:solidFill>
                <a:effectLst/>
                <a:latin typeface="-apple-system"/>
              </a:rPr>
              <a:t>Task 5: Configure DDoS diagnostic logs</a:t>
            </a:r>
          </a:p>
          <a:p>
            <a:pPr algn="l">
              <a:buFont typeface="Arial" panose="020B0604020202020204" pitchFamily="34" charset="0"/>
              <a:buChar char="•"/>
            </a:pPr>
            <a:r>
              <a:rPr lang="en-US" b="0" i="0" dirty="0">
                <a:solidFill>
                  <a:srgbClr val="24292E"/>
                </a:solidFill>
                <a:effectLst/>
                <a:latin typeface="-apple-system"/>
              </a:rPr>
              <a:t>Task 6: Configure DDoS alerts</a:t>
            </a:r>
          </a:p>
          <a:p>
            <a:pPr algn="l">
              <a:buFont typeface="Arial" panose="020B0604020202020204" pitchFamily="34" charset="0"/>
              <a:buChar char="•"/>
            </a:pPr>
            <a:r>
              <a:rPr lang="en-US" b="0" i="0" dirty="0">
                <a:solidFill>
                  <a:srgbClr val="24292E"/>
                </a:solidFill>
                <a:effectLst/>
                <a:latin typeface="-apple-system"/>
              </a:rPr>
              <a:t>Task 7: Submit a DDoS service request to run a DDoS attack</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20</a:t>
            </a:fld>
            <a:endParaRPr lang="en-US"/>
          </a:p>
        </p:txBody>
      </p:sp>
    </p:spTree>
    <p:extLst>
      <p:ext uri="{BB962C8B-B14F-4D97-AF65-F5344CB8AC3E}">
        <p14:creationId xmlns:p14="http://schemas.microsoft.com/office/powerpoint/2010/main" val="615985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21</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22</a:t>
            </a:fld>
            <a:endParaRPr lang="en-US"/>
          </a:p>
        </p:txBody>
      </p:sp>
    </p:spTree>
    <p:extLst>
      <p:ext uri="{BB962C8B-B14F-4D97-AF65-F5344CB8AC3E}">
        <p14:creationId xmlns:p14="http://schemas.microsoft.com/office/powerpoint/2010/main" val="1244110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4/25/2022 3:01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736126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Network Security Groups - https://docs.microsoft.com/en-us/azure/virtual-network/security-overview#network-security-groups </a:t>
            </a:r>
          </a:p>
          <a:p>
            <a:endParaRPr lang="en-US"/>
          </a:p>
          <a:p>
            <a:r>
              <a:rPr lang="en-US"/>
              <a:t>✔️ To simplify management of security rules, it's recommended that you associate a network security group to individual subnets, rather than individual network interfaces within the subnet.</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3:01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96121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Create, change, or delete a network security group -https://docs.microsoft.com/</a:t>
            </a:r>
            <a:r>
              <a:rPr lang="en-US" err="1"/>
              <a:t>en</a:t>
            </a:r>
            <a:r>
              <a:rPr lang="en-US"/>
              <a:t>-us/azure/virtual-network/manage-network-security-group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 network security group contains zero, or as many rules as desired, within Azure subscription limits. Each rule specifies the following properties:</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Name</a:t>
            </a:r>
            <a:r>
              <a:rPr lang="en-US" sz="1800">
                <a:effectLst/>
                <a:latin typeface="Calibri" panose="020F0502020204030204" pitchFamily="34" charset="0"/>
                <a:ea typeface="Calibri" panose="020F0502020204030204" pitchFamily="34" charset="0"/>
                <a:cs typeface="Times New Roman" panose="02020603050405020304" pitchFamily="18" charset="0"/>
              </a:rPr>
              <a:t> - Must be a unique name within the network security group.</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Priority</a:t>
            </a:r>
            <a:r>
              <a:rPr lang="en-US" sz="1800">
                <a:effectLst/>
                <a:latin typeface="Calibri" panose="020F0502020204030204" pitchFamily="34" charset="0"/>
                <a:ea typeface="Calibri" panose="020F0502020204030204" pitchFamily="34" charset="0"/>
                <a:cs typeface="Times New Roman" panose="02020603050405020304" pitchFamily="18" charset="0"/>
              </a:rPr>
              <a:t> - Can be any number between 100 and 4096. Rules are processed in priority order, with lower numbers processed before higher numbers, because lower numbers have higher priority. Once traffic matches a rule, processing stops. As a result, any rules that exist with lower priorities (higher numbers) that have the same attributes as rules with higher priorities are not processed.</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Source or destination</a:t>
            </a:r>
            <a:r>
              <a:rPr lang="en-US" sz="1800">
                <a:effectLst/>
                <a:latin typeface="Calibri" panose="020F0502020204030204" pitchFamily="34" charset="0"/>
                <a:ea typeface="Calibri" panose="020F0502020204030204" pitchFamily="34" charset="0"/>
                <a:cs typeface="Times New Roman" panose="02020603050405020304" pitchFamily="18" charset="0"/>
              </a:rPr>
              <a:t> - Can be set to Any, or an individual IP address, or classless inter-domain routing (CIDR) block (10.0.0.0/24, for example), service tag, or application security group.</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Protocol</a:t>
            </a:r>
            <a:r>
              <a:rPr lang="en-US" sz="1800">
                <a:effectLst/>
                <a:latin typeface="Calibri" panose="020F0502020204030204" pitchFamily="34" charset="0"/>
                <a:ea typeface="Calibri" panose="020F0502020204030204" pitchFamily="34" charset="0"/>
                <a:cs typeface="Times New Roman" panose="02020603050405020304" pitchFamily="18" charset="0"/>
              </a:rPr>
              <a:t> - Can be TCP, UDP, ICMP, ESP, AH, or Any.</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Direction</a:t>
            </a:r>
            <a:r>
              <a:rPr lang="en-US" sz="1800">
                <a:effectLst/>
                <a:latin typeface="Calibri" panose="020F0502020204030204" pitchFamily="34" charset="0"/>
                <a:ea typeface="Calibri" panose="020F0502020204030204" pitchFamily="34" charset="0"/>
                <a:cs typeface="Times New Roman" panose="02020603050405020304" pitchFamily="18" charset="0"/>
              </a:rPr>
              <a:t> - Can be configured to apply to inbound, or outbound traffic.</a:t>
            </a:r>
          </a:p>
          <a:p>
            <a:pPr marL="342900" marR="0" lvl="0" indent="-342900">
              <a:spcBef>
                <a:spcPts val="0"/>
              </a:spcBef>
              <a:spcAft>
                <a:spcPts val="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Port range</a:t>
            </a:r>
            <a:r>
              <a:rPr lang="en-US" sz="1800">
                <a:effectLst/>
                <a:latin typeface="Calibri" panose="020F0502020204030204" pitchFamily="34" charset="0"/>
                <a:ea typeface="Calibri" panose="020F0502020204030204" pitchFamily="34" charset="0"/>
                <a:cs typeface="Times New Roman" panose="02020603050405020304" pitchFamily="18" charset="0"/>
              </a:rPr>
              <a:t> - Can be specified either as an individual port or range of ports. For example, you could specify 80 or 10000-10005. Specifying ranges enables you to create fewer security rules.</a:t>
            </a:r>
          </a:p>
          <a:p>
            <a:pPr marL="342900" marR="0" lvl="0" indent="-342900">
              <a:spcBef>
                <a:spcPts val="0"/>
              </a:spcBef>
              <a:spcAft>
                <a:spcPts val="1000"/>
              </a:spcAft>
              <a:buFont typeface="Symbol" panose="05050102010706020507" pitchFamily="18" charset="2"/>
              <a:buChar char=""/>
            </a:pPr>
            <a:r>
              <a:rPr lang="en-US" sz="1800" b="1">
                <a:effectLst/>
                <a:latin typeface="Calibri" panose="020F0502020204030204" pitchFamily="34" charset="0"/>
                <a:ea typeface="Calibri" panose="020F0502020204030204" pitchFamily="34" charset="0"/>
                <a:cs typeface="Times New Roman" panose="02020603050405020304" pitchFamily="18" charset="0"/>
              </a:rPr>
              <a:t>Action</a:t>
            </a:r>
            <a:r>
              <a:rPr lang="en-US" sz="1800">
                <a:effectLst/>
                <a:latin typeface="Calibri" panose="020F0502020204030204" pitchFamily="34" charset="0"/>
                <a:ea typeface="Calibri" panose="020F0502020204030204" pitchFamily="34" charset="0"/>
                <a:cs typeface="Times New Roman" panose="02020603050405020304" pitchFamily="18" charset="0"/>
              </a:rPr>
              <a:t> - Can be set to Allow or deny.</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3:01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13176838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3:01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2873391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Tutorial: Filter network traffic with a network security group using the Azure portal - https://docs.microsoft.com/en-us/azure/virtual-network/tutorial-filter-network-traffic</a:t>
            </a:r>
          </a:p>
          <a:p>
            <a:endParaRPr lang="en-US"/>
          </a:p>
          <a:p>
            <a:r>
              <a:rPr lang="en-US"/>
              <a:t>Secure and isolate access to Azure resources by using network security groups and service endpoints - https://docs.microsoft.com/learn/modules/secure-and-isolate-with-nsg-and-service-endpoints/</a:t>
            </a:r>
          </a:p>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4/25/2022 3:01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25756755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 service tag represents a group of IP address prefixes from a given Azure service. Microsoft manages the address prefixes encompassed by the service tag and automatically updates the service tag as addresses change, minimizing the complexity of frequent updates to network security rules.</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You can use service tags to define network access controls on network security groups or Azure Firewall. Use service tags in place of specific IP addresses when you create security rules. By specifying the service tag name, such as API Management, in the appropriate source or destination field of a rule, you can allow or deny the traffic for the corresponding service.</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As of March 2021, you can also use Service Tags in place of explicit IP ranges in user defined routes. This feature is currently in Public Preview.</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You can use service tags to achieve network isolation and protect your Azure resources from the general Internet while accessing Azure services that have public endpoints. Create inbound/outbound network security group rules to deny traffic to/from Internet and allow traffic to/from </a:t>
            </a:r>
            <a:r>
              <a:rPr lang="en-US" sz="1800" err="1">
                <a:effectLst/>
                <a:latin typeface="Calibri" panose="020F0502020204030204" pitchFamily="34" charset="0"/>
                <a:ea typeface="Calibri" panose="020F0502020204030204" pitchFamily="34" charset="0"/>
                <a:cs typeface="Times New Roman" panose="02020603050405020304" pitchFamily="18" charset="0"/>
              </a:rPr>
              <a:t>AzureCloud</a:t>
            </a:r>
            <a:r>
              <a:rPr lang="en-US" sz="1800">
                <a:effectLst/>
                <a:latin typeface="Calibri" panose="020F0502020204030204" pitchFamily="34" charset="0"/>
                <a:ea typeface="Calibri" panose="020F0502020204030204" pitchFamily="34" charset="0"/>
                <a:cs typeface="Times New Roman" panose="02020603050405020304" pitchFamily="18" charset="0"/>
              </a:rPr>
              <a:t> or other available service tags of specific Azure services.</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28</a:t>
            </a:fld>
            <a:endParaRPr lang="en-US"/>
          </a:p>
        </p:txBody>
      </p:sp>
    </p:spTree>
    <p:extLst>
      <p:ext uri="{BB962C8B-B14F-4D97-AF65-F5344CB8AC3E}">
        <p14:creationId xmlns:p14="http://schemas.microsoft.com/office/powerpoint/2010/main" val="4146170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An Application Security Group (ASG) enables you to configure network security as a natural extension of an application's structure, allowing you to group virtual machines and define network security policies based on those groups. You can reuse your security policy at scale without manual maintenance of explicit IP addresses. The platform handles the complexity of explicit IP addresses and multiple rule sets, allowing you to focus on your business logic.</a:t>
            </a:r>
          </a:p>
          <a:p>
            <a:pPr marL="0" marR="0">
              <a:spcBef>
                <a:spcPts val="0"/>
              </a:spcBef>
              <a:spcAft>
                <a:spcPts val="1000"/>
              </a:spcAft>
            </a:pPr>
            <a:r>
              <a:rPr lang="en-US" sz="1800">
                <a:solidFill>
                  <a:srgbClr val="00B050"/>
                </a:solidFill>
                <a:effectLst/>
                <a:latin typeface="Segoe UI Semibold" panose="020B0702040204020203" pitchFamily="34" charset="0"/>
                <a:ea typeface="Calibri" panose="020F0502020204030204" pitchFamily="34" charset="0"/>
                <a:cs typeface="Times New Roman" panose="02020603050405020304" pitchFamily="18" charset="0"/>
              </a:rPr>
              <a:t>To minimize the number of security rules you need, and the need to change the rules, plan out the application security groups you need and create rules using service tags or application security groups, rather than individual IP addresses, or ranges of IP addresses, whenever possible.</a:t>
            </a:r>
          </a:p>
          <a:p>
            <a:pPr marL="0" marR="0">
              <a:spcBef>
                <a:spcPts val="0"/>
              </a:spcBef>
              <a:spcAft>
                <a:spcPts val="1000"/>
              </a:spcAft>
            </a:pPr>
            <a:endParaRPr lang="en-US" sz="1800">
              <a:solidFill>
                <a:srgbClr val="00B050"/>
              </a:solidFill>
              <a:effectLst/>
              <a:latin typeface="Segoe UI Semibold" panose="020B0702040204020203" pitchFamily="34" charset="0"/>
              <a:ea typeface="Calibri" panose="020F0502020204030204" pitchFamily="34" charset="0"/>
              <a:cs typeface="Times New Roman" panose="02020603050405020304" pitchFamily="18" charset="0"/>
            </a:endParaRPr>
          </a:p>
          <a:p>
            <a:pPr algn="l"/>
            <a:r>
              <a:rPr lang="en-US" sz="2800" b="0" i="0">
                <a:solidFill>
                  <a:srgbClr val="171717"/>
                </a:solidFill>
                <a:effectLst/>
                <a:latin typeface="Segoe UI" panose="020B0502040204020203" pitchFamily="34" charset="0"/>
              </a:rPr>
              <a:t>Application security groups have the following constraints:</a:t>
            </a:r>
          </a:p>
          <a:p>
            <a:pPr algn="l">
              <a:buFont typeface="Arial" panose="020B0604020202020204" pitchFamily="34" charset="0"/>
              <a:buChar char="•"/>
            </a:pPr>
            <a:r>
              <a:rPr lang="en-US" sz="2800" b="0" i="0">
                <a:solidFill>
                  <a:srgbClr val="171717"/>
                </a:solidFill>
                <a:effectLst/>
                <a:latin typeface="Segoe UI" panose="020B0502040204020203" pitchFamily="34" charset="0"/>
              </a:rPr>
              <a:t>There are limits to the number of application security groups you can have in a subscription, as well as other limits related to application security groups. For details, see </a:t>
            </a:r>
            <a:r>
              <a:rPr lang="en-US" sz="2800" b="0" i="0" u="none" strike="noStrike">
                <a:solidFill>
                  <a:srgbClr val="171717"/>
                </a:solidFill>
                <a:effectLst/>
                <a:latin typeface="Segoe UI" panose="020B0502040204020203" pitchFamily="34" charset="0"/>
                <a:hlinkClick r:id="rId3"/>
              </a:rPr>
              <a:t>Azure limits</a:t>
            </a:r>
            <a:r>
              <a:rPr lang="en-US" sz="2800" b="0" i="0">
                <a:solidFill>
                  <a:srgbClr val="171717"/>
                </a:solidFill>
                <a:effectLst/>
                <a:latin typeface="Segoe UI" panose="020B0502040204020203" pitchFamily="34" charset="0"/>
              </a:rPr>
              <a:t>.</a:t>
            </a:r>
          </a:p>
          <a:p>
            <a:pPr algn="l">
              <a:buFont typeface="Arial" panose="020B0604020202020204" pitchFamily="34" charset="0"/>
              <a:buChar char="•"/>
            </a:pPr>
            <a:r>
              <a:rPr lang="en-US" sz="2800" b="0" i="0">
                <a:solidFill>
                  <a:srgbClr val="171717"/>
                </a:solidFill>
                <a:effectLst/>
                <a:latin typeface="Segoe UI" panose="020B0502040204020203" pitchFamily="34" charset="0"/>
              </a:rPr>
              <a:t>In the Azure portal, you can specify only one application security group as the source and destination in a security rule. In the REST API (including PowerShell/Azure CLI), you can specify multiple application security groups in the source or destination.</a:t>
            </a:r>
          </a:p>
          <a:p>
            <a:pPr algn="l">
              <a:buFont typeface="Arial" panose="020B0604020202020204" pitchFamily="34" charset="0"/>
              <a:buChar char="•"/>
            </a:pPr>
            <a:r>
              <a:rPr lang="en-US" sz="2800" b="0" i="0">
                <a:solidFill>
                  <a:srgbClr val="171717"/>
                </a:solidFill>
                <a:effectLst/>
                <a:latin typeface="Segoe UI" panose="020B0502040204020203" pitchFamily="34" charset="0"/>
              </a:rPr>
              <a:t>All network interfaces assigned to an application security group have to exist in the same virtual network that the first network interface assigned to the application security group is in. For example, if the first network interface assigned to an application security group named </a:t>
            </a:r>
            <a:r>
              <a:rPr lang="en-US" sz="2800" b="0" i="1" err="1">
                <a:solidFill>
                  <a:srgbClr val="171717"/>
                </a:solidFill>
                <a:effectLst/>
                <a:latin typeface="Segoe UI" panose="020B0502040204020203" pitchFamily="34" charset="0"/>
              </a:rPr>
              <a:t>AsgWeb</a:t>
            </a:r>
            <a:r>
              <a:rPr lang="en-US" sz="2800" b="0" i="0">
                <a:solidFill>
                  <a:srgbClr val="171717"/>
                </a:solidFill>
                <a:effectLst/>
                <a:latin typeface="Segoe UI" panose="020B0502040204020203" pitchFamily="34" charset="0"/>
              </a:rPr>
              <a:t> is in the virtual network named </a:t>
            </a:r>
            <a:r>
              <a:rPr lang="en-US" sz="2800" b="0" i="1">
                <a:solidFill>
                  <a:srgbClr val="171717"/>
                </a:solidFill>
                <a:effectLst/>
                <a:latin typeface="Segoe UI" panose="020B0502040204020203" pitchFamily="34" charset="0"/>
              </a:rPr>
              <a:t>VNet1</a:t>
            </a:r>
            <a:r>
              <a:rPr lang="en-US" sz="2800" b="0" i="0">
                <a:solidFill>
                  <a:srgbClr val="171717"/>
                </a:solidFill>
                <a:effectLst/>
                <a:latin typeface="Segoe UI" panose="020B0502040204020203" pitchFamily="34" charset="0"/>
              </a:rPr>
              <a:t>, then all subsequent network interfaces assigned to </a:t>
            </a:r>
            <a:r>
              <a:rPr lang="en-US" sz="2800" b="0" i="1" err="1">
                <a:solidFill>
                  <a:srgbClr val="171717"/>
                </a:solidFill>
                <a:effectLst/>
                <a:latin typeface="Segoe UI" panose="020B0502040204020203" pitchFamily="34" charset="0"/>
              </a:rPr>
              <a:t>ASGWeb</a:t>
            </a:r>
            <a:r>
              <a:rPr lang="en-US" sz="2800" b="0" i="0">
                <a:solidFill>
                  <a:srgbClr val="171717"/>
                </a:solidFill>
                <a:effectLst/>
                <a:latin typeface="Segoe UI" panose="020B0502040204020203" pitchFamily="34" charset="0"/>
              </a:rPr>
              <a:t> must exist in </a:t>
            </a:r>
            <a:r>
              <a:rPr lang="en-US" sz="2800" b="0" i="1">
                <a:solidFill>
                  <a:srgbClr val="171717"/>
                </a:solidFill>
                <a:effectLst/>
                <a:latin typeface="Segoe UI" panose="020B0502040204020203" pitchFamily="34" charset="0"/>
              </a:rPr>
              <a:t>VNet1</a:t>
            </a:r>
            <a:r>
              <a:rPr lang="en-US" sz="2800" b="0" i="0">
                <a:solidFill>
                  <a:srgbClr val="171717"/>
                </a:solidFill>
                <a:effectLst/>
                <a:latin typeface="Segoe UI" panose="020B0502040204020203" pitchFamily="34" charset="0"/>
              </a:rPr>
              <a:t>. You cannot add network interfaces from different virtual networks to the same application security group.</a:t>
            </a:r>
          </a:p>
          <a:p>
            <a:pPr algn="l">
              <a:buFont typeface="Arial" panose="020B0604020202020204" pitchFamily="34" charset="0"/>
              <a:buChar char="•"/>
            </a:pPr>
            <a:r>
              <a:rPr lang="en-US" sz="2800" b="0" i="0">
                <a:solidFill>
                  <a:srgbClr val="171717"/>
                </a:solidFill>
                <a:effectLst/>
                <a:latin typeface="Segoe UI" panose="020B0502040204020203" pitchFamily="34" charset="0"/>
              </a:rPr>
              <a:t>If you specify an application security group as the source and destination in a security rule, the network interfaces in both application security groups must exist in the same virtual network. For example, if </a:t>
            </a:r>
            <a:r>
              <a:rPr lang="en-US" sz="2800" b="0" i="1" err="1">
                <a:solidFill>
                  <a:srgbClr val="171717"/>
                </a:solidFill>
                <a:effectLst/>
                <a:latin typeface="Segoe UI" panose="020B0502040204020203" pitchFamily="34" charset="0"/>
              </a:rPr>
              <a:t>AsgLogic</a:t>
            </a:r>
            <a:r>
              <a:rPr lang="en-US" sz="2800" b="0" i="0">
                <a:solidFill>
                  <a:srgbClr val="171717"/>
                </a:solidFill>
                <a:effectLst/>
                <a:latin typeface="Segoe UI" panose="020B0502040204020203" pitchFamily="34" charset="0"/>
              </a:rPr>
              <a:t> contained network interfaces from </a:t>
            </a:r>
            <a:r>
              <a:rPr lang="en-US" sz="2800" b="0" i="1">
                <a:solidFill>
                  <a:srgbClr val="171717"/>
                </a:solidFill>
                <a:effectLst/>
                <a:latin typeface="Segoe UI" panose="020B0502040204020203" pitchFamily="34" charset="0"/>
              </a:rPr>
              <a:t>VNet1</a:t>
            </a:r>
            <a:r>
              <a:rPr lang="en-US" sz="2800" b="0" i="0">
                <a:solidFill>
                  <a:srgbClr val="171717"/>
                </a:solidFill>
                <a:effectLst/>
                <a:latin typeface="Segoe UI" panose="020B0502040204020203" pitchFamily="34" charset="0"/>
              </a:rPr>
              <a:t>, and </a:t>
            </a:r>
            <a:r>
              <a:rPr lang="en-US" sz="2800" b="0" i="1" err="1">
                <a:solidFill>
                  <a:srgbClr val="171717"/>
                </a:solidFill>
                <a:effectLst/>
                <a:latin typeface="Segoe UI" panose="020B0502040204020203" pitchFamily="34" charset="0"/>
              </a:rPr>
              <a:t>AsgDb</a:t>
            </a:r>
            <a:r>
              <a:rPr lang="en-US" sz="2800" b="0" i="0">
                <a:solidFill>
                  <a:srgbClr val="171717"/>
                </a:solidFill>
                <a:effectLst/>
                <a:latin typeface="Segoe UI" panose="020B0502040204020203" pitchFamily="34" charset="0"/>
              </a:rPr>
              <a:t> contained network interfaces from </a:t>
            </a:r>
            <a:r>
              <a:rPr lang="en-US" sz="2800" b="0" i="1">
                <a:solidFill>
                  <a:srgbClr val="171717"/>
                </a:solidFill>
                <a:effectLst/>
                <a:latin typeface="Segoe UI" panose="020B0502040204020203" pitchFamily="34" charset="0"/>
              </a:rPr>
              <a:t>VNet2</a:t>
            </a:r>
            <a:r>
              <a:rPr lang="en-US" sz="2800" b="0" i="0">
                <a:solidFill>
                  <a:srgbClr val="171717"/>
                </a:solidFill>
                <a:effectLst/>
                <a:latin typeface="Segoe UI" panose="020B0502040204020203" pitchFamily="34" charset="0"/>
              </a:rPr>
              <a:t>, you could not assign </a:t>
            </a:r>
            <a:r>
              <a:rPr lang="en-US" sz="2800" b="0" i="1" err="1">
                <a:solidFill>
                  <a:srgbClr val="171717"/>
                </a:solidFill>
                <a:effectLst/>
                <a:latin typeface="Segoe UI" panose="020B0502040204020203" pitchFamily="34" charset="0"/>
              </a:rPr>
              <a:t>AsgLogic</a:t>
            </a:r>
            <a:r>
              <a:rPr lang="en-US" sz="2800" b="0" i="0">
                <a:solidFill>
                  <a:srgbClr val="171717"/>
                </a:solidFill>
                <a:effectLst/>
                <a:latin typeface="Segoe UI" panose="020B0502040204020203" pitchFamily="34" charset="0"/>
              </a:rPr>
              <a:t> as the source and </a:t>
            </a:r>
            <a:r>
              <a:rPr lang="en-US" sz="2800" b="0" i="1" err="1">
                <a:solidFill>
                  <a:srgbClr val="171717"/>
                </a:solidFill>
                <a:effectLst/>
                <a:latin typeface="Segoe UI" panose="020B0502040204020203" pitchFamily="34" charset="0"/>
              </a:rPr>
              <a:t>AsgDb</a:t>
            </a:r>
            <a:r>
              <a:rPr lang="en-US" sz="2800" b="0" i="0">
                <a:solidFill>
                  <a:srgbClr val="171717"/>
                </a:solidFill>
                <a:effectLst/>
                <a:latin typeface="Segoe UI" panose="020B0502040204020203" pitchFamily="34" charset="0"/>
              </a:rPr>
              <a:t> as the destination in a rule. All network interfaces for both the source and destination application security groups need to exist in the same virtual network.</a:t>
            </a:r>
          </a:p>
          <a:p>
            <a:pPr marL="0" marR="0">
              <a:spcBef>
                <a:spcPts val="0"/>
              </a:spcBef>
              <a:spcAft>
                <a:spcPts val="10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29</a:t>
            </a:fld>
            <a:endParaRPr lang="en-US"/>
          </a:p>
        </p:txBody>
      </p:sp>
    </p:spTree>
    <p:extLst>
      <p:ext uri="{BB962C8B-B14F-4D97-AF65-F5344CB8AC3E}">
        <p14:creationId xmlns:p14="http://schemas.microsoft.com/office/powerpoint/2010/main" val="781794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Always </a:t>
            </a:r>
            <a:r>
              <a:rPr lang="en-US" dirty="0"/>
              <a:t>consider having students walk-through the demonstrations themselves. Also, consider the overlap with the formal labs and your best use of time. </a:t>
            </a:r>
          </a:p>
        </p:txBody>
      </p:sp>
      <p:sp>
        <p:nvSpPr>
          <p:cNvPr id="4" name="Slide Number Placeholder 3"/>
          <p:cNvSpPr>
            <a:spLocks noGrp="1"/>
          </p:cNvSpPr>
          <p:nvPr>
            <p:ph type="sldNum" sz="quarter" idx="5"/>
          </p:nvPr>
        </p:nvSpPr>
        <p:spPr/>
        <p:txBody>
          <a:bodyPr/>
          <a:lstStyle/>
          <a:p>
            <a:fld id="{8507DC7E-BC41-4478-BA30-CBCC3A644F0A}" type="slidenum">
              <a:rPr lang="en-US" smtClean="0"/>
              <a:t>30</a:t>
            </a:fld>
            <a:endParaRPr lang="en-US"/>
          </a:p>
        </p:txBody>
      </p:sp>
    </p:spTree>
    <p:extLst>
      <p:ext uri="{BB962C8B-B14F-4D97-AF65-F5344CB8AC3E}">
        <p14:creationId xmlns:p14="http://schemas.microsoft.com/office/powerpoint/2010/main" val="4331929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31</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Design, implement, and manage an Azure Firewall deployment </a:t>
            </a:r>
          </a:p>
          <a:p>
            <a:endParaRPr lang="en-US"/>
          </a:p>
          <a:p>
            <a:r>
              <a:rPr lang="en-US"/>
              <a:t> design an Azure Firewall deployment </a:t>
            </a:r>
          </a:p>
          <a:p>
            <a:r>
              <a:rPr lang="en-US"/>
              <a:t> create and implement an Azure Firewall deployment </a:t>
            </a:r>
          </a:p>
          <a:p>
            <a:r>
              <a:rPr lang="en-US"/>
              <a:t> configure Azure Firewall rules </a:t>
            </a:r>
          </a:p>
          <a:p>
            <a:r>
              <a:rPr lang="en-US"/>
              <a:t> create and implement Azure Firewall Manager policies </a:t>
            </a:r>
          </a:p>
          <a:p>
            <a:r>
              <a:rPr lang="en-US"/>
              <a:t> create a secure hub by deploying Azure Firewall inside an Azure Virtual WAN hub </a:t>
            </a:r>
          </a:p>
          <a:p>
            <a:r>
              <a:rPr lang="en-US"/>
              <a:t> integrate an Azure Virtual WAN hub with a third-party NVA </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32</a:t>
            </a:fld>
            <a:endParaRPr lang="en-US"/>
          </a:p>
        </p:txBody>
      </p:sp>
    </p:spTree>
    <p:extLst>
      <p:ext uri="{BB962C8B-B14F-4D97-AF65-F5344CB8AC3E}">
        <p14:creationId xmlns:p14="http://schemas.microsoft.com/office/powerpoint/2010/main" val="35817085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Azure Firewall documentation - https://docs.microsoft.com/en-us/azure/firewall/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r>
              <a:rPr lang="en-US"/>
              <a:t>Standard and Premium SKUs</a:t>
            </a:r>
          </a:p>
          <a:p>
            <a:endParaRPr lang="en-US"/>
          </a:p>
          <a:p>
            <a:r>
              <a:rPr lang="en-US" dirty="0"/>
              <a:t>Compare NSG and Firewall </a:t>
            </a:r>
          </a:p>
        </p:txBody>
      </p:sp>
      <p:sp>
        <p:nvSpPr>
          <p:cNvPr id="4" name="Slide Number Placeholder 3"/>
          <p:cNvSpPr>
            <a:spLocks noGrp="1"/>
          </p:cNvSpPr>
          <p:nvPr>
            <p:ph type="sldNum" sz="quarter" idx="5"/>
          </p:nvPr>
        </p:nvSpPr>
        <p:spPr/>
        <p:txBody>
          <a:bodyPr/>
          <a:lstStyle/>
          <a:p>
            <a:fld id="{8507DC7E-BC41-4478-BA30-CBCC3A644F0A}" type="slidenum">
              <a:rPr lang="en-US" smtClean="0"/>
              <a:t>34</a:t>
            </a:fld>
            <a:endParaRPr lang="en-US"/>
          </a:p>
        </p:txBody>
      </p:sp>
    </p:spTree>
    <p:extLst>
      <p:ext uri="{BB962C8B-B14F-4D97-AF65-F5344CB8AC3E}">
        <p14:creationId xmlns:p14="http://schemas.microsoft.com/office/powerpoint/2010/main" val="3663545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In the Azure Firewall, you can configure NAT rules, network rules, and applications rules, and this can be done either by using </a:t>
            </a:r>
            <a:r>
              <a:rPr lang="en-US" sz="1800" i="1">
                <a:effectLst/>
                <a:latin typeface="Calibri" panose="020F0502020204030204" pitchFamily="34" charset="0"/>
                <a:ea typeface="Calibri" panose="020F0502020204030204" pitchFamily="34" charset="0"/>
                <a:cs typeface="Times New Roman" panose="02020603050405020304" pitchFamily="18" charset="0"/>
              </a:rPr>
              <a:t>classic</a:t>
            </a:r>
            <a:r>
              <a:rPr lang="en-US" sz="1800">
                <a:effectLst/>
                <a:latin typeface="Calibri" panose="020F0502020204030204" pitchFamily="34" charset="0"/>
                <a:ea typeface="Calibri" panose="020F0502020204030204" pitchFamily="34" charset="0"/>
                <a:cs typeface="Times New Roman" panose="02020603050405020304" pitchFamily="18" charset="0"/>
              </a:rPr>
              <a:t> rules or </a:t>
            </a:r>
            <a:r>
              <a:rPr lang="en-US" sz="1800" i="1">
                <a:effectLst/>
                <a:latin typeface="Calibri" panose="020F0502020204030204" pitchFamily="34" charset="0"/>
                <a:ea typeface="Calibri" panose="020F0502020204030204" pitchFamily="34" charset="0"/>
                <a:cs typeface="Times New Roman" panose="02020603050405020304" pitchFamily="18" charset="0"/>
              </a:rPr>
              <a:t>Firewall Policy</a:t>
            </a:r>
            <a:r>
              <a:rPr lang="en-US" sz="1800">
                <a:effectLst/>
                <a:latin typeface="Calibri" panose="020F0502020204030204" pitchFamily="34" charset="0"/>
                <a:ea typeface="Calibri" panose="020F0502020204030204" pitchFamily="34" charset="0"/>
                <a:cs typeface="Times New Roman" panose="02020603050405020304" pitchFamily="18" charset="0"/>
              </a:rPr>
              <a:t>. An Azure Firewall denies all traffic by default, until rules are manually configured to allow traffic.</a:t>
            </a:r>
          </a:p>
          <a:p>
            <a:endParaRPr lang="en-US"/>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With Firewall Policy, rules are organized inside Rule Collections which are contained in Rule Collection Groups. Rule Collections can be of the following types: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DNAT (Destination Network Address Translation)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Network</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Application</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You can define multiple Rule Collection types within a single Rule Collection Group, and you can define zero or more Rules in a Rule Collection, but the rules within a Rule Collection must be of the same type (i.e., DNAT, Network, or Application).</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35</a:t>
            </a:fld>
            <a:endParaRPr lang="en-US"/>
          </a:p>
        </p:txBody>
      </p:sp>
    </p:spTree>
    <p:extLst>
      <p:ext uri="{BB962C8B-B14F-4D97-AF65-F5344CB8AC3E}">
        <p14:creationId xmlns:p14="http://schemas.microsoft.com/office/powerpoint/2010/main" val="38043516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Firewall Subnet must exist already ( you can't on the fly create the </a:t>
            </a:r>
            <a:r>
              <a:rPr lang="en-US" dirty="0" err="1"/>
              <a:t>AzureFirewallSubnet</a:t>
            </a:r>
            <a:r>
              <a:rPr lang="en-US" dirty="0"/>
              <a:t> ) </a:t>
            </a:r>
          </a:p>
          <a:p>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Hub-spoke network topology in Azure - https://docs.microsoft.com/en-us/azure/architecture/reference-architectures/hybrid-networking/hub-spoke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key stages of deploying and configuring Azure Firewall are as follows:</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Create a resource group</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Create a virtual network and subnets</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Create a workload VM in a subnet</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Deploy the firewall and policy to the virtual network</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Create a default outbound route</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Configure an application rule</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Configure a network rule</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Configure a Destination NAT (DNAT) rule</a:t>
            </a:r>
          </a:p>
          <a:p>
            <a:pPr marL="342900" marR="0" lvl="0" indent="-342900">
              <a:spcBef>
                <a:spcPts val="0"/>
              </a:spcBef>
              <a:spcAft>
                <a:spcPts val="1000"/>
              </a:spcAft>
              <a:buFont typeface="Courier New" panose="02070309020205020404" pitchFamily="49" charset="0"/>
              <a:buChar char="o"/>
              <a:tabLst>
                <a:tab pos="228600" algn="l"/>
                <a:tab pos="457200" algn="l"/>
              </a:tabLst>
            </a:pPr>
            <a:r>
              <a:rPr lang="en-US" sz="1200" dirty="0">
                <a:effectLst/>
                <a:latin typeface="Calibri" panose="020F0502020204030204" pitchFamily="34" charset="0"/>
                <a:ea typeface="Calibri" panose="020F0502020204030204" pitchFamily="34" charset="0"/>
                <a:cs typeface="Times New Roman" panose="02020603050405020304" pitchFamily="18" charset="0"/>
              </a:rPr>
              <a:t>Test the firewall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a:spcBef>
                <a:spcPts val="0"/>
              </a:spcBef>
              <a:spcAft>
                <a:spcPts val="10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One of the major features of Azure Firewall is Availability Zones.</a:t>
            </a: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deploying Azure Firewall, you can configure it to span multiple Availability Zones for increased availability. When you configure Azure Firewall in this way your availability increases to 99.99% uptime. The 99.99% uptime SLA is offered when two or more Availability Zones are selected.</a:t>
            </a: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You can also associate Azure Firewall to a specific zone just for proximity reasons, using the service standard 99.95% SLA.</a:t>
            </a: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For more information, see the </a:t>
            </a:r>
            <a:r>
              <a:rPr lang="en-US" sz="12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Azure Firewall Service Level Agreement (SLA)</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There's no additional cost for a firewall deployed in an Availability Zone. However, there are added costs for inbound and outbound data transfers associated with Availability Zones. </a:t>
            </a:r>
          </a:p>
          <a:p>
            <a:pPr marL="0" marR="0">
              <a:spcBef>
                <a:spcPts val="0"/>
              </a:spcBef>
              <a:spcAft>
                <a:spcPts val="10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For more information, see </a:t>
            </a:r>
            <a:r>
              <a:rPr lang="en-US" sz="12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4"/>
              </a:rPr>
              <a:t>Bandwidth pricing details</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1000"/>
              </a:spcAft>
            </a:pPr>
            <a:r>
              <a:rPr lang="en-US" sz="1200" dirty="0">
                <a:solidFill>
                  <a:srgbClr val="00B050"/>
                </a:solidFill>
                <a:effectLst/>
                <a:latin typeface="Segoe UI Semibold" panose="020B0702040204020203" pitchFamily="34" charset="0"/>
                <a:ea typeface="Calibri" panose="020F0502020204030204" pitchFamily="34" charset="0"/>
                <a:cs typeface="Times New Roman" panose="02020603050405020304" pitchFamily="18" charset="0"/>
              </a:rPr>
              <a:t>Azure Firewall Availability Zones are only available in regions that support Availability Zones.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200" dirty="0">
                <a:solidFill>
                  <a:srgbClr val="FF0000"/>
                </a:solidFill>
                <a:effectLst/>
                <a:latin typeface="Segoe UI Semibold" panose="020B0702040204020203" pitchFamily="34" charset="0"/>
                <a:ea typeface="Calibri" panose="020F0502020204030204" pitchFamily="34" charset="0"/>
                <a:cs typeface="Times New Roman" panose="02020603050405020304" pitchFamily="18" charset="0"/>
              </a:rPr>
              <a:t>Availability Zones can only be configured during firewall deployment. You cannot configure an existing firewall to include Availability Zones.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36</a:t>
            </a:fld>
            <a:endParaRPr lang="en-US"/>
          </a:p>
        </p:txBody>
      </p:sp>
    </p:spTree>
    <p:extLst>
      <p:ext uri="{BB962C8B-B14F-4D97-AF65-F5344CB8AC3E}">
        <p14:creationId xmlns:p14="http://schemas.microsoft.com/office/powerpoint/2010/main" val="226367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Hub-spoke network topology in Azure - https://docs.microsoft.com/en-us/azure/architecture/reference-architectures/hybrid-networking/hub-spoke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High level overview of Azure bastion: </a:t>
            </a:r>
            <a:r>
              <a:rPr lang="en-US" b="0" i="0" dirty="0">
                <a:solidFill>
                  <a:srgbClr val="171717"/>
                </a:solidFill>
                <a:effectLst/>
                <a:latin typeface="Segoe UI" panose="020B0502040204020203" pitchFamily="34" charset="0"/>
              </a:rPr>
              <a:t>Azure Bastion is a service you deploy that lets you connect to a virtual machine using your browser and the Azure portal. The Azure Bastion service is a fully platform-managed PaaS service that you provision inside your virtual network. It provides secure and seamless RDP/SSH connectivity to your virtual machines directly from the Azure portal over TLS. When you connect via Azure Bastion, your virtual machines do not need a public IP address, agent, or special client software.</a:t>
            </a: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key stages of deploying and configuring Azure Firewall are as follows:</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a resource group</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a virtual network and subnets</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a workload VM in a subnet</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Deploy the firewall and policy to the virtual network</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a default outbound route</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Configure an application rule</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Configure a network rule</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Configure a Destination NAT (DNAT) rule</a:t>
            </a:r>
          </a:p>
          <a:p>
            <a:pPr marL="342900" marR="0" lvl="0" indent="-342900">
              <a:spcBef>
                <a:spcPts val="0"/>
              </a:spcBef>
              <a:spcAft>
                <a:spcPts val="100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Test the firewall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One of the major features of Azure Firewall is Availability Zones.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deploying Azure Firewall, you can configure it to span multiple Availability Zones for increased availability. When you configure Azure Firewall in this way your availability increases to 99.99% uptime. The 99.99% uptime SLA is offered when two or more Availability Zones are selected.</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also associate Azure Firewall to a specific zone just for proximity reasons, using the service standard 99.95% SLA.</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more information, see the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Azure Firewall Service Level Agreement (SLA)</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There's no additional cost for a firewall deployed in an Availability Zone. However, there are added costs for inbound and outbound data transfers associated with Availability Zones.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more information, see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4"/>
              </a:rPr>
              <a:t>Bandwidth pricing details</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1000"/>
              </a:spcAft>
            </a:pPr>
            <a:r>
              <a:rPr lang="en-US" sz="1800" dirty="0">
                <a:solidFill>
                  <a:srgbClr val="00B050"/>
                </a:solidFill>
                <a:effectLst/>
                <a:latin typeface="Segoe UI Semibold" panose="020B0702040204020203" pitchFamily="34" charset="0"/>
                <a:ea typeface="Calibri" panose="020F0502020204030204" pitchFamily="34" charset="0"/>
                <a:cs typeface="Times New Roman" panose="02020603050405020304" pitchFamily="18" charset="0"/>
              </a:rPr>
              <a:t>Azure Firewall Availability Zones are only available in regions that support Availability Zones.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solidFill>
                  <a:srgbClr val="FF0000"/>
                </a:solidFill>
                <a:effectLst/>
                <a:latin typeface="Segoe UI Semibold" panose="020B0702040204020203" pitchFamily="34" charset="0"/>
                <a:ea typeface="Calibri" panose="020F0502020204030204" pitchFamily="34" charset="0"/>
                <a:cs typeface="Times New Roman" panose="02020603050405020304" pitchFamily="18" charset="0"/>
              </a:rPr>
              <a:t>Availability Zones can only be configured during firewall deployment. You cannot configure an existing firewall to include Availability Zones.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37</a:t>
            </a:fld>
            <a:endParaRPr lang="en-US"/>
          </a:p>
        </p:txBody>
      </p:sp>
    </p:spTree>
    <p:extLst>
      <p:ext uri="{BB962C8B-B14F-4D97-AF65-F5344CB8AC3E}">
        <p14:creationId xmlns:p14="http://schemas.microsoft.com/office/powerpoint/2010/main" val="2763073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Azure Firewall FAQ | Microsoft Docs</a:t>
            </a:r>
            <a:endParaRPr lang="en-US" dirty="0"/>
          </a:p>
          <a:p>
            <a:endParaRPr lang="en-US" dirty="0"/>
          </a:p>
          <a:p>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The Azure Firewall service complements network security group functionality. Together, they provide better "defense-in-depth" network security. Network security groups provide distributed network layer traffic filtering to limit traffic to resources within virtual networks in each subscription. Azure Firewall is a fully stateful, centralized network firewall as-a-service, which provides network- and application-level protection across different subscriptions and virtual networks.</a:t>
            </a:r>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38</a:t>
            </a:fld>
            <a:endParaRPr lang="en-US"/>
          </a:p>
        </p:txBody>
      </p:sp>
    </p:spTree>
    <p:extLst>
      <p:ext uri="{BB962C8B-B14F-4D97-AF65-F5344CB8AC3E}">
        <p14:creationId xmlns:p14="http://schemas.microsoft.com/office/powerpoint/2010/main" val="767273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39</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40</a:t>
            </a:fld>
            <a:endParaRPr lang="en-US"/>
          </a:p>
        </p:txBody>
      </p:sp>
    </p:spTree>
    <p:extLst>
      <p:ext uri="{BB962C8B-B14F-4D97-AF65-F5344CB8AC3E}">
        <p14:creationId xmlns:p14="http://schemas.microsoft.com/office/powerpoint/2010/main" val="12802353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41</a:t>
            </a:fld>
            <a:endParaRPr lang="en-US"/>
          </a:p>
        </p:txBody>
      </p:sp>
    </p:spTree>
    <p:extLst>
      <p:ext uri="{BB962C8B-B14F-4D97-AF65-F5344CB8AC3E}">
        <p14:creationId xmlns:p14="http://schemas.microsoft.com/office/powerpoint/2010/main" val="20885389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hlinkClick r:id="rId3"/>
              </a:rPr>
              <a:t>Quickstart</a:t>
            </a:r>
            <a:r>
              <a:rPr lang="en-US" dirty="0">
                <a:hlinkClick r:id="rId3"/>
              </a:rPr>
              <a:t>: Create an Azure Firewall and IP Groups - Resource Manager template | Microsoft Docs</a:t>
            </a:r>
            <a:endParaRPr lang="en-US" dirty="0"/>
          </a:p>
          <a:p>
            <a:endParaRPr lang="en-US" dirty="0"/>
          </a:p>
          <a:p>
            <a:r>
              <a:rPr lang="en-US" dirty="0"/>
              <a:t>https://docs.microsoft.com/azure/firewall/quick-create-ipgroup-template</a:t>
            </a:r>
          </a:p>
        </p:txBody>
      </p:sp>
      <p:sp>
        <p:nvSpPr>
          <p:cNvPr id="4" name="Slide Number Placeholder 3"/>
          <p:cNvSpPr>
            <a:spLocks noGrp="1"/>
          </p:cNvSpPr>
          <p:nvPr>
            <p:ph type="sldNum" sz="quarter" idx="5"/>
          </p:nvPr>
        </p:nvSpPr>
        <p:spPr/>
        <p:txBody>
          <a:bodyPr/>
          <a:lstStyle/>
          <a:p>
            <a:fld id="{8507DC7E-BC41-4478-BA30-CBCC3A644F0A}" type="slidenum">
              <a:rPr lang="en-US" smtClean="0"/>
              <a:t>42</a:t>
            </a:fld>
            <a:endParaRPr lang="en-US"/>
          </a:p>
        </p:txBody>
      </p:sp>
    </p:spTree>
    <p:extLst>
      <p:ext uri="{BB962C8B-B14F-4D97-AF65-F5344CB8AC3E}">
        <p14:creationId xmlns:p14="http://schemas.microsoft.com/office/powerpoint/2010/main" val="13743819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081909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Azure Firewall Manager is a security management service that provides central security policy and route management for cloud-based security perimeters.</a:t>
            </a:r>
          </a:p>
          <a:p>
            <a:pPr algn="l"/>
            <a:r>
              <a:rPr lang="en-US" b="0" i="0">
                <a:solidFill>
                  <a:srgbClr val="171717"/>
                </a:solidFill>
                <a:effectLst/>
                <a:latin typeface="Segoe UI" panose="020B0502040204020203" pitchFamily="34" charset="0"/>
              </a:rPr>
              <a:t>Firewall Manager can provide security management for two network architecture types:</a:t>
            </a:r>
          </a:p>
          <a:p>
            <a:pPr algn="l">
              <a:buFont typeface="Arial" panose="020B0604020202020204" pitchFamily="34" charset="0"/>
              <a:buChar char="•"/>
            </a:pPr>
            <a:r>
              <a:rPr lang="en-US" b="1" i="0">
                <a:solidFill>
                  <a:srgbClr val="171717"/>
                </a:solidFill>
                <a:effectLst/>
                <a:latin typeface="Segoe UI" panose="020B0502040204020203" pitchFamily="34" charset="0"/>
              </a:rPr>
              <a:t>Secured virtual hub</a:t>
            </a: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a:solidFill>
                  <a:srgbClr val="171717"/>
                </a:solidFill>
                <a:effectLst/>
                <a:latin typeface="Segoe UI" panose="020B0502040204020203" pitchFamily="34" charset="0"/>
              </a:rPr>
              <a:t>An </a:t>
            </a:r>
            <a:r>
              <a:rPr lang="en-US" b="0" i="0" u="none" strike="noStrike">
                <a:solidFill>
                  <a:srgbClr val="171717"/>
                </a:solidFill>
                <a:effectLst/>
                <a:latin typeface="Segoe UI" panose="020B0502040204020203" pitchFamily="34" charset="0"/>
                <a:hlinkClick r:id="rId3"/>
              </a:rPr>
              <a:t>Azure Virtual WAN Hub</a:t>
            </a:r>
            <a:r>
              <a:rPr lang="en-US" b="0" i="0">
                <a:solidFill>
                  <a:srgbClr val="171717"/>
                </a:solidFill>
                <a:effectLst/>
                <a:latin typeface="Segoe UI" panose="020B0502040204020203" pitchFamily="34" charset="0"/>
              </a:rPr>
              <a:t> is a Microsoft-managed resource that lets you easily create hub and spoke architectures. When security and routing policies are associated with such a hub, it is referred to as a </a:t>
            </a:r>
            <a:r>
              <a:rPr lang="en-US" b="0" i="1" u="none" strike="noStrike">
                <a:solidFill>
                  <a:srgbClr val="171717"/>
                </a:solidFill>
                <a:effectLst/>
                <a:latin typeface="Segoe UI" panose="020B0502040204020203" pitchFamily="34" charset="0"/>
                <a:hlinkClick r:id="rId4"/>
              </a:rPr>
              <a:t>secured virtual hub</a:t>
            </a:r>
            <a:r>
              <a:rPr lang="en-US" b="0" i="0">
                <a:solidFill>
                  <a:srgbClr val="171717"/>
                </a:solidFill>
                <a:effectLst/>
                <a:latin typeface="Segoe UI" panose="020B0502040204020203" pitchFamily="34" charset="0"/>
              </a:rPr>
              <a:t>.</a:t>
            </a:r>
          </a:p>
          <a:p>
            <a:pPr algn="l">
              <a:buFont typeface="Arial" panose="020B0604020202020204" pitchFamily="34" charset="0"/>
              <a:buChar char="•"/>
            </a:pPr>
            <a:r>
              <a:rPr lang="en-US" b="1" i="0">
                <a:solidFill>
                  <a:srgbClr val="171717"/>
                </a:solidFill>
                <a:effectLst/>
                <a:latin typeface="Segoe UI" panose="020B0502040204020203" pitchFamily="34" charset="0"/>
              </a:rPr>
              <a:t>Hub virtual network</a:t>
            </a: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a:solidFill>
                  <a:srgbClr val="171717"/>
                </a:solidFill>
                <a:effectLst/>
                <a:latin typeface="Segoe UI" panose="020B0502040204020203" pitchFamily="34" charset="0"/>
              </a:rPr>
              <a:t>This is a standard Azure virtual network that you create and manage yourself. When security policies are associated with such a hub, it is referred to as a </a:t>
            </a:r>
            <a:r>
              <a:rPr lang="en-US" b="0" i="1">
                <a:solidFill>
                  <a:srgbClr val="171717"/>
                </a:solidFill>
                <a:effectLst/>
                <a:latin typeface="Segoe UI" panose="020B0502040204020203" pitchFamily="34" charset="0"/>
              </a:rPr>
              <a:t>hub virtual network</a:t>
            </a:r>
            <a:r>
              <a:rPr lang="en-US" b="0" i="0">
                <a:solidFill>
                  <a:srgbClr val="171717"/>
                </a:solidFill>
                <a:effectLst/>
                <a:latin typeface="Segoe UI" panose="020B0502040204020203" pitchFamily="34" charset="0"/>
              </a:rPr>
              <a:t>. At this time, only Azure Firewall Policy is supported. You can peer spoke virtual networks that contain your workload servers and services. You can also manage firewalls in standalone virtual networks that aren't peered to any spoke.</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45</a:t>
            </a:fld>
            <a:endParaRPr lang="en-US"/>
          </a:p>
        </p:txBody>
      </p:sp>
    </p:spTree>
    <p:extLst>
      <p:ext uri="{BB962C8B-B14F-4D97-AF65-F5344CB8AC3E}">
        <p14:creationId xmlns:p14="http://schemas.microsoft.com/office/powerpoint/2010/main" val="25445155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 policy can be created and managed in multiple ways, including the Azure portal, REST API, templates, Azure PowerShell, and CLI.</a:t>
            </a:r>
          </a:p>
          <a:p>
            <a:pPr algn="l"/>
            <a:r>
              <a:rPr lang="en-US" b="0" i="0">
                <a:solidFill>
                  <a:srgbClr val="171717"/>
                </a:solidFill>
                <a:effectLst/>
                <a:latin typeface="Segoe UI" panose="020B0502040204020203" pitchFamily="34" charset="0"/>
              </a:rPr>
              <a:t>You can also migrate existing rules from Azure Firewall using the portal or Azure PowerShell to create policies. For more information, see </a:t>
            </a:r>
            <a:r>
              <a:rPr lang="en-US" b="0" i="0" u="none" strike="noStrike">
                <a:solidFill>
                  <a:srgbClr val="171717"/>
                </a:solidFill>
                <a:effectLst/>
                <a:latin typeface="Segoe UI" panose="020B0502040204020203" pitchFamily="34" charset="0"/>
                <a:hlinkClick r:id="rId3"/>
              </a:rPr>
              <a:t>How to migrate Azure Firewall configurations to Azure Firewall policy</a:t>
            </a:r>
            <a:r>
              <a:rPr lang="en-US" b="0" i="0">
                <a:solidFill>
                  <a:srgbClr val="171717"/>
                </a:solidFill>
                <a:effectLst/>
                <a:latin typeface="Segoe UI" panose="020B0502040204020203" pitchFamily="34" charset="0"/>
              </a:rPr>
              <a:t>.</a:t>
            </a:r>
          </a:p>
          <a:p>
            <a:pPr algn="l"/>
            <a:r>
              <a:rPr lang="en-US" b="0" i="0">
                <a:solidFill>
                  <a:srgbClr val="171717"/>
                </a:solidFill>
                <a:effectLst/>
                <a:latin typeface="Segoe UI" panose="020B0502040204020203" pitchFamily="34" charset="0"/>
              </a:rPr>
              <a:t>Policies can be associated with one or more virtual hubs or VNets. The firewall can be in any subscription associated with your account and in any region.</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46</a:t>
            </a:fld>
            <a:endParaRPr lang="en-US"/>
          </a:p>
        </p:txBody>
      </p:sp>
    </p:spTree>
    <p:extLst>
      <p:ext uri="{BB962C8B-B14F-4D97-AF65-F5344CB8AC3E}">
        <p14:creationId xmlns:p14="http://schemas.microsoft.com/office/powerpoint/2010/main" val="23599663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a:solidFill>
                  <a:srgbClr val="171717"/>
                </a:solidFill>
                <a:effectLst/>
                <a:latin typeface="Segoe UI" panose="020B0502040204020203" pitchFamily="34" charset="0"/>
              </a:rPr>
              <a:t>Hub virtual network: </a:t>
            </a:r>
            <a:r>
              <a:rPr lang="en-US">
                <a:hlinkClick r:id="rId3"/>
              </a:rPr>
              <a:t>What are the Azure Firewall Manager architecture options? | Microsoft Docs</a:t>
            </a:r>
            <a:endParaRPr lang="en-US"/>
          </a:p>
          <a:p>
            <a:pPr algn="l">
              <a:buFont typeface="Arial" panose="020B0604020202020204" pitchFamily="34" charset="0"/>
              <a:buChar char="•"/>
            </a:pP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a:solidFill>
                  <a:srgbClr val="171717"/>
                </a:solidFill>
                <a:effectLst/>
                <a:latin typeface="Segoe UI" panose="020B0502040204020203" pitchFamily="34" charset="0"/>
              </a:rPr>
              <a:t>This is a standard Azure virtual network that you create and manage yourself. When security policies are associated with such a hub, it is referred to as a </a:t>
            </a:r>
            <a:r>
              <a:rPr lang="en-US" b="0" i="1">
                <a:solidFill>
                  <a:srgbClr val="171717"/>
                </a:solidFill>
                <a:effectLst/>
                <a:latin typeface="Segoe UI" panose="020B0502040204020203" pitchFamily="34" charset="0"/>
              </a:rPr>
              <a:t>hub virtual network</a:t>
            </a:r>
            <a:r>
              <a:rPr lang="en-US" b="0" i="0">
                <a:solidFill>
                  <a:srgbClr val="171717"/>
                </a:solidFill>
                <a:effectLst/>
                <a:latin typeface="Segoe UI" panose="020B0502040204020203" pitchFamily="34" charset="0"/>
              </a:rPr>
              <a:t>. At this time, only Azure Firewall Policy is supported. You can peer spoke virtual networks that contain your workload servers and services. You can also manage firewalls in standalone virtual networks that aren't peered to any spoke.</a:t>
            </a:r>
          </a:p>
          <a:p>
            <a:endParaRPr lang="en-US"/>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47</a:t>
            </a:fld>
            <a:endParaRPr lang="en-US"/>
          </a:p>
        </p:txBody>
      </p:sp>
    </p:spTree>
    <p:extLst>
      <p:ext uri="{BB962C8B-B14F-4D97-AF65-F5344CB8AC3E}">
        <p14:creationId xmlns:p14="http://schemas.microsoft.com/office/powerpoint/2010/main" val="42612109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a:solidFill>
                  <a:srgbClr val="171717"/>
                </a:solidFill>
                <a:effectLst/>
                <a:latin typeface="Segoe UI" panose="020B0502040204020203" pitchFamily="34" charset="0"/>
              </a:rPr>
              <a:t>Hub virtual network: </a:t>
            </a:r>
            <a:r>
              <a:rPr lang="en-US">
                <a:hlinkClick r:id="rId3"/>
              </a:rPr>
              <a:t>What are the Azure Firewall Manager architecture options? | Microsoft Docs</a:t>
            </a:r>
            <a:endParaRPr lang="en-US"/>
          </a:p>
          <a:p>
            <a:pPr algn="l">
              <a:buFont typeface="Arial" panose="020B0604020202020204" pitchFamily="34" charset="0"/>
              <a:buChar char="•"/>
            </a:pPr>
            <a:endParaRPr lang="en-US" b="0" i="0">
              <a:solidFill>
                <a:srgbClr val="171717"/>
              </a:solidFill>
              <a:effectLst/>
              <a:latin typeface="Segoe UI" panose="020B0502040204020203" pitchFamily="34" charset="0"/>
            </a:endParaRPr>
          </a:p>
          <a:p>
            <a:pPr algn="l">
              <a:buFont typeface="Arial" panose="020B0604020202020204" pitchFamily="34" charset="0"/>
              <a:buChar char="•"/>
            </a:pPr>
            <a:r>
              <a:rPr lang="en-US" b="0" i="0">
                <a:solidFill>
                  <a:srgbClr val="171717"/>
                </a:solidFill>
                <a:effectLst/>
                <a:latin typeface="Segoe UI" panose="020B0502040204020203" pitchFamily="34" charset="0"/>
              </a:rPr>
              <a:t>This is a standard Azure virtual network that you create and manage yourself. When security policies are associated with such a hub, it is referred to as a </a:t>
            </a:r>
            <a:r>
              <a:rPr lang="en-US" b="0" i="1">
                <a:solidFill>
                  <a:srgbClr val="171717"/>
                </a:solidFill>
                <a:effectLst/>
                <a:latin typeface="Segoe UI" panose="020B0502040204020203" pitchFamily="34" charset="0"/>
              </a:rPr>
              <a:t>hub virtual network</a:t>
            </a:r>
            <a:r>
              <a:rPr lang="en-US" b="0" i="0">
                <a:solidFill>
                  <a:srgbClr val="171717"/>
                </a:solidFill>
                <a:effectLst/>
                <a:latin typeface="Segoe UI" panose="020B0502040204020203" pitchFamily="34" charset="0"/>
              </a:rPr>
              <a:t>. At this time, only Azure Firewall Policy is supported. You can peer spoke virtual networks that contain your workload servers and services. You can also manage firewalls in standalone virtual networks that aren't peered to any spoke.</a:t>
            </a:r>
          </a:p>
          <a:p>
            <a:r>
              <a:rPr lang="en-US"/>
              <a:t>Design, implement, and manage an Azure Firewall deployment </a:t>
            </a:r>
          </a:p>
          <a:p>
            <a:endParaRPr lang="en-US"/>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48</a:t>
            </a:fld>
            <a:endParaRPr lang="en-US"/>
          </a:p>
        </p:txBody>
      </p:sp>
    </p:spTree>
    <p:extLst>
      <p:ext uri="{BB962C8B-B14F-4D97-AF65-F5344CB8AC3E}">
        <p14:creationId xmlns:p14="http://schemas.microsoft.com/office/powerpoint/2010/main" val="42612109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a:solidFill>
                  <a:srgbClr val="171717"/>
                </a:solidFill>
                <a:effectLst/>
                <a:latin typeface="Segoe UI" panose="020B0502040204020203" pitchFamily="34" charset="0"/>
              </a:rPr>
              <a:t>There's more than one way to deploy Azure Firewall Manager, but the following general process is recommended.</a:t>
            </a:r>
            <a:br>
              <a:rPr lang="en-US"/>
            </a:br>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49</a:t>
            </a:fld>
            <a:endParaRPr lang="en-US"/>
          </a:p>
        </p:txBody>
      </p:sp>
    </p:spTree>
    <p:extLst>
      <p:ext uri="{BB962C8B-B14F-4D97-AF65-F5344CB8AC3E}">
        <p14:creationId xmlns:p14="http://schemas.microsoft.com/office/powerpoint/2010/main" val="5220110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previous exercise ( hub and spoke ) you can demo azure firewall manager </a:t>
            </a:r>
          </a:p>
          <a:p>
            <a:endParaRPr lang="en-US" dirty="0"/>
          </a:p>
          <a:p>
            <a:endParaRPr lang="en-US" dirty="0"/>
          </a:p>
          <a:p>
            <a:r>
              <a:rPr lang="en-US" dirty="0">
                <a:hlinkClick r:id="rId3"/>
              </a:rPr>
              <a:t>Tutorial: Secure your hub virtual network using Azure Firewall Manager | Microsoft Docs</a:t>
            </a:r>
            <a:endParaRPr lang="en-US" dirty="0"/>
          </a:p>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3:01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126150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a:p>
            <a:r>
              <a:rPr lang="en-US"/>
              <a:t>Plan and manage your Azure costs - https://docs.microsoft.com/en-us/learn/modules/plan-manage-azure-costs/</a:t>
            </a:r>
          </a:p>
          <a:p>
            <a:r>
              <a:rPr lang="en-US"/>
              <a:t>Analyze costs and create budgets with Azure Cost Management - https://docs.microsoft.com/en-us/learn/modules/analyze-costs-create-budgets-azure-cost-management/</a:t>
            </a:r>
          </a:p>
          <a:p>
            <a:endParaRPr lang="en-US"/>
          </a:p>
          <a:p>
            <a:r>
              <a:rPr lang="en-US"/>
              <a:t>References</a:t>
            </a:r>
          </a:p>
        </p:txBody>
      </p:sp>
      <p:sp>
        <p:nvSpPr>
          <p:cNvPr id="4" name="Slide Number Placeholder 3"/>
          <p:cNvSpPr>
            <a:spLocks noGrp="1"/>
          </p:cNvSpPr>
          <p:nvPr>
            <p:ph type="sldNum" sz="quarter" idx="5"/>
          </p:nvPr>
        </p:nvSpPr>
        <p:spPr/>
        <p:txBody>
          <a:bodyPr/>
          <a:lstStyle/>
          <a:p>
            <a:fld id="{8507DC7E-BC41-4478-BA30-CBCC3A644F0A}" type="slidenum">
              <a:rPr lang="en-US" smtClean="0"/>
              <a:t>51</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24292E"/>
                </a:solidFill>
                <a:effectLst/>
                <a:latin typeface="-apple-system"/>
              </a:rPr>
              <a:t>Task 1: Create two spoke virtual networks and subnets</a:t>
            </a:r>
          </a:p>
          <a:p>
            <a:pPr algn="l">
              <a:buFont typeface="Arial" panose="020B0604020202020204" pitchFamily="34" charset="0"/>
              <a:buChar char="•"/>
            </a:pPr>
            <a:r>
              <a:rPr lang="en-US" b="0" i="0" dirty="0">
                <a:solidFill>
                  <a:srgbClr val="24292E"/>
                </a:solidFill>
                <a:effectLst/>
                <a:latin typeface="-apple-system"/>
              </a:rPr>
              <a:t>Task 2: Create the secured virtual hub</a:t>
            </a:r>
          </a:p>
          <a:p>
            <a:pPr algn="l">
              <a:buFont typeface="Arial" panose="020B0604020202020204" pitchFamily="34" charset="0"/>
              <a:buChar char="•"/>
            </a:pPr>
            <a:r>
              <a:rPr lang="en-US" b="0" i="0" dirty="0">
                <a:solidFill>
                  <a:srgbClr val="24292E"/>
                </a:solidFill>
                <a:effectLst/>
                <a:latin typeface="-apple-system"/>
              </a:rPr>
              <a:t>Task 3: Connect the hub and spoke virtual networks</a:t>
            </a:r>
          </a:p>
          <a:p>
            <a:pPr algn="l">
              <a:buFont typeface="Arial" panose="020B0604020202020204" pitchFamily="34" charset="0"/>
              <a:buChar char="•"/>
            </a:pPr>
            <a:r>
              <a:rPr lang="en-US" b="0" i="0" dirty="0">
                <a:solidFill>
                  <a:srgbClr val="24292E"/>
                </a:solidFill>
                <a:effectLst/>
                <a:latin typeface="-apple-system"/>
              </a:rPr>
              <a:t>Task 4: Deploy the servers</a:t>
            </a:r>
          </a:p>
          <a:p>
            <a:pPr algn="l">
              <a:buFont typeface="Arial" panose="020B0604020202020204" pitchFamily="34" charset="0"/>
              <a:buChar char="•"/>
            </a:pPr>
            <a:r>
              <a:rPr lang="en-US" b="0" i="0" dirty="0">
                <a:solidFill>
                  <a:srgbClr val="24292E"/>
                </a:solidFill>
                <a:effectLst/>
                <a:latin typeface="-apple-system"/>
              </a:rPr>
              <a:t>Task 5: Create a firewall policy and secure your hub</a:t>
            </a:r>
          </a:p>
          <a:p>
            <a:pPr algn="l">
              <a:buFont typeface="Arial" panose="020B0604020202020204" pitchFamily="34" charset="0"/>
              <a:buChar char="•"/>
            </a:pPr>
            <a:r>
              <a:rPr lang="en-US" b="0" i="0" dirty="0">
                <a:solidFill>
                  <a:srgbClr val="24292E"/>
                </a:solidFill>
                <a:effectLst/>
                <a:latin typeface="-apple-system"/>
              </a:rPr>
              <a:t>Task 6: Associate the firewall policy</a:t>
            </a:r>
          </a:p>
          <a:p>
            <a:pPr algn="l">
              <a:buFont typeface="Arial" panose="020B0604020202020204" pitchFamily="34" charset="0"/>
              <a:buChar char="•"/>
            </a:pPr>
            <a:r>
              <a:rPr lang="en-US" b="0" i="0" dirty="0">
                <a:solidFill>
                  <a:srgbClr val="24292E"/>
                </a:solidFill>
                <a:effectLst/>
                <a:latin typeface="-apple-system"/>
              </a:rPr>
              <a:t>Task 7: Route traffic to your hub</a:t>
            </a:r>
          </a:p>
          <a:p>
            <a:pPr algn="l">
              <a:buFont typeface="Arial" panose="020B0604020202020204" pitchFamily="34" charset="0"/>
              <a:buChar char="•"/>
            </a:pPr>
            <a:r>
              <a:rPr lang="en-US" b="0" i="0" dirty="0">
                <a:solidFill>
                  <a:srgbClr val="24292E"/>
                </a:solidFill>
                <a:effectLst/>
                <a:latin typeface="-apple-system"/>
              </a:rPr>
              <a:t>Task 8: Test the application rule</a:t>
            </a:r>
          </a:p>
          <a:p>
            <a:pPr algn="l">
              <a:buFont typeface="Arial" panose="020B0604020202020204" pitchFamily="34" charset="0"/>
              <a:buChar char="•"/>
            </a:pPr>
            <a:r>
              <a:rPr lang="en-US" b="0" i="0" dirty="0">
                <a:solidFill>
                  <a:srgbClr val="24292E"/>
                </a:solidFill>
                <a:effectLst/>
                <a:latin typeface="-apple-system"/>
              </a:rPr>
              <a:t>Task 9: Test the network rule</a:t>
            </a:r>
          </a:p>
          <a:p>
            <a:pPr algn="l">
              <a:buFont typeface="Arial" panose="020B0604020202020204" pitchFamily="34" charset="0"/>
              <a:buChar char="•"/>
            </a:pPr>
            <a:r>
              <a:rPr lang="en-US" b="0" i="0" dirty="0">
                <a:solidFill>
                  <a:srgbClr val="24292E"/>
                </a:solidFill>
                <a:effectLst/>
                <a:latin typeface="-apple-system"/>
              </a:rPr>
              <a:t>Task 10: Clean up resources</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53</a:t>
            </a:fld>
            <a:endParaRPr lang="en-US"/>
          </a:p>
        </p:txBody>
      </p:sp>
    </p:spTree>
    <p:extLst>
      <p:ext uri="{BB962C8B-B14F-4D97-AF65-F5344CB8AC3E}">
        <p14:creationId xmlns:p14="http://schemas.microsoft.com/office/powerpoint/2010/main" val="38667568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54</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56</a:t>
            </a:fld>
            <a:endParaRPr lang="en-US"/>
          </a:p>
        </p:txBody>
      </p:sp>
    </p:spTree>
    <p:extLst>
      <p:ext uri="{BB962C8B-B14F-4D97-AF65-F5344CB8AC3E}">
        <p14:creationId xmlns:p14="http://schemas.microsoft.com/office/powerpoint/2010/main" val="32092223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Web Application Firewall (WAF) provides centralized protection of your web applications from common exploits and vulnerabilities. Web applications are increasingly targeted by malicious attacks that exploit commonly known vulnerabilities. SQL injection and cross-site scripting are among the most comm</a:t>
            </a:r>
          </a:p>
          <a:p>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Preventing such attacks in application code is challenging. It can require rigorous maintenance, patching, and monitoring at multiple layers of the application topology. A centralized web application firewall helps make security management much simpler. A WAF also gives application administrators better assurance of protection against threats and intrusions.</a:t>
            </a:r>
          </a:p>
          <a:p>
            <a:pPr algn="l"/>
            <a:r>
              <a:rPr lang="en-US" b="0" i="0" dirty="0">
                <a:solidFill>
                  <a:srgbClr val="171717"/>
                </a:solidFill>
                <a:effectLst/>
                <a:latin typeface="Segoe UI" panose="020B0502040204020203" pitchFamily="34" charset="0"/>
              </a:rPr>
              <a:t>A WAF solution can react to a security threat faster by centrally patching a known vulnerability, instead of securing each individual web application.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b="0" i="0" dirty="0">
              <a:solidFill>
                <a:srgbClr val="171717"/>
              </a:solidFill>
              <a:effectLst/>
              <a:latin typeface="Segoe UI" panose="020B0502040204020203" pitchFamily="34" charset="0"/>
            </a:endParaRPr>
          </a:p>
          <a:p>
            <a:endParaRPr lang="en-US" b="0" i="0" dirty="0">
              <a:solidFill>
                <a:srgbClr val="171717"/>
              </a:solidFill>
              <a:effectLst/>
              <a:latin typeface="Segoe UI" panose="020B0502040204020203" pitchFamily="34" charset="0"/>
            </a:endParaRPr>
          </a:p>
          <a:p>
            <a:pPr algn="l"/>
            <a:r>
              <a:rPr lang="en-US" b="1" i="0" dirty="0">
                <a:solidFill>
                  <a:srgbClr val="171717"/>
                </a:solidFill>
                <a:effectLst/>
                <a:latin typeface="Segoe UI" panose="020B0502040204020203" pitchFamily="34" charset="0"/>
              </a:rPr>
              <a:t>Supported service</a:t>
            </a:r>
          </a:p>
          <a:p>
            <a:pPr algn="l"/>
            <a:r>
              <a:rPr lang="en-US" b="0" i="0" dirty="0">
                <a:solidFill>
                  <a:srgbClr val="171717"/>
                </a:solidFill>
                <a:effectLst/>
                <a:latin typeface="Segoe UI" panose="020B0502040204020203" pitchFamily="34" charset="0"/>
              </a:rPr>
              <a:t>WAF can be deployed with Azure Application Gateway and Azure Front Door. WAF on Azure CDN is currently under public preview. WAF has features that are customized for each specific service.</a:t>
            </a:r>
          </a:p>
        </p:txBody>
      </p:sp>
      <p:sp>
        <p:nvSpPr>
          <p:cNvPr id="4" name="Slide Number Placeholder 3"/>
          <p:cNvSpPr>
            <a:spLocks noGrp="1"/>
          </p:cNvSpPr>
          <p:nvPr>
            <p:ph type="sldNum" sz="quarter" idx="5"/>
          </p:nvPr>
        </p:nvSpPr>
        <p:spPr/>
        <p:txBody>
          <a:bodyPr/>
          <a:lstStyle/>
          <a:p>
            <a:fld id="{89B9185C-5C72-45C2-88F0-D7DF9039278A}" type="slidenum">
              <a:rPr lang="en-US" smtClean="0"/>
              <a:t>57</a:t>
            </a:fld>
            <a:endParaRPr lang="en-US"/>
          </a:p>
        </p:txBody>
      </p:sp>
    </p:spTree>
    <p:extLst>
      <p:ext uri="{BB962C8B-B14F-4D97-AF65-F5344CB8AC3E}">
        <p14:creationId xmlns:p14="http://schemas.microsoft.com/office/powerpoint/2010/main" val="12402260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Tx/>
              <a:buChar char="-"/>
            </a:pPr>
            <a:r>
              <a:rPr lang="en-US" dirty="0">
                <a:solidFill>
                  <a:schemeClr val="tx1"/>
                </a:solidFill>
                <a:latin typeface="+mj-lt"/>
                <a:cs typeface="Times New Roman" panose="02020603050405020304" pitchFamily="18" charset="0"/>
              </a:rPr>
              <a:t>Protection </a:t>
            </a:r>
          </a:p>
          <a:p>
            <a:pPr marL="285750" indent="-285750" algn="l">
              <a:buFontTx/>
              <a:buChar char="-"/>
            </a:pPr>
            <a:r>
              <a:rPr lang="en-US" dirty="0">
                <a:solidFill>
                  <a:schemeClr val="tx1"/>
                </a:solidFill>
                <a:latin typeface="+mj-lt"/>
                <a:cs typeface="Times New Roman" panose="02020603050405020304" pitchFamily="18" charset="0"/>
              </a:rPr>
              <a:t>Monitoring </a:t>
            </a:r>
          </a:p>
          <a:p>
            <a:pPr marL="285750" indent="-285750" algn="l">
              <a:buFontTx/>
              <a:buChar char="-"/>
            </a:pPr>
            <a:r>
              <a:rPr lang="en-US" dirty="0">
                <a:solidFill>
                  <a:schemeClr val="tx1"/>
                </a:solidFill>
                <a:latin typeface="+mj-lt"/>
                <a:cs typeface="Times New Roman" panose="02020603050405020304" pitchFamily="18" charset="0"/>
              </a:rPr>
              <a:t>Customization </a:t>
            </a:r>
          </a:p>
          <a:p>
            <a:pPr marL="285750" indent="-285750" algn="l">
              <a:buFontTx/>
              <a:buChar char="-"/>
            </a:pPr>
            <a:endParaRPr lang="en-US" dirty="0">
              <a:solidFill>
                <a:schemeClr val="tx1"/>
              </a:solidFill>
              <a:latin typeface="+mj-lt"/>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171717"/>
                </a:solidFill>
                <a:effectLst/>
                <a:latin typeface="Segoe UI" panose="020B0502040204020203" pitchFamily="34" charset="0"/>
              </a:rPr>
              <a:t>What is Azure Web Application Firewall on Azure Application Gateway?</a:t>
            </a:r>
          </a:p>
          <a:p>
            <a:pPr marL="0" indent="0" algn="l">
              <a:buFontTx/>
              <a:buNone/>
            </a:pPr>
            <a:endParaRPr lang="en-US" dirty="0">
              <a:solidFill>
                <a:schemeClr val="tx1"/>
              </a:solidFill>
              <a:latin typeface="+mj-lt"/>
              <a:cs typeface="Times New Roman" panose="02020603050405020304" pitchFamily="18" charset="0"/>
            </a:endParaRPr>
          </a:p>
          <a:p>
            <a:r>
              <a:rPr lang="en-US" dirty="0"/>
              <a:t>https://docs.microsoft.com/azure/web-application-firewall/ag/ag-overview#benefits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171717"/>
                </a:solidFill>
                <a:effectLst/>
                <a:latin typeface="Segoe UI" panose="020B0502040204020203" pitchFamily="34" charset="0"/>
              </a:rPr>
              <a:t>Azure Web Application Firewall on Azure Front Door:</a:t>
            </a:r>
          </a:p>
          <a:p>
            <a:endParaRPr lang="en-US" dirty="0"/>
          </a:p>
          <a:p>
            <a:r>
              <a:rPr lang="en-US" dirty="0"/>
              <a:t>https://docs.microsoft.com/azure/web-application-firewall/afds/afds-overview</a:t>
            </a:r>
          </a:p>
        </p:txBody>
      </p:sp>
      <p:sp>
        <p:nvSpPr>
          <p:cNvPr id="4" name="Slide Number Placeholder 3"/>
          <p:cNvSpPr>
            <a:spLocks noGrp="1"/>
          </p:cNvSpPr>
          <p:nvPr>
            <p:ph type="sldNum" sz="quarter" idx="5"/>
          </p:nvPr>
        </p:nvSpPr>
        <p:spPr/>
        <p:txBody>
          <a:bodyPr/>
          <a:lstStyle/>
          <a:p>
            <a:fld id="{89B9185C-5C72-45C2-88F0-D7DF9039278A}" type="slidenum">
              <a:rPr lang="en-US" smtClean="0"/>
              <a:t>58</a:t>
            </a:fld>
            <a:endParaRPr lang="en-US"/>
          </a:p>
        </p:txBody>
      </p:sp>
    </p:spTree>
    <p:extLst>
      <p:ext uri="{BB962C8B-B14F-4D97-AF65-F5344CB8AC3E}">
        <p14:creationId xmlns:p14="http://schemas.microsoft.com/office/powerpoint/2010/main" val="19652774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When you create a Web Application Firewall (WAF) policy, by default the WAF policy is in </a:t>
            </a:r>
            <a:r>
              <a:rPr lang="en-US" sz="1800" i="1">
                <a:effectLst/>
                <a:latin typeface="Calibri" panose="020F0502020204030204" pitchFamily="34" charset="0"/>
                <a:ea typeface="Calibri" panose="020F0502020204030204" pitchFamily="34" charset="0"/>
                <a:cs typeface="Times New Roman" panose="02020603050405020304" pitchFamily="18" charset="0"/>
              </a:rPr>
              <a:t>Detection</a:t>
            </a:r>
            <a:r>
              <a:rPr lang="en-US" sz="1800">
                <a:effectLst/>
                <a:latin typeface="Calibri" panose="020F0502020204030204" pitchFamily="34" charset="0"/>
                <a:ea typeface="Calibri" panose="020F0502020204030204" pitchFamily="34" charset="0"/>
                <a:cs typeface="Times New Roman" panose="02020603050405020304" pitchFamily="18" charset="0"/>
              </a:rPr>
              <a:t> mode. In </a:t>
            </a:r>
            <a:r>
              <a:rPr lang="en-US" sz="1800" i="1">
                <a:effectLst/>
                <a:latin typeface="Calibri" panose="020F0502020204030204" pitchFamily="34" charset="0"/>
                <a:ea typeface="Calibri" panose="020F0502020204030204" pitchFamily="34" charset="0"/>
                <a:cs typeface="Times New Roman" panose="02020603050405020304" pitchFamily="18" charset="0"/>
              </a:rPr>
              <a:t>Detection </a:t>
            </a:r>
            <a:r>
              <a:rPr lang="en-US" sz="1800">
                <a:effectLst/>
                <a:latin typeface="Calibri" panose="020F0502020204030204" pitchFamily="34" charset="0"/>
                <a:ea typeface="Calibri" panose="020F0502020204030204" pitchFamily="34" charset="0"/>
                <a:cs typeface="Times New Roman" panose="02020603050405020304" pitchFamily="18" charset="0"/>
              </a:rPr>
              <a:t>mode, WAF does not block any requests; instead, requests matching the WAF rules are logged at WAF logs. To see WAF in action, you can change the mode settings from </a:t>
            </a:r>
            <a:r>
              <a:rPr lang="en-US" sz="1800" i="1">
                <a:effectLst/>
                <a:latin typeface="Calibri" panose="020F0502020204030204" pitchFamily="34" charset="0"/>
                <a:ea typeface="Calibri" panose="020F0502020204030204" pitchFamily="34" charset="0"/>
                <a:cs typeface="Times New Roman" panose="02020603050405020304" pitchFamily="18" charset="0"/>
              </a:rPr>
              <a:t>Detection</a:t>
            </a:r>
            <a:r>
              <a:rPr lang="en-US" sz="1800">
                <a:effectLst/>
                <a:latin typeface="Calibri" panose="020F0502020204030204" pitchFamily="34" charset="0"/>
                <a:ea typeface="Calibri" panose="020F0502020204030204" pitchFamily="34" charset="0"/>
                <a:cs typeface="Times New Roman" panose="02020603050405020304" pitchFamily="18" charset="0"/>
              </a:rPr>
              <a:t> to </a:t>
            </a:r>
            <a:r>
              <a:rPr lang="en-US" sz="1800" i="1">
                <a:effectLst/>
                <a:latin typeface="Calibri" panose="020F0502020204030204" pitchFamily="34" charset="0"/>
                <a:ea typeface="Calibri" panose="020F0502020204030204" pitchFamily="34" charset="0"/>
                <a:cs typeface="Times New Roman" panose="02020603050405020304" pitchFamily="18" charset="0"/>
              </a:rPr>
              <a:t>Prevention</a:t>
            </a:r>
            <a:r>
              <a:rPr lang="en-US" sz="1800">
                <a:effectLst/>
                <a:latin typeface="Calibri" panose="020F0502020204030204" pitchFamily="34" charset="0"/>
                <a:ea typeface="Calibri" panose="020F0502020204030204" pitchFamily="34" charset="0"/>
                <a:cs typeface="Times New Roman" panose="02020603050405020304" pitchFamily="18" charset="0"/>
              </a:rPr>
              <a:t>. In </a:t>
            </a:r>
            <a:r>
              <a:rPr lang="en-US" sz="1800" i="1">
                <a:effectLst/>
                <a:latin typeface="Calibri" panose="020F0502020204030204" pitchFamily="34" charset="0"/>
                <a:ea typeface="Calibri" panose="020F0502020204030204" pitchFamily="34" charset="0"/>
                <a:cs typeface="Times New Roman" panose="02020603050405020304" pitchFamily="18" charset="0"/>
              </a:rPr>
              <a:t>Prevention</a:t>
            </a:r>
            <a:r>
              <a:rPr lang="en-US" sz="1800">
                <a:effectLst/>
                <a:latin typeface="Calibri" panose="020F0502020204030204" pitchFamily="34" charset="0"/>
                <a:ea typeface="Calibri" panose="020F0502020204030204" pitchFamily="34" charset="0"/>
                <a:cs typeface="Times New Roman" panose="02020603050405020304" pitchFamily="18" charset="0"/>
              </a:rPr>
              <a:t> mode, requests that match rules that are defined in Default Rule Set (DRS) are blocked and logged at WAF logs.</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59</a:t>
            </a:fld>
            <a:endParaRPr lang="en-US"/>
          </a:p>
        </p:txBody>
      </p:sp>
    </p:spTree>
    <p:extLst>
      <p:ext uri="{BB962C8B-B14F-4D97-AF65-F5344CB8AC3E}">
        <p14:creationId xmlns:p14="http://schemas.microsoft.com/office/powerpoint/2010/main" val="5557344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Azure Front Door web application firewall (WAF) protects web applications from common vulnerabilities and exploits. Azure-managed rule sets provide an easy way to deploy protection against a common set of security threats. Since such rule sets are managed by Azure, the rules are updated as needed to protect against new attack signatures.</a:t>
            </a:r>
          </a:p>
          <a:p>
            <a:pPr marL="0" marR="0">
              <a:spcBef>
                <a:spcPts val="1000"/>
              </a:spcBef>
              <a:spcAft>
                <a:spcPts val="0"/>
              </a:spcAft>
            </a:pPr>
            <a:r>
              <a:rPr lang="en-US" sz="1800" b="1">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Managed rules</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Azure-managed Default Rule Set includes rules against the following threat categories: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Cross-site scripting</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Java attacks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Local file inclusion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PHP injection attacks</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Remote command execution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Remote file inclusion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Session fixation</a:t>
            </a: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SQL injection protection</a:t>
            </a:r>
          </a:p>
          <a:p>
            <a:pPr marL="342900" marR="0" lvl="0" indent="-342900">
              <a:spcBef>
                <a:spcPts val="0"/>
              </a:spcBef>
              <a:spcAft>
                <a:spcPts val="10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Protocol attackers</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60</a:t>
            </a:fld>
            <a:endParaRPr lang="en-US"/>
          </a:p>
        </p:txBody>
      </p:sp>
    </p:spTree>
    <p:extLst>
      <p:ext uri="{BB962C8B-B14F-4D97-AF65-F5344CB8AC3E}">
        <p14:creationId xmlns:p14="http://schemas.microsoft.com/office/powerpoint/2010/main" val="20622159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Azure WAF with Front Door allows you to control access to your web applications based on the conditions you define. A custom WAF rule consists of a priority number, rule type, match conditions, and an action. There are two types of custom rules: match rules and rate limit rules. A match rule controls access based on a set of matching conditions while a rate limit rule controls access based on matching conditions and the rates of incoming requests. You may disable a custom rule to prevent it from being evaluated, but still keep the configuration.</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When creating a WAF policy, you can create a custom rule by selecting </a:t>
            </a:r>
            <a:r>
              <a:rPr lang="en-US" sz="1800" b="1">
                <a:effectLst/>
                <a:latin typeface="Calibri" panose="020F0502020204030204" pitchFamily="34" charset="0"/>
                <a:ea typeface="Calibri" panose="020F0502020204030204" pitchFamily="34" charset="0"/>
                <a:cs typeface="Times New Roman" panose="02020603050405020304" pitchFamily="18" charset="0"/>
              </a:rPr>
              <a:t>Add custom rule</a:t>
            </a:r>
            <a:r>
              <a:rPr lang="en-US" sz="1800">
                <a:effectLst/>
                <a:latin typeface="Calibri" panose="020F0502020204030204" pitchFamily="34" charset="0"/>
                <a:ea typeface="Calibri" panose="020F0502020204030204" pitchFamily="34" charset="0"/>
                <a:cs typeface="Times New Roman" panose="02020603050405020304" pitchFamily="18" charset="0"/>
              </a:rPr>
              <a:t> under the </a:t>
            </a:r>
            <a:r>
              <a:rPr lang="en-US" sz="1800" b="1">
                <a:effectLst/>
                <a:latin typeface="Calibri" panose="020F0502020204030204" pitchFamily="34" charset="0"/>
                <a:ea typeface="Calibri" panose="020F0502020204030204" pitchFamily="34" charset="0"/>
                <a:cs typeface="Times New Roman" panose="02020603050405020304" pitchFamily="18" charset="0"/>
              </a:rPr>
              <a:t>Custom rules</a:t>
            </a:r>
            <a:r>
              <a:rPr lang="en-US" sz="1800">
                <a:effectLst/>
                <a:latin typeface="Calibri" panose="020F0502020204030204" pitchFamily="34" charset="0"/>
                <a:ea typeface="Calibri" panose="020F0502020204030204" pitchFamily="34" charset="0"/>
                <a:cs typeface="Times New Roman" panose="02020603050405020304" pitchFamily="18" charset="0"/>
              </a:rPr>
              <a:t> section. This launches the custom rule configuration page.</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Calibri" panose="020F0502020204030204" pitchFamily="34" charset="0"/>
                <a:ea typeface="Calibri" panose="020F0502020204030204" pitchFamily="34" charset="0"/>
                <a:cs typeface="Times New Roman" panose="02020603050405020304" pitchFamily="18" charset="0"/>
              </a:rPr>
              <a:t>The example screenshot below shows the configuration of a custom rule to block a request if the query string contains </a:t>
            </a:r>
            <a:r>
              <a:rPr lang="en-US" sz="1800" b="1" err="1">
                <a:effectLst/>
                <a:latin typeface="Calibri" panose="020F0502020204030204" pitchFamily="34" charset="0"/>
                <a:ea typeface="Calibri" panose="020F0502020204030204" pitchFamily="34" charset="0"/>
                <a:cs typeface="Times New Roman" panose="02020603050405020304" pitchFamily="18" charset="0"/>
              </a:rPr>
              <a:t>blockme</a:t>
            </a:r>
            <a:r>
              <a:rPr lang="en-US" sz="1800">
                <a:effectLst/>
                <a:latin typeface="Calibri" panose="020F0502020204030204" pitchFamily="34" charset="0"/>
                <a:ea typeface="Calibri" panose="020F0502020204030204" pitchFamily="34" charset="0"/>
                <a:cs typeface="Times New Roman" panose="02020603050405020304" pitchFamily="18" charset="0"/>
              </a:rPr>
              <a:t>.</a:t>
            </a:r>
          </a:p>
          <a:p>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61</a:t>
            </a:fld>
            <a:endParaRPr lang="en-US"/>
          </a:p>
        </p:txBody>
      </p:sp>
    </p:spTree>
    <p:extLst>
      <p:ext uri="{BB962C8B-B14F-4D97-AF65-F5344CB8AC3E}">
        <p14:creationId xmlns:p14="http://schemas.microsoft.com/office/powerpoint/2010/main" val="7771640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how to create a basic Azure Web Application Firewall (WAF) policy and apply it to a profile in Azure Front Door.</a:t>
            </a:r>
          </a:p>
          <a:p>
            <a:pPr marL="0" marR="0">
              <a:spcBef>
                <a:spcPts val="0"/>
              </a:spcBef>
              <a:spcAft>
                <a:spcPts val="1000"/>
              </a:spcAft>
            </a:pPr>
            <a:r>
              <a:rPr lang="en-US" sz="1800">
                <a:effectLst/>
                <a:latin typeface="Calibri" panose="020F0502020204030204" pitchFamily="34" charset="0"/>
                <a:ea typeface="Calibri" panose="020F0502020204030204" pitchFamily="34" charset="0"/>
                <a:cs typeface="Times New Roman" panose="02020603050405020304" pitchFamily="18" charset="0"/>
              </a:rPr>
              <a:t>The key stages to create a WAF policy on Azure Front Door using the Azure portal are:</a:t>
            </a:r>
          </a:p>
          <a:p>
            <a:pPr marL="342900" marR="0" lvl="0" indent="-342900">
              <a:spcBef>
                <a:spcPts val="0"/>
              </a:spcBef>
              <a:spcAft>
                <a:spcPts val="1000"/>
              </a:spcAft>
              <a:buFont typeface="+mj-lt"/>
              <a:buAutoNum type="arabicPeriod"/>
            </a:pPr>
            <a:r>
              <a:rPr lang="en-US" sz="1800" b="1">
                <a:effectLst/>
                <a:latin typeface="Calibri" panose="020F0502020204030204" pitchFamily="34" charset="0"/>
                <a:ea typeface="Calibri" panose="020F0502020204030204" pitchFamily="34" charset="0"/>
                <a:cs typeface="Times New Roman" panose="02020603050405020304" pitchFamily="18" charset="0"/>
              </a:rPr>
              <a:t>Create a Web Application Firewall policy</a:t>
            </a:r>
            <a:r>
              <a:rPr lang="en-US" sz="1800">
                <a:effectLst/>
                <a:latin typeface="Calibri" panose="020F0502020204030204" pitchFamily="34" charset="0"/>
                <a:ea typeface="Calibri" panose="020F0502020204030204" pitchFamily="34" charset="0"/>
                <a:cs typeface="Times New Roman" panose="02020603050405020304" pitchFamily="18" charset="0"/>
              </a:rPr>
              <a:t> - this is where you create a basic WAF policy with managed Default Rule Set (DRS).</a:t>
            </a:r>
          </a:p>
          <a:p>
            <a:pPr marL="342900" marR="0" lvl="0" indent="-342900">
              <a:spcBef>
                <a:spcPts val="0"/>
              </a:spcBef>
              <a:spcAft>
                <a:spcPts val="1000"/>
              </a:spcAft>
              <a:buFont typeface="+mj-lt"/>
              <a:buAutoNum type="arabicPeriod"/>
            </a:pPr>
            <a:r>
              <a:rPr lang="en-US" sz="1800" b="1">
                <a:effectLst/>
                <a:latin typeface="Calibri" panose="020F0502020204030204" pitchFamily="34" charset="0"/>
                <a:ea typeface="Calibri" panose="020F0502020204030204" pitchFamily="34" charset="0"/>
                <a:cs typeface="Times New Roman" panose="02020603050405020304" pitchFamily="18" charset="0"/>
              </a:rPr>
              <a:t>Associate the WAF policy with a Front Door profile</a:t>
            </a:r>
            <a:r>
              <a:rPr lang="en-US" sz="1800">
                <a:effectLst/>
                <a:latin typeface="Calibri" panose="020F0502020204030204" pitchFamily="34" charset="0"/>
                <a:ea typeface="Calibri" panose="020F0502020204030204" pitchFamily="34" charset="0"/>
                <a:cs typeface="Times New Roman" panose="02020603050405020304" pitchFamily="18" charset="0"/>
              </a:rPr>
              <a:t> - this is where you associate the WAF policy created in stage 1 with a Front Door profile. This association can be done during the creation of the WAF policy, or it can be done on a previously created WAF policy. During the association you specify the Front Door profile and the domain/s within the Front Door profile you want the WAF policy to be applied to. </a:t>
            </a:r>
          </a:p>
          <a:p>
            <a:pPr marL="0" marR="0">
              <a:spcBef>
                <a:spcPts val="0"/>
              </a:spcBef>
              <a:spcAft>
                <a:spcPts val="1000"/>
              </a:spcAft>
            </a:pPr>
            <a:r>
              <a:rPr lang="en-US" sz="1800">
                <a:solidFill>
                  <a:srgbClr val="00B050"/>
                </a:solidFill>
                <a:effectLst/>
                <a:latin typeface="Segoe UI Semibold" panose="020B0702040204020203" pitchFamily="34" charset="0"/>
                <a:ea typeface="Calibri" panose="020F0502020204030204" pitchFamily="34" charset="0"/>
                <a:cs typeface="Times New Roman" panose="02020603050405020304" pitchFamily="18" charset="0"/>
              </a:rPr>
              <a:t>During this stage if the domain is associated to a WAF policy, it is shown as grayed out. You must first remove the domain from the associated policy, and then re-associate the domain to a new WAF policy.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1000"/>
              </a:spcAft>
              <a:buFont typeface="+mj-lt"/>
              <a:buAutoNum type="arabicPeriod"/>
            </a:pPr>
            <a:r>
              <a:rPr lang="en-US" sz="1800" b="1">
                <a:effectLst/>
                <a:latin typeface="Calibri" panose="020F0502020204030204" pitchFamily="34" charset="0"/>
                <a:ea typeface="Calibri" panose="020F0502020204030204" pitchFamily="34" charset="0"/>
                <a:cs typeface="Times New Roman" panose="02020603050405020304" pitchFamily="18" charset="0"/>
              </a:rPr>
              <a:t>Configure WAF policy settings and rules</a:t>
            </a:r>
            <a:r>
              <a:rPr lang="en-US" sz="1800">
                <a:effectLst/>
                <a:latin typeface="Calibri" panose="020F0502020204030204" pitchFamily="34" charset="0"/>
                <a:ea typeface="Calibri" panose="020F0502020204030204" pitchFamily="34" charset="0"/>
                <a:cs typeface="Times New Roman" panose="02020603050405020304" pitchFamily="18" charset="0"/>
              </a:rPr>
              <a:t> - this is an optional stage, where you can configure policy settings such as the </a:t>
            </a:r>
            <a:r>
              <a:rPr lang="en-US" sz="1800" b="1">
                <a:effectLst/>
                <a:latin typeface="Calibri" panose="020F0502020204030204" pitchFamily="34" charset="0"/>
                <a:ea typeface="Calibri" panose="020F0502020204030204" pitchFamily="34" charset="0"/>
                <a:cs typeface="Times New Roman" panose="02020603050405020304" pitchFamily="18" charset="0"/>
              </a:rPr>
              <a:t>Mode</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i="1">
                <a:effectLst/>
                <a:latin typeface="Calibri" panose="020F0502020204030204" pitchFamily="34" charset="0"/>
                <a:ea typeface="Calibri" panose="020F0502020204030204" pitchFamily="34" charset="0"/>
                <a:cs typeface="Times New Roman" panose="02020603050405020304" pitchFamily="18" charset="0"/>
              </a:rPr>
              <a:t>Prevention</a:t>
            </a:r>
            <a:r>
              <a:rPr lang="en-US" sz="1800">
                <a:effectLst/>
                <a:latin typeface="Calibri" panose="020F0502020204030204" pitchFamily="34" charset="0"/>
                <a:ea typeface="Calibri" panose="020F0502020204030204" pitchFamily="34" charset="0"/>
                <a:cs typeface="Times New Roman" panose="02020603050405020304" pitchFamily="18" charset="0"/>
              </a:rPr>
              <a:t> or </a:t>
            </a:r>
            <a:r>
              <a:rPr lang="en-US" sz="1800" i="1">
                <a:effectLst/>
                <a:latin typeface="Calibri" panose="020F0502020204030204" pitchFamily="34" charset="0"/>
                <a:ea typeface="Calibri" panose="020F0502020204030204" pitchFamily="34" charset="0"/>
                <a:cs typeface="Times New Roman" panose="02020603050405020304" pitchFamily="18" charset="0"/>
              </a:rPr>
              <a:t>Detection</a:t>
            </a:r>
            <a:r>
              <a:rPr lang="en-US" sz="1800">
                <a:effectLst/>
                <a:latin typeface="Calibri" panose="020F0502020204030204" pitchFamily="34" charset="0"/>
                <a:ea typeface="Calibri" panose="020F0502020204030204" pitchFamily="34" charset="0"/>
                <a:cs typeface="Times New Roman" panose="02020603050405020304" pitchFamily="18" charset="0"/>
              </a:rPr>
              <a:t>) and configure managed rules and custom rules.</a:t>
            </a:r>
          </a:p>
          <a:p>
            <a:r>
              <a:rPr lang="en-US" sz="1800">
                <a:effectLst/>
                <a:latin typeface="Calibri" panose="020F0502020204030204" pitchFamily="34" charset="0"/>
                <a:ea typeface="Calibri" panose="020F0502020204030204" pitchFamily="34" charset="0"/>
                <a:cs typeface="Times New Roman" panose="02020603050405020304" pitchFamily="18" charset="0"/>
              </a:rPr>
              <a:t>To view the detailed steps for all these tasks, see </a:t>
            </a:r>
            <a:r>
              <a:rPr lang="en-US" sz="1800" u="sng">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Tutorial: Create a Web Application Firewall policy on Azure Front Door using the Azure portal</a:t>
            </a:r>
            <a:endParaRPr lang="en-US"/>
          </a:p>
        </p:txBody>
      </p:sp>
      <p:sp>
        <p:nvSpPr>
          <p:cNvPr id="4" name="Slide Number Placeholder 3"/>
          <p:cNvSpPr>
            <a:spLocks noGrp="1"/>
          </p:cNvSpPr>
          <p:nvPr>
            <p:ph type="sldNum" sz="quarter" idx="5"/>
          </p:nvPr>
        </p:nvSpPr>
        <p:spPr/>
        <p:txBody>
          <a:bodyPr/>
          <a:lstStyle/>
          <a:p>
            <a:fld id="{89B9185C-5C72-45C2-88F0-D7DF9039278A}" type="slidenum">
              <a:rPr lang="en-US" smtClean="0"/>
              <a:t>62</a:t>
            </a:fld>
            <a:endParaRPr lang="en-US"/>
          </a:p>
        </p:txBody>
      </p:sp>
    </p:spTree>
    <p:extLst>
      <p:ext uri="{BB962C8B-B14F-4D97-AF65-F5344CB8AC3E}">
        <p14:creationId xmlns:p14="http://schemas.microsoft.com/office/powerpoint/2010/main" val="8905761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https://docs.microsoft.com/en-us/learn/browse/</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63</a:t>
            </a:fld>
            <a:endParaRPr lang="en-US"/>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B5D8-9BFF-4ABD-926F-F83ECB5DB4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BF38F1-E3AE-4CC3-9F47-A4A761B8D6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D35292-69B2-4927-AB6D-D99E7A71500F}"/>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AF5CC8FD-85C2-4741-B57F-145B97864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1141B-8F77-4550-A74C-43D5F8353F7C}"/>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070827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38E33-2A30-43F7-A76E-A8DBF2C67A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3A7FD6-634D-47E1-981D-01039FCEE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C7C2A-60B4-4823-B253-E5C58A73B607}"/>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ABF597AB-8B27-4717-A857-B67DFD2FE9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229B7-9946-419B-8AEA-D11129DF7DC4}"/>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3650632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B6EF-F61E-4F83-8633-E23C51D1FB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CAA6EB-2F27-4D5D-B79A-995BF904D6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2C0817-69A8-480F-997D-7E8F65EEAC75}"/>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45B37135-9038-4B89-B479-57C0F597B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C3FD3-970F-4447-A1FF-91962F02F153}"/>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704969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EE38-9667-4B66-ABEE-F776814C55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AC956-6A9E-4449-991C-9BE64D9C5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77C12A-D388-4D33-AA83-CF5B37B09A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C8215D-B5D4-44FA-A783-73EAFC5032F7}"/>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6" name="Footer Placeholder 5">
            <a:extLst>
              <a:ext uri="{FF2B5EF4-FFF2-40B4-BE49-F238E27FC236}">
                <a16:creationId xmlns:a16="http://schemas.microsoft.com/office/drawing/2014/main" id="{140B3C21-EEAE-4DBA-A266-25F18AB7AF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9CBC4F-E534-45A2-B227-641606E9A93C}"/>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3328288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05DA1-01C3-4262-85F0-D1039BE78D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3BF4B0-B356-4B87-A28B-F806BF833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50F934-E292-4A2F-8021-3810A66036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34CF99-A8A1-4107-B585-4E19050124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6FF14-3204-42CE-BFB5-3A8EB71589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94B716-2B35-476D-8E1D-7E11B84E34EA}"/>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8" name="Footer Placeholder 7">
            <a:extLst>
              <a:ext uri="{FF2B5EF4-FFF2-40B4-BE49-F238E27FC236}">
                <a16:creationId xmlns:a16="http://schemas.microsoft.com/office/drawing/2014/main" id="{37F57B46-949E-4D36-8B30-BD719DD5C6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954712-17FC-443C-AD99-5CA2A7F61FA8}"/>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559713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A6BB-56F5-4AEF-AE2C-5ACB8D2CDA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A0A6DF-1B1D-484A-AB5F-4BBF7B9CAF7A}"/>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4" name="Footer Placeholder 3">
            <a:extLst>
              <a:ext uri="{FF2B5EF4-FFF2-40B4-BE49-F238E27FC236}">
                <a16:creationId xmlns:a16="http://schemas.microsoft.com/office/drawing/2014/main" id="{CA6C465D-C1F8-4E33-8B27-2E51E22CB1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8116AA-3416-447B-9C39-F99900A305BD}"/>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32201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62A52-92E2-4599-8639-AFCDE9E2C313}"/>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3" name="Footer Placeholder 2">
            <a:extLst>
              <a:ext uri="{FF2B5EF4-FFF2-40B4-BE49-F238E27FC236}">
                <a16:creationId xmlns:a16="http://schemas.microsoft.com/office/drawing/2014/main" id="{DA9BFD1A-3E96-4954-8E03-1B567F5F12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13DF88-540D-4D3A-87FA-70F8BF879741}"/>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4153551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A6833-E3A1-4306-8244-5101EC585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E7549B-338E-4D50-B815-4D168604A2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91CC05-4CE5-40EC-A8D7-058565071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97756B-8173-4888-8F07-9204999AEBBF}"/>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6" name="Footer Placeholder 5">
            <a:extLst>
              <a:ext uri="{FF2B5EF4-FFF2-40B4-BE49-F238E27FC236}">
                <a16:creationId xmlns:a16="http://schemas.microsoft.com/office/drawing/2014/main" id="{38EBEA95-65F6-4658-93C9-052A10DBF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D3D114-4A08-4BBD-BE09-145CE4212FE4}"/>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643096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DFD8-CE4A-49AF-8A1D-B3C57FF663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AC462F-475B-4ED0-8DA3-CB54FCD052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EB265F-2C0E-4345-82C6-1C24FBA0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60DDDD-CAA2-4C1D-8776-FC24EDC45882}"/>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6" name="Footer Placeholder 5">
            <a:extLst>
              <a:ext uri="{FF2B5EF4-FFF2-40B4-BE49-F238E27FC236}">
                <a16:creationId xmlns:a16="http://schemas.microsoft.com/office/drawing/2014/main" id="{425381F6-B9C6-4795-9CA2-624178032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9B0A05-87C6-44F8-91BA-B253D31BA26A}"/>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3919250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45D57-FA98-42EE-A30C-483067E379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05299B-27F1-4A4D-BB39-E2D1EC1076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C3B699-ABDC-4E6B-ABFF-CF7DB37D78B2}"/>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0AE92FA1-053B-456E-A054-BD01A41A12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6376-86B6-4F1E-9289-897F87DF1E88}"/>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1792298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3D2CF5-FF24-4AC3-AD63-D113315C3E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5DC503-CB80-408E-888C-7FA9CCC34F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FA19AE-AF6E-4B26-9AA3-74D3652AD1B6}"/>
              </a:ext>
            </a:extLst>
          </p:cNvPr>
          <p:cNvSpPr>
            <a:spLocks noGrp="1"/>
          </p:cNvSpPr>
          <p:nvPr>
            <p:ph type="dt" sz="half" idx="10"/>
          </p:nvPr>
        </p:nvSpPr>
        <p:spPr/>
        <p:txBody>
          <a:body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4DCC7CB5-5D74-4BE2-96E8-61A5F7D011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4C3DCD-E5AC-4DAB-B17A-A6726897C2F3}"/>
              </a:ext>
            </a:extLst>
          </p:cNvPr>
          <p:cNvSpPr>
            <a:spLocks noGrp="1"/>
          </p:cNvSpPr>
          <p:nvPr>
            <p:ph type="sldNum" sz="quarter" idx="12"/>
          </p:nvPr>
        </p:nvSpPr>
        <p:spPr/>
        <p:txBody>
          <a:bodyPr/>
          <a:lstStyle/>
          <a:p>
            <a:fld id="{A4B77433-B1D6-4140-98AE-D060540B36D1}" type="slidenum">
              <a:rPr lang="en-US" smtClean="0"/>
              <a:t>‹#›</a:t>
            </a:fld>
            <a:endParaRPr lang="en-US"/>
          </a:p>
        </p:txBody>
      </p:sp>
    </p:spTree>
    <p:extLst>
      <p:ext uri="{BB962C8B-B14F-4D97-AF65-F5344CB8AC3E}">
        <p14:creationId xmlns:p14="http://schemas.microsoft.com/office/powerpoint/2010/main" val="2533920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119845313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7A88F767-C524-4EB1-8396-3C478E23A2A1}"/>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54203727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4090" y="463300"/>
            <a:ext cx="11343820"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4" name="Footer Placeholder 1">
            <a:extLst>
              <a:ext uri="{FF2B5EF4-FFF2-40B4-BE49-F238E27FC236}">
                <a16:creationId xmlns:a16="http://schemas.microsoft.com/office/drawing/2014/main" id="{B48AA0CF-DFAD-4DF5-AF33-6EDC3354EC6F}"/>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369424246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27821"/>
            <a:ext cx="2457386" cy="402359"/>
          </a:xfrm>
          <a:prstGeom prst="rect">
            <a:avLst/>
          </a:prstGeom>
        </p:spPr>
        <p:txBody>
          <a:bodyPr wrap="square" lIns="0" tIns="0" rIns="0" bIns="0" anchor="ctr">
            <a:spAutoFit/>
          </a:bodyPr>
          <a:lstStyle>
            <a:lvl1pPr>
              <a:lnSpc>
                <a:spcPts val="3137"/>
              </a:lnSpc>
              <a:defRPr sz="2745" strike="noStrike">
                <a:solidFill>
                  <a:schemeClr val="bg1"/>
                </a:solidFill>
              </a:defRPr>
            </a:lvl1pPr>
          </a:lstStyle>
          <a:p>
            <a:r>
              <a:rPr lang="en-US"/>
              <a:t>Title</a:t>
            </a:r>
          </a:p>
        </p:txBody>
      </p:sp>
      <p:sp>
        <p:nvSpPr>
          <p:cNvPr id="4" name="Footer Placeholder 1">
            <a:extLst>
              <a:ext uri="{FF2B5EF4-FFF2-40B4-BE49-F238E27FC236}">
                <a16:creationId xmlns:a16="http://schemas.microsoft.com/office/drawing/2014/main" id="{B85E15FC-4FFB-43C7-B139-E2613D72881B}"/>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85731495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284329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0935511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66238600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235332045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spTree>
    <p:extLst>
      <p:ext uri="{BB962C8B-B14F-4D97-AF65-F5344CB8AC3E}">
        <p14:creationId xmlns:p14="http://schemas.microsoft.com/office/powerpoint/2010/main" val="419982854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3752868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9266505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36493332"/>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3974816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8331752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2020687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9365010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10459198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1894260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8670615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0118765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894555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0641830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7227221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829406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5267789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124503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70816030"/>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5071093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409545780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6537905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5796906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5306313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69664422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8653732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3453827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9406694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72429209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0749859"/>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ext option - 4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1"/>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userDrawn="1"/>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3344578" y="2739465"/>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userDrawn="1"/>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6258062"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userDrawn="1"/>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9171546"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19D8CB66-B611-4CE7-A43F-AA9D9AFBFDA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1448322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2179173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8962232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8260339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1530530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7548719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1482210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8802834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74239202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6483690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98523534"/>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71012887"/>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7601784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81774332"/>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43761730"/>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119520102"/>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8092159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2751393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69878850"/>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25004344"/>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59492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33206003"/>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8590448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07379708"/>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4150284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92894695"/>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42810876"/>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71603536"/>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57250675"/>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630549718"/>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44776588"/>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47371325"/>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50644950"/>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765721700"/>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90984467"/>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31270615"/>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2834915"/>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89184585"/>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524084619"/>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userDrawn="1"/>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2307342377"/>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18031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1.xml"/><Relationship Id="rId21" Type="http://schemas.openxmlformats.org/officeDocument/2006/relationships/slideLayout" Target="../slideLayouts/slideLayout36.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63" Type="http://schemas.openxmlformats.org/officeDocument/2006/relationships/slideLayout" Target="../slideLayouts/slideLayout78.xml"/><Relationship Id="rId68" Type="http://schemas.openxmlformats.org/officeDocument/2006/relationships/slideLayout" Target="../slideLayouts/slideLayout83.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slideLayout" Target="../slideLayouts/slideLayout68.xml"/><Relationship Id="rId58" Type="http://schemas.openxmlformats.org/officeDocument/2006/relationships/slideLayout" Target="../slideLayouts/slideLayout73.xml"/><Relationship Id="rId66" Type="http://schemas.openxmlformats.org/officeDocument/2006/relationships/slideLayout" Target="../slideLayouts/slideLayout81.xml"/><Relationship Id="rId74" Type="http://schemas.openxmlformats.org/officeDocument/2006/relationships/slideLayout" Target="../slideLayouts/slideLayout89.xml"/><Relationship Id="rId5" Type="http://schemas.openxmlformats.org/officeDocument/2006/relationships/slideLayout" Target="../slideLayouts/slideLayout20.xml"/><Relationship Id="rId61" Type="http://schemas.openxmlformats.org/officeDocument/2006/relationships/slideLayout" Target="../slideLayouts/slideLayout76.xml"/><Relationship Id="rId19" Type="http://schemas.openxmlformats.org/officeDocument/2006/relationships/slideLayout" Target="../slideLayouts/slideLayout3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56" Type="http://schemas.openxmlformats.org/officeDocument/2006/relationships/slideLayout" Target="../slideLayouts/slideLayout71.xml"/><Relationship Id="rId64" Type="http://schemas.openxmlformats.org/officeDocument/2006/relationships/slideLayout" Target="../slideLayouts/slideLayout79.xml"/><Relationship Id="rId69" Type="http://schemas.openxmlformats.org/officeDocument/2006/relationships/slideLayout" Target="../slideLayouts/slideLayout84.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72" Type="http://schemas.openxmlformats.org/officeDocument/2006/relationships/slideLayout" Target="../slideLayouts/slideLayout87.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59" Type="http://schemas.openxmlformats.org/officeDocument/2006/relationships/slideLayout" Target="../slideLayouts/slideLayout74.xml"/><Relationship Id="rId67" Type="http://schemas.openxmlformats.org/officeDocument/2006/relationships/slideLayout" Target="../slideLayouts/slideLayout82.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54" Type="http://schemas.openxmlformats.org/officeDocument/2006/relationships/slideLayout" Target="../slideLayouts/slideLayout69.xml"/><Relationship Id="rId62" Type="http://schemas.openxmlformats.org/officeDocument/2006/relationships/slideLayout" Target="../slideLayouts/slideLayout77.xml"/><Relationship Id="rId70" Type="http://schemas.openxmlformats.org/officeDocument/2006/relationships/slideLayout" Target="../slideLayouts/slideLayout85.xml"/><Relationship Id="rId75" Type="http://schemas.openxmlformats.org/officeDocument/2006/relationships/slideLayout" Target="../slideLayouts/slideLayout90.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57" Type="http://schemas.openxmlformats.org/officeDocument/2006/relationships/slideLayout" Target="../slideLayouts/slideLayout72.xml"/><Relationship Id="rId10" Type="http://schemas.openxmlformats.org/officeDocument/2006/relationships/slideLayout" Target="../slideLayouts/slideLayout25.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 Id="rId60" Type="http://schemas.openxmlformats.org/officeDocument/2006/relationships/slideLayout" Target="../slideLayouts/slideLayout75.xml"/><Relationship Id="rId65" Type="http://schemas.openxmlformats.org/officeDocument/2006/relationships/slideLayout" Target="../slideLayouts/slideLayout80.xml"/><Relationship Id="rId73" Type="http://schemas.openxmlformats.org/officeDocument/2006/relationships/slideLayout" Target="../slideLayouts/slideLayout8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9" Type="http://schemas.openxmlformats.org/officeDocument/2006/relationships/slideLayout" Target="../slideLayouts/slideLayout54.xml"/><Relationship Id="rId34" Type="http://schemas.openxmlformats.org/officeDocument/2006/relationships/slideLayout" Target="../slideLayouts/slideLayout49.xml"/><Relationship Id="rId50" Type="http://schemas.openxmlformats.org/officeDocument/2006/relationships/slideLayout" Target="../slideLayouts/slideLayout65.xml"/><Relationship Id="rId55" Type="http://schemas.openxmlformats.org/officeDocument/2006/relationships/slideLayout" Target="../slideLayouts/slideLayout70.xml"/><Relationship Id="rId76" Type="http://schemas.openxmlformats.org/officeDocument/2006/relationships/theme" Target="../theme/theme2.xml"/><Relationship Id="rId7" Type="http://schemas.openxmlformats.org/officeDocument/2006/relationships/slideLayout" Target="../slideLayouts/slideLayout22.xml"/><Relationship Id="rId71"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FF898-DEE1-477D-8ACE-3F1D91FA32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643AD7-D9EA-42F1-9388-61BAB9C2A6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73340-414E-47F2-B1A6-BB01CEBC2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236BE-BE1E-41A4-81E4-12E311102204}" type="datetimeFigureOut">
              <a:rPr lang="en-US" smtClean="0"/>
              <a:t>4/25/2022</a:t>
            </a:fld>
            <a:endParaRPr lang="en-US"/>
          </a:p>
        </p:txBody>
      </p:sp>
      <p:sp>
        <p:nvSpPr>
          <p:cNvPr id="5" name="Footer Placeholder 4">
            <a:extLst>
              <a:ext uri="{FF2B5EF4-FFF2-40B4-BE49-F238E27FC236}">
                <a16:creationId xmlns:a16="http://schemas.microsoft.com/office/drawing/2014/main" id="{4F50716D-66A0-4E9B-AFE8-DFED252AAF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751632-0E63-450E-9BA6-A4FF0361E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B77433-B1D6-4140-98AE-D060540B36D1}" type="slidenum">
              <a:rPr lang="en-US" smtClean="0"/>
              <a:t>‹#›</a:t>
            </a:fld>
            <a:endParaRPr lang="en-US"/>
          </a:p>
        </p:txBody>
      </p:sp>
    </p:spTree>
    <p:extLst>
      <p:ext uri="{BB962C8B-B14F-4D97-AF65-F5344CB8AC3E}">
        <p14:creationId xmlns:p14="http://schemas.microsoft.com/office/powerpoint/2010/main" val="2828749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a:solidFill>
                  <a:schemeClr val="bg1">
                    <a:lumMod val="75000"/>
                  </a:schemeClr>
                </a:solidFill>
              </a:rPr>
              <a:t>Closed captioning</a:t>
            </a:r>
            <a:br>
              <a:rPr lang="en-US" sz="700">
                <a:solidFill>
                  <a:schemeClr val="bg1">
                    <a:lumMod val="75000"/>
                  </a:schemeClr>
                </a:solidFill>
              </a:rPr>
            </a:br>
            <a:r>
              <a:rPr lang="en-US" sz="70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91303759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 id="2147483714" r:id="rId48"/>
    <p:sldLayoutId id="2147483715" r:id="rId49"/>
    <p:sldLayoutId id="2147483716" r:id="rId50"/>
    <p:sldLayoutId id="2147483717" r:id="rId51"/>
    <p:sldLayoutId id="2147483718" r:id="rId52"/>
    <p:sldLayoutId id="2147483719" r:id="rId53"/>
    <p:sldLayoutId id="2147483720" r:id="rId54"/>
    <p:sldLayoutId id="2147483721" r:id="rId55"/>
    <p:sldLayoutId id="2147483722" r:id="rId56"/>
    <p:sldLayoutId id="2147483723" r:id="rId57"/>
    <p:sldLayoutId id="2147483724" r:id="rId58"/>
    <p:sldLayoutId id="2147483725" r:id="rId59"/>
    <p:sldLayoutId id="2147483726" r:id="rId60"/>
    <p:sldLayoutId id="2147483727" r:id="rId61"/>
    <p:sldLayoutId id="2147483728" r:id="rId62"/>
    <p:sldLayoutId id="2147483729" r:id="rId63"/>
    <p:sldLayoutId id="2147483730" r:id="rId64"/>
    <p:sldLayoutId id="2147483731" r:id="rId65"/>
    <p:sldLayoutId id="2147483732" r:id="rId66"/>
    <p:sldLayoutId id="2147483733" r:id="rId67"/>
    <p:sldLayoutId id="2147483734" r:id="rId68"/>
    <p:sldLayoutId id="2147483735" r:id="rId69"/>
    <p:sldLayoutId id="2147483736" r:id="rId70"/>
    <p:sldLayoutId id="2147483737" r:id="rId71"/>
    <p:sldLayoutId id="2147483738" r:id="rId72"/>
    <p:sldLayoutId id="2147483739" r:id="rId73"/>
    <p:sldLayoutId id="2147483740" r:id="rId74"/>
    <p:sldLayoutId id="2147483741" r:id="rId75"/>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23.emf"/><Relationship Id="rId2" Type="http://schemas.openxmlformats.org/officeDocument/2006/relationships/notesSlide" Target="../notesSlides/notesSlide2.xml"/><Relationship Id="rId1" Type="http://schemas.openxmlformats.org/officeDocument/2006/relationships/slideLayout" Target="../slideLayouts/slideLayout63.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25.emf"/><Relationship Id="rId2" Type="http://schemas.openxmlformats.org/officeDocument/2006/relationships/notesSlide" Target="../notesSlides/notesSlide3.xml"/><Relationship Id="rId1" Type="http://schemas.openxmlformats.org/officeDocument/2006/relationships/slideLayout" Target="../slideLayouts/slideLayout33.xml"/><Relationship Id="rId6" Type="http://schemas.openxmlformats.org/officeDocument/2006/relationships/image" Target="../media/image22.emf"/><Relationship Id="rId5" Type="http://schemas.openxmlformats.org/officeDocument/2006/relationships/image" Target="../media/image24.emf"/><Relationship Id="rId4" Type="http://schemas.openxmlformats.org/officeDocument/2006/relationships/image" Target="../media/image20.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hyperlink" Target="https://docs.microsoft.com/en-us/azure/security/fundamentals/network-overview"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hyperlink" Target="https://docs.microsoft.com/en-us/azure/security/fundamentals/infrastructure-network" TargetMode="External"/><Relationship Id="rId4" Type="http://schemas.openxmlformats.org/officeDocument/2006/relationships/image" Target="../media/image29.emf"/></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9.emf"/><Relationship Id="rId7" Type="http://schemas.openxmlformats.org/officeDocument/2006/relationships/image" Target="../media/image25.emf"/><Relationship Id="rId2" Type="http://schemas.openxmlformats.org/officeDocument/2006/relationships/notesSlide" Target="../notesSlides/notesSlide9.xml"/><Relationship Id="rId1" Type="http://schemas.openxmlformats.org/officeDocument/2006/relationships/slideLayout" Target="../slideLayouts/slideLayout34.xml"/><Relationship Id="rId6" Type="http://schemas.openxmlformats.org/officeDocument/2006/relationships/image" Target="../media/image22.emf"/><Relationship Id="rId5" Type="http://schemas.openxmlformats.org/officeDocument/2006/relationships/image" Target="../media/image24.emf"/><Relationship Id="rId4" Type="http://schemas.openxmlformats.org/officeDocument/2006/relationships/image" Target="../media/image20.emf"/><Relationship Id="rId9" Type="http://schemas.openxmlformats.org/officeDocument/2006/relationships/image" Target="../media/image30.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35.wmf"/></Relationships>
</file>

<file path=ppt/slides/_rels/slide18.xml.rels><?xml version="1.0" encoding="UTF-8" standalone="yes"?>
<Relationships xmlns="http://schemas.openxmlformats.org/package/2006/relationships"><Relationship Id="rId3" Type="http://schemas.openxmlformats.org/officeDocument/2006/relationships/hyperlink" Target="https://docs.microsoft.com/en-us/azure/ddos-protection/"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29.emf"/><Relationship Id="rId4" Type="http://schemas.openxmlformats.org/officeDocument/2006/relationships/hyperlink" Target="https://docs.microsoft.com/en-us/azure/ddos-protection/manage-ddos-protection"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hyperlink" Target="https://docs.microsoft.com/en-us/azure/ddos-protection/"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0.xml"/><Relationship Id="rId1" Type="http://schemas.openxmlformats.org/officeDocument/2006/relationships/slideLayout" Target="../slideLayouts/slideLayout35.xml"/><Relationship Id="rId6" Type="http://schemas.openxmlformats.org/officeDocument/2006/relationships/image" Target="../media/image22.emf"/><Relationship Id="rId5" Type="http://schemas.openxmlformats.org/officeDocument/2006/relationships/image" Target="../media/image24.emf"/><Relationship Id="rId4" Type="http://schemas.openxmlformats.org/officeDocument/2006/relationships/image" Target="../media/image20.emf"/></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7.xml"/><Relationship Id="rId1" Type="http://schemas.openxmlformats.org/officeDocument/2006/relationships/slideLayout" Target="../slideLayouts/slideLayout14.xml"/><Relationship Id="rId5" Type="http://schemas.openxmlformats.org/officeDocument/2006/relationships/image" Target="../media/image46.emf"/><Relationship Id="rId4" Type="http://schemas.openxmlformats.org/officeDocument/2006/relationships/image" Target="../media/image45.emf"/></Relationships>
</file>

<file path=ppt/slides/_rels/slide31.xml.rels><?xml version="1.0" encoding="UTF-8" standalone="yes"?>
<Relationships xmlns="http://schemas.openxmlformats.org/package/2006/relationships"><Relationship Id="rId3" Type="http://schemas.openxmlformats.org/officeDocument/2006/relationships/hyperlink" Target="https://docs.microsoft.com/en-us/azure/virtual-network/network-security-groups-overview" TargetMode="External"/><Relationship Id="rId2" Type="http://schemas.openxmlformats.org/officeDocument/2006/relationships/notesSlide" Target="../notesSlides/notesSlide28.xml"/><Relationship Id="rId1" Type="http://schemas.openxmlformats.org/officeDocument/2006/relationships/slideLayout" Target="../slideLayouts/slideLayout14.xml"/><Relationship Id="rId5" Type="http://schemas.openxmlformats.org/officeDocument/2006/relationships/hyperlink" Target="https://docs.microsoft.com/en-us/azure/virtual-network/application-security-groups" TargetMode="External"/><Relationship Id="rId4" Type="http://schemas.openxmlformats.org/officeDocument/2006/relationships/image" Target="../media/image29.emf"/></Relationships>
</file>

<file path=ppt/slides/_rels/slide3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9.emf"/><Relationship Id="rId7" Type="http://schemas.openxmlformats.org/officeDocument/2006/relationships/image" Target="../media/image25.emf"/><Relationship Id="rId2" Type="http://schemas.openxmlformats.org/officeDocument/2006/relationships/notesSlide" Target="../notesSlides/notesSlide30.xml"/><Relationship Id="rId1" Type="http://schemas.openxmlformats.org/officeDocument/2006/relationships/slideLayout" Target="../slideLayouts/slideLayout33.xml"/><Relationship Id="rId6" Type="http://schemas.openxmlformats.org/officeDocument/2006/relationships/image" Target="../media/image22.emf"/><Relationship Id="rId5" Type="http://schemas.openxmlformats.org/officeDocument/2006/relationships/image" Target="../media/image24.emf"/><Relationship Id="rId4" Type="http://schemas.openxmlformats.org/officeDocument/2006/relationships/image" Target="../media/image20.emf"/></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6.xml"/><Relationship Id="rId1" Type="http://schemas.openxmlformats.org/officeDocument/2006/relationships/slideLayout" Target="../slideLayouts/slideLayout14.xml"/><Relationship Id="rId5" Type="http://schemas.openxmlformats.org/officeDocument/2006/relationships/hyperlink" Target="https://docs.microsoft.com/en-us/azure/firewall/features" TargetMode="External"/><Relationship Id="rId4" Type="http://schemas.openxmlformats.org/officeDocument/2006/relationships/hyperlink" Target="https://docs.microsoft.com/en-us/azure/firewall/overview"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52.svg"/></Relationships>
</file>

<file path=ppt/slides/_rels/slide4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hyperlink" Target="https://docs.microsoft.com/azure/firewall/quick-create-ipgroup-template"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9.emf"/><Relationship Id="rId7" Type="http://schemas.openxmlformats.org/officeDocument/2006/relationships/image" Target="../media/image25.emf"/><Relationship Id="rId2" Type="http://schemas.openxmlformats.org/officeDocument/2006/relationships/notesSlide" Target="../notesSlides/notesSlide40.xml"/><Relationship Id="rId1" Type="http://schemas.openxmlformats.org/officeDocument/2006/relationships/slideLayout" Target="../slideLayouts/slideLayout33.xml"/><Relationship Id="rId6" Type="http://schemas.openxmlformats.org/officeDocument/2006/relationships/image" Target="../media/image22.emf"/><Relationship Id="rId5" Type="http://schemas.openxmlformats.org/officeDocument/2006/relationships/image" Target="../media/image24.emf"/><Relationship Id="rId4" Type="http://schemas.openxmlformats.org/officeDocument/2006/relationships/image" Target="../media/image20.emf"/></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6.xml"/><Relationship Id="rId1" Type="http://schemas.openxmlformats.org/officeDocument/2006/relationships/slideLayout" Target="../slideLayouts/slideLayout63.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51.xml.rels><?xml version="1.0" encoding="UTF-8" standalone="yes"?>
<Relationships xmlns="http://schemas.openxmlformats.org/package/2006/relationships"><Relationship Id="rId3" Type="http://schemas.openxmlformats.org/officeDocument/2006/relationships/hyperlink" Target="https://docs.microsoft.com/en-us/azure/firewall-manager/overview" TargetMode="External"/><Relationship Id="rId2" Type="http://schemas.openxmlformats.org/officeDocument/2006/relationships/notesSlide" Target="../notesSlides/notesSlide47.xml"/><Relationship Id="rId1" Type="http://schemas.openxmlformats.org/officeDocument/2006/relationships/slideLayout" Target="../slideLayouts/slideLayout14.xml"/><Relationship Id="rId4" Type="http://schemas.openxmlformats.org/officeDocument/2006/relationships/image" Target="../media/image29.emf"/></Relationships>
</file>

<file path=ppt/slides/_rels/slide5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9.xml"/><Relationship Id="rId1" Type="http://schemas.openxmlformats.org/officeDocument/2006/relationships/slideLayout" Target="../slideLayouts/slideLayout14.xml"/><Relationship Id="rId4" Type="http://schemas.openxmlformats.org/officeDocument/2006/relationships/hyperlink" Target="https://docs.microsoft.com/en-us/azure/firewall-manager/secure-cloud-network" TargetMode="External"/></Relationships>
</file>

<file path=ppt/slides/_rels/slide5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9.emf"/><Relationship Id="rId7" Type="http://schemas.openxmlformats.org/officeDocument/2006/relationships/image" Target="../media/image25.emf"/><Relationship Id="rId2" Type="http://schemas.openxmlformats.org/officeDocument/2006/relationships/notesSlide" Target="../notesSlides/notesSlide50.xml"/><Relationship Id="rId1" Type="http://schemas.openxmlformats.org/officeDocument/2006/relationships/slideLayout" Target="../slideLayouts/slideLayout15.xml"/><Relationship Id="rId6" Type="http://schemas.openxmlformats.org/officeDocument/2006/relationships/image" Target="../media/image22.emf"/><Relationship Id="rId5" Type="http://schemas.openxmlformats.org/officeDocument/2006/relationships/image" Target="../media/image24.emf"/><Relationship Id="rId4" Type="http://schemas.openxmlformats.org/officeDocument/2006/relationships/image" Target="../media/image20.emf"/></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5.xml"/><Relationship Id="rId1" Type="http://schemas.openxmlformats.org/officeDocument/2006/relationships/slideLayout" Target="../slideLayouts/slideLayout14.xml"/><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7.xml"/><Relationship Id="rId1" Type="http://schemas.openxmlformats.org/officeDocument/2006/relationships/slideLayout" Target="../slideLayouts/slideLayout14.xml"/><Relationship Id="rId5" Type="http://schemas.openxmlformats.org/officeDocument/2006/relationships/hyperlink" Target="https://docs.microsoft.com/en-us/azure/web-application-firewall/afds/waf-faq" TargetMode="External"/><Relationship Id="rId4" Type="http://schemas.openxmlformats.org/officeDocument/2006/relationships/hyperlink" Target="https://docs.microsoft.com/en-us/azure/web-application-firewall/afds/afds-overview"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a:bodyPr>
          <a:lstStyle/>
          <a:p>
            <a:r>
              <a:rPr lang="en-US" sz="4509" dirty="0">
                <a:latin typeface="Segoe UI Semibold" panose="020B0702040204020203" pitchFamily="34" charset="0"/>
                <a:cs typeface="Segoe UI Semibold" panose="020B0702040204020203" pitchFamily="34" charset="0"/>
              </a:rPr>
              <a:t>AZ-700T00A</a:t>
            </a:r>
            <a:br>
              <a:rPr lang="en-US" sz="4509" dirty="0">
                <a:latin typeface="Segoe UI Semibold" panose="020B0702040204020203" pitchFamily="34" charset="0"/>
                <a:cs typeface="Segoe UI Semibold" panose="020B0702040204020203" pitchFamily="34" charset="0"/>
              </a:rPr>
            </a:br>
            <a:r>
              <a:rPr lang="en-US" sz="4509" dirty="0">
                <a:latin typeface="Segoe UI Semibold" panose="020B0702040204020203" pitchFamily="34" charset="0"/>
                <a:cs typeface="Segoe UI Semibold" panose="020B0702040204020203" pitchFamily="34" charset="0"/>
              </a:rPr>
              <a:t>Module 06: Design and Implement Network Security</a:t>
            </a:r>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Module Overview</a:t>
            </a:r>
          </a:p>
        </p:txBody>
      </p:sp>
      <p:sp>
        <p:nvSpPr>
          <p:cNvPr id="6" name="Text Placeholder 5"/>
          <p:cNvSpPr>
            <a:spLocks noGrp="1"/>
          </p:cNvSpPr>
          <p:nvPr>
            <p:ph type="body" sz="quarter" idx="11"/>
          </p:nvPr>
        </p:nvSpPr>
        <p:spPr/>
        <p:txBody>
          <a:bodyPr/>
          <a:lstStyle/>
          <a:p>
            <a:pPr lvl="1"/>
            <a:r>
              <a:rPr lang="en-US" dirty="0"/>
              <a:t>Lesson 01: Get network security recommendations with Microsoft Defender for Cloud</a:t>
            </a:r>
          </a:p>
        </p:txBody>
      </p:sp>
      <p:sp>
        <p:nvSpPr>
          <p:cNvPr id="2" name="Text Placeholder 1"/>
          <p:cNvSpPr>
            <a:spLocks noGrp="1"/>
          </p:cNvSpPr>
          <p:nvPr>
            <p:ph type="body" sz="quarter" idx="15"/>
          </p:nvPr>
        </p:nvSpPr>
        <p:spPr/>
        <p:txBody>
          <a:bodyPr/>
          <a:lstStyle/>
          <a:p>
            <a:pPr lvl="1"/>
            <a:r>
              <a:rPr lang="en-US" dirty="0"/>
              <a:t>Lesson 02: Deploy Azure DDoS Protection by using the Azure portal</a:t>
            </a:r>
          </a:p>
        </p:txBody>
      </p:sp>
      <p:sp>
        <p:nvSpPr>
          <p:cNvPr id="3" name="Text Placeholder 2"/>
          <p:cNvSpPr>
            <a:spLocks noGrp="1"/>
          </p:cNvSpPr>
          <p:nvPr>
            <p:ph type="body" sz="quarter" idx="17"/>
          </p:nvPr>
        </p:nvSpPr>
        <p:spPr/>
        <p:txBody>
          <a:bodyPr/>
          <a:lstStyle/>
          <a:p>
            <a:pPr lvl="1"/>
            <a:r>
              <a:rPr lang="en-US" dirty="0"/>
              <a:t>Lesson 03: Exercise - Configure DDoS Protection on a virtual network</a:t>
            </a:r>
          </a:p>
        </p:txBody>
      </p:sp>
      <p:sp>
        <p:nvSpPr>
          <p:cNvPr id="4" name="Text Placeholder 3"/>
          <p:cNvSpPr>
            <a:spLocks noGrp="1"/>
          </p:cNvSpPr>
          <p:nvPr>
            <p:ph type="body" sz="quarter" idx="19"/>
          </p:nvPr>
        </p:nvSpPr>
        <p:spPr/>
        <p:txBody>
          <a:bodyPr/>
          <a:lstStyle/>
          <a:p>
            <a:pPr lvl="1"/>
            <a:r>
              <a:rPr lang="en-US" dirty="0"/>
              <a:t>Lesson 04: Deploy and configure Network Security Groups</a:t>
            </a:r>
          </a:p>
        </p:txBody>
      </p:sp>
      <p:sp>
        <p:nvSpPr>
          <p:cNvPr id="5" name="Text Placeholder 4"/>
          <p:cNvSpPr>
            <a:spLocks noGrp="1"/>
          </p:cNvSpPr>
          <p:nvPr>
            <p:ph type="body" sz="quarter" idx="21"/>
          </p:nvPr>
        </p:nvSpPr>
        <p:spPr/>
        <p:txBody>
          <a:bodyPr/>
          <a:lstStyle/>
          <a:p>
            <a:pPr lvl="1"/>
            <a:r>
              <a:rPr lang="en-US" dirty="0"/>
              <a:t>Lesson 05: Design and implement Azure Firewall </a:t>
            </a:r>
          </a:p>
        </p:txBody>
      </p:sp>
      <p:sp>
        <p:nvSpPr>
          <p:cNvPr id="8" name="Text Placeholder 7">
            <a:extLst>
              <a:ext uri="{FF2B5EF4-FFF2-40B4-BE49-F238E27FC236}">
                <a16:creationId xmlns:a16="http://schemas.microsoft.com/office/drawing/2014/main" id="{4C970C09-C124-49EF-A806-956DD6EAA798}"/>
              </a:ext>
            </a:extLst>
          </p:cNvPr>
          <p:cNvSpPr>
            <a:spLocks noGrp="1"/>
          </p:cNvSpPr>
          <p:nvPr>
            <p:ph type="body" sz="quarter" idx="31"/>
          </p:nvPr>
        </p:nvSpPr>
        <p:spPr/>
        <p:txBody>
          <a:bodyPr/>
          <a:lstStyle/>
          <a:p>
            <a:pPr lvl="1"/>
            <a:r>
              <a:rPr lang="en-US" dirty="0"/>
              <a:t>Lesson 06: Exercise - Deploy and configure Azure Firewall using the Azure portal</a:t>
            </a:r>
          </a:p>
        </p:txBody>
      </p:sp>
      <p:sp>
        <p:nvSpPr>
          <p:cNvPr id="9" name="Text Placeholder 8">
            <a:extLst>
              <a:ext uri="{FF2B5EF4-FFF2-40B4-BE49-F238E27FC236}">
                <a16:creationId xmlns:a16="http://schemas.microsoft.com/office/drawing/2014/main" id="{597E9C1C-70B1-4FF1-BDCE-E3611225B156}"/>
              </a:ext>
            </a:extLst>
          </p:cNvPr>
          <p:cNvSpPr>
            <a:spLocks noGrp="1"/>
          </p:cNvSpPr>
          <p:nvPr>
            <p:ph type="body" sz="quarter" idx="32"/>
          </p:nvPr>
        </p:nvSpPr>
        <p:spPr/>
        <p:txBody>
          <a:bodyPr/>
          <a:lstStyle/>
          <a:p>
            <a:pPr lvl="1"/>
            <a:r>
              <a:rPr lang="en-US" dirty="0"/>
              <a:t>Lesson 07: Working with Azure Firewall Manager </a:t>
            </a:r>
          </a:p>
        </p:txBody>
      </p:sp>
      <p:sp>
        <p:nvSpPr>
          <p:cNvPr id="10" name="Text Placeholder 9">
            <a:extLst>
              <a:ext uri="{FF2B5EF4-FFF2-40B4-BE49-F238E27FC236}">
                <a16:creationId xmlns:a16="http://schemas.microsoft.com/office/drawing/2014/main" id="{2D95B341-ABC5-4ED8-9462-B7B4216DF042}"/>
              </a:ext>
            </a:extLst>
          </p:cNvPr>
          <p:cNvSpPr>
            <a:spLocks noGrp="1"/>
          </p:cNvSpPr>
          <p:nvPr>
            <p:ph type="body" sz="quarter" idx="33"/>
          </p:nvPr>
        </p:nvSpPr>
        <p:spPr/>
        <p:txBody>
          <a:bodyPr/>
          <a:lstStyle/>
          <a:p>
            <a:pPr lvl="1"/>
            <a:r>
              <a:rPr lang="en-US" dirty="0"/>
              <a:t>Lesson 08: Exercise - Secure your virtual hub using Azure Firewall Manager</a:t>
            </a:r>
          </a:p>
        </p:txBody>
      </p:sp>
      <p:sp>
        <p:nvSpPr>
          <p:cNvPr id="11" name="Text Placeholder 10">
            <a:extLst>
              <a:ext uri="{FF2B5EF4-FFF2-40B4-BE49-F238E27FC236}">
                <a16:creationId xmlns:a16="http://schemas.microsoft.com/office/drawing/2014/main" id="{0B1D4227-99BD-41CF-8A9E-CAEF2A37B390}"/>
              </a:ext>
            </a:extLst>
          </p:cNvPr>
          <p:cNvSpPr>
            <a:spLocks noGrp="1"/>
          </p:cNvSpPr>
          <p:nvPr>
            <p:ph type="body" sz="quarter" idx="34"/>
          </p:nvPr>
        </p:nvSpPr>
        <p:spPr/>
        <p:txBody>
          <a:bodyPr/>
          <a:lstStyle/>
          <a:p>
            <a:pPr lvl="1"/>
            <a:r>
              <a:rPr lang="en-US" dirty="0"/>
              <a:t>Lesson 09: Implement a Web Application Firewall</a:t>
            </a:r>
          </a:p>
        </p:txBody>
      </p:sp>
      <p:grpSp>
        <p:nvGrpSpPr>
          <p:cNvPr id="12" name="Group 11">
            <a:extLst>
              <a:ext uri="{FF2B5EF4-FFF2-40B4-BE49-F238E27FC236}">
                <a16:creationId xmlns:a16="http://schemas.microsoft.com/office/drawing/2014/main" id="{F7D58AC8-C92F-4E3C-9C6F-A42A4C6D48AB}"/>
              </a:ext>
              <a:ext uri="{C183D7F6-B498-43B3-948B-1728B52AA6E4}">
                <adec:decorative xmlns:adec="http://schemas.microsoft.com/office/drawing/2017/decorative" val="1"/>
              </a:ext>
            </a:extLst>
          </p:cNvPr>
          <p:cNvGrpSpPr/>
          <p:nvPr/>
        </p:nvGrpSpPr>
        <p:grpSpPr>
          <a:xfrm>
            <a:off x="418643" y="1441758"/>
            <a:ext cx="717140" cy="4101743"/>
            <a:chOff x="418643" y="1441758"/>
            <a:chExt cx="717140" cy="4101743"/>
          </a:xfrm>
        </p:grpSpPr>
        <p:grpSp>
          <p:nvGrpSpPr>
            <p:cNvPr id="41" name="Group 40">
              <a:extLst>
                <a:ext uri="{FF2B5EF4-FFF2-40B4-BE49-F238E27FC236}">
                  <a16:creationId xmlns:a16="http://schemas.microsoft.com/office/drawing/2014/main" id="{DDB96B85-21AC-4E2C-B52F-760B90C12459}"/>
                </a:ext>
              </a:extLst>
            </p:cNvPr>
            <p:cNvGrpSpPr/>
            <p:nvPr/>
          </p:nvGrpSpPr>
          <p:grpSpPr>
            <a:xfrm>
              <a:off x="418643" y="1441758"/>
              <a:ext cx="717140" cy="717242"/>
              <a:chOff x="418643" y="1441758"/>
              <a:chExt cx="717140" cy="717242"/>
            </a:xfrm>
          </p:grpSpPr>
          <p:grpSp>
            <p:nvGrpSpPr>
              <p:cNvPr id="23" name="Group 22">
                <a:extLst>
                  <a:ext uri="{FF2B5EF4-FFF2-40B4-BE49-F238E27FC236}">
                    <a16:creationId xmlns:a16="http://schemas.microsoft.com/office/drawing/2014/main" id="{CB713C76-4F2D-4DA7-8DFA-9C41878BB94E}"/>
                  </a:ext>
                </a:extLst>
              </p:cNvPr>
              <p:cNvGrpSpPr/>
              <p:nvPr/>
            </p:nvGrpSpPr>
            <p:grpSpPr>
              <a:xfrm>
                <a:off x="418643" y="1441758"/>
                <a:ext cx="717140" cy="717242"/>
                <a:chOff x="418643" y="1441758"/>
                <a:chExt cx="717140" cy="717242"/>
              </a:xfrm>
            </p:grpSpPr>
            <p:sp>
              <p:nvSpPr>
                <p:cNvPr id="437" name="Freeform 5">
                  <a:extLst>
                    <a:ext uri="{FF2B5EF4-FFF2-40B4-BE49-F238E27FC236}">
                      <a16:creationId xmlns:a16="http://schemas.microsoft.com/office/drawing/2014/main" id="{62DF44AF-1A0C-4B66-B6D6-EF98C8C6F9B2}"/>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38" name="Freeform 6">
                  <a:extLst>
                    <a:ext uri="{FF2B5EF4-FFF2-40B4-BE49-F238E27FC236}">
                      <a16:creationId xmlns:a16="http://schemas.microsoft.com/office/drawing/2014/main" id="{9CDBFDD5-398A-4CB1-B92E-B4D024B3A4E5}"/>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DD3B672E-8841-4C9C-BA26-55DF9EF6C671}"/>
                  </a:ext>
                </a:extLst>
              </p:cNvPr>
              <p:cNvPicPr>
                <a:picLocks noChangeAspect="1"/>
              </p:cNvPicPr>
              <p:nvPr/>
            </p:nvPicPr>
            <p:blipFill>
              <a:blip r:embed="rId3"/>
              <a:stretch>
                <a:fillRect/>
              </a:stretch>
            </p:blipFill>
            <p:spPr>
              <a:xfrm>
                <a:off x="588767" y="1611934"/>
                <a:ext cx="376892" cy="376890"/>
              </a:xfrm>
              <a:prstGeom prst="rect">
                <a:avLst/>
              </a:prstGeom>
            </p:spPr>
          </p:pic>
        </p:grpSp>
        <p:grpSp>
          <p:nvGrpSpPr>
            <p:cNvPr id="40" name="Group 39">
              <a:extLst>
                <a:ext uri="{FF2B5EF4-FFF2-40B4-BE49-F238E27FC236}">
                  <a16:creationId xmlns:a16="http://schemas.microsoft.com/office/drawing/2014/main" id="{8C858700-6A33-49E5-96C8-2D574B8F02ED}"/>
                </a:ext>
              </a:extLst>
            </p:cNvPr>
            <p:cNvGrpSpPr/>
            <p:nvPr/>
          </p:nvGrpSpPr>
          <p:grpSpPr>
            <a:xfrm>
              <a:off x="418643" y="2287883"/>
              <a:ext cx="717140" cy="717242"/>
              <a:chOff x="418643" y="2287883"/>
              <a:chExt cx="717140" cy="717242"/>
            </a:xfrm>
          </p:grpSpPr>
          <p:grpSp>
            <p:nvGrpSpPr>
              <p:cNvPr id="24" name="Group 23">
                <a:extLst>
                  <a:ext uri="{FF2B5EF4-FFF2-40B4-BE49-F238E27FC236}">
                    <a16:creationId xmlns:a16="http://schemas.microsoft.com/office/drawing/2014/main" id="{C6B8A81B-3C2B-4999-8E6E-2A8FE4213AD4}"/>
                  </a:ext>
                </a:extLst>
              </p:cNvPr>
              <p:cNvGrpSpPr/>
              <p:nvPr/>
            </p:nvGrpSpPr>
            <p:grpSpPr>
              <a:xfrm>
                <a:off x="418643" y="2287883"/>
                <a:ext cx="717140" cy="717242"/>
                <a:chOff x="418643" y="2287883"/>
                <a:chExt cx="717140" cy="717242"/>
              </a:xfrm>
            </p:grpSpPr>
            <p:sp>
              <p:nvSpPr>
                <p:cNvPr id="444" name="Freeform 5">
                  <a:extLst>
                    <a:ext uri="{FF2B5EF4-FFF2-40B4-BE49-F238E27FC236}">
                      <a16:creationId xmlns:a16="http://schemas.microsoft.com/office/drawing/2014/main" id="{0952D2D1-E1F5-40C1-9CB9-1094FC751546}"/>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45" name="Freeform 6">
                  <a:extLst>
                    <a:ext uri="{FF2B5EF4-FFF2-40B4-BE49-F238E27FC236}">
                      <a16:creationId xmlns:a16="http://schemas.microsoft.com/office/drawing/2014/main" id="{5EED13B1-E5DD-464E-9D55-EEEB17EE72B4}"/>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arrow in a circular path with a timer inside the circle">
                <a:extLst>
                  <a:ext uri="{FF2B5EF4-FFF2-40B4-BE49-F238E27FC236}">
                    <a16:creationId xmlns:a16="http://schemas.microsoft.com/office/drawing/2014/main" id="{2793DF5E-1B92-422B-8BA1-AC40015913F0}"/>
                  </a:ext>
                </a:extLst>
              </p:cNvPr>
              <p:cNvPicPr>
                <a:picLocks noChangeAspect="1"/>
              </p:cNvPicPr>
              <p:nvPr/>
            </p:nvPicPr>
            <p:blipFill>
              <a:blip r:embed="rId4"/>
              <a:stretch>
                <a:fillRect/>
              </a:stretch>
            </p:blipFill>
            <p:spPr>
              <a:xfrm>
                <a:off x="588767" y="2458059"/>
                <a:ext cx="376892" cy="376890"/>
              </a:xfrm>
              <a:prstGeom prst="rect">
                <a:avLst/>
              </a:prstGeom>
            </p:spPr>
          </p:pic>
        </p:grpSp>
        <p:grpSp>
          <p:nvGrpSpPr>
            <p:cNvPr id="39" name="Group 38">
              <a:extLst>
                <a:ext uri="{FF2B5EF4-FFF2-40B4-BE49-F238E27FC236}">
                  <a16:creationId xmlns:a16="http://schemas.microsoft.com/office/drawing/2014/main" id="{8284B803-5FAA-4399-83A8-A4561698A875}"/>
                </a:ext>
              </a:extLst>
            </p:cNvPr>
            <p:cNvGrpSpPr/>
            <p:nvPr/>
          </p:nvGrpSpPr>
          <p:grpSpPr>
            <a:xfrm>
              <a:off x="418643" y="3134008"/>
              <a:ext cx="717140" cy="717242"/>
              <a:chOff x="418643" y="3134008"/>
              <a:chExt cx="717140" cy="717242"/>
            </a:xfrm>
          </p:grpSpPr>
          <p:grpSp>
            <p:nvGrpSpPr>
              <p:cNvPr id="25" name="Group 24">
                <a:extLst>
                  <a:ext uri="{FF2B5EF4-FFF2-40B4-BE49-F238E27FC236}">
                    <a16:creationId xmlns:a16="http://schemas.microsoft.com/office/drawing/2014/main" id="{EBC12EB9-9B46-4FFF-9662-F3F89EFC498B}"/>
                  </a:ext>
                </a:extLst>
              </p:cNvPr>
              <p:cNvGrpSpPr/>
              <p:nvPr/>
            </p:nvGrpSpPr>
            <p:grpSpPr>
              <a:xfrm>
                <a:off x="418643" y="3134008"/>
                <a:ext cx="717140" cy="717242"/>
                <a:chOff x="418643" y="3134008"/>
                <a:chExt cx="717140" cy="717242"/>
              </a:xfrm>
            </p:grpSpPr>
            <p:sp>
              <p:nvSpPr>
                <p:cNvPr id="462" name="Freeform 5">
                  <a:extLst>
                    <a:ext uri="{FF2B5EF4-FFF2-40B4-BE49-F238E27FC236}">
                      <a16:creationId xmlns:a16="http://schemas.microsoft.com/office/drawing/2014/main" id="{888F553F-7725-480F-8A81-67806B6E1C1D}"/>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63" name="Freeform 6">
                  <a:extLst>
                    <a:ext uri="{FF2B5EF4-FFF2-40B4-BE49-F238E27FC236}">
                      <a16:creationId xmlns:a16="http://schemas.microsoft.com/office/drawing/2014/main" id="{5ACB146D-E90A-4B02-A04C-3C75A55BBE6E}"/>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dots and outward pointing chevrons on left and right">
                <a:extLst>
                  <a:ext uri="{FF2B5EF4-FFF2-40B4-BE49-F238E27FC236}">
                    <a16:creationId xmlns:a16="http://schemas.microsoft.com/office/drawing/2014/main" id="{65842D12-2F92-42D3-B65A-DE465C113497}"/>
                  </a:ext>
                </a:extLst>
              </p:cNvPr>
              <p:cNvPicPr>
                <a:picLocks noChangeAspect="1"/>
              </p:cNvPicPr>
              <p:nvPr/>
            </p:nvPicPr>
            <p:blipFill>
              <a:blip r:embed="rId5"/>
              <a:stretch>
                <a:fillRect/>
              </a:stretch>
            </p:blipFill>
            <p:spPr>
              <a:xfrm>
                <a:off x="526606" y="3382030"/>
                <a:ext cx="501214" cy="221198"/>
              </a:xfrm>
              <a:prstGeom prst="rect">
                <a:avLst/>
              </a:prstGeom>
            </p:spPr>
          </p:pic>
        </p:grpSp>
        <p:grpSp>
          <p:nvGrpSpPr>
            <p:cNvPr id="38" name="Group 37">
              <a:extLst>
                <a:ext uri="{FF2B5EF4-FFF2-40B4-BE49-F238E27FC236}">
                  <a16:creationId xmlns:a16="http://schemas.microsoft.com/office/drawing/2014/main" id="{00B12B47-0F34-4D41-9F49-8CD1D4CF17F0}"/>
                </a:ext>
              </a:extLst>
            </p:cNvPr>
            <p:cNvGrpSpPr/>
            <p:nvPr/>
          </p:nvGrpSpPr>
          <p:grpSpPr>
            <a:xfrm>
              <a:off x="418643" y="3980133"/>
              <a:ext cx="717140" cy="717242"/>
              <a:chOff x="418643" y="3980133"/>
              <a:chExt cx="717140" cy="717242"/>
            </a:xfrm>
          </p:grpSpPr>
          <p:grpSp>
            <p:nvGrpSpPr>
              <p:cNvPr id="26" name="Group 25">
                <a:extLst>
                  <a:ext uri="{FF2B5EF4-FFF2-40B4-BE49-F238E27FC236}">
                    <a16:creationId xmlns:a16="http://schemas.microsoft.com/office/drawing/2014/main" id="{B75929F5-A085-4C51-8C6E-6E76D2B7DF4B}"/>
                  </a:ext>
                </a:extLst>
              </p:cNvPr>
              <p:cNvGrpSpPr/>
              <p:nvPr/>
            </p:nvGrpSpPr>
            <p:grpSpPr>
              <a:xfrm>
                <a:off x="418643" y="3980133"/>
                <a:ext cx="717140" cy="717242"/>
                <a:chOff x="418643" y="3980133"/>
                <a:chExt cx="717140" cy="717242"/>
              </a:xfrm>
            </p:grpSpPr>
            <p:sp>
              <p:nvSpPr>
                <p:cNvPr id="479" name="Freeform 5">
                  <a:extLst>
                    <a:ext uri="{FF2B5EF4-FFF2-40B4-BE49-F238E27FC236}">
                      <a16:creationId xmlns:a16="http://schemas.microsoft.com/office/drawing/2014/main" id="{A4703758-132D-40D8-BC75-876B4F27A079}"/>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80" name="Freeform 6">
                  <a:extLst>
                    <a:ext uri="{FF2B5EF4-FFF2-40B4-BE49-F238E27FC236}">
                      <a16:creationId xmlns:a16="http://schemas.microsoft.com/office/drawing/2014/main" id="{22856682-E9F0-4805-B656-1CF1B5DE306A}"/>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bulb">
                <a:extLst>
                  <a:ext uri="{FF2B5EF4-FFF2-40B4-BE49-F238E27FC236}">
                    <a16:creationId xmlns:a16="http://schemas.microsoft.com/office/drawing/2014/main" id="{64AF90CC-F600-4DB6-9BB3-F6B3BF6BD67B}"/>
                  </a:ext>
                </a:extLst>
              </p:cNvPr>
              <p:cNvPicPr>
                <a:picLocks noChangeAspect="1"/>
              </p:cNvPicPr>
              <p:nvPr/>
            </p:nvPicPr>
            <p:blipFill>
              <a:blip r:embed="rId6"/>
              <a:stretch>
                <a:fillRect/>
              </a:stretch>
            </p:blipFill>
            <p:spPr>
              <a:xfrm>
                <a:off x="641719" y="4150309"/>
                <a:ext cx="270988" cy="376890"/>
              </a:xfrm>
              <a:prstGeom prst="rect">
                <a:avLst/>
              </a:prstGeom>
            </p:spPr>
          </p:pic>
        </p:grpSp>
        <p:grpSp>
          <p:nvGrpSpPr>
            <p:cNvPr id="37" name="Group 36">
              <a:extLst>
                <a:ext uri="{FF2B5EF4-FFF2-40B4-BE49-F238E27FC236}">
                  <a16:creationId xmlns:a16="http://schemas.microsoft.com/office/drawing/2014/main" id="{D3C49F5C-3419-4D9A-96A4-84DED3E809E0}"/>
                </a:ext>
              </a:extLst>
            </p:cNvPr>
            <p:cNvGrpSpPr/>
            <p:nvPr/>
          </p:nvGrpSpPr>
          <p:grpSpPr>
            <a:xfrm>
              <a:off x="418643" y="4826259"/>
              <a:ext cx="717140" cy="717242"/>
              <a:chOff x="418643" y="4826259"/>
              <a:chExt cx="717140" cy="717242"/>
            </a:xfrm>
          </p:grpSpPr>
          <p:grpSp>
            <p:nvGrpSpPr>
              <p:cNvPr id="27" name="Group 26">
                <a:extLst>
                  <a:ext uri="{FF2B5EF4-FFF2-40B4-BE49-F238E27FC236}">
                    <a16:creationId xmlns:a16="http://schemas.microsoft.com/office/drawing/2014/main" id="{83E35324-EF88-48AD-83A4-74F13EF77C23}"/>
                  </a:ext>
                </a:extLst>
              </p:cNvPr>
              <p:cNvGrpSpPr/>
              <p:nvPr/>
            </p:nvGrpSpPr>
            <p:grpSpPr>
              <a:xfrm>
                <a:off x="418643" y="4826259"/>
                <a:ext cx="717140" cy="717242"/>
                <a:chOff x="418643" y="4826259"/>
                <a:chExt cx="717140" cy="717242"/>
              </a:xfrm>
            </p:grpSpPr>
            <p:sp>
              <p:nvSpPr>
                <p:cNvPr id="494" name="Freeform 5">
                  <a:extLst>
                    <a:ext uri="{FF2B5EF4-FFF2-40B4-BE49-F238E27FC236}">
                      <a16:creationId xmlns:a16="http://schemas.microsoft.com/office/drawing/2014/main" id="{FB419442-E6E4-414B-8372-EE8657DFE447}"/>
                    </a:ext>
                  </a:extLst>
                </p:cNvPr>
                <p:cNvSpPr>
                  <a:spLocks/>
                </p:cNvSpPr>
                <p:nvPr/>
              </p:nvSpPr>
              <p:spPr bwMode="auto">
                <a:xfrm>
                  <a:off x="418643"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95" name="Freeform 6">
                  <a:extLst>
                    <a:ext uri="{FF2B5EF4-FFF2-40B4-BE49-F238E27FC236}">
                      <a16:creationId xmlns:a16="http://schemas.microsoft.com/office/drawing/2014/main" id="{39AAC0A3-E2DF-4066-9E38-235B2F7F896B}"/>
                    </a:ext>
                  </a:extLst>
                </p:cNvPr>
                <p:cNvSpPr>
                  <a:spLocks noEditPoints="1"/>
                </p:cNvSpPr>
                <p:nvPr/>
              </p:nvSpPr>
              <p:spPr bwMode="auto">
                <a:xfrm>
                  <a:off x="468541"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coding brackets">
                <a:extLst>
                  <a:ext uri="{FF2B5EF4-FFF2-40B4-BE49-F238E27FC236}">
                    <a16:creationId xmlns:a16="http://schemas.microsoft.com/office/drawing/2014/main" id="{631F695F-C061-4F6A-93D6-30805DA4F847}"/>
                  </a:ext>
                </a:extLst>
              </p:cNvPr>
              <p:cNvPicPr>
                <a:picLocks noChangeAspect="1"/>
              </p:cNvPicPr>
              <p:nvPr/>
            </p:nvPicPr>
            <p:blipFill>
              <a:blip r:embed="rId7"/>
              <a:stretch>
                <a:fillRect/>
              </a:stretch>
            </p:blipFill>
            <p:spPr>
              <a:xfrm>
                <a:off x="589184" y="4996851"/>
                <a:ext cx="376058" cy="376058"/>
              </a:xfrm>
              <a:prstGeom prst="rect">
                <a:avLst/>
              </a:prstGeom>
            </p:spPr>
          </p:pic>
        </p:grpSp>
      </p:grpSp>
      <p:grpSp>
        <p:nvGrpSpPr>
          <p:cNvPr id="22" name="Group 21">
            <a:extLst>
              <a:ext uri="{FF2B5EF4-FFF2-40B4-BE49-F238E27FC236}">
                <a16:creationId xmlns:a16="http://schemas.microsoft.com/office/drawing/2014/main" id="{A05080EB-FDBD-4D02-828E-FA0D37DDB21F}"/>
              </a:ext>
              <a:ext uri="{C183D7F6-B498-43B3-948B-1728B52AA6E4}">
                <adec:decorative xmlns:adec="http://schemas.microsoft.com/office/drawing/2017/decorative" val="1"/>
              </a:ext>
            </a:extLst>
          </p:cNvPr>
          <p:cNvGrpSpPr/>
          <p:nvPr/>
        </p:nvGrpSpPr>
        <p:grpSpPr>
          <a:xfrm>
            <a:off x="6229350" y="1441758"/>
            <a:ext cx="717140" cy="3255617"/>
            <a:chOff x="6229350" y="1441758"/>
            <a:chExt cx="717140" cy="3255617"/>
          </a:xfrm>
        </p:grpSpPr>
        <p:grpSp>
          <p:nvGrpSpPr>
            <p:cNvPr id="35" name="Group 34">
              <a:extLst>
                <a:ext uri="{FF2B5EF4-FFF2-40B4-BE49-F238E27FC236}">
                  <a16:creationId xmlns:a16="http://schemas.microsoft.com/office/drawing/2014/main" id="{B638961C-A7D9-4A05-9017-BD540877B4C0}"/>
                </a:ext>
              </a:extLst>
            </p:cNvPr>
            <p:cNvGrpSpPr/>
            <p:nvPr/>
          </p:nvGrpSpPr>
          <p:grpSpPr>
            <a:xfrm>
              <a:off x="6229350" y="1441758"/>
              <a:ext cx="717140" cy="717242"/>
              <a:chOff x="6229350" y="1441758"/>
              <a:chExt cx="717140" cy="717242"/>
            </a:xfrm>
          </p:grpSpPr>
          <p:grpSp>
            <p:nvGrpSpPr>
              <p:cNvPr id="34" name="Group 33">
                <a:extLst>
                  <a:ext uri="{FF2B5EF4-FFF2-40B4-BE49-F238E27FC236}">
                    <a16:creationId xmlns:a16="http://schemas.microsoft.com/office/drawing/2014/main" id="{92DA2DB9-AA76-434B-AADC-C00668F5E99C}"/>
                  </a:ext>
                </a:extLst>
              </p:cNvPr>
              <p:cNvGrpSpPr/>
              <p:nvPr/>
            </p:nvGrpSpPr>
            <p:grpSpPr>
              <a:xfrm>
                <a:off x="6229350" y="1441758"/>
                <a:ext cx="717140" cy="717242"/>
                <a:chOff x="6229350" y="1441758"/>
                <a:chExt cx="717140" cy="717242"/>
              </a:xfrm>
            </p:grpSpPr>
            <p:sp>
              <p:nvSpPr>
                <p:cNvPr id="502" name="Freeform 5">
                  <a:extLst>
                    <a:ext uri="{FF2B5EF4-FFF2-40B4-BE49-F238E27FC236}">
                      <a16:creationId xmlns:a16="http://schemas.microsoft.com/office/drawing/2014/main" id="{7C38D06D-3BDF-4FE8-ACEE-5D2D68A5DC07}"/>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03" name="Freeform 6">
                  <a:extLst>
                    <a:ext uri="{FF2B5EF4-FFF2-40B4-BE49-F238E27FC236}">
                      <a16:creationId xmlns:a16="http://schemas.microsoft.com/office/drawing/2014/main" id="{095AD193-40D2-470E-9F4F-4D7268E94FCA}"/>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three concentric arcs">
                <a:extLst>
                  <a:ext uri="{FF2B5EF4-FFF2-40B4-BE49-F238E27FC236}">
                    <a16:creationId xmlns:a16="http://schemas.microsoft.com/office/drawing/2014/main" id="{1189780B-0175-4F91-8B75-98110B53B820}"/>
                  </a:ext>
                </a:extLst>
              </p:cNvPr>
              <p:cNvPicPr>
                <a:picLocks noChangeAspect="1"/>
              </p:cNvPicPr>
              <p:nvPr/>
            </p:nvPicPr>
            <p:blipFill>
              <a:blip r:embed="rId3"/>
              <a:stretch>
                <a:fillRect/>
              </a:stretch>
            </p:blipFill>
            <p:spPr>
              <a:xfrm>
                <a:off x="6399474" y="1611934"/>
                <a:ext cx="376892" cy="376890"/>
              </a:xfrm>
              <a:prstGeom prst="rect">
                <a:avLst/>
              </a:prstGeom>
            </p:spPr>
          </p:pic>
        </p:grpSp>
        <p:grpSp>
          <p:nvGrpSpPr>
            <p:cNvPr id="33" name="Group 32">
              <a:extLst>
                <a:ext uri="{FF2B5EF4-FFF2-40B4-BE49-F238E27FC236}">
                  <a16:creationId xmlns:a16="http://schemas.microsoft.com/office/drawing/2014/main" id="{6308A370-1D97-4A49-9014-CF4723C04ABF}"/>
                </a:ext>
              </a:extLst>
            </p:cNvPr>
            <p:cNvGrpSpPr/>
            <p:nvPr/>
          </p:nvGrpSpPr>
          <p:grpSpPr>
            <a:xfrm>
              <a:off x="6229350" y="2287883"/>
              <a:ext cx="717140" cy="717242"/>
              <a:chOff x="6229350" y="2287883"/>
              <a:chExt cx="717140" cy="717242"/>
            </a:xfrm>
          </p:grpSpPr>
          <p:grpSp>
            <p:nvGrpSpPr>
              <p:cNvPr id="32" name="Group 31">
                <a:extLst>
                  <a:ext uri="{FF2B5EF4-FFF2-40B4-BE49-F238E27FC236}">
                    <a16:creationId xmlns:a16="http://schemas.microsoft.com/office/drawing/2014/main" id="{7F4F032F-246D-443C-8163-A701DA6DE211}"/>
                  </a:ext>
                </a:extLst>
              </p:cNvPr>
              <p:cNvGrpSpPr/>
              <p:nvPr/>
            </p:nvGrpSpPr>
            <p:grpSpPr>
              <a:xfrm>
                <a:off x="6229350" y="2287883"/>
                <a:ext cx="717140" cy="717242"/>
                <a:chOff x="6229350" y="2287883"/>
                <a:chExt cx="717140" cy="717242"/>
              </a:xfrm>
            </p:grpSpPr>
            <p:sp>
              <p:nvSpPr>
                <p:cNvPr id="509" name="Freeform 5">
                  <a:extLst>
                    <a:ext uri="{FF2B5EF4-FFF2-40B4-BE49-F238E27FC236}">
                      <a16:creationId xmlns:a16="http://schemas.microsoft.com/office/drawing/2014/main" id="{4D76B15B-3B47-4151-8F32-4166422F1E3F}"/>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10" name="Freeform 6">
                  <a:extLst>
                    <a:ext uri="{FF2B5EF4-FFF2-40B4-BE49-F238E27FC236}">
                      <a16:creationId xmlns:a16="http://schemas.microsoft.com/office/drawing/2014/main" id="{78E89B24-9DDC-480F-87AB-0549ADA90EA3}"/>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arrow in a circular path with a timer inside the circle">
                <a:extLst>
                  <a:ext uri="{FF2B5EF4-FFF2-40B4-BE49-F238E27FC236}">
                    <a16:creationId xmlns:a16="http://schemas.microsoft.com/office/drawing/2014/main" id="{CDBDB94A-0E09-4593-BA27-B37EB53EE990}"/>
                  </a:ext>
                </a:extLst>
              </p:cNvPr>
              <p:cNvPicPr>
                <a:picLocks noChangeAspect="1"/>
              </p:cNvPicPr>
              <p:nvPr/>
            </p:nvPicPr>
            <p:blipFill>
              <a:blip r:embed="rId4"/>
              <a:stretch>
                <a:fillRect/>
              </a:stretch>
            </p:blipFill>
            <p:spPr>
              <a:xfrm>
                <a:off x="6399474" y="2458059"/>
                <a:ext cx="376892" cy="376890"/>
              </a:xfrm>
              <a:prstGeom prst="rect">
                <a:avLst/>
              </a:prstGeom>
            </p:spPr>
          </p:pic>
        </p:grpSp>
        <p:grpSp>
          <p:nvGrpSpPr>
            <p:cNvPr id="31" name="Group 30">
              <a:extLst>
                <a:ext uri="{FF2B5EF4-FFF2-40B4-BE49-F238E27FC236}">
                  <a16:creationId xmlns:a16="http://schemas.microsoft.com/office/drawing/2014/main" id="{71600EC7-D681-442E-ADA2-26B906AE2BC2}"/>
                </a:ext>
              </a:extLst>
            </p:cNvPr>
            <p:cNvGrpSpPr/>
            <p:nvPr/>
          </p:nvGrpSpPr>
          <p:grpSpPr>
            <a:xfrm>
              <a:off x="6229350" y="3134008"/>
              <a:ext cx="717140" cy="717242"/>
              <a:chOff x="6229350" y="3134008"/>
              <a:chExt cx="717140" cy="717242"/>
            </a:xfrm>
          </p:grpSpPr>
          <p:grpSp>
            <p:nvGrpSpPr>
              <p:cNvPr id="30" name="Group 29">
                <a:extLst>
                  <a:ext uri="{FF2B5EF4-FFF2-40B4-BE49-F238E27FC236}">
                    <a16:creationId xmlns:a16="http://schemas.microsoft.com/office/drawing/2014/main" id="{1943EAE8-9815-4AEA-AE45-47D92C6B3AF6}"/>
                  </a:ext>
                </a:extLst>
              </p:cNvPr>
              <p:cNvGrpSpPr/>
              <p:nvPr/>
            </p:nvGrpSpPr>
            <p:grpSpPr>
              <a:xfrm>
                <a:off x="6229350" y="3134008"/>
                <a:ext cx="717140" cy="717242"/>
                <a:chOff x="6229350" y="3134008"/>
                <a:chExt cx="717140" cy="717242"/>
              </a:xfrm>
            </p:grpSpPr>
            <p:sp>
              <p:nvSpPr>
                <p:cNvPr id="527" name="Freeform 5">
                  <a:extLst>
                    <a:ext uri="{FF2B5EF4-FFF2-40B4-BE49-F238E27FC236}">
                      <a16:creationId xmlns:a16="http://schemas.microsoft.com/office/drawing/2014/main" id="{28A598F9-17B1-4932-84A8-C1415942342C}"/>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28" name="Freeform 6">
                  <a:extLst>
                    <a:ext uri="{FF2B5EF4-FFF2-40B4-BE49-F238E27FC236}">
                      <a16:creationId xmlns:a16="http://schemas.microsoft.com/office/drawing/2014/main" id="{FB10E352-70F0-42D5-8556-93A2EBE199B9}"/>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0" name="Picture 19" descr="Icon of three dots and outward pointing chevrons on left and right">
                <a:extLst>
                  <a:ext uri="{FF2B5EF4-FFF2-40B4-BE49-F238E27FC236}">
                    <a16:creationId xmlns:a16="http://schemas.microsoft.com/office/drawing/2014/main" id="{E3B0539E-609C-48CE-B0F2-F92786CA4BE7}"/>
                  </a:ext>
                </a:extLst>
              </p:cNvPr>
              <p:cNvPicPr>
                <a:picLocks noChangeAspect="1"/>
              </p:cNvPicPr>
              <p:nvPr/>
            </p:nvPicPr>
            <p:blipFill>
              <a:blip r:embed="rId5"/>
              <a:stretch>
                <a:fillRect/>
              </a:stretch>
            </p:blipFill>
            <p:spPr>
              <a:xfrm>
                <a:off x="6337313" y="3382030"/>
                <a:ext cx="501214" cy="221198"/>
              </a:xfrm>
              <a:prstGeom prst="rect">
                <a:avLst/>
              </a:prstGeom>
            </p:spPr>
          </p:pic>
        </p:grpSp>
        <p:grpSp>
          <p:nvGrpSpPr>
            <p:cNvPr id="42" name="Group 41">
              <a:extLst>
                <a:ext uri="{FF2B5EF4-FFF2-40B4-BE49-F238E27FC236}">
                  <a16:creationId xmlns:a16="http://schemas.microsoft.com/office/drawing/2014/main" id="{01091F28-2D11-4429-94AB-64CAA9A9C021}"/>
                </a:ext>
              </a:extLst>
            </p:cNvPr>
            <p:cNvGrpSpPr/>
            <p:nvPr/>
          </p:nvGrpSpPr>
          <p:grpSpPr>
            <a:xfrm>
              <a:off x="6229350" y="3980133"/>
              <a:ext cx="717140" cy="717242"/>
              <a:chOff x="6229350" y="3980133"/>
              <a:chExt cx="717140" cy="717242"/>
            </a:xfrm>
          </p:grpSpPr>
          <p:grpSp>
            <p:nvGrpSpPr>
              <p:cNvPr id="29" name="Group 28">
                <a:extLst>
                  <a:ext uri="{FF2B5EF4-FFF2-40B4-BE49-F238E27FC236}">
                    <a16:creationId xmlns:a16="http://schemas.microsoft.com/office/drawing/2014/main" id="{35BAB889-B931-4956-992D-E9E68985EC18}"/>
                  </a:ext>
                </a:extLst>
              </p:cNvPr>
              <p:cNvGrpSpPr/>
              <p:nvPr/>
            </p:nvGrpSpPr>
            <p:grpSpPr>
              <a:xfrm>
                <a:off x="6229350" y="3980133"/>
                <a:ext cx="717140" cy="717242"/>
                <a:chOff x="6229350" y="3980133"/>
                <a:chExt cx="717140" cy="717242"/>
              </a:xfrm>
            </p:grpSpPr>
            <p:sp>
              <p:nvSpPr>
                <p:cNvPr id="544" name="Freeform 5">
                  <a:extLst>
                    <a:ext uri="{FF2B5EF4-FFF2-40B4-BE49-F238E27FC236}">
                      <a16:creationId xmlns:a16="http://schemas.microsoft.com/office/drawing/2014/main" id="{735B3FEE-05B7-4A88-A2AD-D24062CA3094}"/>
                    </a:ext>
                  </a:extLst>
                </p:cNvPr>
                <p:cNvSpPr>
                  <a:spLocks/>
                </p:cNvSpPr>
                <p:nvPr/>
              </p:nvSpPr>
              <p:spPr bwMode="auto">
                <a:xfrm>
                  <a:off x="6229350"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45" name="Freeform 6">
                  <a:extLst>
                    <a:ext uri="{FF2B5EF4-FFF2-40B4-BE49-F238E27FC236}">
                      <a16:creationId xmlns:a16="http://schemas.microsoft.com/office/drawing/2014/main" id="{DFA6593E-7641-4C25-9D71-733CB9C245B5}"/>
                    </a:ext>
                  </a:extLst>
                </p:cNvPr>
                <p:cNvSpPr>
                  <a:spLocks noEditPoints="1"/>
                </p:cNvSpPr>
                <p:nvPr/>
              </p:nvSpPr>
              <p:spPr bwMode="auto">
                <a:xfrm>
                  <a:off x="6279248"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1" name="Picture 20" descr="Icon of a bulb">
                <a:extLst>
                  <a:ext uri="{FF2B5EF4-FFF2-40B4-BE49-F238E27FC236}">
                    <a16:creationId xmlns:a16="http://schemas.microsoft.com/office/drawing/2014/main" id="{A8226D75-0AD7-4E58-89AE-02EAF1566AF9}"/>
                  </a:ext>
                </a:extLst>
              </p:cNvPr>
              <p:cNvPicPr>
                <a:picLocks noChangeAspect="1"/>
              </p:cNvPicPr>
              <p:nvPr/>
            </p:nvPicPr>
            <p:blipFill>
              <a:blip r:embed="rId6"/>
              <a:stretch>
                <a:fillRect/>
              </a:stretch>
            </p:blipFill>
            <p:spPr>
              <a:xfrm>
                <a:off x="6452426" y="4150309"/>
                <a:ext cx="270988" cy="376890"/>
              </a:xfrm>
              <a:prstGeom prst="rect">
                <a:avLst/>
              </a:prstGeom>
            </p:spPr>
          </p:pic>
        </p:grpSp>
      </p:grpSp>
    </p:spTree>
    <p:extLst>
      <p:ext uri="{BB962C8B-B14F-4D97-AF65-F5344CB8AC3E}">
        <p14:creationId xmlns:p14="http://schemas.microsoft.com/office/powerpoint/2010/main" val="177938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681103"/>
            <a:ext cx="8892608" cy="1495794"/>
          </a:xfrm>
        </p:spPr>
        <p:txBody>
          <a:bodyPr/>
          <a:lstStyle/>
          <a:p>
            <a:r>
              <a:rPr lang="en-US" dirty="0"/>
              <a:t>Lesson 01: </a:t>
            </a:r>
            <a:r>
              <a:rPr lang="en-US" sz="3600" dirty="0"/>
              <a:t>Get network security recommendations with Microsoft Defender for Cloud</a:t>
            </a:r>
          </a:p>
        </p:txBody>
      </p:sp>
      <p:grpSp>
        <p:nvGrpSpPr>
          <p:cNvPr id="6" name="Group 5">
            <a:extLst>
              <a:ext uri="{FF2B5EF4-FFF2-40B4-BE49-F238E27FC236}">
                <a16:creationId xmlns:a16="http://schemas.microsoft.com/office/drawing/2014/main" id="{60AEA89A-9F38-4BDF-A51E-F1B8B7CEC091}"/>
              </a:ext>
              <a:ext uri="{C183D7F6-B498-43B3-948B-1728B52AA6E4}">
                <adec:decorative xmlns:adec="http://schemas.microsoft.com/office/drawing/2017/decorative" val="1"/>
              </a:ext>
            </a:extLst>
          </p:cNvPr>
          <p:cNvGrpSpPr/>
          <p:nvPr/>
        </p:nvGrpSpPr>
        <p:grpSpPr>
          <a:xfrm>
            <a:off x="10318547" y="3070379"/>
            <a:ext cx="717140" cy="717242"/>
            <a:chOff x="418643" y="1441758"/>
            <a:chExt cx="717140" cy="717242"/>
          </a:xfrm>
        </p:grpSpPr>
        <p:grpSp>
          <p:nvGrpSpPr>
            <p:cNvPr id="7" name="Group 6">
              <a:extLst>
                <a:ext uri="{FF2B5EF4-FFF2-40B4-BE49-F238E27FC236}">
                  <a16:creationId xmlns:a16="http://schemas.microsoft.com/office/drawing/2014/main" id="{39205234-FC5F-4FF3-BE7E-4B11BB2E42F7}"/>
                </a:ext>
              </a:extLst>
            </p:cNvPr>
            <p:cNvGrpSpPr/>
            <p:nvPr/>
          </p:nvGrpSpPr>
          <p:grpSpPr>
            <a:xfrm>
              <a:off x="418643" y="1441758"/>
              <a:ext cx="717140" cy="717242"/>
              <a:chOff x="418643" y="1441758"/>
              <a:chExt cx="717140" cy="717242"/>
            </a:xfrm>
          </p:grpSpPr>
          <p:sp>
            <p:nvSpPr>
              <p:cNvPr id="9" name="Freeform 5">
                <a:extLst>
                  <a:ext uri="{FF2B5EF4-FFF2-40B4-BE49-F238E27FC236}">
                    <a16:creationId xmlns:a16="http://schemas.microsoft.com/office/drawing/2014/main" id="{5672FF69-108E-4613-AFCE-15F753FC30A5}"/>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 name="Freeform 6">
                <a:extLst>
                  <a:ext uri="{FF2B5EF4-FFF2-40B4-BE49-F238E27FC236}">
                    <a16:creationId xmlns:a16="http://schemas.microsoft.com/office/drawing/2014/main" id="{E98AEC94-82AB-4342-848A-D140F7B5684B}"/>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EB28412F-E70E-4DAA-8504-9C7C2592691A}"/>
                </a:ext>
              </a:extLst>
            </p:cNvPr>
            <p:cNvPicPr>
              <a:picLocks noChangeAspect="1"/>
            </p:cNvPicPr>
            <p:nvPr/>
          </p:nvPicPr>
          <p:blipFill>
            <a:blip r:embed="rId2"/>
            <a:stretch>
              <a:fillRect/>
            </a:stretch>
          </p:blipFill>
          <p:spPr>
            <a:xfrm>
              <a:off x="588767" y="1611934"/>
              <a:ext cx="376892" cy="376890"/>
            </a:xfrm>
            <a:prstGeom prst="rect">
              <a:avLst/>
            </a:prstGeom>
          </p:spPr>
        </p:pic>
      </p:grpSp>
    </p:spTree>
    <p:extLst>
      <p:ext uri="{BB962C8B-B14F-4D97-AF65-F5344CB8AC3E}">
        <p14:creationId xmlns:p14="http://schemas.microsoft.com/office/powerpoint/2010/main" val="420451122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Secure your virtual networks in the Azure portal overview </a:t>
            </a:r>
          </a:p>
        </p:txBody>
      </p:sp>
      <p:sp>
        <p:nvSpPr>
          <p:cNvPr id="6" name="Text Placeholder 5"/>
          <p:cNvSpPr>
            <a:spLocks noGrp="1"/>
          </p:cNvSpPr>
          <p:nvPr>
            <p:ph type="body" sz="quarter" idx="11"/>
          </p:nvPr>
        </p:nvSpPr>
        <p:spPr>
          <a:xfrm>
            <a:off x="4078288" y="1262096"/>
            <a:ext cx="7695070" cy="741783"/>
          </a:xfrm>
        </p:spPr>
        <p:txBody>
          <a:bodyPr/>
          <a:lstStyle/>
          <a:p>
            <a:pPr lvl="1"/>
            <a:r>
              <a:rPr lang="en-US" dirty="0"/>
              <a:t>Azure Security benchmark</a:t>
            </a:r>
          </a:p>
        </p:txBody>
      </p:sp>
      <p:sp>
        <p:nvSpPr>
          <p:cNvPr id="2" name="Text Placeholder 1"/>
          <p:cNvSpPr>
            <a:spLocks noGrp="1"/>
          </p:cNvSpPr>
          <p:nvPr>
            <p:ph type="body" sz="quarter" idx="15"/>
          </p:nvPr>
        </p:nvSpPr>
        <p:spPr>
          <a:xfrm>
            <a:off x="4078288" y="2127155"/>
            <a:ext cx="7695070" cy="741783"/>
          </a:xfrm>
        </p:spPr>
        <p:txBody>
          <a:bodyPr/>
          <a:lstStyle/>
          <a:p>
            <a:pPr lvl="1"/>
            <a:r>
              <a:rPr lang="en-US" dirty="0"/>
              <a:t>Using </a:t>
            </a:r>
            <a:r>
              <a:rPr lang="en-US" b="0" i="0" dirty="0">
                <a:solidFill>
                  <a:srgbClr val="000000"/>
                </a:solidFill>
                <a:effectLst/>
                <a:latin typeface="Segoe UI VSS (Regular)"/>
              </a:rPr>
              <a:t>Microsoft Defender for Cloud </a:t>
            </a:r>
            <a:r>
              <a:rPr lang="en-US" dirty="0"/>
              <a:t>for regulatory compliance</a:t>
            </a:r>
          </a:p>
        </p:txBody>
      </p:sp>
      <p:sp>
        <p:nvSpPr>
          <p:cNvPr id="3" name="Text Placeholder 2"/>
          <p:cNvSpPr>
            <a:spLocks noGrp="1"/>
          </p:cNvSpPr>
          <p:nvPr>
            <p:ph type="body" sz="quarter" idx="17"/>
          </p:nvPr>
        </p:nvSpPr>
        <p:spPr>
          <a:xfrm>
            <a:off x="4078288" y="2992214"/>
            <a:ext cx="7695070" cy="741783"/>
          </a:xfrm>
        </p:spPr>
        <p:txBody>
          <a:bodyPr/>
          <a:lstStyle/>
          <a:p>
            <a:pPr lvl="1"/>
            <a:r>
              <a:rPr lang="en-US" dirty="0"/>
              <a:t>Alerts in </a:t>
            </a:r>
            <a:r>
              <a:rPr lang="en-US" b="0" i="0" dirty="0">
                <a:solidFill>
                  <a:srgbClr val="000000"/>
                </a:solidFill>
                <a:effectLst/>
                <a:latin typeface="Segoe UI VSS (Regular)"/>
              </a:rPr>
              <a:t>Microsoft Defender for Cloud</a:t>
            </a:r>
            <a:endParaRPr lang="en-US" dirty="0"/>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a:xfrm>
            <a:off x="4078288" y="3857273"/>
            <a:ext cx="7695070" cy="741783"/>
          </a:xfrm>
        </p:spPr>
        <p:txBody>
          <a:bodyPr/>
          <a:lstStyle/>
          <a:p>
            <a:pPr lvl="1"/>
            <a:r>
              <a:rPr lang="en-US" dirty="0"/>
              <a:t>Network Security</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a:xfrm>
            <a:off x="4078288" y="4722332"/>
            <a:ext cx="7695070" cy="741783"/>
          </a:xfrm>
        </p:spPr>
        <p:txBody>
          <a:bodyPr/>
          <a:lstStyle/>
          <a:p>
            <a:pPr lvl="1"/>
            <a:r>
              <a:rPr lang="en-US" dirty="0"/>
              <a:t>Review </a:t>
            </a:r>
          </a:p>
        </p:txBody>
      </p:sp>
      <p:grpSp>
        <p:nvGrpSpPr>
          <p:cNvPr id="7" name="Group 6">
            <a:extLst>
              <a:ext uri="{FF2B5EF4-FFF2-40B4-BE49-F238E27FC236}">
                <a16:creationId xmlns:a16="http://schemas.microsoft.com/office/drawing/2014/main" id="{800A352F-A550-44B7-980B-9731D3513CB1}"/>
              </a:ext>
              <a:ext uri="{C183D7F6-B498-43B3-948B-1728B52AA6E4}">
                <adec:decorative xmlns:adec="http://schemas.microsoft.com/office/drawing/2017/decorative" val="1"/>
              </a:ext>
            </a:extLst>
          </p:cNvPr>
          <p:cNvGrpSpPr/>
          <p:nvPr/>
        </p:nvGrpSpPr>
        <p:grpSpPr>
          <a:xfrm>
            <a:off x="3031668" y="1267668"/>
            <a:ext cx="702132" cy="4174487"/>
            <a:chOff x="3031668" y="1267668"/>
            <a:chExt cx="702132" cy="4174487"/>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1267668"/>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2146384"/>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3010897"/>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875410"/>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4739923"/>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spTree>
    <p:extLst>
      <p:ext uri="{BB962C8B-B14F-4D97-AF65-F5344CB8AC3E}">
        <p14:creationId xmlns:p14="http://schemas.microsoft.com/office/powerpoint/2010/main" val="28297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a:xfrm>
            <a:off x="424090" y="466096"/>
            <a:ext cx="11343820" cy="397545"/>
          </a:xfrm>
        </p:spPr>
        <p:txBody>
          <a:bodyPr/>
          <a:lstStyle/>
          <a:p>
            <a:r>
              <a:rPr lang="en-US" sz="2800">
                <a:cs typeface="Segoe UI Semilight"/>
              </a:rPr>
              <a:t>Network Security</a:t>
            </a:r>
            <a:endParaRPr lang="en-US"/>
          </a:p>
        </p:txBody>
      </p:sp>
      <p:sp>
        <p:nvSpPr>
          <p:cNvPr id="6" name="Rectangle 5">
            <a:extLst>
              <a:ext uri="{FF2B5EF4-FFF2-40B4-BE49-F238E27FC236}">
                <a16:creationId xmlns:a16="http://schemas.microsoft.com/office/drawing/2014/main" id="{6E45E368-68CC-42C2-95DE-4108425AD709}"/>
              </a:ext>
            </a:extLst>
          </p:cNvPr>
          <p:cNvSpPr/>
          <p:nvPr/>
        </p:nvSpPr>
        <p:spPr bwMode="auto">
          <a:xfrm>
            <a:off x="418643" y="1798025"/>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NS-1: Establish network segmentation boundaries</a:t>
            </a:r>
            <a:endParaRPr lang="en-US" sz="1961" dirty="0">
              <a:solidFill>
                <a:schemeClr val="tx1"/>
              </a:solidFill>
            </a:endParaRPr>
          </a:p>
        </p:txBody>
      </p:sp>
      <p:sp>
        <p:nvSpPr>
          <p:cNvPr id="8" name="Rectangle 7">
            <a:extLst>
              <a:ext uri="{FF2B5EF4-FFF2-40B4-BE49-F238E27FC236}">
                <a16:creationId xmlns:a16="http://schemas.microsoft.com/office/drawing/2014/main" id="{707E5F34-F88B-459F-A26C-42D6617C83FF}"/>
              </a:ext>
            </a:extLst>
          </p:cNvPr>
          <p:cNvSpPr/>
          <p:nvPr/>
        </p:nvSpPr>
        <p:spPr bwMode="auto">
          <a:xfrm>
            <a:off x="4254707" y="1798025"/>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NS-2: Secure cloud services with network controls</a:t>
            </a:r>
            <a:endParaRPr lang="en-US" sz="1961" dirty="0">
              <a:solidFill>
                <a:schemeClr val="tx1"/>
              </a:solidFill>
            </a:endParaRPr>
          </a:p>
        </p:txBody>
      </p:sp>
      <p:sp>
        <p:nvSpPr>
          <p:cNvPr id="10" name="Rectangle 9">
            <a:extLst>
              <a:ext uri="{FF2B5EF4-FFF2-40B4-BE49-F238E27FC236}">
                <a16:creationId xmlns:a16="http://schemas.microsoft.com/office/drawing/2014/main" id="{CB3CCC5A-6974-43E6-B015-6C51D76A2978}"/>
              </a:ext>
            </a:extLst>
          </p:cNvPr>
          <p:cNvSpPr/>
          <p:nvPr/>
        </p:nvSpPr>
        <p:spPr bwMode="auto">
          <a:xfrm>
            <a:off x="8090772" y="1798025"/>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NS-3: Deploy firewall at the edge of enterprise network</a:t>
            </a:r>
            <a:endParaRPr lang="en-US" sz="1961" dirty="0">
              <a:solidFill>
                <a:schemeClr val="tx1"/>
              </a:solidFill>
            </a:endParaRPr>
          </a:p>
        </p:txBody>
      </p:sp>
      <p:sp>
        <p:nvSpPr>
          <p:cNvPr id="12" name="Rectangle 11">
            <a:extLst>
              <a:ext uri="{FF2B5EF4-FFF2-40B4-BE49-F238E27FC236}">
                <a16:creationId xmlns:a16="http://schemas.microsoft.com/office/drawing/2014/main" id="{E868DF2D-5EEC-4A93-89F5-0353867E7252}"/>
              </a:ext>
            </a:extLst>
          </p:cNvPr>
          <p:cNvSpPr/>
          <p:nvPr/>
        </p:nvSpPr>
        <p:spPr bwMode="auto">
          <a:xfrm>
            <a:off x="418643" y="3093444"/>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NS-4: Deploy intrusion detection/intrusion prevention systems (IDS/IPS)</a:t>
            </a:r>
            <a:endParaRPr lang="en-US" sz="1961" dirty="0">
              <a:solidFill>
                <a:schemeClr val="tx1"/>
              </a:solidFill>
            </a:endParaRPr>
          </a:p>
        </p:txBody>
      </p:sp>
      <p:sp>
        <p:nvSpPr>
          <p:cNvPr id="14" name="Rectangle 13">
            <a:extLst>
              <a:ext uri="{FF2B5EF4-FFF2-40B4-BE49-F238E27FC236}">
                <a16:creationId xmlns:a16="http://schemas.microsoft.com/office/drawing/2014/main" id="{4163BC61-729A-405C-8C88-EB5127B39355}"/>
              </a:ext>
            </a:extLst>
          </p:cNvPr>
          <p:cNvSpPr/>
          <p:nvPr/>
        </p:nvSpPr>
        <p:spPr bwMode="auto">
          <a:xfrm>
            <a:off x="4254707" y="3093444"/>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NS-5: Deploy DDOS protection</a:t>
            </a:r>
            <a:endParaRPr lang="en-US" sz="1961" dirty="0">
              <a:solidFill>
                <a:schemeClr val="tx1"/>
              </a:solidFill>
            </a:endParaRPr>
          </a:p>
        </p:txBody>
      </p:sp>
      <p:sp>
        <p:nvSpPr>
          <p:cNvPr id="16" name="Rectangle 15">
            <a:extLst>
              <a:ext uri="{FF2B5EF4-FFF2-40B4-BE49-F238E27FC236}">
                <a16:creationId xmlns:a16="http://schemas.microsoft.com/office/drawing/2014/main" id="{9EE61880-6860-483D-A7C8-BBC6732FCE19}"/>
              </a:ext>
            </a:extLst>
          </p:cNvPr>
          <p:cNvSpPr/>
          <p:nvPr/>
        </p:nvSpPr>
        <p:spPr bwMode="auto">
          <a:xfrm>
            <a:off x="8090772" y="3093444"/>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NS-6: Deploy web application firewall</a:t>
            </a:r>
            <a:endParaRPr lang="en-US" sz="1961" dirty="0">
              <a:solidFill>
                <a:schemeClr val="tx1"/>
              </a:solidFill>
            </a:endParaRPr>
          </a:p>
        </p:txBody>
      </p:sp>
      <p:sp>
        <p:nvSpPr>
          <p:cNvPr id="22" name="Rectangle 21">
            <a:extLst>
              <a:ext uri="{FF2B5EF4-FFF2-40B4-BE49-F238E27FC236}">
                <a16:creationId xmlns:a16="http://schemas.microsoft.com/office/drawing/2014/main" id="{B0A9383F-6F8A-4698-A829-E696BFB8DD23}"/>
              </a:ext>
            </a:extLst>
          </p:cNvPr>
          <p:cNvSpPr/>
          <p:nvPr/>
        </p:nvSpPr>
        <p:spPr bwMode="auto">
          <a:xfrm>
            <a:off x="418643" y="4388863"/>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NS-7: Simplify network security configuration</a:t>
            </a:r>
            <a:endParaRPr lang="en-US" sz="1961" dirty="0">
              <a:solidFill>
                <a:schemeClr val="tx1"/>
              </a:solidFill>
            </a:endParaRPr>
          </a:p>
        </p:txBody>
      </p:sp>
      <p:sp>
        <p:nvSpPr>
          <p:cNvPr id="2" name="Rectangle 1">
            <a:extLst>
              <a:ext uri="{FF2B5EF4-FFF2-40B4-BE49-F238E27FC236}">
                <a16:creationId xmlns:a16="http://schemas.microsoft.com/office/drawing/2014/main" id="{0EEB41FE-7CA5-5558-EFF9-E613E41E2320}"/>
              </a:ext>
            </a:extLst>
          </p:cNvPr>
          <p:cNvSpPr/>
          <p:nvPr/>
        </p:nvSpPr>
        <p:spPr bwMode="auto">
          <a:xfrm>
            <a:off x="4272995" y="4391892"/>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NS-8: Detect and disable insecure services and protocols</a:t>
            </a:r>
            <a:endParaRPr lang="en-US" sz="1961" dirty="0">
              <a:solidFill>
                <a:schemeClr val="tx1"/>
              </a:solidFill>
            </a:endParaRPr>
          </a:p>
        </p:txBody>
      </p:sp>
      <p:sp>
        <p:nvSpPr>
          <p:cNvPr id="4" name="Rectangle 3">
            <a:extLst>
              <a:ext uri="{FF2B5EF4-FFF2-40B4-BE49-F238E27FC236}">
                <a16:creationId xmlns:a16="http://schemas.microsoft.com/office/drawing/2014/main" id="{7E422076-4690-37F4-75C5-D2FE787E290E}"/>
              </a:ext>
            </a:extLst>
          </p:cNvPr>
          <p:cNvSpPr/>
          <p:nvPr/>
        </p:nvSpPr>
        <p:spPr bwMode="auto">
          <a:xfrm>
            <a:off x="8109060" y="4391892"/>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NS-9: Connect on-premises or cloud network privately</a:t>
            </a:r>
            <a:endParaRPr lang="en-US" sz="1961" dirty="0">
              <a:solidFill>
                <a:schemeClr val="tx1"/>
              </a:solidFill>
            </a:endParaRPr>
          </a:p>
        </p:txBody>
      </p:sp>
      <p:sp>
        <p:nvSpPr>
          <p:cNvPr id="5" name="Rectangle 4">
            <a:extLst>
              <a:ext uri="{FF2B5EF4-FFF2-40B4-BE49-F238E27FC236}">
                <a16:creationId xmlns:a16="http://schemas.microsoft.com/office/drawing/2014/main" id="{2BAB30CA-490B-6114-35F7-4D0CA766DDE6}"/>
              </a:ext>
            </a:extLst>
          </p:cNvPr>
          <p:cNvSpPr/>
          <p:nvPr/>
        </p:nvSpPr>
        <p:spPr bwMode="auto">
          <a:xfrm>
            <a:off x="400354" y="5638543"/>
            <a:ext cx="3682586" cy="105058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r>
              <a:rPr lang="en-US" sz="1961" dirty="0">
                <a:solidFill>
                  <a:schemeClr val="tx2">
                    <a:lumMod val="50000"/>
                  </a:schemeClr>
                </a:solidFill>
                <a:latin typeface="+mj-lt"/>
                <a:cs typeface="Segoe UI Semilight"/>
              </a:rPr>
              <a:t>NS-10: Ensure Domain Name System (DNS) security</a:t>
            </a:r>
            <a:endParaRPr lang="en-US" sz="1961" dirty="0">
              <a:solidFill>
                <a:schemeClr val="tx1"/>
              </a:solidFill>
            </a:endParaRPr>
          </a:p>
        </p:txBody>
      </p:sp>
    </p:spTree>
    <p:extLst>
      <p:ext uri="{BB962C8B-B14F-4D97-AF65-F5344CB8AC3E}">
        <p14:creationId xmlns:p14="http://schemas.microsoft.com/office/powerpoint/2010/main" val="6232055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a:xfrm>
            <a:off x="424090" y="466096"/>
            <a:ext cx="11343820" cy="397545"/>
          </a:xfrm>
        </p:spPr>
        <p:txBody>
          <a:bodyPr/>
          <a:lstStyle/>
          <a:p>
            <a:r>
              <a:rPr lang="en-US" sz="2800">
                <a:cs typeface="Segoe UI Semilight"/>
              </a:rPr>
              <a:t>Azure Security benchmark</a:t>
            </a:r>
            <a:endParaRPr lang="en-US"/>
          </a:p>
        </p:txBody>
      </p:sp>
      <p:sp>
        <p:nvSpPr>
          <p:cNvPr id="7" name="Freeform: Shape 6">
            <a:extLst>
              <a:ext uri="{FF2B5EF4-FFF2-40B4-BE49-F238E27FC236}">
                <a16:creationId xmlns:a16="http://schemas.microsoft.com/office/drawing/2014/main" id="{A0F54552-E370-4435-9A02-B634FDFBB00D}"/>
              </a:ext>
            </a:extLst>
          </p:cNvPr>
          <p:cNvSpPr/>
          <p:nvPr/>
        </p:nvSpPr>
        <p:spPr>
          <a:xfrm>
            <a:off x="204591" y="1102338"/>
            <a:ext cx="5532329" cy="157823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8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Azure Security Benchmark (ASB) provides prescriptive best practices and recommendations to help improve the security of workloads, data, and services on Azure</a:t>
            </a:r>
            <a:endParaRPr lang="en-US" sz="1961">
              <a:solidFill>
                <a:schemeClr val="tx1"/>
              </a:solidFill>
              <a:cs typeface="Segoe UI Semilight"/>
            </a:endParaRPr>
          </a:p>
        </p:txBody>
      </p:sp>
      <p:sp>
        <p:nvSpPr>
          <p:cNvPr id="11" name="Freeform: Shape 10">
            <a:extLst>
              <a:ext uri="{FF2B5EF4-FFF2-40B4-BE49-F238E27FC236}">
                <a16:creationId xmlns:a16="http://schemas.microsoft.com/office/drawing/2014/main" id="{DB3DBDD6-AACB-49F4-A314-D5929BA98BA7}"/>
              </a:ext>
            </a:extLst>
          </p:cNvPr>
          <p:cNvSpPr/>
          <p:nvPr/>
        </p:nvSpPr>
        <p:spPr>
          <a:xfrm>
            <a:off x="204591" y="2958933"/>
            <a:ext cx="5532329" cy="157823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800" b="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Security controls: </a:t>
            </a:r>
            <a:r>
              <a:rPr lang="en-US" sz="18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These recommendations are generally applicable across your Azure tenant and Azure services. Each recommendation identifies a list of stakeholders that are typically involved in planning, approval, or implementation of the benchmark.</a:t>
            </a:r>
            <a:endParaRPr lang="en-US" sz="1961">
              <a:solidFill>
                <a:schemeClr val="tx1"/>
              </a:solidFill>
              <a:cs typeface="Segoe UI Semilight"/>
            </a:endParaRPr>
          </a:p>
        </p:txBody>
      </p:sp>
      <p:sp>
        <p:nvSpPr>
          <p:cNvPr id="13" name="Freeform: Shape 12">
            <a:extLst>
              <a:ext uri="{FF2B5EF4-FFF2-40B4-BE49-F238E27FC236}">
                <a16:creationId xmlns:a16="http://schemas.microsoft.com/office/drawing/2014/main" id="{6470C48B-AD30-4306-981A-40B35EEF85F8}"/>
              </a:ext>
            </a:extLst>
          </p:cNvPr>
          <p:cNvSpPr/>
          <p:nvPr/>
        </p:nvSpPr>
        <p:spPr>
          <a:xfrm>
            <a:off x="204590" y="4813672"/>
            <a:ext cx="5532329" cy="157823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800" b="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Service baselines: </a:t>
            </a:r>
            <a:r>
              <a:rPr lang="en-US" sz="18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These apply the controls to individual Azure services to provide recommendations on that service’s security configuration.</a:t>
            </a:r>
            <a:endParaRPr lang="en-US" sz="1961">
              <a:solidFill>
                <a:schemeClr val="tx1"/>
              </a:solidFill>
              <a:cs typeface="Segoe UI Semilight"/>
            </a:endParaRPr>
          </a:p>
        </p:txBody>
      </p:sp>
      <p:graphicFrame>
        <p:nvGraphicFramePr>
          <p:cNvPr id="4" name="Table 3">
            <a:extLst>
              <a:ext uri="{FF2B5EF4-FFF2-40B4-BE49-F238E27FC236}">
                <a16:creationId xmlns:a16="http://schemas.microsoft.com/office/drawing/2014/main" id="{4D98BD8D-18C9-4293-89A6-9023137FAE26}"/>
              </a:ext>
            </a:extLst>
          </p:cNvPr>
          <p:cNvGraphicFramePr/>
          <p:nvPr>
            <p:extLst>
              <p:ext uri="{D42A27DB-BD31-4B8C-83A1-F6EECF244321}">
                <p14:modId xmlns:p14="http://schemas.microsoft.com/office/powerpoint/2010/main" val="1539330467"/>
              </p:ext>
            </p:extLst>
          </p:nvPr>
        </p:nvGraphicFramePr>
        <p:xfrm>
          <a:off x="5994400" y="1172501"/>
          <a:ext cx="5896434" cy="5219403"/>
        </p:xfrm>
        <a:graphic>
          <a:graphicData uri="http://schemas.openxmlformats.org/drawingml/2006/table">
            <a:tbl>
              <a:tblPr firstRow="1" firstCol="1" bandRow="1">
                <a:tableStyleId>{5C22544A-7EE6-4342-B048-85BDC9FD1C3A}</a:tableStyleId>
              </a:tblPr>
              <a:tblGrid>
                <a:gridCol w="1105581">
                  <a:extLst>
                    <a:ext uri="{9D8B030D-6E8A-4147-A177-3AD203B41FA5}">
                      <a16:colId xmlns:a16="http://schemas.microsoft.com/office/drawing/2014/main" val="2447814956"/>
                    </a:ext>
                  </a:extLst>
                </a:gridCol>
                <a:gridCol w="2088320">
                  <a:extLst>
                    <a:ext uri="{9D8B030D-6E8A-4147-A177-3AD203B41FA5}">
                      <a16:colId xmlns:a16="http://schemas.microsoft.com/office/drawing/2014/main" val="1207607517"/>
                    </a:ext>
                  </a:extLst>
                </a:gridCol>
                <a:gridCol w="2702533">
                  <a:extLst>
                    <a:ext uri="{9D8B030D-6E8A-4147-A177-3AD203B41FA5}">
                      <a16:colId xmlns:a16="http://schemas.microsoft.com/office/drawing/2014/main" val="188734467"/>
                    </a:ext>
                  </a:extLst>
                </a:gridCol>
              </a:tblGrid>
              <a:tr h="511664">
                <a:tc>
                  <a:txBody>
                    <a:bodyPr/>
                    <a:lstStyle/>
                    <a:p>
                      <a:pPr marL="0" marR="0" algn="l" fontAlgn="t">
                        <a:spcBef>
                          <a:spcPts val="0"/>
                        </a:spcBef>
                        <a:spcAft>
                          <a:spcPts val="1000"/>
                        </a:spcAft>
                      </a:pPr>
                      <a:r>
                        <a:rPr lang="en-US" sz="1200" u="none" strike="noStrike">
                          <a:effectLst/>
                        </a:rPr>
                        <a:t>Term</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a:effectLst/>
                        </a:rPr>
                        <a:t>Description</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a:effectLst/>
                        </a:rPr>
                        <a:t>Example</a:t>
                      </a:r>
                      <a:endParaRPr lang="en-US" sz="1800" b="0" i="0" u="none" strike="noStrike">
                        <a:effectLst/>
                        <a:latin typeface="Arial" panose="020B0604020202020204" pitchFamily="34" charset="0"/>
                      </a:endParaRPr>
                    </a:p>
                  </a:txBody>
                  <a:tcPr marL="67405" marR="67405" marT="9362" marB="0"/>
                </a:tc>
                <a:extLst>
                  <a:ext uri="{0D108BD9-81ED-4DB2-BD59-A6C34878D82A}">
                    <a16:rowId xmlns:a16="http://schemas.microsoft.com/office/drawing/2014/main" val="879245948"/>
                  </a:ext>
                </a:extLst>
              </a:tr>
              <a:tr h="1179429">
                <a:tc>
                  <a:txBody>
                    <a:bodyPr/>
                    <a:lstStyle/>
                    <a:p>
                      <a:pPr marL="0" marR="0" algn="l" fontAlgn="t">
                        <a:spcBef>
                          <a:spcPts val="0"/>
                        </a:spcBef>
                        <a:spcAft>
                          <a:spcPts val="1000"/>
                        </a:spcAft>
                      </a:pPr>
                      <a:r>
                        <a:rPr lang="en-US" sz="1200" u="none" strike="noStrike">
                          <a:effectLst/>
                        </a:rPr>
                        <a:t>Control </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a:effectLst/>
                        </a:rPr>
                        <a:t>A control is a high-level description of a feature or activity that needs to be addressed and is not specific to a technology or implementation.</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a:effectLst/>
                        </a:rPr>
                        <a:t>Data Protection is one of the security controls. This control contains specific actions that must be addressed to help ensure data is protected.</a:t>
                      </a:r>
                      <a:endParaRPr lang="en-US" sz="1800" b="0" i="0" u="none" strike="noStrike">
                        <a:effectLst/>
                        <a:latin typeface="Arial" panose="020B0604020202020204" pitchFamily="34" charset="0"/>
                      </a:endParaRPr>
                    </a:p>
                  </a:txBody>
                  <a:tcPr marL="67405" marR="67405" marT="9362" marB="0"/>
                </a:tc>
                <a:extLst>
                  <a:ext uri="{0D108BD9-81ED-4DB2-BD59-A6C34878D82A}">
                    <a16:rowId xmlns:a16="http://schemas.microsoft.com/office/drawing/2014/main" val="3028934686"/>
                  </a:ext>
                </a:extLst>
              </a:tr>
              <a:tr h="1374338">
                <a:tc>
                  <a:txBody>
                    <a:bodyPr/>
                    <a:lstStyle/>
                    <a:p>
                      <a:pPr marL="0" marR="0" algn="l" fontAlgn="t">
                        <a:spcBef>
                          <a:spcPts val="0"/>
                        </a:spcBef>
                        <a:spcAft>
                          <a:spcPts val="1000"/>
                        </a:spcAft>
                      </a:pPr>
                      <a:r>
                        <a:rPr lang="en-US" sz="1200" u="none" strike="noStrike">
                          <a:effectLst/>
                        </a:rPr>
                        <a:t>Benchmark</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a:effectLst/>
                        </a:rPr>
                        <a:t>A benchmark contains security recommendations for a specific technology, such as Azure. The recommendations are categorized by the control to which they belong.</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a:effectLst/>
                        </a:rPr>
                        <a:t>The Azure Security Benchmark comprises the security recommendations specific to the Azure platform.</a:t>
                      </a:r>
                      <a:endParaRPr lang="en-US" sz="1800" b="0" i="0" u="none" strike="noStrike">
                        <a:effectLst/>
                        <a:latin typeface="Arial" panose="020B0604020202020204" pitchFamily="34" charset="0"/>
                      </a:endParaRPr>
                    </a:p>
                  </a:txBody>
                  <a:tcPr marL="67405" marR="67405" marT="9362" marB="0"/>
                </a:tc>
                <a:extLst>
                  <a:ext uri="{0D108BD9-81ED-4DB2-BD59-A6C34878D82A}">
                    <a16:rowId xmlns:a16="http://schemas.microsoft.com/office/drawing/2014/main" val="1392200135"/>
                  </a:ext>
                </a:extLst>
              </a:tr>
              <a:tr h="2153972">
                <a:tc>
                  <a:txBody>
                    <a:bodyPr/>
                    <a:lstStyle/>
                    <a:p>
                      <a:pPr marL="0" marR="0" algn="l" fontAlgn="t">
                        <a:spcBef>
                          <a:spcPts val="0"/>
                        </a:spcBef>
                        <a:spcAft>
                          <a:spcPts val="1000"/>
                        </a:spcAft>
                      </a:pPr>
                      <a:r>
                        <a:rPr lang="en-US" sz="1200" u="none" strike="noStrike">
                          <a:effectLst/>
                        </a:rPr>
                        <a:t>Baseline</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a:effectLst/>
                        </a:rPr>
                        <a:t>A baseline is the implementation of the benchmark on the individual Azure service. Each organization decides benchmark recommendation and corresponding configurations are needed in the Azure implementation scope.	</a:t>
                      </a:r>
                      <a:endParaRPr lang="en-US" sz="1800" b="0" i="0" u="none" strike="noStrike">
                        <a:effectLst/>
                        <a:latin typeface="Arial" panose="020B0604020202020204" pitchFamily="34" charset="0"/>
                      </a:endParaRPr>
                    </a:p>
                  </a:txBody>
                  <a:tcPr marL="67405" marR="67405" marT="9362" marB="0"/>
                </a:tc>
                <a:tc>
                  <a:txBody>
                    <a:bodyPr/>
                    <a:lstStyle/>
                    <a:p>
                      <a:pPr marL="0" marR="0" algn="l" fontAlgn="t">
                        <a:spcBef>
                          <a:spcPts val="0"/>
                        </a:spcBef>
                        <a:spcAft>
                          <a:spcPts val="1000"/>
                        </a:spcAft>
                      </a:pPr>
                      <a:r>
                        <a:rPr lang="en-US" sz="1200" u="none" strike="noStrike" dirty="0">
                          <a:effectLst/>
                        </a:rPr>
                        <a:t>The Contoso company looks to enabling Azure SQL security features by following the configuration recommended in Azure SQL security baseline.</a:t>
                      </a:r>
                      <a:endParaRPr lang="en-US" sz="1800" b="0" i="0" u="none" strike="noStrike" dirty="0">
                        <a:effectLst/>
                        <a:latin typeface="Arial" panose="020B0604020202020204" pitchFamily="34" charset="0"/>
                      </a:endParaRPr>
                    </a:p>
                  </a:txBody>
                  <a:tcPr marL="67405" marR="67405" marT="9362" marB="0"/>
                </a:tc>
                <a:extLst>
                  <a:ext uri="{0D108BD9-81ED-4DB2-BD59-A6C34878D82A}">
                    <a16:rowId xmlns:a16="http://schemas.microsoft.com/office/drawing/2014/main" val="3643831802"/>
                  </a:ext>
                </a:extLst>
              </a:tr>
            </a:tbl>
          </a:graphicData>
        </a:graphic>
      </p:graphicFrame>
    </p:spTree>
    <p:extLst>
      <p:ext uri="{BB962C8B-B14F-4D97-AF65-F5344CB8AC3E}">
        <p14:creationId xmlns:p14="http://schemas.microsoft.com/office/powerpoint/2010/main" val="74867255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a:xfrm>
            <a:off x="424090" y="466096"/>
            <a:ext cx="11343820" cy="397545"/>
          </a:xfrm>
        </p:spPr>
        <p:txBody>
          <a:bodyPr/>
          <a:lstStyle/>
          <a:p>
            <a:r>
              <a:rPr lang="en-US" sz="2800" dirty="0">
                <a:cs typeface="Segoe UI Semilight"/>
              </a:rPr>
              <a:t>Using Microsoft Defender for Cloud for regulatory compliance</a:t>
            </a:r>
            <a:endParaRPr lang="en-US" dirty="0"/>
          </a:p>
        </p:txBody>
      </p:sp>
      <p:sp>
        <p:nvSpPr>
          <p:cNvPr id="2" name="Rectangle 1">
            <a:extLst>
              <a:ext uri="{FF2B5EF4-FFF2-40B4-BE49-F238E27FC236}">
                <a16:creationId xmlns:a16="http://schemas.microsoft.com/office/drawing/2014/main" id="{EF279AE1-5B76-4D09-9D0D-CCA2A905A88A}"/>
              </a:ext>
              <a:ext uri="{C183D7F6-B498-43B3-948B-1728B52AA6E4}">
                <adec:decorative xmlns:adec="http://schemas.microsoft.com/office/drawing/2017/decorative" val="1"/>
              </a:ext>
            </a:extLst>
          </p:cNvPr>
          <p:cNvSpPr/>
          <p:nvPr/>
        </p:nvSpPr>
        <p:spPr bwMode="auto">
          <a:xfrm>
            <a:off x="6096001" y="1421400"/>
            <a:ext cx="5966690" cy="477496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6" name="Picture 5" descr="Regulatory compliance dashboard with drilldown to compliance controls">
            <a:extLst>
              <a:ext uri="{FF2B5EF4-FFF2-40B4-BE49-F238E27FC236}">
                <a16:creationId xmlns:a16="http://schemas.microsoft.com/office/drawing/2014/main" id="{3C4A8F9B-9201-4A56-8C05-BB5CD61C2DE9}"/>
              </a:ext>
            </a:extLst>
          </p:cNvPr>
          <p:cNvPicPr/>
          <p:nvPr/>
        </p:nvPicPr>
        <p:blipFill>
          <a:blip r:embed="rId3"/>
          <a:stretch>
            <a:fillRect/>
          </a:stretch>
        </p:blipFill>
        <p:spPr bwMode="auto">
          <a:xfrm>
            <a:off x="596119" y="3760940"/>
            <a:ext cx="4913539" cy="2435428"/>
          </a:xfrm>
          <a:prstGeom prst="rect">
            <a:avLst/>
          </a:prstGeom>
          <a:noFill/>
          <a:ln>
            <a:noFill/>
          </a:ln>
        </p:spPr>
      </p:pic>
      <p:sp>
        <p:nvSpPr>
          <p:cNvPr id="8" name="Rectangle 7">
            <a:extLst>
              <a:ext uri="{FF2B5EF4-FFF2-40B4-BE49-F238E27FC236}">
                <a16:creationId xmlns:a16="http://schemas.microsoft.com/office/drawing/2014/main" id="{2680764E-C898-4BE1-996C-5B0BFC9248E8}"/>
              </a:ext>
              <a:ext uri="{C183D7F6-B498-43B3-948B-1728B52AA6E4}">
                <adec:decorative xmlns:adec="http://schemas.microsoft.com/office/drawing/2017/decorative" val="1"/>
              </a:ext>
            </a:extLst>
          </p:cNvPr>
          <p:cNvSpPr/>
          <p:nvPr/>
        </p:nvSpPr>
        <p:spPr bwMode="auto">
          <a:xfrm>
            <a:off x="424090" y="3557392"/>
            <a:ext cx="5671910" cy="2638976"/>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0" name="Freeform: Shape 9">
            <a:extLst>
              <a:ext uri="{FF2B5EF4-FFF2-40B4-BE49-F238E27FC236}">
                <a16:creationId xmlns:a16="http://schemas.microsoft.com/office/drawing/2014/main" id="{8271E7CE-09C7-4FBB-B7E1-210C29E35489}"/>
              </a:ext>
            </a:extLst>
          </p:cNvPr>
          <p:cNvSpPr/>
          <p:nvPr/>
        </p:nvSpPr>
        <p:spPr>
          <a:xfrm>
            <a:off x="391643" y="1421400"/>
            <a:ext cx="5532329" cy="157823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marL="0" marR="0">
              <a:spcBef>
                <a:spcPts val="0"/>
              </a:spcBef>
              <a:spcAft>
                <a:spcPts val="1000"/>
              </a:spcAft>
            </a:pP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Microsoft Defender for Cloud helps streamline the process for meeting regulatory compliance requirements, using the regulatory compliance dashboard. </a:t>
            </a:r>
          </a:p>
        </p:txBody>
      </p:sp>
      <p:pic>
        <p:nvPicPr>
          <p:cNvPr id="7" name="Picture 6" descr="regulatory compliance dashboard ">
            <a:extLst>
              <a:ext uri="{FF2B5EF4-FFF2-40B4-BE49-F238E27FC236}">
                <a16:creationId xmlns:a16="http://schemas.microsoft.com/office/drawing/2014/main" id="{0E15CFE1-BDA7-48F8-BFC6-E2E88E82F291}"/>
              </a:ext>
            </a:extLst>
          </p:cNvPr>
          <p:cNvPicPr>
            <a:picLocks noChangeAspect="1"/>
          </p:cNvPicPr>
          <p:nvPr/>
        </p:nvPicPr>
        <p:blipFill>
          <a:blip r:embed="rId4"/>
          <a:stretch>
            <a:fillRect/>
          </a:stretch>
        </p:blipFill>
        <p:spPr>
          <a:xfrm>
            <a:off x="6268029" y="1760068"/>
            <a:ext cx="5706355" cy="3594648"/>
          </a:xfrm>
          <a:prstGeom prst="rect">
            <a:avLst/>
          </a:prstGeom>
        </p:spPr>
      </p:pic>
    </p:spTree>
    <p:extLst>
      <p:ext uri="{BB962C8B-B14F-4D97-AF65-F5344CB8AC3E}">
        <p14:creationId xmlns:p14="http://schemas.microsoft.com/office/powerpoint/2010/main" val="46607056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p:txBody>
          <a:bodyPr/>
          <a:lstStyle/>
          <a:p>
            <a:r>
              <a:rPr lang="en-US" sz="2800" dirty="0">
                <a:cs typeface="Segoe UI Semilight"/>
              </a:rPr>
              <a:t>Alerts in Microsoft Defender for Cloud </a:t>
            </a:r>
          </a:p>
        </p:txBody>
      </p:sp>
      <p:sp>
        <p:nvSpPr>
          <p:cNvPr id="2" name="Rectangle 1">
            <a:extLst>
              <a:ext uri="{FF2B5EF4-FFF2-40B4-BE49-F238E27FC236}">
                <a16:creationId xmlns:a16="http://schemas.microsoft.com/office/drawing/2014/main" id="{CB82DC99-9120-41BD-B35A-2B813923287A}"/>
              </a:ext>
              <a:ext uri="{C183D7F6-B498-43B3-948B-1728B52AA6E4}">
                <adec:decorative xmlns:adec="http://schemas.microsoft.com/office/drawing/2017/decorative" val="1"/>
              </a:ext>
            </a:extLst>
          </p:cNvPr>
          <p:cNvSpPr/>
          <p:nvPr/>
        </p:nvSpPr>
        <p:spPr bwMode="auto">
          <a:xfrm>
            <a:off x="1737455" y="866437"/>
            <a:ext cx="9265325" cy="560084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Active security alerts list.">
            <a:extLst>
              <a:ext uri="{FF2B5EF4-FFF2-40B4-BE49-F238E27FC236}">
                <a16:creationId xmlns:a16="http://schemas.microsoft.com/office/drawing/2014/main" id="{7D7E19DB-1B3D-EEDB-F3C7-0618DEEED597}"/>
              </a:ext>
            </a:extLst>
          </p:cNvPr>
          <p:cNvPicPr>
            <a:picLocks noChangeAspect="1"/>
          </p:cNvPicPr>
          <p:nvPr/>
        </p:nvPicPr>
        <p:blipFill>
          <a:blip r:embed="rId2"/>
          <a:stretch>
            <a:fillRect/>
          </a:stretch>
        </p:blipFill>
        <p:spPr>
          <a:xfrm>
            <a:off x="2023672" y="939020"/>
            <a:ext cx="8430873" cy="5455680"/>
          </a:xfrm>
          <a:prstGeom prst="rect">
            <a:avLst/>
          </a:prstGeom>
        </p:spPr>
      </p:pic>
    </p:spTree>
    <p:extLst>
      <p:ext uri="{BB962C8B-B14F-4D97-AF65-F5344CB8AC3E}">
        <p14:creationId xmlns:p14="http://schemas.microsoft.com/office/powerpoint/2010/main" val="172090430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24090" y="466096"/>
            <a:ext cx="11343820" cy="397545"/>
          </a:xfrm>
        </p:spPr>
        <p:txBody>
          <a:bodyPr/>
          <a:lstStyle/>
          <a:p>
            <a:r>
              <a:rPr lang="en-US" dirty="0">
                <a:solidFill>
                  <a:schemeClr val="tx1"/>
                </a:solidFill>
              </a:rPr>
              <a:t>Summary – </a:t>
            </a:r>
            <a:r>
              <a:rPr lang="en-US" sz="2800" dirty="0">
                <a:solidFill>
                  <a:prstClr val="black"/>
                </a:solidFill>
              </a:rPr>
              <a:t>Understand the basics of securing your virtual networks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600">
                <a:hlinkClick r:id="rId3"/>
              </a:rPr>
              <a:t>Network security concepts and requirements in Azure | Microsoft Docs</a:t>
            </a: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E2E8C1A8-6BB5-4B2F-88BF-291F4356C949}"/>
              </a:ext>
            </a:extLst>
          </p:cNvPr>
          <p:cNvSpPr txBox="1"/>
          <p:nvPr/>
        </p:nvSpPr>
        <p:spPr>
          <a:xfrm>
            <a:off x="4172422" y="2913030"/>
            <a:ext cx="6098344" cy="369332"/>
          </a:xfrm>
          <a:prstGeom prst="rect">
            <a:avLst/>
          </a:prstGeom>
          <a:noFill/>
        </p:spPr>
        <p:txBody>
          <a:bodyPr wrap="square">
            <a:spAutoFit/>
          </a:bodyPr>
          <a:lstStyle/>
          <a:p>
            <a:r>
              <a:rPr lang="en-US" dirty="0">
                <a:hlinkClick r:id="rId5"/>
              </a:rPr>
              <a:t>Azure network architecture | Microsoft Docs</a:t>
            </a:r>
            <a:endParaRPr lang="en-US" dirty="0"/>
          </a:p>
        </p:txBody>
      </p:sp>
    </p:spTree>
    <p:extLst>
      <p:ext uri="{BB962C8B-B14F-4D97-AF65-F5344CB8AC3E}">
        <p14:creationId xmlns:p14="http://schemas.microsoft.com/office/powerpoint/2010/main" val="906406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930402"/>
            <a:ext cx="8892608" cy="997196"/>
          </a:xfrm>
        </p:spPr>
        <p:txBody>
          <a:bodyPr/>
          <a:lstStyle/>
          <a:p>
            <a:r>
              <a:rPr lang="en-US"/>
              <a:t>Lesson 02: </a:t>
            </a:r>
            <a:r>
              <a:rPr lang="en-US" sz="3600"/>
              <a:t>Deploy Azure DDoS Protection by using the Azure portal</a:t>
            </a:r>
            <a:endParaRPr lang="en-US"/>
          </a:p>
        </p:txBody>
      </p:sp>
      <p:grpSp>
        <p:nvGrpSpPr>
          <p:cNvPr id="5" name="Group 4">
            <a:extLst>
              <a:ext uri="{FF2B5EF4-FFF2-40B4-BE49-F238E27FC236}">
                <a16:creationId xmlns:a16="http://schemas.microsoft.com/office/drawing/2014/main" id="{8F31C5D8-64B4-45AA-A9D4-7AC143774BA3}"/>
              </a:ext>
              <a:ext uri="{C183D7F6-B498-43B3-948B-1728B52AA6E4}">
                <adec:decorative xmlns:adec="http://schemas.microsoft.com/office/drawing/2017/decorative" val="1"/>
              </a:ext>
            </a:extLst>
          </p:cNvPr>
          <p:cNvGrpSpPr/>
          <p:nvPr/>
        </p:nvGrpSpPr>
        <p:grpSpPr>
          <a:xfrm>
            <a:off x="10306355" y="3070379"/>
            <a:ext cx="717140" cy="717242"/>
            <a:chOff x="418643" y="2287883"/>
            <a:chExt cx="717140" cy="717242"/>
          </a:xfrm>
        </p:grpSpPr>
        <p:grpSp>
          <p:nvGrpSpPr>
            <p:cNvPr id="6" name="Group 5">
              <a:extLst>
                <a:ext uri="{FF2B5EF4-FFF2-40B4-BE49-F238E27FC236}">
                  <a16:creationId xmlns:a16="http://schemas.microsoft.com/office/drawing/2014/main" id="{B7B2D526-B04B-42DC-8D14-18A9903E037C}"/>
                </a:ext>
              </a:extLst>
            </p:cNvPr>
            <p:cNvGrpSpPr/>
            <p:nvPr/>
          </p:nvGrpSpPr>
          <p:grpSpPr>
            <a:xfrm>
              <a:off x="418643" y="2287883"/>
              <a:ext cx="717140" cy="717242"/>
              <a:chOff x="418643" y="2287883"/>
              <a:chExt cx="717140" cy="717242"/>
            </a:xfrm>
          </p:grpSpPr>
          <p:sp>
            <p:nvSpPr>
              <p:cNvPr id="8" name="Freeform 5">
                <a:extLst>
                  <a:ext uri="{FF2B5EF4-FFF2-40B4-BE49-F238E27FC236}">
                    <a16:creationId xmlns:a16="http://schemas.microsoft.com/office/drawing/2014/main" id="{0C97818E-4EC6-40BA-A6FB-B70C024A38D8}"/>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2DCDF0AE-A670-414D-BC53-D2A61F6E4B01}"/>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a arrow in a circular path with a timer inside the circle">
              <a:extLst>
                <a:ext uri="{FF2B5EF4-FFF2-40B4-BE49-F238E27FC236}">
                  <a16:creationId xmlns:a16="http://schemas.microsoft.com/office/drawing/2014/main" id="{13CFCB08-3343-4E89-9943-7CAF91943292}"/>
                </a:ext>
              </a:extLst>
            </p:cNvPr>
            <p:cNvPicPr>
              <a:picLocks noChangeAspect="1"/>
            </p:cNvPicPr>
            <p:nvPr/>
          </p:nvPicPr>
          <p:blipFill>
            <a:blip r:embed="rId3"/>
            <a:stretch>
              <a:fillRect/>
            </a:stretch>
          </p:blipFill>
          <p:spPr>
            <a:xfrm>
              <a:off x="588767" y="2458059"/>
              <a:ext cx="376892" cy="37689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2" y="3088902"/>
            <a:ext cx="2153869" cy="680196"/>
          </a:xfrm>
        </p:spPr>
        <p:txBody>
          <a:bodyPr/>
          <a:lstStyle/>
          <a:p>
            <a:r>
              <a:rPr lang="en-US" dirty="0"/>
              <a:t>Deploy Azure DDoS Protection by using the Azure portal overview </a:t>
            </a:r>
          </a:p>
        </p:txBody>
      </p:sp>
      <p:sp>
        <p:nvSpPr>
          <p:cNvPr id="6" name="Text Placeholder 5"/>
          <p:cNvSpPr>
            <a:spLocks noGrp="1"/>
          </p:cNvSpPr>
          <p:nvPr>
            <p:ph type="body" sz="quarter" idx="11"/>
          </p:nvPr>
        </p:nvSpPr>
        <p:spPr/>
        <p:txBody>
          <a:bodyPr/>
          <a:lstStyle/>
          <a:p>
            <a:pPr lvl="1"/>
            <a:r>
              <a:rPr lang="en-US" dirty="0"/>
              <a:t>Distributed Denial of Service (DDoS)</a:t>
            </a:r>
          </a:p>
        </p:txBody>
      </p:sp>
      <p:sp>
        <p:nvSpPr>
          <p:cNvPr id="2" name="Text Placeholder 1"/>
          <p:cNvSpPr>
            <a:spLocks noGrp="1"/>
          </p:cNvSpPr>
          <p:nvPr>
            <p:ph type="body" sz="quarter" idx="15"/>
          </p:nvPr>
        </p:nvSpPr>
        <p:spPr/>
        <p:txBody>
          <a:bodyPr/>
          <a:lstStyle/>
          <a:p>
            <a:pPr lvl="1"/>
            <a:r>
              <a:rPr lang="en-US" dirty="0"/>
              <a:t>Azure DDoS protection Standard</a:t>
            </a:r>
          </a:p>
        </p:txBody>
      </p:sp>
      <p:sp>
        <p:nvSpPr>
          <p:cNvPr id="3" name="Text Placeholder 2"/>
          <p:cNvSpPr>
            <a:spLocks noGrp="1"/>
          </p:cNvSpPr>
          <p:nvPr>
            <p:ph type="body" sz="quarter" idx="17"/>
          </p:nvPr>
        </p:nvSpPr>
        <p:spPr/>
        <p:txBody>
          <a:bodyPr/>
          <a:lstStyle/>
          <a:p>
            <a:pPr lvl="1"/>
            <a:r>
              <a:rPr lang="en-US" dirty="0"/>
              <a:t>Types of DDoS attacks</a:t>
            </a:r>
          </a:p>
        </p:txBody>
      </p:sp>
      <p:sp>
        <p:nvSpPr>
          <p:cNvPr id="4" name="Text Placeholder 3"/>
          <p:cNvSpPr>
            <a:spLocks noGrp="1"/>
          </p:cNvSpPr>
          <p:nvPr>
            <p:ph type="body" sz="quarter" idx="19"/>
          </p:nvPr>
        </p:nvSpPr>
        <p:spPr/>
        <p:txBody>
          <a:bodyPr/>
          <a:lstStyle/>
          <a:p>
            <a:pPr lvl="1"/>
            <a:r>
              <a:rPr lang="en-US" dirty="0"/>
              <a:t>Azure DDoS protection features </a:t>
            </a:r>
          </a:p>
        </p:txBody>
      </p:sp>
      <p:sp>
        <p:nvSpPr>
          <p:cNvPr id="5" name="Text Placeholder 4"/>
          <p:cNvSpPr>
            <a:spLocks noGrp="1"/>
          </p:cNvSpPr>
          <p:nvPr>
            <p:ph type="body" sz="quarter" idx="21"/>
          </p:nvPr>
        </p:nvSpPr>
        <p:spPr/>
        <p:txBody>
          <a:bodyPr/>
          <a:lstStyle/>
          <a:p>
            <a:pPr lvl="1"/>
            <a:r>
              <a:rPr lang="en-US" dirty="0"/>
              <a:t>Deploying a DDoS protection plan </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p:txBody>
          <a:bodyPr/>
          <a:lstStyle/>
          <a:p>
            <a:pPr lvl="1"/>
            <a:r>
              <a:rPr lang="en-US" dirty="0"/>
              <a:t>Demonstration </a:t>
            </a:r>
          </a:p>
        </p:txBody>
      </p:sp>
      <p:sp>
        <p:nvSpPr>
          <p:cNvPr id="32" name="Text Placeholder 31">
            <a:extLst>
              <a:ext uri="{FF2B5EF4-FFF2-40B4-BE49-F238E27FC236}">
                <a16:creationId xmlns:a16="http://schemas.microsoft.com/office/drawing/2014/main" id="{0EABA8D5-0A1B-4505-8E5A-DF6F2BF63FC3}"/>
              </a:ext>
            </a:extLst>
          </p:cNvPr>
          <p:cNvSpPr>
            <a:spLocks noGrp="1"/>
          </p:cNvSpPr>
          <p:nvPr>
            <p:ph type="body" sz="quarter" idx="23"/>
          </p:nvPr>
        </p:nvSpPr>
        <p:spPr/>
        <p:txBody>
          <a:bodyPr/>
          <a:lstStyle/>
          <a:p>
            <a:pPr lvl="1"/>
            <a:r>
              <a:rPr lang="en-US" dirty="0"/>
              <a:t>Review </a:t>
            </a:r>
          </a:p>
        </p:txBody>
      </p:sp>
      <p:grpSp>
        <p:nvGrpSpPr>
          <p:cNvPr id="15" name="Group 14">
            <a:extLst>
              <a:ext uri="{FF2B5EF4-FFF2-40B4-BE49-F238E27FC236}">
                <a16:creationId xmlns:a16="http://schemas.microsoft.com/office/drawing/2014/main" id="{9302F753-70EC-4A25-A09C-AD4E15794736}"/>
              </a:ext>
              <a:ext uri="{C183D7F6-B498-43B3-948B-1728B52AA6E4}">
                <adec:decorative xmlns:adec="http://schemas.microsoft.com/office/drawing/2017/decorative" val="1"/>
              </a:ext>
            </a:extLst>
          </p:cNvPr>
          <p:cNvGrpSpPr/>
          <p:nvPr/>
        </p:nvGrpSpPr>
        <p:grpSpPr>
          <a:xfrm>
            <a:off x="3088645" y="480082"/>
            <a:ext cx="648329" cy="5024333"/>
            <a:chOff x="3088645" y="480082"/>
            <a:chExt cx="648329" cy="5024333"/>
          </a:xfrm>
        </p:grpSpPr>
        <p:grpSp>
          <p:nvGrpSpPr>
            <p:cNvPr id="25" name="Group 24">
              <a:extLst>
                <a:ext uri="{FF2B5EF4-FFF2-40B4-BE49-F238E27FC236}">
                  <a16:creationId xmlns:a16="http://schemas.microsoft.com/office/drawing/2014/main" id="{22D9ADD6-F6B0-4B5D-B1E7-4FAE29F3C87F}"/>
                </a:ext>
              </a:extLst>
            </p:cNvPr>
            <p:cNvGrpSpPr/>
            <p:nvPr/>
          </p:nvGrpSpPr>
          <p:grpSpPr>
            <a:xfrm>
              <a:off x="3088645" y="480082"/>
              <a:ext cx="648328" cy="648421"/>
              <a:chOff x="3088645" y="480082"/>
              <a:chExt cx="648328" cy="648421"/>
            </a:xfrm>
          </p:grpSpPr>
          <p:grpSp>
            <p:nvGrpSpPr>
              <p:cNvPr id="23" name="Group 22">
                <a:extLst>
                  <a:ext uri="{FF2B5EF4-FFF2-40B4-BE49-F238E27FC236}">
                    <a16:creationId xmlns:a16="http://schemas.microsoft.com/office/drawing/2014/main" id="{487252BB-E014-404B-A18B-AE3FFC133111}"/>
                  </a:ext>
                </a:extLst>
              </p:cNvPr>
              <p:cNvGrpSpPr/>
              <p:nvPr/>
            </p:nvGrpSpPr>
            <p:grpSpPr>
              <a:xfrm>
                <a:off x="3088645" y="480082"/>
                <a:ext cx="648328" cy="648421"/>
                <a:chOff x="3088645" y="480082"/>
                <a:chExt cx="648328" cy="648421"/>
              </a:xfrm>
            </p:grpSpPr>
            <p:sp>
              <p:nvSpPr>
                <p:cNvPr id="140" name="Freeform 5">
                  <a:extLst>
                    <a:ext uri="{FF2B5EF4-FFF2-40B4-BE49-F238E27FC236}">
                      <a16:creationId xmlns:a16="http://schemas.microsoft.com/office/drawing/2014/main" id="{DE8AF025-2E98-4B44-A38C-BC241F037DD7}"/>
                    </a:ext>
                  </a:extLst>
                </p:cNvPr>
                <p:cNvSpPr>
                  <a:spLocks/>
                </p:cNvSpPr>
                <p:nvPr/>
              </p:nvSpPr>
              <p:spPr bwMode="auto">
                <a:xfrm>
                  <a:off x="3088645" y="480082"/>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41" name="Freeform 6">
                  <a:extLst>
                    <a:ext uri="{FF2B5EF4-FFF2-40B4-BE49-F238E27FC236}">
                      <a16:creationId xmlns:a16="http://schemas.microsoft.com/office/drawing/2014/main" id="{7A727523-B56D-47D9-AA13-3FECAE967935}"/>
                    </a:ext>
                  </a:extLst>
                </p:cNvPr>
                <p:cNvSpPr>
                  <a:spLocks noEditPoints="1"/>
                </p:cNvSpPr>
                <p:nvPr/>
              </p:nvSpPr>
              <p:spPr bwMode="auto">
                <a:xfrm>
                  <a:off x="3133231" y="525199"/>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8506289D-CBBD-4B48-A547-C4E511F8A6A5}"/>
                  </a:ext>
                </a:extLst>
              </p:cNvPr>
              <p:cNvPicPr>
                <a:picLocks noChangeAspect="1"/>
              </p:cNvPicPr>
              <p:nvPr/>
            </p:nvPicPr>
            <p:blipFill>
              <a:blip r:embed="rId3"/>
              <a:stretch>
                <a:fillRect/>
              </a:stretch>
            </p:blipFill>
            <p:spPr>
              <a:xfrm>
                <a:off x="3241436" y="633445"/>
                <a:ext cx="343794" cy="343794"/>
              </a:xfrm>
              <a:prstGeom prst="rect">
                <a:avLst/>
              </a:prstGeom>
            </p:spPr>
          </p:pic>
        </p:grpSp>
        <p:grpSp>
          <p:nvGrpSpPr>
            <p:cNvPr id="26" name="Group 25">
              <a:extLst>
                <a:ext uri="{FF2B5EF4-FFF2-40B4-BE49-F238E27FC236}">
                  <a16:creationId xmlns:a16="http://schemas.microsoft.com/office/drawing/2014/main" id="{1AD2D33C-6D93-452C-8019-D0903D89CC87}"/>
                </a:ext>
              </a:extLst>
            </p:cNvPr>
            <p:cNvGrpSpPr/>
            <p:nvPr/>
          </p:nvGrpSpPr>
          <p:grpSpPr>
            <a:xfrm>
              <a:off x="3088645" y="1209401"/>
              <a:ext cx="648328" cy="648421"/>
              <a:chOff x="3088645" y="1209401"/>
              <a:chExt cx="648328" cy="648421"/>
            </a:xfrm>
          </p:grpSpPr>
          <p:grpSp>
            <p:nvGrpSpPr>
              <p:cNvPr id="24" name="Group 23">
                <a:extLst>
                  <a:ext uri="{FF2B5EF4-FFF2-40B4-BE49-F238E27FC236}">
                    <a16:creationId xmlns:a16="http://schemas.microsoft.com/office/drawing/2014/main" id="{0D57C996-6806-4E9F-834B-818FEDEA0E03}"/>
                  </a:ext>
                </a:extLst>
              </p:cNvPr>
              <p:cNvGrpSpPr/>
              <p:nvPr/>
            </p:nvGrpSpPr>
            <p:grpSpPr>
              <a:xfrm>
                <a:off x="3088645" y="1209401"/>
                <a:ext cx="648328" cy="648421"/>
                <a:chOff x="3088645" y="1209401"/>
                <a:chExt cx="648328" cy="648421"/>
              </a:xfrm>
            </p:grpSpPr>
            <p:sp>
              <p:nvSpPr>
                <p:cNvPr id="153" name="Freeform 5">
                  <a:extLst>
                    <a:ext uri="{FF2B5EF4-FFF2-40B4-BE49-F238E27FC236}">
                      <a16:creationId xmlns:a16="http://schemas.microsoft.com/office/drawing/2014/main" id="{46ED99BD-CDF6-4126-AC63-CC6947FF46CB}"/>
                    </a:ext>
                  </a:extLst>
                </p:cNvPr>
                <p:cNvSpPr>
                  <a:spLocks/>
                </p:cNvSpPr>
                <p:nvPr/>
              </p:nvSpPr>
              <p:spPr bwMode="auto">
                <a:xfrm>
                  <a:off x="3088645" y="1209401"/>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54" name="Freeform 6">
                  <a:extLst>
                    <a:ext uri="{FF2B5EF4-FFF2-40B4-BE49-F238E27FC236}">
                      <a16:creationId xmlns:a16="http://schemas.microsoft.com/office/drawing/2014/main" id="{AB179D2D-51C2-4D79-8395-7BB633939BA6}"/>
                    </a:ext>
                  </a:extLst>
                </p:cNvPr>
                <p:cNvSpPr>
                  <a:spLocks noEditPoints="1"/>
                </p:cNvSpPr>
                <p:nvPr/>
              </p:nvSpPr>
              <p:spPr bwMode="auto">
                <a:xfrm>
                  <a:off x="3133231" y="1254518"/>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DECEC8E4-1C93-4D14-8D9C-B9E0F9962EFD}"/>
                  </a:ext>
                </a:extLst>
              </p:cNvPr>
              <p:cNvPicPr>
                <a:picLocks noChangeAspect="1"/>
              </p:cNvPicPr>
              <p:nvPr/>
            </p:nvPicPr>
            <p:blipFill>
              <a:blip r:embed="rId4"/>
              <a:stretch>
                <a:fillRect/>
              </a:stretch>
            </p:blipFill>
            <p:spPr>
              <a:xfrm>
                <a:off x="3240912" y="1361714"/>
                <a:ext cx="343794" cy="343794"/>
              </a:xfrm>
              <a:prstGeom prst="rect">
                <a:avLst/>
              </a:prstGeom>
            </p:spPr>
          </p:pic>
        </p:grpSp>
        <p:grpSp>
          <p:nvGrpSpPr>
            <p:cNvPr id="29" name="Group 28">
              <a:extLst>
                <a:ext uri="{FF2B5EF4-FFF2-40B4-BE49-F238E27FC236}">
                  <a16:creationId xmlns:a16="http://schemas.microsoft.com/office/drawing/2014/main" id="{5F3A4ACE-4E4D-472B-AE1D-23E2E88B8BBE}"/>
                </a:ext>
              </a:extLst>
            </p:cNvPr>
            <p:cNvGrpSpPr/>
            <p:nvPr/>
          </p:nvGrpSpPr>
          <p:grpSpPr>
            <a:xfrm>
              <a:off x="3088645" y="1938720"/>
              <a:ext cx="648328" cy="648421"/>
              <a:chOff x="3088645" y="1938720"/>
              <a:chExt cx="648328" cy="648421"/>
            </a:xfrm>
          </p:grpSpPr>
          <p:grpSp>
            <p:nvGrpSpPr>
              <p:cNvPr id="21" name="Group 20">
                <a:extLst>
                  <a:ext uri="{FF2B5EF4-FFF2-40B4-BE49-F238E27FC236}">
                    <a16:creationId xmlns:a16="http://schemas.microsoft.com/office/drawing/2014/main" id="{1C4A1083-D448-46B3-93FF-8AD131110189}"/>
                  </a:ext>
                </a:extLst>
              </p:cNvPr>
              <p:cNvGrpSpPr/>
              <p:nvPr/>
            </p:nvGrpSpPr>
            <p:grpSpPr>
              <a:xfrm>
                <a:off x="3088645" y="1938720"/>
                <a:ext cx="648328" cy="648421"/>
                <a:chOff x="3088645" y="1938720"/>
                <a:chExt cx="648328" cy="648421"/>
              </a:xfrm>
            </p:grpSpPr>
            <p:sp>
              <p:nvSpPr>
                <p:cNvPr id="160" name="Freeform 5">
                  <a:extLst>
                    <a:ext uri="{FF2B5EF4-FFF2-40B4-BE49-F238E27FC236}">
                      <a16:creationId xmlns:a16="http://schemas.microsoft.com/office/drawing/2014/main" id="{522F9478-7E82-4490-8F10-BE0EDAB7924A}"/>
                    </a:ext>
                  </a:extLst>
                </p:cNvPr>
                <p:cNvSpPr>
                  <a:spLocks/>
                </p:cNvSpPr>
                <p:nvPr/>
              </p:nvSpPr>
              <p:spPr bwMode="auto">
                <a:xfrm>
                  <a:off x="3088645" y="1938720"/>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1" name="Freeform 6">
                  <a:extLst>
                    <a:ext uri="{FF2B5EF4-FFF2-40B4-BE49-F238E27FC236}">
                      <a16:creationId xmlns:a16="http://schemas.microsoft.com/office/drawing/2014/main" id="{849B0907-1A59-46CF-8A32-AAEA6C32F03E}"/>
                    </a:ext>
                  </a:extLst>
                </p:cNvPr>
                <p:cNvSpPr>
                  <a:spLocks noEditPoints="1"/>
                </p:cNvSpPr>
                <p:nvPr/>
              </p:nvSpPr>
              <p:spPr bwMode="auto">
                <a:xfrm>
                  <a:off x="3133231" y="1983837"/>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C6D1CD6F-A4C9-4FB9-9845-6349BC117CE4}"/>
                  </a:ext>
                </a:extLst>
              </p:cNvPr>
              <p:cNvPicPr>
                <a:picLocks noChangeAspect="1"/>
              </p:cNvPicPr>
              <p:nvPr/>
            </p:nvPicPr>
            <p:blipFill>
              <a:blip r:embed="rId5"/>
              <a:stretch>
                <a:fillRect/>
              </a:stretch>
            </p:blipFill>
            <p:spPr>
              <a:xfrm>
                <a:off x="3240912" y="2091033"/>
                <a:ext cx="343794" cy="343794"/>
              </a:xfrm>
              <a:prstGeom prst="rect">
                <a:avLst/>
              </a:prstGeom>
            </p:spPr>
          </p:pic>
        </p:grpSp>
        <p:grpSp>
          <p:nvGrpSpPr>
            <p:cNvPr id="30" name="Group 29">
              <a:extLst>
                <a:ext uri="{FF2B5EF4-FFF2-40B4-BE49-F238E27FC236}">
                  <a16:creationId xmlns:a16="http://schemas.microsoft.com/office/drawing/2014/main" id="{386BC80C-13C3-48C1-B8A0-CB1818C4B28B}"/>
                </a:ext>
              </a:extLst>
            </p:cNvPr>
            <p:cNvGrpSpPr/>
            <p:nvPr/>
          </p:nvGrpSpPr>
          <p:grpSpPr>
            <a:xfrm>
              <a:off x="3088645" y="2668039"/>
              <a:ext cx="648328" cy="648421"/>
              <a:chOff x="3088645" y="2668039"/>
              <a:chExt cx="648328" cy="648421"/>
            </a:xfrm>
          </p:grpSpPr>
          <p:grpSp>
            <p:nvGrpSpPr>
              <p:cNvPr id="28" name="Group 27">
                <a:extLst>
                  <a:ext uri="{FF2B5EF4-FFF2-40B4-BE49-F238E27FC236}">
                    <a16:creationId xmlns:a16="http://schemas.microsoft.com/office/drawing/2014/main" id="{90B6DB06-A21C-4370-AA75-9444BE3ACCB9}"/>
                  </a:ext>
                </a:extLst>
              </p:cNvPr>
              <p:cNvGrpSpPr/>
              <p:nvPr/>
            </p:nvGrpSpPr>
            <p:grpSpPr>
              <a:xfrm>
                <a:off x="3088645" y="2668039"/>
                <a:ext cx="648328" cy="648421"/>
                <a:chOff x="3088645" y="2668039"/>
                <a:chExt cx="648328" cy="648421"/>
              </a:xfrm>
            </p:grpSpPr>
            <p:sp>
              <p:nvSpPr>
                <p:cNvPr id="173" name="Freeform 5">
                  <a:extLst>
                    <a:ext uri="{FF2B5EF4-FFF2-40B4-BE49-F238E27FC236}">
                      <a16:creationId xmlns:a16="http://schemas.microsoft.com/office/drawing/2014/main" id="{3D4F9CBC-E9AC-4281-96C3-BFB5FEE97E7E}"/>
                    </a:ext>
                  </a:extLst>
                </p:cNvPr>
                <p:cNvSpPr>
                  <a:spLocks/>
                </p:cNvSpPr>
                <p:nvPr/>
              </p:nvSpPr>
              <p:spPr bwMode="auto">
                <a:xfrm>
                  <a:off x="3088645" y="2668039"/>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74" name="Freeform 6">
                  <a:extLst>
                    <a:ext uri="{FF2B5EF4-FFF2-40B4-BE49-F238E27FC236}">
                      <a16:creationId xmlns:a16="http://schemas.microsoft.com/office/drawing/2014/main" id="{DDA8F4C3-1DE2-4CF2-B4A6-08572A50AD69}"/>
                    </a:ext>
                  </a:extLst>
                </p:cNvPr>
                <p:cNvSpPr>
                  <a:spLocks noEditPoints="1"/>
                </p:cNvSpPr>
                <p:nvPr/>
              </p:nvSpPr>
              <p:spPr bwMode="auto">
                <a:xfrm>
                  <a:off x="3133231" y="2713156"/>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F2CCC079-C0AA-4EB6-B85B-1E14898C8737}"/>
                  </a:ext>
                </a:extLst>
              </p:cNvPr>
              <p:cNvPicPr>
                <a:picLocks noChangeAspect="1"/>
              </p:cNvPicPr>
              <p:nvPr/>
            </p:nvPicPr>
            <p:blipFill>
              <a:blip r:embed="rId6"/>
              <a:stretch>
                <a:fillRect/>
              </a:stretch>
            </p:blipFill>
            <p:spPr>
              <a:xfrm>
                <a:off x="3289214" y="2820352"/>
                <a:ext cx="247191" cy="343794"/>
              </a:xfrm>
              <a:prstGeom prst="rect">
                <a:avLst/>
              </a:prstGeom>
            </p:spPr>
          </p:pic>
        </p:grpSp>
        <p:grpSp>
          <p:nvGrpSpPr>
            <p:cNvPr id="31" name="Group 30">
              <a:extLst>
                <a:ext uri="{FF2B5EF4-FFF2-40B4-BE49-F238E27FC236}">
                  <a16:creationId xmlns:a16="http://schemas.microsoft.com/office/drawing/2014/main" id="{7D80C3C3-9306-46CE-AEC2-3E77179C221C}"/>
                </a:ext>
              </a:extLst>
            </p:cNvPr>
            <p:cNvGrpSpPr/>
            <p:nvPr/>
          </p:nvGrpSpPr>
          <p:grpSpPr>
            <a:xfrm>
              <a:off x="3088645" y="3397358"/>
              <a:ext cx="648328" cy="648421"/>
              <a:chOff x="3088645" y="3397358"/>
              <a:chExt cx="648328" cy="648421"/>
            </a:xfrm>
          </p:grpSpPr>
          <p:grpSp>
            <p:nvGrpSpPr>
              <p:cNvPr id="19" name="Group 18">
                <a:extLst>
                  <a:ext uri="{FF2B5EF4-FFF2-40B4-BE49-F238E27FC236}">
                    <a16:creationId xmlns:a16="http://schemas.microsoft.com/office/drawing/2014/main" id="{95117CE3-0E9B-4447-A3C8-E159CB3F92E5}"/>
                  </a:ext>
                </a:extLst>
              </p:cNvPr>
              <p:cNvGrpSpPr/>
              <p:nvPr/>
            </p:nvGrpSpPr>
            <p:grpSpPr>
              <a:xfrm>
                <a:off x="3088645" y="3397358"/>
                <a:ext cx="648328" cy="648421"/>
                <a:chOff x="3088645" y="3397358"/>
                <a:chExt cx="648328" cy="648421"/>
              </a:xfrm>
            </p:grpSpPr>
            <p:sp>
              <p:nvSpPr>
                <p:cNvPr id="107" name="Freeform 5">
                  <a:extLst>
                    <a:ext uri="{FF2B5EF4-FFF2-40B4-BE49-F238E27FC236}">
                      <a16:creationId xmlns:a16="http://schemas.microsoft.com/office/drawing/2014/main" id="{9474CA11-8D78-4EC6-A276-679EF16D3D96}"/>
                    </a:ext>
                  </a:extLst>
                </p:cNvPr>
                <p:cNvSpPr>
                  <a:spLocks/>
                </p:cNvSpPr>
                <p:nvPr/>
              </p:nvSpPr>
              <p:spPr bwMode="auto">
                <a:xfrm>
                  <a:off x="3088645" y="3397358"/>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8" name="Freeform 6">
                  <a:extLst>
                    <a:ext uri="{FF2B5EF4-FFF2-40B4-BE49-F238E27FC236}">
                      <a16:creationId xmlns:a16="http://schemas.microsoft.com/office/drawing/2014/main" id="{9B2D8782-888C-4CF5-9681-D1A1887683D0}"/>
                    </a:ext>
                  </a:extLst>
                </p:cNvPr>
                <p:cNvSpPr>
                  <a:spLocks noEditPoints="1"/>
                </p:cNvSpPr>
                <p:nvPr/>
              </p:nvSpPr>
              <p:spPr bwMode="auto">
                <a:xfrm>
                  <a:off x="3133231" y="3442475"/>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490EA50-A693-4AC6-84FD-4D2DB9090CBD}"/>
                  </a:ext>
                </a:extLst>
              </p:cNvPr>
              <p:cNvPicPr>
                <a:picLocks noChangeAspect="1"/>
              </p:cNvPicPr>
              <p:nvPr/>
            </p:nvPicPr>
            <p:blipFill>
              <a:blip r:embed="rId7"/>
              <a:stretch>
                <a:fillRect/>
              </a:stretch>
            </p:blipFill>
            <p:spPr>
              <a:xfrm>
                <a:off x="3243943" y="3594850"/>
                <a:ext cx="337732" cy="253437"/>
              </a:xfrm>
              <a:prstGeom prst="rect">
                <a:avLst/>
              </a:prstGeom>
            </p:spPr>
          </p:pic>
        </p:grpSp>
        <p:grpSp>
          <p:nvGrpSpPr>
            <p:cNvPr id="33" name="Group 32">
              <a:extLst>
                <a:ext uri="{FF2B5EF4-FFF2-40B4-BE49-F238E27FC236}">
                  <a16:creationId xmlns:a16="http://schemas.microsoft.com/office/drawing/2014/main" id="{90917E78-AD9A-4BD2-A0DE-1468FBEFD828}"/>
                </a:ext>
              </a:extLst>
            </p:cNvPr>
            <p:cNvGrpSpPr/>
            <p:nvPr/>
          </p:nvGrpSpPr>
          <p:grpSpPr>
            <a:xfrm>
              <a:off x="3088645" y="4126677"/>
              <a:ext cx="648328" cy="648421"/>
              <a:chOff x="3088645" y="4126677"/>
              <a:chExt cx="648328" cy="648421"/>
            </a:xfrm>
          </p:grpSpPr>
          <p:grpSp>
            <p:nvGrpSpPr>
              <p:cNvPr id="18" name="Group 17">
                <a:extLst>
                  <a:ext uri="{FF2B5EF4-FFF2-40B4-BE49-F238E27FC236}">
                    <a16:creationId xmlns:a16="http://schemas.microsoft.com/office/drawing/2014/main" id="{5D3BD2C7-2A7D-4F86-9D6E-B86CB2DBFE6A}"/>
                  </a:ext>
                </a:extLst>
              </p:cNvPr>
              <p:cNvGrpSpPr/>
              <p:nvPr/>
            </p:nvGrpSpPr>
            <p:grpSpPr>
              <a:xfrm>
                <a:off x="3088645" y="4126677"/>
                <a:ext cx="648328" cy="648421"/>
                <a:chOff x="3088645" y="4126677"/>
                <a:chExt cx="648328" cy="648421"/>
              </a:xfrm>
            </p:grpSpPr>
            <p:sp>
              <p:nvSpPr>
                <p:cNvPr id="133" name="Freeform 5">
                  <a:extLst>
                    <a:ext uri="{FF2B5EF4-FFF2-40B4-BE49-F238E27FC236}">
                      <a16:creationId xmlns:a16="http://schemas.microsoft.com/office/drawing/2014/main" id="{61B7FE4E-A54C-4AB3-B855-6A86D033CE0F}"/>
                    </a:ext>
                  </a:extLst>
                </p:cNvPr>
                <p:cNvSpPr>
                  <a:spLocks/>
                </p:cNvSpPr>
                <p:nvPr/>
              </p:nvSpPr>
              <p:spPr bwMode="auto">
                <a:xfrm>
                  <a:off x="3088645" y="4126677"/>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4" name="Freeform 6">
                  <a:extLst>
                    <a:ext uri="{FF2B5EF4-FFF2-40B4-BE49-F238E27FC236}">
                      <a16:creationId xmlns:a16="http://schemas.microsoft.com/office/drawing/2014/main" id="{212CD6A7-0C2A-4CB7-B2D0-E7E7F037253C}"/>
                    </a:ext>
                  </a:extLst>
                </p:cNvPr>
                <p:cNvSpPr>
                  <a:spLocks noEditPoints="1"/>
                </p:cNvSpPr>
                <p:nvPr/>
              </p:nvSpPr>
              <p:spPr bwMode="auto">
                <a:xfrm>
                  <a:off x="3133231" y="4171794"/>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AA290B3-ADDF-431A-9250-5322DBA77ED6}"/>
                  </a:ext>
                </a:extLst>
              </p:cNvPr>
              <p:cNvPicPr>
                <a:picLocks noChangeAspect="1"/>
              </p:cNvPicPr>
              <p:nvPr/>
            </p:nvPicPr>
            <p:blipFill>
              <a:blip r:embed="rId8"/>
              <a:stretch>
                <a:fillRect/>
              </a:stretch>
            </p:blipFill>
            <p:spPr>
              <a:xfrm>
                <a:off x="3241292" y="4279370"/>
                <a:ext cx="343035" cy="343035"/>
              </a:xfrm>
              <a:prstGeom prst="rect">
                <a:avLst/>
              </a:prstGeom>
            </p:spPr>
          </p:pic>
        </p:grpSp>
        <p:grpSp>
          <p:nvGrpSpPr>
            <p:cNvPr id="34" name="Group 33">
              <a:extLst>
                <a:ext uri="{FF2B5EF4-FFF2-40B4-BE49-F238E27FC236}">
                  <a16:creationId xmlns:a16="http://schemas.microsoft.com/office/drawing/2014/main" id="{AC684AC9-6518-4DC6-A1AA-30095D06C456}"/>
                </a:ext>
              </a:extLst>
            </p:cNvPr>
            <p:cNvGrpSpPr/>
            <p:nvPr/>
          </p:nvGrpSpPr>
          <p:grpSpPr>
            <a:xfrm>
              <a:off x="3088645" y="4855994"/>
              <a:ext cx="648329" cy="648421"/>
              <a:chOff x="3088645" y="4855994"/>
              <a:chExt cx="648329" cy="648421"/>
            </a:xfrm>
          </p:grpSpPr>
          <p:grpSp>
            <p:nvGrpSpPr>
              <p:cNvPr id="16" name="Group 15">
                <a:extLst>
                  <a:ext uri="{FF2B5EF4-FFF2-40B4-BE49-F238E27FC236}">
                    <a16:creationId xmlns:a16="http://schemas.microsoft.com/office/drawing/2014/main" id="{3F7D0CAC-211F-459F-B1EB-52595A1A6323}"/>
                  </a:ext>
                </a:extLst>
              </p:cNvPr>
              <p:cNvGrpSpPr/>
              <p:nvPr/>
            </p:nvGrpSpPr>
            <p:grpSpPr>
              <a:xfrm>
                <a:off x="3088645" y="4855994"/>
                <a:ext cx="648329" cy="648421"/>
                <a:chOff x="3088645" y="4855994"/>
                <a:chExt cx="648329" cy="648421"/>
              </a:xfrm>
            </p:grpSpPr>
            <p:sp>
              <p:nvSpPr>
                <p:cNvPr id="94" name="Freeform 5">
                  <a:extLst>
                    <a:ext uri="{FF2B5EF4-FFF2-40B4-BE49-F238E27FC236}">
                      <a16:creationId xmlns:a16="http://schemas.microsoft.com/office/drawing/2014/main" id="{2B5E6A94-C6D5-42AF-B89B-310056DC042A}"/>
                    </a:ext>
                  </a:extLst>
                </p:cNvPr>
                <p:cNvSpPr>
                  <a:spLocks/>
                </p:cNvSpPr>
                <p:nvPr/>
              </p:nvSpPr>
              <p:spPr bwMode="auto">
                <a:xfrm>
                  <a:off x="3088645" y="485599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5" name="Freeform 6">
                  <a:extLst>
                    <a:ext uri="{FF2B5EF4-FFF2-40B4-BE49-F238E27FC236}">
                      <a16:creationId xmlns:a16="http://schemas.microsoft.com/office/drawing/2014/main" id="{1D0893B1-8F26-4D9A-AEE0-0CF8243D6CB2}"/>
                    </a:ext>
                  </a:extLst>
                </p:cNvPr>
                <p:cNvSpPr>
                  <a:spLocks noEditPoints="1"/>
                </p:cNvSpPr>
                <p:nvPr/>
              </p:nvSpPr>
              <p:spPr bwMode="auto">
                <a:xfrm>
                  <a:off x="3133230" y="4901111"/>
                  <a:ext cx="559158"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a screen with a square enclosed by outward pointing chevrons on left and right">
                <a:extLst>
                  <a:ext uri="{FF2B5EF4-FFF2-40B4-BE49-F238E27FC236}">
                    <a16:creationId xmlns:a16="http://schemas.microsoft.com/office/drawing/2014/main" id="{A0B80851-ACFB-44ED-90C5-B1BDCD71114F}"/>
                  </a:ext>
                </a:extLst>
              </p:cNvPr>
              <p:cNvPicPr>
                <a:picLocks noChangeAspect="1"/>
              </p:cNvPicPr>
              <p:nvPr/>
            </p:nvPicPr>
            <p:blipFill>
              <a:blip r:embed="rId9"/>
              <a:stretch>
                <a:fillRect/>
              </a:stretch>
            </p:blipFill>
            <p:spPr>
              <a:xfrm>
                <a:off x="3231869" y="5044425"/>
                <a:ext cx="361881" cy="271559"/>
              </a:xfrm>
              <a:prstGeom prst="rect">
                <a:avLst/>
              </a:prstGeom>
            </p:spPr>
          </p:pic>
        </p:grpSp>
      </p:grpSp>
    </p:spTree>
    <p:extLst>
      <p:ext uri="{BB962C8B-B14F-4D97-AF65-F5344CB8AC3E}">
        <p14:creationId xmlns:p14="http://schemas.microsoft.com/office/powerpoint/2010/main" val="3075216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2225" y="-56225"/>
            <a:ext cx="10515600" cy="1325563"/>
          </a:xfrm>
        </p:spPr>
        <p:txBody>
          <a:bodyPr>
            <a:normAutofit/>
          </a:bodyPr>
          <a:lstStyle/>
          <a:p>
            <a:r>
              <a:rPr lang="en-US" sz="2800" dirty="0">
                <a:solidFill>
                  <a:srgbClr val="000000"/>
                </a:solidFill>
                <a:cs typeface="Segoe UI Semilight"/>
              </a:rPr>
              <a:t>Distributed Denial of Service (DDoS)</a:t>
            </a:r>
          </a:p>
        </p:txBody>
      </p:sp>
      <p:sp>
        <p:nvSpPr>
          <p:cNvPr id="3" name="Text Placeholder 3">
            <a:extLst>
              <a:ext uri="{FF2B5EF4-FFF2-40B4-BE49-F238E27FC236}">
                <a16:creationId xmlns:a16="http://schemas.microsoft.com/office/drawing/2014/main" id="{8A8A9C9A-94F1-44FA-BC36-8FCD65D5BBED}"/>
              </a:ext>
            </a:extLst>
          </p:cNvPr>
          <p:cNvSpPr txBox="1">
            <a:spLocks/>
          </p:cNvSpPr>
          <p:nvPr/>
        </p:nvSpPr>
        <p:spPr>
          <a:xfrm>
            <a:off x="0" y="1069869"/>
            <a:ext cx="12192000" cy="914400"/>
          </a:xfrm>
          <a:prstGeom prst="rect">
            <a:avLst/>
          </a:prstGeom>
          <a:solidFill>
            <a:schemeClr val="accent1">
              <a:lumMod val="50000"/>
            </a:schemeClr>
          </a:solidFill>
        </p:spPr>
        <p:style>
          <a:lnRef idx="0">
            <a:scrgbClr r="0" g="0" b="0"/>
          </a:lnRef>
          <a:fillRef idx="0">
            <a:scrgbClr r="0" g="0" b="0"/>
          </a:fillRef>
          <a:effectRef idx="0">
            <a:scrgbClr r="0" g="0" b="0"/>
          </a:effectRef>
          <a:fontRef idx="major"/>
        </p:style>
        <p:txBody>
          <a:bodyPr lIns="91440" tIns="45720" rIns="91440" bIns="4572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0" algn="l" defTabSz="931863"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dirty="0">
                <a:ln>
                  <a:noFill/>
                </a:ln>
                <a:solidFill>
                  <a:srgbClr val="FFFFFF"/>
                </a:solidFill>
                <a:effectLst/>
                <a:uLnTx/>
                <a:uFillTx/>
                <a:latin typeface="Segoe UI"/>
                <a:ea typeface="+mn-ea"/>
                <a:cs typeface="+mn-cs"/>
              </a:rPr>
              <a:t>The goal of a DoS (Denial of Service) attack is to prevent access to services or systems.</a:t>
            </a:r>
          </a:p>
        </p:txBody>
      </p:sp>
      <p:sp>
        <p:nvSpPr>
          <p:cNvPr id="7" name="Rectangle 6">
            <a:extLst>
              <a:ext uri="{FF2B5EF4-FFF2-40B4-BE49-F238E27FC236}">
                <a16:creationId xmlns:a16="http://schemas.microsoft.com/office/drawing/2014/main" id="{4325177C-74B3-404C-A9BB-EA34C62285EC}"/>
              </a:ext>
            </a:extLst>
          </p:cNvPr>
          <p:cNvSpPr/>
          <p:nvPr/>
        </p:nvSpPr>
        <p:spPr>
          <a:xfrm>
            <a:off x="462226" y="2364482"/>
            <a:ext cx="5717287" cy="1185624"/>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2880" tIns="137160" rIns="182880" bIns="137160" numCol="1" spcCol="1270" anchor="ctr" anchorCtr="0">
            <a:noAutofit/>
          </a:bodyPr>
          <a:lstStyle/>
          <a:p>
            <a:pPr marL="0" marR="0" lvl="0" indent="0" defTabSz="1066800" eaLnBrk="1" fontAlgn="auto" latinLnBrk="0" hangingPunct="1">
              <a:lnSpc>
                <a:spcPct val="100000"/>
              </a:lnSpc>
              <a:spcBef>
                <a:spcPct val="0"/>
              </a:spcBef>
              <a:spcAft>
                <a:spcPct val="35000"/>
              </a:spcAft>
              <a:buClrTx/>
              <a:buSzTx/>
              <a:buFontTx/>
              <a:buNone/>
              <a:tabLst/>
              <a:defRPr/>
            </a:pPr>
            <a:r>
              <a:rPr kumimoji="0" lang="en-US" sz="2000" b="0" i="0" u="none" strike="noStrike" kern="0" cap="none" spc="0" normalizeH="0" baseline="0" noProof="0" dirty="0">
                <a:ln>
                  <a:noFill/>
                </a:ln>
                <a:effectLst/>
                <a:uLnTx/>
                <a:uFillTx/>
                <a:latin typeface="Segoe UI"/>
                <a:ea typeface="+mn-ea"/>
                <a:cs typeface="+mn-cs"/>
              </a:rPr>
              <a:t>Botnets are collections of internet-connected systems that an individual controls and uses without their owners’ knowledge</a:t>
            </a:r>
          </a:p>
        </p:txBody>
      </p:sp>
      <p:sp>
        <p:nvSpPr>
          <p:cNvPr id="9" name="Rectangle 8">
            <a:extLst>
              <a:ext uri="{FF2B5EF4-FFF2-40B4-BE49-F238E27FC236}">
                <a16:creationId xmlns:a16="http://schemas.microsoft.com/office/drawing/2014/main" id="{44CB801C-8CA0-48E3-8127-484E56A87C4A}"/>
              </a:ext>
            </a:extLst>
          </p:cNvPr>
          <p:cNvSpPr/>
          <p:nvPr/>
        </p:nvSpPr>
        <p:spPr>
          <a:xfrm>
            <a:off x="462225" y="3734743"/>
            <a:ext cx="5717287" cy="1185624"/>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2880" tIns="137160" rIns="182880" bIns="137160" numCol="1" spcCol="1270" anchor="ctr" anchorCtr="0">
            <a:noAutofit/>
          </a:bodyPr>
          <a:lstStyle/>
          <a:p>
            <a:pPr marL="0" marR="0" lvl="0" indent="0" defTabSz="1066800" eaLnBrk="1" fontAlgn="auto" latinLnBrk="0" hangingPunct="1">
              <a:lnSpc>
                <a:spcPct val="100000"/>
              </a:lnSpc>
              <a:spcBef>
                <a:spcPct val="0"/>
              </a:spcBef>
              <a:spcAft>
                <a:spcPct val="35000"/>
              </a:spcAft>
              <a:buClrTx/>
              <a:buSzTx/>
              <a:buFontTx/>
              <a:buNone/>
              <a:tabLst/>
              <a:defRPr/>
            </a:pPr>
            <a:r>
              <a:rPr kumimoji="0" lang="en-US" sz="2000" b="0" i="0" u="none" strike="noStrike" kern="0" cap="none" spc="0" normalizeH="0" baseline="0" noProof="0" dirty="0">
                <a:ln>
                  <a:noFill/>
                </a:ln>
                <a:effectLst/>
                <a:uLnTx/>
                <a:uFillTx/>
                <a:latin typeface="Segoe UI"/>
                <a:ea typeface="+mn-ea"/>
                <a:cs typeface="+mn-cs"/>
              </a:rPr>
              <a:t>DDoS is a collection of attack types aimed at disrupting the availability of a target</a:t>
            </a:r>
          </a:p>
        </p:txBody>
      </p:sp>
      <p:sp>
        <p:nvSpPr>
          <p:cNvPr id="11" name="Rectangle 10">
            <a:extLst>
              <a:ext uri="{FF2B5EF4-FFF2-40B4-BE49-F238E27FC236}">
                <a16:creationId xmlns:a16="http://schemas.microsoft.com/office/drawing/2014/main" id="{0E1EF798-17D2-44E7-ABB3-68D07D7EB554}"/>
              </a:ext>
            </a:extLst>
          </p:cNvPr>
          <p:cNvSpPr/>
          <p:nvPr/>
        </p:nvSpPr>
        <p:spPr>
          <a:xfrm>
            <a:off x="462225" y="5108880"/>
            <a:ext cx="5717287" cy="1185624"/>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2880" tIns="137160" rIns="182880" bIns="137160" numCol="1" spcCol="1270" anchor="ctr" anchorCtr="0">
            <a:noAutofit/>
          </a:bodyPr>
          <a:lstStyle/>
          <a:p>
            <a:pPr marL="0" marR="0" lvl="0" indent="0" defTabSz="1066800" eaLnBrk="1" fontAlgn="auto" latinLnBrk="0" hangingPunct="1">
              <a:lnSpc>
                <a:spcPct val="100000"/>
              </a:lnSpc>
              <a:spcBef>
                <a:spcPct val="0"/>
              </a:spcBef>
              <a:spcAft>
                <a:spcPct val="35000"/>
              </a:spcAft>
              <a:buClrTx/>
              <a:buSzTx/>
              <a:buFontTx/>
              <a:buNone/>
              <a:tabLst/>
              <a:defRPr/>
            </a:pPr>
            <a:r>
              <a:rPr kumimoji="0" lang="en-US" sz="2000" b="0" i="0" u="none" strike="noStrike" kern="0" cap="none" spc="0" normalizeH="0" baseline="0" noProof="0" dirty="0">
                <a:ln>
                  <a:noFill/>
                </a:ln>
                <a:effectLst/>
                <a:uLnTx/>
                <a:uFillTx/>
                <a:latin typeface="Segoe UI"/>
                <a:ea typeface="+mn-ea"/>
                <a:cs typeface="+mn-cs"/>
              </a:rPr>
              <a:t>DDoS involves many systems sending traffic to targets as part of a botnet</a:t>
            </a:r>
          </a:p>
        </p:txBody>
      </p:sp>
      <p:grpSp>
        <p:nvGrpSpPr>
          <p:cNvPr id="2" name="Group 1" descr="Bots are attacking a target. ">
            <a:extLst>
              <a:ext uri="{FF2B5EF4-FFF2-40B4-BE49-F238E27FC236}">
                <a16:creationId xmlns:a16="http://schemas.microsoft.com/office/drawing/2014/main" id="{DCA28A4E-CE2E-4F0B-BD3F-7EB4B93DA899}"/>
              </a:ext>
            </a:extLst>
          </p:cNvPr>
          <p:cNvGrpSpPr/>
          <p:nvPr/>
        </p:nvGrpSpPr>
        <p:grpSpPr>
          <a:xfrm>
            <a:off x="7486650" y="2716579"/>
            <a:ext cx="3531770" cy="3322271"/>
            <a:chOff x="8616231" y="2553526"/>
            <a:chExt cx="3078464" cy="3221951"/>
          </a:xfrm>
        </p:grpSpPr>
        <p:sp>
          <p:nvSpPr>
            <p:cNvPr id="5" name="Rectangle 4">
              <a:extLst>
                <a:ext uri="{FF2B5EF4-FFF2-40B4-BE49-F238E27FC236}">
                  <a16:creationId xmlns:a16="http://schemas.microsoft.com/office/drawing/2014/main" id="{77DF2E30-1293-4662-9BB2-331861E6FDB5}"/>
                </a:ext>
              </a:extLst>
            </p:cNvPr>
            <p:cNvSpPr/>
            <p:nvPr/>
          </p:nvSpPr>
          <p:spPr bwMode="auto">
            <a:xfrm>
              <a:off x="8616231" y="2553526"/>
              <a:ext cx="957129" cy="5539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Bot</a:t>
              </a:r>
            </a:p>
          </p:txBody>
        </p:sp>
        <p:sp>
          <p:nvSpPr>
            <p:cNvPr id="8" name="Rectangle 7">
              <a:extLst>
                <a:ext uri="{FF2B5EF4-FFF2-40B4-BE49-F238E27FC236}">
                  <a16:creationId xmlns:a16="http://schemas.microsoft.com/office/drawing/2014/main" id="{6A86DBBA-1A4A-4FB0-8ED5-B0010AD14FC8}"/>
                </a:ext>
              </a:extLst>
            </p:cNvPr>
            <p:cNvSpPr/>
            <p:nvPr/>
          </p:nvSpPr>
          <p:spPr bwMode="auto">
            <a:xfrm>
              <a:off x="8616231" y="3220514"/>
              <a:ext cx="957129" cy="5539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Bot</a:t>
              </a:r>
            </a:p>
          </p:txBody>
        </p:sp>
        <p:sp>
          <p:nvSpPr>
            <p:cNvPr id="10" name="Rectangle 9">
              <a:extLst>
                <a:ext uri="{FF2B5EF4-FFF2-40B4-BE49-F238E27FC236}">
                  <a16:creationId xmlns:a16="http://schemas.microsoft.com/office/drawing/2014/main" id="{3B58C6FB-1642-4FBF-A9C9-747085050796}"/>
                </a:ext>
              </a:extLst>
            </p:cNvPr>
            <p:cNvSpPr/>
            <p:nvPr/>
          </p:nvSpPr>
          <p:spPr bwMode="auto">
            <a:xfrm>
              <a:off x="8616231" y="3887502"/>
              <a:ext cx="957129" cy="5539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Bot</a:t>
              </a:r>
            </a:p>
          </p:txBody>
        </p:sp>
        <p:sp>
          <p:nvSpPr>
            <p:cNvPr id="12" name="Rectangle 11">
              <a:extLst>
                <a:ext uri="{FF2B5EF4-FFF2-40B4-BE49-F238E27FC236}">
                  <a16:creationId xmlns:a16="http://schemas.microsoft.com/office/drawing/2014/main" id="{C24DEE86-2225-4F28-BA65-DEB5683BA9F1}"/>
                </a:ext>
              </a:extLst>
            </p:cNvPr>
            <p:cNvSpPr/>
            <p:nvPr/>
          </p:nvSpPr>
          <p:spPr bwMode="auto">
            <a:xfrm>
              <a:off x="8616231" y="4554490"/>
              <a:ext cx="957129" cy="5539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Bot</a:t>
              </a:r>
            </a:p>
          </p:txBody>
        </p:sp>
        <p:sp>
          <p:nvSpPr>
            <p:cNvPr id="14" name="Rectangle 13">
              <a:extLst>
                <a:ext uri="{FF2B5EF4-FFF2-40B4-BE49-F238E27FC236}">
                  <a16:creationId xmlns:a16="http://schemas.microsoft.com/office/drawing/2014/main" id="{401263A9-933E-48D4-BC96-F67FACA7A3BB}"/>
                </a:ext>
              </a:extLst>
            </p:cNvPr>
            <p:cNvSpPr/>
            <p:nvPr/>
          </p:nvSpPr>
          <p:spPr bwMode="auto">
            <a:xfrm>
              <a:off x="8616231" y="5221479"/>
              <a:ext cx="957129" cy="5539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Bot</a:t>
              </a:r>
            </a:p>
          </p:txBody>
        </p:sp>
        <p:sp>
          <p:nvSpPr>
            <p:cNvPr id="16" name="Rectangle 15">
              <a:extLst>
                <a:ext uri="{FF2B5EF4-FFF2-40B4-BE49-F238E27FC236}">
                  <a16:creationId xmlns:a16="http://schemas.microsoft.com/office/drawing/2014/main" id="{D9EA2DA3-8E6F-4E1F-951E-76903943A10E}"/>
                </a:ext>
              </a:extLst>
            </p:cNvPr>
            <p:cNvSpPr/>
            <p:nvPr/>
          </p:nvSpPr>
          <p:spPr bwMode="auto">
            <a:xfrm>
              <a:off x="10558538" y="3219175"/>
              <a:ext cx="1136157" cy="5539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Target</a:t>
              </a:r>
            </a:p>
          </p:txBody>
        </p:sp>
        <p:cxnSp>
          <p:nvCxnSpPr>
            <p:cNvPr id="22" name="Connector: Elbow 21">
              <a:extLst>
                <a:ext uri="{FF2B5EF4-FFF2-40B4-BE49-F238E27FC236}">
                  <a16:creationId xmlns:a16="http://schemas.microsoft.com/office/drawing/2014/main" id="{BF81986A-6874-4EB1-BC63-D061392A2588}"/>
                </a:ext>
              </a:extLst>
            </p:cNvPr>
            <p:cNvCxnSpPr>
              <a:cxnSpLocks/>
              <a:stCxn id="5" idx="3"/>
              <a:endCxn id="16" idx="1"/>
            </p:cNvCxnSpPr>
            <p:nvPr/>
          </p:nvCxnSpPr>
          <p:spPr>
            <a:xfrm>
              <a:off x="9573360" y="2830525"/>
              <a:ext cx="985178" cy="665649"/>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2A008BE-1FFF-4536-9AF2-C49FD9DAB18C}"/>
                </a:ext>
              </a:extLst>
            </p:cNvPr>
            <p:cNvCxnSpPr>
              <a:cxnSpLocks/>
              <a:stCxn id="10" idx="3"/>
              <a:endCxn id="16" idx="1"/>
            </p:cNvCxnSpPr>
            <p:nvPr/>
          </p:nvCxnSpPr>
          <p:spPr>
            <a:xfrm flipV="1">
              <a:off x="9573360" y="3496174"/>
              <a:ext cx="985178" cy="668327"/>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E4968A43-6725-4897-84E4-01561791E180}"/>
                </a:ext>
              </a:extLst>
            </p:cNvPr>
            <p:cNvCxnSpPr>
              <a:cxnSpLocks/>
              <a:stCxn id="12" idx="3"/>
              <a:endCxn id="16" idx="1"/>
            </p:cNvCxnSpPr>
            <p:nvPr/>
          </p:nvCxnSpPr>
          <p:spPr>
            <a:xfrm flipV="1">
              <a:off x="9573360" y="3496174"/>
              <a:ext cx="985178" cy="1335315"/>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D0788D47-8297-4544-8E02-4FB63B5B6D0C}"/>
                </a:ext>
              </a:extLst>
            </p:cNvPr>
            <p:cNvCxnSpPr>
              <a:cxnSpLocks/>
              <a:stCxn id="14" idx="3"/>
              <a:endCxn id="16" idx="1"/>
            </p:cNvCxnSpPr>
            <p:nvPr/>
          </p:nvCxnSpPr>
          <p:spPr>
            <a:xfrm flipV="1">
              <a:off x="9573360" y="3496174"/>
              <a:ext cx="985178" cy="2002304"/>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20E567C0-9586-4D3E-9782-DACEB8846BA8}"/>
                </a:ext>
              </a:extLst>
            </p:cNvPr>
            <p:cNvCxnSpPr>
              <a:cxnSpLocks/>
              <a:stCxn id="8" idx="3"/>
              <a:endCxn id="16" idx="1"/>
            </p:cNvCxnSpPr>
            <p:nvPr/>
          </p:nvCxnSpPr>
          <p:spPr>
            <a:xfrm flipV="1">
              <a:off x="9573360" y="3496174"/>
              <a:ext cx="985178" cy="1339"/>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sp>
        <p:nvSpPr>
          <p:cNvPr id="13" name="Rectangle 12">
            <a:extLst>
              <a:ext uri="{FF2B5EF4-FFF2-40B4-BE49-F238E27FC236}">
                <a16:creationId xmlns:a16="http://schemas.microsoft.com/office/drawing/2014/main" id="{8F401863-1B2A-44C0-A6A7-880D97D453AE}"/>
              </a:ext>
              <a:ext uri="{C183D7F6-B498-43B3-948B-1728B52AA6E4}">
                <adec:decorative xmlns:adec="http://schemas.microsoft.com/office/drawing/2017/decorative" val="1"/>
              </a:ext>
            </a:extLst>
          </p:cNvPr>
          <p:cNvSpPr/>
          <p:nvPr/>
        </p:nvSpPr>
        <p:spPr bwMode="auto">
          <a:xfrm>
            <a:off x="6353174" y="2360606"/>
            <a:ext cx="5572126" cy="3933898"/>
          </a:xfrm>
          <a:prstGeom prst="rect">
            <a:avLst/>
          </a:prstGeom>
          <a:noFill/>
          <a:ln>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723696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a:xfrm>
            <a:off x="424090" y="466096"/>
            <a:ext cx="11343820" cy="397545"/>
          </a:xfrm>
        </p:spPr>
        <p:txBody>
          <a:bodyPr/>
          <a:lstStyle/>
          <a:p>
            <a:r>
              <a:rPr lang="en-US" sz="2800">
                <a:cs typeface="Segoe UI Semilight"/>
              </a:rPr>
              <a:t>Types of DDoS attacks</a:t>
            </a:r>
          </a:p>
        </p:txBody>
      </p:sp>
      <p:sp>
        <p:nvSpPr>
          <p:cNvPr id="7" name="Freeform: Shape 6">
            <a:extLst>
              <a:ext uri="{FF2B5EF4-FFF2-40B4-BE49-F238E27FC236}">
                <a16:creationId xmlns:a16="http://schemas.microsoft.com/office/drawing/2014/main" id="{A0F54552-E370-4435-9A02-B634FDFBB00D}"/>
              </a:ext>
            </a:extLst>
          </p:cNvPr>
          <p:cNvSpPr/>
          <p:nvPr/>
        </p:nvSpPr>
        <p:spPr>
          <a:xfrm>
            <a:off x="204591" y="1102338"/>
            <a:ext cx="11093886" cy="157823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800" b="1" dirty="0">
                <a:solidFill>
                  <a:schemeClr val="tx1"/>
                </a:solidFill>
                <a:effectLst/>
                <a:latin typeface="+mj-lt"/>
                <a:ea typeface="Calibri" panose="020F0502020204030204" pitchFamily="34" charset="0"/>
                <a:cs typeface="Times New Roman" panose="02020603050405020304" pitchFamily="18" charset="0"/>
              </a:rPr>
              <a:t>Volumetric attacks</a:t>
            </a:r>
          </a:p>
          <a:p>
            <a:r>
              <a:rPr lang="en-US" sz="1800" dirty="0">
                <a:solidFill>
                  <a:schemeClr val="tx1"/>
                </a:solidFill>
                <a:effectLst/>
                <a:latin typeface="+mj-lt"/>
                <a:ea typeface="Calibri" panose="020F0502020204030204" pitchFamily="34" charset="0"/>
                <a:cs typeface="Times New Roman" panose="02020603050405020304" pitchFamily="18" charset="0"/>
              </a:rPr>
              <a:t>These attacks flood the network layer with a substantial amount of seemingly legitimate traffic. They include UDP floods, amplification floods, and other spoofed-packet floods. DDoS Protection Standard mitigates these potential multi-gigabyte attacks by absorbing and scrubbing them, with Azure's global network scale, automatically.</a:t>
            </a:r>
            <a:endParaRPr lang="en-US" sz="1961" dirty="0">
              <a:solidFill>
                <a:schemeClr val="tx1"/>
              </a:solidFill>
              <a:latin typeface="+mj-lt"/>
              <a:cs typeface="Segoe UI Semilight"/>
            </a:endParaRPr>
          </a:p>
        </p:txBody>
      </p:sp>
      <p:sp>
        <p:nvSpPr>
          <p:cNvPr id="11" name="Freeform: Shape 10">
            <a:extLst>
              <a:ext uri="{FF2B5EF4-FFF2-40B4-BE49-F238E27FC236}">
                <a16:creationId xmlns:a16="http://schemas.microsoft.com/office/drawing/2014/main" id="{DB3DBDD6-AACB-49F4-A314-D5929BA98BA7}"/>
              </a:ext>
            </a:extLst>
          </p:cNvPr>
          <p:cNvSpPr/>
          <p:nvPr/>
        </p:nvSpPr>
        <p:spPr>
          <a:xfrm>
            <a:off x="204591" y="2958932"/>
            <a:ext cx="11093886" cy="17132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800" b="1">
                <a:solidFill>
                  <a:schemeClr val="tx1"/>
                </a:solidFill>
                <a:effectLst/>
                <a:latin typeface="+mj-lt"/>
                <a:ea typeface="Calibri" panose="020F0502020204030204" pitchFamily="34" charset="0"/>
                <a:cs typeface="Times New Roman" panose="02020603050405020304" pitchFamily="18" charset="0"/>
              </a:rPr>
              <a:t>Protocol attacks </a:t>
            </a:r>
          </a:p>
          <a:p>
            <a:r>
              <a:rPr lang="en-US" sz="1800">
                <a:solidFill>
                  <a:schemeClr val="tx1"/>
                </a:solidFill>
                <a:effectLst/>
                <a:latin typeface="+mj-lt"/>
                <a:ea typeface="Calibri" panose="020F0502020204030204" pitchFamily="34" charset="0"/>
                <a:cs typeface="Times New Roman" panose="02020603050405020304" pitchFamily="18" charset="0"/>
              </a:rPr>
              <a:t>These attacks render a target inaccessible, by exploiting a weakness in the layer 3 and layer 4 protocol stack. They include SYN flood attacks, reflection attacks, and other protocol attacks. DDoS Protection Standard mitigates these attacks, differentiating between malicious and legitimate traffic, by interacting with the client, and blocking malicious traffic.</a:t>
            </a:r>
            <a:endParaRPr lang="en-US" sz="1961">
              <a:solidFill>
                <a:schemeClr val="tx1"/>
              </a:solidFill>
              <a:latin typeface="+mj-lt"/>
              <a:cs typeface="Segoe UI Semilight"/>
            </a:endParaRPr>
          </a:p>
        </p:txBody>
      </p:sp>
      <p:sp>
        <p:nvSpPr>
          <p:cNvPr id="13" name="Freeform: Shape 12">
            <a:extLst>
              <a:ext uri="{FF2B5EF4-FFF2-40B4-BE49-F238E27FC236}">
                <a16:creationId xmlns:a16="http://schemas.microsoft.com/office/drawing/2014/main" id="{6470C48B-AD30-4306-981A-40B35EEF85F8}"/>
              </a:ext>
            </a:extLst>
          </p:cNvPr>
          <p:cNvSpPr/>
          <p:nvPr/>
        </p:nvSpPr>
        <p:spPr>
          <a:xfrm>
            <a:off x="204590" y="4813672"/>
            <a:ext cx="11093887" cy="157823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800" b="1" dirty="0">
                <a:solidFill>
                  <a:schemeClr val="tx1"/>
                </a:solidFill>
                <a:effectLst/>
                <a:latin typeface="+mj-lt"/>
                <a:ea typeface="Calibri" panose="020F0502020204030204" pitchFamily="34" charset="0"/>
                <a:cs typeface="Times New Roman" panose="02020603050405020304" pitchFamily="18" charset="0"/>
              </a:rPr>
              <a:t>Resource (application) layer attacks</a:t>
            </a:r>
          </a:p>
          <a:p>
            <a:r>
              <a:rPr lang="en-US" sz="1800" dirty="0">
                <a:solidFill>
                  <a:schemeClr val="tx1"/>
                </a:solidFill>
                <a:effectLst/>
                <a:latin typeface="+mj-lt"/>
                <a:ea typeface="Calibri" panose="020F0502020204030204" pitchFamily="34" charset="0"/>
                <a:cs typeface="Times New Roman" panose="02020603050405020304" pitchFamily="18" charset="0"/>
              </a:rPr>
              <a:t>These attacks target web application packets, to disrupt the transmission of data between hosts. They include HTTP protocol violations, SQL injection, cross-site scripting, and other layer 7 attacks. Use a Web Application Firewall, such as the Azure Application Gateway web application firewall, as well as DDoS Protection Standard to provide defense against these attacks. There are also third-party web application firewall offerings available in the Azure Marketplace.</a:t>
            </a:r>
            <a:endParaRPr lang="en-US" sz="1961" dirty="0">
              <a:solidFill>
                <a:schemeClr val="tx1"/>
              </a:solidFill>
              <a:latin typeface="+mj-lt"/>
              <a:cs typeface="Segoe UI Semilight"/>
            </a:endParaRPr>
          </a:p>
        </p:txBody>
      </p:sp>
    </p:spTree>
    <p:extLst>
      <p:ext uri="{BB962C8B-B14F-4D97-AF65-F5344CB8AC3E}">
        <p14:creationId xmlns:p14="http://schemas.microsoft.com/office/powerpoint/2010/main" val="145463470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a:xfrm>
            <a:off x="424090" y="466096"/>
            <a:ext cx="11343820" cy="397545"/>
          </a:xfrm>
        </p:spPr>
        <p:txBody>
          <a:bodyPr/>
          <a:lstStyle/>
          <a:p>
            <a:r>
              <a:rPr lang="en-US" sz="2800">
                <a:cs typeface="Segoe UI Semilight"/>
              </a:rPr>
              <a:t>Azure DDoS protection Standard</a:t>
            </a:r>
          </a:p>
        </p:txBody>
      </p:sp>
      <p:pic>
        <p:nvPicPr>
          <p:cNvPr id="4" name="Picture 3" descr="DDos protection basic compared to standard ">
            <a:extLst>
              <a:ext uri="{FF2B5EF4-FFF2-40B4-BE49-F238E27FC236}">
                <a16:creationId xmlns:a16="http://schemas.microsoft.com/office/drawing/2014/main" id="{D6961695-0894-4410-909E-70CD7CCD89B2}"/>
              </a:ext>
            </a:extLst>
          </p:cNvPr>
          <p:cNvPicPr>
            <a:picLocks noChangeAspect="1"/>
          </p:cNvPicPr>
          <p:nvPr/>
        </p:nvPicPr>
        <p:blipFill>
          <a:blip r:embed="rId3"/>
          <a:stretch>
            <a:fillRect/>
          </a:stretch>
        </p:blipFill>
        <p:spPr>
          <a:xfrm>
            <a:off x="1181585" y="1529127"/>
            <a:ext cx="9524515" cy="3818670"/>
          </a:xfrm>
          <a:prstGeom prst="rect">
            <a:avLst/>
          </a:prstGeom>
        </p:spPr>
      </p:pic>
      <p:sp>
        <p:nvSpPr>
          <p:cNvPr id="5" name="Rectangle 4">
            <a:extLst>
              <a:ext uri="{FF2B5EF4-FFF2-40B4-BE49-F238E27FC236}">
                <a16:creationId xmlns:a16="http://schemas.microsoft.com/office/drawing/2014/main" id="{3549600F-B162-4ABD-9A20-C6F09809DB3F}"/>
              </a:ext>
              <a:ext uri="{C183D7F6-B498-43B3-948B-1728B52AA6E4}">
                <adec:decorative xmlns:adec="http://schemas.microsoft.com/office/drawing/2017/decorative" val="1"/>
              </a:ext>
            </a:extLst>
          </p:cNvPr>
          <p:cNvSpPr/>
          <p:nvPr/>
        </p:nvSpPr>
        <p:spPr bwMode="auto">
          <a:xfrm>
            <a:off x="751562" y="1365337"/>
            <a:ext cx="10797435" cy="445926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62716276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a:xfrm>
            <a:off x="424090" y="466096"/>
            <a:ext cx="11343820" cy="397545"/>
          </a:xfrm>
        </p:spPr>
        <p:txBody>
          <a:bodyPr/>
          <a:lstStyle/>
          <a:p>
            <a:r>
              <a:rPr lang="en-US" sz="2800">
                <a:cs typeface="Segoe UI Semilight"/>
              </a:rPr>
              <a:t>Azure DDoS protection features </a:t>
            </a:r>
          </a:p>
        </p:txBody>
      </p:sp>
      <p:pic>
        <p:nvPicPr>
          <p:cNvPr id="7" name="Picture 6" descr="DDoS Protection Standard uses policy to create graphs based on IP usage. ">
            <a:extLst>
              <a:ext uri="{FF2B5EF4-FFF2-40B4-BE49-F238E27FC236}">
                <a16:creationId xmlns:a16="http://schemas.microsoft.com/office/drawing/2014/main" id="{B8F0BD81-FEDF-4141-A2B8-8F18B321AA87}"/>
              </a:ext>
            </a:extLst>
          </p:cNvPr>
          <p:cNvPicPr>
            <a:picLocks noChangeAspect="1"/>
          </p:cNvPicPr>
          <p:nvPr/>
        </p:nvPicPr>
        <p:blipFill>
          <a:blip r:embed="rId3"/>
          <a:stretch>
            <a:fillRect/>
          </a:stretch>
        </p:blipFill>
        <p:spPr>
          <a:xfrm>
            <a:off x="1295608" y="1397394"/>
            <a:ext cx="9088594" cy="2303396"/>
          </a:xfrm>
          <a:prstGeom prst="rect">
            <a:avLst/>
          </a:prstGeom>
        </p:spPr>
      </p:pic>
      <p:sp>
        <p:nvSpPr>
          <p:cNvPr id="2" name="Rectangle 1">
            <a:extLst>
              <a:ext uri="{FF2B5EF4-FFF2-40B4-BE49-F238E27FC236}">
                <a16:creationId xmlns:a16="http://schemas.microsoft.com/office/drawing/2014/main" id="{B994B80B-99A8-4883-97EC-44A8C6DB4D75}"/>
              </a:ext>
            </a:extLst>
          </p:cNvPr>
          <p:cNvSpPr/>
          <p:nvPr/>
        </p:nvSpPr>
        <p:spPr>
          <a:xfrm>
            <a:off x="424091" y="4144673"/>
            <a:ext cx="6692392" cy="612419"/>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2880" tIns="137160" rIns="182880" bIns="137160" numCol="1" spcCol="1270" anchor="ctr" anchorCtr="0">
            <a:noAutofit/>
          </a:bodyPr>
          <a:lstStyle/>
          <a:p>
            <a:pPr marL="0" marR="0" lvl="0" indent="0" defTabSz="1066800" eaLnBrk="1" fontAlgn="auto" latinLnBrk="0" hangingPunct="1">
              <a:lnSpc>
                <a:spcPct val="100000"/>
              </a:lnSpc>
              <a:spcBef>
                <a:spcPct val="0"/>
              </a:spcBef>
              <a:spcAft>
                <a:spcPct val="35000"/>
              </a:spcAft>
              <a:buClrTx/>
              <a:buSzTx/>
              <a:buFontTx/>
              <a:buNone/>
              <a:tabLst/>
              <a:defRPr/>
            </a:pPr>
            <a:r>
              <a:rPr kumimoji="0" lang="en-US" sz="2000" b="0" i="0" u="none" strike="noStrike" kern="0" cap="none" spc="0" normalizeH="0" baseline="0" noProof="0" dirty="0">
                <a:ln>
                  <a:noFill/>
                </a:ln>
                <a:effectLst/>
                <a:uLnTx/>
                <a:uFillTx/>
                <a:latin typeface="Segoe UI"/>
                <a:ea typeface="+mn-ea"/>
                <a:cs typeface="+mn-cs"/>
              </a:rPr>
              <a:t>Basic and Standard (multiple subscriptions) service tiers</a:t>
            </a:r>
          </a:p>
        </p:txBody>
      </p:sp>
      <p:sp>
        <p:nvSpPr>
          <p:cNvPr id="5" name="Rectangle 4">
            <a:extLst>
              <a:ext uri="{FF2B5EF4-FFF2-40B4-BE49-F238E27FC236}">
                <a16:creationId xmlns:a16="http://schemas.microsoft.com/office/drawing/2014/main" id="{38C4FB30-4EF1-402A-88C1-82366B499451}"/>
              </a:ext>
            </a:extLst>
          </p:cNvPr>
          <p:cNvSpPr/>
          <p:nvPr/>
        </p:nvSpPr>
        <p:spPr>
          <a:xfrm>
            <a:off x="424090" y="4957347"/>
            <a:ext cx="6692392" cy="612419"/>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2880" tIns="137160" rIns="182880" bIns="137160" numCol="1" spcCol="1270" anchor="ctr" anchorCtr="0">
            <a:noAutofit/>
          </a:bodyPr>
          <a:lstStyle/>
          <a:p>
            <a:pPr marL="0" marR="0" lvl="0" indent="0" defTabSz="1066800" eaLnBrk="1" fontAlgn="auto" latinLnBrk="0" hangingPunct="1">
              <a:lnSpc>
                <a:spcPct val="100000"/>
              </a:lnSpc>
              <a:spcBef>
                <a:spcPct val="0"/>
              </a:spcBef>
              <a:spcAft>
                <a:spcPct val="35000"/>
              </a:spcAft>
              <a:buClrTx/>
              <a:buSzTx/>
              <a:buFontTx/>
              <a:buNone/>
              <a:tabLst/>
              <a:defRPr/>
            </a:pPr>
            <a:r>
              <a:rPr kumimoji="0" lang="en-US" sz="2000" b="0" i="0" u="none" strike="noStrike" kern="0" cap="none" spc="0" normalizeH="0" baseline="0" noProof="0" dirty="0">
                <a:ln>
                  <a:noFill/>
                </a:ln>
                <a:effectLst/>
                <a:uLnTx/>
                <a:uFillTx/>
                <a:latin typeface="Segoe UI"/>
                <a:ea typeface="+mn-ea"/>
                <a:cs typeface="+mn-cs"/>
              </a:rPr>
              <a:t>Mitigates volumetric attacks, protocol attacks, and application layer attacks</a:t>
            </a:r>
          </a:p>
        </p:txBody>
      </p:sp>
      <p:sp>
        <p:nvSpPr>
          <p:cNvPr id="9" name="Rectangle 8">
            <a:extLst>
              <a:ext uri="{FF2B5EF4-FFF2-40B4-BE49-F238E27FC236}">
                <a16:creationId xmlns:a16="http://schemas.microsoft.com/office/drawing/2014/main" id="{CA4F5933-A3FD-48D8-B2C2-42D64E6A7428}"/>
              </a:ext>
            </a:extLst>
          </p:cNvPr>
          <p:cNvSpPr/>
          <p:nvPr/>
        </p:nvSpPr>
        <p:spPr>
          <a:xfrm>
            <a:off x="424090" y="5779485"/>
            <a:ext cx="6692392" cy="612419"/>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2880" tIns="137160" rIns="182880" bIns="137160" numCol="1" spcCol="1270" anchor="ctr" anchorCtr="0">
            <a:noAutofit/>
          </a:bodyPr>
          <a:lstStyle/>
          <a:p>
            <a:pPr marL="0" marR="0" lvl="0" indent="0" defTabSz="1066800" eaLnBrk="1" fontAlgn="auto" latinLnBrk="0" hangingPunct="1">
              <a:lnSpc>
                <a:spcPct val="100000"/>
              </a:lnSpc>
              <a:spcBef>
                <a:spcPct val="0"/>
              </a:spcBef>
              <a:spcAft>
                <a:spcPct val="35000"/>
              </a:spcAft>
              <a:buClrTx/>
              <a:buSzTx/>
              <a:buFontTx/>
              <a:buNone/>
              <a:tabLst/>
              <a:defRPr/>
            </a:pPr>
            <a:r>
              <a:rPr kumimoji="0" lang="en-US" sz="2000" b="0" i="0" u="none" strike="noStrike" kern="0" cap="none" spc="0" normalizeH="0" baseline="0" noProof="0" dirty="0">
                <a:ln>
                  <a:noFill/>
                </a:ln>
                <a:effectLst/>
                <a:uLnTx/>
                <a:uFillTx/>
                <a:latin typeface="Segoe UI"/>
                <a:ea typeface="+mn-ea"/>
                <a:cs typeface="+mn-cs"/>
              </a:rPr>
              <a:t>Checks for malformed packets and spoofing</a:t>
            </a:r>
          </a:p>
        </p:txBody>
      </p:sp>
      <p:sp>
        <p:nvSpPr>
          <p:cNvPr id="4" name="Rectangle 3">
            <a:extLst>
              <a:ext uri="{FF2B5EF4-FFF2-40B4-BE49-F238E27FC236}">
                <a16:creationId xmlns:a16="http://schemas.microsoft.com/office/drawing/2014/main" id="{510C330F-0008-4A8F-B9F0-BF7E3641E22E}"/>
              </a:ext>
              <a:ext uri="{C183D7F6-B498-43B3-948B-1728B52AA6E4}">
                <adec:decorative xmlns:adec="http://schemas.microsoft.com/office/drawing/2017/decorative" val="1"/>
              </a:ext>
            </a:extLst>
          </p:cNvPr>
          <p:cNvSpPr/>
          <p:nvPr/>
        </p:nvSpPr>
        <p:spPr bwMode="auto">
          <a:xfrm>
            <a:off x="424090" y="1073361"/>
            <a:ext cx="11124907" cy="286159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63195531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D89E50-3142-4136-BB49-7241FDE4496D}"/>
              </a:ext>
            </a:extLst>
          </p:cNvPr>
          <p:cNvSpPr>
            <a:spLocks noGrp="1"/>
          </p:cNvSpPr>
          <p:nvPr>
            <p:ph type="title"/>
          </p:nvPr>
        </p:nvSpPr>
        <p:spPr>
          <a:xfrm>
            <a:off x="424090" y="466096"/>
            <a:ext cx="11343820" cy="397545"/>
          </a:xfrm>
        </p:spPr>
        <p:txBody>
          <a:bodyPr/>
          <a:lstStyle/>
          <a:p>
            <a:r>
              <a:rPr lang="en-US" sz="2800">
                <a:cs typeface="Segoe UI Semilight"/>
              </a:rPr>
              <a:t>Deploying a DDoS protection plan </a:t>
            </a:r>
          </a:p>
        </p:txBody>
      </p:sp>
      <p:sp>
        <p:nvSpPr>
          <p:cNvPr id="6" name="Rectangle 5">
            <a:extLst>
              <a:ext uri="{FF2B5EF4-FFF2-40B4-BE49-F238E27FC236}">
                <a16:creationId xmlns:a16="http://schemas.microsoft.com/office/drawing/2014/main" id="{C5623FA6-367B-4202-B23B-C66D981D4707}"/>
              </a:ext>
            </a:extLst>
          </p:cNvPr>
          <p:cNvSpPr/>
          <p:nvPr/>
        </p:nvSpPr>
        <p:spPr>
          <a:xfrm>
            <a:off x="418641" y="1261906"/>
            <a:ext cx="3527056"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800">
                <a:solidFill>
                  <a:schemeClr val="tx1"/>
                </a:solidFill>
                <a:effectLst/>
                <a:latin typeface="+mj-lt"/>
                <a:ea typeface="Calibri" panose="020F0502020204030204" pitchFamily="34" charset="0"/>
                <a:cs typeface="Times New Roman" panose="02020603050405020304" pitchFamily="18" charset="0"/>
              </a:rPr>
              <a:t>Create a DDoS protection pla</a:t>
            </a:r>
            <a:r>
              <a:rPr lang="en-US">
                <a:solidFill>
                  <a:schemeClr val="tx1"/>
                </a:solidFill>
                <a:latin typeface="+mj-lt"/>
                <a:ea typeface="Calibri" panose="020F0502020204030204" pitchFamily="34" charset="0"/>
                <a:cs typeface="Times New Roman" panose="02020603050405020304" pitchFamily="18" charset="0"/>
              </a:rPr>
              <a:t>n </a:t>
            </a:r>
            <a:endParaRPr lang="en-US" sz="1765">
              <a:solidFill>
                <a:schemeClr val="tx1"/>
              </a:solidFill>
              <a:latin typeface="+mj-lt"/>
            </a:endParaRPr>
          </a:p>
        </p:txBody>
      </p:sp>
      <p:sp>
        <p:nvSpPr>
          <p:cNvPr id="8" name="Rectangle 7">
            <a:extLst>
              <a:ext uri="{FF2B5EF4-FFF2-40B4-BE49-F238E27FC236}">
                <a16:creationId xmlns:a16="http://schemas.microsoft.com/office/drawing/2014/main" id="{F048E816-1035-4F5D-8796-57796EF438D3}"/>
              </a:ext>
            </a:extLst>
          </p:cNvPr>
          <p:cNvSpPr/>
          <p:nvPr/>
        </p:nvSpPr>
        <p:spPr>
          <a:xfrm>
            <a:off x="418641" y="2300774"/>
            <a:ext cx="3527056"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Enable DDoS protection on a new or existing VNet</a:t>
            </a:r>
          </a:p>
        </p:txBody>
      </p:sp>
      <p:sp>
        <p:nvSpPr>
          <p:cNvPr id="10" name="Rectangle 9">
            <a:extLst>
              <a:ext uri="{FF2B5EF4-FFF2-40B4-BE49-F238E27FC236}">
                <a16:creationId xmlns:a16="http://schemas.microsoft.com/office/drawing/2014/main" id="{4E7CF054-50C2-4824-91F6-0296E2122C64}"/>
              </a:ext>
            </a:extLst>
          </p:cNvPr>
          <p:cNvSpPr/>
          <p:nvPr/>
        </p:nvSpPr>
        <p:spPr>
          <a:xfrm>
            <a:off x="418641" y="3339642"/>
            <a:ext cx="3527056"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Configure DDoS telemetry </a:t>
            </a:r>
          </a:p>
        </p:txBody>
      </p:sp>
      <p:sp>
        <p:nvSpPr>
          <p:cNvPr id="12" name="Rectangle 11">
            <a:extLst>
              <a:ext uri="{FF2B5EF4-FFF2-40B4-BE49-F238E27FC236}">
                <a16:creationId xmlns:a16="http://schemas.microsoft.com/office/drawing/2014/main" id="{5D2F93A0-B8A3-40DC-8BD5-59BD39131C8A}"/>
              </a:ext>
            </a:extLst>
          </p:cNvPr>
          <p:cNvSpPr/>
          <p:nvPr/>
        </p:nvSpPr>
        <p:spPr>
          <a:xfrm>
            <a:off x="418643" y="4378510"/>
            <a:ext cx="3527056"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Configure DDoS diagnostic logs and alerts</a:t>
            </a:r>
          </a:p>
        </p:txBody>
      </p:sp>
      <p:sp>
        <p:nvSpPr>
          <p:cNvPr id="14" name="Rectangle 13">
            <a:extLst>
              <a:ext uri="{FF2B5EF4-FFF2-40B4-BE49-F238E27FC236}">
                <a16:creationId xmlns:a16="http://schemas.microsoft.com/office/drawing/2014/main" id="{F7046D93-8174-44AA-94BB-C160761F56C3}"/>
              </a:ext>
            </a:extLst>
          </p:cNvPr>
          <p:cNvSpPr/>
          <p:nvPr/>
        </p:nvSpPr>
        <p:spPr>
          <a:xfrm>
            <a:off x="418642" y="5417377"/>
            <a:ext cx="3527056"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Run a test DDoS attack and monitor the results </a:t>
            </a:r>
          </a:p>
        </p:txBody>
      </p:sp>
      <p:sp>
        <p:nvSpPr>
          <p:cNvPr id="16" name="Rectangle 15">
            <a:extLst>
              <a:ext uri="{FF2B5EF4-FFF2-40B4-BE49-F238E27FC236}">
                <a16:creationId xmlns:a16="http://schemas.microsoft.com/office/drawing/2014/main" id="{8C77499E-B553-4CCF-A33A-37C5312B4930}"/>
              </a:ext>
              <a:ext uri="{C183D7F6-B498-43B3-948B-1728B52AA6E4}">
                <adec:decorative xmlns:adec="http://schemas.microsoft.com/office/drawing/2017/decorative" val="1"/>
              </a:ext>
            </a:extLst>
          </p:cNvPr>
          <p:cNvSpPr/>
          <p:nvPr/>
        </p:nvSpPr>
        <p:spPr bwMode="auto">
          <a:xfrm>
            <a:off x="4189760" y="1261906"/>
            <a:ext cx="7772596" cy="512999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5" name="Picture 4" descr="Azure portal screenshot of a protected resource.  ">
            <a:extLst>
              <a:ext uri="{FF2B5EF4-FFF2-40B4-BE49-F238E27FC236}">
                <a16:creationId xmlns:a16="http://schemas.microsoft.com/office/drawing/2014/main" id="{2A14451B-B4EE-C763-00FC-35B25295ADC8}"/>
              </a:ext>
            </a:extLst>
          </p:cNvPr>
          <p:cNvPicPr>
            <a:picLocks noChangeAspect="1"/>
          </p:cNvPicPr>
          <p:nvPr/>
        </p:nvPicPr>
        <p:blipFill rotWithShape="1">
          <a:blip r:embed="rId3"/>
          <a:srcRect r="31639"/>
          <a:stretch/>
        </p:blipFill>
        <p:spPr>
          <a:xfrm>
            <a:off x="4419748" y="2247364"/>
            <a:ext cx="7197630" cy="2915093"/>
          </a:xfrm>
          <a:prstGeom prst="rect">
            <a:avLst/>
          </a:prstGeom>
        </p:spPr>
      </p:pic>
    </p:spTree>
    <p:extLst>
      <p:ext uri="{BB962C8B-B14F-4D97-AF65-F5344CB8AC3E}">
        <p14:creationId xmlns:p14="http://schemas.microsoft.com/office/powerpoint/2010/main" val="32328675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F4A0-844D-4301-872F-4CE4356F778D}"/>
              </a:ext>
            </a:extLst>
          </p:cNvPr>
          <p:cNvSpPr>
            <a:spLocks noGrp="1"/>
          </p:cNvSpPr>
          <p:nvPr>
            <p:ph type="title"/>
          </p:nvPr>
        </p:nvSpPr>
        <p:spPr/>
        <p:txBody>
          <a:bodyPr/>
          <a:lstStyle/>
          <a:p>
            <a:r>
              <a:rPr lang="en-US" dirty="0"/>
              <a:t>Demonstration - Create and configure Azure DDoS Protection Standard</a:t>
            </a:r>
          </a:p>
        </p:txBody>
      </p:sp>
      <p:pic>
        <p:nvPicPr>
          <p:cNvPr id="4" name="Picture 3" descr="Icon of two gears">
            <a:extLst>
              <a:ext uri="{FF2B5EF4-FFF2-40B4-BE49-F238E27FC236}">
                <a16:creationId xmlns:a16="http://schemas.microsoft.com/office/drawing/2014/main" id="{4F4F9709-1EB9-4D68-ACDC-9D1C7A2C5337}"/>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B00FE903-D1A2-40C5-BEC7-4743F51D3F66}"/>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a DDoS protection plan </a:t>
            </a:r>
          </a:p>
        </p:txBody>
      </p:sp>
      <p:cxnSp>
        <p:nvCxnSpPr>
          <p:cNvPr id="8" name="Straight Connector 7">
            <a:extLst>
              <a:ext uri="{FF2B5EF4-FFF2-40B4-BE49-F238E27FC236}">
                <a16:creationId xmlns:a16="http://schemas.microsoft.com/office/drawing/2014/main" id="{1300C157-3BC8-4389-B210-CFB3C4B52D6B}"/>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6757E6FF-19A7-4E57-ADC2-796422B3CE45}"/>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6DFC4430-ABEA-401B-9FEB-58B8AB536FF7}"/>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link it to a virtual network</a:t>
            </a:r>
          </a:p>
        </p:txBody>
      </p:sp>
      <p:cxnSp>
        <p:nvCxnSpPr>
          <p:cNvPr id="14" name="Straight Connector 13">
            <a:extLst>
              <a:ext uri="{FF2B5EF4-FFF2-40B4-BE49-F238E27FC236}">
                <a16:creationId xmlns:a16="http://schemas.microsoft.com/office/drawing/2014/main" id="{559CD34F-5442-41FE-B586-7F51A0B2D7BD}"/>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56703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solidFill>
                  <a:prstClr val="black"/>
                </a:solidFill>
                <a:latin typeface="Calibri" panose="020F0502020204030204"/>
              </a:rPr>
              <a:t>Deploy Azure DDoS Protection by using the Azure portal</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13" name="TextBox 12">
            <a:extLst>
              <a:ext uri="{FF2B5EF4-FFF2-40B4-BE49-F238E27FC236}">
                <a16:creationId xmlns:a16="http://schemas.microsoft.com/office/drawing/2014/main" id="{C180E2EB-FC12-4F58-925E-8D4C2F3F81BA}"/>
              </a:ext>
            </a:extLst>
          </p:cNvPr>
          <p:cNvSpPr txBox="1"/>
          <p:nvPr/>
        </p:nvSpPr>
        <p:spPr>
          <a:xfrm>
            <a:off x="4172422" y="2174280"/>
            <a:ext cx="8019578" cy="369332"/>
          </a:xfrm>
          <a:prstGeom prst="rect">
            <a:avLst/>
          </a:prstGeom>
          <a:noFill/>
        </p:spPr>
        <p:txBody>
          <a:bodyPr wrap="square">
            <a:spAutoFit/>
          </a:bodyPr>
          <a:lstStyle/>
          <a:p>
            <a:r>
              <a:rPr lang="fr-FR" dirty="0">
                <a:hlinkClick r:id="rId3"/>
              </a:rPr>
              <a:t>Azure DDoS Protection Standard documentation | Microsoft Docs</a:t>
            </a:r>
            <a:endParaRPr lang="en-US" dirty="0"/>
          </a:p>
        </p:txBody>
      </p:sp>
      <p:sp>
        <p:nvSpPr>
          <p:cNvPr id="12" name="TextBox 11">
            <a:extLst>
              <a:ext uri="{FF2B5EF4-FFF2-40B4-BE49-F238E27FC236}">
                <a16:creationId xmlns:a16="http://schemas.microsoft.com/office/drawing/2014/main" id="{4C5B9032-F3E6-40FB-92C7-0A6167185228}"/>
              </a:ext>
            </a:extLst>
          </p:cNvPr>
          <p:cNvSpPr txBox="1"/>
          <p:nvPr/>
        </p:nvSpPr>
        <p:spPr>
          <a:xfrm>
            <a:off x="4033912" y="2913030"/>
            <a:ext cx="7996428" cy="369332"/>
          </a:xfrm>
          <a:prstGeom prst="rect">
            <a:avLst/>
          </a:prstGeom>
          <a:noFill/>
        </p:spPr>
        <p:txBody>
          <a:bodyPr wrap="square">
            <a:spAutoFit/>
          </a:bodyPr>
          <a:lstStyle/>
          <a:p>
            <a:r>
              <a:rPr lang="en-US" dirty="0">
                <a:hlinkClick r:id="rId4"/>
              </a:rPr>
              <a:t>Manage Azure DDoS Protection Standard using the Azure portal | Microsoft Docs</a:t>
            </a:r>
            <a:endParaRPr lang="en-US" dirty="0"/>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Tree>
    <p:extLst>
      <p:ext uri="{BB962C8B-B14F-4D97-AF65-F5344CB8AC3E}">
        <p14:creationId xmlns:p14="http://schemas.microsoft.com/office/powerpoint/2010/main" val="245580162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47639" y="2875002"/>
            <a:ext cx="8892608" cy="110799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Lesson 03: </a:t>
            </a:r>
            <a:r>
              <a:rPr kumimoji="0" lang="en-US" sz="3600" b="0" i="0" u="none" strike="noStrike" kern="1200" cap="none" spc="0" normalizeH="0" baseline="0" noProof="0" dirty="0">
                <a:ln>
                  <a:noFill/>
                </a:ln>
                <a:effectLst/>
                <a:uLnTx/>
                <a:uFillTx/>
                <a:latin typeface="Calibri" panose="020F0502020204030204"/>
                <a:ea typeface="+mn-ea"/>
                <a:cs typeface="+mn-cs"/>
              </a:rPr>
              <a:t>Exercise: Configure DDoS Protection on a virtual network using the Azure portal</a:t>
            </a:r>
            <a:endParaRPr lang="en-IN" sz="3600" dirty="0"/>
          </a:p>
        </p:txBody>
      </p:sp>
      <p:grpSp>
        <p:nvGrpSpPr>
          <p:cNvPr id="4" name="Group 3">
            <a:extLst>
              <a:ext uri="{FF2B5EF4-FFF2-40B4-BE49-F238E27FC236}">
                <a16:creationId xmlns:a16="http://schemas.microsoft.com/office/drawing/2014/main" id="{933509F0-1D99-47E0-A15F-0980D68E8203}"/>
              </a:ext>
              <a:ext uri="{C183D7F6-B498-43B3-948B-1728B52AA6E4}">
                <adec:decorative xmlns:adec="http://schemas.microsoft.com/office/drawing/2017/decorative" val="1"/>
              </a:ext>
            </a:extLst>
          </p:cNvPr>
          <p:cNvGrpSpPr/>
          <p:nvPr/>
        </p:nvGrpSpPr>
        <p:grpSpPr>
          <a:xfrm>
            <a:off x="10318547" y="3070379"/>
            <a:ext cx="717140" cy="717242"/>
            <a:chOff x="418643" y="3134008"/>
            <a:chExt cx="717140" cy="717242"/>
          </a:xfrm>
        </p:grpSpPr>
        <p:grpSp>
          <p:nvGrpSpPr>
            <p:cNvPr id="5" name="Group 4">
              <a:extLst>
                <a:ext uri="{FF2B5EF4-FFF2-40B4-BE49-F238E27FC236}">
                  <a16:creationId xmlns:a16="http://schemas.microsoft.com/office/drawing/2014/main" id="{A16E6D93-62BB-4D85-945C-3CE56E705FC6}"/>
                </a:ext>
              </a:extLst>
            </p:cNvPr>
            <p:cNvGrpSpPr/>
            <p:nvPr/>
          </p:nvGrpSpPr>
          <p:grpSpPr>
            <a:xfrm>
              <a:off x="418643" y="3134008"/>
              <a:ext cx="717140" cy="717242"/>
              <a:chOff x="418643" y="3134008"/>
              <a:chExt cx="717140" cy="717242"/>
            </a:xfrm>
          </p:grpSpPr>
          <p:sp>
            <p:nvSpPr>
              <p:cNvPr id="7" name="Freeform 5">
                <a:extLst>
                  <a:ext uri="{FF2B5EF4-FFF2-40B4-BE49-F238E27FC236}">
                    <a16:creationId xmlns:a16="http://schemas.microsoft.com/office/drawing/2014/main" id="{229134F4-D9C8-40A9-99E6-B38C34EB56BE}"/>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FA8F8A7F-B198-4D8B-9CE1-9198CECE96D6}"/>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A7FFBA12-746C-49DD-AFC1-4671790FEBC1}"/>
                </a:ext>
              </a:extLst>
            </p:cNvPr>
            <p:cNvPicPr>
              <a:picLocks noChangeAspect="1"/>
            </p:cNvPicPr>
            <p:nvPr/>
          </p:nvPicPr>
          <p:blipFill>
            <a:blip r:embed="rId2"/>
            <a:stretch>
              <a:fillRect/>
            </a:stretch>
          </p:blipFill>
          <p:spPr>
            <a:xfrm>
              <a:off x="526606" y="3382030"/>
              <a:ext cx="501214" cy="221198"/>
            </a:xfrm>
            <a:prstGeom prst="rect">
              <a:avLst/>
            </a:prstGeom>
          </p:spPr>
        </p:pic>
      </p:grpSp>
    </p:spTree>
    <p:extLst>
      <p:ext uri="{BB962C8B-B14F-4D97-AF65-F5344CB8AC3E}">
        <p14:creationId xmlns:p14="http://schemas.microsoft.com/office/powerpoint/2010/main" val="221777498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CCE69-0036-4B5A-ACAC-82B4353D2128}"/>
              </a:ext>
            </a:extLst>
          </p:cNvPr>
          <p:cNvSpPr>
            <a:spLocks noGrp="1"/>
          </p:cNvSpPr>
          <p:nvPr>
            <p:ph type="title"/>
          </p:nvPr>
        </p:nvSpPr>
        <p:spPr/>
        <p:txBody>
          <a:bodyPr/>
          <a:lstStyle/>
          <a:p>
            <a:r>
              <a:rPr lang="en-US" dirty="0"/>
              <a:t>Exercise: Configure DDoS Protection on a virtual network using the Azure portal</a:t>
            </a:r>
          </a:p>
        </p:txBody>
      </p:sp>
      <p:pic>
        <p:nvPicPr>
          <p:cNvPr id="4" name="Picture 3" descr="DDoS Protection Standard uses policy to create graphs based on IP usage. ">
            <a:extLst>
              <a:ext uri="{FF2B5EF4-FFF2-40B4-BE49-F238E27FC236}">
                <a16:creationId xmlns:a16="http://schemas.microsoft.com/office/drawing/2014/main" id="{48C23492-8E51-4E57-A9E8-2725964E8DB4}"/>
              </a:ext>
            </a:extLst>
          </p:cNvPr>
          <p:cNvPicPr>
            <a:picLocks noChangeAspect="1"/>
          </p:cNvPicPr>
          <p:nvPr/>
        </p:nvPicPr>
        <p:blipFill>
          <a:blip r:embed="rId3"/>
          <a:stretch>
            <a:fillRect/>
          </a:stretch>
        </p:blipFill>
        <p:spPr>
          <a:xfrm>
            <a:off x="2535472" y="3598154"/>
            <a:ext cx="9088594" cy="2303396"/>
          </a:xfrm>
          <a:prstGeom prst="rect">
            <a:avLst/>
          </a:prstGeom>
        </p:spPr>
      </p:pic>
      <p:sp>
        <p:nvSpPr>
          <p:cNvPr id="8" name="Rectangle 7">
            <a:extLst>
              <a:ext uri="{FF2B5EF4-FFF2-40B4-BE49-F238E27FC236}">
                <a16:creationId xmlns:a16="http://schemas.microsoft.com/office/drawing/2014/main" id="{8863FB9D-BE6D-473A-A61C-36A12D138685}"/>
              </a:ext>
            </a:extLst>
          </p:cNvPr>
          <p:cNvSpPr/>
          <p:nvPr/>
        </p:nvSpPr>
        <p:spPr>
          <a:xfrm>
            <a:off x="262230" y="1105089"/>
            <a:ext cx="5043696" cy="215475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l"/>
            <a:r>
              <a:rPr lang="en-US" sz="1400" b="0" i="0" dirty="0">
                <a:solidFill>
                  <a:srgbClr val="24292E"/>
                </a:solidFill>
                <a:effectLst/>
                <a:latin typeface="-apple-system"/>
              </a:rPr>
              <a:t>Task 1: Create a resource group</a:t>
            </a:r>
          </a:p>
          <a:p>
            <a:pPr algn="l"/>
            <a:r>
              <a:rPr lang="en-US" sz="1400" b="0" i="0" dirty="0">
                <a:solidFill>
                  <a:srgbClr val="24292E"/>
                </a:solidFill>
                <a:effectLst/>
                <a:latin typeface="-apple-system"/>
              </a:rPr>
              <a:t>Task 2: Create a DDoS Protection plan</a:t>
            </a:r>
          </a:p>
          <a:p>
            <a:pPr algn="l"/>
            <a:r>
              <a:rPr lang="en-US" sz="1400" b="0" i="0" dirty="0">
                <a:solidFill>
                  <a:srgbClr val="24292E"/>
                </a:solidFill>
                <a:effectLst/>
                <a:latin typeface="-apple-system"/>
              </a:rPr>
              <a:t>Task 3: Enable DDoS Protection on a new virtual network</a:t>
            </a:r>
          </a:p>
          <a:p>
            <a:pPr algn="l"/>
            <a:r>
              <a:rPr lang="en-US" sz="1400" b="0" i="0" dirty="0">
                <a:solidFill>
                  <a:srgbClr val="24292E"/>
                </a:solidFill>
                <a:effectLst/>
                <a:latin typeface="-apple-system"/>
              </a:rPr>
              <a:t>Task 4: Configure DDoS telemetry</a:t>
            </a:r>
          </a:p>
          <a:p>
            <a:pPr algn="l"/>
            <a:r>
              <a:rPr lang="en-US" sz="1400" b="0" i="0" dirty="0">
                <a:solidFill>
                  <a:srgbClr val="24292E"/>
                </a:solidFill>
                <a:effectLst/>
                <a:latin typeface="-apple-system"/>
              </a:rPr>
              <a:t>Task 5: Configure DDoS diagnostic logs</a:t>
            </a:r>
          </a:p>
          <a:p>
            <a:pPr algn="l"/>
            <a:r>
              <a:rPr lang="en-US" sz="1400" b="0" i="0" dirty="0">
                <a:solidFill>
                  <a:srgbClr val="24292E"/>
                </a:solidFill>
                <a:effectLst/>
                <a:latin typeface="-apple-system"/>
              </a:rPr>
              <a:t>Task 6: Configure DDoS alerts</a:t>
            </a:r>
          </a:p>
          <a:p>
            <a:pPr algn="l"/>
            <a:r>
              <a:rPr lang="en-US" sz="1400" b="0" i="0" dirty="0">
                <a:solidFill>
                  <a:srgbClr val="24292E"/>
                </a:solidFill>
                <a:effectLst/>
                <a:latin typeface="-apple-system"/>
              </a:rPr>
              <a:t>Task 7: Submit a DDoS service request to run a DDoS attack</a:t>
            </a:r>
          </a:p>
        </p:txBody>
      </p:sp>
    </p:spTree>
    <p:extLst>
      <p:ext uri="{BB962C8B-B14F-4D97-AF65-F5344CB8AC3E}">
        <p14:creationId xmlns:p14="http://schemas.microsoft.com/office/powerpoint/2010/main" val="98481421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24090" y="267324"/>
            <a:ext cx="11343820" cy="795089"/>
          </a:xfrm>
        </p:spPr>
        <p:txBody>
          <a:bodyPr/>
          <a:lstStyle/>
          <a:p>
            <a:r>
              <a:rPr lang="en-US">
                <a:solidFill>
                  <a:schemeClr val="tx1"/>
                </a:solidFill>
              </a:rPr>
              <a:t>Summary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Exercise: Configure DDoS Protection on a virtual network using the Azure portal</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53E86AC9-2077-4117-87EF-B739C25C9707}"/>
              </a:ext>
            </a:extLst>
          </p:cNvPr>
          <p:cNvSpPr txBox="1"/>
          <p:nvPr/>
        </p:nvSpPr>
        <p:spPr>
          <a:xfrm>
            <a:off x="4172422" y="2285901"/>
            <a:ext cx="7904988" cy="369332"/>
          </a:xfrm>
          <a:prstGeom prst="rect">
            <a:avLst/>
          </a:prstGeom>
          <a:noFill/>
        </p:spPr>
        <p:txBody>
          <a:bodyPr wrap="square">
            <a:spAutoFit/>
          </a:bodyPr>
          <a:lstStyle/>
          <a:p>
            <a:r>
              <a:rPr lang="fr-FR" dirty="0">
                <a:hlinkClick r:id="rId4"/>
              </a:rPr>
              <a:t>Azure DDoS Protection Standard documentation | Microsoft Docs</a:t>
            </a:r>
            <a:endParaRPr lang="en-US" dirty="0"/>
          </a:p>
        </p:txBody>
      </p:sp>
    </p:spTree>
    <p:extLst>
      <p:ext uri="{BB962C8B-B14F-4D97-AF65-F5344CB8AC3E}">
        <p14:creationId xmlns:p14="http://schemas.microsoft.com/office/powerpoint/2010/main" val="182854293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a:t>Lesson 04:</a:t>
            </a:r>
            <a:r>
              <a:rPr lang="en-US" sz="3600"/>
              <a:t> Deploy and configure Network Security Groups</a:t>
            </a:r>
            <a:endParaRPr lang="en-US"/>
          </a:p>
        </p:txBody>
      </p:sp>
      <p:grpSp>
        <p:nvGrpSpPr>
          <p:cNvPr id="4" name="Group 3">
            <a:extLst>
              <a:ext uri="{FF2B5EF4-FFF2-40B4-BE49-F238E27FC236}">
                <a16:creationId xmlns:a16="http://schemas.microsoft.com/office/drawing/2014/main" id="{8B36CED7-E18E-4802-BE07-790334EA50DF}"/>
              </a:ext>
              <a:ext uri="{C183D7F6-B498-43B3-948B-1728B52AA6E4}">
                <adec:decorative xmlns:adec="http://schemas.microsoft.com/office/drawing/2017/decorative" val="1"/>
              </a:ext>
            </a:extLst>
          </p:cNvPr>
          <p:cNvGrpSpPr/>
          <p:nvPr/>
        </p:nvGrpSpPr>
        <p:grpSpPr>
          <a:xfrm>
            <a:off x="10367315" y="3070379"/>
            <a:ext cx="717140" cy="717242"/>
            <a:chOff x="418643" y="3980133"/>
            <a:chExt cx="717140" cy="717242"/>
          </a:xfrm>
        </p:grpSpPr>
        <p:grpSp>
          <p:nvGrpSpPr>
            <p:cNvPr id="5" name="Group 4">
              <a:extLst>
                <a:ext uri="{FF2B5EF4-FFF2-40B4-BE49-F238E27FC236}">
                  <a16:creationId xmlns:a16="http://schemas.microsoft.com/office/drawing/2014/main" id="{1D0F0D02-C3A0-4049-A8EA-8B85F5883ACC}"/>
                </a:ext>
              </a:extLst>
            </p:cNvPr>
            <p:cNvGrpSpPr/>
            <p:nvPr/>
          </p:nvGrpSpPr>
          <p:grpSpPr>
            <a:xfrm>
              <a:off x="418643" y="3980133"/>
              <a:ext cx="717140" cy="717242"/>
              <a:chOff x="418643" y="3980133"/>
              <a:chExt cx="717140" cy="717242"/>
            </a:xfrm>
          </p:grpSpPr>
          <p:sp>
            <p:nvSpPr>
              <p:cNvPr id="7" name="Freeform 5">
                <a:extLst>
                  <a:ext uri="{FF2B5EF4-FFF2-40B4-BE49-F238E27FC236}">
                    <a16:creationId xmlns:a16="http://schemas.microsoft.com/office/drawing/2014/main" id="{64DBADEF-0B31-471B-9F98-6EC72DBC7BD3}"/>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1286ADCC-58DA-4F9B-A2AE-578006CBC08B}"/>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bulb">
              <a:extLst>
                <a:ext uri="{FF2B5EF4-FFF2-40B4-BE49-F238E27FC236}">
                  <a16:creationId xmlns:a16="http://schemas.microsoft.com/office/drawing/2014/main" id="{D8ADFFC3-5F95-4442-ABDF-675313E04E1F}"/>
                </a:ext>
              </a:extLst>
            </p:cNvPr>
            <p:cNvPicPr>
              <a:picLocks noChangeAspect="1"/>
            </p:cNvPicPr>
            <p:nvPr/>
          </p:nvPicPr>
          <p:blipFill>
            <a:blip r:embed="rId3"/>
            <a:stretch>
              <a:fillRect/>
            </a:stretch>
          </p:blipFill>
          <p:spPr>
            <a:xfrm>
              <a:off x="641719" y="4150309"/>
              <a:ext cx="270988" cy="376890"/>
            </a:xfrm>
            <a:prstGeom prst="rect">
              <a:avLst/>
            </a:prstGeom>
          </p:spPr>
        </p:pic>
      </p:grpSp>
    </p:spTree>
    <p:extLst>
      <p:ext uri="{BB962C8B-B14F-4D97-AF65-F5344CB8AC3E}">
        <p14:creationId xmlns:p14="http://schemas.microsoft.com/office/powerpoint/2010/main" val="124585769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Deploy and configure Network Security Groups overview </a:t>
            </a:r>
          </a:p>
        </p:txBody>
      </p:sp>
      <p:sp>
        <p:nvSpPr>
          <p:cNvPr id="6" name="Text Placeholder 5"/>
          <p:cNvSpPr>
            <a:spLocks noGrp="1"/>
          </p:cNvSpPr>
          <p:nvPr>
            <p:ph type="body" sz="quarter" idx="11"/>
          </p:nvPr>
        </p:nvSpPr>
        <p:spPr/>
        <p:txBody>
          <a:bodyPr/>
          <a:lstStyle/>
          <a:p>
            <a:pPr lvl="1"/>
            <a:r>
              <a:rPr lang="en-US" dirty="0"/>
              <a:t>Network Security Groups</a:t>
            </a:r>
          </a:p>
        </p:txBody>
      </p:sp>
      <p:sp>
        <p:nvSpPr>
          <p:cNvPr id="2" name="Text Placeholder 1"/>
          <p:cNvSpPr>
            <a:spLocks noGrp="1"/>
          </p:cNvSpPr>
          <p:nvPr>
            <p:ph type="body" sz="quarter" idx="15"/>
          </p:nvPr>
        </p:nvSpPr>
        <p:spPr/>
        <p:txBody>
          <a:bodyPr/>
          <a:lstStyle/>
          <a:p>
            <a:pPr lvl="1"/>
            <a:r>
              <a:rPr lang="en-US" dirty="0"/>
              <a:t>Default NSG Rules</a:t>
            </a:r>
          </a:p>
        </p:txBody>
      </p:sp>
      <p:sp>
        <p:nvSpPr>
          <p:cNvPr id="3" name="Text Placeholder 2"/>
          <p:cNvSpPr>
            <a:spLocks noGrp="1"/>
          </p:cNvSpPr>
          <p:nvPr>
            <p:ph type="body" sz="quarter" idx="17"/>
          </p:nvPr>
        </p:nvSpPr>
        <p:spPr/>
        <p:txBody>
          <a:bodyPr/>
          <a:lstStyle/>
          <a:p>
            <a:pPr lvl="1"/>
            <a:r>
              <a:rPr lang="en-US" dirty="0"/>
              <a:t>NSG Effective Rules</a:t>
            </a:r>
          </a:p>
        </p:txBody>
      </p:sp>
      <p:sp>
        <p:nvSpPr>
          <p:cNvPr id="4" name="Text Placeholder 3"/>
          <p:cNvSpPr>
            <a:spLocks noGrp="1"/>
          </p:cNvSpPr>
          <p:nvPr>
            <p:ph type="body" sz="quarter" idx="19"/>
          </p:nvPr>
        </p:nvSpPr>
        <p:spPr/>
        <p:txBody>
          <a:bodyPr/>
          <a:lstStyle/>
          <a:p>
            <a:pPr lvl="1"/>
            <a:r>
              <a:rPr lang="en-US" dirty="0"/>
              <a:t>Creating NSG rules</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p:txBody>
          <a:bodyPr/>
          <a:lstStyle/>
          <a:p>
            <a:pPr lvl="1"/>
            <a:r>
              <a:rPr lang="en-US" sz="1400" dirty="0">
                <a:cs typeface="Segoe UI Semilight"/>
              </a:rPr>
              <a:t>Use Service Tags to define network access controls </a:t>
            </a:r>
            <a:endParaRPr lang="en-US" dirty="0"/>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p:txBody>
          <a:bodyPr/>
          <a:lstStyle/>
          <a:p>
            <a:pPr lvl="1"/>
            <a:r>
              <a:rPr lang="en-US" dirty="0"/>
              <a:t>Application Security Groups </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p:txBody>
          <a:bodyPr/>
          <a:lstStyle/>
          <a:p>
            <a:pPr lvl="1"/>
            <a:r>
              <a:rPr lang="en-US" dirty="0"/>
              <a:t>Demonstration </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p:txBody>
          <a:bodyPr/>
          <a:lstStyle/>
          <a:p>
            <a:pPr lvl="1"/>
            <a:r>
              <a:rPr lang="en-US" dirty="0"/>
              <a:t>Review </a:t>
            </a:r>
          </a:p>
        </p:txBody>
      </p:sp>
      <p:grpSp>
        <p:nvGrpSpPr>
          <p:cNvPr id="5" name="Group 4">
            <a:extLst>
              <a:ext uri="{FF2B5EF4-FFF2-40B4-BE49-F238E27FC236}">
                <a16:creationId xmlns:a16="http://schemas.microsoft.com/office/drawing/2014/main" id="{A0CC0C4B-2A4E-F559-C67B-B37A64038A18}"/>
              </a:ext>
              <a:ext uri="{C183D7F6-B498-43B3-948B-1728B52AA6E4}">
                <adec:decorative xmlns:adec="http://schemas.microsoft.com/office/drawing/2017/decorative" val="1"/>
              </a:ext>
            </a:extLst>
          </p:cNvPr>
          <p:cNvGrpSpPr/>
          <p:nvPr/>
        </p:nvGrpSpPr>
        <p:grpSpPr>
          <a:xfrm>
            <a:off x="2744702" y="480082"/>
            <a:ext cx="648329" cy="3175213"/>
            <a:chOff x="2744702" y="480082"/>
            <a:chExt cx="648329" cy="3175213"/>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480082"/>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1322346"/>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2164610"/>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3006874"/>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grpSp>
        <p:nvGrpSpPr>
          <p:cNvPr id="7" name="Group 6">
            <a:extLst>
              <a:ext uri="{FF2B5EF4-FFF2-40B4-BE49-F238E27FC236}">
                <a16:creationId xmlns:a16="http://schemas.microsoft.com/office/drawing/2014/main" id="{445C476B-D2C3-3510-C4A7-3F136267C402}"/>
              </a:ext>
              <a:ext uri="{C183D7F6-B498-43B3-948B-1728B52AA6E4}">
                <adec:decorative xmlns:adec="http://schemas.microsoft.com/office/drawing/2017/decorative" val="1"/>
              </a:ext>
            </a:extLst>
          </p:cNvPr>
          <p:cNvGrpSpPr/>
          <p:nvPr/>
        </p:nvGrpSpPr>
        <p:grpSpPr>
          <a:xfrm>
            <a:off x="7465384" y="480082"/>
            <a:ext cx="648329" cy="3175213"/>
            <a:chOff x="7465384" y="480082"/>
            <a:chExt cx="648329" cy="3175213"/>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480082"/>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1322346"/>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2164610"/>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Lst>
            </p:cNvPr>
            <p:cNvGrpSpPr/>
            <p:nvPr/>
          </p:nvGrpSpPr>
          <p:grpSpPr>
            <a:xfrm>
              <a:off x="7465384" y="3006874"/>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endParaRPr lang="en-US" sz="1730"/>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grpSp>
    </p:spTree>
    <p:extLst>
      <p:ext uri="{BB962C8B-B14F-4D97-AF65-F5344CB8AC3E}">
        <p14:creationId xmlns:p14="http://schemas.microsoft.com/office/powerpoint/2010/main" val="19385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Network Security Groups</a:t>
            </a:r>
          </a:p>
        </p:txBody>
      </p:sp>
      <p:sp>
        <p:nvSpPr>
          <p:cNvPr id="5" name="Rectangle 4">
            <a:extLst>
              <a:ext uri="{FF2B5EF4-FFF2-40B4-BE49-F238E27FC236}">
                <a16:creationId xmlns:a16="http://schemas.microsoft.com/office/drawing/2014/main" id="{47119705-F607-45C2-AE29-3D7F92C0EF5B}"/>
              </a:ext>
              <a:ext uri="{C183D7F6-B498-43B3-948B-1728B52AA6E4}">
                <adec:decorative xmlns:adec="http://schemas.microsoft.com/office/drawing/2017/decorative" val="1"/>
              </a:ext>
            </a:extLst>
          </p:cNvPr>
          <p:cNvSpPr/>
          <p:nvPr/>
        </p:nvSpPr>
        <p:spPr bwMode="auto">
          <a:xfrm>
            <a:off x="418644" y="1169263"/>
            <a:ext cx="11354714" cy="325949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2" name="Picture 3" descr="Screenshot of the network security group overview blade. One subnet and one custom security rule are shown.">
            <a:extLst>
              <a:ext uri="{FF2B5EF4-FFF2-40B4-BE49-F238E27FC236}">
                <a16:creationId xmlns:a16="http://schemas.microsoft.com/office/drawing/2014/main" id="{0B3F2393-AC17-4B81-B046-9BE53495409B}"/>
              </a:ext>
            </a:extLst>
          </p:cNvPr>
          <p:cNvPicPr>
            <a:picLocks noChangeAspect="1"/>
          </p:cNvPicPr>
          <p:nvPr/>
        </p:nvPicPr>
        <p:blipFill>
          <a:blip r:embed="rId3"/>
          <a:stretch>
            <a:fillRect/>
          </a:stretch>
        </p:blipFill>
        <p:spPr>
          <a:xfrm>
            <a:off x="613017" y="1580838"/>
            <a:ext cx="10965970" cy="2436344"/>
          </a:xfrm>
          <a:prstGeom prst="rect">
            <a:avLst/>
          </a:prstGeom>
          <a:ln>
            <a:noFill/>
          </a:ln>
        </p:spPr>
      </p:pic>
      <p:sp>
        <p:nvSpPr>
          <p:cNvPr id="6" name="Rectangle 5">
            <a:extLst>
              <a:ext uri="{FF2B5EF4-FFF2-40B4-BE49-F238E27FC236}">
                <a16:creationId xmlns:a16="http://schemas.microsoft.com/office/drawing/2014/main" id="{F5A0D721-822E-4869-80A9-C0BD7205C4AE}"/>
              </a:ext>
            </a:extLst>
          </p:cNvPr>
          <p:cNvSpPr/>
          <p:nvPr/>
        </p:nvSpPr>
        <p:spPr>
          <a:xfrm>
            <a:off x="418642" y="4582215"/>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Limits network traffic</a:t>
            </a:r>
            <a:br>
              <a:rPr lang="en-US" sz="1961">
                <a:solidFill>
                  <a:schemeClr val="tx1"/>
                </a:solidFill>
              </a:rPr>
            </a:br>
            <a:r>
              <a:rPr lang="en-US" sz="1961">
                <a:solidFill>
                  <a:schemeClr val="tx1"/>
                </a:solidFill>
              </a:rPr>
              <a:t>to resources in a</a:t>
            </a:r>
            <a:br>
              <a:rPr lang="en-US" sz="1961">
                <a:solidFill>
                  <a:schemeClr val="tx1"/>
                </a:solidFill>
              </a:rPr>
            </a:br>
            <a:r>
              <a:rPr lang="en-US" sz="1961">
                <a:solidFill>
                  <a:schemeClr val="tx1"/>
                </a:solidFill>
              </a:rPr>
              <a:t>virtual network</a:t>
            </a:r>
            <a:endParaRPr lang="bs-Latn-BA" sz="1961">
              <a:solidFill>
                <a:schemeClr val="tx1"/>
              </a:solidFill>
            </a:endParaRPr>
          </a:p>
        </p:txBody>
      </p:sp>
      <p:sp>
        <p:nvSpPr>
          <p:cNvPr id="7" name="Rectangle 6">
            <a:extLst>
              <a:ext uri="{FF2B5EF4-FFF2-40B4-BE49-F238E27FC236}">
                <a16:creationId xmlns:a16="http://schemas.microsoft.com/office/drawing/2014/main" id="{91E12727-CB70-4E89-A2F5-5BD1FD70667A}"/>
              </a:ext>
            </a:extLst>
          </p:cNvPr>
          <p:cNvSpPr/>
          <p:nvPr/>
        </p:nvSpPr>
        <p:spPr>
          <a:xfrm>
            <a:off x="3306925" y="4574114"/>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Lists the security rules that allow or deny inbound or outbound network traffic </a:t>
            </a:r>
          </a:p>
        </p:txBody>
      </p:sp>
      <p:sp>
        <p:nvSpPr>
          <p:cNvPr id="9" name="Rectangle 8">
            <a:extLst>
              <a:ext uri="{FF2B5EF4-FFF2-40B4-BE49-F238E27FC236}">
                <a16:creationId xmlns:a16="http://schemas.microsoft.com/office/drawing/2014/main" id="{E630B86D-632D-4D17-810D-5D831273F4F2}"/>
              </a:ext>
            </a:extLst>
          </p:cNvPr>
          <p:cNvSpPr/>
          <p:nvPr/>
        </p:nvSpPr>
        <p:spPr>
          <a:xfrm>
            <a:off x="6195208" y="4582215"/>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rPr>
              <a:t>Associated</a:t>
            </a:r>
            <a:br>
              <a:rPr lang="en-US" sz="1961">
                <a:solidFill>
                  <a:schemeClr val="tx1"/>
                </a:solidFill>
              </a:rPr>
            </a:br>
            <a:r>
              <a:rPr lang="en-US" sz="1961">
                <a:solidFill>
                  <a:schemeClr val="tx1"/>
                </a:solidFill>
              </a:rPr>
              <a:t>to a subnet or a</a:t>
            </a:r>
            <a:br>
              <a:rPr lang="en-US" sz="1961">
                <a:solidFill>
                  <a:schemeClr val="tx1"/>
                </a:solidFill>
              </a:rPr>
            </a:br>
            <a:r>
              <a:rPr lang="en-US" sz="1961">
                <a:solidFill>
                  <a:schemeClr val="tx1"/>
                </a:solidFill>
              </a:rPr>
              <a:t>network interface </a:t>
            </a:r>
          </a:p>
        </p:txBody>
      </p:sp>
      <p:sp>
        <p:nvSpPr>
          <p:cNvPr id="2" name="Rectangle 1">
            <a:extLst>
              <a:ext uri="{FF2B5EF4-FFF2-40B4-BE49-F238E27FC236}">
                <a16:creationId xmlns:a16="http://schemas.microsoft.com/office/drawing/2014/main" id="{A1EEB9FA-4900-4D65-8AB4-4132B469E75D}"/>
              </a:ext>
            </a:extLst>
          </p:cNvPr>
          <p:cNvSpPr/>
          <p:nvPr/>
        </p:nvSpPr>
        <p:spPr>
          <a:xfrm>
            <a:off x="9083491" y="4553045"/>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a:solidFill>
                  <a:schemeClr val="tx1"/>
                </a:solidFill>
                <a:latin typeface="Segoe UI VSS (Regular)"/>
              </a:rPr>
              <a:t>Can be associated multiple times</a:t>
            </a:r>
            <a:endParaRPr lang="en-US" sz="1961">
              <a:solidFill>
                <a:schemeClr val="tx1"/>
              </a:solidFill>
            </a:endParaRPr>
          </a:p>
        </p:txBody>
      </p:sp>
    </p:spTree>
    <p:extLst>
      <p:ext uri="{BB962C8B-B14F-4D97-AF65-F5344CB8AC3E}">
        <p14:creationId xmlns:p14="http://schemas.microsoft.com/office/powerpoint/2010/main" val="76987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NSG Rules</a:t>
            </a:r>
          </a:p>
        </p:txBody>
      </p:sp>
      <p:sp>
        <p:nvSpPr>
          <p:cNvPr id="5" name="Rectangle 4">
            <a:extLst>
              <a:ext uri="{FF2B5EF4-FFF2-40B4-BE49-F238E27FC236}">
                <a16:creationId xmlns:a16="http://schemas.microsoft.com/office/drawing/2014/main" id="{0F50981E-3A8E-43B1-A708-D76C52368BCB}"/>
              </a:ext>
              <a:ext uri="{C183D7F6-B498-43B3-948B-1728B52AA6E4}">
                <adec:decorative xmlns:adec="http://schemas.microsoft.com/office/drawing/2017/decorative" val="1"/>
              </a:ext>
            </a:extLst>
          </p:cNvPr>
          <p:cNvSpPr/>
          <p:nvPr/>
        </p:nvSpPr>
        <p:spPr bwMode="auto">
          <a:xfrm>
            <a:off x="418644" y="1169263"/>
            <a:ext cx="11354714" cy="325949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6" name="Picture 3" descr="Screenshot of the inbound and outbound NSG rules page">
            <a:extLst>
              <a:ext uri="{FF2B5EF4-FFF2-40B4-BE49-F238E27FC236}">
                <a16:creationId xmlns:a16="http://schemas.microsoft.com/office/drawing/2014/main" id="{1AF15E94-89BD-483F-9F0E-AAB63D062E58}"/>
              </a:ext>
            </a:extLst>
          </p:cNvPr>
          <p:cNvPicPr>
            <a:picLocks noChangeAspect="1"/>
          </p:cNvPicPr>
          <p:nvPr/>
        </p:nvPicPr>
        <p:blipFill>
          <a:blip r:embed="rId3"/>
          <a:stretch>
            <a:fillRect/>
          </a:stretch>
        </p:blipFill>
        <p:spPr>
          <a:xfrm>
            <a:off x="1592577" y="1274150"/>
            <a:ext cx="9006848" cy="3049719"/>
          </a:xfrm>
          <a:prstGeom prst="rect">
            <a:avLst/>
          </a:prstGeom>
          <a:ln>
            <a:noFill/>
          </a:ln>
        </p:spPr>
      </p:pic>
      <p:sp>
        <p:nvSpPr>
          <p:cNvPr id="13" name="Rectangle 12">
            <a:extLst>
              <a:ext uri="{FF2B5EF4-FFF2-40B4-BE49-F238E27FC236}">
                <a16:creationId xmlns:a16="http://schemas.microsoft.com/office/drawing/2014/main" id="{2A3603C3-7082-4BB7-A358-918DDD80E7FE}"/>
              </a:ext>
            </a:extLst>
          </p:cNvPr>
          <p:cNvSpPr/>
          <p:nvPr/>
        </p:nvSpPr>
        <p:spPr>
          <a:xfrm>
            <a:off x="418643" y="4582215"/>
            <a:ext cx="5602655"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2353">
                <a:solidFill>
                  <a:schemeClr val="tx1"/>
                </a:solidFill>
              </a:rPr>
              <a:t>Security rules in NSGs enable you</a:t>
            </a:r>
            <a:br>
              <a:rPr lang="en-US" sz="2353">
                <a:solidFill>
                  <a:schemeClr val="tx1"/>
                </a:solidFill>
              </a:rPr>
            </a:br>
            <a:r>
              <a:rPr lang="en-US" sz="2353">
                <a:solidFill>
                  <a:schemeClr val="tx1"/>
                </a:solidFill>
              </a:rPr>
              <a:t>to filter network traffic that can flow</a:t>
            </a:r>
            <a:br>
              <a:rPr lang="en-US" sz="2353">
                <a:solidFill>
                  <a:schemeClr val="tx1"/>
                </a:solidFill>
              </a:rPr>
            </a:br>
            <a:r>
              <a:rPr lang="en-US" sz="2353">
                <a:solidFill>
                  <a:schemeClr val="tx1"/>
                </a:solidFill>
              </a:rPr>
              <a:t>in and out of virtual network subnets and network interfaces</a:t>
            </a:r>
          </a:p>
        </p:txBody>
      </p:sp>
      <p:sp>
        <p:nvSpPr>
          <p:cNvPr id="14" name="Rectangle 13">
            <a:extLst>
              <a:ext uri="{FF2B5EF4-FFF2-40B4-BE49-F238E27FC236}">
                <a16:creationId xmlns:a16="http://schemas.microsoft.com/office/drawing/2014/main" id="{8EB88D31-6547-42D5-9903-02A447B49D70}"/>
              </a:ext>
            </a:extLst>
          </p:cNvPr>
          <p:cNvSpPr/>
          <p:nvPr/>
        </p:nvSpPr>
        <p:spPr>
          <a:xfrm>
            <a:off x="6170703" y="4582215"/>
            <a:ext cx="5602655"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2353">
                <a:solidFill>
                  <a:schemeClr val="tx1"/>
                </a:solidFill>
              </a:rPr>
              <a:t>There are default security rules.</a:t>
            </a:r>
            <a:br>
              <a:rPr lang="en-US" sz="2353">
                <a:solidFill>
                  <a:schemeClr val="tx1"/>
                </a:solidFill>
              </a:rPr>
            </a:br>
            <a:r>
              <a:rPr lang="en-US" sz="2353">
                <a:solidFill>
                  <a:schemeClr val="tx1"/>
                </a:solidFill>
              </a:rPr>
              <a:t>You cannot delete the default rules,</a:t>
            </a:r>
            <a:br>
              <a:rPr lang="en-US" sz="2353">
                <a:solidFill>
                  <a:schemeClr val="tx1"/>
                </a:solidFill>
              </a:rPr>
            </a:br>
            <a:r>
              <a:rPr lang="en-US" sz="2353">
                <a:solidFill>
                  <a:schemeClr val="tx1"/>
                </a:solidFill>
              </a:rPr>
              <a:t>but you can add other rules with</a:t>
            </a:r>
            <a:br>
              <a:rPr lang="en-US" sz="2353">
                <a:solidFill>
                  <a:schemeClr val="tx1"/>
                </a:solidFill>
              </a:rPr>
            </a:br>
            <a:r>
              <a:rPr lang="en-US" sz="2353">
                <a:solidFill>
                  <a:schemeClr val="tx1"/>
                </a:solidFill>
              </a:rPr>
              <a:t>a higher priority</a:t>
            </a:r>
          </a:p>
        </p:txBody>
      </p:sp>
    </p:spTree>
    <p:extLst>
      <p:ext uri="{BB962C8B-B14F-4D97-AF65-F5344CB8AC3E}">
        <p14:creationId xmlns:p14="http://schemas.microsoft.com/office/powerpoint/2010/main" val="759302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NSG Effective Rules</a:t>
            </a:r>
          </a:p>
        </p:txBody>
      </p:sp>
      <p:sp>
        <p:nvSpPr>
          <p:cNvPr id="6" name="Rectangle 5">
            <a:extLst>
              <a:ext uri="{FF2B5EF4-FFF2-40B4-BE49-F238E27FC236}">
                <a16:creationId xmlns:a16="http://schemas.microsoft.com/office/drawing/2014/main" id="{2453C5A8-FD59-472C-B6E7-5FF127804305}"/>
              </a:ext>
            </a:extLst>
          </p:cNvPr>
          <p:cNvSpPr/>
          <p:nvPr/>
        </p:nvSpPr>
        <p:spPr>
          <a:xfrm>
            <a:off x="427263" y="1239634"/>
            <a:ext cx="4387191" cy="147270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cs typeface="Segoe UI Semilight"/>
              </a:rPr>
              <a:t>NSGs are evaluated independently for the</a:t>
            </a:r>
            <a:br>
              <a:rPr lang="en-US" sz="2353">
                <a:solidFill>
                  <a:schemeClr val="tx1"/>
                </a:solidFill>
                <a:cs typeface="Segoe UI Semilight"/>
              </a:rPr>
            </a:br>
            <a:r>
              <a:rPr lang="en-US" sz="2353">
                <a:solidFill>
                  <a:schemeClr val="tx1"/>
                </a:solidFill>
                <a:cs typeface="Segoe UI Semilight"/>
              </a:rPr>
              <a:t>subnet and NIC </a:t>
            </a:r>
          </a:p>
        </p:txBody>
      </p:sp>
      <p:sp>
        <p:nvSpPr>
          <p:cNvPr id="9" name="Rectangle 8">
            <a:extLst>
              <a:ext uri="{FF2B5EF4-FFF2-40B4-BE49-F238E27FC236}">
                <a16:creationId xmlns:a16="http://schemas.microsoft.com/office/drawing/2014/main" id="{4C8F27F7-BD48-469A-96C9-9F66182114FC}"/>
              </a:ext>
            </a:extLst>
          </p:cNvPr>
          <p:cNvSpPr/>
          <p:nvPr/>
        </p:nvSpPr>
        <p:spPr>
          <a:xfrm>
            <a:off x="427261" y="2975743"/>
            <a:ext cx="4387191" cy="147270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cs typeface="Segoe UI Semilight"/>
              </a:rPr>
              <a:t>An “allow” rule must exist</a:t>
            </a:r>
            <a:br>
              <a:rPr lang="en-US" sz="2353">
                <a:solidFill>
                  <a:schemeClr val="tx1"/>
                </a:solidFill>
                <a:cs typeface="Segoe UI Semilight"/>
              </a:rPr>
            </a:br>
            <a:r>
              <a:rPr lang="en-US" sz="2353">
                <a:solidFill>
                  <a:schemeClr val="tx1"/>
                </a:solidFill>
                <a:cs typeface="Segoe UI Semilight"/>
              </a:rPr>
              <a:t>at both levels for traffic to</a:t>
            </a:r>
            <a:br>
              <a:rPr lang="en-US" sz="2353">
                <a:solidFill>
                  <a:schemeClr val="tx1"/>
                </a:solidFill>
                <a:cs typeface="Segoe UI Semilight"/>
              </a:rPr>
            </a:br>
            <a:r>
              <a:rPr lang="en-US" sz="2353">
                <a:solidFill>
                  <a:schemeClr val="tx1"/>
                </a:solidFill>
                <a:cs typeface="Segoe UI Semilight"/>
              </a:rPr>
              <a:t>be admitted </a:t>
            </a:r>
          </a:p>
        </p:txBody>
      </p:sp>
      <p:sp>
        <p:nvSpPr>
          <p:cNvPr id="10" name="Rectangle 9">
            <a:extLst>
              <a:ext uri="{FF2B5EF4-FFF2-40B4-BE49-F238E27FC236}">
                <a16:creationId xmlns:a16="http://schemas.microsoft.com/office/drawing/2014/main" id="{264DF3BC-4EE0-4CE8-9503-C9321D663C67}"/>
              </a:ext>
            </a:extLst>
          </p:cNvPr>
          <p:cNvSpPr/>
          <p:nvPr/>
        </p:nvSpPr>
        <p:spPr>
          <a:xfrm>
            <a:off x="427262" y="4726523"/>
            <a:ext cx="4387191" cy="147270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cs typeface="Segoe UI Semilight"/>
              </a:rPr>
              <a:t>Use the Effective Rules link if you are not sure which security rules are being applied</a:t>
            </a:r>
          </a:p>
        </p:txBody>
      </p:sp>
      <p:sp>
        <p:nvSpPr>
          <p:cNvPr id="8" name="Rectangle 7">
            <a:extLst>
              <a:ext uri="{FF2B5EF4-FFF2-40B4-BE49-F238E27FC236}">
                <a16:creationId xmlns:a16="http://schemas.microsoft.com/office/drawing/2014/main" id="{9BFDF54F-5CC5-4D4A-898D-ED2AFDF4D502}"/>
              </a:ext>
              <a:ext uri="{C183D7F6-B498-43B3-948B-1728B52AA6E4}">
                <adec:decorative xmlns:adec="http://schemas.microsoft.com/office/drawing/2017/decorative" val="1"/>
              </a:ext>
            </a:extLst>
          </p:cNvPr>
          <p:cNvSpPr/>
          <p:nvPr/>
        </p:nvSpPr>
        <p:spPr bwMode="auto">
          <a:xfrm>
            <a:off x="4958226" y="1169264"/>
            <a:ext cx="6815131"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4" name="Picture 13" descr="A NSG is shown controlling traffic to a subnet. Inside the subnet another NSG is shown controlling traffic to a virtual machine NIC">
            <a:extLst>
              <a:ext uri="{FF2B5EF4-FFF2-40B4-BE49-F238E27FC236}">
                <a16:creationId xmlns:a16="http://schemas.microsoft.com/office/drawing/2014/main" id="{8271843B-1240-41EA-87E2-C59E35624A8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234777" y="1451257"/>
            <a:ext cx="6314511" cy="3990467"/>
          </a:xfrm>
          <a:prstGeom prst="rect">
            <a:avLst/>
          </a:prstGeom>
          <a:noFill/>
        </p:spPr>
      </p:pic>
      <p:pic>
        <p:nvPicPr>
          <p:cNvPr id="15" name="Picture 2" descr="Screenshot showing the status of a network interface">
            <a:extLst>
              <a:ext uri="{FF2B5EF4-FFF2-40B4-BE49-F238E27FC236}">
                <a16:creationId xmlns:a16="http://schemas.microsoft.com/office/drawing/2014/main" id="{6B310F93-8FAB-4475-A5A6-4BE13FBC31B5}"/>
              </a:ext>
            </a:extLst>
          </p:cNvPr>
          <p:cNvPicPr>
            <a:picLocks noChangeAspect="1"/>
          </p:cNvPicPr>
          <p:nvPr/>
        </p:nvPicPr>
        <p:blipFill>
          <a:blip r:embed="rId4"/>
          <a:stretch>
            <a:fillRect/>
          </a:stretch>
        </p:blipFill>
        <p:spPr>
          <a:xfrm>
            <a:off x="5223274" y="5636422"/>
            <a:ext cx="6337517" cy="477779"/>
          </a:xfrm>
          <a:prstGeom prst="rect">
            <a:avLst/>
          </a:prstGeom>
        </p:spPr>
      </p:pic>
    </p:spTree>
    <p:extLst>
      <p:ext uri="{BB962C8B-B14F-4D97-AF65-F5344CB8AC3E}">
        <p14:creationId xmlns:p14="http://schemas.microsoft.com/office/powerpoint/2010/main" val="90799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Creating NSG rules</a:t>
            </a:r>
          </a:p>
        </p:txBody>
      </p:sp>
      <p:sp>
        <p:nvSpPr>
          <p:cNvPr id="5" name="Rectangle 4">
            <a:extLst>
              <a:ext uri="{FF2B5EF4-FFF2-40B4-BE49-F238E27FC236}">
                <a16:creationId xmlns:a16="http://schemas.microsoft.com/office/drawing/2014/main" id="{649CF10E-F859-4E7B-81D5-2229F6F205B7}"/>
              </a:ext>
            </a:extLst>
          </p:cNvPr>
          <p:cNvSpPr/>
          <p:nvPr/>
        </p:nvSpPr>
        <p:spPr>
          <a:xfrm>
            <a:off x="418643" y="1261165"/>
            <a:ext cx="7213707" cy="10201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rPr>
              <a:t>Select from a large variety of services </a:t>
            </a:r>
          </a:p>
        </p:txBody>
      </p:sp>
      <p:sp>
        <p:nvSpPr>
          <p:cNvPr id="9" name="Rectangle 8">
            <a:extLst>
              <a:ext uri="{FF2B5EF4-FFF2-40B4-BE49-F238E27FC236}">
                <a16:creationId xmlns:a16="http://schemas.microsoft.com/office/drawing/2014/main" id="{D974E248-5E4C-4A3E-BBEF-A6B27DD507CB}"/>
              </a:ext>
            </a:extLst>
          </p:cNvPr>
          <p:cNvSpPr/>
          <p:nvPr/>
        </p:nvSpPr>
        <p:spPr>
          <a:xfrm>
            <a:off x="418643" y="2518532"/>
            <a:ext cx="7213707" cy="10201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b="1">
                <a:solidFill>
                  <a:schemeClr val="tx1"/>
                </a:solidFill>
                <a:latin typeface="+mj-lt"/>
              </a:rPr>
              <a:t>Service</a:t>
            </a:r>
            <a:r>
              <a:rPr lang="en-US" sz="2353">
                <a:solidFill>
                  <a:schemeClr val="tx1"/>
                </a:solidFill>
                <a:latin typeface="+mj-lt"/>
              </a:rPr>
              <a:t> – </a:t>
            </a:r>
            <a:r>
              <a:rPr lang="en-US" sz="2353">
                <a:solidFill>
                  <a:schemeClr val="tx1"/>
                </a:solidFill>
              </a:rPr>
              <a:t>The destination protocol and port range for this rule</a:t>
            </a:r>
          </a:p>
        </p:txBody>
      </p:sp>
      <p:sp>
        <p:nvSpPr>
          <p:cNvPr id="10" name="Rectangle 9">
            <a:extLst>
              <a:ext uri="{FF2B5EF4-FFF2-40B4-BE49-F238E27FC236}">
                <a16:creationId xmlns:a16="http://schemas.microsoft.com/office/drawing/2014/main" id="{C5F2F7F3-F16D-4E8E-A69F-33B4D7D188D2}"/>
              </a:ext>
            </a:extLst>
          </p:cNvPr>
          <p:cNvSpPr/>
          <p:nvPr/>
        </p:nvSpPr>
        <p:spPr>
          <a:xfrm>
            <a:off x="402646" y="3775899"/>
            <a:ext cx="7213707" cy="10201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b="1">
                <a:solidFill>
                  <a:schemeClr val="tx1"/>
                </a:solidFill>
                <a:latin typeface="+mj-lt"/>
              </a:rPr>
              <a:t>Port ranges </a:t>
            </a:r>
            <a:r>
              <a:rPr lang="en-US" sz="2353">
                <a:solidFill>
                  <a:schemeClr val="tx1"/>
                </a:solidFill>
                <a:latin typeface="+mj-lt"/>
              </a:rPr>
              <a:t>–</a:t>
            </a:r>
            <a:r>
              <a:rPr lang="en-US" sz="2353">
                <a:solidFill>
                  <a:schemeClr val="tx1"/>
                </a:solidFill>
              </a:rPr>
              <a:t> Single port or multiple ports</a:t>
            </a:r>
          </a:p>
        </p:txBody>
      </p:sp>
      <p:sp>
        <p:nvSpPr>
          <p:cNvPr id="11" name="Rectangle 10">
            <a:extLst>
              <a:ext uri="{FF2B5EF4-FFF2-40B4-BE49-F238E27FC236}">
                <a16:creationId xmlns:a16="http://schemas.microsoft.com/office/drawing/2014/main" id="{602D810D-0503-4CFF-A099-64CB0EF0B7FE}"/>
              </a:ext>
            </a:extLst>
          </p:cNvPr>
          <p:cNvSpPr/>
          <p:nvPr/>
        </p:nvSpPr>
        <p:spPr>
          <a:xfrm>
            <a:off x="402646" y="5117442"/>
            <a:ext cx="7213707" cy="10201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b="1">
                <a:solidFill>
                  <a:schemeClr val="tx1"/>
                </a:solidFill>
                <a:latin typeface="+mj-lt"/>
              </a:rPr>
              <a:t>Priority</a:t>
            </a:r>
            <a:r>
              <a:rPr lang="en-US" sz="2353">
                <a:solidFill>
                  <a:schemeClr val="tx1"/>
                </a:solidFill>
                <a:latin typeface="+mj-lt"/>
              </a:rPr>
              <a:t> – </a:t>
            </a:r>
            <a:r>
              <a:rPr lang="en-US" sz="2353">
                <a:solidFill>
                  <a:schemeClr val="tx1"/>
                </a:solidFill>
              </a:rPr>
              <a:t>The lower the number, the higher</a:t>
            </a:r>
            <a:br>
              <a:rPr lang="en-US" sz="2353">
                <a:solidFill>
                  <a:schemeClr val="tx1"/>
                </a:solidFill>
              </a:rPr>
            </a:br>
            <a:r>
              <a:rPr lang="en-US" sz="2353">
                <a:solidFill>
                  <a:schemeClr val="tx1"/>
                </a:solidFill>
              </a:rPr>
              <a:t>the priority</a:t>
            </a:r>
          </a:p>
        </p:txBody>
      </p:sp>
      <p:sp>
        <p:nvSpPr>
          <p:cNvPr id="6" name="Rectangle 5">
            <a:extLst>
              <a:ext uri="{FF2B5EF4-FFF2-40B4-BE49-F238E27FC236}">
                <a16:creationId xmlns:a16="http://schemas.microsoft.com/office/drawing/2014/main" id="{9EE8D063-FA87-4134-A645-2C01468DBAF1}"/>
              </a:ext>
              <a:ext uri="{C183D7F6-B498-43B3-948B-1728B52AA6E4}">
                <adec:decorative xmlns:adec="http://schemas.microsoft.com/office/drawing/2017/decorative" val="1"/>
              </a:ext>
            </a:extLst>
          </p:cNvPr>
          <p:cNvSpPr/>
          <p:nvPr/>
        </p:nvSpPr>
        <p:spPr bwMode="auto">
          <a:xfrm>
            <a:off x="7784743" y="1169264"/>
            <a:ext cx="3988615"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8" name="Picture 7" descr="Screenshot of the Add an Inbound security rule page">
            <a:extLst>
              <a:ext uri="{FF2B5EF4-FFF2-40B4-BE49-F238E27FC236}">
                <a16:creationId xmlns:a16="http://schemas.microsoft.com/office/drawing/2014/main" id="{14822A57-69C0-4060-8C62-7C032F424119}"/>
              </a:ext>
            </a:extLst>
          </p:cNvPr>
          <p:cNvPicPr>
            <a:picLocks noChangeAspect="1"/>
          </p:cNvPicPr>
          <p:nvPr/>
        </p:nvPicPr>
        <p:blipFill rotWithShape="1">
          <a:blip r:embed="rId3"/>
          <a:srcRect l="1741" t="1042" r="3505" b="1582"/>
          <a:stretch/>
        </p:blipFill>
        <p:spPr>
          <a:xfrm>
            <a:off x="7964027" y="1317110"/>
            <a:ext cx="3640941" cy="4820439"/>
          </a:xfrm>
          <a:prstGeom prst="rect">
            <a:avLst/>
          </a:prstGeom>
          <a:ln>
            <a:solidFill>
              <a:schemeClr val="accent1"/>
            </a:solidFill>
          </a:ln>
        </p:spPr>
      </p:pic>
    </p:spTree>
    <p:extLst>
      <p:ext uri="{BB962C8B-B14F-4D97-AF65-F5344CB8AC3E}">
        <p14:creationId xmlns:p14="http://schemas.microsoft.com/office/powerpoint/2010/main" val="414251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1EEBA1-7DDD-4E23-90BA-61FE9F16D74B}"/>
              </a:ext>
            </a:extLst>
          </p:cNvPr>
          <p:cNvSpPr>
            <a:spLocks noGrp="1"/>
          </p:cNvSpPr>
          <p:nvPr>
            <p:ph type="title"/>
          </p:nvPr>
        </p:nvSpPr>
        <p:spPr>
          <a:xfrm>
            <a:off x="319434" y="267323"/>
            <a:ext cx="11343820" cy="397545"/>
          </a:xfrm>
        </p:spPr>
        <p:txBody>
          <a:bodyPr/>
          <a:lstStyle/>
          <a:p>
            <a:r>
              <a:rPr lang="en-US" sz="2800" dirty="0">
                <a:cs typeface="Segoe UI Semilight"/>
              </a:rPr>
              <a:t>Use Service Tags to define network access controls   </a:t>
            </a:r>
            <a:endParaRPr lang="en-US" dirty="0"/>
          </a:p>
        </p:txBody>
      </p:sp>
      <p:pic>
        <p:nvPicPr>
          <p:cNvPr id="8" name="Picture 7" descr="Azure portal screenshot of Azure service tags">
            <a:extLst>
              <a:ext uri="{FF2B5EF4-FFF2-40B4-BE49-F238E27FC236}">
                <a16:creationId xmlns:a16="http://schemas.microsoft.com/office/drawing/2014/main" id="{6D9C30BC-6A21-48A4-ADA5-4DD686C7F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32" y="1333126"/>
            <a:ext cx="4387191" cy="4425591"/>
          </a:xfrm>
          <a:prstGeom prst="rect">
            <a:avLst/>
          </a:prstGeom>
        </p:spPr>
      </p:pic>
      <p:pic>
        <p:nvPicPr>
          <p:cNvPr id="4" name="Picture 3" descr="Diagram showing an allow only Azure service traffic Service Tag applied to a virtual network. ">
            <a:extLst>
              <a:ext uri="{FF2B5EF4-FFF2-40B4-BE49-F238E27FC236}">
                <a16:creationId xmlns:a16="http://schemas.microsoft.com/office/drawing/2014/main" id="{A743C85E-3494-4D8F-B647-4770927E0CCC}"/>
              </a:ext>
            </a:extLst>
          </p:cNvPr>
          <p:cNvPicPr/>
          <p:nvPr/>
        </p:nvPicPr>
        <p:blipFill>
          <a:blip r:embed="rId4"/>
          <a:stretch>
            <a:fillRect/>
          </a:stretch>
        </p:blipFill>
        <p:spPr bwMode="auto">
          <a:xfrm>
            <a:off x="5991344" y="1062990"/>
            <a:ext cx="5776566" cy="4767668"/>
          </a:xfrm>
          <a:prstGeom prst="rect">
            <a:avLst/>
          </a:prstGeom>
          <a:noFill/>
          <a:ln>
            <a:noFill/>
          </a:ln>
        </p:spPr>
      </p:pic>
      <p:sp>
        <p:nvSpPr>
          <p:cNvPr id="2" name="Rectangle 1">
            <a:extLst>
              <a:ext uri="{FF2B5EF4-FFF2-40B4-BE49-F238E27FC236}">
                <a16:creationId xmlns:a16="http://schemas.microsoft.com/office/drawing/2014/main" id="{ECFF11C7-AF53-4369-B1AA-86CEECE0713F}"/>
              </a:ext>
              <a:ext uri="{C183D7F6-B498-43B3-948B-1728B52AA6E4}">
                <adec:decorative xmlns:adec="http://schemas.microsoft.com/office/drawing/2017/decorative" val="1"/>
              </a:ext>
            </a:extLst>
          </p:cNvPr>
          <p:cNvSpPr/>
          <p:nvPr/>
        </p:nvSpPr>
        <p:spPr bwMode="auto">
          <a:xfrm>
            <a:off x="5549030" y="863641"/>
            <a:ext cx="6460408" cy="536456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21887026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AC7F-5F15-4EAF-A839-4D725549B456}"/>
              </a:ext>
            </a:extLst>
          </p:cNvPr>
          <p:cNvSpPr>
            <a:spLocks noGrp="1"/>
          </p:cNvSpPr>
          <p:nvPr>
            <p:ph type="title"/>
          </p:nvPr>
        </p:nvSpPr>
        <p:spPr/>
        <p:txBody>
          <a:bodyPr/>
          <a:lstStyle/>
          <a:p>
            <a:r>
              <a:rPr lang="en-US" dirty="0"/>
              <a:t>Application Security Groups (ASG) </a:t>
            </a:r>
          </a:p>
        </p:txBody>
      </p:sp>
      <p:sp>
        <p:nvSpPr>
          <p:cNvPr id="6" name="Rectangle 5">
            <a:extLst>
              <a:ext uri="{FF2B5EF4-FFF2-40B4-BE49-F238E27FC236}">
                <a16:creationId xmlns:a16="http://schemas.microsoft.com/office/drawing/2014/main" id="{45CD1F76-D0DA-4A65-8CFB-B76243C3A334}"/>
              </a:ext>
              <a:ext uri="{C183D7F6-B498-43B3-948B-1728B52AA6E4}">
                <adec:decorative xmlns:adec="http://schemas.microsoft.com/office/drawing/2017/decorative" val="1"/>
              </a:ext>
            </a:extLst>
          </p:cNvPr>
          <p:cNvSpPr/>
          <p:nvPr/>
        </p:nvSpPr>
        <p:spPr bwMode="auto">
          <a:xfrm>
            <a:off x="7327727" y="1169264"/>
            <a:ext cx="4445632" cy="522543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8" name="Rectangle 7">
            <a:extLst>
              <a:ext uri="{FF2B5EF4-FFF2-40B4-BE49-F238E27FC236}">
                <a16:creationId xmlns:a16="http://schemas.microsoft.com/office/drawing/2014/main" id="{69F95EAA-71FE-4C0D-93BC-1998D753B140}"/>
              </a:ext>
            </a:extLst>
          </p:cNvPr>
          <p:cNvSpPr/>
          <p:nvPr/>
        </p:nvSpPr>
        <p:spPr>
          <a:xfrm>
            <a:off x="418640" y="1261906"/>
            <a:ext cx="6094893" cy="10388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800">
                <a:solidFill>
                  <a:schemeClr val="tx1"/>
                </a:solidFill>
                <a:effectLst/>
                <a:latin typeface="+mj-lt"/>
                <a:ea typeface="Calibri" panose="020F0502020204030204" pitchFamily="34" charset="0"/>
                <a:cs typeface="Times New Roman" panose="02020603050405020304" pitchFamily="18" charset="0"/>
              </a:rPr>
              <a:t>Configure ASG as a natural extension of an application's structure</a:t>
            </a:r>
            <a:endParaRPr lang="en-US">
              <a:solidFill>
                <a:schemeClr val="tx1"/>
              </a:solidFill>
              <a:latin typeface="+mj-lt"/>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1F74DED0-2B67-4E65-BF2C-F11A8B556FDD}"/>
              </a:ext>
            </a:extLst>
          </p:cNvPr>
          <p:cNvSpPr/>
          <p:nvPr/>
        </p:nvSpPr>
        <p:spPr>
          <a:xfrm>
            <a:off x="418640" y="2629583"/>
            <a:ext cx="6094890" cy="79941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a:solidFill>
                  <a:schemeClr val="tx1"/>
                </a:solidFill>
                <a:latin typeface="+mj-lt"/>
                <a:cs typeface="Times New Roman" panose="02020603050405020304" pitchFamily="18" charset="0"/>
              </a:rPr>
              <a:t>ASG can be the source and destination in a security rule</a:t>
            </a:r>
          </a:p>
        </p:txBody>
      </p:sp>
      <p:sp>
        <p:nvSpPr>
          <p:cNvPr id="14" name="Rectangle 13">
            <a:extLst>
              <a:ext uri="{FF2B5EF4-FFF2-40B4-BE49-F238E27FC236}">
                <a16:creationId xmlns:a16="http://schemas.microsoft.com/office/drawing/2014/main" id="{09FE3324-F991-44C8-9331-DD749DD06215}"/>
              </a:ext>
            </a:extLst>
          </p:cNvPr>
          <p:cNvSpPr/>
          <p:nvPr/>
        </p:nvSpPr>
        <p:spPr>
          <a:xfrm>
            <a:off x="418640" y="3757810"/>
            <a:ext cx="6094890" cy="10388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a:solidFill>
                  <a:schemeClr val="tx1"/>
                </a:solidFill>
                <a:latin typeface="+mj-lt"/>
                <a:cs typeface="Times New Roman" panose="02020603050405020304" pitchFamily="18" charset="0"/>
              </a:rPr>
              <a:t>All NIC assigned to an ASG must exist in the same virtual network that the first NIC assigned to the ASG is in</a:t>
            </a:r>
          </a:p>
        </p:txBody>
      </p:sp>
      <p:sp>
        <p:nvSpPr>
          <p:cNvPr id="16" name="Rectangle 15">
            <a:extLst>
              <a:ext uri="{FF2B5EF4-FFF2-40B4-BE49-F238E27FC236}">
                <a16:creationId xmlns:a16="http://schemas.microsoft.com/office/drawing/2014/main" id="{CF02B471-580A-4699-9054-300111A3D0DD}"/>
              </a:ext>
            </a:extLst>
          </p:cNvPr>
          <p:cNvSpPr/>
          <p:nvPr/>
        </p:nvSpPr>
        <p:spPr>
          <a:xfrm>
            <a:off x="418640" y="5197081"/>
            <a:ext cx="6094890" cy="10388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a:solidFill>
                  <a:schemeClr val="tx1"/>
                </a:solidFill>
                <a:latin typeface="+mj-lt"/>
                <a:cs typeface="Times New Roman" panose="02020603050405020304" pitchFamily="18" charset="0"/>
              </a:rPr>
              <a:t>If you specify an ASG as the source and destination in a security rule, the NIC in both ASG must exist in the same virtual network</a:t>
            </a:r>
          </a:p>
        </p:txBody>
      </p:sp>
      <p:pic>
        <p:nvPicPr>
          <p:cNvPr id="4" name="Picture 3" descr="Application security group diagram ">
            <a:extLst>
              <a:ext uri="{FF2B5EF4-FFF2-40B4-BE49-F238E27FC236}">
                <a16:creationId xmlns:a16="http://schemas.microsoft.com/office/drawing/2014/main" id="{9AD3843D-8D8B-41A6-A7C2-43D1112EC7F6}"/>
              </a:ext>
            </a:extLst>
          </p:cNvPr>
          <p:cNvPicPr>
            <a:picLocks noChangeAspect="1"/>
          </p:cNvPicPr>
          <p:nvPr/>
        </p:nvPicPr>
        <p:blipFill>
          <a:blip r:embed="rId3"/>
          <a:stretch>
            <a:fillRect/>
          </a:stretch>
        </p:blipFill>
        <p:spPr>
          <a:xfrm>
            <a:off x="7784743" y="1414462"/>
            <a:ext cx="3837193" cy="4434789"/>
          </a:xfrm>
          <a:prstGeom prst="rect">
            <a:avLst/>
          </a:prstGeom>
        </p:spPr>
      </p:pic>
    </p:spTree>
    <p:extLst>
      <p:ext uri="{BB962C8B-B14F-4D97-AF65-F5344CB8AC3E}">
        <p14:creationId xmlns:p14="http://schemas.microsoft.com/office/powerpoint/2010/main" val="32106303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E84E-1BED-49C3-9537-ACBBFC4FBDF0}"/>
              </a:ext>
            </a:extLst>
          </p:cNvPr>
          <p:cNvSpPr>
            <a:spLocks noGrp="1"/>
          </p:cNvSpPr>
          <p:nvPr>
            <p:ph type="title"/>
          </p:nvPr>
        </p:nvSpPr>
        <p:spPr/>
        <p:txBody>
          <a:bodyPr/>
          <a:lstStyle/>
          <a:p>
            <a:r>
              <a:rPr lang="en-US" dirty="0"/>
              <a:t>Demonstration – Network Security Rules</a:t>
            </a:r>
          </a:p>
        </p:txBody>
      </p:sp>
      <p:pic>
        <p:nvPicPr>
          <p:cNvPr id="50" name="Picture 49" descr="Icon of a calendar">
            <a:extLst>
              <a:ext uri="{FF2B5EF4-FFF2-40B4-BE49-F238E27FC236}">
                <a16:creationId xmlns:a16="http://schemas.microsoft.com/office/drawing/2014/main" id="{A59C0E80-4CA9-4DDE-A93B-8AE660CFC10A}"/>
              </a:ext>
            </a:extLst>
          </p:cNvPr>
          <p:cNvPicPr>
            <a:picLocks noChangeAspect="1"/>
          </p:cNvPicPr>
          <p:nvPr/>
        </p:nvPicPr>
        <p:blipFill>
          <a:blip r:embed="rId3"/>
          <a:stretch>
            <a:fillRect/>
          </a:stretch>
        </p:blipFill>
        <p:spPr>
          <a:xfrm>
            <a:off x="404415" y="1636818"/>
            <a:ext cx="1142942" cy="1142942"/>
          </a:xfrm>
          <a:prstGeom prst="rect">
            <a:avLst/>
          </a:prstGeom>
        </p:spPr>
      </p:pic>
      <p:sp>
        <p:nvSpPr>
          <p:cNvPr id="5" name="Rectangle 4">
            <a:extLst>
              <a:ext uri="{FF2B5EF4-FFF2-40B4-BE49-F238E27FC236}">
                <a16:creationId xmlns:a16="http://schemas.microsoft.com/office/drawing/2014/main" id="{62BB01EB-CE0D-4BBB-A5E6-7266BD85D142}"/>
              </a:ext>
            </a:extLst>
          </p:cNvPr>
          <p:cNvSpPr/>
          <p:nvPr/>
        </p:nvSpPr>
        <p:spPr>
          <a:xfrm>
            <a:off x="1951592" y="1636818"/>
            <a:ext cx="9821766" cy="112053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353">
                <a:solidFill>
                  <a:schemeClr val="tx1"/>
                </a:solidFill>
              </a:rPr>
              <a:t>Access the NSGs blade</a:t>
            </a:r>
          </a:p>
        </p:txBody>
      </p:sp>
      <p:cxnSp>
        <p:nvCxnSpPr>
          <p:cNvPr id="13" name="Straight Connector 12">
            <a:extLst>
              <a:ext uri="{FF2B5EF4-FFF2-40B4-BE49-F238E27FC236}">
                <a16:creationId xmlns:a16="http://schemas.microsoft.com/office/drawing/2014/main" id="{85479C3C-B60B-4856-A989-FB4C38E41AEF}"/>
              </a:ext>
              <a:ext uri="{C183D7F6-B498-43B3-948B-1728B52AA6E4}">
                <adec:decorative xmlns:adec="http://schemas.microsoft.com/office/drawing/2017/decorative" val="1"/>
              </a:ext>
            </a:extLst>
          </p:cNvPr>
          <p:cNvCxnSpPr>
            <a:cxnSpLocks/>
          </p:cNvCxnSpPr>
          <p:nvPr/>
        </p:nvCxnSpPr>
        <p:spPr>
          <a:xfrm>
            <a:off x="1951593" y="2959305"/>
            <a:ext cx="98217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9" name="Picture 48" descr="Icon of a plus sign">
            <a:extLst>
              <a:ext uri="{FF2B5EF4-FFF2-40B4-BE49-F238E27FC236}">
                <a16:creationId xmlns:a16="http://schemas.microsoft.com/office/drawing/2014/main" id="{4945C829-FB63-44B0-96F8-4C6EE7FEB4F9}"/>
              </a:ext>
            </a:extLst>
          </p:cNvPr>
          <p:cNvPicPr>
            <a:picLocks noChangeAspect="1"/>
          </p:cNvPicPr>
          <p:nvPr/>
        </p:nvPicPr>
        <p:blipFill>
          <a:blip r:embed="rId4"/>
          <a:stretch>
            <a:fillRect/>
          </a:stretch>
        </p:blipFill>
        <p:spPr>
          <a:xfrm>
            <a:off x="404415" y="3189247"/>
            <a:ext cx="1142942" cy="1142942"/>
          </a:xfrm>
          <a:prstGeom prst="rect">
            <a:avLst/>
          </a:prstGeom>
        </p:spPr>
      </p:pic>
      <p:sp>
        <p:nvSpPr>
          <p:cNvPr id="6" name="Rectangle 5">
            <a:extLst>
              <a:ext uri="{FF2B5EF4-FFF2-40B4-BE49-F238E27FC236}">
                <a16:creationId xmlns:a16="http://schemas.microsoft.com/office/drawing/2014/main" id="{EC656FA9-4111-4E45-BB4D-F07593D77CDD}"/>
              </a:ext>
            </a:extLst>
          </p:cNvPr>
          <p:cNvSpPr/>
          <p:nvPr/>
        </p:nvSpPr>
        <p:spPr>
          <a:xfrm>
            <a:off x="1951592" y="3199013"/>
            <a:ext cx="9821766" cy="112053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353">
                <a:solidFill>
                  <a:schemeClr val="tx1"/>
                </a:solidFill>
              </a:rPr>
              <a:t>Add a new NSG</a:t>
            </a:r>
          </a:p>
        </p:txBody>
      </p:sp>
      <p:cxnSp>
        <p:nvCxnSpPr>
          <p:cNvPr id="14" name="Straight Connector 13">
            <a:extLst>
              <a:ext uri="{FF2B5EF4-FFF2-40B4-BE49-F238E27FC236}">
                <a16:creationId xmlns:a16="http://schemas.microsoft.com/office/drawing/2014/main" id="{1883C629-5536-4642-BACD-4F5EA6C1CDD4}"/>
              </a:ext>
              <a:ext uri="{C183D7F6-B498-43B3-948B-1728B52AA6E4}">
                <adec:decorative xmlns:adec="http://schemas.microsoft.com/office/drawing/2017/decorative" val="1"/>
              </a:ext>
            </a:extLst>
          </p:cNvPr>
          <p:cNvCxnSpPr>
            <a:cxnSpLocks/>
          </p:cNvCxnSpPr>
          <p:nvPr/>
        </p:nvCxnSpPr>
        <p:spPr>
          <a:xfrm>
            <a:off x="1951593" y="4537081"/>
            <a:ext cx="982176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2" name="Picture 31" descr="Icon of small circles forming a big circle center">
            <a:extLst>
              <a:ext uri="{FF2B5EF4-FFF2-40B4-BE49-F238E27FC236}">
                <a16:creationId xmlns:a16="http://schemas.microsoft.com/office/drawing/2014/main" id="{93ECB633-7B87-4FD8-8FDB-54923EA8C112}"/>
              </a:ext>
            </a:extLst>
          </p:cNvPr>
          <p:cNvPicPr>
            <a:picLocks noChangeAspect="1"/>
          </p:cNvPicPr>
          <p:nvPr/>
        </p:nvPicPr>
        <p:blipFill>
          <a:blip r:embed="rId5"/>
          <a:stretch>
            <a:fillRect/>
          </a:stretch>
        </p:blipFill>
        <p:spPr>
          <a:xfrm>
            <a:off x="404415" y="4741677"/>
            <a:ext cx="1142942" cy="1142942"/>
          </a:xfrm>
          <a:prstGeom prst="rect">
            <a:avLst/>
          </a:prstGeom>
        </p:spPr>
      </p:pic>
      <p:sp>
        <p:nvSpPr>
          <p:cNvPr id="7" name="Rectangle 6">
            <a:extLst>
              <a:ext uri="{FF2B5EF4-FFF2-40B4-BE49-F238E27FC236}">
                <a16:creationId xmlns:a16="http://schemas.microsoft.com/office/drawing/2014/main" id="{DC615207-619C-47C8-8B45-312D51FAC867}"/>
              </a:ext>
            </a:extLst>
          </p:cNvPr>
          <p:cNvSpPr/>
          <p:nvPr/>
        </p:nvSpPr>
        <p:spPr>
          <a:xfrm>
            <a:off x="1951592" y="4761207"/>
            <a:ext cx="9821766" cy="112053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353">
                <a:solidFill>
                  <a:schemeClr val="tx1"/>
                </a:solidFill>
              </a:rPr>
              <a:t>Explore inbound and outbound rules</a:t>
            </a:r>
          </a:p>
        </p:txBody>
      </p:sp>
    </p:spTree>
    <p:extLst>
      <p:ext uri="{BB962C8B-B14F-4D97-AF65-F5344CB8AC3E}">
        <p14:creationId xmlns:p14="http://schemas.microsoft.com/office/powerpoint/2010/main" val="85511300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sz="2400"/>
              <a:t>Deploy and configure Network Security Groups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cxnSp>
        <p:nvCxnSpPr>
          <p:cNvPr id="14" name="Straight Connector 13">
            <a:extLst>
              <a:ext uri="{FF2B5EF4-FFF2-40B4-BE49-F238E27FC236}">
                <a16:creationId xmlns:a16="http://schemas.microsoft.com/office/drawing/2014/main" id="{B8019769-3D92-44B8-B3D0-907648D9CF64}"/>
              </a:ext>
              <a:ext uri="{C183D7F6-B498-43B3-948B-1728B52AA6E4}">
                <adec:decorative xmlns:adec="http://schemas.microsoft.com/office/drawing/2017/decorative" val="1"/>
              </a:ext>
            </a:extLst>
          </p:cNvPr>
          <p:cNvCxnSpPr>
            <a:cxnSpLocks/>
          </p:cNvCxnSpPr>
          <p:nvPr/>
        </p:nvCxnSpPr>
        <p:spPr>
          <a:xfrm>
            <a:off x="4881443" y="28841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69F1270-547C-46E5-BE5C-44182EA353A1}"/>
              </a:ext>
            </a:extLst>
          </p:cNvPr>
          <p:cNvSpPr/>
          <p:nvPr/>
        </p:nvSpPr>
        <p:spPr>
          <a:xfrm>
            <a:off x="4762486" y="2141688"/>
            <a:ext cx="6991941" cy="806782"/>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r>
              <a:rPr lang="en-US" sz="1600" dirty="0">
                <a:hlinkClick r:id="rId3"/>
              </a:rPr>
              <a:t>Azure network security groups overview | Microsoft Docs</a:t>
            </a:r>
            <a:endParaRPr lang="en-US" sz="1765" dirty="0">
              <a:solidFill>
                <a:schemeClr val="tx1"/>
              </a:solidFill>
            </a:endParaRP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80878" y="2817694"/>
            <a:ext cx="1465263" cy="2130976"/>
          </a:xfrm>
          <a:prstGeom prst="rect">
            <a:avLst/>
          </a:prstGeom>
        </p:spPr>
      </p:pic>
      <p:sp>
        <p:nvSpPr>
          <p:cNvPr id="9" name="TextBox 8">
            <a:extLst>
              <a:ext uri="{FF2B5EF4-FFF2-40B4-BE49-F238E27FC236}">
                <a16:creationId xmlns:a16="http://schemas.microsoft.com/office/drawing/2014/main" id="{9581F3E5-460E-4874-8F9A-0B43C264A05A}"/>
              </a:ext>
            </a:extLst>
          </p:cNvPr>
          <p:cNvSpPr txBox="1"/>
          <p:nvPr/>
        </p:nvSpPr>
        <p:spPr>
          <a:xfrm>
            <a:off x="4762486" y="3059668"/>
            <a:ext cx="6099048" cy="369332"/>
          </a:xfrm>
          <a:prstGeom prst="rect">
            <a:avLst/>
          </a:prstGeom>
          <a:noFill/>
        </p:spPr>
        <p:txBody>
          <a:bodyPr wrap="square">
            <a:spAutoFit/>
          </a:bodyPr>
          <a:lstStyle/>
          <a:p>
            <a:r>
              <a:rPr lang="en-US" dirty="0">
                <a:hlinkClick r:id="rId5"/>
              </a:rPr>
              <a:t>Azure application security groups overview | Microsoft Docs</a:t>
            </a:r>
            <a:endParaRPr lang="en-US" dirty="0"/>
          </a:p>
        </p:txBody>
      </p:sp>
    </p:spTree>
    <p:extLst>
      <p:ext uri="{BB962C8B-B14F-4D97-AF65-F5344CB8AC3E}">
        <p14:creationId xmlns:p14="http://schemas.microsoft.com/office/powerpoint/2010/main" val="390506941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p:txBody>
          <a:bodyPr/>
          <a:lstStyle/>
          <a:p>
            <a:r>
              <a:rPr lang="en-US"/>
              <a:t>Lesson 05: </a:t>
            </a:r>
            <a:r>
              <a:rPr kumimoji="0" lang="en-US" sz="3600" b="0" i="0" u="none" strike="noStrike" kern="1200" cap="none" spc="0" normalizeH="0" baseline="0" noProof="0">
                <a:ln>
                  <a:noFill/>
                </a:ln>
                <a:effectLst/>
                <a:uLnTx/>
                <a:uFillTx/>
                <a:ea typeface="+mn-ea"/>
                <a:cs typeface="+mn-cs"/>
              </a:rPr>
              <a:t>Design and implement Azure Firewall </a:t>
            </a:r>
            <a:endParaRPr lang="en-US"/>
          </a:p>
        </p:txBody>
      </p:sp>
      <p:grpSp>
        <p:nvGrpSpPr>
          <p:cNvPr id="4" name="Group 3">
            <a:extLst>
              <a:ext uri="{FF2B5EF4-FFF2-40B4-BE49-F238E27FC236}">
                <a16:creationId xmlns:a16="http://schemas.microsoft.com/office/drawing/2014/main" id="{ED229E53-A7CD-44BA-B3FC-D5028CD02BA5}"/>
              </a:ext>
              <a:ext uri="{C183D7F6-B498-43B3-948B-1728B52AA6E4}">
                <adec:decorative xmlns:adec="http://schemas.microsoft.com/office/drawing/2017/decorative" val="1"/>
              </a:ext>
            </a:extLst>
          </p:cNvPr>
          <p:cNvGrpSpPr/>
          <p:nvPr/>
        </p:nvGrpSpPr>
        <p:grpSpPr>
          <a:xfrm>
            <a:off x="10355123" y="3070379"/>
            <a:ext cx="717140" cy="717242"/>
            <a:chOff x="418643" y="4826259"/>
            <a:chExt cx="717140" cy="717242"/>
          </a:xfrm>
        </p:grpSpPr>
        <p:grpSp>
          <p:nvGrpSpPr>
            <p:cNvPr id="5" name="Group 4">
              <a:extLst>
                <a:ext uri="{FF2B5EF4-FFF2-40B4-BE49-F238E27FC236}">
                  <a16:creationId xmlns:a16="http://schemas.microsoft.com/office/drawing/2014/main" id="{FB066A85-0D43-4936-96E4-B7DC75DB131B}"/>
                </a:ext>
              </a:extLst>
            </p:cNvPr>
            <p:cNvGrpSpPr/>
            <p:nvPr/>
          </p:nvGrpSpPr>
          <p:grpSpPr>
            <a:xfrm>
              <a:off x="418643" y="4826259"/>
              <a:ext cx="717140" cy="717242"/>
              <a:chOff x="418643" y="4826259"/>
              <a:chExt cx="717140" cy="717242"/>
            </a:xfrm>
          </p:grpSpPr>
          <p:sp>
            <p:nvSpPr>
              <p:cNvPr id="7" name="Freeform 5">
                <a:extLst>
                  <a:ext uri="{FF2B5EF4-FFF2-40B4-BE49-F238E27FC236}">
                    <a16:creationId xmlns:a16="http://schemas.microsoft.com/office/drawing/2014/main" id="{5A47E13A-A6B6-40C1-BB66-ECE689DDCDEC}"/>
                  </a:ext>
                </a:extLst>
              </p:cNvPr>
              <p:cNvSpPr>
                <a:spLocks/>
              </p:cNvSpPr>
              <p:nvPr/>
            </p:nvSpPr>
            <p:spPr bwMode="auto">
              <a:xfrm>
                <a:off x="418643" y="482625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838554B4-FE60-420C-BD6B-C02009153C7C}"/>
                  </a:ext>
                </a:extLst>
              </p:cNvPr>
              <p:cNvSpPr>
                <a:spLocks noEditPoints="1"/>
              </p:cNvSpPr>
              <p:nvPr/>
            </p:nvSpPr>
            <p:spPr bwMode="auto">
              <a:xfrm>
                <a:off x="468541" y="487732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coding brackets">
              <a:extLst>
                <a:ext uri="{FF2B5EF4-FFF2-40B4-BE49-F238E27FC236}">
                  <a16:creationId xmlns:a16="http://schemas.microsoft.com/office/drawing/2014/main" id="{48228432-D947-49C6-8568-482EA3420342}"/>
                </a:ext>
              </a:extLst>
            </p:cNvPr>
            <p:cNvPicPr>
              <a:picLocks noChangeAspect="1"/>
            </p:cNvPicPr>
            <p:nvPr/>
          </p:nvPicPr>
          <p:blipFill>
            <a:blip r:embed="rId3"/>
            <a:stretch>
              <a:fillRect/>
            </a:stretch>
          </p:blipFill>
          <p:spPr>
            <a:xfrm>
              <a:off x="589184" y="4996851"/>
              <a:ext cx="376058" cy="376058"/>
            </a:xfrm>
            <a:prstGeom prst="rect">
              <a:avLst/>
            </a:prstGeom>
          </p:spPr>
        </p:pic>
      </p:grpSp>
    </p:spTree>
    <p:extLst>
      <p:ext uri="{BB962C8B-B14F-4D97-AF65-F5344CB8AC3E}">
        <p14:creationId xmlns:p14="http://schemas.microsoft.com/office/powerpoint/2010/main" val="74768250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2" y="3088902"/>
            <a:ext cx="2092909" cy="680196"/>
          </a:xfrm>
        </p:spPr>
        <p:txBody>
          <a:bodyPr/>
          <a:lstStyle/>
          <a:p>
            <a:r>
              <a:rPr lang="en-US" dirty="0"/>
              <a:t>Design and implement Azure Firewall overview </a:t>
            </a:r>
          </a:p>
        </p:txBody>
      </p:sp>
      <p:sp>
        <p:nvSpPr>
          <p:cNvPr id="6" name="Text Placeholder 5"/>
          <p:cNvSpPr>
            <a:spLocks noGrp="1"/>
          </p:cNvSpPr>
          <p:nvPr>
            <p:ph type="body" sz="quarter" idx="11"/>
          </p:nvPr>
        </p:nvSpPr>
        <p:spPr/>
        <p:txBody>
          <a:bodyPr/>
          <a:lstStyle/>
          <a:p>
            <a:pPr lvl="1"/>
            <a:r>
              <a:rPr lang="en-US" dirty="0"/>
              <a:t>Azure Firewall features</a:t>
            </a:r>
          </a:p>
        </p:txBody>
      </p:sp>
      <p:sp>
        <p:nvSpPr>
          <p:cNvPr id="2" name="Text Placeholder 1"/>
          <p:cNvSpPr>
            <a:spLocks noGrp="1"/>
          </p:cNvSpPr>
          <p:nvPr>
            <p:ph type="body" sz="quarter" idx="15"/>
          </p:nvPr>
        </p:nvSpPr>
        <p:spPr/>
        <p:txBody>
          <a:bodyPr/>
          <a:lstStyle/>
          <a:p>
            <a:pPr lvl="1"/>
            <a:r>
              <a:rPr lang="en-US" dirty="0"/>
              <a:t>Rule processing in Azure Firewall</a:t>
            </a:r>
          </a:p>
        </p:txBody>
      </p:sp>
      <p:sp>
        <p:nvSpPr>
          <p:cNvPr id="3" name="Text Placeholder 2"/>
          <p:cNvSpPr>
            <a:spLocks noGrp="1"/>
          </p:cNvSpPr>
          <p:nvPr>
            <p:ph type="body" sz="quarter" idx="17"/>
          </p:nvPr>
        </p:nvSpPr>
        <p:spPr/>
        <p:txBody>
          <a:bodyPr/>
          <a:lstStyle/>
          <a:p>
            <a:pPr lvl="1"/>
            <a:r>
              <a:rPr lang="en-US" dirty="0"/>
              <a:t>Deploying Azure Firewall in the Azure portal </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p:txBody>
          <a:bodyPr/>
          <a:lstStyle/>
          <a:p>
            <a:pPr lvl="1"/>
            <a:r>
              <a:rPr lang="en-US" dirty="0"/>
              <a:t>Deploying Azure Firewall in a Hub-Spoke network topology </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p:txBody>
          <a:bodyPr/>
          <a:lstStyle/>
          <a:p>
            <a:pPr lvl="1"/>
            <a:r>
              <a:rPr lang="en-US" dirty="0"/>
              <a:t>Compare Azure Firewall to NSGs</a:t>
            </a:r>
          </a:p>
        </p:txBody>
      </p:sp>
      <p:sp>
        <p:nvSpPr>
          <p:cNvPr id="7" name="Text Placeholder 6">
            <a:extLst>
              <a:ext uri="{FF2B5EF4-FFF2-40B4-BE49-F238E27FC236}">
                <a16:creationId xmlns:a16="http://schemas.microsoft.com/office/drawing/2014/main" id="{A91ECD5A-A06D-4426-B215-D810A663A47E}"/>
              </a:ext>
            </a:extLst>
          </p:cNvPr>
          <p:cNvSpPr>
            <a:spLocks noGrp="1"/>
          </p:cNvSpPr>
          <p:nvPr>
            <p:ph type="body" sz="quarter" idx="22"/>
          </p:nvPr>
        </p:nvSpPr>
        <p:spPr/>
        <p:txBody>
          <a:bodyPr/>
          <a:lstStyle/>
          <a:p>
            <a:pPr lvl="1"/>
            <a:r>
              <a:rPr lang="en-US" dirty="0"/>
              <a:t>Review </a:t>
            </a:r>
          </a:p>
        </p:txBody>
      </p:sp>
      <p:grpSp>
        <p:nvGrpSpPr>
          <p:cNvPr id="13" name="Group 12">
            <a:extLst>
              <a:ext uri="{FF2B5EF4-FFF2-40B4-BE49-F238E27FC236}">
                <a16:creationId xmlns:a16="http://schemas.microsoft.com/office/drawing/2014/main" id="{FF2109F9-16B8-4C6D-BD47-154C739A35B7}"/>
              </a:ext>
              <a:ext uri="{C183D7F6-B498-43B3-948B-1728B52AA6E4}">
                <adec:decorative xmlns:adec="http://schemas.microsoft.com/office/drawing/2017/decorative" val="1"/>
              </a:ext>
            </a:extLst>
          </p:cNvPr>
          <p:cNvGrpSpPr/>
          <p:nvPr/>
        </p:nvGrpSpPr>
        <p:grpSpPr>
          <a:xfrm>
            <a:off x="3031668" y="462996"/>
            <a:ext cx="702132" cy="5038900"/>
            <a:chOff x="3031668" y="462996"/>
            <a:chExt cx="702132" cy="5038900"/>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462996"/>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1341712"/>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2206225"/>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070738"/>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3935251"/>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nvGrpSpPr>
            <p:cNvPr id="27" name="Group 26">
              <a:extLst>
                <a:ext uri="{FF2B5EF4-FFF2-40B4-BE49-F238E27FC236}">
                  <a16:creationId xmlns:a16="http://schemas.microsoft.com/office/drawing/2014/main" id="{6060DB94-15B8-4E46-BEDD-2C1A83E582C7}"/>
                </a:ext>
              </a:extLst>
            </p:cNvPr>
            <p:cNvGrpSpPr/>
            <p:nvPr/>
          </p:nvGrpSpPr>
          <p:grpSpPr>
            <a:xfrm>
              <a:off x="3031668" y="4799764"/>
              <a:ext cx="702132" cy="702132"/>
              <a:chOff x="3031668" y="4799764"/>
              <a:chExt cx="702132" cy="702132"/>
            </a:xfrm>
          </p:grpSpPr>
          <p:grpSp>
            <p:nvGrpSpPr>
              <p:cNvPr id="21" name="Group 20">
                <a:extLst>
                  <a:ext uri="{FF2B5EF4-FFF2-40B4-BE49-F238E27FC236}">
                    <a16:creationId xmlns:a16="http://schemas.microsoft.com/office/drawing/2014/main" id="{EC5A9229-47D5-4B8F-948E-282348F5FB99}"/>
                  </a:ext>
                </a:extLst>
              </p:cNvPr>
              <p:cNvGrpSpPr/>
              <p:nvPr/>
            </p:nvGrpSpPr>
            <p:grpSpPr>
              <a:xfrm>
                <a:off x="3031668" y="4799764"/>
                <a:ext cx="702132" cy="702132"/>
                <a:chOff x="3031668" y="4799764"/>
                <a:chExt cx="702132" cy="702132"/>
              </a:xfrm>
            </p:grpSpPr>
            <p:sp>
              <p:nvSpPr>
                <p:cNvPr id="78" name="AutoShape 3">
                  <a:extLst>
                    <a:ext uri="{FF2B5EF4-FFF2-40B4-BE49-F238E27FC236}">
                      <a16:creationId xmlns:a16="http://schemas.microsoft.com/office/drawing/2014/main" id="{CF996211-C481-4235-89A0-A32FD402DDE3}"/>
                    </a:ext>
                  </a:extLst>
                </p:cNvPr>
                <p:cNvSpPr>
                  <a:spLocks noChangeAspect="1" noChangeArrowheads="1" noTextEdit="1"/>
                </p:cNvSpPr>
                <p:nvPr/>
              </p:nvSpPr>
              <p:spPr bwMode="auto">
                <a:xfrm>
                  <a:off x="3031668" y="4799764"/>
                  <a:ext cx="702132" cy="70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79" name="Freeform 5">
                  <a:extLst>
                    <a:ext uri="{FF2B5EF4-FFF2-40B4-BE49-F238E27FC236}">
                      <a16:creationId xmlns:a16="http://schemas.microsoft.com/office/drawing/2014/main" id="{1B80AA19-EBDD-4F58-8B9A-0D60A58F5FD8}"/>
                    </a:ext>
                  </a:extLst>
                </p:cNvPr>
                <p:cNvSpPr>
                  <a:spLocks/>
                </p:cNvSpPr>
                <p:nvPr/>
              </p:nvSpPr>
              <p:spPr bwMode="auto">
                <a:xfrm>
                  <a:off x="3031668" y="4799764"/>
                  <a:ext cx="702132" cy="702132"/>
                </a:xfrm>
                <a:custGeom>
                  <a:avLst/>
                  <a:gdLst>
                    <a:gd name="T0" fmla="*/ 2 w 493"/>
                    <a:gd name="T1" fmla="*/ 221 h 493"/>
                    <a:gd name="T2" fmla="*/ 12 w 493"/>
                    <a:gd name="T3" fmla="*/ 174 h 493"/>
                    <a:gd name="T4" fmla="*/ 31 w 493"/>
                    <a:gd name="T5" fmla="*/ 130 h 493"/>
                    <a:gd name="T6" fmla="*/ 57 w 493"/>
                    <a:gd name="T7" fmla="*/ 90 h 493"/>
                    <a:gd name="T8" fmla="*/ 90 w 493"/>
                    <a:gd name="T9" fmla="*/ 57 h 493"/>
                    <a:gd name="T10" fmla="*/ 130 w 493"/>
                    <a:gd name="T11" fmla="*/ 31 h 493"/>
                    <a:gd name="T12" fmla="*/ 174 w 493"/>
                    <a:gd name="T13" fmla="*/ 12 h 493"/>
                    <a:gd name="T14" fmla="*/ 221 w 493"/>
                    <a:gd name="T15" fmla="*/ 2 h 493"/>
                    <a:gd name="T16" fmla="*/ 272 w 493"/>
                    <a:gd name="T17" fmla="*/ 2 h 493"/>
                    <a:gd name="T18" fmla="*/ 320 w 493"/>
                    <a:gd name="T19" fmla="*/ 12 h 493"/>
                    <a:gd name="T20" fmla="*/ 364 w 493"/>
                    <a:gd name="T21" fmla="*/ 31 h 493"/>
                    <a:gd name="T22" fmla="*/ 403 w 493"/>
                    <a:gd name="T23" fmla="*/ 57 h 493"/>
                    <a:gd name="T24" fmla="*/ 436 w 493"/>
                    <a:gd name="T25" fmla="*/ 90 h 493"/>
                    <a:gd name="T26" fmla="*/ 464 w 493"/>
                    <a:gd name="T27" fmla="*/ 130 h 493"/>
                    <a:gd name="T28" fmla="*/ 481 w 493"/>
                    <a:gd name="T29" fmla="*/ 174 h 493"/>
                    <a:gd name="T30" fmla="*/ 491 w 493"/>
                    <a:gd name="T31" fmla="*/ 221 h 493"/>
                    <a:gd name="T32" fmla="*/ 491 w 493"/>
                    <a:gd name="T33" fmla="*/ 272 h 493"/>
                    <a:gd name="T34" fmla="*/ 481 w 493"/>
                    <a:gd name="T35" fmla="*/ 320 h 493"/>
                    <a:gd name="T36" fmla="*/ 464 w 493"/>
                    <a:gd name="T37" fmla="*/ 364 h 493"/>
                    <a:gd name="T38" fmla="*/ 436 w 493"/>
                    <a:gd name="T39" fmla="*/ 403 h 493"/>
                    <a:gd name="T40" fmla="*/ 403 w 493"/>
                    <a:gd name="T41" fmla="*/ 437 h 493"/>
                    <a:gd name="T42" fmla="*/ 364 w 493"/>
                    <a:gd name="T43" fmla="*/ 464 h 493"/>
                    <a:gd name="T44" fmla="*/ 320 w 493"/>
                    <a:gd name="T45" fmla="*/ 481 h 493"/>
                    <a:gd name="T46" fmla="*/ 272 w 493"/>
                    <a:gd name="T47" fmla="*/ 491 h 493"/>
                    <a:gd name="T48" fmla="*/ 221 w 493"/>
                    <a:gd name="T49" fmla="*/ 491 h 493"/>
                    <a:gd name="T50" fmla="*/ 174 w 493"/>
                    <a:gd name="T51" fmla="*/ 481 h 493"/>
                    <a:gd name="T52" fmla="*/ 130 w 493"/>
                    <a:gd name="T53" fmla="*/ 464 h 493"/>
                    <a:gd name="T54" fmla="*/ 90 w 493"/>
                    <a:gd name="T55" fmla="*/ 437 h 493"/>
                    <a:gd name="T56" fmla="*/ 57 w 493"/>
                    <a:gd name="T57" fmla="*/ 403 h 493"/>
                    <a:gd name="T58" fmla="*/ 31 w 493"/>
                    <a:gd name="T59" fmla="*/ 364 h 493"/>
                    <a:gd name="T60" fmla="*/ 12 w 493"/>
                    <a:gd name="T61" fmla="*/ 320 h 493"/>
                    <a:gd name="T62" fmla="*/ 2 w 493"/>
                    <a:gd name="T63" fmla="*/ 27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3" h="493">
                      <a:moveTo>
                        <a:pt x="0" y="247"/>
                      </a:moveTo>
                      <a:lnTo>
                        <a:pt x="2" y="221"/>
                      </a:lnTo>
                      <a:lnTo>
                        <a:pt x="6" y="197"/>
                      </a:lnTo>
                      <a:lnTo>
                        <a:pt x="12" y="174"/>
                      </a:lnTo>
                      <a:lnTo>
                        <a:pt x="20" y="151"/>
                      </a:lnTo>
                      <a:lnTo>
                        <a:pt x="31" y="130"/>
                      </a:lnTo>
                      <a:lnTo>
                        <a:pt x="42" y="109"/>
                      </a:lnTo>
                      <a:lnTo>
                        <a:pt x="57" y="90"/>
                      </a:lnTo>
                      <a:lnTo>
                        <a:pt x="73" y="73"/>
                      </a:lnTo>
                      <a:lnTo>
                        <a:pt x="90" y="57"/>
                      </a:lnTo>
                      <a:lnTo>
                        <a:pt x="109" y="42"/>
                      </a:lnTo>
                      <a:lnTo>
                        <a:pt x="130" y="31"/>
                      </a:lnTo>
                      <a:lnTo>
                        <a:pt x="151" y="20"/>
                      </a:lnTo>
                      <a:lnTo>
                        <a:pt x="174" y="12"/>
                      </a:lnTo>
                      <a:lnTo>
                        <a:pt x="197" y="6"/>
                      </a:lnTo>
                      <a:lnTo>
                        <a:pt x="221" y="2"/>
                      </a:lnTo>
                      <a:lnTo>
                        <a:pt x="247" y="0"/>
                      </a:lnTo>
                      <a:lnTo>
                        <a:pt x="272" y="2"/>
                      </a:lnTo>
                      <a:lnTo>
                        <a:pt x="296" y="6"/>
                      </a:lnTo>
                      <a:lnTo>
                        <a:pt x="320" y="12"/>
                      </a:lnTo>
                      <a:lnTo>
                        <a:pt x="342" y="20"/>
                      </a:lnTo>
                      <a:lnTo>
                        <a:pt x="364" y="31"/>
                      </a:lnTo>
                      <a:lnTo>
                        <a:pt x="384" y="42"/>
                      </a:lnTo>
                      <a:lnTo>
                        <a:pt x="403" y="57"/>
                      </a:lnTo>
                      <a:lnTo>
                        <a:pt x="420" y="73"/>
                      </a:lnTo>
                      <a:lnTo>
                        <a:pt x="436" y="90"/>
                      </a:lnTo>
                      <a:lnTo>
                        <a:pt x="451" y="109"/>
                      </a:lnTo>
                      <a:lnTo>
                        <a:pt x="464" y="130"/>
                      </a:lnTo>
                      <a:lnTo>
                        <a:pt x="473" y="151"/>
                      </a:lnTo>
                      <a:lnTo>
                        <a:pt x="481" y="174"/>
                      </a:lnTo>
                      <a:lnTo>
                        <a:pt x="487" y="197"/>
                      </a:lnTo>
                      <a:lnTo>
                        <a:pt x="491" y="221"/>
                      </a:lnTo>
                      <a:lnTo>
                        <a:pt x="493" y="247"/>
                      </a:lnTo>
                      <a:lnTo>
                        <a:pt x="491" y="272"/>
                      </a:lnTo>
                      <a:lnTo>
                        <a:pt x="487" y="296"/>
                      </a:lnTo>
                      <a:lnTo>
                        <a:pt x="481" y="320"/>
                      </a:lnTo>
                      <a:lnTo>
                        <a:pt x="473" y="342"/>
                      </a:lnTo>
                      <a:lnTo>
                        <a:pt x="464" y="364"/>
                      </a:lnTo>
                      <a:lnTo>
                        <a:pt x="451" y="384"/>
                      </a:lnTo>
                      <a:lnTo>
                        <a:pt x="436" y="403"/>
                      </a:lnTo>
                      <a:lnTo>
                        <a:pt x="420" y="420"/>
                      </a:lnTo>
                      <a:lnTo>
                        <a:pt x="403" y="437"/>
                      </a:lnTo>
                      <a:lnTo>
                        <a:pt x="384" y="451"/>
                      </a:lnTo>
                      <a:lnTo>
                        <a:pt x="364" y="464"/>
                      </a:lnTo>
                      <a:lnTo>
                        <a:pt x="342" y="473"/>
                      </a:lnTo>
                      <a:lnTo>
                        <a:pt x="320" y="481"/>
                      </a:lnTo>
                      <a:lnTo>
                        <a:pt x="296" y="487"/>
                      </a:lnTo>
                      <a:lnTo>
                        <a:pt x="272" y="491"/>
                      </a:lnTo>
                      <a:lnTo>
                        <a:pt x="247" y="493"/>
                      </a:lnTo>
                      <a:lnTo>
                        <a:pt x="221" y="491"/>
                      </a:lnTo>
                      <a:lnTo>
                        <a:pt x="197" y="487"/>
                      </a:lnTo>
                      <a:lnTo>
                        <a:pt x="174" y="481"/>
                      </a:lnTo>
                      <a:lnTo>
                        <a:pt x="151" y="473"/>
                      </a:lnTo>
                      <a:lnTo>
                        <a:pt x="130" y="464"/>
                      </a:lnTo>
                      <a:lnTo>
                        <a:pt x="109" y="451"/>
                      </a:lnTo>
                      <a:lnTo>
                        <a:pt x="90" y="437"/>
                      </a:lnTo>
                      <a:lnTo>
                        <a:pt x="73" y="420"/>
                      </a:lnTo>
                      <a:lnTo>
                        <a:pt x="57" y="403"/>
                      </a:lnTo>
                      <a:lnTo>
                        <a:pt x="42" y="384"/>
                      </a:lnTo>
                      <a:lnTo>
                        <a:pt x="31" y="364"/>
                      </a:lnTo>
                      <a:lnTo>
                        <a:pt x="20" y="342"/>
                      </a:lnTo>
                      <a:lnTo>
                        <a:pt x="12" y="320"/>
                      </a:lnTo>
                      <a:lnTo>
                        <a:pt x="6" y="296"/>
                      </a:lnTo>
                      <a:lnTo>
                        <a:pt x="2" y="272"/>
                      </a:lnTo>
                      <a:lnTo>
                        <a:pt x="0" y="247"/>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80" name="Freeform 6">
                  <a:extLst>
                    <a:ext uri="{FF2B5EF4-FFF2-40B4-BE49-F238E27FC236}">
                      <a16:creationId xmlns:a16="http://schemas.microsoft.com/office/drawing/2014/main" id="{23FC2815-7F4A-4903-9A08-A24F2C74864A}"/>
                    </a:ext>
                  </a:extLst>
                </p:cNvPr>
                <p:cNvSpPr>
                  <a:spLocks noEditPoints="1"/>
                </p:cNvSpPr>
                <p:nvPr/>
              </p:nvSpPr>
              <p:spPr bwMode="auto">
                <a:xfrm>
                  <a:off x="3087212" y="4854596"/>
                  <a:ext cx="591044" cy="592469"/>
                </a:xfrm>
                <a:prstGeom prst="ellipse">
                  <a:avLst/>
                </a:prstGeom>
                <a:noFill/>
                <a:ln w="28575" cap="flat">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coding brackets">
                <a:extLst>
                  <a:ext uri="{FF2B5EF4-FFF2-40B4-BE49-F238E27FC236}">
                    <a16:creationId xmlns:a16="http://schemas.microsoft.com/office/drawing/2014/main" id="{B0C5D0BC-720B-401F-BF64-B19B73B6DE2B}"/>
                  </a:ext>
                </a:extLst>
              </p:cNvPr>
              <p:cNvPicPr>
                <a:picLocks noChangeAspect="1"/>
              </p:cNvPicPr>
              <p:nvPr/>
            </p:nvPicPr>
            <p:blipFill>
              <a:blip r:embed="rId8"/>
              <a:stretch>
                <a:fillRect/>
              </a:stretch>
            </p:blipFill>
            <p:spPr>
              <a:xfrm>
                <a:off x="3196983" y="4965079"/>
                <a:ext cx="371503" cy="371503"/>
              </a:xfrm>
              <a:prstGeom prst="rect">
                <a:avLst/>
              </a:prstGeom>
            </p:spPr>
          </p:pic>
        </p:grpSp>
      </p:grpSp>
    </p:spTree>
    <p:extLst>
      <p:ext uri="{BB962C8B-B14F-4D97-AF65-F5344CB8AC3E}">
        <p14:creationId xmlns:p14="http://schemas.microsoft.com/office/powerpoint/2010/main" val="3384821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E84E-1BED-49C3-9537-ACBBFC4FBDF0}"/>
              </a:ext>
            </a:extLst>
          </p:cNvPr>
          <p:cNvSpPr>
            <a:spLocks noGrp="1"/>
          </p:cNvSpPr>
          <p:nvPr>
            <p:ph type="title"/>
          </p:nvPr>
        </p:nvSpPr>
        <p:spPr/>
        <p:txBody>
          <a:bodyPr/>
          <a:lstStyle/>
          <a:p>
            <a:r>
              <a:rPr lang="en-US" sz="2800">
                <a:cs typeface="Segoe UI Semilight"/>
              </a:rPr>
              <a:t>Azure Firewall features</a:t>
            </a:r>
          </a:p>
        </p:txBody>
      </p:sp>
      <p:sp>
        <p:nvSpPr>
          <p:cNvPr id="5" name="Rectangle 4">
            <a:extLst>
              <a:ext uri="{FF2B5EF4-FFF2-40B4-BE49-F238E27FC236}">
                <a16:creationId xmlns:a16="http://schemas.microsoft.com/office/drawing/2014/main" id="{F92477FF-A0AF-470C-8BA0-354EC1813339}"/>
              </a:ext>
            </a:extLst>
          </p:cNvPr>
          <p:cNvSpPr/>
          <p:nvPr/>
        </p:nvSpPr>
        <p:spPr>
          <a:xfrm>
            <a:off x="418643" y="1212360"/>
            <a:ext cx="5666588" cy="448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Stateful firewall as a service</a:t>
            </a:r>
          </a:p>
        </p:txBody>
      </p:sp>
      <p:sp>
        <p:nvSpPr>
          <p:cNvPr id="7" name="Rectangle 6">
            <a:extLst>
              <a:ext uri="{FF2B5EF4-FFF2-40B4-BE49-F238E27FC236}">
                <a16:creationId xmlns:a16="http://schemas.microsoft.com/office/drawing/2014/main" id="{E27F5F05-0B0B-441B-A57A-61D4CDCD4B95}"/>
              </a:ext>
            </a:extLst>
          </p:cNvPr>
          <p:cNvSpPr/>
          <p:nvPr/>
        </p:nvSpPr>
        <p:spPr>
          <a:xfrm>
            <a:off x="418643" y="1826897"/>
            <a:ext cx="5666588" cy="6732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Built-in high availability with unrestricted cloud scalability</a:t>
            </a:r>
          </a:p>
        </p:txBody>
      </p:sp>
      <p:sp>
        <p:nvSpPr>
          <p:cNvPr id="8" name="Rectangle 7">
            <a:extLst>
              <a:ext uri="{FF2B5EF4-FFF2-40B4-BE49-F238E27FC236}">
                <a16:creationId xmlns:a16="http://schemas.microsoft.com/office/drawing/2014/main" id="{ED8A30DC-5B17-45D3-BE47-B1DB6CA1A042}"/>
              </a:ext>
            </a:extLst>
          </p:cNvPr>
          <p:cNvSpPr/>
          <p:nvPr/>
        </p:nvSpPr>
        <p:spPr>
          <a:xfrm>
            <a:off x="418641" y="2665718"/>
            <a:ext cx="5666588" cy="6732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Create, enforce, and log application and network connectivity policies </a:t>
            </a:r>
          </a:p>
        </p:txBody>
      </p:sp>
      <p:sp>
        <p:nvSpPr>
          <p:cNvPr id="9" name="Rectangle 8">
            <a:extLst>
              <a:ext uri="{FF2B5EF4-FFF2-40B4-BE49-F238E27FC236}">
                <a16:creationId xmlns:a16="http://schemas.microsoft.com/office/drawing/2014/main" id="{2D0A33A8-6B0D-4D43-9138-45D6795B8AEB}"/>
              </a:ext>
            </a:extLst>
          </p:cNvPr>
          <p:cNvSpPr/>
          <p:nvPr/>
        </p:nvSpPr>
        <p:spPr>
          <a:xfrm>
            <a:off x="418641" y="3504539"/>
            <a:ext cx="5666588" cy="4356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Threat intelligence-based filtering for L3-L7 </a:t>
            </a:r>
          </a:p>
        </p:txBody>
      </p:sp>
      <p:sp>
        <p:nvSpPr>
          <p:cNvPr id="10" name="Rectangle 9">
            <a:extLst>
              <a:ext uri="{FF2B5EF4-FFF2-40B4-BE49-F238E27FC236}">
                <a16:creationId xmlns:a16="http://schemas.microsoft.com/office/drawing/2014/main" id="{81C1142A-2B5A-473F-9B34-24D5EA6EC410}"/>
              </a:ext>
            </a:extLst>
          </p:cNvPr>
          <p:cNvSpPr/>
          <p:nvPr/>
        </p:nvSpPr>
        <p:spPr>
          <a:xfrm>
            <a:off x="418641" y="4105700"/>
            <a:ext cx="5666588" cy="6732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Fully integrated with Azure Monitor for logging and analytics</a:t>
            </a:r>
          </a:p>
        </p:txBody>
      </p:sp>
      <p:sp>
        <p:nvSpPr>
          <p:cNvPr id="11" name="Rectangle 10">
            <a:extLst>
              <a:ext uri="{FF2B5EF4-FFF2-40B4-BE49-F238E27FC236}">
                <a16:creationId xmlns:a16="http://schemas.microsoft.com/office/drawing/2014/main" id="{98EA9014-32B7-4BC8-A703-0390850379EE}"/>
              </a:ext>
            </a:extLst>
          </p:cNvPr>
          <p:cNvSpPr/>
          <p:nvPr/>
        </p:nvSpPr>
        <p:spPr>
          <a:xfrm>
            <a:off x="418641" y="4944521"/>
            <a:ext cx="5666588" cy="6732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Support for hybrid connectivity through deployment behind VPN and ExpressRoute Gateways</a:t>
            </a:r>
          </a:p>
        </p:txBody>
      </p:sp>
      <p:sp>
        <p:nvSpPr>
          <p:cNvPr id="6" name="Rectangle 5">
            <a:extLst>
              <a:ext uri="{FF2B5EF4-FFF2-40B4-BE49-F238E27FC236}">
                <a16:creationId xmlns:a16="http://schemas.microsoft.com/office/drawing/2014/main" id="{C3E2415B-3C39-4095-B66F-AAE06248DAA2}"/>
              </a:ext>
              <a:ext uri="{C183D7F6-B498-43B3-948B-1728B52AA6E4}">
                <adec:decorative xmlns:adec="http://schemas.microsoft.com/office/drawing/2017/decorative" val="1"/>
              </a:ext>
            </a:extLst>
          </p:cNvPr>
          <p:cNvSpPr/>
          <p:nvPr/>
        </p:nvSpPr>
        <p:spPr bwMode="auto">
          <a:xfrm>
            <a:off x="6237624" y="1169264"/>
            <a:ext cx="5535734" cy="506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3" name="Rectangle 2">
            <a:extLst>
              <a:ext uri="{FF2B5EF4-FFF2-40B4-BE49-F238E27FC236}">
                <a16:creationId xmlns:a16="http://schemas.microsoft.com/office/drawing/2014/main" id="{6F94E675-9C9B-4F8E-91DD-696DA1C7BB7D}"/>
              </a:ext>
            </a:extLst>
          </p:cNvPr>
          <p:cNvSpPr/>
          <p:nvPr/>
        </p:nvSpPr>
        <p:spPr>
          <a:xfrm>
            <a:off x="418641" y="5783342"/>
            <a:ext cx="5666588" cy="67326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Standard and Premium SKUs </a:t>
            </a:r>
          </a:p>
        </p:txBody>
      </p:sp>
      <p:pic>
        <p:nvPicPr>
          <p:cNvPr id="1026" name="Picture 2" descr="Firewall Standard image with VNets that are using an Azure Firewall and Threat Intelligence to deny or allow traffic">
            <a:extLst>
              <a:ext uri="{FF2B5EF4-FFF2-40B4-BE49-F238E27FC236}">
                <a16:creationId xmlns:a16="http://schemas.microsoft.com/office/drawing/2014/main" id="{1CA80A7C-DC57-9F12-7876-0F09E68B4A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7044" y="1661343"/>
            <a:ext cx="5356893" cy="4177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66904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FEE1-EDF8-423D-BBCE-93C01A29C952}"/>
              </a:ext>
            </a:extLst>
          </p:cNvPr>
          <p:cNvSpPr>
            <a:spLocks noGrp="1"/>
          </p:cNvSpPr>
          <p:nvPr>
            <p:ph type="title"/>
          </p:nvPr>
        </p:nvSpPr>
        <p:spPr/>
        <p:txBody>
          <a:bodyPr/>
          <a:lstStyle/>
          <a:p>
            <a:r>
              <a:rPr lang="en-US" sz="2800">
                <a:cs typeface="Segoe UI Semilight"/>
              </a:rPr>
              <a:t>Rule processing in Azure Firewall</a:t>
            </a:r>
          </a:p>
        </p:txBody>
      </p:sp>
      <p:sp>
        <p:nvSpPr>
          <p:cNvPr id="5" name="Rectangle 4">
            <a:extLst>
              <a:ext uri="{FF2B5EF4-FFF2-40B4-BE49-F238E27FC236}">
                <a16:creationId xmlns:a16="http://schemas.microsoft.com/office/drawing/2014/main" id="{CB31D96E-1CDE-4C56-84B3-60AEE8C04CDB}"/>
              </a:ext>
              <a:ext uri="{C183D7F6-B498-43B3-948B-1728B52AA6E4}">
                <adec:decorative xmlns:adec="http://schemas.microsoft.com/office/drawing/2017/decorative" val="1"/>
              </a:ext>
            </a:extLst>
          </p:cNvPr>
          <p:cNvSpPr/>
          <p:nvPr/>
        </p:nvSpPr>
        <p:spPr bwMode="auto">
          <a:xfrm>
            <a:off x="418644" y="1169263"/>
            <a:ext cx="11354714" cy="287637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3" name="Picture 12" descr="Screenshot of the Azure Firewall Rules blade with three tabs: NAT rule collection, Network rule collection, and Application rule collection ">
            <a:extLst>
              <a:ext uri="{FF2B5EF4-FFF2-40B4-BE49-F238E27FC236}">
                <a16:creationId xmlns:a16="http://schemas.microsoft.com/office/drawing/2014/main" id="{514EEF9A-93AA-4E81-B3C4-7D4697CAFB8D}"/>
              </a:ext>
            </a:extLst>
          </p:cNvPr>
          <p:cNvPicPr>
            <a:picLocks noChangeAspect="1"/>
          </p:cNvPicPr>
          <p:nvPr/>
        </p:nvPicPr>
        <p:blipFill>
          <a:blip r:embed="rId3"/>
          <a:stretch>
            <a:fillRect/>
          </a:stretch>
        </p:blipFill>
        <p:spPr>
          <a:xfrm>
            <a:off x="624377" y="1839169"/>
            <a:ext cx="10943250" cy="1536564"/>
          </a:xfrm>
          <a:prstGeom prst="rect">
            <a:avLst/>
          </a:prstGeom>
          <a:ln>
            <a:noFill/>
          </a:ln>
        </p:spPr>
      </p:pic>
      <p:sp>
        <p:nvSpPr>
          <p:cNvPr id="6" name="Rectangle 5">
            <a:extLst>
              <a:ext uri="{FF2B5EF4-FFF2-40B4-BE49-F238E27FC236}">
                <a16:creationId xmlns:a16="http://schemas.microsoft.com/office/drawing/2014/main" id="{297F82D0-A319-4B22-8E15-125D6E771613}"/>
              </a:ext>
            </a:extLst>
          </p:cNvPr>
          <p:cNvSpPr/>
          <p:nvPr/>
        </p:nvSpPr>
        <p:spPr>
          <a:xfrm>
            <a:off x="455995" y="4198031"/>
            <a:ext cx="3679872" cy="203914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lnSpc>
                <a:spcPct val="110000"/>
              </a:lnSpc>
            </a:pPr>
            <a:r>
              <a:rPr lang="en-US" sz="1961" b="1">
                <a:solidFill>
                  <a:schemeClr val="tx1"/>
                </a:solidFill>
                <a:latin typeface="+mj-lt"/>
              </a:rPr>
              <a:t>NAT rules</a:t>
            </a:r>
            <a:r>
              <a:rPr lang="en-US" sz="1961">
                <a:solidFill>
                  <a:schemeClr val="tx1"/>
                </a:solidFill>
                <a:latin typeface="+mj-lt"/>
              </a:rPr>
              <a:t>. </a:t>
            </a:r>
            <a:r>
              <a:rPr lang="en-US" sz="1961">
                <a:solidFill>
                  <a:schemeClr val="tx1"/>
                </a:solidFill>
              </a:rPr>
              <a:t>Configure DNAT rules to allow incoming connections</a:t>
            </a:r>
          </a:p>
        </p:txBody>
      </p:sp>
      <p:sp>
        <p:nvSpPr>
          <p:cNvPr id="7" name="Rectangle 6">
            <a:extLst>
              <a:ext uri="{FF2B5EF4-FFF2-40B4-BE49-F238E27FC236}">
                <a16:creationId xmlns:a16="http://schemas.microsoft.com/office/drawing/2014/main" id="{9DE21242-5198-4F1E-93DB-8321CD2FD207}"/>
              </a:ext>
            </a:extLst>
          </p:cNvPr>
          <p:cNvSpPr/>
          <p:nvPr/>
        </p:nvSpPr>
        <p:spPr>
          <a:xfrm>
            <a:off x="4293416" y="4198031"/>
            <a:ext cx="3679872" cy="203914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lnSpc>
                <a:spcPct val="110000"/>
              </a:lnSpc>
            </a:pPr>
            <a:r>
              <a:rPr lang="en-US" sz="1961" b="1">
                <a:solidFill>
                  <a:schemeClr val="tx1"/>
                </a:solidFill>
                <a:latin typeface="+mj-lt"/>
              </a:rPr>
              <a:t>Network rules</a:t>
            </a:r>
            <a:r>
              <a:rPr lang="en-US" sz="1961">
                <a:solidFill>
                  <a:schemeClr val="tx1"/>
                </a:solidFill>
                <a:latin typeface="+mj-lt"/>
              </a:rPr>
              <a:t>. </a:t>
            </a:r>
            <a:r>
              <a:rPr lang="en-US" sz="1961">
                <a:solidFill>
                  <a:schemeClr val="tx1"/>
                </a:solidFill>
              </a:rPr>
              <a:t>Configure rules that contain source addresses, protocols, destination ports, and destination addresses</a:t>
            </a:r>
          </a:p>
        </p:txBody>
      </p:sp>
      <p:sp>
        <p:nvSpPr>
          <p:cNvPr id="8" name="Rectangle 7">
            <a:extLst>
              <a:ext uri="{FF2B5EF4-FFF2-40B4-BE49-F238E27FC236}">
                <a16:creationId xmlns:a16="http://schemas.microsoft.com/office/drawing/2014/main" id="{CE2CD1C5-E33C-4CB6-9450-1F8203A4AE47}"/>
              </a:ext>
            </a:extLst>
          </p:cNvPr>
          <p:cNvSpPr/>
          <p:nvPr/>
        </p:nvSpPr>
        <p:spPr>
          <a:xfrm>
            <a:off x="8130838" y="4198031"/>
            <a:ext cx="3679872" cy="203914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a:lnSpc>
                <a:spcPct val="110000"/>
              </a:lnSpc>
            </a:pPr>
            <a:r>
              <a:rPr lang="en-US" sz="1961" b="1">
                <a:solidFill>
                  <a:schemeClr val="tx1"/>
                </a:solidFill>
                <a:latin typeface="+mj-lt"/>
              </a:rPr>
              <a:t>Application rules</a:t>
            </a:r>
            <a:r>
              <a:rPr lang="en-US" sz="1961">
                <a:solidFill>
                  <a:schemeClr val="tx1"/>
                </a:solidFill>
                <a:latin typeface="+mj-lt"/>
              </a:rPr>
              <a:t>. </a:t>
            </a:r>
            <a:r>
              <a:rPr lang="en-US" sz="1961">
                <a:solidFill>
                  <a:schemeClr val="tx1"/>
                </a:solidFill>
              </a:rPr>
              <a:t>Configure fully qualified domain names (FQDNs) that can be accessed from a subnet</a:t>
            </a:r>
          </a:p>
        </p:txBody>
      </p:sp>
    </p:spTree>
    <p:extLst>
      <p:ext uri="{BB962C8B-B14F-4D97-AF65-F5344CB8AC3E}">
        <p14:creationId xmlns:p14="http://schemas.microsoft.com/office/powerpoint/2010/main" val="274994982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B9191-778E-4E9E-89AE-C386C2C7C6DE}"/>
              </a:ext>
            </a:extLst>
          </p:cNvPr>
          <p:cNvSpPr txBox="1">
            <a:spLocks noGrp="1"/>
          </p:cNvSpPr>
          <p:nvPr>
            <p:ph type="title" idx="4294967295"/>
          </p:nvPr>
        </p:nvSpPr>
        <p:spPr>
          <a:xfrm>
            <a:off x="280594" y="319544"/>
            <a:ext cx="6832085" cy="448212"/>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61" b="0" i="0" u="none" strike="noStrike" kern="1200" cap="none" spc="0" normalizeH="0" baseline="0" noProof="0" dirty="0">
                <a:ln>
                  <a:noFill/>
                </a:ln>
                <a:solidFill>
                  <a:schemeClr val="tx1"/>
                </a:solidFill>
                <a:effectLst/>
                <a:uLnTx/>
                <a:uFillTx/>
                <a:latin typeface="+mn-lt"/>
                <a:ea typeface="+mn-ea"/>
                <a:cs typeface="Segoe UI Semilight"/>
              </a:rPr>
              <a:t>Deploying Azure Firewall in the Azure portal </a:t>
            </a:r>
          </a:p>
        </p:txBody>
      </p:sp>
      <p:sp>
        <p:nvSpPr>
          <p:cNvPr id="5" name="TextBox 4">
            <a:extLst>
              <a:ext uri="{FF2B5EF4-FFF2-40B4-BE49-F238E27FC236}">
                <a16:creationId xmlns:a16="http://schemas.microsoft.com/office/drawing/2014/main" id="{25AA017F-1E19-42EF-BD51-3F77A899F965}"/>
              </a:ext>
            </a:extLst>
          </p:cNvPr>
          <p:cNvSpPr txBox="1"/>
          <p:nvPr/>
        </p:nvSpPr>
        <p:spPr>
          <a:xfrm>
            <a:off x="549350" y="850017"/>
            <a:ext cx="4928701" cy="5078313"/>
          </a:xfrm>
          <a:prstGeom prst="rect">
            <a:avLst/>
          </a:prstGeom>
          <a:solidFill>
            <a:schemeClr val="bg2"/>
          </a:solidFill>
        </p:spPr>
        <p:txBody>
          <a:bodyPr wrap="square" rtlCol="0">
            <a:spAutoFit/>
          </a:bodyPr>
          <a:lstStyle/>
          <a:p>
            <a:r>
              <a:rPr lang="en-US" b="1" dirty="0"/>
              <a:t>On the Create a Firewall page enter the following:</a:t>
            </a:r>
          </a:p>
          <a:p>
            <a:endParaRPr lang="en-US" dirty="0"/>
          </a:p>
          <a:p>
            <a:r>
              <a:rPr lang="en-US" dirty="0"/>
              <a:t>Subscription</a:t>
            </a:r>
          </a:p>
          <a:p>
            <a:endParaRPr lang="en-US" dirty="0"/>
          </a:p>
          <a:p>
            <a:r>
              <a:rPr lang="en-US" dirty="0"/>
              <a:t>Resource Group </a:t>
            </a:r>
          </a:p>
          <a:p>
            <a:endParaRPr lang="en-US" dirty="0"/>
          </a:p>
          <a:p>
            <a:r>
              <a:rPr lang="en-US" dirty="0"/>
              <a:t>Instance Name, region and Availability Zone if any</a:t>
            </a:r>
          </a:p>
          <a:p>
            <a:endParaRPr lang="en-US" dirty="0"/>
          </a:p>
          <a:p>
            <a:r>
              <a:rPr lang="en-US" dirty="0"/>
              <a:t>Firewall tier </a:t>
            </a:r>
          </a:p>
          <a:p>
            <a:endParaRPr lang="en-US" dirty="0"/>
          </a:p>
          <a:p>
            <a:r>
              <a:rPr lang="en-US" dirty="0"/>
              <a:t>Firewall management</a:t>
            </a:r>
          </a:p>
          <a:p>
            <a:endParaRPr lang="en-US" dirty="0"/>
          </a:p>
          <a:p>
            <a:r>
              <a:rPr lang="en-US" dirty="0"/>
              <a:t>Firewall Policy </a:t>
            </a:r>
          </a:p>
          <a:p>
            <a:endParaRPr lang="en-US" dirty="0"/>
          </a:p>
          <a:p>
            <a:r>
              <a:rPr lang="en-US" dirty="0"/>
              <a:t>Choose a virtual network </a:t>
            </a:r>
          </a:p>
          <a:p>
            <a:r>
              <a:rPr lang="en-US" dirty="0"/>
              <a:t>	</a:t>
            </a:r>
          </a:p>
          <a:p>
            <a:r>
              <a:rPr lang="en-US" dirty="0"/>
              <a:t>Forced tunneling </a:t>
            </a:r>
          </a:p>
          <a:p>
            <a:endParaRPr lang="en-US" dirty="0"/>
          </a:p>
        </p:txBody>
      </p:sp>
      <p:sp>
        <p:nvSpPr>
          <p:cNvPr id="3" name="Rectangle 2">
            <a:extLst>
              <a:ext uri="{FF2B5EF4-FFF2-40B4-BE49-F238E27FC236}">
                <a16:creationId xmlns:a16="http://schemas.microsoft.com/office/drawing/2014/main" id="{BCF6B8A2-1461-4C35-ABCC-B0150B728946}"/>
              </a:ext>
              <a:ext uri="{C183D7F6-B498-43B3-948B-1728B52AA6E4}">
                <adec:decorative xmlns:adec="http://schemas.microsoft.com/office/drawing/2017/decorative" val="1"/>
              </a:ext>
            </a:extLst>
          </p:cNvPr>
          <p:cNvSpPr/>
          <p:nvPr/>
        </p:nvSpPr>
        <p:spPr bwMode="auto">
          <a:xfrm>
            <a:off x="6713950" y="0"/>
            <a:ext cx="5248405" cy="6858000"/>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Azure portal screenshot creating Azure Firewall ">
            <a:extLst>
              <a:ext uri="{FF2B5EF4-FFF2-40B4-BE49-F238E27FC236}">
                <a16:creationId xmlns:a16="http://schemas.microsoft.com/office/drawing/2014/main" id="{56236BD8-7EDF-41AC-8558-2DED669E5496}"/>
              </a:ext>
            </a:extLst>
          </p:cNvPr>
          <p:cNvPicPr>
            <a:picLocks noChangeAspect="1"/>
          </p:cNvPicPr>
          <p:nvPr/>
        </p:nvPicPr>
        <p:blipFill>
          <a:blip r:embed="rId3"/>
          <a:stretch>
            <a:fillRect/>
          </a:stretch>
        </p:blipFill>
        <p:spPr>
          <a:xfrm>
            <a:off x="7112679" y="0"/>
            <a:ext cx="5079321" cy="6858000"/>
          </a:xfrm>
          <a:prstGeom prst="rect">
            <a:avLst/>
          </a:prstGeom>
        </p:spPr>
      </p:pic>
    </p:spTree>
    <p:extLst>
      <p:ext uri="{BB962C8B-B14F-4D97-AF65-F5344CB8AC3E}">
        <p14:creationId xmlns:p14="http://schemas.microsoft.com/office/powerpoint/2010/main" val="312480690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4BEE9-E5E3-4336-BA26-8B078D3D7218}"/>
              </a:ext>
            </a:extLst>
          </p:cNvPr>
          <p:cNvSpPr>
            <a:spLocks noGrp="1"/>
          </p:cNvSpPr>
          <p:nvPr>
            <p:ph type="title"/>
          </p:nvPr>
        </p:nvSpPr>
        <p:spPr/>
        <p:txBody>
          <a:bodyPr/>
          <a:lstStyle/>
          <a:p>
            <a:r>
              <a:rPr lang="en-US" sz="2800">
                <a:cs typeface="Segoe UI Semilight"/>
              </a:rPr>
              <a:t>Deploying Azure Firewall in a Hub-Spoke network topology  </a:t>
            </a:r>
          </a:p>
        </p:txBody>
      </p:sp>
      <p:sp>
        <p:nvSpPr>
          <p:cNvPr id="9" name="Rectangle 8">
            <a:extLst>
              <a:ext uri="{FF2B5EF4-FFF2-40B4-BE49-F238E27FC236}">
                <a16:creationId xmlns:a16="http://schemas.microsoft.com/office/drawing/2014/main" id="{39FD55CA-F157-4619-9C25-3FFA28FD8D6E}"/>
              </a:ext>
              <a:ext uri="{C183D7F6-B498-43B3-948B-1728B52AA6E4}">
                <adec:decorative xmlns:adec="http://schemas.microsoft.com/office/drawing/2017/decorative" val="1"/>
              </a:ext>
            </a:extLst>
          </p:cNvPr>
          <p:cNvSpPr/>
          <p:nvPr/>
        </p:nvSpPr>
        <p:spPr bwMode="auto">
          <a:xfrm>
            <a:off x="572187" y="1169263"/>
            <a:ext cx="11071799" cy="358132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1" name="Rectangle 10">
            <a:extLst>
              <a:ext uri="{FF2B5EF4-FFF2-40B4-BE49-F238E27FC236}">
                <a16:creationId xmlns:a16="http://schemas.microsoft.com/office/drawing/2014/main" id="{EBF8C227-E4E2-4445-A9AF-7C8EC0933E52}"/>
              </a:ext>
            </a:extLst>
          </p:cNvPr>
          <p:cNvSpPr/>
          <p:nvPr/>
        </p:nvSpPr>
        <p:spPr>
          <a:xfrm>
            <a:off x="685848" y="4998548"/>
            <a:ext cx="3412160" cy="98385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A Hub-Spoke network topology is recommended</a:t>
            </a:r>
          </a:p>
        </p:txBody>
      </p:sp>
      <p:sp>
        <p:nvSpPr>
          <p:cNvPr id="12" name="Rectangle 11">
            <a:extLst>
              <a:ext uri="{FF2B5EF4-FFF2-40B4-BE49-F238E27FC236}">
                <a16:creationId xmlns:a16="http://schemas.microsoft.com/office/drawing/2014/main" id="{37D6B01C-0E1A-431E-ABBF-2C2668E74CF6}"/>
              </a:ext>
            </a:extLst>
          </p:cNvPr>
          <p:cNvSpPr/>
          <p:nvPr/>
        </p:nvSpPr>
        <p:spPr>
          <a:xfrm>
            <a:off x="4382451" y="4998547"/>
            <a:ext cx="3412160" cy="98385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Shared services are placed in the hub virtual network</a:t>
            </a:r>
          </a:p>
        </p:txBody>
      </p:sp>
      <p:sp>
        <p:nvSpPr>
          <p:cNvPr id="13" name="Rectangle 12">
            <a:extLst>
              <a:ext uri="{FF2B5EF4-FFF2-40B4-BE49-F238E27FC236}">
                <a16:creationId xmlns:a16="http://schemas.microsoft.com/office/drawing/2014/main" id="{C28CC056-FD60-4626-8428-503313FDB51E}"/>
              </a:ext>
            </a:extLst>
          </p:cNvPr>
          <p:cNvSpPr/>
          <p:nvPr/>
        </p:nvSpPr>
        <p:spPr>
          <a:xfrm>
            <a:off x="8079053" y="4998547"/>
            <a:ext cx="3412160" cy="98385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Each environment is deployed to a spoke to maintain isolation</a:t>
            </a:r>
          </a:p>
        </p:txBody>
      </p:sp>
      <p:pic>
        <p:nvPicPr>
          <p:cNvPr id="1026" name="Picture 2" descr="Diagram of an on-premises network using a hub virtual network (with Firewall) to access spoke virtual networks. VNet peering is used between the hub and spokes. ">
            <a:extLst>
              <a:ext uri="{FF2B5EF4-FFF2-40B4-BE49-F238E27FC236}">
                <a16:creationId xmlns:a16="http://schemas.microsoft.com/office/drawing/2014/main" id="{EAC11EDD-426D-42EC-8E29-EE9E78B18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630" y="1370981"/>
            <a:ext cx="10425874" cy="3177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92750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450A-A1DD-4128-B661-8A9FA829DAE7}"/>
              </a:ext>
            </a:extLst>
          </p:cNvPr>
          <p:cNvSpPr>
            <a:spLocks noGrp="1"/>
          </p:cNvSpPr>
          <p:nvPr>
            <p:ph type="title"/>
          </p:nvPr>
        </p:nvSpPr>
        <p:spPr>
          <a:xfrm>
            <a:off x="424090" y="466096"/>
            <a:ext cx="11343820" cy="397545"/>
          </a:xfrm>
        </p:spPr>
        <p:txBody>
          <a:bodyPr/>
          <a:lstStyle/>
          <a:p>
            <a:r>
              <a:rPr lang="en-US" dirty="0">
                <a:cs typeface="Segoe UI Semilight"/>
              </a:rPr>
              <a:t>Compare Azure Firewall to NSGs</a:t>
            </a:r>
            <a:endParaRPr lang="en-US" dirty="0"/>
          </a:p>
        </p:txBody>
      </p:sp>
      <p:graphicFrame>
        <p:nvGraphicFramePr>
          <p:cNvPr id="3" name="Table 3">
            <a:extLst>
              <a:ext uri="{FF2B5EF4-FFF2-40B4-BE49-F238E27FC236}">
                <a16:creationId xmlns:a16="http://schemas.microsoft.com/office/drawing/2014/main" id="{F0183DDC-3362-4F3E-AE87-B688ED45A90A}"/>
              </a:ext>
            </a:extLst>
          </p:cNvPr>
          <p:cNvGraphicFramePr>
            <a:graphicFrameLocks noGrp="1"/>
          </p:cNvGraphicFramePr>
          <p:nvPr>
            <p:extLst>
              <p:ext uri="{D42A27DB-BD31-4B8C-83A1-F6EECF244321}">
                <p14:modId xmlns:p14="http://schemas.microsoft.com/office/powerpoint/2010/main" val="4119708996"/>
              </p:ext>
            </p:extLst>
          </p:nvPr>
        </p:nvGraphicFramePr>
        <p:xfrm>
          <a:off x="545432" y="1315453"/>
          <a:ext cx="11069051" cy="4924926"/>
        </p:xfrm>
        <a:graphic>
          <a:graphicData uri="http://schemas.openxmlformats.org/drawingml/2006/table">
            <a:tbl>
              <a:tblPr firstRow="1" bandRow="1">
                <a:tableStyleId>{5C22544A-7EE6-4342-B048-85BDC9FD1C3A}</a:tableStyleId>
              </a:tblPr>
              <a:tblGrid>
                <a:gridCol w="5075069">
                  <a:extLst>
                    <a:ext uri="{9D8B030D-6E8A-4147-A177-3AD203B41FA5}">
                      <a16:colId xmlns:a16="http://schemas.microsoft.com/office/drawing/2014/main" val="3464068668"/>
                    </a:ext>
                  </a:extLst>
                </a:gridCol>
                <a:gridCol w="2996991">
                  <a:extLst>
                    <a:ext uri="{9D8B030D-6E8A-4147-A177-3AD203B41FA5}">
                      <a16:colId xmlns:a16="http://schemas.microsoft.com/office/drawing/2014/main" val="3620809623"/>
                    </a:ext>
                  </a:extLst>
                </a:gridCol>
                <a:gridCol w="2996991">
                  <a:extLst>
                    <a:ext uri="{9D8B030D-6E8A-4147-A177-3AD203B41FA5}">
                      <a16:colId xmlns:a16="http://schemas.microsoft.com/office/drawing/2014/main" val="159071303"/>
                    </a:ext>
                  </a:extLst>
                </a:gridCol>
              </a:tblGrid>
              <a:tr h="820821">
                <a:tc>
                  <a:txBody>
                    <a:bodyPr/>
                    <a:lstStyle/>
                    <a:p>
                      <a:endParaRPr lang="en-US" dirty="0"/>
                    </a:p>
                  </a:txBody>
                  <a:tcPr/>
                </a:tc>
                <a:tc>
                  <a:txBody>
                    <a:bodyPr/>
                    <a:lstStyle/>
                    <a:p>
                      <a:r>
                        <a:rPr lang="en-US" dirty="0"/>
                        <a:t>NSG</a:t>
                      </a:r>
                    </a:p>
                  </a:txBody>
                  <a:tcPr/>
                </a:tc>
                <a:tc>
                  <a:txBody>
                    <a:bodyPr/>
                    <a:lstStyle/>
                    <a:p>
                      <a:r>
                        <a:rPr lang="en-US" dirty="0"/>
                        <a:t>Azure Firewall </a:t>
                      </a:r>
                    </a:p>
                  </a:txBody>
                  <a:tcPr/>
                </a:tc>
                <a:extLst>
                  <a:ext uri="{0D108BD9-81ED-4DB2-BD59-A6C34878D82A}">
                    <a16:rowId xmlns:a16="http://schemas.microsoft.com/office/drawing/2014/main" val="4117498921"/>
                  </a:ext>
                </a:extLst>
              </a:tr>
              <a:tr h="820821">
                <a:tc>
                  <a:txBody>
                    <a:bodyPr/>
                    <a:lstStyle/>
                    <a:p>
                      <a:r>
                        <a:rPr lang="en-US" dirty="0"/>
                        <a:t>Protocol based traffic filtering </a:t>
                      </a:r>
                    </a:p>
                  </a:txBody>
                  <a:tcPr/>
                </a:tc>
                <a:tc>
                  <a:txBody>
                    <a:bodyPr/>
                    <a:lstStyle/>
                    <a:p>
                      <a:r>
                        <a:rPr lang="en-US" dirty="0"/>
                        <a:t>Yes</a:t>
                      </a:r>
                    </a:p>
                  </a:txBody>
                  <a:tcPr/>
                </a:tc>
                <a:tc>
                  <a:txBody>
                    <a:bodyPr/>
                    <a:lstStyle/>
                    <a:p>
                      <a:r>
                        <a:rPr lang="en-US" dirty="0"/>
                        <a:t>Yes </a:t>
                      </a:r>
                    </a:p>
                  </a:txBody>
                  <a:tcPr/>
                </a:tc>
                <a:extLst>
                  <a:ext uri="{0D108BD9-81ED-4DB2-BD59-A6C34878D82A}">
                    <a16:rowId xmlns:a16="http://schemas.microsoft.com/office/drawing/2014/main" val="3658781707"/>
                  </a:ext>
                </a:extLst>
              </a:tr>
              <a:tr h="820821">
                <a:tc>
                  <a:txBody>
                    <a:bodyPr/>
                    <a:lstStyle/>
                    <a:p>
                      <a:r>
                        <a:rPr lang="en-US" dirty="0"/>
                        <a:t>Support Service Tags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Yes</a:t>
                      </a:r>
                    </a:p>
                    <a:p>
                      <a:endParaRPr lang="en-US" dirty="0"/>
                    </a:p>
                  </a:txBody>
                  <a:tcPr/>
                </a:tc>
                <a:tc>
                  <a:txBody>
                    <a:bodyPr/>
                    <a:lstStyle/>
                    <a:p>
                      <a:r>
                        <a:rPr lang="en-US" dirty="0"/>
                        <a:t>Yes</a:t>
                      </a:r>
                    </a:p>
                  </a:txBody>
                  <a:tcPr/>
                </a:tc>
                <a:extLst>
                  <a:ext uri="{0D108BD9-81ED-4DB2-BD59-A6C34878D82A}">
                    <a16:rowId xmlns:a16="http://schemas.microsoft.com/office/drawing/2014/main" val="1544998975"/>
                  </a:ext>
                </a:extLst>
              </a:tr>
              <a:tr h="820821">
                <a:tc>
                  <a:txBody>
                    <a:bodyPr/>
                    <a:lstStyle/>
                    <a:p>
                      <a:r>
                        <a:rPr lang="en-US" dirty="0"/>
                        <a:t>Support Application FQDN Tags</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3799218619"/>
                  </a:ext>
                </a:extLst>
              </a:tr>
              <a:tr h="820821">
                <a:tc>
                  <a:txBody>
                    <a:bodyPr/>
                    <a:lstStyle/>
                    <a:p>
                      <a:r>
                        <a:rPr lang="en-US" dirty="0"/>
                        <a:t>Integrated with Azure Monitor for diagnostic logging </a:t>
                      </a:r>
                    </a:p>
                  </a:txBody>
                  <a:tcPr/>
                </a:tc>
                <a:tc>
                  <a:txBody>
                    <a:bodyPr/>
                    <a:lstStyle/>
                    <a:p>
                      <a:r>
                        <a:rPr lang="en-US" dirty="0"/>
                        <a:t>Yes</a:t>
                      </a:r>
                    </a:p>
                  </a:txBody>
                  <a:tcPr/>
                </a:tc>
                <a:tc>
                  <a:txBody>
                    <a:bodyPr/>
                    <a:lstStyle/>
                    <a:p>
                      <a:r>
                        <a:rPr lang="en-US" dirty="0"/>
                        <a:t>Yes</a:t>
                      </a:r>
                    </a:p>
                  </a:txBody>
                  <a:tcPr/>
                </a:tc>
                <a:extLst>
                  <a:ext uri="{0D108BD9-81ED-4DB2-BD59-A6C34878D82A}">
                    <a16:rowId xmlns:a16="http://schemas.microsoft.com/office/drawing/2014/main" val="1744103820"/>
                  </a:ext>
                </a:extLst>
              </a:tr>
              <a:tr h="820821">
                <a:tc>
                  <a:txBody>
                    <a:bodyPr/>
                    <a:lstStyle/>
                    <a:p>
                      <a:r>
                        <a:rPr lang="en-US" dirty="0"/>
                        <a:t>SNAT and DNAT support</a:t>
                      </a:r>
                    </a:p>
                  </a:txBody>
                  <a:tcPr/>
                </a:tc>
                <a:tc>
                  <a:txBody>
                    <a:bodyPr/>
                    <a:lstStyle/>
                    <a:p>
                      <a:r>
                        <a:rPr lang="en-US" dirty="0"/>
                        <a:t>No</a:t>
                      </a:r>
                    </a:p>
                  </a:txBody>
                  <a:tcPr/>
                </a:tc>
                <a:tc>
                  <a:txBody>
                    <a:bodyPr/>
                    <a:lstStyle/>
                    <a:p>
                      <a:r>
                        <a:rPr lang="en-US" dirty="0"/>
                        <a:t>Yes </a:t>
                      </a:r>
                    </a:p>
                  </a:txBody>
                  <a:tcPr/>
                </a:tc>
                <a:extLst>
                  <a:ext uri="{0D108BD9-81ED-4DB2-BD59-A6C34878D82A}">
                    <a16:rowId xmlns:a16="http://schemas.microsoft.com/office/drawing/2014/main" val="3667236533"/>
                  </a:ext>
                </a:extLst>
              </a:tr>
            </a:tbl>
          </a:graphicData>
        </a:graphic>
      </p:graphicFrame>
    </p:spTree>
    <p:extLst>
      <p:ext uri="{BB962C8B-B14F-4D97-AF65-F5344CB8AC3E}">
        <p14:creationId xmlns:p14="http://schemas.microsoft.com/office/powerpoint/2010/main" val="261076129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Design and implement Azure Firewall </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E5519272-442E-4B3F-8E38-0B33F266FD85}"/>
              </a:ext>
            </a:extLst>
          </p:cNvPr>
          <p:cNvSpPr txBox="1"/>
          <p:nvPr/>
        </p:nvSpPr>
        <p:spPr>
          <a:xfrm>
            <a:off x="4172422" y="2216685"/>
            <a:ext cx="6099048" cy="369332"/>
          </a:xfrm>
          <a:prstGeom prst="rect">
            <a:avLst/>
          </a:prstGeom>
          <a:noFill/>
        </p:spPr>
        <p:txBody>
          <a:bodyPr wrap="square">
            <a:spAutoFit/>
          </a:bodyPr>
          <a:lstStyle/>
          <a:p>
            <a:r>
              <a:rPr lang="en-US">
                <a:hlinkClick r:id="rId4"/>
              </a:rPr>
              <a:t>What is Azure Firewall? | Microsoft Docs</a:t>
            </a:r>
            <a:endParaRPr lang="en-US" dirty="0"/>
          </a:p>
        </p:txBody>
      </p:sp>
      <p:sp>
        <p:nvSpPr>
          <p:cNvPr id="13" name="TextBox 12">
            <a:extLst>
              <a:ext uri="{FF2B5EF4-FFF2-40B4-BE49-F238E27FC236}">
                <a16:creationId xmlns:a16="http://schemas.microsoft.com/office/drawing/2014/main" id="{0CF39038-D13E-425C-9153-1505D6AE3B46}"/>
              </a:ext>
            </a:extLst>
          </p:cNvPr>
          <p:cNvSpPr txBox="1"/>
          <p:nvPr/>
        </p:nvSpPr>
        <p:spPr>
          <a:xfrm>
            <a:off x="4172422" y="2920536"/>
            <a:ext cx="6099048" cy="369332"/>
          </a:xfrm>
          <a:prstGeom prst="rect">
            <a:avLst/>
          </a:prstGeom>
          <a:noFill/>
        </p:spPr>
        <p:txBody>
          <a:bodyPr wrap="square">
            <a:spAutoFit/>
          </a:bodyPr>
          <a:lstStyle/>
          <a:p>
            <a:r>
              <a:rPr lang="en-US" dirty="0">
                <a:hlinkClick r:id="rId5"/>
              </a:rPr>
              <a:t>Azure Firewall features | Microsoft Docs</a:t>
            </a:r>
            <a:endParaRPr lang="en-US" dirty="0"/>
          </a:p>
        </p:txBody>
      </p:sp>
    </p:spTree>
    <p:extLst>
      <p:ext uri="{BB962C8B-B14F-4D97-AF65-F5344CB8AC3E}">
        <p14:creationId xmlns:p14="http://schemas.microsoft.com/office/powerpoint/2010/main" val="300980218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E10144-3967-4BDA-9C5B-CFEA6C6FA337}"/>
              </a:ext>
            </a:extLst>
          </p:cNvPr>
          <p:cNvSpPr>
            <a:spLocks noGrp="1"/>
          </p:cNvSpPr>
          <p:nvPr>
            <p:ph type="title"/>
          </p:nvPr>
        </p:nvSpPr>
        <p:spPr>
          <a:xfrm>
            <a:off x="585217" y="2940213"/>
            <a:ext cx="8892608" cy="977575"/>
          </a:xfrm>
        </p:spPr>
        <p:txBody>
          <a:bodyPr/>
          <a:lstStyle/>
          <a:p>
            <a:r>
              <a:rPr lang="en-US" dirty="0"/>
              <a:t>Lesson 06: Exercise - Deploy and configure Azure Firewall using the Azure portal</a:t>
            </a:r>
          </a:p>
        </p:txBody>
      </p:sp>
      <p:pic>
        <p:nvPicPr>
          <p:cNvPr id="7" name="Picture 6" descr="Icon of three concentric arcs">
            <a:extLst>
              <a:ext uri="{FF2B5EF4-FFF2-40B4-BE49-F238E27FC236}">
                <a16:creationId xmlns:a16="http://schemas.microsoft.com/office/drawing/2014/main" id="{2C182C5D-DC3A-425F-B14D-7009EE620ED3}"/>
              </a:ext>
            </a:extLst>
          </p:cNvPr>
          <p:cNvPicPr>
            <a:picLocks noChangeAspect="1"/>
          </p:cNvPicPr>
          <p:nvPr/>
        </p:nvPicPr>
        <p:blipFill>
          <a:blip r:embed="rId3"/>
          <a:stretch>
            <a:fillRect/>
          </a:stretch>
        </p:blipFill>
        <p:spPr>
          <a:xfrm>
            <a:off x="10187387" y="2940213"/>
            <a:ext cx="1014014" cy="1038170"/>
          </a:xfrm>
          <a:prstGeom prst="rect">
            <a:avLst/>
          </a:prstGeom>
        </p:spPr>
      </p:pic>
    </p:spTree>
    <p:extLst>
      <p:ext uri="{BB962C8B-B14F-4D97-AF65-F5344CB8AC3E}">
        <p14:creationId xmlns:p14="http://schemas.microsoft.com/office/powerpoint/2010/main" val="382659619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A32F-C49A-45DC-93BC-08C5243426CA}"/>
              </a:ext>
            </a:extLst>
          </p:cNvPr>
          <p:cNvSpPr>
            <a:spLocks noGrp="1"/>
          </p:cNvSpPr>
          <p:nvPr>
            <p:ph type="title"/>
          </p:nvPr>
        </p:nvSpPr>
        <p:spPr/>
        <p:txBody>
          <a:bodyPr/>
          <a:lstStyle/>
          <a:p>
            <a:r>
              <a:rPr lang="en-US" dirty="0"/>
              <a:t>Exercise - Deploy and configure Azure Firewall using the Azure portal</a:t>
            </a:r>
          </a:p>
        </p:txBody>
      </p:sp>
      <p:sp>
        <p:nvSpPr>
          <p:cNvPr id="4" name="Rectangle 3">
            <a:extLst>
              <a:ext uri="{FF2B5EF4-FFF2-40B4-BE49-F238E27FC236}">
                <a16:creationId xmlns:a16="http://schemas.microsoft.com/office/drawing/2014/main" id="{9225124D-353B-4FB1-AB0A-A002CA21F81A}"/>
              </a:ext>
            </a:extLst>
          </p:cNvPr>
          <p:cNvSpPr/>
          <p:nvPr/>
        </p:nvSpPr>
        <p:spPr>
          <a:xfrm>
            <a:off x="424090" y="1261906"/>
            <a:ext cx="6217342" cy="52592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l">
              <a:lnSpc>
                <a:spcPct val="150000"/>
              </a:lnSpc>
            </a:pPr>
            <a:r>
              <a:rPr lang="en-US" b="0" i="0" dirty="0">
                <a:solidFill>
                  <a:srgbClr val="24292E"/>
                </a:solidFill>
                <a:effectLst/>
                <a:latin typeface="-apple-system"/>
              </a:rPr>
              <a:t>Task 1: Create a resource group</a:t>
            </a:r>
          </a:p>
          <a:p>
            <a:pPr algn="l">
              <a:lnSpc>
                <a:spcPct val="150000"/>
              </a:lnSpc>
            </a:pPr>
            <a:r>
              <a:rPr lang="en-US" b="0" i="0" dirty="0">
                <a:solidFill>
                  <a:srgbClr val="24292E"/>
                </a:solidFill>
                <a:effectLst/>
                <a:latin typeface="-apple-system"/>
              </a:rPr>
              <a:t>Task 2: Create a virtual network and subnets</a:t>
            </a:r>
          </a:p>
          <a:p>
            <a:pPr algn="l">
              <a:lnSpc>
                <a:spcPct val="150000"/>
              </a:lnSpc>
            </a:pPr>
            <a:r>
              <a:rPr lang="en-US" b="0" i="0" dirty="0">
                <a:solidFill>
                  <a:srgbClr val="24292E"/>
                </a:solidFill>
                <a:effectLst/>
                <a:latin typeface="-apple-system"/>
              </a:rPr>
              <a:t>Task 3: Create a virtual machine</a:t>
            </a:r>
          </a:p>
          <a:p>
            <a:pPr algn="l">
              <a:lnSpc>
                <a:spcPct val="150000"/>
              </a:lnSpc>
            </a:pPr>
            <a:r>
              <a:rPr lang="en-US" b="0" i="0" dirty="0">
                <a:solidFill>
                  <a:srgbClr val="24292E"/>
                </a:solidFill>
                <a:effectLst/>
                <a:latin typeface="-apple-system"/>
              </a:rPr>
              <a:t>Task 4: Deploy the firewall and firewall policy</a:t>
            </a:r>
          </a:p>
          <a:p>
            <a:pPr algn="l">
              <a:lnSpc>
                <a:spcPct val="150000"/>
              </a:lnSpc>
            </a:pPr>
            <a:r>
              <a:rPr lang="en-US" b="0" i="0" dirty="0">
                <a:solidFill>
                  <a:srgbClr val="24292E"/>
                </a:solidFill>
                <a:effectLst/>
                <a:latin typeface="-apple-system"/>
              </a:rPr>
              <a:t>Task 5: Create a default route</a:t>
            </a:r>
          </a:p>
          <a:p>
            <a:pPr algn="l">
              <a:lnSpc>
                <a:spcPct val="150000"/>
              </a:lnSpc>
            </a:pPr>
            <a:r>
              <a:rPr lang="en-US" b="0" i="0" dirty="0">
                <a:solidFill>
                  <a:srgbClr val="24292E"/>
                </a:solidFill>
                <a:effectLst/>
                <a:latin typeface="-apple-system"/>
              </a:rPr>
              <a:t>Task 6: Configure an application rule</a:t>
            </a:r>
          </a:p>
          <a:p>
            <a:pPr algn="l">
              <a:lnSpc>
                <a:spcPct val="150000"/>
              </a:lnSpc>
            </a:pPr>
            <a:r>
              <a:rPr lang="en-US" b="0" i="0" dirty="0">
                <a:solidFill>
                  <a:srgbClr val="24292E"/>
                </a:solidFill>
                <a:effectLst/>
                <a:latin typeface="-apple-system"/>
              </a:rPr>
              <a:t>Task 7: Configure a network rule</a:t>
            </a:r>
          </a:p>
          <a:p>
            <a:pPr algn="l">
              <a:lnSpc>
                <a:spcPct val="150000"/>
              </a:lnSpc>
            </a:pPr>
            <a:r>
              <a:rPr lang="en-US" b="0" i="0" dirty="0">
                <a:solidFill>
                  <a:srgbClr val="24292E"/>
                </a:solidFill>
                <a:effectLst/>
                <a:latin typeface="-apple-system"/>
              </a:rPr>
              <a:t>Task 8: Configure a Destination NAT (DNAT) rule</a:t>
            </a:r>
          </a:p>
          <a:p>
            <a:pPr algn="l">
              <a:lnSpc>
                <a:spcPct val="150000"/>
              </a:lnSpc>
            </a:pPr>
            <a:r>
              <a:rPr lang="en-US" b="0" i="0" dirty="0">
                <a:solidFill>
                  <a:srgbClr val="24292E"/>
                </a:solidFill>
                <a:effectLst/>
                <a:latin typeface="-apple-system"/>
              </a:rPr>
              <a:t>Task 9: Change the primary and secondary DNS address for the server's network interface</a:t>
            </a:r>
          </a:p>
          <a:p>
            <a:pPr algn="l">
              <a:lnSpc>
                <a:spcPct val="150000"/>
              </a:lnSpc>
            </a:pPr>
            <a:r>
              <a:rPr lang="en-US" b="0" i="0" dirty="0">
                <a:solidFill>
                  <a:srgbClr val="24292E"/>
                </a:solidFill>
                <a:effectLst/>
                <a:latin typeface="-apple-system"/>
              </a:rPr>
              <a:t>Task 10: Test the firewall</a:t>
            </a:r>
          </a:p>
          <a:p>
            <a:pPr algn="l">
              <a:lnSpc>
                <a:spcPct val="150000"/>
              </a:lnSpc>
            </a:pPr>
            <a:r>
              <a:rPr lang="en-US" b="0" i="0" dirty="0">
                <a:solidFill>
                  <a:srgbClr val="24292E"/>
                </a:solidFill>
                <a:effectLst/>
                <a:latin typeface="-apple-system"/>
              </a:rPr>
              <a:t>Task 11: Clean up resources</a:t>
            </a:r>
          </a:p>
        </p:txBody>
      </p:sp>
      <p:pic>
        <p:nvPicPr>
          <p:cNvPr id="6" name="Graphic 5">
            <a:extLst>
              <a:ext uri="{FF2B5EF4-FFF2-40B4-BE49-F238E27FC236}">
                <a16:creationId xmlns:a16="http://schemas.microsoft.com/office/drawing/2014/main" id="{2E5C5DFE-744A-4E9E-977C-3160158543B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35614" y="278494"/>
            <a:ext cx="1175885" cy="1175885"/>
          </a:xfrm>
          <a:prstGeom prst="rect">
            <a:avLst/>
          </a:prstGeom>
        </p:spPr>
      </p:pic>
    </p:spTree>
    <p:extLst>
      <p:ext uri="{BB962C8B-B14F-4D97-AF65-F5344CB8AC3E}">
        <p14:creationId xmlns:p14="http://schemas.microsoft.com/office/powerpoint/2010/main" val="301707385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Review – </a:t>
            </a:r>
            <a:r>
              <a:rPr lang="en-US" sz="2800" dirty="0"/>
              <a:t>Deploy and configure Azure Firewall using the Azure portal</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0" name="TextBox 9">
            <a:extLst>
              <a:ext uri="{FF2B5EF4-FFF2-40B4-BE49-F238E27FC236}">
                <a16:creationId xmlns:a16="http://schemas.microsoft.com/office/drawing/2014/main" id="{03639F27-B744-47A8-A92F-39317E197F5D}"/>
              </a:ext>
            </a:extLst>
          </p:cNvPr>
          <p:cNvSpPr txBox="1"/>
          <p:nvPr/>
        </p:nvSpPr>
        <p:spPr>
          <a:xfrm>
            <a:off x="4172422" y="2221976"/>
            <a:ext cx="7728552" cy="369332"/>
          </a:xfrm>
          <a:prstGeom prst="rect">
            <a:avLst/>
          </a:prstGeom>
          <a:noFill/>
        </p:spPr>
        <p:txBody>
          <a:bodyPr wrap="square">
            <a:spAutoFit/>
          </a:bodyPr>
          <a:lstStyle/>
          <a:p>
            <a:r>
              <a:rPr lang="en-US" dirty="0">
                <a:hlinkClick r:id="rId4"/>
              </a:rPr>
              <a:t>QuickStart: Create an Azure Firewall and IP Groups - Resource Manager template</a:t>
            </a:r>
            <a:endParaRPr lang="en-US" dirty="0"/>
          </a:p>
        </p:txBody>
      </p:sp>
    </p:spTree>
    <p:extLst>
      <p:ext uri="{BB962C8B-B14F-4D97-AF65-F5344CB8AC3E}">
        <p14:creationId xmlns:p14="http://schemas.microsoft.com/office/powerpoint/2010/main" val="305447320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3179701"/>
            <a:ext cx="8892608" cy="498598"/>
          </a:xfrm>
        </p:spPr>
        <p:txBody>
          <a:bodyPr/>
          <a:lstStyle/>
          <a:p>
            <a:r>
              <a:rPr lang="en-US" dirty="0"/>
              <a:t>Lesson 07: </a:t>
            </a:r>
            <a:r>
              <a:rPr lang="en-US" sz="3600" dirty="0"/>
              <a:t>Working with Azure Firewall Manager</a:t>
            </a:r>
            <a:endParaRPr lang="en-US" dirty="0"/>
          </a:p>
        </p:txBody>
      </p:sp>
      <p:grpSp>
        <p:nvGrpSpPr>
          <p:cNvPr id="4" name="Group 3">
            <a:extLst>
              <a:ext uri="{FF2B5EF4-FFF2-40B4-BE49-F238E27FC236}">
                <a16:creationId xmlns:a16="http://schemas.microsoft.com/office/drawing/2014/main" id="{0CFEA977-9D46-4696-B5AB-66772EF8FC8C}"/>
              </a:ext>
              <a:ext uri="{C183D7F6-B498-43B3-948B-1728B52AA6E4}">
                <adec:decorative xmlns:adec="http://schemas.microsoft.com/office/drawing/2017/decorative" val="1"/>
              </a:ext>
            </a:extLst>
          </p:cNvPr>
          <p:cNvGrpSpPr/>
          <p:nvPr/>
        </p:nvGrpSpPr>
        <p:grpSpPr>
          <a:xfrm>
            <a:off x="10022305" y="2707105"/>
            <a:ext cx="1299411" cy="1335506"/>
            <a:chOff x="6229350" y="1441758"/>
            <a:chExt cx="717140" cy="717242"/>
          </a:xfrm>
        </p:grpSpPr>
        <p:grpSp>
          <p:nvGrpSpPr>
            <p:cNvPr id="5" name="Group 4">
              <a:extLst>
                <a:ext uri="{FF2B5EF4-FFF2-40B4-BE49-F238E27FC236}">
                  <a16:creationId xmlns:a16="http://schemas.microsoft.com/office/drawing/2014/main" id="{5EF9AB5F-7FBA-4790-A88A-4076C16B0A0B}"/>
                </a:ext>
              </a:extLst>
            </p:cNvPr>
            <p:cNvGrpSpPr/>
            <p:nvPr/>
          </p:nvGrpSpPr>
          <p:grpSpPr>
            <a:xfrm>
              <a:off x="6229350" y="1441758"/>
              <a:ext cx="717140" cy="717242"/>
              <a:chOff x="6229350" y="1441758"/>
              <a:chExt cx="717140" cy="717242"/>
            </a:xfrm>
          </p:grpSpPr>
          <p:sp>
            <p:nvSpPr>
              <p:cNvPr id="7" name="Freeform 5">
                <a:extLst>
                  <a:ext uri="{FF2B5EF4-FFF2-40B4-BE49-F238E27FC236}">
                    <a16:creationId xmlns:a16="http://schemas.microsoft.com/office/drawing/2014/main" id="{CC544462-80B9-45AF-9FAA-9DA82C113112}"/>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012BFE2A-1937-4EEE-9813-6C113369D6AE}"/>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concentric arcs">
              <a:extLst>
                <a:ext uri="{FF2B5EF4-FFF2-40B4-BE49-F238E27FC236}">
                  <a16:creationId xmlns:a16="http://schemas.microsoft.com/office/drawing/2014/main" id="{B74FBA33-A085-45FD-9CE3-263854AA1B82}"/>
                </a:ext>
              </a:extLst>
            </p:cNvPr>
            <p:cNvPicPr>
              <a:picLocks noChangeAspect="1"/>
            </p:cNvPicPr>
            <p:nvPr/>
          </p:nvPicPr>
          <p:blipFill>
            <a:blip r:embed="rId2"/>
            <a:stretch>
              <a:fillRect/>
            </a:stretch>
          </p:blipFill>
          <p:spPr>
            <a:xfrm>
              <a:off x="6399474" y="1611934"/>
              <a:ext cx="376892" cy="376890"/>
            </a:xfrm>
            <a:prstGeom prst="rect">
              <a:avLst/>
            </a:prstGeom>
          </p:spPr>
        </p:pic>
      </p:grpSp>
    </p:spTree>
    <p:extLst>
      <p:ext uri="{BB962C8B-B14F-4D97-AF65-F5344CB8AC3E}">
        <p14:creationId xmlns:p14="http://schemas.microsoft.com/office/powerpoint/2010/main" val="50671362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2" y="3088902"/>
            <a:ext cx="2092909" cy="680196"/>
          </a:xfrm>
        </p:spPr>
        <p:txBody>
          <a:bodyPr/>
          <a:lstStyle/>
          <a:p>
            <a:r>
              <a:rPr lang="en-US" dirty="0"/>
              <a:t>Working with Azure Firewall Manager overview </a:t>
            </a:r>
          </a:p>
        </p:txBody>
      </p:sp>
      <p:sp>
        <p:nvSpPr>
          <p:cNvPr id="6" name="Text Placeholder 5"/>
          <p:cNvSpPr>
            <a:spLocks noGrp="1"/>
          </p:cNvSpPr>
          <p:nvPr>
            <p:ph type="body" sz="quarter" idx="11"/>
          </p:nvPr>
        </p:nvSpPr>
        <p:spPr/>
        <p:txBody>
          <a:bodyPr/>
          <a:lstStyle/>
          <a:p>
            <a:pPr lvl="1"/>
            <a:r>
              <a:rPr lang="en-US" dirty="0"/>
              <a:t>Azure Firewall Manager features </a:t>
            </a:r>
          </a:p>
        </p:txBody>
      </p:sp>
      <p:sp>
        <p:nvSpPr>
          <p:cNvPr id="2" name="Text Placeholder 1"/>
          <p:cNvSpPr>
            <a:spLocks noGrp="1"/>
          </p:cNvSpPr>
          <p:nvPr>
            <p:ph type="body" sz="quarter" idx="15"/>
          </p:nvPr>
        </p:nvSpPr>
        <p:spPr/>
        <p:txBody>
          <a:bodyPr/>
          <a:lstStyle/>
          <a:p>
            <a:pPr lvl="1"/>
            <a:r>
              <a:rPr lang="en-US" dirty="0"/>
              <a:t>Azure Firewall Manager policies </a:t>
            </a:r>
          </a:p>
        </p:txBody>
      </p:sp>
      <p:sp>
        <p:nvSpPr>
          <p:cNvPr id="3" name="Text Placeholder 2"/>
          <p:cNvSpPr>
            <a:spLocks noGrp="1"/>
          </p:cNvSpPr>
          <p:nvPr>
            <p:ph type="body" sz="quarter" idx="17"/>
          </p:nvPr>
        </p:nvSpPr>
        <p:spPr/>
        <p:txBody>
          <a:bodyPr/>
          <a:lstStyle/>
          <a:p>
            <a:pPr lvl="1"/>
            <a:r>
              <a:rPr lang="en-US" dirty="0"/>
              <a:t>Azure Firewall Manager for Hub Virtual Networks vs Secured Virtual Hubs </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p:txBody>
          <a:bodyPr/>
          <a:lstStyle/>
          <a:p>
            <a:pPr lvl="1"/>
            <a:r>
              <a:rPr lang="en-US" dirty="0"/>
              <a:t>Using Azure Firewall Manager</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p:txBody>
          <a:bodyPr/>
          <a:lstStyle/>
          <a:p>
            <a:pPr lvl="1"/>
            <a:r>
              <a:rPr lang="en-US" dirty="0"/>
              <a:t>Demonstration </a:t>
            </a:r>
          </a:p>
        </p:txBody>
      </p:sp>
      <p:sp>
        <p:nvSpPr>
          <p:cNvPr id="7" name="Text Placeholder 6">
            <a:extLst>
              <a:ext uri="{FF2B5EF4-FFF2-40B4-BE49-F238E27FC236}">
                <a16:creationId xmlns:a16="http://schemas.microsoft.com/office/drawing/2014/main" id="{A91ECD5A-A06D-4426-B215-D810A663A47E}"/>
              </a:ext>
            </a:extLst>
          </p:cNvPr>
          <p:cNvSpPr>
            <a:spLocks noGrp="1"/>
          </p:cNvSpPr>
          <p:nvPr>
            <p:ph type="body" sz="quarter" idx="22"/>
          </p:nvPr>
        </p:nvSpPr>
        <p:spPr/>
        <p:txBody>
          <a:bodyPr/>
          <a:lstStyle/>
          <a:p>
            <a:pPr lvl="1"/>
            <a:r>
              <a:rPr lang="en-US" dirty="0"/>
              <a:t>Review </a:t>
            </a:r>
          </a:p>
        </p:txBody>
      </p:sp>
      <p:grpSp>
        <p:nvGrpSpPr>
          <p:cNvPr id="13" name="Group 12">
            <a:extLst>
              <a:ext uri="{FF2B5EF4-FFF2-40B4-BE49-F238E27FC236}">
                <a16:creationId xmlns:a16="http://schemas.microsoft.com/office/drawing/2014/main" id="{F7A5E24B-2583-44F3-A86B-F67E78BC053F}"/>
              </a:ext>
              <a:ext uri="{C183D7F6-B498-43B3-948B-1728B52AA6E4}">
                <adec:decorative xmlns:adec="http://schemas.microsoft.com/office/drawing/2017/decorative" val="1"/>
              </a:ext>
            </a:extLst>
          </p:cNvPr>
          <p:cNvGrpSpPr/>
          <p:nvPr/>
        </p:nvGrpSpPr>
        <p:grpSpPr>
          <a:xfrm>
            <a:off x="3031668" y="462996"/>
            <a:ext cx="702132" cy="5038900"/>
            <a:chOff x="3031668" y="462996"/>
            <a:chExt cx="702132" cy="5038900"/>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462996"/>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1341712"/>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2206225"/>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070738"/>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3935251"/>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nvGrpSpPr>
            <p:cNvPr id="27" name="Group 26">
              <a:extLst>
                <a:ext uri="{FF2B5EF4-FFF2-40B4-BE49-F238E27FC236}">
                  <a16:creationId xmlns:a16="http://schemas.microsoft.com/office/drawing/2014/main" id="{6060DB94-15B8-4E46-BEDD-2C1A83E582C7}"/>
                </a:ext>
              </a:extLst>
            </p:cNvPr>
            <p:cNvGrpSpPr/>
            <p:nvPr/>
          </p:nvGrpSpPr>
          <p:grpSpPr>
            <a:xfrm>
              <a:off x="3031668" y="4799764"/>
              <a:ext cx="702132" cy="702132"/>
              <a:chOff x="3031668" y="4799764"/>
              <a:chExt cx="702132" cy="702132"/>
            </a:xfrm>
          </p:grpSpPr>
          <p:grpSp>
            <p:nvGrpSpPr>
              <p:cNvPr id="21" name="Group 20">
                <a:extLst>
                  <a:ext uri="{FF2B5EF4-FFF2-40B4-BE49-F238E27FC236}">
                    <a16:creationId xmlns:a16="http://schemas.microsoft.com/office/drawing/2014/main" id="{EC5A9229-47D5-4B8F-948E-282348F5FB99}"/>
                  </a:ext>
                </a:extLst>
              </p:cNvPr>
              <p:cNvGrpSpPr/>
              <p:nvPr/>
            </p:nvGrpSpPr>
            <p:grpSpPr>
              <a:xfrm>
                <a:off x="3031668" y="4799764"/>
                <a:ext cx="702132" cy="702132"/>
                <a:chOff x="3031668" y="4799764"/>
                <a:chExt cx="702132" cy="702132"/>
              </a:xfrm>
            </p:grpSpPr>
            <p:sp>
              <p:nvSpPr>
                <p:cNvPr id="78" name="AutoShape 3">
                  <a:extLst>
                    <a:ext uri="{FF2B5EF4-FFF2-40B4-BE49-F238E27FC236}">
                      <a16:creationId xmlns:a16="http://schemas.microsoft.com/office/drawing/2014/main" id="{CF996211-C481-4235-89A0-A32FD402DDE3}"/>
                    </a:ext>
                  </a:extLst>
                </p:cNvPr>
                <p:cNvSpPr>
                  <a:spLocks noChangeAspect="1" noChangeArrowheads="1" noTextEdit="1"/>
                </p:cNvSpPr>
                <p:nvPr/>
              </p:nvSpPr>
              <p:spPr bwMode="auto">
                <a:xfrm>
                  <a:off x="3031668" y="4799764"/>
                  <a:ext cx="702132" cy="70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79" name="Freeform 5">
                  <a:extLst>
                    <a:ext uri="{FF2B5EF4-FFF2-40B4-BE49-F238E27FC236}">
                      <a16:creationId xmlns:a16="http://schemas.microsoft.com/office/drawing/2014/main" id="{1B80AA19-EBDD-4F58-8B9A-0D60A58F5FD8}"/>
                    </a:ext>
                  </a:extLst>
                </p:cNvPr>
                <p:cNvSpPr>
                  <a:spLocks/>
                </p:cNvSpPr>
                <p:nvPr/>
              </p:nvSpPr>
              <p:spPr bwMode="auto">
                <a:xfrm>
                  <a:off x="3031668" y="4799764"/>
                  <a:ext cx="702132" cy="702132"/>
                </a:xfrm>
                <a:custGeom>
                  <a:avLst/>
                  <a:gdLst>
                    <a:gd name="T0" fmla="*/ 2 w 493"/>
                    <a:gd name="T1" fmla="*/ 221 h 493"/>
                    <a:gd name="T2" fmla="*/ 12 w 493"/>
                    <a:gd name="T3" fmla="*/ 174 h 493"/>
                    <a:gd name="T4" fmla="*/ 31 w 493"/>
                    <a:gd name="T5" fmla="*/ 130 h 493"/>
                    <a:gd name="T6" fmla="*/ 57 w 493"/>
                    <a:gd name="T7" fmla="*/ 90 h 493"/>
                    <a:gd name="T8" fmla="*/ 90 w 493"/>
                    <a:gd name="T9" fmla="*/ 57 h 493"/>
                    <a:gd name="T10" fmla="*/ 130 w 493"/>
                    <a:gd name="T11" fmla="*/ 31 h 493"/>
                    <a:gd name="T12" fmla="*/ 174 w 493"/>
                    <a:gd name="T13" fmla="*/ 12 h 493"/>
                    <a:gd name="T14" fmla="*/ 221 w 493"/>
                    <a:gd name="T15" fmla="*/ 2 h 493"/>
                    <a:gd name="T16" fmla="*/ 272 w 493"/>
                    <a:gd name="T17" fmla="*/ 2 h 493"/>
                    <a:gd name="T18" fmla="*/ 320 w 493"/>
                    <a:gd name="T19" fmla="*/ 12 h 493"/>
                    <a:gd name="T20" fmla="*/ 364 w 493"/>
                    <a:gd name="T21" fmla="*/ 31 h 493"/>
                    <a:gd name="T22" fmla="*/ 403 w 493"/>
                    <a:gd name="T23" fmla="*/ 57 h 493"/>
                    <a:gd name="T24" fmla="*/ 436 w 493"/>
                    <a:gd name="T25" fmla="*/ 90 h 493"/>
                    <a:gd name="T26" fmla="*/ 464 w 493"/>
                    <a:gd name="T27" fmla="*/ 130 h 493"/>
                    <a:gd name="T28" fmla="*/ 481 w 493"/>
                    <a:gd name="T29" fmla="*/ 174 h 493"/>
                    <a:gd name="T30" fmla="*/ 491 w 493"/>
                    <a:gd name="T31" fmla="*/ 221 h 493"/>
                    <a:gd name="T32" fmla="*/ 491 w 493"/>
                    <a:gd name="T33" fmla="*/ 272 h 493"/>
                    <a:gd name="T34" fmla="*/ 481 w 493"/>
                    <a:gd name="T35" fmla="*/ 320 h 493"/>
                    <a:gd name="T36" fmla="*/ 464 w 493"/>
                    <a:gd name="T37" fmla="*/ 364 h 493"/>
                    <a:gd name="T38" fmla="*/ 436 w 493"/>
                    <a:gd name="T39" fmla="*/ 403 h 493"/>
                    <a:gd name="T40" fmla="*/ 403 w 493"/>
                    <a:gd name="T41" fmla="*/ 437 h 493"/>
                    <a:gd name="T42" fmla="*/ 364 w 493"/>
                    <a:gd name="T43" fmla="*/ 464 h 493"/>
                    <a:gd name="T44" fmla="*/ 320 w 493"/>
                    <a:gd name="T45" fmla="*/ 481 h 493"/>
                    <a:gd name="T46" fmla="*/ 272 w 493"/>
                    <a:gd name="T47" fmla="*/ 491 h 493"/>
                    <a:gd name="T48" fmla="*/ 221 w 493"/>
                    <a:gd name="T49" fmla="*/ 491 h 493"/>
                    <a:gd name="T50" fmla="*/ 174 w 493"/>
                    <a:gd name="T51" fmla="*/ 481 h 493"/>
                    <a:gd name="T52" fmla="*/ 130 w 493"/>
                    <a:gd name="T53" fmla="*/ 464 h 493"/>
                    <a:gd name="T54" fmla="*/ 90 w 493"/>
                    <a:gd name="T55" fmla="*/ 437 h 493"/>
                    <a:gd name="T56" fmla="*/ 57 w 493"/>
                    <a:gd name="T57" fmla="*/ 403 h 493"/>
                    <a:gd name="T58" fmla="*/ 31 w 493"/>
                    <a:gd name="T59" fmla="*/ 364 h 493"/>
                    <a:gd name="T60" fmla="*/ 12 w 493"/>
                    <a:gd name="T61" fmla="*/ 320 h 493"/>
                    <a:gd name="T62" fmla="*/ 2 w 493"/>
                    <a:gd name="T63" fmla="*/ 27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3" h="493">
                      <a:moveTo>
                        <a:pt x="0" y="247"/>
                      </a:moveTo>
                      <a:lnTo>
                        <a:pt x="2" y="221"/>
                      </a:lnTo>
                      <a:lnTo>
                        <a:pt x="6" y="197"/>
                      </a:lnTo>
                      <a:lnTo>
                        <a:pt x="12" y="174"/>
                      </a:lnTo>
                      <a:lnTo>
                        <a:pt x="20" y="151"/>
                      </a:lnTo>
                      <a:lnTo>
                        <a:pt x="31" y="130"/>
                      </a:lnTo>
                      <a:lnTo>
                        <a:pt x="42" y="109"/>
                      </a:lnTo>
                      <a:lnTo>
                        <a:pt x="57" y="90"/>
                      </a:lnTo>
                      <a:lnTo>
                        <a:pt x="73" y="73"/>
                      </a:lnTo>
                      <a:lnTo>
                        <a:pt x="90" y="57"/>
                      </a:lnTo>
                      <a:lnTo>
                        <a:pt x="109" y="42"/>
                      </a:lnTo>
                      <a:lnTo>
                        <a:pt x="130" y="31"/>
                      </a:lnTo>
                      <a:lnTo>
                        <a:pt x="151" y="20"/>
                      </a:lnTo>
                      <a:lnTo>
                        <a:pt x="174" y="12"/>
                      </a:lnTo>
                      <a:lnTo>
                        <a:pt x="197" y="6"/>
                      </a:lnTo>
                      <a:lnTo>
                        <a:pt x="221" y="2"/>
                      </a:lnTo>
                      <a:lnTo>
                        <a:pt x="247" y="0"/>
                      </a:lnTo>
                      <a:lnTo>
                        <a:pt x="272" y="2"/>
                      </a:lnTo>
                      <a:lnTo>
                        <a:pt x="296" y="6"/>
                      </a:lnTo>
                      <a:lnTo>
                        <a:pt x="320" y="12"/>
                      </a:lnTo>
                      <a:lnTo>
                        <a:pt x="342" y="20"/>
                      </a:lnTo>
                      <a:lnTo>
                        <a:pt x="364" y="31"/>
                      </a:lnTo>
                      <a:lnTo>
                        <a:pt x="384" y="42"/>
                      </a:lnTo>
                      <a:lnTo>
                        <a:pt x="403" y="57"/>
                      </a:lnTo>
                      <a:lnTo>
                        <a:pt x="420" y="73"/>
                      </a:lnTo>
                      <a:lnTo>
                        <a:pt x="436" y="90"/>
                      </a:lnTo>
                      <a:lnTo>
                        <a:pt x="451" y="109"/>
                      </a:lnTo>
                      <a:lnTo>
                        <a:pt x="464" y="130"/>
                      </a:lnTo>
                      <a:lnTo>
                        <a:pt x="473" y="151"/>
                      </a:lnTo>
                      <a:lnTo>
                        <a:pt x="481" y="174"/>
                      </a:lnTo>
                      <a:lnTo>
                        <a:pt x="487" y="197"/>
                      </a:lnTo>
                      <a:lnTo>
                        <a:pt x="491" y="221"/>
                      </a:lnTo>
                      <a:lnTo>
                        <a:pt x="493" y="247"/>
                      </a:lnTo>
                      <a:lnTo>
                        <a:pt x="491" y="272"/>
                      </a:lnTo>
                      <a:lnTo>
                        <a:pt x="487" y="296"/>
                      </a:lnTo>
                      <a:lnTo>
                        <a:pt x="481" y="320"/>
                      </a:lnTo>
                      <a:lnTo>
                        <a:pt x="473" y="342"/>
                      </a:lnTo>
                      <a:lnTo>
                        <a:pt x="464" y="364"/>
                      </a:lnTo>
                      <a:lnTo>
                        <a:pt x="451" y="384"/>
                      </a:lnTo>
                      <a:lnTo>
                        <a:pt x="436" y="403"/>
                      </a:lnTo>
                      <a:lnTo>
                        <a:pt x="420" y="420"/>
                      </a:lnTo>
                      <a:lnTo>
                        <a:pt x="403" y="437"/>
                      </a:lnTo>
                      <a:lnTo>
                        <a:pt x="384" y="451"/>
                      </a:lnTo>
                      <a:lnTo>
                        <a:pt x="364" y="464"/>
                      </a:lnTo>
                      <a:lnTo>
                        <a:pt x="342" y="473"/>
                      </a:lnTo>
                      <a:lnTo>
                        <a:pt x="320" y="481"/>
                      </a:lnTo>
                      <a:lnTo>
                        <a:pt x="296" y="487"/>
                      </a:lnTo>
                      <a:lnTo>
                        <a:pt x="272" y="491"/>
                      </a:lnTo>
                      <a:lnTo>
                        <a:pt x="247" y="493"/>
                      </a:lnTo>
                      <a:lnTo>
                        <a:pt x="221" y="491"/>
                      </a:lnTo>
                      <a:lnTo>
                        <a:pt x="197" y="487"/>
                      </a:lnTo>
                      <a:lnTo>
                        <a:pt x="174" y="481"/>
                      </a:lnTo>
                      <a:lnTo>
                        <a:pt x="151" y="473"/>
                      </a:lnTo>
                      <a:lnTo>
                        <a:pt x="130" y="464"/>
                      </a:lnTo>
                      <a:lnTo>
                        <a:pt x="109" y="451"/>
                      </a:lnTo>
                      <a:lnTo>
                        <a:pt x="90" y="437"/>
                      </a:lnTo>
                      <a:lnTo>
                        <a:pt x="73" y="420"/>
                      </a:lnTo>
                      <a:lnTo>
                        <a:pt x="57" y="403"/>
                      </a:lnTo>
                      <a:lnTo>
                        <a:pt x="42" y="384"/>
                      </a:lnTo>
                      <a:lnTo>
                        <a:pt x="31" y="364"/>
                      </a:lnTo>
                      <a:lnTo>
                        <a:pt x="20" y="342"/>
                      </a:lnTo>
                      <a:lnTo>
                        <a:pt x="12" y="320"/>
                      </a:lnTo>
                      <a:lnTo>
                        <a:pt x="6" y="296"/>
                      </a:lnTo>
                      <a:lnTo>
                        <a:pt x="2" y="272"/>
                      </a:lnTo>
                      <a:lnTo>
                        <a:pt x="0" y="247"/>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sp>
              <p:nvSpPr>
                <p:cNvPr id="80" name="Freeform 6">
                  <a:extLst>
                    <a:ext uri="{FF2B5EF4-FFF2-40B4-BE49-F238E27FC236}">
                      <a16:creationId xmlns:a16="http://schemas.microsoft.com/office/drawing/2014/main" id="{23FC2815-7F4A-4903-9A08-A24F2C74864A}"/>
                    </a:ext>
                  </a:extLst>
                </p:cNvPr>
                <p:cNvSpPr>
                  <a:spLocks noEditPoints="1"/>
                </p:cNvSpPr>
                <p:nvPr/>
              </p:nvSpPr>
              <p:spPr bwMode="auto">
                <a:xfrm>
                  <a:off x="3087212" y="4854596"/>
                  <a:ext cx="591044" cy="592469"/>
                </a:xfrm>
                <a:prstGeom prst="ellipse">
                  <a:avLst/>
                </a:prstGeom>
                <a:noFill/>
                <a:ln w="28575" cap="flat">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fr-FR" sz="1765"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coding brackets">
                <a:extLst>
                  <a:ext uri="{FF2B5EF4-FFF2-40B4-BE49-F238E27FC236}">
                    <a16:creationId xmlns:a16="http://schemas.microsoft.com/office/drawing/2014/main" id="{B0C5D0BC-720B-401F-BF64-B19B73B6DE2B}"/>
                  </a:ext>
                </a:extLst>
              </p:cNvPr>
              <p:cNvPicPr>
                <a:picLocks noChangeAspect="1"/>
              </p:cNvPicPr>
              <p:nvPr/>
            </p:nvPicPr>
            <p:blipFill>
              <a:blip r:embed="rId8"/>
              <a:stretch>
                <a:fillRect/>
              </a:stretch>
            </p:blipFill>
            <p:spPr>
              <a:xfrm>
                <a:off x="3196983" y="4965079"/>
                <a:ext cx="371503" cy="371503"/>
              </a:xfrm>
              <a:prstGeom prst="rect">
                <a:avLst/>
              </a:prstGeom>
            </p:spPr>
          </p:pic>
        </p:grpSp>
      </p:grpSp>
    </p:spTree>
    <p:extLst>
      <p:ext uri="{BB962C8B-B14F-4D97-AF65-F5344CB8AC3E}">
        <p14:creationId xmlns:p14="http://schemas.microsoft.com/office/powerpoint/2010/main" val="325432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5276C-E596-4EB8-8167-DA7FAB9DC139}"/>
              </a:ext>
            </a:extLst>
          </p:cNvPr>
          <p:cNvSpPr>
            <a:spLocks noGrp="1"/>
          </p:cNvSpPr>
          <p:nvPr>
            <p:ph type="title"/>
          </p:nvPr>
        </p:nvSpPr>
        <p:spPr>
          <a:xfrm>
            <a:off x="424090" y="466096"/>
            <a:ext cx="11343820" cy="397545"/>
          </a:xfrm>
        </p:spPr>
        <p:txBody>
          <a:bodyPr/>
          <a:lstStyle/>
          <a:p>
            <a:r>
              <a:rPr lang="en-US" sz="2800">
                <a:cs typeface="Segoe UI Semilight"/>
              </a:rPr>
              <a:t>Azure Firewall Manager features </a:t>
            </a:r>
            <a:endParaRPr lang="en-US"/>
          </a:p>
        </p:txBody>
      </p:sp>
      <p:sp>
        <p:nvSpPr>
          <p:cNvPr id="7" name="Rectangle 6">
            <a:extLst>
              <a:ext uri="{FF2B5EF4-FFF2-40B4-BE49-F238E27FC236}">
                <a16:creationId xmlns:a16="http://schemas.microsoft.com/office/drawing/2014/main" id="{49B5DE44-2045-4A4B-A4D1-591D9933329F}"/>
              </a:ext>
            </a:extLst>
          </p:cNvPr>
          <p:cNvSpPr/>
          <p:nvPr/>
        </p:nvSpPr>
        <p:spPr>
          <a:xfrm>
            <a:off x="418641" y="1261906"/>
            <a:ext cx="5760720"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800">
                <a:solidFill>
                  <a:schemeClr val="tx1"/>
                </a:solidFill>
                <a:effectLst/>
                <a:latin typeface="+mj-lt"/>
                <a:ea typeface="Calibri" panose="020F0502020204030204" pitchFamily="34" charset="0"/>
                <a:cs typeface="Times New Roman" panose="02020603050405020304" pitchFamily="18" charset="0"/>
              </a:rPr>
              <a:t>Central Azure Firewall deployment and configuration </a:t>
            </a:r>
            <a:endParaRPr lang="en-US" sz="1765">
              <a:solidFill>
                <a:schemeClr val="tx1"/>
              </a:solidFill>
              <a:latin typeface="+mj-lt"/>
            </a:endParaRPr>
          </a:p>
        </p:txBody>
      </p:sp>
      <p:sp>
        <p:nvSpPr>
          <p:cNvPr id="9" name="Rectangle 8">
            <a:extLst>
              <a:ext uri="{FF2B5EF4-FFF2-40B4-BE49-F238E27FC236}">
                <a16:creationId xmlns:a16="http://schemas.microsoft.com/office/drawing/2014/main" id="{94DECEAE-4690-4C4B-A1E6-EAAC61C5678A}"/>
              </a:ext>
            </a:extLst>
          </p:cNvPr>
          <p:cNvSpPr/>
          <p:nvPr/>
        </p:nvSpPr>
        <p:spPr>
          <a:xfrm>
            <a:off x="418641" y="2300774"/>
            <a:ext cx="5760720"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Hierarchical policies (global and local) </a:t>
            </a:r>
          </a:p>
        </p:txBody>
      </p:sp>
      <p:sp>
        <p:nvSpPr>
          <p:cNvPr id="11" name="Rectangle 10">
            <a:extLst>
              <a:ext uri="{FF2B5EF4-FFF2-40B4-BE49-F238E27FC236}">
                <a16:creationId xmlns:a16="http://schemas.microsoft.com/office/drawing/2014/main" id="{ECB054E0-7582-4C3B-BB6F-9C53FF5CCD3E}"/>
              </a:ext>
            </a:extLst>
          </p:cNvPr>
          <p:cNvSpPr/>
          <p:nvPr/>
        </p:nvSpPr>
        <p:spPr>
          <a:xfrm>
            <a:off x="418641" y="3339642"/>
            <a:ext cx="5760720"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Integrated with third-party security-as-a-service for advanced security </a:t>
            </a:r>
          </a:p>
        </p:txBody>
      </p:sp>
      <p:sp>
        <p:nvSpPr>
          <p:cNvPr id="13" name="Rectangle 12">
            <a:extLst>
              <a:ext uri="{FF2B5EF4-FFF2-40B4-BE49-F238E27FC236}">
                <a16:creationId xmlns:a16="http://schemas.microsoft.com/office/drawing/2014/main" id="{421289F7-4BE8-4EF2-A5B7-92413DDC3B7C}"/>
              </a:ext>
            </a:extLst>
          </p:cNvPr>
          <p:cNvSpPr/>
          <p:nvPr/>
        </p:nvSpPr>
        <p:spPr>
          <a:xfrm>
            <a:off x="418643" y="4378510"/>
            <a:ext cx="5760720"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Centralized route management </a:t>
            </a:r>
          </a:p>
        </p:txBody>
      </p:sp>
      <p:sp>
        <p:nvSpPr>
          <p:cNvPr id="15" name="Rectangle 14">
            <a:extLst>
              <a:ext uri="{FF2B5EF4-FFF2-40B4-BE49-F238E27FC236}">
                <a16:creationId xmlns:a16="http://schemas.microsoft.com/office/drawing/2014/main" id="{AFA13881-B06F-4F66-AF75-291AFDCCE580}"/>
              </a:ext>
            </a:extLst>
          </p:cNvPr>
          <p:cNvSpPr/>
          <p:nvPr/>
        </p:nvSpPr>
        <p:spPr>
          <a:xfrm>
            <a:off x="418642" y="5417377"/>
            <a:ext cx="5760720" cy="9144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Region availability </a:t>
            </a:r>
          </a:p>
        </p:txBody>
      </p:sp>
      <p:pic>
        <p:nvPicPr>
          <p:cNvPr id="3074" name="Picture 2" descr="Azure Firewall Manager diagram showing a secure hub and hub vent deployment option ">
            <a:extLst>
              <a:ext uri="{FF2B5EF4-FFF2-40B4-BE49-F238E27FC236}">
                <a16:creationId xmlns:a16="http://schemas.microsoft.com/office/drawing/2014/main" id="{B916610E-A1A1-4FF5-AB0E-B54872554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467" y="676275"/>
            <a:ext cx="4705350" cy="5505450"/>
          </a:xfrm>
          <a:prstGeom prst="rect">
            <a:avLst/>
          </a:prstGeom>
          <a:noFill/>
        </p:spPr>
      </p:pic>
      <p:sp>
        <p:nvSpPr>
          <p:cNvPr id="2" name="Rectangle 1">
            <a:extLst>
              <a:ext uri="{FF2B5EF4-FFF2-40B4-BE49-F238E27FC236}">
                <a16:creationId xmlns:a16="http://schemas.microsoft.com/office/drawing/2014/main" id="{0D1CC76E-ED63-42BA-AC52-6DF50F2EF167}"/>
              </a:ext>
              <a:ext uri="{C183D7F6-B498-43B3-948B-1728B52AA6E4}">
                <adec:decorative xmlns:adec="http://schemas.microsoft.com/office/drawing/2017/decorative" val="1"/>
              </a:ext>
            </a:extLst>
          </p:cNvPr>
          <p:cNvSpPr/>
          <p:nvPr/>
        </p:nvSpPr>
        <p:spPr bwMode="auto">
          <a:xfrm>
            <a:off x="6501008" y="376738"/>
            <a:ext cx="5461348" cy="592580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72171139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5276C-E596-4EB8-8167-DA7FAB9DC139}"/>
              </a:ext>
            </a:extLst>
          </p:cNvPr>
          <p:cNvSpPr>
            <a:spLocks noGrp="1"/>
          </p:cNvSpPr>
          <p:nvPr>
            <p:ph type="title"/>
          </p:nvPr>
        </p:nvSpPr>
        <p:spPr>
          <a:xfrm>
            <a:off x="424090" y="466096"/>
            <a:ext cx="11343820" cy="397545"/>
          </a:xfrm>
        </p:spPr>
        <p:txBody>
          <a:bodyPr/>
          <a:lstStyle/>
          <a:p>
            <a:r>
              <a:rPr lang="en-US" sz="2800" dirty="0">
                <a:cs typeface="Segoe UI Semilight"/>
              </a:rPr>
              <a:t>Azure Firewall Manager policies </a:t>
            </a:r>
            <a:endParaRPr lang="en-US" dirty="0"/>
          </a:p>
        </p:txBody>
      </p:sp>
      <p:sp>
        <p:nvSpPr>
          <p:cNvPr id="2" name="Rectangle 1">
            <a:extLst>
              <a:ext uri="{FF2B5EF4-FFF2-40B4-BE49-F238E27FC236}">
                <a16:creationId xmlns:a16="http://schemas.microsoft.com/office/drawing/2014/main" id="{A71DECC3-4E27-4163-8D6A-A6425E26E847}"/>
              </a:ext>
            </a:extLst>
          </p:cNvPr>
          <p:cNvSpPr/>
          <p:nvPr/>
        </p:nvSpPr>
        <p:spPr>
          <a:xfrm>
            <a:off x="418641" y="1624369"/>
            <a:ext cx="4544286" cy="165536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A policy can be created and managed in multiple ways, including the Azure portal, REST API, templates, Azure PowerShell, and CLI.</a:t>
            </a:r>
          </a:p>
        </p:txBody>
      </p:sp>
      <p:sp>
        <p:nvSpPr>
          <p:cNvPr id="5" name="Rectangle 4">
            <a:extLst>
              <a:ext uri="{FF2B5EF4-FFF2-40B4-BE49-F238E27FC236}">
                <a16:creationId xmlns:a16="http://schemas.microsoft.com/office/drawing/2014/main" id="{704A08F8-CAA0-480A-AE86-F2705C4EEAAD}"/>
              </a:ext>
            </a:extLst>
          </p:cNvPr>
          <p:cNvSpPr/>
          <p:nvPr/>
        </p:nvSpPr>
        <p:spPr>
          <a:xfrm>
            <a:off x="418641" y="3831038"/>
            <a:ext cx="4544286" cy="165536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rPr>
              <a:t>Policies can be associated with one or more virtual hubs or VNets. The firewall can be in any subscription associated with your account and in any region.</a:t>
            </a:r>
          </a:p>
        </p:txBody>
      </p:sp>
      <p:pic>
        <p:nvPicPr>
          <p:cNvPr id="4098" name="Picture 2" descr="Azure Firewall Manager with three firewalls deployed to different hub vnets with policies applied">
            <a:extLst>
              <a:ext uri="{FF2B5EF4-FFF2-40B4-BE49-F238E27FC236}">
                <a16:creationId xmlns:a16="http://schemas.microsoft.com/office/drawing/2014/main" id="{48FC4578-8142-4352-A148-A117B6CD0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3145" y="811429"/>
            <a:ext cx="6484547" cy="5235141"/>
          </a:xfrm>
          <a:prstGeom prst="rect">
            <a:avLst/>
          </a:prstGeom>
          <a:noFill/>
        </p:spPr>
      </p:pic>
      <p:sp>
        <p:nvSpPr>
          <p:cNvPr id="7" name="Rectangle 6">
            <a:extLst>
              <a:ext uri="{FF2B5EF4-FFF2-40B4-BE49-F238E27FC236}">
                <a16:creationId xmlns:a16="http://schemas.microsoft.com/office/drawing/2014/main" id="{F9997932-09D9-4EDC-9622-0F15008DD651}"/>
              </a:ext>
              <a:ext uri="{C183D7F6-B498-43B3-948B-1728B52AA6E4}">
                <adec:decorative xmlns:adec="http://schemas.microsoft.com/office/drawing/2017/decorative" val="1"/>
              </a:ext>
            </a:extLst>
          </p:cNvPr>
          <p:cNvSpPr/>
          <p:nvPr/>
        </p:nvSpPr>
        <p:spPr bwMode="auto">
          <a:xfrm>
            <a:off x="5210827" y="376738"/>
            <a:ext cx="6751529" cy="584869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048179125"/>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5276C-E596-4EB8-8167-DA7FAB9DC139}"/>
              </a:ext>
            </a:extLst>
          </p:cNvPr>
          <p:cNvSpPr>
            <a:spLocks noGrp="1"/>
          </p:cNvSpPr>
          <p:nvPr>
            <p:ph type="title"/>
          </p:nvPr>
        </p:nvSpPr>
        <p:spPr>
          <a:xfrm>
            <a:off x="424090" y="307978"/>
            <a:ext cx="11343820" cy="397545"/>
          </a:xfrm>
        </p:spPr>
        <p:txBody>
          <a:bodyPr/>
          <a:lstStyle/>
          <a:p>
            <a:r>
              <a:rPr lang="en-US" sz="2800">
                <a:cs typeface="Segoe UI Semilight"/>
              </a:rPr>
              <a:t>Azure Firewall Manager for Hub Virtual Networks vs Secured Virtual Hubs </a:t>
            </a:r>
          </a:p>
        </p:txBody>
      </p:sp>
      <p:graphicFrame>
        <p:nvGraphicFramePr>
          <p:cNvPr id="4" name="Table 3">
            <a:extLst>
              <a:ext uri="{FF2B5EF4-FFF2-40B4-BE49-F238E27FC236}">
                <a16:creationId xmlns:a16="http://schemas.microsoft.com/office/drawing/2014/main" id="{524407AF-C740-4305-B4BD-1A677E1D402C}"/>
              </a:ext>
            </a:extLst>
          </p:cNvPr>
          <p:cNvGraphicFramePr/>
          <p:nvPr>
            <p:extLst>
              <p:ext uri="{D42A27DB-BD31-4B8C-83A1-F6EECF244321}">
                <p14:modId xmlns:p14="http://schemas.microsoft.com/office/powerpoint/2010/main" val="2700683472"/>
              </p:ext>
            </p:extLst>
          </p:nvPr>
        </p:nvGraphicFramePr>
        <p:xfrm>
          <a:off x="424089" y="863641"/>
          <a:ext cx="11102163" cy="5140452"/>
        </p:xfrm>
        <a:graphic>
          <a:graphicData uri="http://schemas.openxmlformats.org/drawingml/2006/table">
            <a:tbl>
              <a:tblPr firstRow="1" firstCol="1">
                <a:tableStyleId>{5C22544A-7EE6-4342-B048-85BDC9FD1C3A}</a:tableStyleId>
              </a:tblPr>
              <a:tblGrid>
                <a:gridCol w="3359635">
                  <a:extLst>
                    <a:ext uri="{9D8B030D-6E8A-4147-A177-3AD203B41FA5}">
                      <a16:colId xmlns:a16="http://schemas.microsoft.com/office/drawing/2014/main" val="957751601"/>
                    </a:ext>
                  </a:extLst>
                </a:gridCol>
                <a:gridCol w="4041807">
                  <a:extLst>
                    <a:ext uri="{9D8B030D-6E8A-4147-A177-3AD203B41FA5}">
                      <a16:colId xmlns:a16="http://schemas.microsoft.com/office/drawing/2014/main" val="1940620264"/>
                    </a:ext>
                  </a:extLst>
                </a:gridCol>
                <a:gridCol w="3700721">
                  <a:extLst>
                    <a:ext uri="{9D8B030D-6E8A-4147-A177-3AD203B41FA5}">
                      <a16:colId xmlns:a16="http://schemas.microsoft.com/office/drawing/2014/main" val="2272572063"/>
                    </a:ext>
                  </a:extLst>
                </a:gridCol>
              </a:tblGrid>
              <a:tr h="382798">
                <a:tc>
                  <a:txBody>
                    <a:bodyPr/>
                    <a:lstStyle/>
                    <a:p>
                      <a:pPr algn="l" fontAlgn="t">
                        <a:spcBef>
                          <a:spcPts val="0"/>
                        </a:spcBef>
                        <a:spcAft>
                          <a:spcPts val="0"/>
                        </a:spcAft>
                      </a:pPr>
                      <a:br>
                        <a:rPr lang="en-US" sz="1800" u="none" strike="noStrike" dirty="0">
                          <a:effectLst/>
                        </a:rPr>
                      </a:br>
                      <a:endParaRPr lang="en-US" sz="1800" b="0" i="0" u="none" strike="noStrike" dirty="0">
                        <a:effectLst/>
                        <a:latin typeface="Arial" panose="020B0604020202020204" pitchFamily="34" charset="0"/>
                      </a:endParaRPr>
                    </a:p>
                  </a:txBody>
                  <a:tcPr marL="23521" marR="23521" marT="11760" marB="11760"/>
                </a:tc>
                <a:tc>
                  <a:txBody>
                    <a:bodyPr/>
                    <a:lstStyle/>
                    <a:p>
                      <a:pPr algn="ctr" fontAlgn="t">
                        <a:spcBef>
                          <a:spcPts val="0"/>
                        </a:spcBef>
                        <a:spcAft>
                          <a:spcPts val="0"/>
                        </a:spcAft>
                      </a:pPr>
                      <a:r>
                        <a:rPr lang="en-US" sz="1800" u="none" strike="noStrike" dirty="0">
                          <a:effectLst/>
                        </a:rPr>
                        <a:t>Hub virtual network</a:t>
                      </a:r>
                      <a:endParaRPr lang="en-US" sz="1800" b="0" i="0" u="none" strike="noStrike" dirty="0">
                        <a:effectLst/>
                        <a:latin typeface="Arial" panose="020B0604020202020204" pitchFamily="34" charset="0"/>
                      </a:endParaRPr>
                    </a:p>
                  </a:txBody>
                  <a:tcPr marL="23521" marR="23521" marT="11760" marB="1176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u="none" strike="noStrike">
                          <a:effectLst/>
                        </a:rPr>
                        <a:t>Secured virtual hub</a:t>
                      </a:r>
                    </a:p>
                    <a:p>
                      <a:pPr algn="ctr" fontAlgn="t">
                        <a:spcBef>
                          <a:spcPts val="0"/>
                        </a:spcBef>
                        <a:spcAft>
                          <a:spcPts val="0"/>
                        </a:spcAft>
                      </a:pPr>
                      <a:endParaRPr lang="en-US" sz="1800" b="0" i="0" u="none" strike="noStrike">
                        <a:effectLst/>
                        <a:latin typeface="Arial" panose="020B0604020202020204" pitchFamily="34" charset="0"/>
                      </a:endParaRPr>
                    </a:p>
                  </a:txBody>
                  <a:tcPr marL="23521" marR="23521" marT="11760" marB="11760"/>
                </a:tc>
                <a:extLst>
                  <a:ext uri="{0D108BD9-81ED-4DB2-BD59-A6C34878D82A}">
                    <a16:rowId xmlns:a16="http://schemas.microsoft.com/office/drawing/2014/main" val="4000473179"/>
                  </a:ext>
                </a:extLst>
              </a:tr>
              <a:tr h="718833">
                <a:tc>
                  <a:txBody>
                    <a:bodyPr/>
                    <a:lstStyle/>
                    <a:p>
                      <a:pPr algn="l" fontAlgn="t">
                        <a:spcBef>
                          <a:spcPts val="0"/>
                        </a:spcBef>
                        <a:spcAft>
                          <a:spcPts val="0"/>
                        </a:spcAft>
                      </a:pPr>
                      <a:r>
                        <a:rPr lang="en-US" sz="1800" u="none" strike="noStrike" dirty="0">
                          <a:effectLst/>
                        </a:rPr>
                        <a:t>Underlying resource</a:t>
                      </a:r>
                      <a:endParaRPr lang="en-US" sz="1800" b="0" i="0" u="none" strike="noStrike" dirty="0">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dirty="0">
                          <a:effectLst/>
                        </a:rPr>
                        <a:t>Virtual network</a:t>
                      </a:r>
                      <a:endParaRPr lang="en-US" sz="1800" b="0" i="0" u="none" strike="noStrike" dirty="0">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a:effectLst/>
                        </a:rPr>
                        <a:t>Virtual WAN Hub</a:t>
                      </a:r>
                      <a:endParaRPr lang="en-US" sz="1800" b="0" i="0" u="none" strike="noStrike">
                        <a:effectLst/>
                        <a:latin typeface="Arial" panose="020B0604020202020204" pitchFamily="34" charset="0"/>
                      </a:endParaRPr>
                    </a:p>
                  </a:txBody>
                  <a:tcPr marL="23521" marR="23521" marT="11760" marB="11760"/>
                </a:tc>
                <a:extLst>
                  <a:ext uri="{0D108BD9-81ED-4DB2-BD59-A6C34878D82A}">
                    <a16:rowId xmlns:a16="http://schemas.microsoft.com/office/drawing/2014/main" val="1112728941"/>
                  </a:ext>
                </a:extLst>
              </a:tr>
              <a:tr h="718833">
                <a:tc>
                  <a:txBody>
                    <a:bodyPr/>
                    <a:lstStyle/>
                    <a:p>
                      <a:pPr algn="l" fontAlgn="t">
                        <a:spcBef>
                          <a:spcPts val="0"/>
                        </a:spcBef>
                        <a:spcAft>
                          <a:spcPts val="0"/>
                        </a:spcAft>
                      </a:pPr>
                      <a:r>
                        <a:rPr lang="en-US" sz="1800" u="none" strike="noStrike">
                          <a:effectLst/>
                        </a:rPr>
                        <a:t>Hub &amp; Spoke</a:t>
                      </a:r>
                      <a:endParaRPr lang="en-US" sz="1800" b="0" i="0" u="none" strike="noStrike">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dirty="0">
                          <a:effectLst/>
                        </a:rPr>
                        <a:t>Uses Virtual network peering</a:t>
                      </a:r>
                      <a:endParaRPr lang="en-US" sz="1800" b="0" i="0" u="none" strike="noStrike" dirty="0">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a:effectLst/>
                        </a:rPr>
                        <a:t>Automated using hub virtual network connection</a:t>
                      </a:r>
                      <a:endParaRPr lang="en-US" sz="1800" b="0" i="0" u="none" strike="noStrike">
                        <a:effectLst/>
                        <a:latin typeface="Arial" panose="020B0604020202020204" pitchFamily="34" charset="0"/>
                      </a:endParaRPr>
                    </a:p>
                  </a:txBody>
                  <a:tcPr marL="23521" marR="23521" marT="11760" marB="11760"/>
                </a:tc>
                <a:extLst>
                  <a:ext uri="{0D108BD9-81ED-4DB2-BD59-A6C34878D82A}">
                    <a16:rowId xmlns:a16="http://schemas.microsoft.com/office/drawing/2014/main" val="4133074030"/>
                  </a:ext>
                </a:extLst>
              </a:tr>
              <a:tr h="718833">
                <a:tc>
                  <a:txBody>
                    <a:bodyPr/>
                    <a:lstStyle/>
                    <a:p>
                      <a:pPr algn="l" fontAlgn="t">
                        <a:spcBef>
                          <a:spcPts val="0"/>
                        </a:spcBef>
                        <a:spcAft>
                          <a:spcPts val="0"/>
                        </a:spcAft>
                      </a:pPr>
                      <a:r>
                        <a:rPr lang="en-US" sz="1800" u="none" strike="noStrike">
                          <a:effectLst/>
                        </a:rPr>
                        <a:t>On-prem connectivity</a:t>
                      </a:r>
                      <a:endParaRPr lang="en-US" sz="1800" b="0" i="0" u="none" strike="noStrike">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dirty="0">
                          <a:effectLst/>
                        </a:rPr>
                        <a:t>VPN Gateway up to 10 Gbps and 30 S2S connections; ExpressRoute</a:t>
                      </a:r>
                      <a:endParaRPr lang="en-US" sz="1800" b="0" i="0" u="none" strike="noStrike" dirty="0">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a:effectLst/>
                        </a:rPr>
                        <a:t>More scalable VPN Gateway up 20 Gbps and 1000 S2S connections; Express Route</a:t>
                      </a:r>
                      <a:endParaRPr lang="en-US" sz="1800" b="0" i="0" u="none" strike="noStrike">
                        <a:effectLst/>
                        <a:latin typeface="Arial" panose="020B0604020202020204" pitchFamily="34" charset="0"/>
                      </a:endParaRPr>
                    </a:p>
                  </a:txBody>
                  <a:tcPr marL="23521" marR="23521" marT="11760" marB="11760"/>
                </a:tc>
                <a:extLst>
                  <a:ext uri="{0D108BD9-81ED-4DB2-BD59-A6C34878D82A}">
                    <a16:rowId xmlns:a16="http://schemas.microsoft.com/office/drawing/2014/main" val="3563285520"/>
                  </a:ext>
                </a:extLst>
              </a:tr>
              <a:tr h="718833">
                <a:tc>
                  <a:txBody>
                    <a:bodyPr/>
                    <a:lstStyle/>
                    <a:p>
                      <a:pPr algn="l" fontAlgn="t">
                        <a:spcBef>
                          <a:spcPts val="0"/>
                        </a:spcBef>
                        <a:spcAft>
                          <a:spcPts val="0"/>
                        </a:spcAft>
                      </a:pPr>
                      <a:r>
                        <a:rPr lang="en-US" sz="1800" u="none" strike="noStrike">
                          <a:effectLst/>
                        </a:rPr>
                        <a:t>Automated branch connectivity using SDWAN</a:t>
                      </a:r>
                      <a:endParaRPr lang="en-US" sz="1800" b="0" i="0" u="none" strike="noStrike">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dirty="0">
                          <a:effectLst/>
                        </a:rPr>
                        <a:t>Not supported</a:t>
                      </a:r>
                      <a:endParaRPr lang="en-US" sz="1800" b="0" i="0" u="none" strike="noStrike" dirty="0">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a:effectLst/>
                        </a:rPr>
                        <a:t>Supported</a:t>
                      </a:r>
                      <a:endParaRPr lang="en-US" sz="1800" b="0" i="0" u="none" strike="noStrike">
                        <a:effectLst/>
                        <a:latin typeface="Arial" panose="020B0604020202020204" pitchFamily="34" charset="0"/>
                      </a:endParaRPr>
                    </a:p>
                  </a:txBody>
                  <a:tcPr marL="23521" marR="23521" marT="11760" marB="11760"/>
                </a:tc>
                <a:extLst>
                  <a:ext uri="{0D108BD9-81ED-4DB2-BD59-A6C34878D82A}">
                    <a16:rowId xmlns:a16="http://schemas.microsoft.com/office/drawing/2014/main" val="301574418"/>
                  </a:ext>
                </a:extLst>
              </a:tr>
              <a:tr h="718833">
                <a:tc>
                  <a:txBody>
                    <a:bodyPr/>
                    <a:lstStyle/>
                    <a:p>
                      <a:pPr algn="l" fontAlgn="t">
                        <a:spcBef>
                          <a:spcPts val="0"/>
                        </a:spcBef>
                        <a:spcAft>
                          <a:spcPts val="0"/>
                        </a:spcAft>
                      </a:pPr>
                      <a:r>
                        <a:rPr lang="en-US" sz="1800" u="none" strike="noStrike">
                          <a:effectLst/>
                        </a:rPr>
                        <a:t>Hubs per region</a:t>
                      </a:r>
                      <a:endParaRPr lang="en-US" sz="1800" b="0" i="0" u="none" strike="noStrike">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dirty="0">
                          <a:effectLst/>
                        </a:rPr>
                        <a:t>Multiple Virtual Networks per region</a:t>
                      </a:r>
                      <a:endParaRPr lang="en-US" sz="1800" b="0" i="0" u="none" strike="noStrike" dirty="0">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a:effectLst/>
                        </a:rPr>
                        <a:t>Single Virtual Hub per region. Multiple hubs possible with multiple Virtual WANs</a:t>
                      </a:r>
                      <a:endParaRPr lang="en-US" sz="1800" b="0" i="0" u="none" strike="noStrike">
                        <a:effectLst/>
                        <a:latin typeface="Arial" panose="020B0604020202020204" pitchFamily="34" charset="0"/>
                      </a:endParaRPr>
                    </a:p>
                  </a:txBody>
                  <a:tcPr marL="23521" marR="23521" marT="11760" marB="11760"/>
                </a:tc>
                <a:extLst>
                  <a:ext uri="{0D108BD9-81ED-4DB2-BD59-A6C34878D82A}">
                    <a16:rowId xmlns:a16="http://schemas.microsoft.com/office/drawing/2014/main" val="2722395150"/>
                  </a:ext>
                </a:extLst>
              </a:tr>
              <a:tr h="718833">
                <a:tc>
                  <a:txBody>
                    <a:bodyPr/>
                    <a:lstStyle/>
                    <a:p>
                      <a:pPr algn="l" fontAlgn="t">
                        <a:spcBef>
                          <a:spcPts val="0"/>
                        </a:spcBef>
                        <a:spcAft>
                          <a:spcPts val="0"/>
                        </a:spcAft>
                      </a:pPr>
                      <a:r>
                        <a:rPr lang="en-US" sz="1800" u="none" strike="noStrike">
                          <a:effectLst/>
                        </a:rPr>
                        <a:t>Azure Firewall – multiple public IP addresses</a:t>
                      </a:r>
                      <a:endParaRPr lang="en-US" sz="1800" b="0" i="0" u="none" strike="noStrike">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a:effectLst/>
                        </a:rPr>
                        <a:t>Customer provided</a:t>
                      </a:r>
                      <a:endParaRPr lang="en-US" sz="1800" b="0" i="0" u="none" strike="noStrike">
                        <a:effectLst/>
                        <a:latin typeface="Arial" panose="020B0604020202020204" pitchFamily="34" charset="0"/>
                      </a:endParaRPr>
                    </a:p>
                  </a:txBody>
                  <a:tcPr marL="23521" marR="23521" marT="11760" marB="11760"/>
                </a:tc>
                <a:tc>
                  <a:txBody>
                    <a:bodyPr/>
                    <a:lstStyle/>
                    <a:p>
                      <a:pPr algn="l" fontAlgn="t">
                        <a:spcBef>
                          <a:spcPts val="0"/>
                        </a:spcBef>
                        <a:spcAft>
                          <a:spcPts val="0"/>
                        </a:spcAft>
                      </a:pPr>
                      <a:r>
                        <a:rPr lang="en-US" sz="1800" u="none" strike="noStrike" dirty="0">
                          <a:effectLst/>
                        </a:rPr>
                        <a:t>Auto generated</a:t>
                      </a:r>
                      <a:endParaRPr lang="en-US" sz="1800" b="0" i="0" u="none" strike="noStrike" dirty="0">
                        <a:effectLst/>
                        <a:latin typeface="Arial" panose="020B0604020202020204" pitchFamily="34" charset="0"/>
                      </a:endParaRPr>
                    </a:p>
                  </a:txBody>
                  <a:tcPr marL="23521" marR="23521" marT="11760" marB="11760"/>
                </a:tc>
                <a:extLst>
                  <a:ext uri="{0D108BD9-81ED-4DB2-BD59-A6C34878D82A}">
                    <a16:rowId xmlns:a16="http://schemas.microsoft.com/office/drawing/2014/main" val="3123779781"/>
                  </a:ext>
                </a:extLst>
              </a:tr>
            </a:tbl>
          </a:graphicData>
        </a:graphic>
      </p:graphicFrame>
    </p:spTree>
    <p:extLst>
      <p:ext uri="{BB962C8B-B14F-4D97-AF65-F5344CB8AC3E}">
        <p14:creationId xmlns:p14="http://schemas.microsoft.com/office/powerpoint/2010/main" val="3544884614"/>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5276C-E596-4EB8-8167-DA7FAB9DC139}"/>
              </a:ext>
            </a:extLst>
          </p:cNvPr>
          <p:cNvSpPr>
            <a:spLocks noGrp="1"/>
          </p:cNvSpPr>
          <p:nvPr>
            <p:ph type="title"/>
          </p:nvPr>
        </p:nvSpPr>
        <p:spPr>
          <a:xfrm>
            <a:off x="267679" y="109206"/>
            <a:ext cx="11500231" cy="795089"/>
          </a:xfrm>
        </p:spPr>
        <p:txBody>
          <a:bodyPr/>
          <a:lstStyle/>
          <a:p>
            <a:r>
              <a:rPr lang="en-US" sz="2800" dirty="0">
                <a:cs typeface="Segoe UI Semilight"/>
              </a:rPr>
              <a:t>Azure Firewall Manager for Hub Virtual Networks vs Secured Virtual Hubs part 2 </a:t>
            </a:r>
          </a:p>
        </p:txBody>
      </p:sp>
      <p:graphicFrame>
        <p:nvGraphicFramePr>
          <p:cNvPr id="2" name="Table 1">
            <a:extLst>
              <a:ext uri="{FF2B5EF4-FFF2-40B4-BE49-F238E27FC236}">
                <a16:creationId xmlns:a16="http://schemas.microsoft.com/office/drawing/2014/main" id="{A837DF22-170F-4339-A1D3-41CB4232A6B2}"/>
              </a:ext>
            </a:extLst>
          </p:cNvPr>
          <p:cNvGraphicFramePr/>
          <p:nvPr>
            <p:extLst>
              <p:ext uri="{D42A27DB-BD31-4B8C-83A1-F6EECF244321}">
                <p14:modId xmlns:p14="http://schemas.microsoft.com/office/powerpoint/2010/main" val="11828278"/>
              </p:ext>
            </p:extLst>
          </p:nvPr>
        </p:nvGraphicFramePr>
        <p:xfrm>
          <a:off x="424089" y="863641"/>
          <a:ext cx="11102163" cy="5557062"/>
        </p:xfrm>
        <a:graphic>
          <a:graphicData uri="http://schemas.openxmlformats.org/drawingml/2006/table">
            <a:tbl>
              <a:tblPr firstRow="1" firstCol="1">
                <a:tableStyleId>{5C22544A-7EE6-4342-B048-85BDC9FD1C3A}</a:tableStyleId>
              </a:tblPr>
              <a:tblGrid>
                <a:gridCol w="3359635">
                  <a:extLst>
                    <a:ext uri="{9D8B030D-6E8A-4147-A177-3AD203B41FA5}">
                      <a16:colId xmlns:a16="http://schemas.microsoft.com/office/drawing/2014/main" val="957751601"/>
                    </a:ext>
                  </a:extLst>
                </a:gridCol>
                <a:gridCol w="4041807">
                  <a:extLst>
                    <a:ext uri="{9D8B030D-6E8A-4147-A177-3AD203B41FA5}">
                      <a16:colId xmlns:a16="http://schemas.microsoft.com/office/drawing/2014/main" val="1940620264"/>
                    </a:ext>
                  </a:extLst>
                </a:gridCol>
                <a:gridCol w="3700721">
                  <a:extLst>
                    <a:ext uri="{9D8B030D-6E8A-4147-A177-3AD203B41FA5}">
                      <a16:colId xmlns:a16="http://schemas.microsoft.com/office/drawing/2014/main" val="2272572063"/>
                    </a:ext>
                  </a:extLst>
                </a:gridCol>
              </a:tblGrid>
              <a:tr h="457200">
                <a:tc>
                  <a:txBody>
                    <a:bodyPr/>
                    <a:lstStyle/>
                    <a:p>
                      <a:pPr algn="l" fontAlgn="t">
                        <a:spcBef>
                          <a:spcPts val="0"/>
                        </a:spcBef>
                        <a:spcAft>
                          <a:spcPts val="0"/>
                        </a:spcAft>
                      </a:pPr>
                      <a:br>
                        <a:rPr lang="en-US" sz="1800" u="none" strike="noStrike" dirty="0">
                          <a:effectLst/>
                        </a:rPr>
                      </a:br>
                      <a:endParaRPr lang="en-US" sz="1800" b="0" i="0" u="none" strike="noStrike" dirty="0">
                        <a:effectLst/>
                        <a:latin typeface="Arial" panose="020B0604020202020204" pitchFamily="34" charset="0"/>
                      </a:endParaRPr>
                    </a:p>
                  </a:txBody>
                  <a:tcPr marL="23521" marR="23521" marT="11760" marB="11760"/>
                </a:tc>
                <a:tc>
                  <a:txBody>
                    <a:bodyPr/>
                    <a:lstStyle/>
                    <a:p>
                      <a:pPr algn="ctr" fontAlgn="t">
                        <a:spcBef>
                          <a:spcPts val="0"/>
                        </a:spcBef>
                        <a:spcAft>
                          <a:spcPts val="0"/>
                        </a:spcAft>
                      </a:pPr>
                      <a:r>
                        <a:rPr lang="en-US" sz="1800" u="none" strike="noStrike" dirty="0">
                          <a:effectLst/>
                        </a:rPr>
                        <a:t>Hub virtual network</a:t>
                      </a:r>
                      <a:endParaRPr lang="en-US" sz="1800" b="0" i="0" u="none" strike="noStrike" dirty="0">
                        <a:effectLst/>
                        <a:latin typeface="Arial" panose="020B0604020202020204" pitchFamily="34" charset="0"/>
                      </a:endParaRPr>
                    </a:p>
                  </a:txBody>
                  <a:tcPr marL="23521" marR="23521" marT="11760" marB="1176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effectLst/>
                        </a:rPr>
                        <a:t>Secured virtual hub</a:t>
                      </a:r>
                    </a:p>
                    <a:p>
                      <a:pPr algn="ctr" fontAlgn="t">
                        <a:spcBef>
                          <a:spcPts val="0"/>
                        </a:spcBef>
                        <a:spcAft>
                          <a:spcPts val="0"/>
                        </a:spcAft>
                      </a:pPr>
                      <a:endParaRPr lang="en-US" sz="1800" b="0" i="0" u="none" strike="noStrike" dirty="0">
                        <a:effectLst/>
                        <a:latin typeface="Arial" panose="020B0604020202020204" pitchFamily="34" charset="0"/>
                      </a:endParaRPr>
                    </a:p>
                  </a:txBody>
                  <a:tcPr marL="23521" marR="23521" marT="11760" marB="11760"/>
                </a:tc>
                <a:extLst>
                  <a:ext uri="{0D108BD9-81ED-4DB2-BD59-A6C34878D82A}">
                    <a16:rowId xmlns:a16="http://schemas.microsoft.com/office/drawing/2014/main" val="4000473179"/>
                  </a:ext>
                </a:extLst>
              </a:tr>
              <a:tr h="480085">
                <a:tc>
                  <a:txBody>
                    <a:bodyPr/>
                    <a:lstStyle/>
                    <a:p>
                      <a:pPr algn="l" fontAlgn="t">
                        <a:spcBef>
                          <a:spcPts val="0"/>
                        </a:spcBef>
                        <a:spcAft>
                          <a:spcPts val="0"/>
                        </a:spcAft>
                      </a:pPr>
                      <a:r>
                        <a:rPr lang="en-US" sz="1800" u="none" strike="noStrike" dirty="0">
                          <a:effectLst/>
                        </a:rPr>
                        <a:t>Azure Firewall Availability Zones</a:t>
                      </a:r>
                    </a:p>
                  </a:txBody>
                  <a:tcPr marL="23521" marR="23521" marT="11760" marB="11760"/>
                </a:tc>
                <a:tc>
                  <a:txBody>
                    <a:bodyPr/>
                    <a:lstStyle/>
                    <a:p>
                      <a:pPr algn="l" fontAlgn="t">
                        <a:spcBef>
                          <a:spcPts val="0"/>
                        </a:spcBef>
                        <a:spcAft>
                          <a:spcPts val="0"/>
                        </a:spcAft>
                      </a:pPr>
                      <a:r>
                        <a:rPr lang="en-US" sz="1800" u="none" strike="noStrike" kern="1200" dirty="0">
                          <a:solidFill>
                            <a:schemeClr val="dk1"/>
                          </a:solidFill>
                          <a:effectLst/>
                          <a:latin typeface="+mn-lt"/>
                          <a:ea typeface="+mn-ea"/>
                          <a:cs typeface="+mn-cs"/>
                        </a:rPr>
                        <a:t>Supported</a:t>
                      </a:r>
                    </a:p>
                  </a:txBody>
                  <a:tcPr marL="23521" marR="23521" marT="11760" marB="11760"/>
                </a:tc>
                <a:tc>
                  <a:txBody>
                    <a:bodyPr/>
                    <a:lstStyle/>
                    <a:p>
                      <a:pPr marL="0" algn="l" defTabSz="914400" rtl="0" eaLnBrk="1" fontAlgn="t" latinLnBrk="0" hangingPunct="1">
                        <a:spcBef>
                          <a:spcPts val="0"/>
                        </a:spcBef>
                        <a:spcAft>
                          <a:spcPts val="0"/>
                        </a:spcAft>
                      </a:pPr>
                      <a:r>
                        <a:rPr lang="en-US" sz="1800" u="none" strike="noStrike" kern="1200" dirty="0">
                          <a:solidFill>
                            <a:schemeClr val="dk1"/>
                          </a:solidFill>
                          <a:effectLst/>
                          <a:latin typeface="+mn-lt"/>
                          <a:ea typeface="+mn-ea"/>
                          <a:cs typeface="+mn-cs"/>
                        </a:rPr>
                        <a:t>Not yet available</a:t>
                      </a:r>
                    </a:p>
                  </a:txBody>
                  <a:tcPr marL="23521" marR="23521" marT="11760" marB="11760"/>
                </a:tc>
                <a:extLst>
                  <a:ext uri="{0D108BD9-81ED-4DB2-BD59-A6C34878D82A}">
                    <a16:rowId xmlns:a16="http://schemas.microsoft.com/office/drawing/2014/main" val="1112728941"/>
                  </a:ext>
                </a:extLst>
              </a:tr>
              <a:tr h="718833">
                <a:tc>
                  <a:txBody>
                    <a:bodyPr/>
                    <a:lstStyle/>
                    <a:p>
                      <a:pPr algn="l" fontAlgn="t">
                        <a:spcBef>
                          <a:spcPts val="0"/>
                        </a:spcBef>
                        <a:spcAft>
                          <a:spcPts val="0"/>
                        </a:spcAft>
                      </a:pPr>
                      <a:r>
                        <a:rPr lang="en-US" sz="1800" u="none" strike="noStrike" dirty="0">
                          <a:effectLst/>
                        </a:rPr>
                        <a:t>Advanced Internet security with third-party Security as a Service partners</a:t>
                      </a:r>
                    </a:p>
                  </a:txBody>
                  <a:tcPr marL="23521" marR="23521" marT="11760" marB="11760"/>
                </a:tc>
                <a:tc>
                  <a:txBody>
                    <a:bodyPr/>
                    <a:lstStyle/>
                    <a:p>
                      <a:pPr algn="l" fontAlgn="t">
                        <a:spcBef>
                          <a:spcPts val="0"/>
                        </a:spcBef>
                        <a:spcAft>
                          <a:spcPts val="0"/>
                        </a:spcAft>
                      </a:pPr>
                      <a:r>
                        <a:rPr lang="en-US" sz="1800" u="none" strike="noStrike" kern="1200" dirty="0">
                          <a:solidFill>
                            <a:schemeClr val="dk1"/>
                          </a:solidFill>
                          <a:effectLst/>
                          <a:latin typeface="+mn-lt"/>
                          <a:ea typeface="+mn-ea"/>
                          <a:cs typeface="+mn-cs"/>
                        </a:rPr>
                        <a:t>Customer established and managed VPN connectivity to partner service of choice</a:t>
                      </a:r>
                    </a:p>
                  </a:txBody>
                  <a:tcPr marL="23521" marR="23521" marT="11760" marB="11760"/>
                </a:tc>
                <a:tc>
                  <a:txBody>
                    <a:bodyPr/>
                    <a:lstStyle/>
                    <a:p>
                      <a:pPr marL="0" algn="l" defTabSz="914400" rtl="0" eaLnBrk="1" fontAlgn="t" latinLnBrk="0" hangingPunct="1">
                        <a:spcBef>
                          <a:spcPts val="0"/>
                        </a:spcBef>
                        <a:spcAft>
                          <a:spcPts val="0"/>
                        </a:spcAft>
                      </a:pPr>
                      <a:r>
                        <a:rPr lang="en-US" sz="1800" u="none" strike="noStrike" kern="1200" dirty="0">
                          <a:solidFill>
                            <a:schemeClr val="dk1"/>
                          </a:solidFill>
                          <a:effectLst/>
                          <a:latin typeface="+mn-lt"/>
                          <a:ea typeface="+mn-ea"/>
                          <a:cs typeface="+mn-cs"/>
                        </a:rPr>
                        <a:t>Automated via security partner provider flow and partner management experience</a:t>
                      </a:r>
                    </a:p>
                  </a:txBody>
                  <a:tcPr marL="23521" marR="23521" marT="11760" marB="11760"/>
                </a:tc>
                <a:extLst>
                  <a:ext uri="{0D108BD9-81ED-4DB2-BD59-A6C34878D82A}">
                    <a16:rowId xmlns:a16="http://schemas.microsoft.com/office/drawing/2014/main" val="4133074030"/>
                  </a:ext>
                </a:extLst>
              </a:tr>
              <a:tr h="718833">
                <a:tc>
                  <a:txBody>
                    <a:bodyPr/>
                    <a:lstStyle/>
                    <a:p>
                      <a:pPr algn="l" fontAlgn="t">
                        <a:spcBef>
                          <a:spcPts val="0"/>
                        </a:spcBef>
                        <a:spcAft>
                          <a:spcPts val="0"/>
                        </a:spcAft>
                      </a:pPr>
                      <a:r>
                        <a:rPr lang="en-US" sz="1800" u="none" strike="noStrike" dirty="0">
                          <a:effectLst/>
                        </a:rPr>
                        <a:t>Centralized route management to route traffic to the hub</a:t>
                      </a:r>
                    </a:p>
                  </a:txBody>
                  <a:tcPr marL="23521" marR="23521" marT="11760" marB="11760"/>
                </a:tc>
                <a:tc>
                  <a:txBody>
                    <a:bodyPr/>
                    <a:lstStyle/>
                    <a:p>
                      <a:pPr algn="l" fontAlgn="t">
                        <a:spcBef>
                          <a:spcPts val="0"/>
                        </a:spcBef>
                        <a:spcAft>
                          <a:spcPts val="0"/>
                        </a:spcAft>
                      </a:pPr>
                      <a:r>
                        <a:rPr lang="en-US" sz="1800" u="none" strike="noStrike" kern="1200" dirty="0">
                          <a:solidFill>
                            <a:schemeClr val="dk1"/>
                          </a:solidFill>
                          <a:effectLst/>
                          <a:latin typeface="+mn-lt"/>
                          <a:ea typeface="+mn-ea"/>
                          <a:cs typeface="+mn-cs"/>
                        </a:rPr>
                        <a:t>Customer-managed User Defined Route</a:t>
                      </a:r>
                    </a:p>
                  </a:txBody>
                  <a:tcPr marL="23521" marR="23521" marT="11760" marB="11760"/>
                </a:tc>
                <a:tc>
                  <a:txBody>
                    <a:bodyPr/>
                    <a:lstStyle/>
                    <a:p>
                      <a:pPr marL="0" algn="l" defTabSz="914400" rtl="0" eaLnBrk="1" fontAlgn="t" latinLnBrk="0" hangingPunct="1">
                        <a:spcBef>
                          <a:spcPts val="0"/>
                        </a:spcBef>
                        <a:spcAft>
                          <a:spcPts val="0"/>
                        </a:spcAft>
                      </a:pPr>
                      <a:r>
                        <a:rPr lang="en-US" sz="1800" u="none" strike="noStrike" kern="1200" dirty="0">
                          <a:solidFill>
                            <a:schemeClr val="dk1"/>
                          </a:solidFill>
                          <a:effectLst/>
                          <a:latin typeface="+mn-lt"/>
                          <a:ea typeface="+mn-ea"/>
                          <a:cs typeface="+mn-cs"/>
                        </a:rPr>
                        <a:t>Supported using BGP</a:t>
                      </a:r>
                    </a:p>
                  </a:txBody>
                  <a:tcPr marL="23521" marR="23521" marT="11760" marB="11760"/>
                </a:tc>
                <a:extLst>
                  <a:ext uri="{0D108BD9-81ED-4DB2-BD59-A6C34878D82A}">
                    <a16:rowId xmlns:a16="http://schemas.microsoft.com/office/drawing/2014/main" val="3563285520"/>
                  </a:ext>
                </a:extLst>
              </a:tr>
              <a:tr h="595150">
                <a:tc>
                  <a:txBody>
                    <a:bodyPr/>
                    <a:lstStyle/>
                    <a:p>
                      <a:pPr algn="l" fontAlgn="t">
                        <a:spcBef>
                          <a:spcPts val="0"/>
                        </a:spcBef>
                        <a:spcAft>
                          <a:spcPts val="0"/>
                        </a:spcAft>
                      </a:pPr>
                      <a:r>
                        <a:rPr lang="en-US" sz="1800" u="none" strike="noStrike" dirty="0">
                          <a:effectLst/>
                        </a:rPr>
                        <a:t>Multiple security provider support</a:t>
                      </a:r>
                    </a:p>
                  </a:txBody>
                  <a:tcPr marL="23521" marR="23521" marT="11760" marB="11760"/>
                </a:tc>
                <a:tc>
                  <a:txBody>
                    <a:bodyPr/>
                    <a:lstStyle/>
                    <a:p>
                      <a:pPr algn="l" fontAlgn="t">
                        <a:spcBef>
                          <a:spcPts val="0"/>
                        </a:spcBef>
                        <a:spcAft>
                          <a:spcPts val="0"/>
                        </a:spcAft>
                      </a:pPr>
                      <a:r>
                        <a:rPr lang="en-US" sz="1800" u="none" strike="noStrike" kern="1200" dirty="0">
                          <a:solidFill>
                            <a:schemeClr val="dk1"/>
                          </a:solidFill>
                          <a:effectLst/>
                          <a:latin typeface="+mn-lt"/>
                          <a:ea typeface="+mn-ea"/>
                          <a:cs typeface="+mn-cs"/>
                        </a:rPr>
                        <a:t>Supported with manually configured forced tunneling to third-party firewalls</a:t>
                      </a:r>
                    </a:p>
                  </a:txBody>
                  <a:tcPr marL="23521" marR="23521" marT="11760" marB="11760"/>
                </a:tc>
                <a:tc>
                  <a:txBody>
                    <a:bodyPr/>
                    <a:lstStyle/>
                    <a:p>
                      <a:pPr marL="0" algn="l" defTabSz="914400" rtl="0" eaLnBrk="1" fontAlgn="t" latinLnBrk="0" hangingPunct="1">
                        <a:spcBef>
                          <a:spcPts val="0"/>
                        </a:spcBef>
                        <a:spcAft>
                          <a:spcPts val="0"/>
                        </a:spcAft>
                      </a:pPr>
                      <a:r>
                        <a:rPr lang="en-US" sz="1800" u="none" strike="noStrike" kern="1200" dirty="0">
                          <a:solidFill>
                            <a:schemeClr val="dk1"/>
                          </a:solidFill>
                          <a:effectLst/>
                          <a:latin typeface="+mn-lt"/>
                          <a:ea typeface="+mn-ea"/>
                          <a:cs typeface="+mn-cs"/>
                        </a:rPr>
                        <a:t>Automated support for two security providers: Azure Firewall for private traffic filtering and third party for Internet filtering</a:t>
                      </a:r>
                    </a:p>
                  </a:txBody>
                  <a:tcPr marL="23521" marR="23521" marT="11760" marB="11760"/>
                </a:tc>
                <a:extLst>
                  <a:ext uri="{0D108BD9-81ED-4DB2-BD59-A6C34878D82A}">
                    <a16:rowId xmlns:a16="http://schemas.microsoft.com/office/drawing/2014/main" val="301574418"/>
                  </a:ext>
                </a:extLst>
              </a:tr>
              <a:tr h="718833">
                <a:tc>
                  <a:txBody>
                    <a:bodyPr/>
                    <a:lstStyle/>
                    <a:p>
                      <a:pPr algn="l" fontAlgn="t">
                        <a:spcBef>
                          <a:spcPts val="0"/>
                        </a:spcBef>
                        <a:spcAft>
                          <a:spcPts val="0"/>
                        </a:spcAft>
                      </a:pPr>
                      <a:r>
                        <a:rPr lang="en-US" sz="1800" u="none" strike="noStrike" dirty="0">
                          <a:effectLst/>
                        </a:rPr>
                        <a:t>Web Application Firewall on Application Gateway</a:t>
                      </a:r>
                    </a:p>
                  </a:txBody>
                  <a:tcPr marL="23521" marR="23521" marT="11760" marB="11760"/>
                </a:tc>
                <a:tc>
                  <a:txBody>
                    <a:bodyPr/>
                    <a:lstStyle/>
                    <a:p>
                      <a:pPr algn="l" fontAlgn="t">
                        <a:spcBef>
                          <a:spcPts val="0"/>
                        </a:spcBef>
                        <a:spcAft>
                          <a:spcPts val="0"/>
                        </a:spcAft>
                      </a:pPr>
                      <a:r>
                        <a:rPr lang="en-US" sz="1800" u="none" strike="noStrike" kern="1200" dirty="0">
                          <a:solidFill>
                            <a:schemeClr val="dk1"/>
                          </a:solidFill>
                          <a:effectLst/>
                          <a:latin typeface="+mn-lt"/>
                          <a:ea typeface="+mn-ea"/>
                          <a:cs typeface="+mn-cs"/>
                        </a:rPr>
                        <a:t>Supported in Virtual Network</a:t>
                      </a:r>
                    </a:p>
                  </a:txBody>
                  <a:tcPr marL="23521" marR="23521" marT="11760" marB="11760"/>
                </a:tc>
                <a:tc>
                  <a:txBody>
                    <a:bodyPr/>
                    <a:lstStyle/>
                    <a:p>
                      <a:pPr marL="0" algn="l" defTabSz="914400" rtl="0" eaLnBrk="1" fontAlgn="t" latinLnBrk="0" hangingPunct="1">
                        <a:spcBef>
                          <a:spcPts val="0"/>
                        </a:spcBef>
                        <a:spcAft>
                          <a:spcPts val="0"/>
                        </a:spcAft>
                      </a:pPr>
                      <a:r>
                        <a:rPr lang="en-US" sz="1800" u="none" strike="noStrike" kern="1200" dirty="0">
                          <a:solidFill>
                            <a:schemeClr val="dk1"/>
                          </a:solidFill>
                          <a:effectLst/>
                          <a:latin typeface="+mn-lt"/>
                          <a:ea typeface="+mn-ea"/>
                          <a:cs typeface="+mn-cs"/>
                        </a:rPr>
                        <a:t>Currently supported in spoke network</a:t>
                      </a:r>
                    </a:p>
                  </a:txBody>
                  <a:tcPr marL="23521" marR="23521" marT="11760" marB="11760"/>
                </a:tc>
                <a:extLst>
                  <a:ext uri="{0D108BD9-81ED-4DB2-BD59-A6C34878D82A}">
                    <a16:rowId xmlns:a16="http://schemas.microsoft.com/office/drawing/2014/main" val="2722395150"/>
                  </a:ext>
                </a:extLst>
              </a:tr>
              <a:tr h="527711">
                <a:tc>
                  <a:txBody>
                    <a:bodyPr/>
                    <a:lstStyle/>
                    <a:p>
                      <a:pPr algn="l" fontAlgn="t">
                        <a:spcBef>
                          <a:spcPts val="0"/>
                        </a:spcBef>
                        <a:spcAft>
                          <a:spcPts val="0"/>
                        </a:spcAft>
                      </a:pPr>
                      <a:r>
                        <a:rPr lang="en-US" sz="1800" u="none" strike="noStrike" dirty="0">
                          <a:effectLst/>
                        </a:rPr>
                        <a:t>Network Virtual Appliance</a:t>
                      </a:r>
                    </a:p>
                  </a:txBody>
                  <a:tcPr marL="23521" marR="23521" marT="11760" marB="11760"/>
                </a:tc>
                <a:tc>
                  <a:txBody>
                    <a:bodyPr/>
                    <a:lstStyle/>
                    <a:p>
                      <a:pPr algn="l" fontAlgn="t">
                        <a:spcBef>
                          <a:spcPts val="0"/>
                        </a:spcBef>
                        <a:spcAft>
                          <a:spcPts val="0"/>
                        </a:spcAft>
                      </a:pPr>
                      <a:r>
                        <a:rPr lang="en-US" sz="1800" u="none" strike="noStrike" kern="1200" dirty="0">
                          <a:solidFill>
                            <a:schemeClr val="dk1"/>
                          </a:solidFill>
                          <a:effectLst/>
                          <a:latin typeface="+mn-lt"/>
                          <a:ea typeface="+mn-ea"/>
                          <a:cs typeface="+mn-cs"/>
                        </a:rPr>
                        <a:t>Supported in Virtual Network</a:t>
                      </a:r>
                    </a:p>
                  </a:txBody>
                  <a:tcPr marL="23521" marR="23521" marT="11760" marB="11760"/>
                </a:tc>
                <a:tc>
                  <a:txBody>
                    <a:bodyPr/>
                    <a:lstStyle/>
                    <a:p>
                      <a:pPr marL="0" algn="l" defTabSz="914400" rtl="0" eaLnBrk="1" fontAlgn="t" latinLnBrk="0" hangingPunct="1">
                        <a:spcBef>
                          <a:spcPts val="0"/>
                        </a:spcBef>
                        <a:spcAft>
                          <a:spcPts val="0"/>
                        </a:spcAft>
                      </a:pPr>
                      <a:r>
                        <a:rPr lang="en-US" sz="1800" u="none" strike="noStrike" kern="1200" dirty="0">
                          <a:solidFill>
                            <a:schemeClr val="dk1"/>
                          </a:solidFill>
                          <a:effectLst/>
                          <a:latin typeface="+mn-lt"/>
                          <a:ea typeface="+mn-ea"/>
                          <a:cs typeface="+mn-cs"/>
                        </a:rPr>
                        <a:t>Currently supported in spoke network</a:t>
                      </a:r>
                    </a:p>
                  </a:txBody>
                  <a:tcPr marL="23521" marR="23521" marT="11760" marB="11760"/>
                </a:tc>
                <a:extLst>
                  <a:ext uri="{0D108BD9-81ED-4DB2-BD59-A6C34878D82A}">
                    <a16:rowId xmlns:a16="http://schemas.microsoft.com/office/drawing/2014/main" val="3123779781"/>
                  </a:ext>
                </a:extLst>
              </a:tr>
              <a:tr h="374469">
                <a:tc>
                  <a:txBody>
                    <a:bodyPr/>
                    <a:lstStyle/>
                    <a:p>
                      <a:pPr algn="l" fontAlgn="t">
                        <a:spcBef>
                          <a:spcPts val="0"/>
                        </a:spcBef>
                        <a:spcAft>
                          <a:spcPts val="0"/>
                        </a:spcAft>
                      </a:pPr>
                      <a:r>
                        <a:rPr lang="en-US" sz="1800" u="none" strike="noStrike" dirty="0">
                          <a:effectLst/>
                        </a:rPr>
                        <a:t>Azure DDoS Protection Standard support</a:t>
                      </a:r>
                    </a:p>
                  </a:txBody>
                  <a:tcPr marL="23521" marR="23521" marT="11760" marB="11760"/>
                </a:tc>
                <a:tc>
                  <a:txBody>
                    <a:bodyPr/>
                    <a:lstStyle/>
                    <a:p>
                      <a:pPr algn="l" fontAlgn="t">
                        <a:spcBef>
                          <a:spcPts val="0"/>
                        </a:spcBef>
                        <a:spcAft>
                          <a:spcPts val="0"/>
                        </a:spcAft>
                      </a:pPr>
                      <a:r>
                        <a:rPr lang="en-US" sz="1800" u="none" strike="noStrike" kern="1200" dirty="0">
                          <a:solidFill>
                            <a:schemeClr val="dk1"/>
                          </a:solidFill>
                          <a:effectLst/>
                          <a:latin typeface="+mn-lt"/>
                          <a:ea typeface="+mn-ea"/>
                          <a:cs typeface="+mn-cs"/>
                        </a:rPr>
                        <a:t>Yes</a:t>
                      </a:r>
                    </a:p>
                  </a:txBody>
                  <a:tcPr marL="23521" marR="23521" marT="11760" marB="11760"/>
                </a:tc>
                <a:tc>
                  <a:txBody>
                    <a:bodyPr/>
                    <a:lstStyle/>
                    <a:p>
                      <a:pPr marL="0" algn="l" defTabSz="914400" rtl="0" eaLnBrk="1" fontAlgn="t" latinLnBrk="0" hangingPunct="1">
                        <a:spcBef>
                          <a:spcPts val="0"/>
                        </a:spcBef>
                        <a:spcAft>
                          <a:spcPts val="0"/>
                        </a:spcAft>
                      </a:pPr>
                      <a:r>
                        <a:rPr lang="en-US" sz="1800" u="none" strike="noStrike" kern="1200" dirty="0">
                          <a:solidFill>
                            <a:schemeClr val="dk1"/>
                          </a:solidFill>
                          <a:effectLst/>
                          <a:latin typeface="+mn-lt"/>
                          <a:ea typeface="+mn-ea"/>
                          <a:cs typeface="+mn-cs"/>
                        </a:rPr>
                        <a:t>No</a:t>
                      </a:r>
                    </a:p>
                  </a:txBody>
                  <a:tcPr marL="23521" marR="23521" marT="11760" marB="11760"/>
                </a:tc>
                <a:extLst>
                  <a:ext uri="{0D108BD9-81ED-4DB2-BD59-A6C34878D82A}">
                    <a16:rowId xmlns:a16="http://schemas.microsoft.com/office/drawing/2014/main" val="1961936780"/>
                  </a:ext>
                </a:extLst>
              </a:tr>
            </a:tbl>
          </a:graphicData>
        </a:graphic>
      </p:graphicFrame>
    </p:spTree>
    <p:extLst>
      <p:ext uri="{BB962C8B-B14F-4D97-AF65-F5344CB8AC3E}">
        <p14:creationId xmlns:p14="http://schemas.microsoft.com/office/powerpoint/2010/main" val="235887075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5276C-E596-4EB8-8167-DA7FAB9DC139}"/>
              </a:ext>
            </a:extLst>
          </p:cNvPr>
          <p:cNvSpPr>
            <a:spLocks noGrp="1"/>
          </p:cNvSpPr>
          <p:nvPr>
            <p:ph type="title"/>
          </p:nvPr>
        </p:nvSpPr>
        <p:spPr>
          <a:xfrm>
            <a:off x="424090" y="466096"/>
            <a:ext cx="11343820" cy="397545"/>
          </a:xfrm>
        </p:spPr>
        <p:txBody>
          <a:bodyPr/>
          <a:lstStyle/>
          <a:p>
            <a:r>
              <a:rPr lang="en-US" sz="2800">
                <a:cs typeface="Segoe UI Semilight"/>
              </a:rPr>
              <a:t>Deploying Azure Firewall Manager</a:t>
            </a:r>
            <a:endParaRPr lang="en-US"/>
          </a:p>
        </p:txBody>
      </p:sp>
      <p:sp>
        <p:nvSpPr>
          <p:cNvPr id="2" name="Rectangle 1">
            <a:extLst>
              <a:ext uri="{FF2B5EF4-FFF2-40B4-BE49-F238E27FC236}">
                <a16:creationId xmlns:a16="http://schemas.microsoft.com/office/drawing/2014/main" id="{93A521B0-6874-44CE-8C0F-909904D64F96}"/>
              </a:ext>
            </a:extLst>
          </p:cNvPr>
          <p:cNvSpPr/>
          <p:nvPr/>
        </p:nvSpPr>
        <p:spPr>
          <a:xfrm>
            <a:off x="424090" y="1261906"/>
            <a:ext cx="5575878" cy="422449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l"/>
            <a:r>
              <a:rPr lang="en-US" b="1" i="0">
                <a:solidFill>
                  <a:srgbClr val="171717"/>
                </a:solidFill>
                <a:effectLst/>
                <a:latin typeface="Segoe UI" panose="020B0502040204020203" pitchFamily="34" charset="0"/>
              </a:rPr>
              <a:t>Hub virtual networks</a:t>
            </a:r>
          </a:p>
          <a:p>
            <a:pPr algn="l"/>
            <a:endParaRPr lang="en-US" b="1" i="0">
              <a:solidFill>
                <a:srgbClr val="171717"/>
              </a:solidFill>
              <a:effectLst/>
              <a:latin typeface="Segoe UI" panose="020B0502040204020203" pitchFamily="34" charset="0"/>
            </a:endParaRPr>
          </a:p>
          <a:p>
            <a:pPr algn="l">
              <a:buFont typeface="+mj-lt"/>
              <a:buAutoNum type="arabicPeriod"/>
            </a:pPr>
            <a:r>
              <a:rPr lang="en-US" b="0" i="0">
                <a:solidFill>
                  <a:srgbClr val="171717"/>
                </a:solidFill>
                <a:effectLst/>
                <a:latin typeface="Segoe UI" panose="020B0502040204020203" pitchFamily="34" charset="0"/>
              </a:rPr>
              <a:t> Create a firewall policy</a:t>
            </a:r>
          </a:p>
          <a:p>
            <a:pPr algn="l">
              <a:buFont typeface="+mj-lt"/>
              <a:buAutoNum type="arabicPeriod"/>
            </a:pPr>
            <a:r>
              <a:rPr lang="en-US" b="0" i="0">
                <a:solidFill>
                  <a:srgbClr val="171717"/>
                </a:solidFill>
                <a:effectLst/>
                <a:latin typeface="Segoe UI" panose="020B0502040204020203" pitchFamily="34" charset="0"/>
              </a:rPr>
              <a:t> Create your hub and spoke architecture</a:t>
            </a:r>
          </a:p>
          <a:p>
            <a:pPr algn="l">
              <a:buFont typeface="+mj-lt"/>
              <a:buAutoNum type="arabicPeriod"/>
            </a:pPr>
            <a:r>
              <a:rPr lang="en-US" b="0" i="0">
                <a:solidFill>
                  <a:srgbClr val="171717"/>
                </a:solidFill>
                <a:effectLst/>
                <a:latin typeface="Segoe UI" panose="020B0502040204020203" pitchFamily="34" charset="0"/>
              </a:rPr>
              <a:t> Select security providers and associate firewall policy. Currently, only Azure Firewall is a supported provider.</a:t>
            </a:r>
          </a:p>
          <a:p>
            <a:pPr algn="l">
              <a:buFont typeface="+mj-lt"/>
              <a:buAutoNum type="arabicPeriod"/>
            </a:pPr>
            <a:r>
              <a:rPr lang="en-US" b="0" i="0">
                <a:solidFill>
                  <a:srgbClr val="171717"/>
                </a:solidFill>
                <a:effectLst/>
                <a:latin typeface="Segoe UI" panose="020B0502040204020203" pitchFamily="34" charset="0"/>
              </a:rPr>
              <a:t> Configure User Define Routes to route traffic to your Hub Virtual Network firewall.</a:t>
            </a:r>
          </a:p>
        </p:txBody>
      </p:sp>
      <p:sp>
        <p:nvSpPr>
          <p:cNvPr id="6" name="Rectangle 5">
            <a:extLst>
              <a:ext uri="{FF2B5EF4-FFF2-40B4-BE49-F238E27FC236}">
                <a16:creationId xmlns:a16="http://schemas.microsoft.com/office/drawing/2014/main" id="{FAE3344C-5FFA-4017-AEF4-C29617D58EB8}"/>
              </a:ext>
            </a:extLst>
          </p:cNvPr>
          <p:cNvSpPr/>
          <p:nvPr/>
        </p:nvSpPr>
        <p:spPr>
          <a:xfrm>
            <a:off x="6288359" y="1261906"/>
            <a:ext cx="5575878" cy="422449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l"/>
            <a:r>
              <a:rPr lang="en-US" b="1" i="0">
                <a:solidFill>
                  <a:srgbClr val="171717"/>
                </a:solidFill>
                <a:effectLst/>
                <a:latin typeface="Segoe UI" panose="020B0502040204020203" pitchFamily="34" charset="0"/>
              </a:rPr>
              <a:t>Secured virtual WAN hubs</a:t>
            </a:r>
          </a:p>
          <a:p>
            <a:pPr algn="l"/>
            <a:endParaRPr lang="en-US" b="1" i="0">
              <a:solidFill>
                <a:srgbClr val="171717"/>
              </a:solidFill>
              <a:effectLst/>
              <a:latin typeface="Segoe UI" panose="020B0502040204020203" pitchFamily="34" charset="0"/>
            </a:endParaRPr>
          </a:p>
          <a:p>
            <a:pPr algn="l">
              <a:buFont typeface="+mj-lt"/>
              <a:buAutoNum type="arabicPeriod"/>
            </a:pPr>
            <a:r>
              <a:rPr lang="en-US" b="0" i="0">
                <a:solidFill>
                  <a:srgbClr val="171717"/>
                </a:solidFill>
                <a:effectLst/>
                <a:latin typeface="Segoe UI" panose="020B0502040204020203" pitchFamily="34" charset="0"/>
              </a:rPr>
              <a:t> Create your hub and spoke architecture</a:t>
            </a:r>
          </a:p>
          <a:p>
            <a:pPr algn="l">
              <a:buFont typeface="+mj-lt"/>
              <a:buAutoNum type="arabicPeriod"/>
            </a:pPr>
            <a:r>
              <a:rPr lang="en-US" b="0" i="0">
                <a:solidFill>
                  <a:srgbClr val="171717"/>
                </a:solidFill>
                <a:effectLst/>
                <a:latin typeface="Segoe UI" panose="020B0502040204020203" pitchFamily="34" charset="0"/>
              </a:rPr>
              <a:t> Select security providers</a:t>
            </a:r>
          </a:p>
          <a:p>
            <a:pPr algn="l">
              <a:buFont typeface="+mj-lt"/>
              <a:buAutoNum type="arabicPeriod"/>
            </a:pPr>
            <a:r>
              <a:rPr lang="en-US" b="0" i="0">
                <a:solidFill>
                  <a:srgbClr val="171717"/>
                </a:solidFill>
                <a:effectLst/>
                <a:latin typeface="Segoe UI" panose="020B0502040204020203" pitchFamily="34" charset="0"/>
              </a:rPr>
              <a:t> Create a firewall policy and associate it with your hub</a:t>
            </a:r>
          </a:p>
          <a:p>
            <a:pPr algn="l">
              <a:buFont typeface="+mj-lt"/>
              <a:buAutoNum type="arabicPeriod"/>
            </a:pPr>
            <a:r>
              <a:rPr lang="en-US" b="0" i="0">
                <a:solidFill>
                  <a:srgbClr val="171717"/>
                </a:solidFill>
                <a:effectLst/>
                <a:latin typeface="Segoe UI" panose="020B0502040204020203" pitchFamily="34" charset="0"/>
              </a:rPr>
              <a:t> Configure route settings to route traffic to your secured hub</a:t>
            </a:r>
          </a:p>
        </p:txBody>
      </p:sp>
    </p:spTree>
    <p:extLst>
      <p:ext uri="{BB962C8B-B14F-4D97-AF65-F5344CB8AC3E}">
        <p14:creationId xmlns:p14="http://schemas.microsoft.com/office/powerpoint/2010/main" val="286938753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Demonstration </a:t>
            </a:r>
          </a:p>
        </p:txBody>
      </p:sp>
      <p:sp>
        <p:nvSpPr>
          <p:cNvPr id="6" name="Text Placeholder 5"/>
          <p:cNvSpPr>
            <a:spLocks noGrp="1"/>
          </p:cNvSpPr>
          <p:nvPr>
            <p:ph type="body" sz="quarter" idx="11"/>
          </p:nvPr>
        </p:nvSpPr>
        <p:spPr/>
        <p:txBody>
          <a:bodyPr/>
          <a:lstStyle/>
          <a:p>
            <a:pPr lvl="1"/>
            <a:r>
              <a:rPr lang="en-US" dirty="0"/>
              <a:t>Create a firewall policy</a:t>
            </a:r>
          </a:p>
        </p:txBody>
      </p:sp>
      <p:sp>
        <p:nvSpPr>
          <p:cNvPr id="2" name="Text Placeholder 1"/>
          <p:cNvSpPr>
            <a:spLocks noGrp="1"/>
          </p:cNvSpPr>
          <p:nvPr>
            <p:ph type="body" sz="quarter" idx="15"/>
          </p:nvPr>
        </p:nvSpPr>
        <p:spPr/>
        <p:txBody>
          <a:bodyPr/>
          <a:lstStyle/>
          <a:p>
            <a:pPr lvl="1"/>
            <a:r>
              <a:rPr lang="en-US" dirty="0"/>
              <a:t>Create the virtual networks</a:t>
            </a:r>
          </a:p>
        </p:txBody>
      </p:sp>
      <p:sp>
        <p:nvSpPr>
          <p:cNvPr id="3" name="Text Placeholder 2"/>
          <p:cNvSpPr>
            <a:spLocks noGrp="1"/>
          </p:cNvSpPr>
          <p:nvPr>
            <p:ph type="body" sz="quarter" idx="17"/>
          </p:nvPr>
        </p:nvSpPr>
        <p:spPr/>
        <p:txBody>
          <a:bodyPr/>
          <a:lstStyle/>
          <a:p>
            <a:pPr lvl="1"/>
            <a:r>
              <a:rPr lang="en-US" dirty="0"/>
              <a:t>Configure and deploy the firewall</a:t>
            </a:r>
          </a:p>
        </p:txBody>
      </p:sp>
      <p:sp>
        <p:nvSpPr>
          <p:cNvPr id="4" name="Text Placeholder 3"/>
          <p:cNvSpPr>
            <a:spLocks noGrp="1"/>
          </p:cNvSpPr>
          <p:nvPr>
            <p:ph type="body" sz="quarter" idx="19"/>
          </p:nvPr>
        </p:nvSpPr>
        <p:spPr/>
        <p:txBody>
          <a:bodyPr/>
          <a:lstStyle/>
          <a:p>
            <a:pPr lvl="1"/>
            <a:r>
              <a:rPr lang="en-US" dirty="0"/>
              <a:t>Create and connect the VPN gateways</a:t>
            </a:r>
          </a:p>
        </p:txBody>
      </p:sp>
      <p:sp>
        <p:nvSpPr>
          <p:cNvPr id="8" name="Text Placeholder 7">
            <a:extLst>
              <a:ext uri="{FF2B5EF4-FFF2-40B4-BE49-F238E27FC236}">
                <a16:creationId xmlns:a16="http://schemas.microsoft.com/office/drawing/2014/main" id="{4C970C09-C124-49EF-A806-956DD6EAA798}"/>
              </a:ext>
            </a:extLst>
          </p:cNvPr>
          <p:cNvSpPr>
            <a:spLocks noGrp="1"/>
          </p:cNvSpPr>
          <p:nvPr>
            <p:ph type="body" sz="quarter" idx="31"/>
          </p:nvPr>
        </p:nvSpPr>
        <p:spPr/>
        <p:txBody>
          <a:bodyPr/>
          <a:lstStyle/>
          <a:p>
            <a:pPr lvl="1"/>
            <a:r>
              <a:rPr lang="en-US" dirty="0"/>
              <a:t>Peer the hub and spoke virtual networks</a:t>
            </a:r>
          </a:p>
        </p:txBody>
      </p:sp>
      <p:sp>
        <p:nvSpPr>
          <p:cNvPr id="9" name="Text Placeholder 8">
            <a:extLst>
              <a:ext uri="{FF2B5EF4-FFF2-40B4-BE49-F238E27FC236}">
                <a16:creationId xmlns:a16="http://schemas.microsoft.com/office/drawing/2014/main" id="{597E9C1C-70B1-4FF1-BDCE-E3611225B156}"/>
              </a:ext>
            </a:extLst>
          </p:cNvPr>
          <p:cNvSpPr>
            <a:spLocks noGrp="1"/>
          </p:cNvSpPr>
          <p:nvPr>
            <p:ph type="body" sz="quarter" idx="32"/>
          </p:nvPr>
        </p:nvSpPr>
        <p:spPr/>
        <p:txBody>
          <a:bodyPr/>
          <a:lstStyle/>
          <a:p>
            <a:pPr lvl="1"/>
            <a:r>
              <a:rPr lang="en-US" dirty="0"/>
              <a:t>Create the routes</a:t>
            </a:r>
          </a:p>
        </p:txBody>
      </p:sp>
      <p:sp>
        <p:nvSpPr>
          <p:cNvPr id="10" name="Text Placeholder 9">
            <a:extLst>
              <a:ext uri="{FF2B5EF4-FFF2-40B4-BE49-F238E27FC236}">
                <a16:creationId xmlns:a16="http://schemas.microsoft.com/office/drawing/2014/main" id="{2D95B341-ABC5-4ED8-9462-B7B4216DF042}"/>
              </a:ext>
            </a:extLst>
          </p:cNvPr>
          <p:cNvSpPr>
            <a:spLocks noGrp="1"/>
          </p:cNvSpPr>
          <p:nvPr>
            <p:ph type="body" sz="quarter" idx="33"/>
          </p:nvPr>
        </p:nvSpPr>
        <p:spPr/>
        <p:txBody>
          <a:bodyPr/>
          <a:lstStyle/>
          <a:p>
            <a:pPr lvl="1"/>
            <a:r>
              <a:rPr lang="en-US" dirty="0"/>
              <a:t>Create the virtual machines</a:t>
            </a:r>
          </a:p>
        </p:txBody>
      </p:sp>
      <p:sp>
        <p:nvSpPr>
          <p:cNvPr id="11" name="Text Placeholder 10">
            <a:extLst>
              <a:ext uri="{FF2B5EF4-FFF2-40B4-BE49-F238E27FC236}">
                <a16:creationId xmlns:a16="http://schemas.microsoft.com/office/drawing/2014/main" id="{0B1D4227-99BD-41CF-8A9E-CAEF2A37B390}"/>
              </a:ext>
            </a:extLst>
          </p:cNvPr>
          <p:cNvSpPr>
            <a:spLocks noGrp="1"/>
          </p:cNvSpPr>
          <p:nvPr>
            <p:ph type="body" sz="quarter" idx="34"/>
          </p:nvPr>
        </p:nvSpPr>
        <p:spPr/>
        <p:txBody>
          <a:bodyPr/>
          <a:lstStyle/>
          <a:p>
            <a:pPr lvl="1"/>
            <a:r>
              <a:rPr lang="en-US" dirty="0"/>
              <a:t>Test the firewall</a:t>
            </a:r>
          </a:p>
        </p:txBody>
      </p:sp>
      <p:grpSp>
        <p:nvGrpSpPr>
          <p:cNvPr id="12" name="Group 11">
            <a:extLst>
              <a:ext uri="{FF2B5EF4-FFF2-40B4-BE49-F238E27FC236}">
                <a16:creationId xmlns:a16="http://schemas.microsoft.com/office/drawing/2014/main" id="{5CFDFB29-5CD2-4338-BC96-5E7A6E6B4148}"/>
              </a:ext>
              <a:ext uri="{C183D7F6-B498-43B3-948B-1728B52AA6E4}">
                <adec:decorative xmlns:adec="http://schemas.microsoft.com/office/drawing/2017/decorative" val="1"/>
              </a:ext>
            </a:extLst>
          </p:cNvPr>
          <p:cNvGrpSpPr/>
          <p:nvPr/>
        </p:nvGrpSpPr>
        <p:grpSpPr>
          <a:xfrm>
            <a:off x="418643" y="1441758"/>
            <a:ext cx="717140" cy="3255617"/>
            <a:chOff x="418643" y="1441758"/>
            <a:chExt cx="717140" cy="3255617"/>
          </a:xfrm>
        </p:grpSpPr>
        <p:grpSp>
          <p:nvGrpSpPr>
            <p:cNvPr id="41" name="Group 40">
              <a:extLst>
                <a:ext uri="{FF2B5EF4-FFF2-40B4-BE49-F238E27FC236}">
                  <a16:creationId xmlns:a16="http://schemas.microsoft.com/office/drawing/2014/main" id="{DDB96B85-21AC-4E2C-B52F-760B90C12459}"/>
                </a:ext>
              </a:extLst>
            </p:cNvPr>
            <p:cNvGrpSpPr/>
            <p:nvPr/>
          </p:nvGrpSpPr>
          <p:grpSpPr>
            <a:xfrm>
              <a:off x="418643" y="1441758"/>
              <a:ext cx="717140" cy="717242"/>
              <a:chOff x="418643" y="1441758"/>
              <a:chExt cx="717140" cy="717242"/>
            </a:xfrm>
          </p:grpSpPr>
          <p:grpSp>
            <p:nvGrpSpPr>
              <p:cNvPr id="23" name="Group 22">
                <a:extLst>
                  <a:ext uri="{FF2B5EF4-FFF2-40B4-BE49-F238E27FC236}">
                    <a16:creationId xmlns:a16="http://schemas.microsoft.com/office/drawing/2014/main" id="{CB713C76-4F2D-4DA7-8DFA-9C41878BB94E}"/>
                  </a:ext>
                </a:extLst>
              </p:cNvPr>
              <p:cNvGrpSpPr/>
              <p:nvPr/>
            </p:nvGrpSpPr>
            <p:grpSpPr>
              <a:xfrm>
                <a:off x="418643" y="1441758"/>
                <a:ext cx="717140" cy="717242"/>
                <a:chOff x="418643" y="1441758"/>
                <a:chExt cx="717140" cy="717242"/>
              </a:xfrm>
            </p:grpSpPr>
            <p:sp>
              <p:nvSpPr>
                <p:cNvPr id="437" name="Freeform 5">
                  <a:extLst>
                    <a:ext uri="{FF2B5EF4-FFF2-40B4-BE49-F238E27FC236}">
                      <a16:creationId xmlns:a16="http://schemas.microsoft.com/office/drawing/2014/main" id="{62DF44AF-1A0C-4B66-B6D6-EF98C8C6F9B2}"/>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38" name="Freeform 6">
                  <a:extLst>
                    <a:ext uri="{FF2B5EF4-FFF2-40B4-BE49-F238E27FC236}">
                      <a16:creationId xmlns:a16="http://schemas.microsoft.com/office/drawing/2014/main" id="{9CDBFDD5-398A-4CB1-B92E-B4D024B3A4E5}"/>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DD3B672E-8841-4C9C-BA26-55DF9EF6C671}"/>
                  </a:ext>
                </a:extLst>
              </p:cNvPr>
              <p:cNvPicPr>
                <a:picLocks noChangeAspect="1"/>
              </p:cNvPicPr>
              <p:nvPr/>
            </p:nvPicPr>
            <p:blipFill>
              <a:blip r:embed="rId3"/>
              <a:stretch>
                <a:fillRect/>
              </a:stretch>
            </p:blipFill>
            <p:spPr>
              <a:xfrm>
                <a:off x="588767" y="1611934"/>
                <a:ext cx="376892" cy="376890"/>
              </a:xfrm>
              <a:prstGeom prst="rect">
                <a:avLst/>
              </a:prstGeom>
            </p:spPr>
          </p:pic>
        </p:grpSp>
        <p:grpSp>
          <p:nvGrpSpPr>
            <p:cNvPr id="40" name="Group 39">
              <a:extLst>
                <a:ext uri="{FF2B5EF4-FFF2-40B4-BE49-F238E27FC236}">
                  <a16:creationId xmlns:a16="http://schemas.microsoft.com/office/drawing/2014/main" id="{8C858700-6A33-49E5-96C8-2D574B8F02ED}"/>
                </a:ext>
              </a:extLst>
            </p:cNvPr>
            <p:cNvGrpSpPr/>
            <p:nvPr/>
          </p:nvGrpSpPr>
          <p:grpSpPr>
            <a:xfrm>
              <a:off x="418643" y="2287883"/>
              <a:ext cx="717140" cy="717242"/>
              <a:chOff x="418643" y="2287883"/>
              <a:chExt cx="717140" cy="717242"/>
            </a:xfrm>
          </p:grpSpPr>
          <p:grpSp>
            <p:nvGrpSpPr>
              <p:cNvPr id="24" name="Group 23">
                <a:extLst>
                  <a:ext uri="{FF2B5EF4-FFF2-40B4-BE49-F238E27FC236}">
                    <a16:creationId xmlns:a16="http://schemas.microsoft.com/office/drawing/2014/main" id="{C6B8A81B-3C2B-4999-8E6E-2A8FE4213AD4}"/>
                  </a:ext>
                </a:extLst>
              </p:cNvPr>
              <p:cNvGrpSpPr/>
              <p:nvPr/>
            </p:nvGrpSpPr>
            <p:grpSpPr>
              <a:xfrm>
                <a:off x="418643" y="2287883"/>
                <a:ext cx="717140" cy="717242"/>
                <a:chOff x="418643" y="2287883"/>
                <a:chExt cx="717140" cy="717242"/>
              </a:xfrm>
            </p:grpSpPr>
            <p:sp>
              <p:nvSpPr>
                <p:cNvPr id="444" name="Freeform 5">
                  <a:extLst>
                    <a:ext uri="{FF2B5EF4-FFF2-40B4-BE49-F238E27FC236}">
                      <a16:creationId xmlns:a16="http://schemas.microsoft.com/office/drawing/2014/main" id="{0952D2D1-E1F5-40C1-9CB9-1094FC751546}"/>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45" name="Freeform 6">
                  <a:extLst>
                    <a:ext uri="{FF2B5EF4-FFF2-40B4-BE49-F238E27FC236}">
                      <a16:creationId xmlns:a16="http://schemas.microsoft.com/office/drawing/2014/main" id="{5EED13B1-E5DD-464E-9D55-EEEB17EE72B4}"/>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arrow in a circular path with a timer inside the circle">
                <a:extLst>
                  <a:ext uri="{FF2B5EF4-FFF2-40B4-BE49-F238E27FC236}">
                    <a16:creationId xmlns:a16="http://schemas.microsoft.com/office/drawing/2014/main" id="{2793DF5E-1B92-422B-8BA1-AC40015913F0}"/>
                  </a:ext>
                </a:extLst>
              </p:cNvPr>
              <p:cNvPicPr>
                <a:picLocks noChangeAspect="1"/>
              </p:cNvPicPr>
              <p:nvPr/>
            </p:nvPicPr>
            <p:blipFill>
              <a:blip r:embed="rId4"/>
              <a:stretch>
                <a:fillRect/>
              </a:stretch>
            </p:blipFill>
            <p:spPr>
              <a:xfrm>
                <a:off x="588767" y="2458059"/>
                <a:ext cx="376892" cy="376890"/>
              </a:xfrm>
              <a:prstGeom prst="rect">
                <a:avLst/>
              </a:prstGeom>
            </p:spPr>
          </p:pic>
        </p:grpSp>
        <p:grpSp>
          <p:nvGrpSpPr>
            <p:cNvPr id="39" name="Group 38">
              <a:extLst>
                <a:ext uri="{FF2B5EF4-FFF2-40B4-BE49-F238E27FC236}">
                  <a16:creationId xmlns:a16="http://schemas.microsoft.com/office/drawing/2014/main" id="{8284B803-5FAA-4399-83A8-A4561698A875}"/>
                </a:ext>
              </a:extLst>
            </p:cNvPr>
            <p:cNvGrpSpPr/>
            <p:nvPr/>
          </p:nvGrpSpPr>
          <p:grpSpPr>
            <a:xfrm>
              <a:off x="418643" y="3134008"/>
              <a:ext cx="717140" cy="717242"/>
              <a:chOff x="418643" y="3134008"/>
              <a:chExt cx="717140" cy="717242"/>
            </a:xfrm>
          </p:grpSpPr>
          <p:grpSp>
            <p:nvGrpSpPr>
              <p:cNvPr id="25" name="Group 24">
                <a:extLst>
                  <a:ext uri="{FF2B5EF4-FFF2-40B4-BE49-F238E27FC236}">
                    <a16:creationId xmlns:a16="http://schemas.microsoft.com/office/drawing/2014/main" id="{EBC12EB9-9B46-4FFF-9662-F3F89EFC498B}"/>
                  </a:ext>
                </a:extLst>
              </p:cNvPr>
              <p:cNvGrpSpPr/>
              <p:nvPr/>
            </p:nvGrpSpPr>
            <p:grpSpPr>
              <a:xfrm>
                <a:off x="418643" y="3134008"/>
                <a:ext cx="717140" cy="717242"/>
                <a:chOff x="418643" y="3134008"/>
                <a:chExt cx="717140" cy="717242"/>
              </a:xfrm>
            </p:grpSpPr>
            <p:sp>
              <p:nvSpPr>
                <p:cNvPr id="462" name="Freeform 5">
                  <a:extLst>
                    <a:ext uri="{FF2B5EF4-FFF2-40B4-BE49-F238E27FC236}">
                      <a16:creationId xmlns:a16="http://schemas.microsoft.com/office/drawing/2014/main" id="{888F553F-7725-480F-8A81-67806B6E1C1D}"/>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63" name="Freeform 6">
                  <a:extLst>
                    <a:ext uri="{FF2B5EF4-FFF2-40B4-BE49-F238E27FC236}">
                      <a16:creationId xmlns:a16="http://schemas.microsoft.com/office/drawing/2014/main" id="{5ACB146D-E90A-4B02-A04C-3C75A55BBE6E}"/>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dots and outward pointing chevrons on left and right">
                <a:extLst>
                  <a:ext uri="{FF2B5EF4-FFF2-40B4-BE49-F238E27FC236}">
                    <a16:creationId xmlns:a16="http://schemas.microsoft.com/office/drawing/2014/main" id="{65842D12-2F92-42D3-B65A-DE465C113497}"/>
                  </a:ext>
                </a:extLst>
              </p:cNvPr>
              <p:cNvPicPr>
                <a:picLocks noChangeAspect="1"/>
              </p:cNvPicPr>
              <p:nvPr/>
            </p:nvPicPr>
            <p:blipFill>
              <a:blip r:embed="rId5"/>
              <a:stretch>
                <a:fillRect/>
              </a:stretch>
            </p:blipFill>
            <p:spPr>
              <a:xfrm>
                <a:off x="526606" y="3382030"/>
                <a:ext cx="501214" cy="221198"/>
              </a:xfrm>
              <a:prstGeom prst="rect">
                <a:avLst/>
              </a:prstGeom>
            </p:spPr>
          </p:pic>
        </p:grpSp>
        <p:grpSp>
          <p:nvGrpSpPr>
            <p:cNvPr id="38" name="Group 37">
              <a:extLst>
                <a:ext uri="{FF2B5EF4-FFF2-40B4-BE49-F238E27FC236}">
                  <a16:creationId xmlns:a16="http://schemas.microsoft.com/office/drawing/2014/main" id="{00B12B47-0F34-4D41-9F49-8CD1D4CF17F0}"/>
                </a:ext>
              </a:extLst>
            </p:cNvPr>
            <p:cNvGrpSpPr/>
            <p:nvPr/>
          </p:nvGrpSpPr>
          <p:grpSpPr>
            <a:xfrm>
              <a:off x="418643" y="3980133"/>
              <a:ext cx="717140" cy="717242"/>
              <a:chOff x="418643" y="3980133"/>
              <a:chExt cx="717140" cy="717242"/>
            </a:xfrm>
          </p:grpSpPr>
          <p:grpSp>
            <p:nvGrpSpPr>
              <p:cNvPr id="26" name="Group 25">
                <a:extLst>
                  <a:ext uri="{FF2B5EF4-FFF2-40B4-BE49-F238E27FC236}">
                    <a16:creationId xmlns:a16="http://schemas.microsoft.com/office/drawing/2014/main" id="{B75929F5-A085-4C51-8C6E-6E76D2B7DF4B}"/>
                  </a:ext>
                </a:extLst>
              </p:cNvPr>
              <p:cNvGrpSpPr/>
              <p:nvPr/>
            </p:nvGrpSpPr>
            <p:grpSpPr>
              <a:xfrm>
                <a:off x="418643" y="3980133"/>
                <a:ext cx="717140" cy="717242"/>
                <a:chOff x="418643" y="3980133"/>
                <a:chExt cx="717140" cy="717242"/>
              </a:xfrm>
            </p:grpSpPr>
            <p:sp>
              <p:nvSpPr>
                <p:cNvPr id="479" name="Freeform 5">
                  <a:extLst>
                    <a:ext uri="{FF2B5EF4-FFF2-40B4-BE49-F238E27FC236}">
                      <a16:creationId xmlns:a16="http://schemas.microsoft.com/office/drawing/2014/main" id="{A4703758-132D-40D8-BC75-876B4F27A079}"/>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80" name="Freeform 6">
                  <a:extLst>
                    <a:ext uri="{FF2B5EF4-FFF2-40B4-BE49-F238E27FC236}">
                      <a16:creationId xmlns:a16="http://schemas.microsoft.com/office/drawing/2014/main" id="{22856682-E9F0-4805-B656-1CF1B5DE306A}"/>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bulb">
                <a:extLst>
                  <a:ext uri="{FF2B5EF4-FFF2-40B4-BE49-F238E27FC236}">
                    <a16:creationId xmlns:a16="http://schemas.microsoft.com/office/drawing/2014/main" id="{64AF90CC-F600-4DB6-9BB3-F6B3BF6BD67B}"/>
                  </a:ext>
                </a:extLst>
              </p:cNvPr>
              <p:cNvPicPr>
                <a:picLocks noChangeAspect="1"/>
              </p:cNvPicPr>
              <p:nvPr/>
            </p:nvPicPr>
            <p:blipFill>
              <a:blip r:embed="rId6"/>
              <a:stretch>
                <a:fillRect/>
              </a:stretch>
            </p:blipFill>
            <p:spPr>
              <a:xfrm>
                <a:off x="641719" y="4150309"/>
                <a:ext cx="270988" cy="376890"/>
              </a:xfrm>
              <a:prstGeom prst="rect">
                <a:avLst/>
              </a:prstGeom>
            </p:spPr>
          </p:pic>
        </p:grpSp>
      </p:grpSp>
      <p:grpSp>
        <p:nvGrpSpPr>
          <p:cNvPr id="5" name="Group 4">
            <a:extLst>
              <a:ext uri="{FF2B5EF4-FFF2-40B4-BE49-F238E27FC236}">
                <a16:creationId xmlns:a16="http://schemas.microsoft.com/office/drawing/2014/main" id="{CFA1F254-5EE5-413B-B1BE-4EF446D1E2A0}"/>
              </a:ext>
              <a:ext uri="{C183D7F6-B498-43B3-948B-1728B52AA6E4}">
                <adec:decorative xmlns:adec="http://schemas.microsoft.com/office/drawing/2017/decorative" val="1"/>
              </a:ext>
            </a:extLst>
          </p:cNvPr>
          <p:cNvGrpSpPr/>
          <p:nvPr/>
        </p:nvGrpSpPr>
        <p:grpSpPr>
          <a:xfrm>
            <a:off x="6229350" y="1441758"/>
            <a:ext cx="717140" cy="3255617"/>
            <a:chOff x="6229350" y="1441758"/>
            <a:chExt cx="717140" cy="3255617"/>
          </a:xfrm>
        </p:grpSpPr>
        <p:grpSp>
          <p:nvGrpSpPr>
            <p:cNvPr id="35" name="Group 34">
              <a:extLst>
                <a:ext uri="{FF2B5EF4-FFF2-40B4-BE49-F238E27FC236}">
                  <a16:creationId xmlns:a16="http://schemas.microsoft.com/office/drawing/2014/main" id="{B638961C-A7D9-4A05-9017-BD540877B4C0}"/>
                </a:ext>
              </a:extLst>
            </p:cNvPr>
            <p:cNvGrpSpPr/>
            <p:nvPr/>
          </p:nvGrpSpPr>
          <p:grpSpPr>
            <a:xfrm>
              <a:off x="6229350" y="1441758"/>
              <a:ext cx="717140" cy="717242"/>
              <a:chOff x="6229350" y="1441758"/>
              <a:chExt cx="717140" cy="717242"/>
            </a:xfrm>
          </p:grpSpPr>
          <p:grpSp>
            <p:nvGrpSpPr>
              <p:cNvPr id="34" name="Group 33">
                <a:extLst>
                  <a:ext uri="{FF2B5EF4-FFF2-40B4-BE49-F238E27FC236}">
                    <a16:creationId xmlns:a16="http://schemas.microsoft.com/office/drawing/2014/main" id="{92DA2DB9-AA76-434B-AADC-C00668F5E99C}"/>
                  </a:ext>
                </a:extLst>
              </p:cNvPr>
              <p:cNvGrpSpPr/>
              <p:nvPr/>
            </p:nvGrpSpPr>
            <p:grpSpPr>
              <a:xfrm>
                <a:off x="6229350" y="1441758"/>
                <a:ext cx="717140" cy="717242"/>
                <a:chOff x="6229350" y="1441758"/>
                <a:chExt cx="717140" cy="717242"/>
              </a:xfrm>
            </p:grpSpPr>
            <p:sp>
              <p:nvSpPr>
                <p:cNvPr id="502" name="Freeform 5">
                  <a:extLst>
                    <a:ext uri="{FF2B5EF4-FFF2-40B4-BE49-F238E27FC236}">
                      <a16:creationId xmlns:a16="http://schemas.microsoft.com/office/drawing/2014/main" id="{7C38D06D-3BDF-4FE8-ACEE-5D2D68A5DC07}"/>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03" name="Freeform 6">
                  <a:extLst>
                    <a:ext uri="{FF2B5EF4-FFF2-40B4-BE49-F238E27FC236}">
                      <a16:creationId xmlns:a16="http://schemas.microsoft.com/office/drawing/2014/main" id="{095AD193-40D2-470E-9F4F-4D7268E94FCA}"/>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three concentric arcs">
                <a:extLst>
                  <a:ext uri="{FF2B5EF4-FFF2-40B4-BE49-F238E27FC236}">
                    <a16:creationId xmlns:a16="http://schemas.microsoft.com/office/drawing/2014/main" id="{1189780B-0175-4F91-8B75-98110B53B820}"/>
                  </a:ext>
                </a:extLst>
              </p:cNvPr>
              <p:cNvPicPr>
                <a:picLocks noChangeAspect="1"/>
              </p:cNvPicPr>
              <p:nvPr/>
            </p:nvPicPr>
            <p:blipFill>
              <a:blip r:embed="rId3"/>
              <a:stretch>
                <a:fillRect/>
              </a:stretch>
            </p:blipFill>
            <p:spPr>
              <a:xfrm>
                <a:off x="6399474" y="1611934"/>
                <a:ext cx="376892" cy="376890"/>
              </a:xfrm>
              <a:prstGeom prst="rect">
                <a:avLst/>
              </a:prstGeom>
            </p:spPr>
          </p:pic>
        </p:grpSp>
        <p:grpSp>
          <p:nvGrpSpPr>
            <p:cNvPr id="33" name="Group 32">
              <a:extLst>
                <a:ext uri="{FF2B5EF4-FFF2-40B4-BE49-F238E27FC236}">
                  <a16:creationId xmlns:a16="http://schemas.microsoft.com/office/drawing/2014/main" id="{6308A370-1D97-4A49-9014-CF4723C04ABF}"/>
                </a:ext>
              </a:extLst>
            </p:cNvPr>
            <p:cNvGrpSpPr/>
            <p:nvPr/>
          </p:nvGrpSpPr>
          <p:grpSpPr>
            <a:xfrm>
              <a:off x="6229350" y="2287883"/>
              <a:ext cx="717140" cy="717242"/>
              <a:chOff x="6229350" y="2287883"/>
              <a:chExt cx="717140" cy="717242"/>
            </a:xfrm>
          </p:grpSpPr>
          <p:grpSp>
            <p:nvGrpSpPr>
              <p:cNvPr id="32" name="Group 31">
                <a:extLst>
                  <a:ext uri="{FF2B5EF4-FFF2-40B4-BE49-F238E27FC236}">
                    <a16:creationId xmlns:a16="http://schemas.microsoft.com/office/drawing/2014/main" id="{7F4F032F-246D-443C-8163-A701DA6DE211}"/>
                  </a:ext>
                </a:extLst>
              </p:cNvPr>
              <p:cNvGrpSpPr/>
              <p:nvPr/>
            </p:nvGrpSpPr>
            <p:grpSpPr>
              <a:xfrm>
                <a:off x="6229350" y="2287883"/>
                <a:ext cx="717140" cy="717242"/>
                <a:chOff x="6229350" y="2287883"/>
                <a:chExt cx="717140" cy="717242"/>
              </a:xfrm>
            </p:grpSpPr>
            <p:sp>
              <p:nvSpPr>
                <p:cNvPr id="509" name="Freeform 5">
                  <a:extLst>
                    <a:ext uri="{FF2B5EF4-FFF2-40B4-BE49-F238E27FC236}">
                      <a16:creationId xmlns:a16="http://schemas.microsoft.com/office/drawing/2014/main" id="{4D76B15B-3B47-4151-8F32-4166422F1E3F}"/>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10" name="Freeform 6">
                  <a:extLst>
                    <a:ext uri="{FF2B5EF4-FFF2-40B4-BE49-F238E27FC236}">
                      <a16:creationId xmlns:a16="http://schemas.microsoft.com/office/drawing/2014/main" id="{78E89B24-9DDC-480F-87AB-0549ADA90EA3}"/>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arrow in a circular path with a timer inside the circle">
                <a:extLst>
                  <a:ext uri="{FF2B5EF4-FFF2-40B4-BE49-F238E27FC236}">
                    <a16:creationId xmlns:a16="http://schemas.microsoft.com/office/drawing/2014/main" id="{CDBDB94A-0E09-4593-BA27-B37EB53EE990}"/>
                  </a:ext>
                </a:extLst>
              </p:cNvPr>
              <p:cNvPicPr>
                <a:picLocks noChangeAspect="1"/>
              </p:cNvPicPr>
              <p:nvPr/>
            </p:nvPicPr>
            <p:blipFill>
              <a:blip r:embed="rId4"/>
              <a:stretch>
                <a:fillRect/>
              </a:stretch>
            </p:blipFill>
            <p:spPr>
              <a:xfrm>
                <a:off x="6399474" y="2458059"/>
                <a:ext cx="376892" cy="376890"/>
              </a:xfrm>
              <a:prstGeom prst="rect">
                <a:avLst/>
              </a:prstGeom>
            </p:spPr>
          </p:pic>
        </p:grpSp>
        <p:grpSp>
          <p:nvGrpSpPr>
            <p:cNvPr id="31" name="Group 30">
              <a:extLst>
                <a:ext uri="{FF2B5EF4-FFF2-40B4-BE49-F238E27FC236}">
                  <a16:creationId xmlns:a16="http://schemas.microsoft.com/office/drawing/2014/main" id="{71600EC7-D681-442E-ADA2-26B906AE2BC2}"/>
                </a:ext>
              </a:extLst>
            </p:cNvPr>
            <p:cNvGrpSpPr/>
            <p:nvPr/>
          </p:nvGrpSpPr>
          <p:grpSpPr>
            <a:xfrm>
              <a:off x="6229350" y="3134008"/>
              <a:ext cx="717140" cy="717242"/>
              <a:chOff x="6229350" y="3134008"/>
              <a:chExt cx="717140" cy="717242"/>
            </a:xfrm>
          </p:grpSpPr>
          <p:grpSp>
            <p:nvGrpSpPr>
              <p:cNvPr id="30" name="Group 29">
                <a:extLst>
                  <a:ext uri="{FF2B5EF4-FFF2-40B4-BE49-F238E27FC236}">
                    <a16:creationId xmlns:a16="http://schemas.microsoft.com/office/drawing/2014/main" id="{1943EAE8-9815-4AEA-AE45-47D92C6B3AF6}"/>
                  </a:ext>
                </a:extLst>
              </p:cNvPr>
              <p:cNvGrpSpPr/>
              <p:nvPr/>
            </p:nvGrpSpPr>
            <p:grpSpPr>
              <a:xfrm>
                <a:off x="6229350" y="3134008"/>
                <a:ext cx="717140" cy="717242"/>
                <a:chOff x="6229350" y="3134008"/>
                <a:chExt cx="717140" cy="717242"/>
              </a:xfrm>
            </p:grpSpPr>
            <p:sp>
              <p:nvSpPr>
                <p:cNvPr id="527" name="Freeform 5">
                  <a:extLst>
                    <a:ext uri="{FF2B5EF4-FFF2-40B4-BE49-F238E27FC236}">
                      <a16:creationId xmlns:a16="http://schemas.microsoft.com/office/drawing/2014/main" id="{28A598F9-17B1-4932-84A8-C1415942342C}"/>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28" name="Freeform 6">
                  <a:extLst>
                    <a:ext uri="{FF2B5EF4-FFF2-40B4-BE49-F238E27FC236}">
                      <a16:creationId xmlns:a16="http://schemas.microsoft.com/office/drawing/2014/main" id="{FB10E352-70F0-42D5-8556-93A2EBE199B9}"/>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0" name="Picture 19" descr="Icon of three dots and outward pointing chevrons on left and right">
                <a:extLst>
                  <a:ext uri="{FF2B5EF4-FFF2-40B4-BE49-F238E27FC236}">
                    <a16:creationId xmlns:a16="http://schemas.microsoft.com/office/drawing/2014/main" id="{E3B0539E-609C-48CE-B0F2-F92786CA4BE7}"/>
                  </a:ext>
                </a:extLst>
              </p:cNvPr>
              <p:cNvPicPr>
                <a:picLocks noChangeAspect="1"/>
              </p:cNvPicPr>
              <p:nvPr/>
            </p:nvPicPr>
            <p:blipFill>
              <a:blip r:embed="rId5"/>
              <a:stretch>
                <a:fillRect/>
              </a:stretch>
            </p:blipFill>
            <p:spPr>
              <a:xfrm>
                <a:off x="6337313" y="3382030"/>
                <a:ext cx="501214" cy="221198"/>
              </a:xfrm>
              <a:prstGeom prst="rect">
                <a:avLst/>
              </a:prstGeom>
            </p:spPr>
          </p:pic>
        </p:grpSp>
        <p:grpSp>
          <p:nvGrpSpPr>
            <p:cNvPr id="42" name="Group 41">
              <a:extLst>
                <a:ext uri="{FF2B5EF4-FFF2-40B4-BE49-F238E27FC236}">
                  <a16:creationId xmlns:a16="http://schemas.microsoft.com/office/drawing/2014/main" id="{01091F28-2D11-4429-94AB-64CAA9A9C021}"/>
                </a:ext>
              </a:extLst>
            </p:cNvPr>
            <p:cNvGrpSpPr/>
            <p:nvPr/>
          </p:nvGrpSpPr>
          <p:grpSpPr>
            <a:xfrm>
              <a:off x="6229350" y="3980133"/>
              <a:ext cx="717140" cy="717242"/>
              <a:chOff x="6229350" y="3980133"/>
              <a:chExt cx="717140" cy="717242"/>
            </a:xfrm>
          </p:grpSpPr>
          <p:grpSp>
            <p:nvGrpSpPr>
              <p:cNvPr id="29" name="Group 28">
                <a:extLst>
                  <a:ext uri="{FF2B5EF4-FFF2-40B4-BE49-F238E27FC236}">
                    <a16:creationId xmlns:a16="http://schemas.microsoft.com/office/drawing/2014/main" id="{35BAB889-B931-4956-992D-E9E68985EC18}"/>
                  </a:ext>
                </a:extLst>
              </p:cNvPr>
              <p:cNvGrpSpPr/>
              <p:nvPr/>
            </p:nvGrpSpPr>
            <p:grpSpPr>
              <a:xfrm>
                <a:off x="6229350" y="3980133"/>
                <a:ext cx="717140" cy="717242"/>
                <a:chOff x="6229350" y="3980133"/>
                <a:chExt cx="717140" cy="717242"/>
              </a:xfrm>
            </p:grpSpPr>
            <p:sp>
              <p:nvSpPr>
                <p:cNvPr id="544" name="Freeform 5">
                  <a:extLst>
                    <a:ext uri="{FF2B5EF4-FFF2-40B4-BE49-F238E27FC236}">
                      <a16:creationId xmlns:a16="http://schemas.microsoft.com/office/drawing/2014/main" id="{735B3FEE-05B7-4A88-A2AD-D24062CA3094}"/>
                    </a:ext>
                  </a:extLst>
                </p:cNvPr>
                <p:cNvSpPr>
                  <a:spLocks/>
                </p:cNvSpPr>
                <p:nvPr/>
              </p:nvSpPr>
              <p:spPr bwMode="auto">
                <a:xfrm>
                  <a:off x="6229350"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45" name="Freeform 6">
                  <a:extLst>
                    <a:ext uri="{FF2B5EF4-FFF2-40B4-BE49-F238E27FC236}">
                      <a16:creationId xmlns:a16="http://schemas.microsoft.com/office/drawing/2014/main" id="{DFA6593E-7641-4C25-9D71-733CB9C245B5}"/>
                    </a:ext>
                  </a:extLst>
                </p:cNvPr>
                <p:cNvSpPr>
                  <a:spLocks noEditPoints="1"/>
                </p:cNvSpPr>
                <p:nvPr/>
              </p:nvSpPr>
              <p:spPr bwMode="auto">
                <a:xfrm>
                  <a:off x="6279248"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1" name="Picture 20" descr="Icon of a bulb">
                <a:extLst>
                  <a:ext uri="{FF2B5EF4-FFF2-40B4-BE49-F238E27FC236}">
                    <a16:creationId xmlns:a16="http://schemas.microsoft.com/office/drawing/2014/main" id="{A8226D75-0AD7-4E58-89AE-02EAF1566AF9}"/>
                  </a:ext>
                </a:extLst>
              </p:cNvPr>
              <p:cNvPicPr>
                <a:picLocks noChangeAspect="1"/>
              </p:cNvPicPr>
              <p:nvPr/>
            </p:nvPicPr>
            <p:blipFill>
              <a:blip r:embed="rId6"/>
              <a:stretch>
                <a:fillRect/>
              </a:stretch>
            </p:blipFill>
            <p:spPr>
              <a:xfrm>
                <a:off x="6452426" y="4150309"/>
                <a:ext cx="270988" cy="376890"/>
              </a:xfrm>
              <a:prstGeom prst="rect">
                <a:avLst/>
              </a:prstGeom>
            </p:spPr>
          </p:pic>
        </p:grpSp>
      </p:grpSp>
    </p:spTree>
    <p:extLst>
      <p:ext uri="{BB962C8B-B14F-4D97-AF65-F5344CB8AC3E}">
        <p14:creationId xmlns:p14="http://schemas.microsoft.com/office/powerpoint/2010/main" val="102512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Review – </a:t>
            </a:r>
            <a:r>
              <a:rPr lang="en-US" sz="2800" dirty="0"/>
              <a:t>Secure your networks with Azure Firewall Manager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Lst>
          </p:cNvPr>
          <p:cNvSpPr/>
          <p:nvPr/>
        </p:nvSpPr>
        <p:spPr>
          <a:xfrm>
            <a:off x="4189871" y="2225140"/>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600" dirty="0">
                <a:hlinkClick r:id="rId3"/>
              </a:rPr>
              <a:t>What is Azure Firewall Manager? | Microsoft Docs</a:t>
            </a:r>
            <a:endParaRPr lang="en-US" sz="1765" dirty="0">
              <a:solidFill>
                <a:schemeClr val="tx1"/>
              </a:solidFill>
            </a:endParaRPr>
          </a:p>
        </p:txBody>
      </p: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Tree>
    <p:extLst>
      <p:ext uri="{BB962C8B-B14F-4D97-AF65-F5344CB8AC3E}">
        <p14:creationId xmlns:p14="http://schemas.microsoft.com/office/powerpoint/2010/main" val="188343151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dirty="0"/>
              <a:t>Lesson 08: </a:t>
            </a:r>
            <a:r>
              <a:rPr lang="en-US" sz="3600" dirty="0"/>
              <a:t>Exercise- Secure your virtual hub using Azure Firewall Manager</a:t>
            </a:r>
            <a:endParaRPr lang="en-US" dirty="0"/>
          </a:p>
        </p:txBody>
      </p:sp>
      <p:grpSp>
        <p:nvGrpSpPr>
          <p:cNvPr id="4" name="Group 3">
            <a:extLst>
              <a:ext uri="{FF2B5EF4-FFF2-40B4-BE49-F238E27FC236}">
                <a16:creationId xmlns:a16="http://schemas.microsoft.com/office/drawing/2014/main" id="{B3FBE158-C664-44ED-BC15-3196C9E6926A}"/>
              </a:ext>
              <a:ext uri="{C183D7F6-B498-43B3-948B-1728B52AA6E4}">
                <adec:decorative xmlns:adec="http://schemas.microsoft.com/office/drawing/2017/decorative" val="1"/>
              </a:ext>
            </a:extLst>
          </p:cNvPr>
          <p:cNvGrpSpPr/>
          <p:nvPr/>
        </p:nvGrpSpPr>
        <p:grpSpPr>
          <a:xfrm>
            <a:off x="10362438" y="3070379"/>
            <a:ext cx="717140" cy="717242"/>
            <a:chOff x="6229350" y="2287883"/>
            <a:chExt cx="717140" cy="717242"/>
          </a:xfrm>
        </p:grpSpPr>
        <p:grpSp>
          <p:nvGrpSpPr>
            <p:cNvPr id="5" name="Group 4">
              <a:extLst>
                <a:ext uri="{FF2B5EF4-FFF2-40B4-BE49-F238E27FC236}">
                  <a16:creationId xmlns:a16="http://schemas.microsoft.com/office/drawing/2014/main" id="{244BBAFB-2977-45FF-A20E-A716B33B6482}"/>
                </a:ext>
              </a:extLst>
            </p:cNvPr>
            <p:cNvGrpSpPr/>
            <p:nvPr/>
          </p:nvGrpSpPr>
          <p:grpSpPr>
            <a:xfrm>
              <a:off x="6229350" y="2287883"/>
              <a:ext cx="717140" cy="717242"/>
              <a:chOff x="6229350" y="2287883"/>
              <a:chExt cx="717140" cy="717242"/>
            </a:xfrm>
          </p:grpSpPr>
          <p:sp>
            <p:nvSpPr>
              <p:cNvPr id="7" name="Freeform 5">
                <a:extLst>
                  <a:ext uri="{FF2B5EF4-FFF2-40B4-BE49-F238E27FC236}">
                    <a16:creationId xmlns:a16="http://schemas.microsoft.com/office/drawing/2014/main" id="{007583A3-AE61-4554-B019-B98E6979D6F7}"/>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821FFCD5-3BF2-4250-A783-13FC65461DC6}"/>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arrow in a circular path with a timer inside the circle">
              <a:extLst>
                <a:ext uri="{FF2B5EF4-FFF2-40B4-BE49-F238E27FC236}">
                  <a16:creationId xmlns:a16="http://schemas.microsoft.com/office/drawing/2014/main" id="{A46295EB-39DB-4F56-A709-B1BD501F82A9}"/>
                </a:ext>
              </a:extLst>
            </p:cNvPr>
            <p:cNvPicPr>
              <a:picLocks noChangeAspect="1"/>
            </p:cNvPicPr>
            <p:nvPr/>
          </p:nvPicPr>
          <p:blipFill>
            <a:blip r:embed="rId2"/>
            <a:stretch>
              <a:fillRect/>
            </a:stretch>
          </p:blipFill>
          <p:spPr>
            <a:xfrm>
              <a:off x="6399474" y="2458059"/>
              <a:ext cx="376892" cy="376890"/>
            </a:xfrm>
            <a:prstGeom prst="rect">
              <a:avLst/>
            </a:prstGeom>
          </p:spPr>
        </p:pic>
      </p:grpSp>
    </p:spTree>
    <p:extLst>
      <p:ext uri="{BB962C8B-B14F-4D97-AF65-F5344CB8AC3E}">
        <p14:creationId xmlns:p14="http://schemas.microsoft.com/office/powerpoint/2010/main" val="3699527073"/>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A32F-C49A-45DC-93BC-08C5243426CA}"/>
              </a:ext>
            </a:extLst>
          </p:cNvPr>
          <p:cNvSpPr>
            <a:spLocks noGrp="1"/>
          </p:cNvSpPr>
          <p:nvPr>
            <p:ph type="title"/>
          </p:nvPr>
        </p:nvSpPr>
        <p:spPr/>
        <p:txBody>
          <a:bodyPr/>
          <a:lstStyle/>
          <a:p>
            <a:r>
              <a:rPr lang="en-US" dirty="0"/>
              <a:t>Exercise- Secure your virtual hub using Azure Firewall Manager</a:t>
            </a:r>
          </a:p>
        </p:txBody>
      </p:sp>
      <p:sp>
        <p:nvSpPr>
          <p:cNvPr id="4" name="Rectangle 3">
            <a:extLst>
              <a:ext uri="{FF2B5EF4-FFF2-40B4-BE49-F238E27FC236}">
                <a16:creationId xmlns:a16="http://schemas.microsoft.com/office/drawing/2014/main" id="{9225124D-353B-4FB1-AB0A-A002CA21F81A}"/>
              </a:ext>
            </a:extLst>
          </p:cNvPr>
          <p:cNvSpPr/>
          <p:nvPr/>
        </p:nvSpPr>
        <p:spPr>
          <a:xfrm>
            <a:off x="424090" y="1261906"/>
            <a:ext cx="6217342" cy="52592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l">
              <a:lnSpc>
                <a:spcPct val="150000"/>
              </a:lnSpc>
            </a:pPr>
            <a:r>
              <a:rPr lang="en-US" b="0" i="0" dirty="0">
                <a:solidFill>
                  <a:srgbClr val="24292E"/>
                </a:solidFill>
                <a:effectLst/>
                <a:latin typeface="-apple-system"/>
              </a:rPr>
              <a:t>Task 1: Create two spoke virtual networks and subnets</a:t>
            </a:r>
          </a:p>
          <a:p>
            <a:pPr algn="l">
              <a:lnSpc>
                <a:spcPct val="150000"/>
              </a:lnSpc>
            </a:pPr>
            <a:r>
              <a:rPr lang="en-US" b="0" i="0" dirty="0">
                <a:solidFill>
                  <a:srgbClr val="24292E"/>
                </a:solidFill>
                <a:effectLst/>
                <a:latin typeface="-apple-system"/>
              </a:rPr>
              <a:t>Task 2: Create the secured virtual hub</a:t>
            </a:r>
          </a:p>
          <a:p>
            <a:pPr algn="l">
              <a:lnSpc>
                <a:spcPct val="150000"/>
              </a:lnSpc>
            </a:pPr>
            <a:r>
              <a:rPr lang="en-US" b="0" i="0" dirty="0">
                <a:solidFill>
                  <a:srgbClr val="24292E"/>
                </a:solidFill>
                <a:effectLst/>
                <a:latin typeface="-apple-system"/>
              </a:rPr>
              <a:t>Task 3: Connect the hub and spoke virtual networks</a:t>
            </a:r>
          </a:p>
          <a:p>
            <a:pPr algn="l">
              <a:lnSpc>
                <a:spcPct val="150000"/>
              </a:lnSpc>
            </a:pPr>
            <a:r>
              <a:rPr lang="en-US" b="0" i="0" dirty="0">
                <a:solidFill>
                  <a:srgbClr val="24292E"/>
                </a:solidFill>
                <a:effectLst/>
                <a:latin typeface="-apple-system"/>
              </a:rPr>
              <a:t>Task 4: Deploy the servers</a:t>
            </a:r>
          </a:p>
          <a:p>
            <a:pPr algn="l">
              <a:lnSpc>
                <a:spcPct val="150000"/>
              </a:lnSpc>
            </a:pPr>
            <a:r>
              <a:rPr lang="en-US" b="0" i="0" dirty="0">
                <a:solidFill>
                  <a:srgbClr val="24292E"/>
                </a:solidFill>
                <a:effectLst/>
                <a:latin typeface="-apple-system"/>
              </a:rPr>
              <a:t>Task 5: Create a firewall policy and secure your hub</a:t>
            </a:r>
          </a:p>
          <a:p>
            <a:pPr algn="l">
              <a:lnSpc>
                <a:spcPct val="150000"/>
              </a:lnSpc>
            </a:pPr>
            <a:r>
              <a:rPr lang="en-US" b="0" i="0" dirty="0">
                <a:solidFill>
                  <a:srgbClr val="24292E"/>
                </a:solidFill>
                <a:effectLst/>
                <a:latin typeface="-apple-system"/>
              </a:rPr>
              <a:t>Task 6: Associate the firewall policy</a:t>
            </a:r>
          </a:p>
          <a:p>
            <a:pPr algn="l">
              <a:lnSpc>
                <a:spcPct val="150000"/>
              </a:lnSpc>
            </a:pPr>
            <a:r>
              <a:rPr lang="en-US" b="0" i="0" dirty="0">
                <a:solidFill>
                  <a:srgbClr val="24292E"/>
                </a:solidFill>
                <a:effectLst/>
                <a:latin typeface="-apple-system"/>
              </a:rPr>
              <a:t>Task 7: Route traffic to your hub</a:t>
            </a:r>
          </a:p>
          <a:p>
            <a:pPr algn="l">
              <a:lnSpc>
                <a:spcPct val="150000"/>
              </a:lnSpc>
            </a:pPr>
            <a:r>
              <a:rPr lang="en-US" b="0" i="0" dirty="0">
                <a:solidFill>
                  <a:srgbClr val="24292E"/>
                </a:solidFill>
                <a:effectLst/>
                <a:latin typeface="-apple-system"/>
              </a:rPr>
              <a:t>Task 8: Test the application rule</a:t>
            </a:r>
          </a:p>
          <a:p>
            <a:pPr algn="l">
              <a:lnSpc>
                <a:spcPct val="150000"/>
              </a:lnSpc>
            </a:pPr>
            <a:r>
              <a:rPr lang="en-US" b="0" i="0" dirty="0">
                <a:solidFill>
                  <a:srgbClr val="24292E"/>
                </a:solidFill>
                <a:effectLst/>
                <a:latin typeface="-apple-system"/>
              </a:rPr>
              <a:t>Task 9: Test the network rule</a:t>
            </a:r>
          </a:p>
          <a:p>
            <a:pPr algn="l">
              <a:lnSpc>
                <a:spcPct val="150000"/>
              </a:lnSpc>
            </a:pPr>
            <a:r>
              <a:rPr lang="en-US" b="0" i="0" dirty="0">
                <a:solidFill>
                  <a:srgbClr val="24292E"/>
                </a:solidFill>
                <a:effectLst/>
                <a:latin typeface="-apple-system"/>
              </a:rPr>
              <a:t>Task 10: Clean up resources</a:t>
            </a:r>
          </a:p>
        </p:txBody>
      </p:sp>
      <p:pic>
        <p:nvPicPr>
          <p:cNvPr id="8" name="Picture 7" descr="Azure Firewall Manager Icon ">
            <a:extLst>
              <a:ext uri="{FF2B5EF4-FFF2-40B4-BE49-F238E27FC236}">
                <a16:creationId xmlns:a16="http://schemas.microsoft.com/office/drawing/2014/main" id="{C2FA2D52-CC63-4B1C-B95B-47BFD5699986}"/>
              </a:ext>
            </a:extLst>
          </p:cNvPr>
          <p:cNvPicPr>
            <a:picLocks noChangeAspect="1"/>
          </p:cNvPicPr>
          <p:nvPr/>
        </p:nvPicPr>
        <p:blipFill>
          <a:blip r:embed="rId3"/>
          <a:stretch>
            <a:fillRect/>
          </a:stretch>
        </p:blipFill>
        <p:spPr>
          <a:xfrm>
            <a:off x="10307555" y="409237"/>
            <a:ext cx="1009650" cy="914400"/>
          </a:xfrm>
          <a:prstGeom prst="rect">
            <a:avLst/>
          </a:prstGeom>
        </p:spPr>
      </p:pic>
    </p:spTree>
    <p:extLst>
      <p:ext uri="{BB962C8B-B14F-4D97-AF65-F5344CB8AC3E}">
        <p14:creationId xmlns:p14="http://schemas.microsoft.com/office/powerpoint/2010/main" val="1847778035"/>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Review – </a:t>
            </a:r>
            <a:r>
              <a:rPr lang="en-US" sz="2800" dirty="0"/>
              <a:t>Exercise: Deploy and configure Azure Firewall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E97B81B7-9BF2-491A-A07B-1DF7CFB2B78C}"/>
              </a:ext>
            </a:extLst>
          </p:cNvPr>
          <p:cNvSpPr txBox="1"/>
          <p:nvPr/>
        </p:nvSpPr>
        <p:spPr>
          <a:xfrm>
            <a:off x="4172422" y="2266614"/>
            <a:ext cx="9142476" cy="369332"/>
          </a:xfrm>
          <a:prstGeom prst="rect">
            <a:avLst/>
          </a:prstGeom>
          <a:noFill/>
        </p:spPr>
        <p:txBody>
          <a:bodyPr wrap="square">
            <a:spAutoFit/>
          </a:bodyPr>
          <a:lstStyle/>
          <a:p>
            <a:r>
              <a:rPr lang="en-US" dirty="0">
                <a:hlinkClick r:id="rId4"/>
              </a:rPr>
              <a:t>Tutorial: Secure your virtual hub using Azure Firewall Manager | Microsoft Docs</a:t>
            </a:r>
            <a:endParaRPr lang="en-US" dirty="0"/>
          </a:p>
        </p:txBody>
      </p:sp>
    </p:spTree>
    <p:extLst>
      <p:ext uri="{BB962C8B-B14F-4D97-AF65-F5344CB8AC3E}">
        <p14:creationId xmlns:p14="http://schemas.microsoft.com/office/powerpoint/2010/main" val="2804651636"/>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3179701"/>
            <a:ext cx="8892608" cy="498598"/>
          </a:xfrm>
        </p:spPr>
        <p:txBody>
          <a:bodyPr/>
          <a:lstStyle/>
          <a:p>
            <a:r>
              <a:rPr lang="en-US" dirty="0"/>
              <a:t>Lesson 09: </a:t>
            </a:r>
            <a:r>
              <a:rPr lang="en-US" sz="3600" dirty="0"/>
              <a:t>Implement a Web Application Firewall </a:t>
            </a:r>
            <a:endParaRPr lang="en-US" dirty="0"/>
          </a:p>
        </p:txBody>
      </p:sp>
      <p:grpSp>
        <p:nvGrpSpPr>
          <p:cNvPr id="4" name="Group 3">
            <a:extLst>
              <a:ext uri="{FF2B5EF4-FFF2-40B4-BE49-F238E27FC236}">
                <a16:creationId xmlns:a16="http://schemas.microsoft.com/office/drawing/2014/main" id="{6A4C20D2-702D-4192-9C6A-852A551E586F}"/>
              </a:ext>
              <a:ext uri="{C183D7F6-B498-43B3-948B-1728B52AA6E4}">
                <adec:decorative xmlns:adec="http://schemas.microsoft.com/office/drawing/2017/decorative" val="1"/>
              </a:ext>
            </a:extLst>
          </p:cNvPr>
          <p:cNvGrpSpPr/>
          <p:nvPr/>
        </p:nvGrpSpPr>
        <p:grpSpPr>
          <a:xfrm>
            <a:off x="10362438" y="3070379"/>
            <a:ext cx="717140" cy="717242"/>
            <a:chOff x="6229350" y="3134008"/>
            <a:chExt cx="717140" cy="717242"/>
          </a:xfrm>
        </p:grpSpPr>
        <p:grpSp>
          <p:nvGrpSpPr>
            <p:cNvPr id="5" name="Group 4">
              <a:extLst>
                <a:ext uri="{FF2B5EF4-FFF2-40B4-BE49-F238E27FC236}">
                  <a16:creationId xmlns:a16="http://schemas.microsoft.com/office/drawing/2014/main" id="{1FE268CF-8345-4322-956D-949D0A98DAF6}"/>
                </a:ext>
              </a:extLst>
            </p:cNvPr>
            <p:cNvGrpSpPr/>
            <p:nvPr/>
          </p:nvGrpSpPr>
          <p:grpSpPr>
            <a:xfrm>
              <a:off x="6229350" y="3134008"/>
              <a:ext cx="717140" cy="717242"/>
              <a:chOff x="6229350" y="3134008"/>
              <a:chExt cx="717140" cy="717242"/>
            </a:xfrm>
          </p:grpSpPr>
          <p:sp>
            <p:nvSpPr>
              <p:cNvPr id="7" name="Freeform 5">
                <a:extLst>
                  <a:ext uri="{FF2B5EF4-FFF2-40B4-BE49-F238E27FC236}">
                    <a16:creationId xmlns:a16="http://schemas.microsoft.com/office/drawing/2014/main" id="{03E4C4F9-77F1-443C-B934-C9859596DC15}"/>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D2EC0119-A4DF-498D-AE3B-B068F5AC4D5F}"/>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DE6EB587-843E-4C37-B54B-31F366B008E5}"/>
                </a:ext>
              </a:extLst>
            </p:cNvPr>
            <p:cNvPicPr>
              <a:picLocks noChangeAspect="1"/>
            </p:cNvPicPr>
            <p:nvPr/>
          </p:nvPicPr>
          <p:blipFill>
            <a:blip r:embed="rId2"/>
            <a:stretch>
              <a:fillRect/>
            </a:stretch>
          </p:blipFill>
          <p:spPr>
            <a:xfrm>
              <a:off x="6337313" y="3382030"/>
              <a:ext cx="501214" cy="221198"/>
            </a:xfrm>
            <a:prstGeom prst="rect">
              <a:avLst/>
            </a:prstGeom>
          </p:spPr>
        </p:pic>
      </p:grpSp>
    </p:spTree>
    <p:extLst>
      <p:ext uri="{BB962C8B-B14F-4D97-AF65-F5344CB8AC3E}">
        <p14:creationId xmlns:p14="http://schemas.microsoft.com/office/powerpoint/2010/main" val="398984819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16">
            <a:extLst>
              <a:ext uri="{FF2B5EF4-FFF2-40B4-BE49-F238E27FC236}">
                <a16:creationId xmlns:a16="http://schemas.microsoft.com/office/drawing/2014/main" id="{0FB4FC6B-D125-45B5-B53D-F1F2A3D844ED}"/>
              </a:ext>
            </a:extLst>
          </p:cNvPr>
          <p:cNvSpPr txBox="1">
            <a:spLocks noGrp="1"/>
          </p:cNvSpPr>
          <p:nvPr>
            <p:ph type="title" idx="4294967295"/>
          </p:nvPr>
        </p:nvSpPr>
        <p:spPr>
          <a:xfrm>
            <a:off x="496280" y="2064266"/>
            <a:ext cx="2348942" cy="2603870"/>
          </a:xfrm>
          <a:prstGeom prst="rect">
            <a:avLst/>
          </a:prstGeom>
          <a:noFill/>
          <a:ln>
            <a:noFill/>
            <a:prstDash/>
          </a:ln>
          <a:effectLst/>
        </p:spPr>
        <p:txBody>
          <a:bodyPr rot="0" spcFirstLastPara="0" vertOverflow="overflow" horzOverflow="overflow" vert="horz" wrap="square" lIns="0" tIns="91440" rIns="146304" bIns="91440" numCol="1" spcCol="0" rtlCol="0" fromWordArt="0" anchor="ctr" anchorCtr="0" forceAA="0" compatLnSpc="1">
            <a:prstTxWarp prst="textNoShape">
              <a:avLst/>
            </a:prstTxWarp>
            <a:noAutofit/>
          </a:bodyPr>
          <a:lstStyle>
            <a:lvl1pPr algn="l" defTabSz="914367" rtl="0" eaLnBrk="1" latinLnBrk="0" hangingPunct="1">
              <a:lnSpc>
                <a:spcPct val="90000"/>
              </a:lnSpc>
              <a:spcBef>
                <a:spcPct val="0"/>
              </a:spcBef>
              <a:buNone/>
              <a:defRPr lang="en-US" sz="3200" b="0" kern="1200" cap="none" spc="-49" baseline="0">
                <a:ln w="3175">
                  <a:noFill/>
                </a:ln>
                <a:solidFill>
                  <a:schemeClr val="bg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49" normalizeH="0" baseline="0" noProof="0" dirty="0">
                <a:ln w="3175">
                  <a:noFill/>
                </a:ln>
                <a:solidFill>
                  <a:srgbClr val="FFFFFF"/>
                </a:solidFill>
                <a:effectLst/>
                <a:uLnTx/>
                <a:uFillTx/>
                <a:latin typeface="Segoe UI Semibold"/>
                <a:ea typeface="+mn-ea"/>
                <a:cs typeface="Segoe UI" pitchFamily="34" charset="0"/>
              </a:rPr>
              <a:t>Implement a Web Application Firewall overview </a:t>
            </a:r>
          </a:p>
        </p:txBody>
      </p:sp>
      <p:sp>
        <p:nvSpPr>
          <p:cNvPr id="69" name="Text Placeholder 5">
            <a:extLst>
              <a:ext uri="{FF2B5EF4-FFF2-40B4-BE49-F238E27FC236}">
                <a16:creationId xmlns:a16="http://schemas.microsoft.com/office/drawing/2014/main" id="{77735A39-99B9-4F2F-9D56-9883A2463A33}"/>
              </a:ext>
            </a:extLst>
          </p:cNvPr>
          <p:cNvSpPr txBox="1">
            <a:spLocks/>
          </p:cNvSpPr>
          <p:nvPr/>
        </p:nvSpPr>
        <p:spPr>
          <a:xfrm>
            <a:off x="4496930" y="457424"/>
            <a:ext cx="76950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dirty="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Web Application Firewall overview </a:t>
            </a:r>
          </a:p>
        </p:txBody>
      </p:sp>
      <p:sp>
        <p:nvSpPr>
          <p:cNvPr id="70" name="Text Placeholder 1">
            <a:extLst>
              <a:ext uri="{FF2B5EF4-FFF2-40B4-BE49-F238E27FC236}">
                <a16:creationId xmlns:a16="http://schemas.microsoft.com/office/drawing/2014/main" id="{C14EA879-B675-4895-B5D9-39157152A016}"/>
              </a:ext>
            </a:extLst>
          </p:cNvPr>
          <p:cNvSpPr txBox="1">
            <a:spLocks/>
          </p:cNvSpPr>
          <p:nvPr/>
        </p:nvSpPr>
        <p:spPr>
          <a:xfrm>
            <a:off x="4496930" y="1322483"/>
            <a:ext cx="76950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Web Application Firewall policy modes</a:t>
            </a:r>
          </a:p>
        </p:txBody>
      </p:sp>
      <p:sp>
        <p:nvSpPr>
          <p:cNvPr id="71" name="Text Placeholder 2">
            <a:extLst>
              <a:ext uri="{FF2B5EF4-FFF2-40B4-BE49-F238E27FC236}">
                <a16:creationId xmlns:a16="http://schemas.microsoft.com/office/drawing/2014/main" id="{B1F0DD44-B5BD-47F2-8DB7-986B2A6E3AEF}"/>
              </a:ext>
            </a:extLst>
          </p:cNvPr>
          <p:cNvSpPr txBox="1">
            <a:spLocks/>
          </p:cNvSpPr>
          <p:nvPr/>
        </p:nvSpPr>
        <p:spPr>
          <a:xfrm>
            <a:off x="4496930" y="2187542"/>
            <a:ext cx="76950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Web Application Firewall Default Rule Set, rule groups, and rules</a:t>
            </a:r>
          </a:p>
        </p:txBody>
      </p:sp>
      <p:sp>
        <p:nvSpPr>
          <p:cNvPr id="72" name="Text Placeholder 3">
            <a:extLst>
              <a:ext uri="{FF2B5EF4-FFF2-40B4-BE49-F238E27FC236}">
                <a16:creationId xmlns:a16="http://schemas.microsoft.com/office/drawing/2014/main" id="{0F802FAF-CFCD-472C-AC47-6BD7242CA24E}"/>
              </a:ext>
            </a:extLst>
          </p:cNvPr>
          <p:cNvSpPr txBox="1">
            <a:spLocks/>
          </p:cNvSpPr>
          <p:nvPr/>
        </p:nvSpPr>
        <p:spPr>
          <a:xfrm>
            <a:off x="4496930" y="3052601"/>
            <a:ext cx="76950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lang="en-US" sz="1800" b="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200"/>
              </a:spcBef>
              <a:spcAft>
                <a:spcPts val="400"/>
              </a:spcAft>
              <a:buClrTx/>
              <a:buSzPct val="90000"/>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Web Application Firewall Custom Rules</a:t>
            </a:r>
          </a:p>
        </p:txBody>
      </p:sp>
      <p:sp>
        <p:nvSpPr>
          <p:cNvPr id="73" name="Text Placeholder 4">
            <a:extLst>
              <a:ext uri="{FF2B5EF4-FFF2-40B4-BE49-F238E27FC236}">
                <a16:creationId xmlns:a16="http://schemas.microsoft.com/office/drawing/2014/main" id="{9BFF39BF-3D9D-40B1-B1E5-24539832866D}"/>
              </a:ext>
            </a:extLst>
          </p:cNvPr>
          <p:cNvSpPr txBox="1">
            <a:spLocks/>
          </p:cNvSpPr>
          <p:nvPr/>
        </p:nvSpPr>
        <p:spPr>
          <a:xfrm>
            <a:off x="4496930" y="3917660"/>
            <a:ext cx="76950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kern="1200" spc="0" baseline="0">
                <a:solidFill>
                  <a:schemeClr val="tx1"/>
                </a:solidFill>
                <a:latin typeface="+mn-lt"/>
                <a:ea typeface="+mn-ea"/>
                <a:cs typeface="+mn-cs"/>
              </a:defRPr>
            </a:lvl2pPr>
            <a:lvl3pPr marL="448193"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3pPr>
            <a:lvl4pPr marL="67229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4pPr>
            <a:lvl5pPr marL="896386"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mn-cs"/>
              </a:rPr>
              <a:t>Create a Web Application Firewall policy on Azure Front Door</a:t>
            </a:r>
          </a:p>
        </p:txBody>
      </p:sp>
      <p:sp>
        <p:nvSpPr>
          <p:cNvPr id="74" name="Text Placeholder 6">
            <a:extLst>
              <a:ext uri="{FF2B5EF4-FFF2-40B4-BE49-F238E27FC236}">
                <a16:creationId xmlns:a16="http://schemas.microsoft.com/office/drawing/2014/main" id="{1CC5095A-BCFE-4D81-93B4-EB04EAF6B3A3}"/>
              </a:ext>
            </a:extLst>
          </p:cNvPr>
          <p:cNvSpPr txBox="1">
            <a:spLocks/>
          </p:cNvSpPr>
          <p:nvPr/>
        </p:nvSpPr>
        <p:spPr>
          <a:xfrm>
            <a:off x="4496930" y="4782717"/>
            <a:ext cx="7695070" cy="741783"/>
          </a:xfrm>
          <a:prstGeom prst="rect">
            <a:avLst/>
          </a:prstGeom>
        </p:spPr>
        <p:txBody>
          <a:bodyPr vert="horz" wrap="square" lIns="0" tIns="0" rIns="0" bIns="0" rtlCol="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kern="1200" spc="0" baseline="0">
                <a:solidFill>
                  <a:schemeClr val="tx1"/>
                </a:solidFill>
                <a:latin typeface="+mn-lt"/>
                <a:ea typeface="+mn-ea"/>
                <a:cs typeface="+mn-cs"/>
              </a:defRPr>
            </a:lvl2pPr>
            <a:lvl3pPr marL="448193"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3pPr>
            <a:lvl4pPr marL="67229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800" kern="1200" spc="0" baseline="0">
                <a:solidFill>
                  <a:schemeClr val="tx1"/>
                </a:solidFill>
                <a:latin typeface="+mn-lt"/>
                <a:ea typeface="+mn-ea"/>
                <a:cs typeface="+mn-cs"/>
              </a:defRPr>
            </a:lvl4pPr>
            <a:lvl5pPr marL="896386"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1"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mn-cs"/>
              </a:rPr>
              <a:t>Review </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2" name="Group 1">
            <a:extLst>
              <a:ext uri="{FF2B5EF4-FFF2-40B4-BE49-F238E27FC236}">
                <a16:creationId xmlns:a16="http://schemas.microsoft.com/office/drawing/2014/main" id="{A010FB09-BA78-4D03-97DF-00DFF22AA74B}"/>
              </a:ext>
              <a:ext uri="{C183D7F6-B498-43B3-948B-1728B52AA6E4}">
                <adec:decorative xmlns:adec="http://schemas.microsoft.com/office/drawing/2017/decorative" val="1"/>
              </a:ext>
            </a:extLst>
          </p:cNvPr>
          <p:cNvGrpSpPr/>
          <p:nvPr/>
        </p:nvGrpSpPr>
        <p:grpSpPr>
          <a:xfrm>
            <a:off x="3450310" y="462996"/>
            <a:ext cx="702132" cy="5038900"/>
            <a:chOff x="3450310" y="462996"/>
            <a:chExt cx="702132" cy="5038900"/>
          </a:xfrm>
        </p:grpSpPr>
        <p:grpSp>
          <p:nvGrpSpPr>
            <p:cNvPr id="75" name="Group 74">
              <a:extLst>
                <a:ext uri="{FF2B5EF4-FFF2-40B4-BE49-F238E27FC236}">
                  <a16:creationId xmlns:a16="http://schemas.microsoft.com/office/drawing/2014/main" id="{0BD84728-CE85-422E-96A7-54234215F8F8}"/>
                </a:ext>
              </a:extLst>
            </p:cNvPr>
            <p:cNvGrpSpPr/>
            <p:nvPr/>
          </p:nvGrpSpPr>
          <p:grpSpPr>
            <a:xfrm>
              <a:off x="3450310" y="462996"/>
              <a:ext cx="702132" cy="702232"/>
              <a:chOff x="3031668" y="462996"/>
              <a:chExt cx="702132" cy="702232"/>
            </a:xfrm>
          </p:grpSpPr>
          <p:grpSp>
            <p:nvGrpSpPr>
              <p:cNvPr id="76" name="Group 75">
                <a:extLst>
                  <a:ext uri="{FF2B5EF4-FFF2-40B4-BE49-F238E27FC236}">
                    <a16:creationId xmlns:a16="http://schemas.microsoft.com/office/drawing/2014/main" id="{0689E654-144A-42C8-B764-CF7B376586BF}"/>
                  </a:ext>
                </a:extLst>
              </p:cNvPr>
              <p:cNvGrpSpPr/>
              <p:nvPr/>
            </p:nvGrpSpPr>
            <p:grpSpPr>
              <a:xfrm>
                <a:off x="3031668" y="462996"/>
                <a:ext cx="702132" cy="702232"/>
                <a:chOff x="3031668" y="462996"/>
                <a:chExt cx="702132" cy="702232"/>
              </a:xfrm>
            </p:grpSpPr>
            <p:sp>
              <p:nvSpPr>
                <p:cNvPr id="78" name="Freeform 5">
                  <a:extLst>
                    <a:ext uri="{FF2B5EF4-FFF2-40B4-BE49-F238E27FC236}">
                      <a16:creationId xmlns:a16="http://schemas.microsoft.com/office/drawing/2014/main" id="{EB6130E8-4A64-45B9-8F9A-B393B4312820}"/>
                    </a:ext>
                  </a:extLst>
                </p:cNvPr>
                <p:cNvSpPr>
                  <a:spLocks/>
                </p:cNvSpPr>
                <p:nvPr/>
              </p:nvSpPr>
              <p:spPr bwMode="auto">
                <a:xfrm>
                  <a:off x="3031668" y="462996"/>
                  <a:ext cx="702132" cy="702232"/>
                </a:xfrm>
                <a:prstGeom prst="ellipse">
                  <a:avLst/>
                </a:prstGeom>
                <a:solidFill>
                  <a:srgbClr val="FFFFFF">
                    <a:lumMod val="9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sp>
              <p:nvSpPr>
                <p:cNvPr id="79" name="Freeform 6">
                  <a:extLst>
                    <a:ext uri="{FF2B5EF4-FFF2-40B4-BE49-F238E27FC236}">
                      <a16:creationId xmlns:a16="http://schemas.microsoft.com/office/drawing/2014/main" id="{01450C3F-EB5E-4D8C-840F-251ECD011BF2}"/>
                    </a:ext>
                  </a:extLst>
                </p:cNvPr>
                <p:cNvSpPr>
                  <a:spLocks noEditPoints="1"/>
                </p:cNvSpPr>
                <p:nvPr/>
              </p:nvSpPr>
              <p:spPr bwMode="auto">
                <a:xfrm>
                  <a:off x="3079954" y="511857"/>
                  <a:ext cx="605561" cy="604510"/>
                </a:xfrm>
                <a:prstGeom prst="ellipse">
                  <a:avLst/>
                </a:prstGeom>
                <a:noFill/>
                <a:ln w="28575">
                  <a:solidFill>
                    <a:srgbClr val="0078D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grpSp>
          <p:pic>
            <p:nvPicPr>
              <p:cNvPr id="77" name="Picture 76" descr="Icon of three concentric arcs">
                <a:extLst>
                  <a:ext uri="{FF2B5EF4-FFF2-40B4-BE49-F238E27FC236}">
                    <a16:creationId xmlns:a16="http://schemas.microsoft.com/office/drawing/2014/main" id="{89B195F1-864E-40BA-BA74-F8A44C5443D6}"/>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80" name="Group 79">
              <a:extLst>
                <a:ext uri="{FF2B5EF4-FFF2-40B4-BE49-F238E27FC236}">
                  <a16:creationId xmlns:a16="http://schemas.microsoft.com/office/drawing/2014/main" id="{F1853603-3716-4A93-8F4E-C4F25B3A5E92}"/>
                </a:ext>
              </a:extLst>
            </p:cNvPr>
            <p:cNvGrpSpPr/>
            <p:nvPr/>
          </p:nvGrpSpPr>
          <p:grpSpPr>
            <a:xfrm>
              <a:off x="3450310" y="1341712"/>
              <a:ext cx="702132" cy="702232"/>
              <a:chOff x="3031668" y="1341712"/>
              <a:chExt cx="702132" cy="702232"/>
            </a:xfrm>
          </p:grpSpPr>
          <p:grpSp>
            <p:nvGrpSpPr>
              <p:cNvPr id="81" name="Group 80">
                <a:extLst>
                  <a:ext uri="{FF2B5EF4-FFF2-40B4-BE49-F238E27FC236}">
                    <a16:creationId xmlns:a16="http://schemas.microsoft.com/office/drawing/2014/main" id="{D5A0C1F2-1E12-44F5-A9EC-90CB90FB28FE}"/>
                  </a:ext>
                </a:extLst>
              </p:cNvPr>
              <p:cNvGrpSpPr/>
              <p:nvPr/>
            </p:nvGrpSpPr>
            <p:grpSpPr>
              <a:xfrm>
                <a:off x="3031668" y="1341712"/>
                <a:ext cx="702132" cy="702232"/>
                <a:chOff x="3031668" y="1341712"/>
                <a:chExt cx="702132" cy="702232"/>
              </a:xfrm>
            </p:grpSpPr>
            <p:sp>
              <p:nvSpPr>
                <p:cNvPr id="83" name="Freeform 5">
                  <a:extLst>
                    <a:ext uri="{FF2B5EF4-FFF2-40B4-BE49-F238E27FC236}">
                      <a16:creationId xmlns:a16="http://schemas.microsoft.com/office/drawing/2014/main" id="{EA43904F-46C0-4A3E-8F2F-72C96A917B27}"/>
                    </a:ext>
                  </a:extLst>
                </p:cNvPr>
                <p:cNvSpPr>
                  <a:spLocks/>
                </p:cNvSpPr>
                <p:nvPr/>
              </p:nvSpPr>
              <p:spPr bwMode="auto">
                <a:xfrm>
                  <a:off x="3031668" y="1341712"/>
                  <a:ext cx="702132" cy="702232"/>
                </a:xfrm>
                <a:prstGeom prst="ellipse">
                  <a:avLst/>
                </a:prstGeom>
                <a:solidFill>
                  <a:srgbClr val="FFFFFF">
                    <a:lumMod val="9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sp>
              <p:nvSpPr>
                <p:cNvPr id="84" name="Freeform 6">
                  <a:extLst>
                    <a:ext uri="{FF2B5EF4-FFF2-40B4-BE49-F238E27FC236}">
                      <a16:creationId xmlns:a16="http://schemas.microsoft.com/office/drawing/2014/main" id="{BD4B2B24-5737-45EB-8795-22CA0FA14211}"/>
                    </a:ext>
                  </a:extLst>
                </p:cNvPr>
                <p:cNvSpPr>
                  <a:spLocks noEditPoints="1"/>
                </p:cNvSpPr>
                <p:nvPr/>
              </p:nvSpPr>
              <p:spPr bwMode="auto">
                <a:xfrm>
                  <a:off x="3079954" y="1390573"/>
                  <a:ext cx="605561" cy="604510"/>
                </a:xfrm>
                <a:prstGeom prst="ellipse">
                  <a:avLst/>
                </a:prstGeom>
                <a:noFill/>
                <a:ln w="28575">
                  <a:solidFill>
                    <a:srgbClr val="0078D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grpSp>
          <p:pic>
            <p:nvPicPr>
              <p:cNvPr id="82" name="Picture 81" descr="Icon of a arrow in a circular path with a timer inside the circle">
                <a:extLst>
                  <a:ext uri="{FF2B5EF4-FFF2-40B4-BE49-F238E27FC236}">
                    <a16:creationId xmlns:a16="http://schemas.microsoft.com/office/drawing/2014/main" id="{DD69AD96-5DEA-4C53-B0EC-3E306AFBD87F}"/>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85" name="Group 84">
              <a:extLst>
                <a:ext uri="{FF2B5EF4-FFF2-40B4-BE49-F238E27FC236}">
                  <a16:creationId xmlns:a16="http://schemas.microsoft.com/office/drawing/2014/main" id="{C7C4F0EB-7ACE-49E1-A55E-A4DE39B8D174}"/>
                </a:ext>
              </a:extLst>
            </p:cNvPr>
            <p:cNvGrpSpPr/>
            <p:nvPr/>
          </p:nvGrpSpPr>
          <p:grpSpPr>
            <a:xfrm>
              <a:off x="3450310" y="2206225"/>
              <a:ext cx="702132" cy="702232"/>
              <a:chOff x="3031668" y="2206225"/>
              <a:chExt cx="702132" cy="702232"/>
            </a:xfrm>
          </p:grpSpPr>
          <p:grpSp>
            <p:nvGrpSpPr>
              <p:cNvPr id="86" name="Group 85">
                <a:extLst>
                  <a:ext uri="{FF2B5EF4-FFF2-40B4-BE49-F238E27FC236}">
                    <a16:creationId xmlns:a16="http://schemas.microsoft.com/office/drawing/2014/main" id="{01DCC878-5F78-404E-A848-535E5DF7CA79}"/>
                  </a:ext>
                </a:extLst>
              </p:cNvPr>
              <p:cNvGrpSpPr/>
              <p:nvPr/>
            </p:nvGrpSpPr>
            <p:grpSpPr>
              <a:xfrm>
                <a:off x="3031668" y="2206225"/>
                <a:ext cx="702132" cy="702232"/>
                <a:chOff x="3031668" y="2206225"/>
                <a:chExt cx="702132" cy="702232"/>
              </a:xfrm>
            </p:grpSpPr>
            <p:sp>
              <p:nvSpPr>
                <p:cNvPr id="88" name="Freeform 5">
                  <a:extLst>
                    <a:ext uri="{FF2B5EF4-FFF2-40B4-BE49-F238E27FC236}">
                      <a16:creationId xmlns:a16="http://schemas.microsoft.com/office/drawing/2014/main" id="{E849F646-4E18-487E-902B-7F34416A36C4}"/>
                    </a:ext>
                  </a:extLst>
                </p:cNvPr>
                <p:cNvSpPr>
                  <a:spLocks/>
                </p:cNvSpPr>
                <p:nvPr/>
              </p:nvSpPr>
              <p:spPr bwMode="auto">
                <a:xfrm>
                  <a:off x="3031668" y="2206225"/>
                  <a:ext cx="702132" cy="702232"/>
                </a:xfrm>
                <a:prstGeom prst="ellipse">
                  <a:avLst/>
                </a:prstGeom>
                <a:solidFill>
                  <a:srgbClr val="FFFFFF">
                    <a:lumMod val="9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sp>
              <p:nvSpPr>
                <p:cNvPr id="89" name="Freeform 6">
                  <a:extLst>
                    <a:ext uri="{FF2B5EF4-FFF2-40B4-BE49-F238E27FC236}">
                      <a16:creationId xmlns:a16="http://schemas.microsoft.com/office/drawing/2014/main" id="{12EE9573-D5ED-433A-8747-0C5429EFA169}"/>
                    </a:ext>
                  </a:extLst>
                </p:cNvPr>
                <p:cNvSpPr>
                  <a:spLocks noEditPoints="1"/>
                </p:cNvSpPr>
                <p:nvPr/>
              </p:nvSpPr>
              <p:spPr bwMode="auto">
                <a:xfrm>
                  <a:off x="3079954" y="2255086"/>
                  <a:ext cx="605561" cy="604510"/>
                </a:xfrm>
                <a:prstGeom prst="ellipse">
                  <a:avLst/>
                </a:prstGeom>
                <a:noFill/>
                <a:ln w="28575">
                  <a:solidFill>
                    <a:srgbClr val="0078D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grpSp>
          <p:pic>
            <p:nvPicPr>
              <p:cNvPr id="87" name="Picture 86" descr="Icon of a gear inside a circle">
                <a:extLst>
                  <a:ext uri="{FF2B5EF4-FFF2-40B4-BE49-F238E27FC236}">
                    <a16:creationId xmlns:a16="http://schemas.microsoft.com/office/drawing/2014/main" id="{259663CF-8159-4D80-9094-1FB373A1D4BD}"/>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90" name="Group 89">
              <a:extLst>
                <a:ext uri="{FF2B5EF4-FFF2-40B4-BE49-F238E27FC236}">
                  <a16:creationId xmlns:a16="http://schemas.microsoft.com/office/drawing/2014/main" id="{53723568-482F-4E00-8CFB-E8C71608430C}"/>
                </a:ext>
              </a:extLst>
            </p:cNvPr>
            <p:cNvGrpSpPr/>
            <p:nvPr/>
          </p:nvGrpSpPr>
          <p:grpSpPr>
            <a:xfrm>
              <a:off x="3450310" y="3070738"/>
              <a:ext cx="702132" cy="702232"/>
              <a:chOff x="3031668" y="3070738"/>
              <a:chExt cx="702132" cy="702232"/>
            </a:xfrm>
          </p:grpSpPr>
          <p:grpSp>
            <p:nvGrpSpPr>
              <p:cNvPr id="91" name="Group 90">
                <a:extLst>
                  <a:ext uri="{FF2B5EF4-FFF2-40B4-BE49-F238E27FC236}">
                    <a16:creationId xmlns:a16="http://schemas.microsoft.com/office/drawing/2014/main" id="{2F144000-CE56-4482-81BF-355219247129}"/>
                  </a:ext>
                </a:extLst>
              </p:cNvPr>
              <p:cNvGrpSpPr/>
              <p:nvPr/>
            </p:nvGrpSpPr>
            <p:grpSpPr>
              <a:xfrm>
                <a:off x="3031668" y="3070738"/>
                <a:ext cx="702132" cy="702232"/>
                <a:chOff x="3031668" y="3070738"/>
                <a:chExt cx="702132" cy="702232"/>
              </a:xfrm>
            </p:grpSpPr>
            <p:sp>
              <p:nvSpPr>
                <p:cNvPr id="93" name="Freeform 5">
                  <a:extLst>
                    <a:ext uri="{FF2B5EF4-FFF2-40B4-BE49-F238E27FC236}">
                      <a16:creationId xmlns:a16="http://schemas.microsoft.com/office/drawing/2014/main" id="{7E68FFE1-9CBD-44E7-9126-64FEB0DB9FE1}"/>
                    </a:ext>
                  </a:extLst>
                </p:cNvPr>
                <p:cNvSpPr>
                  <a:spLocks/>
                </p:cNvSpPr>
                <p:nvPr/>
              </p:nvSpPr>
              <p:spPr bwMode="auto">
                <a:xfrm>
                  <a:off x="3031668" y="3070738"/>
                  <a:ext cx="702132" cy="702232"/>
                </a:xfrm>
                <a:prstGeom prst="ellipse">
                  <a:avLst/>
                </a:prstGeom>
                <a:solidFill>
                  <a:srgbClr val="FFFFFF">
                    <a:lumMod val="9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sp>
              <p:nvSpPr>
                <p:cNvPr id="94" name="Freeform 6">
                  <a:extLst>
                    <a:ext uri="{FF2B5EF4-FFF2-40B4-BE49-F238E27FC236}">
                      <a16:creationId xmlns:a16="http://schemas.microsoft.com/office/drawing/2014/main" id="{A11A5D77-0919-46C0-90F1-25FD7125AA1A}"/>
                    </a:ext>
                  </a:extLst>
                </p:cNvPr>
                <p:cNvSpPr>
                  <a:spLocks noEditPoints="1"/>
                </p:cNvSpPr>
                <p:nvPr/>
              </p:nvSpPr>
              <p:spPr bwMode="auto">
                <a:xfrm>
                  <a:off x="3079954" y="3119599"/>
                  <a:ext cx="605561" cy="604510"/>
                </a:xfrm>
                <a:prstGeom prst="ellipse">
                  <a:avLst/>
                </a:prstGeom>
                <a:noFill/>
                <a:ln w="28575">
                  <a:solidFill>
                    <a:srgbClr val="0078D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grpSp>
          <p:pic>
            <p:nvPicPr>
              <p:cNvPr id="92" name="Picture 91" descr="Icon of a bulb">
                <a:extLst>
                  <a:ext uri="{FF2B5EF4-FFF2-40B4-BE49-F238E27FC236}">
                    <a16:creationId xmlns:a16="http://schemas.microsoft.com/office/drawing/2014/main" id="{8B5B868F-2C34-4DB3-AD3B-D1571F64DE04}"/>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95" name="Group 94">
              <a:extLst>
                <a:ext uri="{FF2B5EF4-FFF2-40B4-BE49-F238E27FC236}">
                  <a16:creationId xmlns:a16="http://schemas.microsoft.com/office/drawing/2014/main" id="{63A73227-7A7A-4DE9-AA7D-2B0B45E5BEBA}"/>
                </a:ext>
              </a:extLst>
            </p:cNvPr>
            <p:cNvGrpSpPr/>
            <p:nvPr/>
          </p:nvGrpSpPr>
          <p:grpSpPr>
            <a:xfrm>
              <a:off x="3450310" y="3935251"/>
              <a:ext cx="702132" cy="702232"/>
              <a:chOff x="3031668" y="3935251"/>
              <a:chExt cx="702132" cy="702232"/>
            </a:xfrm>
          </p:grpSpPr>
          <p:grpSp>
            <p:nvGrpSpPr>
              <p:cNvPr id="96" name="Group 95">
                <a:extLst>
                  <a:ext uri="{FF2B5EF4-FFF2-40B4-BE49-F238E27FC236}">
                    <a16:creationId xmlns:a16="http://schemas.microsoft.com/office/drawing/2014/main" id="{20BAE60D-D295-4384-9821-CA43249FCFC9}"/>
                  </a:ext>
                </a:extLst>
              </p:cNvPr>
              <p:cNvGrpSpPr/>
              <p:nvPr/>
            </p:nvGrpSpPr>
            <p:grpSpPr>
              <a:xfrm>
                <a:off x="3031668" y="3935251"/>
                <a:ext cx="702132" cy="702232"/>
                <a:chOff x="3031668" y="3935251"/>
                <a:chExt cx="702132" cy="702232"/>
              </a:xfrm>
            </p:grpSpPr>
            <p:sp>
              <p:nvSpPr>
                <p:cNvPr id="98" name="Freeform 5">
                  <a:extLst>
                    <a:ext uri="{FF2B5EF4-FFF2-40B4-BE49-F238E27FC236}">
                      <a16:creationId xmlns:a16="http://schemas.microsoft.com/office/drawing/2014/main" id="{EC523CA8-948C-4753-9C0B-C2B47C29349E}"/>
                    </a:ext>
                  </a:extLst>
                </p:cNvPr>
                <p:cNvSpPr>
                  <a:spLocks/>
                </p:cNvSpPr>
                <p:nvPr/>
              </p:nvSpPr>
              <p:spPr bwMode="auto">
                <a:xfrm>
                  <a:off x="3031668" y="3935251"/>
                  <a:ext cx="702132" cy="702232"/>
                </a:xfrm>
                <a:prstGeom prst="ellipse">
                  <a:avLst/>
                </a:prstGeom>
                <a:solidFill>
                  <a:srgbClr val="FFFFFF">
                    <a:lumMod val="9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sp>
              <p:nvSpPr>
                <p:cNvPr id="99" name="Freeform 6">
                  <a:extLst>
                    <a:ext uri="{FF2B5EF4-FFF2-40B4-BE49-F238E27FC236}">
                      <a16:creationId xmlns:a16="http://schemas.microsoft.com/office/drawing/2014/main" id="{C783BC52-2B6E-4430-9D0A-0D277EE917C6}"/>
                    </a:ext>
                  </a:extLst>
                </p:cNvPr>
                <p:cNvSpPr>
                  <a:spLocks noEditPoints="1"/>
                </p:cNvSpPr>
                <p:nvPr/>
              </p:nvSpPr>
              <p:spPr bwMode="auto">
                <a:xfrm>
                  <a:off x="3079954" y="3984112"/>
                  <a:ext cx="605561" cy="604510"/>
                </a:xfrm>
                <a:prstGeom prst="ellipse">
                  <a:avLst/>
                </a:prstGeom>
                <a:noFill/>
                <a:ln w="28575">
                  <a:solidFill>
                    <a:srgbClr val="0078D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30" b="0" i="0" u="none" strike="noStrike" kern="0" cap="none" spc="0" normalizeH="0" baseline="0" noProof="0">
                    <a:ln>
                      <a:noFill/>
                    </a:ln>
                    <a:solidFill>
                      <a:srgbClr val="000000"/>
                    </a:solidFill>
                    <a:effectLst/>
                    <a:uLnTx/>
                    <a:uFillTx/>
                    <a:latin typeface="Segoe UI"/>
                  </a:endParaRPr>
                </a:p>
              </p:txBody>
            </p:sp>
          </p:grpSp>
          <p:pic>
            <p:nvPicPr>
              <p:cNvPr id="97" name="Picture 96" descr="Icon of a screen with dots">
                <a:extLst>
                  <a:ext uri="{FF2B5EF4-FFF2-40B4-BE49-F238E27FC236}">
                    <a16:creationId xmlns:a16="http://schemas.microsoft.com/office/drawing/2014/main" id="{C3E23D82-9BAD-45B6-A56C-07219BB2592D}"/>
                  </a:ext>
                </a:extLst>
              </p:cNvPr>
              <p:cNvPicPr>
                <a:picLocks noChangeAspect="1"/>
              </p:cNvPicPr>
              <p:nvPr/>
            </p:nvPicPr>
            <p:blipFill>
              <a:blip r:embed="rId7"/>
              <a:stretch>
                <a:fillRect/>
              </a:stretch>
            </p:blipFill>
            <p:spPr>
              <a:xfrm>
                <a:off x="3199854" y="4149132"/>
                <a:ext cx="365760" cy="274470"/>
              </a:xfrm>
              <a:prstGeom prst="rect">
                <a:avLst/>
              </a:prstGeom>
            </p:spPr>
          </p:pic>
        </p:grpSp>
        <p:grpSp>
          <p:nvGrpSpPr>
            <p:cNvPr id="100" name="Group 99">
              <a:extLst>
                <a:ext uri="{FF2B5EF4-FFF2-40B4-BE49-F238E27FC236}">
                  <a16:creationId xmlns:a16="http://schemas.microsoft.com/office/drawing/2014/main" id="{D007E875-3893-4C23-AE5A-2EAD9C1905D5}"/>
                </a:ext>
              </a:extLst>
            </p:cNvPr>
            <p:cNvGrpSpPr/>
            <p:nvPr/>
          </p:nvGrpSpPr>
          <p:grpSpPr>
            <a:xfrm>
              <a:off x="3450310" y="4799764"/>
              <a:ext cx="702132" cy="702132"/>
              <a:chOff x="3031668" y="4799764"/>
              <a:chExt cx="702132" cy="702132"/>
            </a:xfrm>
          </p:grpSpPr>
          <p:grpSp>
            <p:nvGrpSpPr>
              <p:cNvPr id="101" name="Group 100">
                <a:extLst>
                  <a:ext uri="{FF2B5EF4-FFF2-40B4-BE49-F238E27FC236}">
                    <a16:creationId xmlns:a16="http://schemas.microsoft.com/office/drawing/2014/main" id="{6C299F48-79C2-4B45-BCF5-738BDFAE2EEF}"/>
                  </a:ext>
                </a:extLst>
              </p:cNvPr>
              <p:cNvGrpSpPr/>
              <p:nvPr/>
            </p:nvGrpSpPr>
            <p:grpSpPr>
              <a:xfrm>
                <a:off x="3031668" y="4799764"/>
                <a:ext cx="702132" cy="702132"/>
                <a:chOff x="3031668" y="4799764"/>
                <a:chExt cx="702132" cy="702132"/>
              </a:xfrm>
            </p:grpSpPr>
            <p:sp>
              <p:nvSpPr>
                <p:cNvPr id="103" name="AutoShape 3">
                  <a:extLst>
                    <a:ext uri="{FF2B5EF4-FFF2-40B4-BE49-F238E27FC236}">
                      <a16:creationId xmlns:a16="http://schemas.microsoft.com/office/drawing/2014/main" id="{8DDC79E2-3AB8-4F93-92FC-75E8F50FEB38}"/>
                    </a:ext>
                  </a:extLst>
                </p:cNvPr>
                <p:cNvSpPr>
                  <a:spLocks noChangeAspect="1" noChangeArrowheads="1" noTextEdit="1"/>
                </p:cNvSpPr>
                <p:nvPr/>
              </p:nvSpPr>
              <p:spPr bwMode="auto">
                <a:xfrm>
                  <a:off x="3031668" y="4799764"/>
                  <a:ext cx="702132" cy="702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fr-FR" sz="1765" b="0" i="0" u="none" strike="noStrike" kern="0" cap="none" spc="0" normalizeH="0" baseline="0" noProof="0">
                    <a:ln>
                      <a:noFill/>
                    </a:ln>
                    <a:solidFill>
                      <a:srgbClr val="000000"/>
                    </a:solidFill>
                    <a:effectLst/>
                    <a:uLnTx/>
                    <a:uFillTx/>
                    <a:latin typeface="Segoe UI"/>
                  </a:endParaRPr>
                </a:p>
              </p:txBody>
            </p:sp>
            <p:sp>
              <p:nvSpPr>
                <p:cNvPr id="104" name="Freeform 5">
                  <a:extLst>
                    <a:ext uri="{FF2B5EF4-FFF2-40B4-BE49-F238E27FC236}">
                      <a16:creationId xmlns:a16="http://schemas.microsoft.com/office/drawing/2014/main" id="{FEBE3F12-33C8-400D-9E9A-4982193E1776}"/>
                    </a:ext>
                  </a:extLst>
                </p:cNvPr>
                <p:cNvSpPr>
                  <a:spLocks/>
                </p:cNvSpPr>
                <p:nvPr/>
              </p:nvSpPr>
              <p:spPr bwMode="auto">
                <a:xfrm>
                  <a:off x="3031668" y="4799764"/>
                  <a:ext cx="702132" cy="702132"/>
                </a:xfrm>
                <a:custGeom>
                  <a:avLst/>
                  <a:gdLst>
                    <a:gd name="T0" fmla="*/ 2 w 493"/>
                    <a:gd name="T1" fmla="*/ 221 h 493"/>
                    <a:gd name="T2" fmla="*/ 12 w 493"/>
                    <a:gd name="T3" fmla="*/ 174 h 493"/>
                    <a:gd name="T4" fmla="*/ 31 w 493"/>
                    <a:gd name="T5" fmla="*/ 130 h 493"/>
                    <a:gd name="T6" fmla="*/ 57 w 493"/>
                    <a:gd name="T7" fmla="*/ 90 h 493"/>
                    <a:gd name="T8" fmla="*/ 90 w 493"/>
                    <a:gd name="T9" fmla="*/ 57 h 493"/>
                    <a:gd name="T10" fmla="*/ 130 w 493"/>
                    <a:gd name="T11" fmla="*/ 31 h 493"/>
                    <a:gd name="T12" fmla="*/ 174 w 493"/>
                    <a:gd name="T13" fmla="*/ 12 h 493"/>
                    <a:gd name="T14" fmla="*/ 221 w 493"/>
                    <a:gd name="T15" fmla="*/ 2 h 493"/>
                    <a:gd name="T16" fmla="*/ 272 w 493"/>
                    <a:gd name="T17" fmla="*/ 2 h 493"/>
                    <a:gd name="T18" fmla="*/ 320 w 493"/>
                    <a:gd name="T19" fmla="*/ 12 h 493"/>
                    <a:gd name="T20" fmla="*/ 364 w 493"/>
                    <a:gd name="T21" fmla="*/ 31 h 493"/>
                    <a:gd name="T22" fmla="*/ 403 w 493"/>
                    <a:gd name="T23" fmla="*/ 57 h 493"/>
                    <a:gd name="T24" fmla="*/ 436 w 493"/>
                    <a:gd name="T25" fmla="*/ 90 h 493"/>
                    <a:gd name="T26" fmla="*/ 464 w 493"/>
                    <a:gd name="T27" fmla="*/ 130 h 493"/>
                    <a:gd name="T28" fmla="*/ 481 w 493"/>
                    <a:gd name="T29" fmla="*/ 174 h 493"/>
                    <a:gd name="T30" fmla="*/ 491 w 493"/>
                    <a:gd name="T31" fmla="*/ 221 h 493"/>
                    <a:gd name="T32" fmla="*/ 491 w 493"/>
                    <a:gd name="T33" fmla="*/ 272 h 493"/>
                    <a:gd name="T34" fmla="*/ 481 w 493"/>
                    <a:gd name="T35" fmla="*/ 320 h 493"/>
                    <a:gd name="T36" fmla="*/ 464 w 493"/>
                    <a:gd name="T37" fmla="*/ 364 h 493"/>
                    <a:gd name="T38" fmla="*/ 436 w 493"/>
                    <a:gd name="T39" fmla="*/ 403 h 493"/>
                    <a:gd name="T40" fmla="*/ 403 w 493"/>
                    <a:gd name="T41" fmla="*/ 437 h 493"/>
                    <a:gd name="T42" fmla="*/ 364 w 493"/>
                    <a:gd name="T43" fmla="*/ 464 h 493"/>
                    <a:gd name="T44" fmla="*/ 320 w 493"/>
                    <a:gd name="T45" fmla="*/ 481 h 493"/>
                    <a:gd name="T46" fmla="*/ 272 w 493"/>
                    <a:gd name="T47" fmla="*/ 491 h 493"/>
                    <a:gd name="T48" fmla="*/ 221 w 493"/>
                    <a:gd name="T49" fmla="*/ 491 h 493"/>
                    <a:gd name="T50" fmla="*/ 174 w 493"/>
                    <a:gd name="T51" fmla="*/ 481 h 493"/>
                    <a:gd name="T52" fmla="*/ 130 w 493"/>
                    <a:gd name="T53" fmla="*/ 464 h 493"/>
                    <a:gd name="T54" fmla="*/ 90 w 493"/>
                    <a:gd name="T55" fmla="*/ 437 h 493"/>
                    <a:gd name="T56" fmla="*/ 57 w 493"/>
                    <a:gd name="T57" fmla="*/ 403 h 493"/>
                    <a:gd name="T58" fmla="*/ 31 w 493"/>
                    <a:gd name="T59" fmla="*/ 364 h 493"/>
                    <a:gd name="T60" fmla="*/ 12 w 493"/>
                    <a:gd name="T61" fmla="*/ 320 h 493"/>
                    <a:gd name="T62" fmla="*/ 2 w 493"/>
                    <a:gd name="T63" fmla="*/ 27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3" h="493">
                      <a:moveTo>
                        <a:pt x="0" y="247"/>
                      </a:moveTo>
                      <a:lnTo>
                        <a:pt x="2" y="221"/>
                      </a:lnTo>
                      <a:lnTo>
                        <a:pt x="6" y="197"/>
                      </a:lnTo>
                      <a:lnTo>
                        <a:pt x="12" y="174"/>
                      </a:lnTo>
                      <a:lnTo>
                        <a:pt x="20" y="151"/>
                      </a:lnTo>
                      <a:lnTo>
                        <a:pt x="31" y="130"/>
                      </a:lnTo>
                      <a:lnTo>
                        <a:pt x="42" y="109"/>
                      </a:lnTo>
                      <a:lnTo>
                        <a:pt x="57" y="90"/>
                      </a:lnTo>
                      <a:lnTo>
                        <a:pt x="73" y="73"/>
                      </a:lnTo>
                      <a:lnTo>
                        <a:pt x="90" y="57"/>
                      </a:lnTo>
                      <a:lnTo>
                        <a:pt x="109" y="42"/>
                      </a:lnTo>
                      <a:lnTo>
                        <a:pt x="130" y="31"/>
                      </a:lnTo>
                      <a:lnTo>
                        <a:pt x="151" y="20"/>
                      </a:lnTo>
                      <a:lnTo>
                        <a:pt x="174" y="12"/>
                      </a:lnTo>
                      <a:lnTo>
                        <a:pt x="197" y="6"/>
                      </a:lnTo>
                      <a:lnTo>
                        <a:pt x="221" y="2"/>
                      </a:lnTo>
                      <a:lnTo>
                        <a:pt x="247" y="0"/>
                      </a:lnTo>
                      <a:lnTo>
                        <a:pt x="272" y="2"/>
                      </a:lnTo>
                      <a:lnTo>
                        <a:pt x="296" y="6"/>
                      </a:lnTo>
                      <a:lnTo>
                        <a:pt x="320" y="12"/>
                      </a:lnTo>
                      <a:lnTo>
                        <a:pt x="342" y="20"/>
                      </a:lnTo>
                      <a:lnTo>
                        <a:pt x="364" y="31"/>
                      </a:lnTo>
                      <a:lnTo>
                        <a:pt x="384" y="42"/>
                      </a:lnTo>
                      <a:lnTo>
                        <a:pt x="403" y="57"/>
                      </a:lnTo>
                      <a:lnTo>
                        <a:pt x="420" y="73"/>
                      </a:lnTo>
                      <a:lnTo>
                        <a:pt x="436" y="90"/>
                      </a:lnTo>
                      <a:lnTo>
                        <a:pt x="451" y="109"/>
                      </a:lnTo>
                      <a:lnTo>
                        <a:pt x="464" y="130"/>
                      </a:lnTo>
                      <a:lnTo>
                        <a:pt x="473" y="151"/>
                      </a:lnTo>
                      <a:lnTo>
                        <a:pt x="481" y="174"/>
                      </a:lnTo>
                      <a:lnTo>
                        <a:pt x="487" y="197"/>
                      </a:lnTo>
                      <a:lnTo>
                        <a:pt x="491" y="221"/>
                      </a:lnTo>
                      <a:lnTo>
                        <a:pt x="493" y="247"/>
                      </a:lnTo>
                      <a:lnTo>
                        <a:pt x="491" y="272"/>
                      </a:lnTo>
                      <a:lnTo>
                        <a:pt x="487" y="296"/>
                      </a:lnTo>
                      <a:lnTo>
                        <a:pt x="481" y="320"/>
                      </a:lnTo>
                      <a:lnTo>
                        <a:pt x="473" y="342"/>
                      </a:lnTo>
                      <a:lnTo>
                        <a:pt x="464" y="364"/>
                      </a:lnTo>
                      <a:lnTo>
                        <a:pt x="451" y="384"/>
                      </a:lnTo>
                      <a:lnTo>
                        <a:pt x="436" y="403"/>
                      </a:lnTo>
                      <a:lnTo>
                        <a:pt x="420" y="420"/>
                      </a:lnTo>
                      <a:lnTo>
                        <a:pt x="403" y="437"/>
                      </a:lnTo>
                      <a:lnTo>
                        <a:pt x="384" y="451"/>
                      </a:lnTo>
                      <a:lnTo>
                        <a:pt x="364" y="464"/>
                      </a:lnTo>
                      <a:lnTo>
                        <a:pt x="342" y="473"/>
                      </a:lnTo>
                      <a:lnTo>
                        <a:pt x="320" y="481"/>
                      </a:lnTo>
                      <a:lnTo>
                        <a:pt x="296" y="487"/>
                      </a:lnTo>
                      <a:lnTo>
                        <a:pt x="272" y="491"/>
                      </a:lnTo>
                      <a:lnTo>
                        <a:pt x="247" y="493"/>
                      </a:lnTo>
                      <a:lnTo>
                        <a:pt x="221" y="491"/>
                      </a:lnTo>
                      <a:lnTo>
                        <a:pt x="197" y="487"/>
                      </a:lnTo>
                      <a:lnTo>
                        <a:pt x="174" y="481"/>
                      </a:lnTo>
                      <a:lnTo>
                        <a:pt x="151" y="473"/>
                      </a:lnTo>
                      <a:lnTo>
                        <a:pt x="130" y="464"/>
                      </a:lnTo>
                      <a:lnTo>
                        <a:pt x="109" y="451"/>
                      </a:lnTo>
                      <a:lnTo>
                        <a:pt x="90" y="437"/>
                      </a:lnTo>
                      <a:lnTo>
                        <a:pt x="73" y="420"/>
                      </a:lnTo>
                      <a:lnTo>
                        <a:pt x="57" y="403"/>
                      </a:lnTo>
                      <a:lnTo>
                        <a:pt x="42" y="384"/>
                      </a:lnTo>
                      <a:lnTo>
                        <a:pt x="31" y="364"/>
                      </a:lnTo>
                      <a:lnTo>
                        <a:pt x="20" y="342"/>
                      </a:lnTo>
                      <a:lnTo>
                        <a:pt x="12" y="320"/>
                      </a:lnTo>
                      <a:lnTo>
                        <a:pt x="6" y="296"/>
                      </a:lnTo>
                      <a:lnTo>
                        <a:pt x="2" y="272"/>
                      </a:lnTo>
                      <a:lnTo>
                        <a:pt x="0" y="247"/>
                      </a:lnTo>
                      <a:close/>
                    </a:path>
                  </a:pathLst>
                </a:custGeom>
                <a:solidFill>
                  <a:srgbClr val="FFFFFF">
                    <a:lumMod val="95000"/>
                  </a:srgbClr>
                </a:solidFill>
                <a:ln>
                  <a:noFill/>
                </a:ln>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fr-FR" sz="1765" b="0" i="0" u="none" strike="noStrike" kern="0" cap="none" spc="0" normalizeH="0" baseline="0" noProof="0">
                    <a:ln>
                      <a:noFill/>
                    </a:ln>
                    <a:solidFill>
                      <a:srgbClr val="000000"/>
                    </a:solidFill>
                    <a:effectLst/>
                    <a:uLnTx/>
                    <a:uFillTx/>
                    <a:latin typeface="Segoe UI"/>
                  </a:endParaRPr>
                </a:p>
              </p:txBody>
            </p:sp>
            <p:sp>
              <p:nvSpPr>
                <p:cNvPr id="105" name="Freeform 6">
                  <a:extLst>
                    <a:ext uri="{FF2B5EF4-FFF2-40B4-BE49-F238E27FC236}">
                      <a16:creationId xmlns:a16="http://schemas.microsoft.com/office/drawing/2014/main" id="{9A245111-BF59-4D80-BCC5-12A7BC961D63}"/>
                    </a:ext>
                  </a:extLst>
                </p:cNvPr>
                <p:cNvSpPr>
                  <a:spLocks noEditPoints="1"/>
                </p:cNvSpPr>
                <p:nvPr/>
              </p:nvSpPr>
              <p:spPr bwMode="auto">
                <a:xfrm>
                  <a:off x="3087212" y="4854596"/>
                  <a:ext cx="591044" cy="592469"/>
                </a:xfrm>
                <a:prstGeom prst="ellipse">
                  <a:avLst/>
                </a:prstGeom>
                <a:noFill/>
                <a:ln w="28575" cap="flat">
                  <a:solidFill>
                    <a:srgbClr val="0078D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fr-FR" sz="1765" b="0" i="0" u="none" strike="noStrike" kern="0" cap="none" spc="0" normalizeH="0" baseline="0" noProof="0">
                    <a:ln>
                      <a:noFill/>
                    </a:ln>
                    <a:solidFill>
                      <a:srgbClr val="000000"/>
                    </a:solidFill>
                    <a:effectLst/>
                    <a:uLnTx/>
                    <a:uFillTx/>
                    <a:latin typeface="Segoe UI"/>
                  </a:endParaRPr>
                </a:p>
              </p:txBody>
            </p:sp>
          </p:grpSp>
          <p:pic>
            <p:nvPicPr>
              <p:cNvPr id="102" name="Picture 101" descr="Icon of coding brackets">
                <a:extLst>
                  <a:ext uri="{FF2B5EF4-FFF2-40B4-BE49-F238E27FC236}">
                    <a16:creationId xmlns:a16="http://schemas.microsoft.com/office/drawing/2014/main" id="{01D35A46-2223-4C45-9F3D-3B08EE72E45C}"/>
                  </a:ext>
                </a:extLst>
              </p:cNvPr>
              <p:cNvPicPr>
                <a:picLocks noChangeAspect="1"/>
              </p:cNvPicPr>
              <p:nvPr/>
            </p:nvPicPr>
            <p:blipFill>
              <a:blip r:embed="rId8"/>
              <a:stretch>
                <a:fillRect/>
              </a:stretch>
            </p:blipFill>
            <p:spPr>
              <a:xfrm>
                <a:off x="3196983" y="4965079"/>
                <a:ext cx="371503" cy="371503"/>
              </a:xfrm>
              <a:prstGeom prst="rect">
                <a:avLst/>
              </a:prstGeom>
            </p:spPr>
          </p:pic>
        </p:grpSp>
      </p:grpSp>
    </p:spTree>
    <p:extLst>
      <p:ext uri="{BB962C8B-B14F-4D97-AF65-F5344CB8AC3E}">
        <p14:creationId xmlns:p14="http://schemas.microsoft.com/office/powerpoint/2010/main" val="3775178601"/>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08EEB5-F5C0-424F-97BC-BDB02162A7A9}"/>
              </a:ext>
            </a:extLst>
          </p:cNvPr>
          <p:cNvSpPr>
            <a:spLocks noGrp="1"/>
          </p:cNvSpPr>
          <p:nvPr>
            <p:ph type="title"/>
          </p:nvPr>
        </p:nvSpPr>
        <p:spPr>
          <a:xfrm>
            <a:off x="424090" y="466096"/>
            <a:ext cx="11343820" cy="397545"/>
          </a:xfrm>
        </p:spPr>
        <p:txBody>
          <a:bodyPr/>
          <a:lstStyle/>
          <a:p>
            <a:r>
              <a:rPr lang="en-US" sz="2800" dirty="0"/>
              <a:t>Web Application Firewall overview </a:t>
            </a:r>
            <a:endParaRPr lang="en-US" dirty="0"/>
          </a:p>
        </p:txBody>
      </p:sp>
      <p:sp>
        <p:nvSpPr>
          <p:cNvPr id="2" name="Rectangle 1">
            <a:extLst>
              <a:ext uri="{FF2B5EF4-FFF2-40B4-BE49-F238E27FC236}">
                <a16:creationId xmlns:a16="http://schemas.microsoft.com/office/drawing/2014/main" id="{C113B7BD-9447-4E2C-BF0A-48AABA33079B}"/>
              </a:ext>
            </a:extLst>
          </p:cNvPr>
          <p:cNvSpPr/>
          <p:nvPr/>
        </p:nvSpPr>
        <p:spPr>
          <a:xfrm>
            <a:off x="418641" y="1261905"/>
            <a:ext cx="5193018" cy="9745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800">
                <a:solidFill>
                  <a:schemeClr val="tx1"/>
                </a:solidFill>
                <a:effectLst/>
                <a:latin typeface="+mj-lt"/>
                <a:ea typeface="Calibri" panose="020F0502020204030204" pitchFamily="34" charset="0"/>
                <a:cs typeface="Times New Roman" panose="02020603050405020304" pitchFamily="18" charset="0"/>
              </a:rPr>
              <a:t>Provides centralized protection of your web applications from common exploits and vulnerabilities</a:t>
            </a:r>
            <a:endParaRPr lang="en-US" sz="1765">
              <a:solidFill>
                <a:schemeClr val="tx1"/>
              </a:solidFill>
              <a:latin typeface="+mj-lt"/>
            </a:endParaRPr>
          </a:p>
        </p:txBody>
      </p:sp>
      <p:sp>
        <p:nvSpPr>
          <p:cNvPr id="5" name="Rectangle 4">
            <a:extLst>
              <a:ext uri="{FF2B5EF4-FFF2-40B4-BE49-F238E27FC236}">
                <a16:creationId xmlns:a16="http://schemas.microsoft.com/office/drawing/2014/main" id="{D4118D28-BAB8-46C7-B939-719B7D70F2A6}"/>
              </a:ext>
            </a:extLst>
          </p:cNvPr>
          <p:cNvSpPr/>
          <p:nvPr/>
        </p:nvSpPr>
        <p:spPr>
          <a:xfrm>
            <a:off x="418641" y="2518996"/>
            <a:ext cx="5193018" cy="9745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a:solidFill>
                  <a:schemeClr val="tx1"/>
                </a:solidFill>
                <a:latin typeface="+mj-lt"/>
                <a:cs typeface="Times New Roman" panose="02020603050405020304" pitchFamily="18" charset="0"/>
              </a:rPr>
              <a:t>A centralized web application firewall helps make security management much simpler</a:t>
            </a:r>
          </a:p>
        </p:txBody>
      </p:sp>
      <p:sp>
        <p:nvSpPr>
          <p:cNvPr id="7" name="Rectangle 6">
            <a:extLst>
              <a:ext uri="{FF2B5EF4-FFF2-40B4-BE49-F238E27FC236}">
                <a16:creationId xmlns:a16="http://schemas.microsoft.com/office/drawing/2014/main" id="{CD3FE6AA-2075-4022-AE7B-C54E2F7A267F}"/>
              </a:ext>
            </a:extLst>
          </p:cNvPr>
          <p:cNvSpPr/>
          <p:nvPr/>
        </p:nvSpPr>
        <p:spPr>
          <a:xfrm>
            <a:off x="418641" y="3711563"/>
            <a:ext cx="5193018" cy="9745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dirty="0">
                <a:solidFill>
                  <a:schemeClr val="tx1"/>
                </a:solidFill>
                <a:latin typeface="+mj-lt"/>
                <a:cs typeface="Times New Roman" panose="02020603050405020304" pitchFamily="18" charset="0"/>
              </a:rPr>
              <a:t>A WAF also gives application administrators better assurance of protection against threats and intrusions</a:t>
            </a:r>
          </a:p>
        </p:txBody>
      </p:sp>
      <p:sp>
        <p:nvSpPr>
          <p:cNvPr id="9" name="Rectangle 8">
            <a:extLst>
              <a:ext uri="{FF2B5EF4-FFF2-40B4-BE49-F238E27FC236}">
                <a16:creationId xmlns:a16="http://schemas.microsoft.com/office/drawing/2014/main" id="{98A6C1B5-1E91-4919-B7FC-85F4BD0F1F34}"/>
              </a:ext>
            </a:extLst>
          </p:cNvPr>
          <p:cNvSpPr/>
          <p:nvPr/>
        </p:nvSpPr>
        <p:spPr>
          <a:xfrm>
            <a:off x="418641" y="4968654"/>
            <a:ext cx="5193018" cy="97452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dirty="0">
                <a:solidFill>
                  <a:schemeClr val="tx1"/>
                </a:solidFill>
                <a:latin typeface="+mj-lt"/>
                <a:cs typeface="Times New Roman" panose="02020603050405020304" pitchFamily="18" charset="0"/>
              </a:rPr>
              <a:t>A WAF solution can react to a security threat faster by centrally patching a known vulnerability, instead of securing each individual web application</a:t>
            </a:r>
          </a:p>
        </p:txBody>
      </p:sp>
      <p:pic>
        <p:nvPicPr>
          <p:cNvPr id="7170" name="Picture 2" descr="Web application firewall diagram ">
            <a:extLst>
              <a:ext uri="{FF2B5EF4-FFF2-40B4-BE49-F238E27FC236}">
                <a16:creationId xmlns:a16="http://schemas.microsoft.com/office/drawing/2014/main" id="{2E229DB4-14BA-456B-9E44-EF6780A08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1678" y="1463998"/>
            <a:ext cx="5818047" cy="3930004"/>
          </a:xfrm>
          <a:prstGeom prst="rect">
            <a:avLst/>
          </a:prstGeom>
          <a:noFill/>
        </p:spPr>
      </p:pic>
      <p:sp>
        <p:nvSpPr>
          <p:cNvPr id="13" name="Rectangle 12">
            <a:extLst>
              <a:ext uri="{FF2B5EF4-FFF2-40B4-BE49-F238E27FC236}">
                <a16:creationId xmlns:a16="http://schemas.microsoft.com/office/drawing/2014/main" id="{B6BB4272-C29E-43F7-A7F3-AB4BC9661D4F}"/>
              </a:ext>
              <a:ext uri="{C183D7F6-B498-43B3-948B-1728B52AA6E4}">
                <adec:decorative xmlns:adec="http://schemas.microsoft.com/office/drawing/2017/decorative" val="1"/>
              </a:ext>
            </a:extLst>
          </p:cNvPr>
          <p:cNvSpPr/>
          <p:nvPr/>
        </p:nvSpPr>
        <p:spPr bwMode="auto">
          <a:xfrm>
            <a:off x="5799550" y="1002082"/>
            <a:ext cx="6100175" cy="494109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561739526"/>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F44E7-D256-892E-2D86-1069AEA5D059}"/>
              </a:ext>
            </a:extLst>
          </p:cNvPr>
          <p:cNvSpPr>
            <a:spLocks noGrp="1"/>
          </p:cNvSpPr>
          <p:nvPr>
            <p:ph type="title"/>
          </p:nvPr>
        </p:nvSpPr>
        <p:spPr/>
        <p:txBody>
          <a:bodyPr/>
          <a:lstStyle/>
          <a:p>
            <a:r>
              <a:rPr lang="en-US" dirty="0"/>
              <a:t>Web Application Firewall with Azure services</a:t>
            </a:r>
          </a:p>
        </p:txBody>
      </p:sp>
      <p:sp>
        <p:nvSpPr>
          <p:cNvPr id="3" name="Rectangle 2">
            <a:extLst>
              <a:ext uri="{FF2B5EF4-FFF2-40B4-BE49-F238E27FC236}">
                <a16:creationId xmlns:a16="http://schemas.microsoft.com/office/drawing/2014/main" id="{15D30531-6570-F2B2-4EFC-0AE4EFD6B4F0}"/>
              </a:ext>
            </a:extLst>
          </p:cNvPr>
          <p:cNvSpPr/>
          <p:nvPr/>
        </p:nvSpPr>
        <p:spPr>
          <a:xfrm>
            <a:off x="418643" y="1261165"/>
            <a:ext cx="5575879" cy="118223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dirty="0">
                <a:solidFill>
                  <a:schemeClr val="tx1"/>
                </a:solidFill>
              </a:rPr>
              <a:t>WAF on Azure Application Gateway</a:t>
            </a:r>
          </a:p>
        </p:txBody>
      </p:sp>
      <p:sp>
        <p:nvSpPr>
          <p:cNvPr id="4" name="Rectangle 3">
            <a:extLst>
              <a:ext uri="{FF2B5EF4-FFF2-40B4-BE49-F238E27FC236}">
                <a16:creationId xmlns:a16="http://schemas.microsoft.com/office/drawing/2014/main" id="{B443B52C-4D17-634A-EFF6-1CFB0A935B13}"/>
              </a:ext>
            </a:extLst>
          </p:cNvPr>
          <p:cNvSpPr/>
          <p:nvPr/>
        </p:nvSpPr>
        <p:spPr>
          <a:xfrm>
            <a:off x="424090" y="2818150"/>
            <a:ext cx="5575878" cy="266824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marL="285750" indent="-285750">
              <a:buFont typeface="Arial" panose="020B0604020202020204" pitchFamily="34" charset="0"/>
              <a:buChar char="•"/>
            </a:pPr>
            <a:r>
              <a:rPr lang="en-US" dirty="0">
                <a:solidFill>
                  <a:schemeClr val="tx1"/>
                </a:solidFill>
                <a:latin typeface="+mj-lt"/>
                <a:cs typeface="Times New Roman" panose="02020603050405020304" pitchFamily="18" charset="0"/>
              </a:rPr>
              <a:t>You can create multiple policies, and they can be associated with an Application Gateway, to individual listeners, or to path-based routing rules on an Application Gateway</a:t>
            </a:r>
          </a:p>
          <a:p>
            <a:pPr marL="285750" indent="-285750">
              <a:buFont typeface="Arial" panose="020B0604020202020204" pitchFamily="34" charset="0"/>
              <a:buChar char="•"/>
            </a:pPr>
            <a:r>
              <a:rPr lang="en-US" dirty="0">
                <a:solidFill>
                  <a:schemeClr val="tx1"/>
                </a:solidFill>
                <a:latin typeface="+mj-lt"/>
                <a:cs typeface="Times New Roman" panose="02020603050405020304" pitchFamily="18" charset="0"/>
              </a:rPr>
              <a:t>Customizable and separate policies for each site behind your Application Gateway if needed</a:t>
            </a:r>
          </a:p>
          <a:p>
            <a:pPr marL="285750" indent="-285750">
              <a:buFont typeface="Arial" panose="020B0604020202020204" pitchFamily="34" charset="0"/>
              <a:buChar char="•"/>
            </a:pPr>
            <a:r>
              <a:rPr lang="en-US" dirty="0">
                <a:solidFill>
                  <a:schemeClr val="tx1"/>
                </a:solidFill>
                <a:latin typeface="+mj-lt"/>
                <a:cs typeface="Times New Roman" panose="02020603050405020304" pitchFamily="18" charset="0"/>
              </a:rPr>
              <a:t>Monitor attacks </a:t>
            </a:r>
          </a:p>
        </p:txBody>
      </p:sp>
      <p:sp>
        <p:nvSpPr>
          <p:cNvPr id="6" name="Rectangle 5">
            <a:extLst>
              <a:ext uri="{FF2B5EF4-FFF2-40B4-BE49-F238E27FC236}">
                <a16:creationId xmlns:a16="http://schemas.microsoft.com/office/drawing/2014/main" id="{8A09B4AD-5116-BADD-62E9-DA7EC3042923}"/>
              </a:ext>
            </a:extLst>
          </p:cNvPr>
          <p:cNvSpPr/>
          <p:nvPr/>
        </p:nvSpPr>
        <p:spPr>
          <a:xfrm>
            <a:off x="6355498" y="1261165"/>
            <a:ext cx="5575879" cy="118223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dirty="0">
                <a:solidFill>
                  <a:schemeClr val="tx1"/>
                </a:solidFill>
              </a:rPr>
              <a:t>WAF on Azure Front Door</a:t>
            </a:r>
          </a:p>
        </p:txBody>
      </p:sp>
      <p:sp>
        <p:nvSpPr>
          <p:cNvPr id="8" name="Rectangle 7">
            <a:extLst>
              <a:ext uri="{FF2B5EF4-FFF2-40B4-BE49-F238E27FC236}">
                <a16:creationId xmlns:a16="http://schemas.microsoft.com/office/drawing/2014/main" id="{91548DB4-EC1D-EA06-F74E-3E0BE63E9F70}"/>
              </a:ext>
            </a:extLst>
          </p:cNvPr>
          <p:cNvSpPr/>
          <p:nvPr/>
        </p:nvSpPr>
        <p:spPr>
          <a:xfrm>
            <a:off x="6355498" y="2818150"/>
            <a:ext cx="5575878" cy="266825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pPr marL="285750" indent="-285750" algn="l">
              <a:buFont typeface="Arial" panose="020B0604020202020204" pitchFamily="34" charset="0"/>
              <a:buChar char="•"/>
            </a:pPr>
            <a:r>
              <a:rPr lang="en-US" dirty="0">
                <a:solidFill>
                  <a:schemeClr val="tx1"/>
                </a:solidFill>
                <a:latin typeface="+mj-lt"/>
                <a:cs typeface="Times New Roman" panose="02020603050405020304" pitchFamily="18" charset="0"/>
              </a:rPr>
              <a:t>Global and centralized solution</a:t>
            </a:r>
          </a:p>
          <a:p>
            <a:pPr marL="285750" indent="-285750">
              <a:buFont typeface="Arial" panose="020B0604020202020204" pitchFamily="34" charset="0"/>
              <a:buChar char="•"/>
            </a:pPr>
            <a:r>
              <a:rPr lang="en-US" dirty="0">
                <a:solidFill>
                  <a:schemeClr val="tx1"/>
                </a:solidFill>
                <a:latin typeface="+mj-lt"/>
                <a:cs typeface="Times New Roman" panose="02020603050405020304" pitchFamily="18" charset="0"/>
              </a:rPr>
              <a:t>WAF enabled web applications inspect every incoming request delivered by Front Door at the network edge</a:t>
            </a:r>
          </a:p>
          <a:p>
            <a:pPr marL="285750" indent="-285750" algn="l">
              <a:buFont typeface="Arial" panose="020B0604020202020204" pitchFamily="34" charset="0"/>
              <a:buChar char="•"/>
            </a:pPr>
            <a:r>
              <a:rPr lang="en-US" dirty="0">
                <a:solidFill>
                  <a:schemeClr val="tx1"/>
                </a:solidFill>
                <a:latin typeface="+mj-lt"/>
                <a:cs typeface="Times New Roman" panose="02020603050405020304" pitchFamily="18" charset="0"/>
              </a:rPr>
              <a:t>WAF policy can be associated to one or more Front Door front-ends for protection </a:t>
            </a:r>
          </a:p>
          <a:p>
            <a:pPr algn="l"/>
            <a:endParaRPr lang="en-US"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041466877"/>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C69EDC-D09E-4BBC-8A33-2E46FBC396F3}"/>
              </a:ext>
            </a:extLst>
          </p:cNvPr>
          <p:cNvSpPr>
            <a:spLocks noGrp="1"/>
          </p:cNvSpPr>
          <p:nvPr>
            <p:ph type="title"/>
          </p:nvPr>
        </p:nvSpPr>
        <p:spPr>
          <a:xfrm>
            <a:off x="424090" y="466096"/>
            <a:ext cx="11343820" cy="397545"/>
          </a:xfrm>
        </p:spPr>
        <p:txBody>
          <a:bodyPr/>
          <a:lstStyle/>
          <a:p>
            <a:r>
              <a:rPr lang="en-US" sz="2800">
                <a:cs typeface="Segoe UI Semilight"/>
              </a:rPr>
              <a:t>Web Application Firewall policy modes</a:t>
            </a:r>
            <a:endParaRPr lang="en-US"/>
          </a:p>
        </p:txBody>
      </p:sp>
      <p:pic>
        <p:nvPicPr>
          <p:cNvPr id="4" name="Picture 3" descr="WAF policy modes">
            <a:extLst>
              <a:ext uri="{FF2B5EF4-FFF2-40B4-BE49-F238E27FC236}">
                <a16:creationId xmlns:a16="http://schemas.microsoft.com/office/drawing/2014/main" id="{55871FA0-037F-4E5F-A911-2D372E48E808}"/>
              </a:ext>
            </a:extLst>
          </p:cNvPr>
          <p:cNvPicPr/>
          <p:nvPr/>
        </p:nvPicPr>
        <p:blipFill>
          <a:blip r:embed="rId3"/>
          <a:stretch>
            <a:fillRect/>
          </a:stretch>
        </p:blipFill>
        <p:spPr bwMode="auto">
          <a:xfrm>
            <a:off x="2058580" y="1169262"/>
            <a:ext cx="8047025" cy="3259495"/>
          </a:xfrm>
          <a:prstGeom prst="rect">
            <a:avLst/>
          </a:prstGeom>
          <a:noFill/>
          <a:ln>
            <a:noFill/>
          </a:ln>
        </p:spPr>
      </p:pic>
      <p:sp>
        <p:nvSpPr>
          <p:cNvPr id="6" name="Rectangle 5">
            <a:extLst>
              <a:ext uri="{FF2B5EF4-FFF2-40B4-BE49-F238E27FC236}">
                <a16:creationId xmlns:a16="http://schemas.microsoft.com/office/drawing/2014/main" id="{955AF8DD-0D37-4BA7-B250-A1F16B95CA29}"/>
              </a:ext>
            </a:extLst>
          </p:cNvPr>
          <p:cNvSpPr/>
          <p:nvPr/>
        </p:nvSpPr>
        <p:spPr>
          <a:xfrm>
            <a:off x="418642" y="4582215"/>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a:solidFill>
                  <a:schemeClr val="tx1"/>
                </a:solidFill>
                <a:latin typeface="+mj-lt"/>
                <a:cs typeface="Times New Roman" panose="02020603050405020304" pitchFamily="18" charset="0"/>
              </a:rPr>
              <a:t>by default, the WAF policy is in Detection mode</a:t>
            </a:r>
            <a:endParaRPr lang="bs-Latn-BA">
              <a:solidFill>
                <a:schemeClr val="tx1"/>
              </a:solidFill>
              <a:latin typeface="+mj-lt"/>
              <a:cs typeface="Times New Roman" panose="02020603050405020304" pitchFamily="18" charset="0"/>
            </a:endParaRPr>
          </a:p>
        </p:txBody>
      </p:sp>
      <p:sp>
        <p:nvSpPr>
          <p:cNvPr id="8" name="Rectangle 7">
            <a:extLst>
              <a:ext uri="{FF2B5EF4-FFF2-40B4-BE49-F238E27FC236}">
                <a16:creationId xmlns:a16="http://schemas.microsoft.com/office/drawing/2014/main" id="{4949C8D3-32BD-4364-9DF2-D7A957AABA69}"/>
              </a:ext>
            </a:extLst>
          </p:cNvPr>
          <p:cNvSpPr/>
          <p:nvPr/>
        </p:nvSpPr>
        <p:spPr>
          <a:xfrm>
            <a:off x="3306925" y="4574114"/>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a:solidFill>
                  <a:schemeClr val="tx1"/>
                </a:solidFill>
                <a:latin typeface="+mj-lt"/>
                <a:cs typeface="Times New Roman" panose="02020603050405020304" pitchFamily="18" charset="0"/>
              </a:rPr>
              <a:t>In Detection mode, WAF does not block any requests; instead, requests matching the WAF rules are logged at WAF logs</a:t>
            </a:r>
          </a:p>
        </p:txBody>
      </p:sp>
      <p:sp>
        <p:nvSpPr>
          <p:cNvPr id="10" name="Rectangle 9">
            <a:extLst>
              <a:ext uri="{FF2B5EF4-FFF2-40B4-BE49-F238E27FC236}">
                <a16:creationId xmlns:a16="http://schemas.microsoft.com/office/drawing/2014/main" id="{938C1BFF-6DCB-40AE-B46C-E7120668AB00}"/>
              </a:ext>
            </a:extLst>
          </p:cNvPr>
          <p:cNvSpPr/>
          <p:nvPr/>
        </p:nvSpPr>
        <p:spPr>
          <a:xfrm>
            <a:off x="6195208" y="4582215"/>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a:solidFill>
                  <a:schemeClr val="tx1"/>
                </a:solidFill>
                <a:latin typeface="+mj-lt"/>
                <a:cs typeface="Times New Roman" panose="02020603050405020304" pitchFamily="18" charset="0"/>
              </a:rPr>
              <a:t>you can change the mode settings from Detection to Prevention</a:t>
            </a:r>
          </a:p>
        </p:txBody>
      </p:sp>
      <p:sp>
        <p:nvSpPr>
          <p:cNvPr id="12" name="Rectangle 11">
            <a:extLst>
              <a:ext uri="{FF2B5EF4-FFF2-40B4-BE49-F238E27FC236}">
                <a16:creationId xmlns:a16="http://schemas.microsoft.com/office/drawing/2014/main" id="{6DF142A6-329B-4394-8D99-A9D24701FADC}"/>
              </a:ext>
            </a:extLst>
          </p:cNvPr>
          <p:cNvSpPr/>
          <p:nvPr/>
        </p:nvSpPr>
        <p:spPr>
          <a:xfrm>
            <a:off x="9083491" y="4574114"/>
            <a:ext cx="2775168" cy="165496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a:solidFill>
                  <a:schemeClr val="tx1"/>
                </a:solidFill>
                <a:latin typeface="+mj-lt"/>
                <a:cs typeface="Times New Roman" panose="02020603050405020304" pitchFamily="18" charset="0"/>
              </a:rPr>
              <a:t>In Prevention mode, requests that match rules that are defined in Default Rule Set (DRS) are blocked and logged at WAF logs</a:t>
            </a:r>
          </a:p>
        </p:txBody>
      </p:sp>
      <p:sp>
        <p:nvSpPr>
          <p:cNvPr id="14" name="Rectangle 13">
            <a:extLst>
              <a:ext uri="{FF2B5EF4-FFF2-40B4-BE49-F238E27FC236}">
                <a16:creationId xmlns:a16="http://schemas.microsoft.com/office/drawing/2014/main" id="{F41BB279-8926-483D-87F6-7E70DD80303C}"/>
              </a:ext>
              <a:ext uri="{C183D7F6-B498-43B3-948B-1728B52AA6E4}">
                <adec:decorative xmlns:adec="http://schemas.microsoft.com/office/drawing/2017/decorative" val="1"/>
              </a:ext>
            </a:extLst>
          </p:cNvPr>
          <p:cNvSpPr/>
          <p:nvPr/>
        </p:nvSpPr>
        <p:spPr bwMode="auto">
          <a:xfrm>
            <a:off x="418644" y="1169263"/>
            <a:ext cx="11354714" cy="325949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606609173"/>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DE1AE6-DD60-49F8-86F9-E955FB7A14AE}"/>
              </a:ext>
            </a:extLst>
          </p:cNvPr>
          <p:cNvSpPr>
            <a:spLocks noGrp="1"/>
          </p:cNvSpPr>
          <p:nvPr>
            <p:ph type="title"/>
          </p:nvPr>
        </p:nvSpPr>
        <p:spPr>
          <a:xfrm>
            <a:off x="424090" y="466096"/>
            <a:ext cx="11343820" cy="397545"/>
          </a:xfrm>
        </p:spPr>
        <p:txBody>
          <a:bodyPr/>
          <a:lstStyle/>
          <a:p>
            <a:r>
              <a:rPr lang="en-US" sz="2800" dirty="0">
                <a:cs typeface="Segoe UI Semilight"/>
              </a:rPr>
              <a:t>Web Application Firewall Default Rule Set rule groups and rules</a:t>
            </a:r>
            <a:endParaRPr lang="en-US" dirty="0"/>
          </a:p>
        </p:txBody>
      </p:sp>
      <p:sp>
        <p:nvSpPr>
          <p:cNvPr id="6" name="Rectangle 5">
            <a:extLst>
              <a:ext uri="{FF2B5EF4-FFF2-40B4-BE49-F238E27FC236}">
                <a16:creationId xmlns:a16="http://schemas.microsoft.com/office/drawing/2014/main" id="{CB472D00-EF84-449E-AA3E-F68D8065C14E}"/>
              </a:ext>
              <a:ext uri="{C183D7F6-B498-43B3-948B-1728B52AA6E4}">
                <adec:decorative xmlns:adec="http://schemas.microsoft.com/office/drawing/2017/decorative" val="1"/>
              </a:ext>
            </a:extLst>
          </p:cNvPr>
          <p:cNvSpPr/>
          <p:nvPr/>
        </p:nvSpPr>
        <p:spPr bwMode="auto">
          <a:xfrm>
            <a:off x="5911011" y="1244420"/>
            <a:ext cx="6199277" cy="496848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8" name="Rectangle 7">
            <a:extLst>
              <a:ext uri="{FF2B5EF4-FFF2-40B4-BE49-F238E27FC236}">
                <a16:creationId xmlns:a16="http://schemas.microsoft.com/office/drawing/2014/main" id="{BFA68BF1-19EB-4D69-BC80-5C0F7E405101}"/>
              </a:ext>
            </a:extLst>
          </p:cNvPr>
          <p:cNvSpPr/>
          <p:nvPr/>
        </p:nvSpPr>
        <p:spPr>
          <a:xfrm>
            <a:off x="427263" y="1239634"/>
            <a:ext cx="4871247" cy="515227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353">
                <a:solidFill>
                  <a:schemeClr val="tx1"/>
                </a:solidFill>
                <a:latin typeface="+mj-lt"/>
                <a:cs typeface="Segoe UI Semilight"/>
              </a:rPr>
              <a:t>Azure-managed Default Rule Set includes rules against the following threat categories:</a:t>
            </a:r>
          </a:p>
          <a:p>
            <a:endParaRPr lang="en-US" sz="2353">
              <a:solidFill>
                <a:schemeClr val="tx1"/>
              </a:solidFill>
              <a:latin typeface="+mj-lt"/>
              <a:cs typeface="Segoe UI Semilight"/>
            </a:endParaRPr>
          </a:p>
          <a:p>
            <a:r>
              <a:rPr lang="en-US" sz="2353">
                <a:solidFill>
                  <a:schemeClr val="tx1"/>
                </a:solidFill>
                <a:latin typeface="+mj-lt"/>
                <a:cs typeface="Segoe UI Semilight"/>
              </a:rPr>
              <a:t>• Cross-site scripting</a:t>
            </a:r>
          </a:p>
          <a:p>
            <a:r>
              <a:rPr lang="en-US" sz="2353">
                <a:solidFill>
                  <a:schemeClr val="tx1"/>
                </a:solidFill>
                <a:latin typeface="+mj-lt"/>
                <a:cs typeface="Segoe UI Semilight"/>
              </a:rPr>
              <a:t>• Java attacks</a:t>
            </a:r>
          </a:p>
          <a:p>
            <a:r>
              <a:rPr lang="en-US" sz="2353">
                <a:solidFill>
                  <a:schemeClr val="tx1"/>
                </a:solidFill>
                <a:latin typeface="+mj-lt"/>
                <a:cs typeface="Segoe UI Semilight"/>
              </a:rPr>
              <a:t>• Local file inclusion</a:t>
            </a:r>
          </a:p>
          <a:p>
            <a:r>
              <a:rPr lang="en-US" sz="2353">
                <a:solidFill>
                  <a:schemeClr val="tx1"/>
                </a:solidFill>
                <a:latin typeface="+mj-lt"/>
                <a:cs typeface="Segoe UI Semilight"/>
              </a:rPr>
              <a:t>• PHP injection attacks</a:t>
            </a:r>
          </a:p>
          <a:p>
            <a:r>
              <a:rPr lang="en-US" sz="2353">
                <a:solidFill>
                  <a:schemeClr val="tx1"/>
                </a:solidFill>
                <a:latin typeface="+mj-lt"/>
                <a:cs typeface="Segoe UI Semilight"/>
              </a:rPr>
              <a:t>• Remote command execution</a:t>
            </a:r>
          </a:p>
          <a:p>
            <a:r>
              <a:rPr lang="en-US" sz="2353">
                <a:solidFill>
                  <a:schemeClr val="tx1"/>
                </a:solidFill>
                <a:latin typeface="+mj-lt"/>
                <a:cs typeface="Segoe UI Semilight"/>
              </a:rPr>
              <a:t>• Remote file inclusion</a:t>
            </a:r>
          </a:p>
          <a:p>
            <a:r>
              <a:rPr lang="en-US" sz="2353">
                <a:solidFill>
                  <a:schemeClr val="tx1"/>
                </a:solidFill>
                <a:latin typeface="+mj-lt"/>
                <a:cs typeface="Segoe UI Semilight"/>
              </a:rPr>
              <a:t>• Session fixation</a:t>
            </a:r>
          </a:p>
          <a:p>
            <a:r>
              <a:rPr lang="en-US" sz="2353">
                <a:solidFill>
                  <a:schemeClr val="tx1"/>
                </a:solidFill>
                <a:latin typeface="+mj-lt"/>
                <a:cs typeface="Segoe UI Semilight"/>
              </a:rPr>
              <a:t>• SQL injection protection</a:t>
            </a:r>
          </a:p>
          <a:p>
            <a:r>
              <a:rPr lang="en-US" sz="2353">
                <a:solidFill>
                  <a:schemeClr val="tx1"/>
                </a:solidFill>
                <a:latin typeface="+mj-lt"/>
                <a:cs typeface="Segoe UI Semilight"/>
              </a:rPr>
              <a:t>• Protocol attackers</a:t>
            </a:r>
          </a:p>
        </p:txBody>
      </p:sp>
      <p:pic>
        <p:nvPicPr>
          <p:cNvPr id="4" name="Picture 3" descr="WAF policy managed rules">
            <a:extLst>
              <a:ext uri="{FF2B5EF4-FFF2-40B4-BE49-F238E27FC236}">
                <a16:creationId xmlns:a16="http://schemas.microsoft.com/office/drawing/2014/main" id="{E9FEAA9F-76B1-4CB3-B611-1F5FB4028D6F}"/>
              </a:ext>
            </a:extLst>
          </p:cNvPr>
          <p:cNvPicPr/>
          <p:nvPr/>
        </p:nvPicPr>
        <p:blipFill>
          <a:blip r:embed="rId3"/>
          <a:stretch>
            <a:fillRect/>
          </a:stretch>
        </p:blipFill>
        <p:spPr bwMode="auto">
          <a:xfrm>
            <a:off x="6096000" y="2022754"/>
            <a:ext cx="5838825" cy="3138170"/>
          </a:xfrm>
          <a:prstGeom prst="rect">
            <a:avLst/>
          </a:prstGeom>
          <a:noFill/>
          <a:ln>
            <a:noFill/>
          </a:ln>
        </p:spPr>
      </p:pic>
    </p:spTree>
    <p:extLst>
      <p:ext uri="{BB962C8B-B14F-4D97-AF65-F5344CB8AC3E}">
        <p14:creationId xmlns:p14="http://schemas.microsoft.com/office/powerpoint/2010/main" val="2331995161"/>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68FC-A994-4B46-9710-7470344942F0}"/>
              </a:ext>
            </a:extLst>
          </p:cNvPr>
          <p:cNvSpPr>
            <a:spLocks noGrp="1"/>
          </p:cNvSpPr>
          <p:nvPr>
            <p:ph type="title"/>
          </p:nvPr>
        </p:nvSpPr>
        <p:spPr>
          <a:xfrm>
            <a:off x="424090" y="475169"/>
            <a:ext cx="11343820" cy="379399"/>
          </a:xfrm>
        </p:spPr>
        <p:txBody>
          <a:bodyPr/>
          <a:lstStyle/>
          <a:p>
            <a:r>
              <a:rPr lang="en-US" sz="2400" dirty="0">
                <a:cs typeface="Segoe UI Semilight"/>
              </a:rPr>
              <a:t>Web Application Firewall Custom Rules</a:t>
            </a:r>
            <a:endParaRPr lang="en-US" dirty="0"/>
          </a:p>
        </p:txBody>
      </p:sp>
      <p:sp>
        <p:nvSpPr>
          <p:cNvPr id="6" name="Rectangle 5">
            <a:extLst>
              <a:ext uri="{FF2B5EF4-FFF2-40B4-BE49-F238E27FC236}">
                <a16:creationId xmlns:a16="http://schemas.microsoft.com/office/drawing/2014/main" id="{02502A9D-DB1F-4E0C-9C18-A925C4C9F9B3}"/>
              </a:ext>
            </a:extLst>
          </p:cNvPr>
          <p:cNvSpPr/>
          <p:nvPr/>
        </p:nvSpPr>
        <p:spPr>
          <a:xfrm>
            <a:off x="411109" y="4258849"/>
            <a:ext cx="2417470" cy="197832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a:solidFill>
                  <a:schemeClr val="tx1"/>
                </a:solidFill>
                <a:latin typeface="+mj-lt"/>
                <a:cs typeface="Times New Roman" panose="02020603050405020304" pitchFamily="18" charset="0"/>
              </a:rPr>
              <a:t>A custom WAF rule consists of a priority number, rule type, match conditions, and an action</a:t>
            </a:r>
            <a:endParaRPr lang="bs-Latn-BA">
              <a:solidFill>
                <a:schemeClr val="tx1"/>
              </a:solidFill>
              <a:latin typeface="+mj-lt"/>
              <a:cs typeface="Times New Roman" panose="02020603050405020304" pitchFamily="18" charset="0"/>
            </a:endParaRPr>
          </a:p>
        </p:txBody>
      </p:sp>
      <p:sp>
        <p:nvSpPr>
          <p:cNvPr id="8" name="Rectangle 7">
            <a:extLst>
              <a:ext uri="{FF2B5EF4-FFF2-40B4-BE49-F238E27FC236}">
                <a16:creationId xmlns:a16="http://schemas.microsoft.com/office/drawing/2014/main" id="{9C3DCF4D-082E-4B10-9CEE-7E0B70062F41}"/>
              </a:ext>
            </a:extLst>
          </p:cNvPr>
          <p:cNvSpPr/>
          <p:nvPr/>
        </p:nvSpPr>
        <p:spPr>
          <a:xfrm>
            <a:off x="3098426" y="4263504"/>
            <a:ext cx="2417470" cy="197832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a:solidFill>
                  <a:schemeClr val="tx1"/>
                </a:solidFill>
                <a:latin typeface="+mj-lt"/>
                <a:cs typeface="Times New Roman" panose="02020603050405020304" pitchFamily="18" charset="0"/>
              </a:rPr>
              <a:t>There are two types of custom rules: a </a:t>
            </a:r>
            <a:r>
              <a:rPr lang="en-US" b="1">
                <a:solidFill>
                  <a:schemeClr val="tx1"/>
                </a:solidFill>
                <a:latin typeface="+mj-lt"/>
                <a:cs typeface="Times New Roman" panose="02020603050405020304" pitchFamily="18" charset="0"/>
              </a:rPr>
              <a:t>match rule</a:t>
            </a:r>
            <a:r>
              <a:rPr lang="en-US">
                <a:solidFill>
                  <a:schemeClr val="tx1"/>
                </a:solidFill>
                <a:latin typeface="+mj-lt"/>
                <a:cs typeface="Times New Roman" panose="02020603050405020304" pitchFamily="18" charset="0"/>
              </a:rPr>
              <a:t> controls access based on a set of matching conditions </a:t>
            </a:r>
          </a:p>
        </p:txBody>
      </p:sp>
      <p:sp>
        <p:nvSpPr>
          <p:cNvPr id="10" name="Rectangle 9">
            <a:extLst>
              <a:ext uri="{FF2B5EF4-FFF2-40B4-BE49-F238E27FC236}">
                <a16:creationId xmlns:a16="http://schemas.microsoft.com/office/drawing/2014/main" id="{4938B2A4-2388-4E85-84CD-D0DC170FA651}"/>
              </a:ext>
            </a:extLst>
          </p:cNvPr>
          <p:cNvSpPr/>
          <p:nvPr/>
        </p:nvSpPr>
        <p:spPr>
          <a:xfrm>
            <a:off x="5785743" y="4258849"/>
            <a:ext cx="2417470" cy="197832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a:solidFill>
                  <a:schemeClr val="tx1"/>
                </a:solidFill>
                <a:latin typeface="+mj-lt"/>
                <a:cs typeface="Times New Roman" panose="02020603050405020304" pitchFamily="18" charset="0"/>
              </a:rPr>
              <a:t>a </a:t>
            </a:r>
            <a:r>
              <a:rPr lang="en-US" b="1">
                <a:solidFill>
                  <a:schemeClr val="tx1"/>
                </a:solidFill>
                <a:latin typeface="+mj-lt"/>
                <a:cs typeface="Times New Roman" panose="02020603050405020304" pitchFamily="18" charset="0"/>
              </a:rPr>
              <a:t>rate limit rule </a:t>
            </a:r>
            <a:r>
              <a:rPr lang="en-US">
                <a:solidFill>
                  <a:schemeClr val="tx1"/>
                </a:solidFill>
                <a:latin typeface="+mj-lt"/>
                <a:cs typeface="Times New Roman" panose="02020603050405020304" pitchFamily="18" charset="0"/>
              </a:rPr>
              <a:t>controls access based on matching conditions and the rates of incoming requests</a:t>
            </a:r>
          </a:p>
        </p:txBody>
      </p:sp>
      <p:pic>
        <p:nvPicPr>
          <p:cNvPr id="3" name="Picture 2" descr="WAF policy add custom rule">
            <a:extLst>
              <a:ext uri="{FF2B5EF4-FFF2-40B4-BE49-F238E27FC236}">
                <a16:creationId xmlns:a16="http://schemas.microsoft.com/office/drawing/2014/main" id="{DB052585-49AA-4A25-9649-90359FAF198E}"/>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74274" y="1400648"/>
            <a:ext cx="6665774" cy="2542244"/>
          </a:xfrm>
          <a:prstGeom prst="rect">
            <a:avLst/>
          </a:prstGeom>
          <a:noFill/>
          <a:ln>
            <a:noFill/>
          </a:ln>
        </p:spPr>
      </p:pic>
      <p:pic>
        <p:nvPicPr>
          <p:cNvPr id="4" name="Picture 3" descr="WAF policy custom rule configuration">
            <a:extLst>
              <a:ext uri="{FF2B5EF4-FFF2-40B4-BE49-F238E27FC236}">
                <a16:creationId xmlns:a16="http://schemas.microsoft.com/office/drawing/2014/main" id="{CA929922-9EAB-49E1-825B-BCAE5F6CE172}"/>
              </a:ext>
            </a:extLst>
          </p:cNvPr>
          <p:cNvPicPr/>
          <p:nvPr/>
        </p:nvPicPr>
        <p:blipFill>
          <a:blip r:embed="rId4"/>
          <a:stretch>
            <a:fillRect/>
          </a:stretch>
        </p:blipFill>
        <p:spPr bwMode="auto">
          <a:xfrm>
            <a:off x="8417490" y="663880"/>
            <a:ext cx="3145960" cy="5718952"/>
          </a:xfrm>
          <a:prstGeom prst="rect">
            <a:avLst/>
          </a:prstGeom>
          <a:noFill/>
          <a:ln>
            <a:noFill/>
          </a:ln>
        </p:spPr>
      </p:pic>
      <p:sp>
        <p:nvSpPr>
          <p:cNvPr id="12" name="Rectangle 11">
            <a:extLst>
              <a:ext uri="{FF2B5EF4-FFF2-40B4-BE49-F238E27FC236}">
                <a16:creationId xmlns:a16="http://schemas.microsoft.com/office/drawing/2014/main" id="{0D749097-5AD7-4102-A51D-26577658B59F}"/>
              </a:ext>
              <a:ext uri="{C183D7F6-B498-43B3-948B-1728B52AA6E4}">
                <adec:decorative xmlns:adec="http://schemas.microsoft.com/office/drawing/2017/decorative" val="1"/>
              </a:ext>
            </a:extLst>
          </p:cNvPr>
          <p:cNvSpPr/>
          <p:nvPr/>
        </p:nvSpPr>
        <p:spPr bwMode="auto">
          <a:xfrm>
            <a:off x="8333984" y="376737"/>
            <a:ext cx="3628371" cy="600609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4" name="Rectangle 13">
            <a:extLst>
              <a:ext uri="{FF2B5EF4-FFF2-40B4-BE49-F238E27FC236}">
                <a16:creationId xmlns:a16="http://schemas.microsoft.com/office/drawing/2014/main" id="{ECEA3E6B-9734-427B-9FAA-4F8BA4F9CCCB}"/>
              </a:ext>
              <a:ext uri="{C183D7F6-B498-43B3-948B-1728B52AA6E4}">
                <adec:decorative xmlns:adec="http://schemas.microsoft.com/office/drawing/2017/decorative" val="1"/>
              </a:ext>
            </a:extLst>
          </p:cNvPr>
          <p:cNvSpPr/>
          <p:nvPr/>
        </p:nvSpPr>
        <p:spPr bwMode="auto">
          <a:xfrm flipH="1">
            <a:off x="424088" y="1230348"/>
            <a:ext cx="7705435" cy="288284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109817690"/>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A9032-18FD-4C0B-841B-00EE033A90AE}"/>
              </a:ext>
            </a:extLst>
          </p:cNvPr>
          <p:cNvSpPr>
            <a:spLocks noGrp="1"/>
          </p:cNvSpPr>
          <p:nvPr>
            <p:ph type="title"/>
          </p:nvPr>
        </p:nvSpPr>
        <p:spPr>
          <a:xfrm>
            <a:off x="424090" y="466096"/>
            <a:ext cx="11343820" cy="397545"/>
          </a:xfrm>
        </p:spPr>
        <p:txBody>
          <a:bodyPr/>
          <a:lstStyle/>
          <a:p>
            <a:r>
              <a:rPr lang="en-US" sz="2800">
                <a:cs typeface="Segoe UI Semilight"/>
              </a:rPr>
              <a:t>Create a Web Application Firewall policy on Azure Front Door</a:t>
            </a:r>
            <a:endParaRPr lang="en-US"/>
          </a:p>
        </p:txBody>
      </p:sp>
      <p:sp>
        <p:nvSpPr>
          <p:cNvPr id="4" name="Rectangle 3">
            <a:extLst>
              <a:ext uri="{FF2B5EF4-FFF2-40B4-BE49-F238E27FC236}">
                <a16:creationId xmlns:a16="http://schemas.microsoft.com/office/drawing/2014/main" id="{741A1912-66E3-436F-AB8E-344FB506917B}"/>
              </a:ext>
            </a:extLst>
          </p:cNvPr>
          <p:cNvSpPr/>
          <p:nvPr/>
        </p:nvSpPr>
        <p:spPr>
          <a:xfrm>
            <a:off x="427263" y="1239634"/>
            <a:ext cx="7075827" cy="10902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b="1">
                <a:solidFill>
                  <a:schemeClr val="tx1"/>
                </a:solidFill>
                <a:latin typeface="+mj-lt"/>
                <a:cs typeface="Times New Roman" panose="02020603050405020304" pitchFamily="18" charset="0"/>
              </a:rPr>
              <a:t>Create a Web Application Firewall policy </a:t>
            </a:r>
            <a:r>
              <a:rPr lang="en-US">
                <a:solidFill>
                  <a:schemeClr val="tx1"/>
                </a:solidFill>
                <a:latin typeface="+mj-lt"/>
                <a:cs typeface="Times New Roman" panose="02020603050405020304" pitchFamily="18" charset="0"/>
              </a:rPr>
              <a:t>- this is where you create a basic WAF policy with managed Default Rule Set (DRS).</a:t>
            </a:r>
          </a:p>
        </p:txBody>
      </p:sp>
      <p:sp>
        <p:nvSpPr>
          <p:cNvPr id="6" name="Rectangle 5">
            <a:extLst>
              <a:ext uri="{FF2B5EF4-FFF2-40B4-BE49-F238E27FC236}">
                <a16:creationId xmlns:a16="http://schemas.microsoft.com/office/drawing/2014/main" id="{AA969EA9-739E-49D4-A984-F89B0854FAF2}"/>
              </a:ext>
            </a:extLst>
          </p:cNvPr>
          <p:cNvSpPr/>
          <p:nvPr/>
        </p:nvSpPr>
        <p:spPr>
          <a:xfrm>
            <a:off x="427261" y="2530259"/>
            <a:ext cx="7075827" cy="191818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b="1">
                <a:solidFill>
                  <a:schemeClr val="tx1"/>
                </a:solidFill>
                <a:latin typeface="+mj-lt"/>
                <a:cs typeface="Times New Roman" panose="02020603050405020304" pitchFamily="18" charset="0"/>
              </a:rPr>
              <a:t>Associate the WAF policy with a Front Door profile </a:t>
            </a:r>
            <a:r>
              <a:rPr lang="en-US">
                <a:solidFill>
                  <a:schemeClr val="tx1"/>
                </a:solidFill>
                <a:latin typeface="+mj-lt"/>
                <a:cs typeface="Times New Roman" panose="02020603050405020304" pitchFamily="18" charset="0"/>
              </a:rPr>
              <a:t>- this is where you associate the WAF policy created in stage 1 with a Front Door profile. This association can be done during the creation of the WAF policy, or it can be done on a previously created WAF policy. During the association you specify the Front Door profile and the domain/s within the Front Door profile you want the WAF policy to be applied to. </a:t>
            </a:r>
          </a:p>
        </p:txBody>
      </p:sp>
      <p:sp>
        <p:nvSpPr>
          <p:cNvPr id="8" name="Rectangle 7">
            <a:extLst>
              <a:ext uri="{FF2B5EF4-FFF2-40B4-BE49-F238E27FC236}">
                <a16:creationId xmlns:a16="http://schemas.microsoft.com/office/drawing/2014/main" id="{F74E0747-1AB3-4E8E-A171-751E3336D402}"/>
              </a:ext>
            </a:extLst>
          </p:cNvPr>
          <p:cNvSpPr/>
          <p:nvPr/>
        </p:nvSpPr>
        <p:spPr>
          <a:xfrm>
            <a:off x="427262" y="4726524"/>
            <a:ext cx="7075826" cy="109020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b="1">
                <a:solidFill>
                  <a:schemeClr val="tx1"/>
                </a:solidFill>
                <a:latin typeface="+mj-lt"/>
                <a:cs typeface="Times New Roman" panose="02020603050405020304" pitchFamily="18" charset="0"/>
              </a:rPr>
              <a:t>Configure WAF policy settings and rules </a:t>
            </a:r>
            <a:r>
              <a:rPr lang="en-US">
                <a:solidFill>
                  <a:schemeClr val="tx1"/>
                </a:solidFill>
                <a:latin typeface="+mj-lt"/>
                <a:cs typeface="Times New Roman" panose="02020603050405020304" pitchFamily="18" charset="0"/>
              </a:rPr>
              <a:t>- this is an optional stage, where you can configure policy settings such as the Mode (Prevention or Detection) and configure managed rules and custom rules.</a:t>
            </a:r>
          </a:p>
        </p:txBody>
      </p:sp>
      <p:pic>
        <p:nvPicPr>
          <p:cNvPr id="6146" name="Picture 2" descr="Azure portal screenshot associating a Front Door profile to a domain ">
            <a:extLst>
              <a:ext uri="{FF2B5EF4-FFF2-40B4-BE49-F238E27FC236}">
                <a16:creationId xmlns:a16="http://schemas.microsoft.com/office/drawing/2014/main" id="{DAF36015-E1CA-4230-9B80-EF1F81BF6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4737" y="1556878"/>
            <a:ext cx="3810000" cy="3714750"/>
          </a:xfrm>
          <a:prstGeom prst="rect">
            <a:avLst/>
          </a:prstGeom>
          <a:noFill/>
        </p:spPr>
      </p:pic>
      <p:sp>
        <p:nvSpPr>
          <p:cNvPr id="3" name="Rectangle 2">
            <a:extLst>
              <a:ext uri="{FF2B5EF4-FFF2-40B4-BE49-F238E27FC236}">
                <a16:creationId xmlns:a16="http://schemas.microsoft.com/office/drawing/2014/main" id="{57FAE2E0-537A-4B2F-BB20-CBCFCC5775D3}"/>
              </a:ext>
              <a:ext uri="{C183D7F6-B498-43B3-948B-1728B52AA6E4}">
                <adec:decorative xmlns:adec="http://schemas.microsoft.com/office/drawing/2017/decorative" val="1"/>
              </a:ext>
            </a:extLst>
          </p:cNvPr>
          <p:cNvSpPr/>
          <p:nvPr/>
        </p:nvSpPr>
        <p:spPr bwMode="auto">
          <a:xfrm>
            <a:off x="7816241" y="1239634"/>
            <a:ext cx="4146114" cy="479791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214079838"/>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sz="2400"/>
              <a:t>Implement a Web Application Firewall on Azure Front Door </a:t>
            </a:r>
            <a:r>
              <a:rPr lang="en-US">
                <a:solidFill>
                  <a:schemeClr val="tx1"/>
                </a:solidFill>
              </a:rPr>
              <a:t>- Review</a:t>
            </a:r>
          </a:p>
        </p:txBody>
      </p:sp>
      <p:sp>
        <p:nvSpPr>
          <p:cNvPr id="4" name="Rectangle 3">
            <a:extLst>
              <a:ext uri="{FF2B5EF4-FFF2-40B4-BE49-F238E27FC236}">
                <a16:creationId xmlns:a16="http://schemas.microsoft.com/office/drawing/2014/main" id="{2966B463-01CD-4B75-BB8C-E0B3A0BA3BB5}"/>
              </a:ext>
            </a:extLst>
          </p:cNvPr>
          <p:cNvSpPr/>
          <p:nvPr/>
        </p:nvSpPr>
        <p:spPr bwMode="auto">
          <a:xfrm>
            <a:off x="392161" y="1473565"/>
            <a:ext cx="421288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latin typeface="+mj-lt"/>
              </a:rPr>
              <a:t>Knowledge Check</a:t>
            </a:r>
          </a:p>
        </p:txBody>
      </p:sp>
      <p:sp>
        <p:nvSpPr>
          <p:cNvPr id="5" name="Rectangle 4">
            <a:extLst>
              <a:ext uri="{FF2B5EF4-FFF2-40B4-BE49-F238E27FC236}">
                <a16:creationId xmlns:a16="http://schemas.microsoft.com/office/drawing/2014/main" id="{518F38BA-DC8B-40A2-8C01-D6C0048EF654}"/>
              </a:ext>
            </a:extLst>
          </p:cNvPr>
          <p:cNvSpPr/>
          <p:nvPr/>
        </p:nvSpPr>
        <p:spPr bwMode="auto">
          <a:xfrm>
            <a:off x="4754449" y="1473565"/>
            <a:ext cx="7008015" cy="627497"/>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latin typeface="+mj-lt"/>
              </a:rPr>
              <a:t>Microsoft Learn Modules (docs.microsoft.com/Learn)</a:t>
            </a:r>
          </a:p>
        </p:txBody>
      </p:sp>
      <p:cxnSp>
        <p:nvCxnSpPr>
          <p:cNvPr id="14" name="Straight Connector 13">
            <a:extLst>
              <a:ext uri="{FF2B5EF4-FFF2-40B4-BE49-F238E27FC236}">
                <a16:creationId xmlns:a16="http://schemas.microsoft.com/office/drawing/2014/main" id="{B8019769-3D92-44B8-B3D0-907648D9CF64}"/>
              </a:ext>
              <a:ext uri="{C183D7F6-B498-43B3-948B-1728B52AA6E4}">
                <adec:decorative xmlns:adec="http://schemas.microsoft.com/office/drawing/2017/decorative" val="1"/>
              </a:ext>
            </a:extLst>
          </p:cNvPr>
          <p:cNvCxnSpPr>
            <a:cxnSpLocks/>
          </p:cNvCxnSpPr>
          <p:nvPr/>
        </p:nvCxnSpPr>
        <p:spPr>
          <a:xfrm>
            <a:off x="4881443" y="2884193"/>
            <a:ext cx="692061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69F1270-547C-46E5-BE5C-44182EA353A1}"/>
              </a:ext>
              <a:ext uri="{C183D7F6-B498-43B3-948B-1728B52AA6E4}">
                <adec:decorative xmlns:adec="http://schemas.microsoft.com/office/drawing/2017/decorative" val="1"/>
              </a:ext>
            </a:extLst>
          </p:cNvPr>
          <p:cNvSpPr/>
          <p:nvPr/>
        </p:nvSpPr>
        <p:spPr>
          <a:xfrm>
            <a:off x="4762486" y="2141688"/>
            <a:ext cx="6991941" cy="806782"/>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955" tIns="103955" rIns="103955" bIns="103955" numCol="1" spcCol="1270" anchor="ctr" anchorCtr="0">
            <a:noAutofit/>
          </a:bodyPr>
          <a:lstStyle/>
          <a:p>
            <a:pPr defTabSz="784338">
              <a:lnSpc>
                <a:spcPct val="90000"/>
              </a:lnSpc>
              <a:spcBef>
                <a:spcPct val="0"/>
              </a:spcBef>
              <a:spcAft>
                <a:spcPct val="35000"/>
              </a:spcAft>
            </a:pPr>
            <a:endParaRPr lang="en-US" sz="1765">
              <a:solidFill>
                <a:schemeClr val="tx1"/>
              </a:solidFill>
            </a:endParaRPr>
          </a:p>
        </p:txBody>
      </p:sp>
      <p:pic>
        <p:nvPicPr>
          <p:cNvPr id="3" name="Picture 2">
            <a:extLst>
              <a:ext uri="{FF2B5EF4-FFF2-40B4-BE49-F238E27FC236}">
                <a16:creationId xmlns:a16="http://schemas.microsoft.com/office/drawing/2014/main" id="{74131A59-8C9B-415F-B4A2-CA8A0ECC78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80878" y="2817694"/>
            <a:ext cx="1465263" cy="2130976"/>
          </a:xfrm>
          <a:prstGeom prst="rect">
            <a:avLst/>
          </a:prstGeom>
        </p:spPr>
      </p:pic>
      <p:sp>
        <p:nvSpPr>
          <p:cNvPr id="9" name="TextBox 8">
            <a:extLst>
              <a:ext uri="{FF2B5EF4-FFF2-40B4-BE49-F238E27FC236}">
                <a16:creationId xmlns:a16="http://schemas.microsoft.com/office/drawing/2014/main" id="{882CB51E-EEBF-4E81-96E1-6D4516A0A88D}"/>
              </a:ext>
            </a:extLst>
          </p:cNvPr>
          <p:cNvSpPr txBox="1"/>
          <p:nvPr/>
        </p:nvSpPr>
        <p:spPr>
          <a:xfrm>
            <a:off x="4881442" y="2171363"/>
            <a:ext cx="6881021" cy="646331"/>
          </a:xfrm>
          <a:prstGeom prst="rect">
            <a:avLst/>
          </a:prstGeom>
          <a:noFill/>
        </p:spPr>
        <p:txBody>
          <a:bodyPr wrap="square">
            <a:spAutoFit/>
          </a:bodyPr>
          <a:lstStyle/>
          <a:p>
            <a:r>
              <a:rPr lang="en-US" dirty="0">
                <a:hlinkClick r:id="rId4"/>
              </a:rPr>
              <a:t>What is Azure web application firewall on Azure Front Door? | Microsoft Docs</a:t>
            </a:r>
            <a:endParaRPr lang="en-US" dirty="0"/>
          </a:p>
        </p:txBody>
      </p:sp>
      <p:sp>
        <p:nvSpPr>
          <p:cNvPr id="11" name="TextBox 10">
            <a:extLst>
              <a:ext uri="{FF2B5EF4-FFF2-40B4-BE49-F238E27FC236}">
                <a16:creationId xmlns:a16="http://schemas.microsoft.com/office/drawing/2014/main" id="{01A949E4-08DA-4609-94BA-E4E58483B029}"/>
              </a:ext>
            </a:extLst>
          </p:cNvPr>
          <p:cNvSpPr txBox="1"/>
          <p:nvPr/>
        </p:nvSpPr>
        <p:spPr>
          <a:xfrm>
            <a:off x="4881442" y="3105834"/>
            <a:ext cx="6099048" cy="646331"/>
          </a:xfrm>
          <a:prstGeom prst="rect">
            <a:avLst/>
          </a:prstGeom>
          <a:noFill/>
        </p:spPr>
        <p:txBody>
          <a:bodyPr wrap="square">
            <a:spAutoFit/>
          </a:bodyPr>
          <a:lstStyle/>
          <a:p>
            <a:r>
              <a:rPr lang="en-US" dirty="0">
                <a:hlinkClick r:id="rId5"/>
              </a:rPr>
              <a:t>Azure Web Application Firewall on Azure Front Door Service - frequently asked questions | Microsoft Docs</a:t>
            </a:r>
            <a:endParaRPr lang="en-US" dirty="0"/>
          </a:p>
        </p:txBody>
      </p:sp>
    </p:spTree>
    <p:extLst>
      <p:ext uri="{BB962C8B-B14F-4D97-AF65-F5344CB8AC3E}">
        <p14:creationId xmlns:p14="http://schemas.microsoft.com/office/powerpoint/2010/main" val="2010215054"/>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a:t>End of presentation</a:t>
            </a:r>
          </a:p>
        </p:txBody>
      </p:sp>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EE67A4-8CCD-4BDB-B5E3-E1E3ADBE04E0}">
  <ds:schemaRefs>
    <ds:schemaRef ds:uri="http://purl.org/dc/elements/1.1/"/>
    <ds:schemaRef ds:uri="http://www.w3.org/XML/1998/namespace"/>
    <ds:schemaRef ds:uri="http://schemas.microsoft.com/sharepoint/v3"/>
    <ds:schemaRef ds:uri="http://schemas.microsoft.com/office/infopath/2007/PartnerControls"/>
    <ds:schemaRef ds:uri="e8bab37c-6053-4066-b569-fd9fbae908bd"/>
    <ds:schemaRef ds:uri="http://schemas.microsoft.com/office/2006/documentManagement/types"/>
    <ds:schemaRef ds:uri="http://schemas.microsoft.com/office/2006/metadata/properties"/>
    <ds:schemaRef ds:uri="http://schemas.openxmlformats.org/package/2006/metadata/core-properties"/>
    <ds:schemaRef ds:uri="1d16016b-1e11-4dbd-8bd0-b44cb6539c58"/>
    <ds:schemaRef ds:uri="http://purl.org/dc/dcmitype/"/>
    <ds:schemaRef ds:uri="http://purl.org/dc/terms/"/>
  </ds:schemaRefs>
</ds:datastoreItem>
</file>

<file path=customXml/itemProps2.xml><?xml version="1.0" encoding="utf-8"?>
<ds:datastoreItem xmlns:ds="http://schemas.openxmlformats.org/officeDocument/2006/customXml" ds:itemID="{E6E3E324-0D6A-41CD-B68A-B514A1B20227}">
  <ds:schemaRefs>
    <ds:schemaRef ds:uri="http://schemas.microsoft.com/sharepoint/v3/contenttype/forms"/>
  </ds:schemaRefs>
</ds:datastoreItem>
</file>

<file path=customXml/itemProps3.xml><?xml version="1.0" encoding="utf-8"?>
<ds:datastoreItem xmlns:ds="http://schemas.openxmlformats.org/officeDocument/2006/customXml" ds:itemID="{FFD064CA-841C-4C5C-9C2F-3BF36CEAAEF4}">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251</TotalTime>
  <Words>8584</Words>
  <Application>Microsoft Office PowerPoint</Application>
  <PresentationFormat>Widescreen</PresentationFormat>
  <Paragraphs>769</Paragraphs>
  <Slides>64</Slides>
  <Notes>57</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64</vt:i4>
      </vt:variant>
    </vt:vector>
  </HeadingPairs>
  <TitlesOfParts>
    <vt:vector size="78" baseType="lpstr">
      <vt:lpstr>-apple-system</vt:lpstr>
      <vt:lpstr>Arial</vt:lpstr>
      <vt:lpstr>Calibri</vt:lpstr>
      <vt:lpstr>Calibri Light</vt:lpstr>
      <vt:lpstr>Consolas</vt:lpstr>
      <vt:lpstr>Courier New</vt:lpstr>
      <vt:lpstr>Segoe UI</vt:lpstr>
      <vt:lpstr>Segoe UI Light</vt:lpstr>
      <vt:lpstr>Segoe UI Semibold</vt:lpstr>
      <vt:lpstr>Segoe UI VSS (Regular)</vt:lpstr>
      <vt:lpstr>Symbol</vt:lpstr>
      <vt:lpstr>Wingdings</vt:lpstr>
      <vt:lpstr>Office Theme</vt:lpstr>
      <vt:lpstr>Microsoft Azure Template</vt:lpstr>
      <vt:lpstr>AZ-700T00A Module 06: Design and Implement Network Security</vt:lpstr>
      <vt:lpstr>Module Overview</vt:lpstr>
      <vt:lpstr>Lesson 01: Get network security recommendations with Microsoft Defender for Cloud</vt:lpstr>
      <vt:lpstr>Secure your virtual networks in the Azure portal overview </vt:lpstr>
      <vt:lpstr>Network Security</vt:lpstr>
      <vt:lpstr>Azure Security benchmark</vt:lpstr>
      <vt:lpstr>Using Microsoft Defender for Cloud for regulatory compliance</vt:lpstr>
      <vt:lpstr>Alerts in Microsoft Defender for Cloud </vt:lpstr>
      <vt:lpstr>Summary – Understand the basics of securing your virtual networks </vt:lpstr>
      <vt:lpstr>Lesson 02: Deploy Azure DDoS Protection by using the Azure portal</vt:lpstr>
      <vt:lpstr>Deploy Azure DDoS Protection by using the Azure portal overview </vt:lpstr>
      <vt:lpstr>Distributed Denial of Service (DDoS)</vt:lpstr>
      <vt:lpstr>Types of DDoS attacks</vt:lpstr>
      <vt:lpstr>Azure DDoS protection Standard</vt:lpstr>
      <vt:lpstr>Azure DDoS protection features </vt:lpstr>
      <vt:lpstr>Deploying a DDoS protection plan </vt:lpstr>
      <vt:lpstr>Demonstration - Create and configure Azure DDoS Protection Standard</vt:lpstr>
      <vt:lpstr>Summary – Deploy Azure DDoS Protection by using the Azure portal</vt:lpstr>
      <vt:lpstr>Lesson 03: Exercise: Configure DDoS Protection on a virtual network using the Azure portal</vt:lpstr>
      <vt:lpstr>Exercise: Configure DDoS Protection on a virtual network using the Azure portal</vt:lpstr>
      <vt:lpstr>Summary –Exercise: Configure DDoS Protection on a virtual network using the Azure portal</vt:lpstr>
      <vt:lpstr>Lesson 04: Deploy and configure Network Security Groups</vt:lpstr>
      <vt:lpstr>Deploy and configure Network Security Groups overview </vt:lpstr>
      <vt:lpstr>Network Security Groups</vt:lpstr>
      <vt:lpstr>NSG Rules</vt:lpstr>
      <vt:lpstr>NSG Effective Rules</vt:lpstr>
      <vt:lpstr>Creating NSG rules</vt:lpstr>
      <vt:lpstr>Use Service Tags to define network access controls   </vt:lpstr>
      <vt:lpstr>Application Security Groups (ASG) </vt:lpstr>
      <vt:lpstr>Demonstration – Network Security Rules</vt:lpstr>
      <vt:lpstr>Deploy and configure Network Security Groups  - Review</vt:lpstr>
      <vt:lpstr>Lesson 05: Design and implement Azure Firewall </vt:lpstr>
      <vt:lpstr>Design and implement Azure Firewall overview </vt:lpstr>
      <vt:lpstr>Azure Firewall features</vt:lpstr>
      <vt:lpstr>Rule processing in Azure Firewall</vt:lpstr>
      <vt:lpstr>Deploying Azure Firewall in the Azure portal </vt:lpstr>
      <vt:lpstr>Deploying Azure Firewall in a Hub-Spoke network topology  </vt:lpstr>
      <vt:lpstr>Compare Azure Firewall to NSGs</vt:lpstr>
      <vt:lpstr>Summary – Design and implement Azure Firewall </vt:lpstr>
      <vt:lpstr>Lesson 06: Exercise - Deploy and configure Azure Firewall using the Azure portal</vt:lpstr>
      <vt:lpstr>Exercise - Deploy and configure Azure Firewall using the Azure portal</vt:lpstr>
      <vt:lpstr>Review – Deploy and configure Azure Firewall using the Azure portal</vt:lpstr>
      <vt:lpstr>Lesson 07: Working with Azure Firewall Manager</vt:lpstr>
      <vt:lpstr>Working with Azure Firewall Manager overview </vt:lpstr>
      <vt:lpstr>Azure Firewall Manager features </vt:lpstr>
      <vt:lpstr>Azure Firewall Manager policies </vt:lpstr>
      <vt:lpstr>Azure Firewall Manager for Hub Virtual Networks vs Secured Virtual Hubs </vt:lpstr>
      <vt:lpstr>Azure Firewall Manager for Hub Virtual Networks vs Secured Virtual Hubs part 2 </vt:lpstr>
      <vt:lpstr>Deploying Azure Firewall Manager</vt:lpstr>
      <vt:lpstr>Demonstration </vt:lpstr>
      <vt:lpstr>Review – Secure your networks with Azure Firewall Manager </vt:lpstr>
      <vt:lpstr>Lesson 08: Exercise- Secure your virtual hub using Azure Firewall Manager</vt:lpstr>
      <vt:lpstr>Exercise- Secure your virtual hub using Azure Firewall Manager</vt:lpstr>
      <vt:lpstr>Review – Exercise: Deploy and configure Azure Firewall </vt:lpstr>
      <vt:lpstr>Lesson 09: Implement a Web Application Firewall </vt:lpstr>
      <vt:lpstr>Implement a Web Application Firewall overview </vt:lpstr>
      <vt:lpstr>Web Application Firewall overview </vt:lpstr>
      <vt:lpstr>Web Application Firewall with Azure services</vt:lpstr>
      <vt:lpstr>Web Application Firewall policy modes</vt:lpstr>
      <vt:lpstr>Web Application Firewall Default Rule Set rule groups and rules</vt:lpstr>
      <vt:lpstr>Web Application Firewall Custom Rules</vt:lpstr>
      <vt:lpstr>Create a Web Application Firewall policy on Azure Front Door</vt:lpstr>
      <vt:lpstr>Implement a Web Application Firewall on Azure Front Door - Review</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Leary</dc:creator>
  <cp:lastModifiedBy>Jill Leary</cp:lastModifiedBy>
  <cp:revision>15</cp:revision>
  <dcterms:created xsi:type="dcterms:W3CDTF">2021-03-31T15:31:10Z</dcterms:created>
  <dcterms:modified xsi:type="dcterms:W3CDTF">2022-04-25T22:29:26Z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
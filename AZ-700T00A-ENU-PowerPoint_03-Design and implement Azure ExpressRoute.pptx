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7" r:id="rId5"/>
  </p:sldMasterIdLst>
  <p:notesMasterIdLst>
    <p:notesMasterId r:id="rId63"/>
  </p:notesMasterIdLst>
  <p:sldIdLst>
    <p:sldId id="1746" r:id="rId6"/>
    <p:sldId id="1768" r:id="rId7"/>
    <p:sldId id="1865" r:id="rId8"/>
    <p:sldId id="1782" r:id="rId9"/>
    <p:sldId id="2517" r:id="rId10"/>
    <p:sldId id="2076138158" r:id="rId11"/>
    <p:sldId id="2076138165" r:id="rId12"/>
    <p:sldId id="2076138159" r:id="rId13"/>
    <p:sldId id="2076138160" r:id="rId14"/>
    <p:sldId id="2076138161" r:id="rId15"/>
    <p:sldId id="1967" r:id="rId16"/>
    <p:sldId id="2076138206" r:id="rId17"/>
    <p:sldId id="2537" r:id="rId18"/>
    <p:sldId id="2076138164" r:id="rId19"/>
    <p:sldId id="1781" r:id="rId20"/>
    <p:sldId id="2076138166" r:id="rId21"/>
    <p:sldId id="2076138167" r:id="rId22"/>
    <p:sldId id="2076138196" r:id="rId23"/>
    <p:sldId id="2076138209" r:id="rId24"/>
    <p:sldId id="2076138170" r:id="rId25"/>
    <p:sldId id="2076138145" r:id="rId26"/>
    <p:sldId id="2076138171" r:id="rId27"/>
    <p:sldId id="2076138181" r:id="rId28"/>
    <p:sldId id="2076138182" r:id="rId29"/>
    <p:sldId id="2076138175" r:id="rId30"/>
    <p:sldId id="2076138213" r:id="rId31"/>
    <p:sldId id="2076138178" r:id="rId32"/>
    <p:sldId id="2076138197" r:id="rId33"/>
    <p:sldId id="2076138179" r:id="rId34"/>
    <p:sldId id="2076138180" r:id="rId35"/>
    <p:sldId id="2076138177" r:id="rId36"/>
    <p:sldId id="2076138172" r:id="rId37"/>
    <p:sldId id="1778" r:id="rId38"/>
    <p:sldId id="2076138204" r:id="rId39"/>
    <p:sldId id="2076138205" r:id="rId40"/>
    <p:sldId id="2076138207" r:id="rId41"/>
    <p:sldId id="2076138174" r:id="rId42"/>
    <p:sldId id="2076138183" r:id="rId43"/>
    <p:sldId id="2076138214" r:id="rId44"/>
    <p:sldId id="2076138157" r:id="rId45"/>
    <p:sldId id="2076138189" r:id="rId46"/>
    <p:sldId id="2076138190" r:id="rId47"/>
    <p:sldId id="2076138188" r:id="rId48"/>
    <p:sldId id="2076138191" r:id="rId49"/>
    <p:sldId id="2076138215" r:id="rId50"/>
    <p:sldId id="2076138193" r:id="rId51"/>
    <p:sldId id="2076138198" r:id="rId52"/>
    <p:sldId id="2076138212" r:id="rId53"/>
    <p:sldId id="2076138194" r:id="rId54"/>
    <p:sldId id="2076138199" r:id="rId55"/>
    <p:sldId id="2076138195" r:id="rId56"/>
    <p:sldId id="2076138208" r:id="rId57"/>
    <p:sldId id="2076138200" r:id="rId58"/>
    <p:sldId id="2076138202" r:id="rId59"/>
    <p:sldId id="2076138201" r:id="rId60"/>
    <p:sldId id="2076138211" r:id="rId61"/>
    <p:sldId id="189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218823-EED3-4E38-BD86-1D3B39CC1428}" v="1639" dt="2021-07-14T21:16:12.0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6" autoAdjust="0"/>
    <p:restoredTop sz="89526" autoAdjust="0"/>
  </p:normalViewPr>
  <p:slideViewPr>
    <p:cSldViewPr snapToGrid="0">
      <p:cViewPr varScale="1">
        <p:scale>
          <a:sx n="59" d="100"/>
          <a:sy n="59" d="100"/>
        </p:scale>
        <p:origin x="72" y="748"/>
      </p:cViewPr>
      <p:guideLst/>
    </p:cSldViewPr>
  </p:slideViewPr>
  <p:outlineViewPr>
    <p:cViewPr>
      <p:scale>
        <a:sx n="33" d="100"/>
        <a:sy n="33" d="100"/>
      </p:scale>
      <p:origin x="0" y="-86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9C5AB-E38E-4060-B5CF-8CFB4A938B65}" type="datetimeFigureOut">
              <a:rPr lang="en-US" smtClean="0"/>
              <a:t>4/25/2022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005BC2-C81C-445F-8CF4-D6736DD49201}" type="slidenum">
              <a:rPr lang="en-US" smtClean="0"/>
              <a:t>‹#›</a:t>
            </a:fld>
            <a:endParaRPr lang="en-US"/>
          </a:p>
        </p:txBody>
      </p:sp>
    </p:spTree>
    <p:extLst>
      <p:ext uri="{BB962C8B-B14F-4D97-AF65-F5344CB8AC3E}">
        <p14:creationId xmlns:p14="http://schemas.microsoft.com/office/powerpoint/2010/main" val="2887759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zure.microsoft.com/en-us/support/legal/sla/expressroute/v1_3/"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microsoft.com/en-us/azure/expressroute/expressroute-connectivity-models#CloudExchange" TargetMode="External"/><Relationship Id="rId7" Type="http://schemas.openxmlformats.org/officeDocument/2006/relationships/hyperlink" Target="https://docs.microsoft.com/en-us/azure/expressroute/expressroute-connectivity-model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docs.microsoft.com/en-us/azure/expressroute/expressroute-connectivity-models#Direct" TargetMode="External"/><Relationship Id="rId5" Type="http://schemas.openxmlformats.org/officeDocument/2006/relationships/hyperlink" Target="https://docs.microsoft.com/en-us/azure/expressroute/expressroute-connectivity-models#IPVPN" TargetMode="External"/><Relationship Id="rId4" Type="http://schemas.openxmlformats.org/officeDocument/2006/relationships/hyperlink" Target="https://docs.microsoft.com/en-us/azure/expressroute/expressroute-connectivity-models#Ethernet"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microsoft.com/en-us/azure/expressroute/expressroute-routing"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azure/expressroute/expressroute-faqs#expressroute-loca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docs.microsoft.com/en-us/azure/expressroute/expressroute-faqs#expressroute-premium"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microsoft.com/en-us/azure/expressroute/expressroute-location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zure.microsoft.com/en-us/pricing/details/expressroute/"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docs.microsoft.com/en-us/azure/expressroute/expressroute-faqs"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microsoft.com/en-us/azure/expressroute/expressroute-routing#bgp"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docs.microsoft.com/en-us/azure/expressroute/how-to-routefilter-portal"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docs.microsoft.com/en-us/azure/expressroute/expressroute-howto-add-gateway-resource-manager" TargetMode="External"/><Relationship Id="rId3" Type="http://schemas.openxmlformats.org/officeDocument/2006/relationships/hyperlink" Target="https://docs.microsoft.com/en-us/azure/expressroute/expressroute-workflows" TargetMode="External"/><Relationship Id="rId7" Type="http://schemas.openxmlformats.org/officeDocument/2006/relationships/hyperlink" Target="https://docs.microsoft.com/en-us/azure/expressroute/expressroute-howto-routing-portal-resource-manager" TargetMode="External"/><Relationship Id="rId2" Type="http://schemas.openxmlformats.org/officeDocument/2006/relationships/slide" Target="../slides/slide34.xml"/><Relationship Id="rId1" Type="http://schemas.openxmlformats.org/officeDocument/2006/relationships/notesMaster" Target="../notesMasters/notesMaster1.xml"/><Relationship Id="rId6" Type="http://schemas.openxmlformats.org/officeDocument/2006/relationships/hyperlink" Target="https://docs.microsoft.com/en-us/azure/expressroute/expressroute-howto-circuit-portal-resource-manager" TargetMode="External"/><Relationship Id="rId5" Type="http://schemas.openxmlformats.org/officeDocument/2006/relationships/hyperlink" Target="https://docs.microsoft.com/en-us/azure/expressroute/expressroute-routing" TargetMode="External"/><Relationship Id="rId10" Type="http://schemas.openxmlformats.org/officeDocument/2006/relationships/hyperlink" Target="https://azure.microsoft.com/documentation/videos/azure-expressroute-how-to-create-a-connection-between-your-vpn-gateway-and-expressroute-circuit" TargetMode="External"/><Relationship Id="rId4" Type="http://schemas.openxmlformats.org/officeDocument/2006/relationships/hyperlink" Target="https://docs.microsoft.com/en-us/azure/expressroute/expressroute-prerequisites" TargetMode="External"/><Relationship Id="rId9" Type="http://schemas.openxmlformats.org/officeDocument/2006/relationships/hyperlink" Target="https://docs.microsoft.com/en-us/azure/expressroute/expressroute-faqs"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microsoft.com/en-us/azure/expressroute/expressroute-locations"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cs.microsoft.com/en-us/azure/expressroute/expressroute-about-virtual-network-gateways"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microsoft.com/en-us/azure/expressroute/expressroute-troubleshooting-expressroute-overview#verify-circuit-provisioning-and-state" TargetMode="External"/><Relationship Id="rId7" Type="http://schemas.openxmlformats.org/officeDocument/2006/relationships/hyperlink" Target="https://docs.microsoft.com/en-us/azure/expressroute/expressroute-troubleshooting-expressroute-overview#confirm-the-traffic-flow" TargetMode="External"/><Relationship Id="rId2" Type="http://schemas.openxmlformats.org/officeDocument/2006/relationships/slide" Target="../slides/slide51.xml"/><Relationship Id="rId1" Type="http://schemas.openxmlformats.org/officeDocument/2006/relationships/notesMaster" Target="../notesMasters/notesMaster1.xml"/><Relationship Id="rId6" Type="http://schemas.openxmlformats.org/officeDocument/2006/relationships/hyperlink" Target="https://docs.microsoft.com/en-us/azure/expressroute/expressroute-troubleshooting-expressroute-overview#validate-bgp-and-routes-on-the-msee" TargetMode="External"/><Relationship Id="rId5" Type="http://schemas.openxmlformats.org/officeDocument/2006/relationships/hyperlink" Target="https://docs.microsoft.com/en-us/azure/expressroute/expressroute-troubleshooting-expressroute-overview#validate-arp" TargetMode="External"/><Relationship Id="rId4" Type="http://schemas.openxmlformats.org/officeDocument/2006/relationships/hyperlink" Target="https://docs.microsoft.com/en-us/azure/expressroute/expressroute-troubleshooting-expressroute-overview#validate-peering-configuration"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ocs.microsoft.com/en-us/powershell/azure/install-az-ps" TargetMode="External"/><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https://docs.microsoft.com/en-us/powershell/azure/new-azureps-module-az" TargetMode="Externa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tools.ietf.org/html/rfc826" TargetMode="External"/><Relationship Id="rId2" Type="http://schemas.openxmlformats.org/officeDocument/2006/relationships/slide" Target="../slides/slide54.xml"/><Relationship Id="rId1" Type="http://schemas.openxmlformats.org/officeDocument/2006/relationships/notesMaster" Target="../notesMasters/notesMaster1.xml"/><Relationship Id="rId4" Type="http://schemas.openxmlformats.org/officeDocument/2006/relationships/hyperlink" Target="https://portal.azure.com/?#blade/Microsoft_Azure_Support/HelpAndSupportBlade"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None/>
            </a:pPr>
            <a:endParaRPr lang="en-IN"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Module overview</a:t>
            </a:r>
          </a:p>
          <a:p>
            <a:endParaRPr lang="en-US" altLang="zh-CN" dirty="0"/>
          </a:p>
          <a:p>
            <a:r>
              <a:rPr lang="en-US" altLang="zh-CN" dirty="0"/>
              <a:t>Design, implement, and manage Azure ExpressRoute </a:t>
            </a:r>
          </a:p>
          <a:p>
            <a:endParaRPr lang="en-US" altLang="zh-CN" dirty="0"/>
          </a:p>
          <a:p>
            <a:r>
              <a:rPr lang="en-US" altLang="zh-CN" dirty="0"/>
              <a:t> choose between provider and direct model (ExpressRoute Direct) </a:t>
            </a:r>
          </a:p>
          <a:p>
            <a:r>
              <a:rPr lang="en-US" altLang="zh-CN" dirty="0"/>
              <a:t> design and implement Azure cross-region connectivity between multiple ExpressRoute locations </a:t>
            </a:r>
          </a:p>
          <a:p>
            <a:r>
              <a:rPr lang="en-US" altLang="zh-CN" dirty="0"/>
              <a:t> select an appropriate ExpressRoute SKU and tier </a:t>
            </a:r>
          </a:p>
          <a:p>
            <a:r>
              <a:rPr lang="en-US" altLang="zh-CN" dirty="0"/>
              <a:t> design and implement ExpressRoute Global Reach </a:t>
            </a:r>
          </a:p>
          <a:p>
            <a:r>
              <a:rPr lang="en-US" altLang="zh-CN" dirty="0"/>
              <a:t> design and implement ExpressRoute </a:t>
            </a:r>
            <a:r>
              <a:rPr lang="en-US" altLang="zh-CN" dirty="0" err="1"/>
              <a:t>FastPath</a:t>
            </a:r>
            <a:r>
              <a:rPr lang="en-US" altLang="zh-CN" dirty="0"/>
              <a:t> </a:t>
            </a:r>
          </a:p>
          <a:p>
            <a:r>
              <a:rPr lang="en-US" altLang="zh-CN" dirty="0"/>
              <a:t> choose between private peering only, Microsoft peering only, or both </a:t>
            </a:r>
          </a:p>
          <a:p>
            <a:r>
              <a:rPr lang="en-US" altLang="zh-CN" dirty="0"/>
              <a:t> configure private peering </a:t>
            </a:r>
          </a:p>
          <a:p>
            <a:r>
              <a:rPr lang="en-US" altLang="zh-CN" dirty="0"/>
              <a:t> configure Microsoft peering </a:t>
            </a:r>
          </a:p>
          <a:p>
            <a:r>
              <a:rPr lang="en-US" altLang="zh-CN" dirty="0"/>
              <a:t> create and configure an ExpressRoute gateway </a:t>
            </a:r>
          </a:p>
          <a:p>
            <a:r>
              <a:rPr lang="en-US" altLang="zh-CN" dirty="0"/>
              <a:t> connect a virtual network to an ExpressRoute circuit </a:t>
            </a:r>
          </a:p>
          <a:p>
            <a:r>
              <a:rPr lang="en-US" altLang="zh-CN" dirty="0"/>
              <a:t> recommend a route advertisement configuration </a:t>
            </a:r>
          </a:p>
          <a:p>
            <a:r>
              <a:rPr lang="en-US" altLang="zh-CN" dirty="0"/>
              <a:t> configure encryption over ExpressRoute </a:t>
            </a:r>
          </a:p>
          <a:p>
            <a:r>
              <a:rPr lang="en-US" altLang="zh-CN" dirty="0"/>
              <a:t> implement Bidirectional Forwarding Detection </a:t>
            </a:r>
          </a:p>
          <a:p>
            <a:r>
              <a:rPr lang="en-US" altLang="zh-CN" dirty="0"/>
              <a:t> diagnose and resolve ExpressRoute connection issues</a:t>
            </a:r>
          </a:p>
          <a:p>
            <a:endParaRPr lang="en-US" altLang="zh-CN" dirty="0"/>
          </a:p>
          <a:p>
            <a:endParaRPr lang="en-US" altLang="zh-CN" dirty="0"/>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12615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126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ExpressRoute overview - https://docs.microsoft.com/en-us/azure/expressroute/expressroute-introduction</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Some key benefits of ExpressRoute are:</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Layer 3 connectivity between your on-premises network and the Microsoft Cloud through a connectivity provider</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Connectivity can be from an any-to-any (IPVPN) network, a point-to-point Ethernet connection, or through a virtual cross-connection via an Ethernet exchange</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Connectivity to Microsoft cloud services across all regions in the geopolitical region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Global connectivity to Microsoft services across all regions with the ExpressRoute premium add-on</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Built-in redundancy in every peering location for higher reliability</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Azure ExpressRoute is used to create private connections between Azure datacenters and infrastructure on your premises or in a colocation environment. ExpressRoute connections do not go over the public Internet, and they offer more reliability, faster speeds, and lower latencies than typical Internet connections.</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953237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Faster and Reliable connection to Azure services</a:t>
            </a:r>
            <a:r>
              <a:rPr lang="en-US" sz="1800">
                <a:effectLst/>
                <a:latin typeface="Calibri" panose="020F0502020204030204" pitchFamily="34" charset="0"/>
                <a:ea typeface="Calibri" panose="020F0502020204030204" pitchFamily="34" charset="0"/>
                <a:cs typeface="Times New Roman" panose="02020603050405020304" pitchFamily="18" charset="0"/>
              </a:rPr>
              <a:t> - Organizations leveraging Azure services look for reliable connections to Azure services and data centers. Public internet is dependent upon many factors and may not be suitable for a business. Azure ExpressRoute is used to create private connections between Azure data centers and infrastructure on your premises or in a colocation environment. Using ExpressRoute connections to transfer data between on-premises systems and Azure can also give significant cost benefits.</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Storage, backup, and Recovery </a:t>
            </a:r>
            <a:r>
              <a:rPr lang="en-US" sz="1800">
                <a:effectLst/>
                <a:latin typeface="Calibri" panose="020F0502020204030204" pitchFamily="34" charset="0"/>
                <a:ea typeface="Calibri" panose="020F0502020204030204" pitchFamily="34" charset="0"/>
                <a:cs typeface="Times New Roman" panose="02020603050405020304" pitchFamily="18" charset="0"/>
              </a:rPr>
              <a:t>- Backup and Recovery are important for an organization for business continuity and recovering from outages. ExpressRoute gives you a fast and reliable connection to Azure with bandwidths up to 100 Gbps, which makes it excellent for scenarios such as periodic data migration, replication for business continuity, disaster recovery and other high-availability strategies. </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Extends Data center capabilities </a:t>
            </a:r>
            <a:r>
              <a:rPr lang="en-US" sz="1800">
                <a:effectLst/>
                <a:latin typeface="Calibri" panose="020F0502020204030204" pitchFamily="34" charset="0"/>
                <a:ea typeface="Calibri" panose="020F0502020204030204" pitchFamily="34" charset="0"/>
                <a:cs typeface="Times New Roman" panose="02020603050405020304" pitchFamily="18" charset="0"/>
              </a:rPr>
              <a:t>- ExpressRoute can be used to connect and add compute and storage capacity to your existing data centers. With high throughput and fast latencies, Azure will feel like a natural extension to or between your data centers, so you enjoy the scale and economics of the public cloud without having to compromise on network performance.  </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Predictable, reliable, and high-throughput connections - </a:t>
            </a:r>
            <a:r>
              <a:rPr lang="en-US" sz="1800">
                <a:effectLst/>
                <a:latin typeface="Calibri" panose="020F0502020204030204" pitchFamily="34" charset="0"/>
                <a:ea typeface="Calibri" panose="020F0502020204030204" pitchFamily="34" charset="0"/>
                <a:cs typeface="Times New Roman" panose="02020603050405020304" pitchFamily="18" charset="0"/>
              </a:rPr>
              <a:t>With predictable, reliable, and high-throughput connections offered by ExpressRoute, enterprises can build applications that span on-premises infrastructure and Azure without compromising privacy or performance. For example, run a corporate intranet application in Azure that authenticates your customers with an on-premises Active Directory service, and serve all your corporate customers without traffic ever routing through the public Internet.</a:t>
            </a:r>
          </a:p>
          <a:p>
            <a:endParaRPr lang="en-US"/>
          </a:p>
          <a:p>
            <a:r>
              <a:rPr lang="en-US" b="1"/>
              <a:t>SLA</a:t>
            </a:r>
            <a:r>
              <a:rPr lang="en-US"/>
              <a:t>: </a:t>
            </a:r>
            <a:r>
              <a:rPr lang="de-DE">
                <a:hlinkClick r:id="rId3"/>
              </a:rPr>
              <a:t>SLA for Azure ExpressRoute | Microsoft Azure</a:t>
            </a:r>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6</a:t>
            </a:fld>
            <a:endParaRPr lang="en-US"/>
          </a:p>
        </p:txBody>
      </p:sp>
    </p:spTree>
    <p:extLst>
      <p:ext uri="{BB962C8B-B14F-4D97-AF65-F5344CB8AC3E}">
        <p14:creationId xmlns:p14="http://schemas.microsoft.com/office/powerpoint/2010/main" val="1483119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You can create a connection between your on-premises network and the Microsoft cloud in four different ways, </a:t>
            </a:r>
            <a:r>
              <a:rPr lang="en-US" b="0" i="0" u="none" strike="noStrike" err="1">
                <a:effectLst/>
                <a:latin typeface="Segoe UI" panose="020B0502040204020203" pitchFamily="34" charset="0"/>
                <a:hlinkClick r:id="rId3"/>
              </a:rPr>
              <a:t>CloudExchange</a:t>
            </a:r>
            <a:r>
              <a:rPr lang="en-US" b="0" i="0" u="none" strike="noStrike">
                <a:effectLst/>
                <a:latin typeface="Segoe UI" panose="020B0502040204020203" pitchFamily="34" charset="0"/>
                <a:hlinkClick r:id="rId3"/>
              </a:rPr>
              <a:t> Co-location</a:t>
            </a:r>
            <a:r>
              <a:rPr lang="en-US" b="0" i="0">
                <a:solidFill>
                  <a:srgbClr val="171717"/>
                </a:solidFill>
                <a:effectLst/>
                <a:latin typeface="Segoe UI" panose="020B0502040204020203" pitchFamily="34" charset="0"/>
              </a:rPr>
              <a:t>, </a:t>
            </a:r>
            <a:r>
              <a:rPr lang="en-US" b="0" i="0" u="none" strike="noStrike">
                <a:effectLst/>
                <a:latin typeface="Segoe UI" panose="020B0502040204020203" pitchFamily="34" charset="0"/>
                <a:hlinkClick r:id="rId4"/>
              </a:rPr>
              <a:t>Point-to-point Ethernet Connection</a:t>
            </a:r>
            <a:r>
              <a:rPr lang="en-US" b="0" i="0">
                <a:solidFill>
                  <a:srgbClr val="171717"/>
                </a:solidFill>
                <a:effectLst/>
                <a:latin typeface="Segoe UI" panose="020B0502040204020203" pitchFamily="34" charset="0"/>
              </a:rPr>
              <a:t>, </a:t>
            </a:r>
            <a:r>
              <a:rPr lang="en-US" b="0" i="0" u="none" strike="noStrike">
                <a:effectLst/>
                <a:latin typeface="Segoe UI" panose="020B0502040204020203" pitchFamily="34" charset="0"/>
                <a:hlinkClick r:id="rId5"/>
              </a:rPr>
              <a:t>Any-to-any (IPVPN) Connection</a:t>
            </a:r>
            <a:r>
              <a:rPr lang="en-US" b="0" i="0">
                <a:solidFill>
                  <a:srgbClr val="171717"/>
                </a:solidFill>
                <a:effectLst/>
                <a:latin typeface="Segoe UI" panose="020B0502040204020203" pitchFamily="34" charset="0"/>
              </a:rPr>
              <a:t>, and </a:t>
            </a:r>
            <a:r>
              <a:rPr lang="en-US" b="0" i="0" u="none" strike="noStrike">
                <a:effectLst/>
                <a:latin typeface="Segoe UI" panose="020B0502040204020203" pitchFamily="34" charset="0"/>
                <a:hlinkClick r:id="rId6"/>
              </a:rPr>
              <a:t>ExpressRoute Direct</a:t>
            </a:r>
            <a:r>
              <a:rPr lang="en-US" b="0" i="0">
                <a:solidFill>
                  <a:srgbClr val="171717"/>
                </a:solidFill>
                <a:effectLst/>
                <a:latin typeface="Segoe UI" panose="020B0502040204020203" pitchFamily="34" charset="0"/>
              </a:rPr>
              <a:t>. Connectivity providers may offer one or more connectivity models. You can work with your connectivity provider to pick the model that works best for you.</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ExpressRoute Direct gives you the ability to connect directly into Microsoft’s global network at peering locations strategically distributed around the world. ExpressRoute Direct provides dual 100 Gbps or 10-Gbps connectivity, which supports Active/Active connectivity at scale. You can work with any service provider for ER Direct.</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Key features that ExpressRoute Direct provides include, but aren't limited to: </a:t>
            </a:r>
          </a:p>
          <a:p>
            <a:pPr algn="l"/>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a:solidFill>
                  <a:srgbClr val="171717"/>
                </a:solidFill>
                <a:effectLst/>
                <a:latin typeface="Segoe UI" panose="020B0502040204020203" pitchFamily="34" charset="0"/>
              </a:rPr>
              <a:t> Massive Data Ingestion into services like Storage and Cosmos DB</a:t>
            </a:r>
          </a:p>
          <a:p>
            <a:pPr algn="l">
              <a:buFont typeface="Arial" panose="020B0604020202020204" pitchFamily="34" charset="0"/>
              <a:buChar char="•"/>
            </a:pPr>
            <a:r>
              <a:rPr lang="en-US" b="0" i="0">
                <a:solidFill>
                  <a:srgbClr val="171717"/>
                </a:solidFill>
                <a:effectLst/>
                <a:latin typeface="Segoe UI" panose="020B0502040204020203" pitchFamily="34" charset="0"/>
              </a:rPr>
              <a:t> Physical isolation for industries that are regulated and require dedicated and isolated connectivity like: Banking, Government, and Retail</a:t>
            </a:r>
          </a:p>
          <a:p>
            <a:pPr algn="l">
              <a:buFont typeface="Arial" panose="020B0604020202020204" pitchFamily="34" charset="0"/>
              <a:buChar char="•"/>
            </a:pPr>
            <a:r>
              <a:rPr lang="en-US" b="0" i="0">
                <a:solidFill>
                  <a:srgbClr val="171717"/>
                </a:solidFill>
                <a:effectLst/>
                <a:latin typeface="Segoe UI" panose="020B0502040204020203" pitchFamily="34" charset="0"/>
              </a:rPr>
              <a:t> Granular control of circuit distribution based on business unit</a:t>
            </a:r>
          </a:p>
          <a:p>
            <a:pPr algn="l">
              <a:buFont typeface="Arial" panose="020B0604020202020204" pitchFamily="34" charset="0"/>
              <a:buNone/>
            </a:pPr>
            <a:endParaRPr lang="en-US" b="0" i="0">
              <a:solidFill>
                <a:srgbClr val="171717"/>
              </a:solidFill>
              <a:effectLst/>
              <a:latin typeface="Segoe UI" panose="020B0502040204020203" pitchFamily="34" charset="0"/>
            </a:endParaRPr>
          </a:p>
          <a:p>
            <a:r>
              <a:rPr lang="en-US">
                <a:hlinkClick r:id="rId7"/>
              </a:rPr>
              <a:t>Azure ExpressRoute: Connectivity models | Microsoft Docs</a:t>
            </a:r>
            <a:endParaRPr lang="en-US"/>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7</a:t>
            </a:fld>
            <a:endParaRPr lang="en-US"/>
          </a:p>
        </p:txBody>
      </p:sp>
    </p:spTree>
    <p:extLst>
      <p:ext uri="{BB962C8B-B14F-4D97-AF65-F5344CB8AC3E}">
        <p14:creationId xmlns:p14="http://schemas.microsoft.com/office/powerpoint/2010/main" val="3118032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Azure ExpressRoute: Routing requirements | Microsoft Docs</a:t>
            </a:r>
            <a:endParaRPr lang="en-US" dirty="0"/>
          </a:p>
          <a:p>
            <a:endParaRPr lang="en-US" dirty="0"/>
          </a:p>
          <a:p>
            <a:r>
              <a:rPr lang="en-US" dirty="0"/>
              <a:t>https://docs.microsoft.com/azure/expressroute/expressroute-routing#bgp</a:t>
            </a:r>
          </a:p>
          <a:p>
            <a:endParaRPr lang="en-US" dirty="0"/>
          </a:p>
        </p:txBody>
      </p:sp>
      <p:sp>
        <p:nvSpPr>
          <p:cNvPr id="4" name="Slide Number Placeholder 3"/>
          <p:cNvSpPr>
            <a:spLocks noGrp="1"/>
          </p:cNvSpPr>
          <p:nvPr>
            <p:ph type="sldNum" sz="quarter" idx="5"/>
          </p:nvPr>
        </p:nvSpPr>
        <p:spPr/>
        <p:txBody>
          <a:bodyPr/>
          <a:lstStyle/>
          <a:p>
            <a:fld id="{C0005BC2-C81C-445F-8CF4-D6736DD49201}" type="slidenum">
              <a:rPr lang="en-US" smtClean="0"/>
              <a:t>8</a:t>
            </a:fld>
            <a:endParaRPr lang="en-US"/>
          </a:p>
        </p:txBody>
      </p:sp>
    </p:spTree>
    <p:extLst>
      <p:ext uri="{BB962C8B-B14F-4D97-AF65-F5344CB8AC3E}">
        <p14:creationId xmlns:p14="http://schemas.microsoft.com/office/powerpoint/2010/main" val="3810469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BFD is configured by default under all the newly created ExpressRoute private peering interfaces on the MSEEs. As such, to enable BFD, you only need to configure BFD on both your primary and secondary devices. Configuring BFD is two-step process. You configure the BFD on the interface and then link it to the BGP session.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When you disable a peering, the Border Gateway Protocol (BGP) session for both the primary and the secondary connection of your ExpressRoute circuit is shut down. When you enable a peering, the BGP session on both the primary and the secondary connection of your ExpressRoute circuit is restored.</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ExpressRoute supports Bidirectional Forwarding Detection (BFD) both over private and Microsoft peering. When you enable BFD over ExpressRoute, you can speed up the link failure detection between Microsoft Enterprise edge (MSEE) devices and the routers that your ExpressRoute circuit gets configured (CE/PE). You can configure ExpressRoute over your edge routing devices or your Partner Edge routing devices (if you went with managed Layer 3 connection service). This section walks you through the need for BFD, and how to enable BFD over ExpressRoute.</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You can enable ExpressRoute circuit either by Layer 2 connections or managed Layer 3 connections. In both cases, if there are more than one Layer-2 devices in the ExpressRoute connection path, the responsibility of detecting any link failures in the path lies with the overlying BGP session.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On the MSEE devices, BGP keep-alive and hold-time are typically configured as 60 and 180 seconds, respectively. For that reason, when a link failure happens it can take up to three minutes to detect any link failure and switch traffic to alternate connection.</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You can control the BGP timers by configuring a lower BGP keep-alive and hold-time on your edge peering device. If the BGP timers are not the same between the two peering devices, the BGP session will establish using the lower time value. The BGP keep-alive can be set as low as three seconds, and the hold-time as low as 10 seconds. However, setting a very aggressive BGP timer is not recommended because the protocol is process intensive.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In this scenario, BFD can help. BFD provides low-overhead link failure detection in a sub second time interval.</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r>
              <a:rPr lang="en-US" sz="1800">
                <a:effectLst/>
                <a:latin typeface="Calibri" panose="020F0502020204030204" pitchFamily="34" charset="0"/>
                <a:ea typeface="Calibri" panose="020F0502020204030204" pitchFamily="34" charset="0"/>
                <a:cs typeface="Times New Roman" panose="02020603050405020304" pitchFamily="18" charset="0"/>
              </a:rPr>
              <a:t>The following diagram shows the benefit of enabling BFD over an ExpressRoute circuit:</a:t>
            </a:r>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9</a:t>
            </a:fld>
            <a:endParaRPr lang="en-US"/>
          </a:p>
        </p:txBody>
      </p:sp>
    </p:spTree>
    <p:extLst>
      <p:ext uri="{BB962C8B-B14F-4D97-AF65-F5344CB8AC3E}">
        <p14:creationId xmlns:p14="http://schemas.microsoft.com/office/powerpoint/2010/main" val="1409401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Traffic from on-premises networks to Azure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For traffic from on-premises networks to Azure, the Azure prefixes (including the virtual hub and all the spoke virtual networks connected to the hub) are advertised via both the ExpressRoute private peering BGP and the VPN BGP. This results in two network routes (paths) toward Azure from the on-premises networks: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One over the IPsec-protected path</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One directly over ExpressRoute </a:t>
            </a:r>
            <a:r>
              <a:rPr lang="en-US" sz="1800" i="1">
                <a:effectLst/>
                <a:latin typeface="Calibri" panose="020F0502020204030204" pitchFamily="34" charset="0"/>
                <a:ea typeface="Calibri" panose="020F0502020204030204" pitchFamily="34" charset="0"/>
                <a:cs typeface="Times New Roman" panose="02020603050405020304" pitchFamily="18" charset="0"/>
              </a:rPr>
              <a:t>without</a:t>
            </a:r>
            <a:r>
              <a:rPr lang="en-US" sz="1800">
                <a:effectLst/>
                <a:latin typeface="Calibri" panose="020F0502020204030204" pitchFamily="34" charset="0"/>
                <a:ea typeface="Calibri" panose="020F0502020204030204" pitchFamily="34" charset="0"/>
                <a:cs typeface="Times New Roman" panose="02020603050405020304" pitchFamily="18" charset="0"/>
              </a:rPr>
              <a:t> IPsec protection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To apply encryption to the communication, you must make sure that for the VPN-connected network in the diagram, the Azure routes via on-premises VPN gateway are preferred over the direct ExpressRoute path.</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Traffic from Azure to on-premises networks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The same requirement applies to the traffic from Azure to on-premises networks. To ensure that the IPsec path is preferred over the direct ExpressRoute path (without IPsec), you have two options: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Advertise more specific prefixes on the VPN BGP session for the VPN-connected network. You can advertise a larger range that encompasses the VPN-connected network over ExpressRoute private peering, then more specific ranges in the VPN BGP session. For example, advertise 10.0.0.0/16 over ExpressRoute, and 10.0.1.0/24 over VPN.</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Advertise disjoint prefixes for VPN and ExpressRoute. If the VPN-connected network ranges are disjoint from other ExpressRoute connected networks, you can advertise the prefixes in the VPN and ExpressRoute BGP sessions, respectively. For example, advertise 10.0.0.0/24 over ExpressRoute, and 10.0.1.0/24 over VPN.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In both examples, Azure will send traffic to 10.0.1.0/24 over the VPN connection rather than directly over ExpressRoute without VPN protection.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10</a:t>
            </a:fld>
            <a:endParaRPr lang="en-US"/>
          </a:p>
        </p:txBody>
      </p:sp>
    </p:spTree>
    <p:extLst>
      <p:ext uri="{BB962C8B-B14F-4D97-AF65-F5344CB8AC3E}">
        <p14:creationId xmlns:p14="http://schemas.microsoft.com/office/powerpoint/2010/main" val="2140972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Tutorial: Create and modify an ExpressRoute circuit - https://docs.microsoft.com/en-us/azure/expressroute/expressroute-howto-circuit-portal-resource-manager</a:t>
            </a:r>
          </a:p>
          <a:p>
            <a:endParaRPr lang="en-US"/>
          </a:p>
          <a:p>
            <a:r>
              <a:rPr lang="en-US"/>
              <a:t>Connect your on-premises network to the Microsoft global network by using ExpressRoute - https://docs.microsoft.com/en-us/learn/modules/connect-on-premises-network-with-expressroute/</a:t>
            </a:r>
          </a:p>
          <a:p>
            <a:endParaRPr lang="en-US"/>
          </a:p>
          <a:p>
            <a:r>
              <a:rPr lang="en-US"/>
              <a:t>Two gateways (VPN &amp; </a:t>
            </a:r>
            <a:r>
              <a:rPr lang="en-US" err="1"/>
              <a:t>Expressroute</a:t>
            </a:r>
            <a:r>
              <a:rPr lang="en-US"/>
              <a:t>) can be enabled on the same gateway subnet by using PowerShell. </a:t>
            </a:r>
          </a:p>
          <a:p>
            <a:endParaRPr lang="en-US"/>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Having the ability to configure Site-to-Site VPN and ExpressRoute has several advantages. You can configure Site-to-Site VPN as a secure failover path for ExpressRoute or use Site-to-Site VPNs to connect to sites that are not connected through ExpressRoute. </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Configuring Site-to-Site VPN and ExpressRoute coexisting connections has several advantages: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You can configure a Site-to-Site VPN as a secure failover path for ExpressRoute.</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Alternatively, you can use Site-to-Site VPNs to connect to sites that are not connected through ExpressRoute.</a:t>
            </a:r>
          </a:p>
          <a:p>
            <a:pPr marL="342900" marR="0" lvl="0" indent="-342900">
              <a:spcBef>
                <a:spcPts val="0"/>
              </a:spcBef>
              <a:spcAft>
                <a:spcPts val="1000"/>
              </a:spcAft>
              <a:buFont typeface="Symbol" panose="05050102010706020507" pitchFamily="18" charset="2"/>
              <a:buChar cha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00"/>
              </a:spcBef>
              <a:spcAft>
                <a:spcPts val="0"/>
              </a:spcAft>
            </a:pPr>
            <a:r>
              <a:rPr lang="en-US" sz="1800" b="1">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Limits and limitations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Only route-based VPN gateway is supported.</a:t>
            </a:r>
            <a:r>
              <a:rPr lang="en-US" sz="1800">
                <a:effectLst/>
                <a:latin typeface="Calibri" panose="020F0502020204030204" pitchFamily="34" charset="0"/>
                <a:ea typeface="Calibri" panose="020F0502020204030204" pitchFamily="34" charset="0"/>
                <a:cs typeface="Times New Roman" panose="02020603050405020304" pitchFamily="18" charset="0"/>
              </a:rPr>
              <a:t> You must use a route-based VPN gateway. You also can use a route-based VPN gateway with a VPN connection configured for 'policy-based traffic selectors'.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The ASN of Azure VPN Gateway must be set to 65515.</a:t>
            </a:r>
            <a:r>
              <a:rPr lang="en-US" sz="1800">
                <a:effectLst/>
                <a:latin typeface="Calibri" panose="020F0502020204030204" pitchFamily="34" charset="0"/>
                <a:ea typeface="Calibri" panose="020F0502020204030204" pitchFamily="34" charset="0"/>
                <a:cs typeface="Times New Roman" panose="02020603050405020304" pitchFamily="18" charset="0"/>
              </a:rPr>
              <a:t> Azure VPN Gateway supports the BGP routing protocol. For ExpressRoute and Azure VPN to work together, you must keep the Autonomous System Number of your Azure VPN gateway at its default value, 65515. If you previously selected an ASN other than 65515 and you change the setting to 65515, you must reset the VPN gateway for the setting to take effect.</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The gateway subnet must be /27 or a shorter prefix</a:t>
            </a:r>
            <a:r>
              <a:rPr lang="en-US" sz="1800">
                <a:effectLst/>
                <a:latin typeface="Calibri" panose="020F0502020204030204" pitchFamily="34" charset="0"/>
                <a:ea typeface="Calibri" panose="020F0502020204030204" pitchFamily="34" charset="0"/>
                <a:cs typeface="Times New Roman" panose="02020603050405020304" pitchFamily="18" charset="0"/>
              </a:rPr>
              <a:t>, (such as /26, /25), or you will receive an error message when you add the ExpressRoute virtual network gateway.</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Coexistence in a dual stack VNet is not supported.</a:t>
            </a:r>
            <a:r>
              <a:rPr lang="en-US" sz="1800">
                <a:effectLst/>
                <a:latin typeface="Calibri" panose="020F0502020204030204" pitchFamily="34" charset="0"/>
                <a:ea typeface="Calibri" panose="020F0502020204030204" pitchFamily="34" charset="0"/>
                <a:cs typeface="Times New Roman" panose="02020603050405020304" pitchFamily="18" charset="0"/>
              </a:rPr>
              <a:t> If you are using ExpressRoute IPv6 support and a dual-stack ExpressRoute gateway, coexistence with VPN Gateway will not be possible.</a:t>
            </a:r>
          </a:p>
          <a:p>
            <a:pPr marL="342900" marR="0" lvl="0" indent="-342900">
              <a:spcBef>
                <a:spcPts val="0"/>
              </a:spcBef>
              <a:spcAft>
                <a:spcPts val="1000"/>
              </a:spcAft>
              <a:buFont typeface="Symbol" panose="05050102010706020507" pitchFamily="18" charset="2"/>
              <a:buChar cha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3:30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766556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p:txBody>
      </p:sp>
      <p:sp>
        <p:nvSpPr>
          <p:cNvPr id="4" name="Slide Number Placeholder 3"/>
          <p:cNvSpPr>
            <a:spLocks noGrp="1"/>
          </p:cNvSpPr>
          <p:nvPr>
            <p:ph type="sldNum" sz="quarter" idx="5"/>
          </p:nvPr>
        </p:nvSpPr>
        <p:spPr/>
        <p:txBody>
          <a:bodyPr/>
          <a:lstStyle/>
          <a:p>
            <a:fld id="{8507DC7E-BC41-4478-BA30-CBCC3A644F0A}" type="slidenum">
              <a:rPr lang="en-US" smtClean="0"/>
              <a:t>13</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2800" b="0" i="0" dirty="0">
                <a:solidFill>
                  <a:srgbClr val="323130"/>
                </a:solidFill>
                <a:effectLst/>
                <a:latin typeface="az_ea_font"/>
              </a:rPr>
              <a:t>Local provides free egress data transfer and gives you access to only 1-2 Azure regions in the same area as your circuit. Standard gives you access to all Azure regions in the same geopolitical region as your circuit. Premium provides support for more than 4K routes, ability to connect to more than 10 virtual networks, and global connectivity. Premium also gives you access to your services deployed worldwide.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ExpressRoute has three different circuit SKUs: </a:t>
            </a:r>
            <a:r>
              <a:rPr lang="en-US" sz="1800" i="1" u="none" strike="noStrike" dirty="0">
                <a:effectLst/>
                <a:latin typeface="Calibri" panose="020F0502020204030204" pitchFamily="34" charset="0"/>
                <a:ea typeface="Calibri" panose="020F0502020204030204" pitchFamily="34" charset="0"/>
                <a:cs typeface="Times New Roman" panose="02020603050405020304" pitchFamily="18" charset="0"/>
                <a:hlinkClick r:id="rId3"/>
              </a:rPr>
              <a:t>Local</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Standard</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i="1" u="none" strike="noStrike" dirty="0">
                <a:effectLst/>
                <a:latin typeface="Calibri" panose="020F0502020204030204" pitchFamily="34" charset="0"/>
                <a:ea typeface="Calibri" panose="020F0502020204030204" pitchFamily="34" charset="0"/>
                <a:cs typeface="Times New Roman" panose="02020603050405020304" pitchFamily="18" charset="0"/>
                <a:hlinkClick r:id="rId4"/>
              </a:rPr>
              <a:t>Premium</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way you are charged for your ExpressRoute usage varies between these three SKU types. </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Local SKU</a:t>
            </a:r>
            <a:r>
              <a:rPr lang="en-US" sz="1800" dirty="0">
                <a:effectLst/>
                <a:latin typeface="Calibri" panose="020F0502020204030204" pitchFamily="34" charset="0"/>
                <a:ea typeface="Calibri" panose="020F0502020204030204" pitchFamily="34" charset="0"/>
                <a:cs typeface="Times New Roman" panose="02020603050405020304" pitchFamily="18" charset="0"/>
              </a:rPr>
              <a:t> - With Local SKU, you are automatically charged with an Unlimited data plan. </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Standard and Premium SKU</a:t>
            </a:r>
            <a:r>
              <a:rPr lang="en-US" sz="1800" dirty="0">
                <a:effectLst/>
                <a:latin typeface="Calibri" panose="020F0502020204030204" pitchFamily="34" charset="0"/>
                <a:ea typeface="Calibri" panose="020F0502020204030204" pitchFamily="34" charset="0"/>
                <a:cs typeface="Times New Roman" panose="02020603050405020304" pitchFamily="18" charset="0"/>
              </a:rPr>
              <a:t> - You can select between a Metered or an Unlimited data plan. All ingress data are free of charge except when using the Global Reach add-on. </a:t>
            </a:r>
          </a:p>
        </p:txBody>
      </p:sp>
      <p:sp>
        <p:nvSpPr>
          <p:cNvPr id="4" name="Slide Number Placeholder 3"/>
          <p:cNvSpPr>
            <a:spLocks noGrp="1"/>
          </p:cNvSpPr>
          <p:nvPr>
            <p:ph type="sldNum" sz="quarter" idx="5"/>
          </p:nvPr>
        </p:nvSpPr>
        <p:spPr/>
        <p:txBody>
          <a:bodyPr/>
          <a:lstStyle/>
          <a:p>
            <a:fld id="{C0005BC2-C81C-445F-8CF4-D6736DD49201}" type="slidenum">
              <a:rPr lang="en-US" smtClean="0"/>
              <a:t>16</a:t>
            </a:fld>
            <a:endParaRPr lang="en-US"/>
          </a:p>
        </p:txBody>
      </p:sp>
    </p:spTree>
    <p:extLst>
      <p:ext uri="{BB962C8B-B14F-4D97-AF65-F5344CB8AC3E}">
        <p14:creationId xmlns:p14="http://schemas.microsoft.com/office/powerpoint/2010/main" val="768254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hlinkClick r:id="rId3"/>
              </a:rPr>
              <a:t>Connectivity providers and locations: Azure ExpressRoute | Microsoft Docs</a:t>
            </a:r>
            <a:endParaRPr lang="en-US"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ExpressRoute locations (sometimes referred to as peering locations or meet-me-locations) are co-location facilities where Microsoft Enterprise Edge (MSEE) devices are located. ExpressRoute locations are the entry point to Microsoft's network – and are globally distributed, providing customers the opportunity to connect to Microsoft's network around the world. These locations are where ExpressRoute partners and ExpressRoute Direct customers issue cross connections to Microsoft's network. In general, the ExpressRoute location does not need to match the Azure region. For example, a customer can create an ExpressRoute circuit with the resource location </a:t>
            </a:r>
            <a:r>
              <a:rPr lang="en-US" b="0" i="1">
                <a:solidFill>
                  <a:srgbClr val="171717"/>
                </a:solidFill>
                <a:effectLst/>
                <a:latin typeface="Segoe UI" panose="020B0502040204020203" pitchFamily="34" charset="0"/>
              </a:rPr>
              <a:t>East US</a:t>
            </a:r>
            <a:r>
              <a:rPr lang="en-US" b="0" i="0">
                <a:solidFill>
                  <a:srgbClr val="171717"/>
                </a:solidFill>
                <a:effectLst/>
                <a:latin typeface="Segoe UI" panose="020B0502040204020203" pitchFamily="34" charset="0"/>
              </a:rPr>
              <a:t>, in the </a:t>
            </a:r>
            <a:r>
              <a:rPr lang="en-US" b="0" i="1">
                <a:solidFill>
                  <a:srgbClr val="171717"/>
                </a:solidFill>
                <a:effectLst/>
                <a:latin typeface="Segoe UI" panose="020B0502040204020203" pitchFamily="34" charset="0"/>
              </a:rPr>
              <a:t>Seattle</a:t>
            </a:r>
            <a:r>
              <a:rPr lang="en-US" b="0" i="0">
                <a:solidFill>
                  <a:srgbClr val="171717"/>
                </a:solidFill>
                <a:effectLst/>
                <a:latin typeface="Segoe UI" panose="020B0502040204020203" pitchFamily="34" charset="0"/>
              </a:rPr>
              <a:t> Peering location.</a:t>
            </a:r>
          </a:p>
          <a:p>
            <a:pPr algn="l"/>
            <a:r>
              <a:rPr lang="en-US" b="0" i="0">
                <a:solidFill>
                  <a:srgbClr val="171717"/>
                </a:solidFill>
                <a:effectLst/>
                <a:latin typeface="Segoe UI" panose="020B0502040204020203" pitchFamily="34" charset="0"/>
              </a:rPr>
              <a:t>You will have access to Azure services across all regions within a geopolitical region if you connected to at least one ExpressRoute location within the geopolitical region.</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17</a:t>
            </a:fld>
            <a:endParaRPr lang="en-US"/>
          </a:p>
        </p:txBody>
      </p:sp>
    </p:spTree>
    <p:extLst>
      <p:ext uri="{BB962C8B-B14F-4D97-AF65-F5344CB8AC3E}">
        <p14:creationId xmlns:p14="http://schemas.microsoft.com/office/powerpoint/2010/main" val="899931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Check your EA agreement for your price </a:t>
            </a:r>
          </a:p>
          <a:p>
            <a:pPr algn="l"/>
            <a:r>
              <a:rPr lang="en-US" b="0" i="0">
                <a:solidFill>
                  <a:srgbClr val="171717"/>
                </a:solidFill>
                <a:effectLst/>
                <a:latin typeface="Segoe UI" panose="020B0502040204020203" pitchFamily="34" charset="0"/>
              </a:rPr>
              <a:t>Prices vary by region </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View pricing here: </a:t>
            </a:r>
            <a:r>
              <a:rPr lang="en-US">
                <a:hlinkClick r:id="rId3"/>
              </a:rPr>
              <a:t>Pricing - ExpressRoute | Microsoft Azure</a:t>
            </a:r>
            <a:endParaRPr lang="en-US"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you can purchase ExpressRoute circuits for a wide range of bandwidths. The supported bandwidths are listed as followed. Be sure to check with your connectivity provider to determine the bandwidths they support.</a:t>
            </a:r>
          </a:p>
          <a:p>
            <a:pPr algn="l">
              <a:buFont typeface="Arial" panose="020B0604020202020204" pitchFamily="34" charset="0"/>
              <a:buChar char="•"/>
            </a:pPr>
            <a:r>
              <a:rPr lang="en-US" b="0" i="0">
                <a:solidFill>
                  <a:srgbClr val="171717"/>
                </a:solidFill>
                <a:effectLst/>
                <a:latin typeface="Segoe UI" panose="020B0502040204020203" pitchFamily="34" charset="0"/>
              </a:rPr>
              <a:t>50 Mbps</a:t>
            </a:r>
          </a:p>
          <a:p>
            <a:pPr algn="l">
              <a:buFont typeface="Arial" panose="020B0604020202020204" pitchFamily="34" charset="0"/>
              <a:buChar char="•"/>
            </a:pPr>
            <a:r>
              <a:rPr lang="en-US" b="0" i="0">
                <a:solidFill>
                  <a:srgbClr val="171717"/>
                </a:solidFill>
                <a:effectLst/>
                <a:latin typeface="Segoe UI" panose="020B0502040204020203" pitchFamily="34" charset="0"/>
              </a:rPr>
              <a:t>100 Mbps</a:t>
            </a:r>
          </a:p>
          <a:p>
            <a:pPr algn="l">
              <a:buFont typeface="Arial" panose="020B0604020202020204" pitchFamily="34" charset="0"/>
              <a:buChar char="•"/>
            </a:pPr>
            <a:r>
              <a:rPr lang="en-US" b="0" i="0">
                <a:solidFill>
                  <a:srgbClr val="171717"/>
                </a:solidFill>
                <a:effectLst/>
                <a:latin typeface="Segoe UI" panose="020B0502040204020203" pitchFamily="34" charset="0"/>
              </a:rPr>
              <a:t>200 Mbps</a:t>
            </a:r>
          </a:p>
          <a:p>
            <a:pPr algn="l">
              <a:buFont typeface="Arial" panose="020B0604020202020204" pitchFamily="34" charset="0"/>
              <a:buChar char="•"/>
            </a:pPr>
            <a:r>
              <a:rPr lang="en-US" b="0" i="0">
                <a:solidFill>
                  <a:srgbClr val="171717"/>
                </a:solidFill>
                <a:effectLst/>
                <a:latin typeface="Segoe UI" panose="020B0502040204020203" pitchFamily="34" charset="0"/>
              </a:rPr>
              <a:t>500 Mbps</a:t>
            </a:r>
          </a:p>
          <a:p>
            <a:pPr algn="l">
              <a:buFont typeface="Arial" panose="020B0604020202020204" pitchFamily="34" charset="0"/>
              <a:buChar char="•"/>
            </a:pPr>
            <a:r>
              <a:rPr lang="en-US" b="0" i="0">
                <a:solidFill>
                  <a:srgbClr val="171717"/>
                </a:solidFill>
                <a:effectLst/>
                <a:latin typeface="Segoe UI" panose="020B0502040204020203" pitchFamily="34" charset="0"/>
              </a:rPr>
              <a:t>1 Gbps</a:t>
            </a:r>
          </a:p>
          <a:p>
            <a:pPr algn="l">
              <a:buFont typeface="Arial" panose="020B0604020202020204" pitchFamily="34" charset="0"/>
              <a:buChar char="•"/>
            </a:pPr>
            <a:r>
              <a:rPr lang="en-US" b="0" i="0">
                <a:solidFill>
                  <a:srgbClr val="171717"/>
                </a:solidFill>
                <a:effectLst/>
                <a:latin typeface="Segoe UI" panose="020B0502040204020203" pitchFamily="34" charset="0"/>
              </a:rPr>
              <a:t>2 Gbps</a:t>
            </a:r>
          </a:p>
          <a:p>
            <a:pPr algn="l">
              <a:buFont typeface="Arial" panose="020B0604020202020204" pitchFamily="34" charset="0"/>
              <a:buChar char="•"/>
            </a:pPr>
            <a:r>
              <a:rPr lang="en-US" b="0" i="0">
                <a:solidFill>
                  <a:srgbClr val="171717"/>
                </a:solidFill>
                <a:effectLst/>
                <a:latin typeface="Segoe UI" panose="020B0502040204020203" pitchFamily="34" charset="0"/>
              </a:rPr>
              <a:t>5 Gbps</a:t>
            </a:r>
          </a:p>
          <a:p>
            <a:pPr algn="l">
              <a:buFont typeface="Arial" panose="020B0604020202020204" pitchFamily="34" charset="0"/>
              <a:buChar char="•"/>
            </a:pPr>
            <a:r>
              <a:rPr lang="en-US" b="0" i="0">
                <a:solidFill>
                  <a:srgbClr val="171717"/>
                </a:solidFill>
                <a:effectLst/>
                <a:latin typeface="Segoe UI" panose="020B0502040204020203" pitchFamily="34" charset="0"/>
              </a:rPr>
              <a:t>10 Gbps</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You can pick a billing model that works best for you. Choose between the billing models listed as followed. For more information, see </a:t>
            </a:r>
            <a:r>
              <a:rPr lang="en-US" b="0" i="0" u="none" strike="noStrike">
                <a:solidFill>
                  <a:srgbClr val="171717"/>
                </a:solidFill>
                <a:effectLst/>
                <a:latin typeface="Segoe UI" panose="020B0502040204020203" pitchFamily="34" charset="0"/>
                <a:hlinkClick r:id="rId4"/>
              </a:rPr>
              <a:t>ExpressRoute FAQ</a:t>
            </a:r>
            <a:r>
              <a:rPr lang="en-US" b="0" i="0">
                <a:solidFill>
                  <a:srgbClr val="171717"/>
                </a:solidFill>
                <a:effectLst/>
                <a:latin typeface="Segoe UI" panose="020B0502040204020203" pitchFamily="34" charset="0"/>
              </a:rPr>
              <a:t>.</a:t>
            </a:r>
          </a:p>
          <a:p>
            <a:pPr algn="l"/>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1" i="0">
                <a:solidFill>
                  <a:srgbClr val="171717"/>
                </a:solidFill>
                <a:effectLst/>
                <a:latin typeface="Segoe UI" panose="020B0502040204020203" pitchFamily="34" charset="0"/>
              </a:rPr>
              <a:t>Unlimited data</a:t>
            </a:r>
            <a:r>
              <a:rPr lang="en-US" b="0" i="0">
                <a:solidFill>
                  <a:srgbClr val="171717"/>
                </a:solidFill>
                <a:effectLst/>
                <a:latin typeface="Segoe UI" panose="020B0502040204020203" pitchFamily="34" charset="0"/>
              </a:rPr>
              <a:t>. Billing is based on a monthly fee; all inbound and outbound data transfer is included free of charge.</a:t>
            </a:r>
          </a:p>
          <a:p>
            <a:pPr algn="l">
              <a:buFont typeface="Arial" panose="020B0604020202020204" pitchFamily="34" charset="0"/>
              <a:buChar char="•"/>
            </a:pPr>
            <a:r>
              <a:rPr lang="en-US" b="1" i="0">
                <a:solidFill>
                  <a:srgbClr val="171717"/>
                </a:solidFill>
                <a:effectLst/>
                <a:latin typeface="Segoe UI" panose="020B0502040204020203" pitchFamily="34" charset="0"/>
              </a:rPr>
              <a:t>Metered data</a:t>
            </a:r>
            <a:r>
              <a:rPr lang="en-US" b="0" i="0">
                <a:solidFill>
                  <a:srgbClr val="171717"/>
                </a:solidFill>
                <a:effectLst/>
                <a:latin typeface="Segoe UI" panose="020B0502040204020203" pitchFamily="34" charset="0"/>
              </a:rPr>
              <a:t>. Billing is based on a monthly fee; all inbound data transfer is free of charge. Outbound data transfer is charged per GB of data transfer. Data transfer rates vary by region.</a:t>
            </a:r>
          </a:p>
          <a:p>
            <a:pPr algn="l">
              <a:buFont typeface="Arial" panose="020B0604020202020204" pitchFamily="34" charset="0"/>
              <a:buChar char="•"/>
            </a:pPr>
            <a:r>
              <a:rPr lang="en-US" b="1" i="0">
                <a:solidFill>
                  <a:srgbClr val="171717"/>
                </a:solidFill>
                <a:effectLst/>
                <a:latin typeface="Segoe UI" panose="020B0502040204020203" pitchFamily="34" charset="0"/>
              </a:rPr>
              <a:t>ExpressRoute premium add-on</a:t>
            </a:r>
            <a:r>
              <a:rPr lang="en-US" b="0" i="0">
                <a:solidFill>
                  <a:srgbClr val="171717"/>
                </a:solidFill>
                <a:effectLst/>
                <a:latin typeface="Segoe UI" panose="020B0502040204020203" pitchFamily="34" charset="0"/>
              </a:rPr>
              <a:t>. ExpressRoute premium is an add-on to the ExpressRoute circuit. The ExpressRoute premium add-on provides the following capabilities: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Increased route limits for Azure public and Azure private peering from 4,000 routes to 10,000 routes.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Global connectivity for services. An ExpressRoute circuit created in any region (excluding national clouds) will have access to resources across every other region in the world. For example, a virtual network created in West Europe can be accessed through an ExpressRoute circuit provisioned in Silicon Valley.</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Increased number of VNet links per ExpressRoute circuit from 10 to a larger limit, depending on the bandwidth of the circuit.</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18</a:t>
            </a:fld>
            <a:endParaRPr lang="en-US"/>
          </a:p>
        </p:txBody>
      </p:sp>
    </p:spTree>
    <p:extLst>
      <p:ext uri="{BB962C8B-B14F-4D97-AF65-F5344CB8AC3E}">
        <p14:creationId xmlns:p14="http://schemas.microsoft.com/office/powerpoint/2010/main" val="472782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showing the students the two resources necessary for the ExpressRoute deployment – circuit and gateway </a:t>
            </a:r>
          </a:p>
        </p:txBody>
      </p:sp>
      <p:sp>
        <p:nvSpPr>
          <p:cNvPr id="4" name="Slide Number Placeholder 3"/>
          <p:cNvSpPr>
            <a:spLocks noGrp="1"/>
          </p:cNvSpPr>
          <p:nvPr>
            <p:ph type="sldNum" sz="quarter" idx="5"/>
          </p:nvPr>
        </p:nvSpPr>
        <p:spPr/>
        <p:txBody>
          <a:bodyPr/>
          <a:lstStyle/>
          <a:p>
            <a:fld id="{C0005BC2-C81C-445F-8CF4-D6736DD49201}" type="slidenum">
              <a:rPr lang="en-US" smtClean="0"/>
              <a:t>19</a:t>
            </a:fld>
            <a:endParaRPr lang="en-US"/>
          </a:p>
        </p:txBody>
      </p:sp>
    </p:spTree>
    <p:extLst>
      <p:ext uri="{BB962C8B-B14F-4D97-AF65-F5344CB8AC3E}">
        <p14:creationId xmlns:p14="http://schemas.microsoft.com/office/powerpoint/2010/main" val="894060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20</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takes 45 minutes to deploy a gateway </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To connect your Azure virtual network and your on-premises network via ExpressRoute, you must create a virtual network gateway first. A virtual network gateway serves two purposes: to exchange IP routes between the networks and to route network traffic. </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Gateway types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When you create a virtual network gateway, you need to specify several settings. One of the required settings, '-</a:t>
            </a:r>
            <a:r>
              <a:rPr lang="en-US" sz="1800" err="1">
                <a:effectLst/>
                <a:latin typeface="Calibri" panose="020F0502020204030204" pitchFamily="34" charset="0"/>
                <a:ea typeface="Calibri" panose="020F0502020204030204" pitchFamily="34" charset="0"/>
                <a:cs typeface="Times New Roman" panose="02020603050405020304" pitchFamily="18" charset="0"/>
              </a:rPr>
              <a:t>GatewayType</a:t>
            </a:r>
            <a:r>
              <a:rPr lang="en-US" sz="1800">
                <a:effectLst/>
                <a:latin typeface="Calibri" panose="020F0502020204030204" pitchFamily="34" charset="0"/>
                <a:ea typeface="Calibri" panose="020F0502020204030204" pitchFamily="34" charset="0"/>
                <a:cs typeface="Times New Roman" panose="02020603050405020304" pitchFamily="18" charset="0"/>
              </a:rPr>
              <a:t>', specifies whether the gateway is used for ExpressRoute, or VPN traffic. The two gateway types are:</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VPN</a:t>
            </a:r>
            <a:r>
              <a:rPr lang="en-US" sz="1800">
                <a:effectLst/>
                <a:latin typeface="Calibri" panose="020F0502020204030204" pitchFamily="34" charset="0"/>
                <a:ea typeface="Calibri" panose="020F0502020204030204" pitchFamily="34" charset="0"/>
                <a:cs typeface="Times New Roman" panose="02020603050405020304" pitchFamily="18" charset="0"/>
              </a:rPr>
              <a:t> - To send encrypted traffic across the public Internet, you use the gateway type 'VPN'. This is also referred to as a VPN gateway. Site-to-Site, Point-to-Site, and VNet-to-VNet connections all use a VPN gateway.</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ExpressRoute</a:t>
            </a:r>
            <a:r>
              <a:rPr lang="en-US" sz="1800">
                <a:effectLst/>
                <a:latin typeface="Calibri" panose="020F0502020204030204" pitchFamily="34" charset="0"/>
                <a:ea typeface="Calibri" panose="020F0502020204030204" pitchFamily="34" charset="0"/>
                <a:cs typeface="Times New Roman" panose="02020603050405020304" pitchFamily="18" charset="0"/>
              </a:rPr>
              <a:t> - To send network traffic on a private connection, you use the gateway type 'ExpressRoute'. This is also referred to as an ExpressRoute gateway and is the type of gateway used when configuring ExpressRoute.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Each virtual network can have only one virtual network gateway per gateway type. For example, you can have one virtual network gateway that uses -</a:t>
            </a:r>
            <a:r>
              <a:rPr lang="en-US" sz="1800" err="1">
                <a:effectLst/>
                <a:latin typeface="Calibri" panose="020F0502020204030204" pitchFamily="34" charset="0"/>
                <a:ea typeface="Calibri" panose="020F0502020204030204" pitchFamily="34" charset="0"/>
                <a:cs typeface="Times New Roman" panose="02020603050405020304" pitchFamily="18" charset="0"/>
              </a:rPr>
              <a:t>GatewayType</a:t>
            </a:r>
            <a:r>
              <a:rPr lang="en-US" sz="1800">
                <a:effectLst/>
                <a:latin typeface="Calibri" panose="020F0502020204030204" pitchFamily="34" charset="0"/>
                <a:ea typeface="Calibri" panose="020F0502020204030204" pitchFamily="34" charset="0"/>
                <a:cs typeface="Times New Roman" panose="02020603050405020304" pitchFamily="18" charset="0"/>
              </a:rPr>
              <a:t> VPN, and one that uses -</a:t>
            </a:r>
            <a:r>
              <a:rPr lang="en-US" sz="1800" err="1">
                <a:effectLst/>
                <a:latin typeface="Calibri" panose="020F0502020204030204" pitchFamily="34" charset="0"/>
                <a:ea typeface="Calibri" panose="020F0502020204030204" pitchFamily="34" charset="0"/>
                <a:cs typeface="Times New Roman" panose="02020603050405020304" pitchFamily="18" charset="0"/>
              </a:rPr>
              <a:t>GatewayType</a:t>
            </a:r>
            <a:r>
              <a:rPr lang="en-US" sz="1800">
                <a:effectLst/>
                <a:latin typeface="Calibri" panose="020F0502020204030204" pitchFamily="34" charset="0"/>
                <a:ea typeface="Calibri" panose="020F0502020204030204" pitchFamily="34" charset="0"/>
                <a:cs typeface="Times New Roman" panose="02020603050405020304" pitchFamily="18" charset="0"/>
              </a:rPr>
              <a:t> ExpressRoute.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In this exercise, you learn how to:</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Create a VNet and a gateway subnet.</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Create Virtual Network gateway.</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22</a:t>
            </a:fld>
            <a:endParaRPr lang="en-US"/>
          </a:p>
        </p:txBody>
      </p:sp>
    </p:spTree>
    <p:extLst>
      <p:ext uri="{BB962C8B-B14F-4D97-AF65-F5344CB8AC3E}">
        <p14:creationId xmlns:p14="http://schemas.microsoft.com/office/powerpoint/2010/main" val="2319681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005BC2-C81C-445F-8CF4-D6736DD49201}" type="slidenum">
              <a:rPr lang="en-US" smtClean="0"/>
              <a:t>24</a:t>
            </a:fld>
            <a:endParaRPr lang="en-US"/>
          </a:p>
        </p:txBody>
      </p:sp>
    </p:spTree>
    <p:extLst>
      <p:ext uri="{BB962C8B-B14F-4D97-AF65-F5344CB8AC3E}">
        <p14:creationId xmlns:p14="http://schemas.microsoft.com/office/powerpoint/2010/main" val="3579429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83072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a:solidFill>
                  <a:srgbClr val="171717"/>
                </a:solidFill>
                <a:effectLst/>
                <a:latin typeface="Segoe UI" panose="020B0502040204020203" pitchFamily="34" charset="0"/>
              </a:rPr>
              <a:t>A pair of subnets that are not part of any address space reserved for virtual networks. One subnet will be used for the primary link, while the other will be used for the secondary link. From each of these subnets, you will assign the first usable IP address to your router as Microsoft uses the second usable IP for its router. You have three options for this pair of subnets: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IPv4: Two /30 subnets.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IPv6: Two /126 subnets.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Both: Two /30 subnets and two /126 subnets.</a:t>
            </a:r>
          </a:p>
          <a:p>
            <a:pPr algn="l">
              <a:buFont typeface="Arial" panose="020B0604020202020204" pitchFamily="34" charset="0"/>
              <a:buChar char="•"/>
            </a:pPr>
            <a:r>
              <a:rPr lang="en-US" b="0" i="0">
                <a:solidFill>
                  <a:srgbClr val="171717"/>
                </a:solidFill>
                <a:effectLst/>
                <a:latin typeface="Segoe UI" panose="020B0502040204020203" pitchFamily="34" charset="0"/>
              </a:rPr>
              <a:t>A valid VLAN ID to establish this peering on. Ensure that no other peering in the circuit uses the same VLAN ID. For both Primary and Secondary links you must use the same VLAN ID.</a:t>
            </a:r>
          </a:p>
          <a:p>
            <a:pPr algn="l">
              <a:buFont typeface="Arial" panose="020B0604020202020204" pitchFamily="34" charset="0"/>
              <a:buChar char="•"/>
            </a:pPr>
            <a:r>
              <a:rPr lang="en-US" b="0" i="0">
                <a:solidFill>
                  <a:srgbClr val="171717"/>
                </a:solidFill>
                <a:effectLst/>
                <a:latin typeface="Segoe UI" panose="020B0502040204020203" pitchFamily="34" charset="0"/>
              </a:rPr>
              <a:t>AS number for peering. You can use both 2-byte and 4-byte AS numbers. You can use a private AS number for this peering except for the number from 65515 to 65520, inclusively.</a:t>
            </a:r>
          </a:p>
          <a:p>
            <a:pPr algn="l">
              <a:buFont typeface="Arial" panose="020B0604020202020204" pitchFamily="34" charset="0"/>
              <a:buChar char="•"/>
            </a:pPr>
            <a:r>
              <a:rPr lang="en-US" b="0" i="0">
                <a:solidFill>
                  <a:srgbClr val="171717"/>
                </a:solidFill>
                <a:effectLst/>
                <a:latin typeface="Segoe UI" panose="020B0502040204020203" pitchFamily="34" charset="0"/>
              </a:rPr>
              <a:t>You must advertise the routes from your on-premises Edge router to Azure via BGP when you configure the private peering.</a:t>
            </a:r>
          </a:p>
          <a:p>
            <a:pPr algn="l">
              <a:buFont typeface="Arial" panose="020B0604020202020204" pitchFamily="34" charset="0"/>
              <a:buChar char="•"/>
            </a:pPr>
            <a:r>
              <a:rPr lang="en-US" b="1" i="0">
                <a:solidFill>
                  <a:srgbClr val="171717"/>
                </a:solidFill>
                <a:effectLst/>
                <a:latin typeface="Segoe UI" panose="020B0502040204020203" pitchFamily="34" charset="0"/>
              </a:rPr>
              <a:t>Optional -</a:t>
            </a:r>
            <a:r>
              <a:rPr lang="en-US" b="0" i="0">
                <a:solidFill>
                  <a:srgbClr val="171717"/>
                </a:solidFill>
                <a:effectLst/>
                <a:latin typeface="Segoe UI" panose="020B0502040204020203" pitchFamily="34" charset="0"/>
              </a:rPr>
              <a:t> An MD5 hash if you choose to use one.</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27</a:t>
            </a:fld>
            <a:endParaRPr lang="en-US"/>
          </a:p>
        </p:txBody>
      </p:sp>
    </p:spTree>
    <p:extLst>
      <p:ext uri="{BB962C8B-B14F-4D97-AF65-F5344CB8AC3E}">
        <p14:creationId xmlns:p14="http://schemas.microsoft.com/office/powerpoint/2010/main" val="1845590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a:solidFill>
                  <a:srgbClr val="171717"/>
                </a:solidFill>
                <a:effectLst/>
                <a:latin typeface="Segoe UI" panose="020B0502040204020203" pitchFamily="34" charset="0"/>
              </a:rPr>
              <a:t>A pair of subnets owned by you and registered in an RIR/IRR. One subnet will be used for the primary link, while the other will be used for the secondary link. From each of these subnets, you will assign the first usable IP address to your router as Microsoft uses the second usable IP for its router. You have three options for this pair of subnets: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IPv4: Two /30 subnets. These must be valid public IPv4 prefixes.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IPv6: Two /126 subnets. These must be valid public IPv6 prefixes.</a:t>
            </a:r>
          </a:p>
          <a:p>
            <a:pPr marL="742950" lvl="1" indent="-285750" algn="l">
              <a:buFont typeface="Arial" panose="020B0604020202020204" pitchFamily="34" charset="0"/>
              <a:buChar char="•"/>
            </a:pPr>
            <a:r>
              <a:rPr lang="en-US" b="0" i="0">
                <a:solidFill>
                  <a:srgbClr val="171717"/>
                </a:solidFill>
                <a:effectLst/>
                <a:latin typeface="Segoe UI" panose="020B0502040204020203" pitchFamily="34" charset="0"/>
              </a:rPr>
              <a:t>Both: Two /30 subnets and two /126 subnets.</a:t>
            </a:r>
          </a:p>
          <a:p>
            <a:pPr algn="l">
              <a:buFont typeface="Arial" panose="020B0604020202020204" pitchFamily="34" charset="0"/>
              <a:buChar char="•"/>
            </a:pPr>
            <a:r>
              <a:rPr lang="en-US" b="0" i="0">
                <a:solidFill>
                  <a:srgbClr val="171717"/>
                </a:solidFill>
                <a:effectLst/>
                <a:latin typeface="Segoe UI" panose="020B0502040204020203" pitchFamily="34" charset="0"/>
              </a:rPr>
              <a:t>A valid VLAN ID to establish this peering on. Ensure that no other peering in the circuit uses the same VLAN ID. For both Primary and Secondary links you must use the same VLAN ID.</a:t>
            </a:r>
          </a:p>
          <a:p>
            <a:pPr algn="l">
              <a:buFont typeface="Arial" panose="020B0604020202020204" pitchFamily="34" charset="0"/>
              <a:buChar char="•"/>
            </a:pPr>
            <a:r>
              <a:rPr lang="en-US" b="0" i="0">
                <a:solidFill>
                  <a:srgbClr val="171717"/>
                </a:solidFill>
                <a:effectLst/>
                <a:latin typeface="Segoe UI" panose="020B0502040204020203" pitchFamily="34" charset="0"/>
              </a:rPr>
              <a:t>AS number for peering. You can use both 2-byte and 4-byte AS numbers.</a:t>
            </a:r>
          </a:p>
          <a:p>
            <a:pPr algn="l">
              <a:buFont typeface="Arial" panose="020B0604020202020204" pitchFamily="34" charset="0"/>
              <a:buChar char="•"/>
            </a:pPr>
            <a:r>
              <a:rPr lang="en-US" b="0" i="0">
                <a:solidFill>
                  <a:srgbClr val="171717"/>
                </a:solidFill>
                <a:effectLst/>
                <a:latin typeface="Segoe UI" panose="020B0502040204020203" pitchFamily="34" charset="0"/>
              </a:rPr>
              <a:t>Advertised prefixes: You provide a list of all prefixes you plan to advertise over the BGP session. Only public IP address prefixes are accepted. If you plan to send a set of prefixes, you can send a comma-separated list. These prefixes must be registered to you in an RIR / IRR.</a:t>
            </a:r>
          </a:p>
          <a:p>
            <a:pPr algn="l">
              <a:buFont typeface="Arial" panose="020B0604020202020204" pitchFamily="34" charset="0"/>
              <a:buChar char="•"/>
            </a:pPr>
            <a:r>
              <a:rPr lang="en-US" b="1" i="0">
                <a:solidFill>
                  <a:srgbClr val="171717"/>
                </a:solidFill>
                <a:effectLst/>
                <a:latin typeface="Segoe UI" panose="020B0502040204020203" pitchFamily="34" charset="0"/>
              </a:rPr>
              <a:t>Optional -</a:t>
            </a:r>
            <a:r>
              <a:rPr lang="en-US" b="0" i="0">
                <a:solidFill>
                  <a:srgbClr val="171717"/>
                </a:solidFill>
                <a:effectLst/>
                <a:latin typeface="Segoe UI" panose="020B0502040204020203" pitchFamily="34" charset="0"/>
              </a:rPr>
              <a:t> Customer ASN: If you're advertising prefixes not registered to the peering AS number, you can specify the AS number to which they're registered with.</a:t>
            </a:r>
          </a:p>
          <a:p>
            <a:pPr algn="l">
              <a:buFont typeface="Arial" panose="020B0604020202020204" pitchFamily="34" charset="0"/>
              <a:buChar char="•"/>
            </a:pPr>
            <a:r>
              <a:rPr lang="en-US" b="0" i="0">
                <a:solidFill>
                  <a:srgbClr val="171717"/>
                </a:solidFill>
                <a:effectLst/>
                <a:latin typeface="Segoe UI" panose="020B0502040204020203" pitchFamily="34" charset="0"/>
              </a:rPr>
              <a:t>Routing Registry Name: You can specify the RIR / IRR against which the AS number and prefixes are registered.</a:t>
            </a:r>
          </a:p>
          <a:p>
            <a:pPr algn="l">
              <a:buFont typeface="Arial" panose="020B0604020202020204" pitchFamily="34" charset="0"/>
              <a:buChar char="•"/>
            </a:pPr>
            <a:r>
              <a:rPr lang="en-US" b="1" i="0">
                <a:solidFill>
                  <a:srgbClr val="171717"/>
                </a:solidFill>
                <a:effectLst/>
                <a:latin typeface="Segoe UI" panose="020B0502040204020203" pitchFamily="34" charset="0"/>
              </a:rPr>
              <a:t>Optional -</a:t>
            </a:r>
            <a:r>
              <a:rPr lang="en-US" b="0" i="0">
                <a:solidFill>
                  <a:srgbClr val="171717"/>
                </a:solidFill>
                <a:effectLst/>
                <a:latin typeface="Segoe UI" panose="020B0502040204020203" pitchFamily="34" charset="0"/>
              </a:rPr>
              <a:t> An MD5 hash if you choose to use one.</a:t>
            </a:r>
          </a:p>
          <a:p>
            <a:endParaRPr lang="en-US"/>
          </a:p>
          <a:p>
            <a:endParaRPr lang="en-US"/>
          </a:p>
          <a:p>
            <a:r>
              <a:rPr lang="en-US"/>
              <a:t>https://whatismyipaddress.com/rir</a:t>
            </a:r>
          </a:p>
        </p:txBody>
      </p:sp>
      <p:sp>
        <p:nvSpPr>
          <p:cNvPr id="4" name="Slide Number Placeholder 3"/>
          <p:cNvSpPr>
            <a:spLocks noGrp="1"/>
          </p:cNvSpPr>
          <p:nvPr>
            <p:ph type="sldNum" sz="quarter" idx="5"/>
          </p:nvPr>
        </p:nvSpPr>
        <p:spPr/>
        <p:txBody>
          <a:bodyPr/>
          <a:lstStyle/>
          <a:p>
            <a:fld id="{C0005BC2-C81C-445F-8CF4-D6736DD49201}" type="slidenum">
              <a:rPr lang="en-US" smtClean="0"/>
              <a:t>28</a:t>
            </a:fld>
            <a:endParaRPr lang="en-US"/>
          </a:p>
        </p:txBody>
      </p:sp>
    </p:spTree>
    <p:extLst>
      <p:ext uri="{BB962C8B-B14F-4D97-AF65-F5344CB8AC3E}">
        <p14:creationId xmlns:p14="http://schemas.microsoft.com/office/powerpoint/2010/main" val="1560549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2800">
                <a:hlinkClick r:id="rId3"/>
              </a:rPr>
              <a:t>Azure ExpressRoute: Routing requirements | Microsoft Docs</a:t>
            </a:r>
            <a:r>
              <a:rPr lang="en-US" sz="2800"/>
              <a:t>  (https://docs.microsoft.com/en-us/azure/expressroute/expressroute-routing#bgp) </a:t>
            </a:r>
            <a:r>
              <a:rPr lang="en-US" sz="2800" err="1"/>
              <a:t>bgp</a:t>
            </a:r>
            <a:r>
              <a:rPr lang="en-US" sz="2800"/>
              <a:t> numbers </a:t>
            </a:r>
          </a:p>
          <a:p>
            <a:pPr marL="0" marR="0">
              <a:spcBef>
                <a:spcPts val="0"/>
              </a:spcBef>
              <a:spcAft>
                <a:spcPts val="1000"/>
              </a:spcAft>
            </a:pPr>
            <a:r>
              <a:rPr lang="en-US" sz="2800">
                <a:hlinkClick r:id="rId4"/>
              </a:rPr>
              <a:t>Tutorial: Configure route filters for Microsoft peering - Azure portal | Microsoft Docs</a:t>
            </a:r>
            <a:endParaRPr lang="en-US" sz="2800"/>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Route filters are a way to consume a subset of supported services through Microsoft peering.</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Microsoft 365 services such as Exchange Online, SharePoint Online, and Skype for Business, are accessible through the Microsoft peering. When Microsoft peering gets configured in an ExpressRoute circuit, all prefixes related to these services gets advertised through the BGP sessions that are established. A BGP community value is attached to every prefix to identify the service that is offered through the prefix.</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Connectivity to all Azure and Microsoft 365 services causes many prefixes gets advertised through BGP. The large number of prefixes significantly increases the size of the route tables maintained by routers within your network. If you plan to consume only a subset of services offered through Microsoft peering, you can reduce the size of your route tables in two ways. You can: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Filter out unwanted prefixes by applying route filters on BGP communities. Route filtering is a standard networking practice and is used commonly within many networks.</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Define route filters and apply them to your ExpressRoute circuit. A route filter is a new resource that lets you select the list of services you plan to consume through Microsoft peering. ExpressRoute routers only send the list of prefixes that belong to the services identified in the route filter.</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30</a:t>
            </a:fld>
            <a:endParaRPr lang="en-US"/>
          </a:p>
        </p:txBody>
      </p:sp>
    </p:spTree>
    <p:extLst>
      <p:ext uri="{BB962C8B-B14F-4D97-AF65-F5344CB8AC3E}">
        <p14:creationId xmlns:p14="http://schemas.microsoft.com/office/powerpoint/2010/main" val="3080894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31</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5781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hlinkClick r:id="rId3"/>
              </a:rPr>
              <a:t>Azure ExpressRoute: Circuit configuration workflow | Microsoft Docs</a:t>
            </a:r>
            <a:endParaRPr lang="en-US" b="1" i="0" dirty="0">
              <a:solidFill>
                <a:srgbClr val="171717"/>
              </a:solidFill>
              <a:effectLst/>
              <a:latin typeface="Segoe UI" panose="020B0502040204020203" pitchFamily="34" charset="0"/>
            </a:endParaRPr>
          </a:p>
          <a:p>
            <a:pPr algn="l"/>
            <a:endParaRPr lang="en-US" b="1"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Prerequisites</a:t>
            </a:r>
          </a:p>
          <a:p>
            <a:pPr algn="l">
              <a:buFont typeface="Arial" panose="020B0604020202020204" pitchFamily="34" charset="0"/>
              <a:buChar char="•"/>
            </a:pPr>
            <a:r>
              <a:rPr lang="en-US" b="0" i="0" dirty="0">
                <a:solidFill>
                  <a:srgbClr val="171717"/>
                </a:solidFill>
                <a:effectLst/>
                <a:latin typeface="Segoe UI" panose="020B0502040204020203" pitchFamily="34" charset="0"/>
              </a:rPr>
              <a:t>Review the </a:t>
            </a:r>
            <a:r>
              <a:rPr lang="en-US" b="0" i="0" u="none" strike="noStrike" dirty="0">
                <a:solidFill>
                  <a:srgbClr val="171717"/>
                </a:solidFill>
                <a:effectLst/>
                <a:latin typeface="Segoe UI" panose="020B0502040204020203" pitchFamily="34" charset="0"/>
                <a:hlinkClick r:id="rId4"/>
              </a:rPr>
              <a:t>prerequisites</a:t>
            </a:r>
            <a:r>
              <a:rPr lang="en-US" b="0" i="0" dirty="0">
                <a:solidFill>
                  <a:srgbClr val="171717"/>
                </a:solidFill>
                <a:effectLst/>
                <a:latin typeface="Segoe UI" panose="020B0502040204020203" pitchFamily="34" charset="0"/>
              </a:rPr>
              <a:t>, </a:t>
            </a:r>
            <a:r>
              <a:rPr lang="en-US" b="0" i="0" u="none" strike="noStrike" dirty="0">
                <a:solidFill>
                  <a:srgbClr val="171717"/>
                </a:solidFill>
                <a:effectLst/>
                <a:latin typeface="Segoe UI" panose="020B0502040204020203" pitchFamily="34" charset="0"/>
                <a:hlinkClick r:id="rId5"/>
              </a:rPr>
              <a:t>routing requirements</a:t>
            </a:r>
            <a:r>
              <a:rPr lang="en-US" b="0" i="0" dirty="0">
                <a:solidFill>
                  <a:srgbClr val="171717"/>
                </a:solidFill>
                <a:effectLst/>
                <a:latin typeface="Segoe UI" panose="020B0502040204020203" pitchFamily="34" charset="0"/>
              </a:rPr>
              <a:t>, and </a:t>
            </a:r>
            <a:r>
              <a:rPr lang="en-US" b="0" i="0" u="none" strike="noStrike" dirty="0">
                <a:solidFill>
                  <a:srgbClr val="171717"/>
                </a:solidFill>
                <a:effectLst/>
                <a:latin typeface="Segoe UI" panose="020B0502040204020203" pitchFamily="34" charset="0"/>
                <a:hlinkClick r:id="rId3"/>
              </a:rPr>
              <a:t>workflows</a:t>
            </a:r>
            <a:r>
              <a:rPr lang="en-US" b="0" i="0" dirty="0">
                <a:solidFill>
                  <a:srgbClr val="171717"/>
                </a:solidFill>
                <a:effectLst/>
                <a:latin typeface="Segoe UI" panose="020B0502040204020203" pitchFamily="34" charset="0"/>
              </a:rPr>
              <a:t> before you begin configuration.</a:t>
            </a:r>
          </a:p>
          <a:p>
            <a:pPr algn="l">
              <a:buFont typeface="Arial" panose="020B0604020202020204" pitchFamily="34" charset="0"/>
              <a:buChar char="•"/>
            </a:pPr>
            <a:r>
              <a:rPr lang="en-US" b="0" i="0" dirty="0">
                <a:solidFill>
                  <a:srgbClr val="171717"/>
                </a:solidFill>
                <a:effectLst/>
                <a:latin typeface="Segoe UI" panose="020B0502040204020203" pitchFamily="34" charset="0"/>
              </a:rPr>
              <a:t>You must have an active ExpressRoute circuit.</a:t>
            </a:r>
          </a:p>
          <a:p>
            <a:pPr marL="742950" lvl="1" indent="-285750" algn="l">
              <a:buFont typeface="Arial" panose="020B0604020202020204" pitchFamily="34" charset="0"/>
              <a:buChar char="•"/>
            </a:pPr>
            <a:r>
              <a:rPr lang="en-US" b="0" i="0" dirty="0">
                <a:solidFill>
                  <a:srgbClr val="171717"/>
                </a:solidFill>
                <a:effectLst/>
                <a:latin typeface="Segoe UI" panose="020B0502040204020203" pitchFamily="34" charset="0"/>
              </a:rPr>
              <a:t>Follow the instructions to </a:t>
            </a:r>
            <a:r>
              <a:rPr lang="en-US" b="0" i="0" u="none" strike="noStrike" dirty="0">
                <a:solidFill>
                  <a:srgbClr val="171717"/>
                </a:solidFill>
                <a:effectLst/>
                <a:latin typeface="Segoe UI" panose="020B0502040204020203" pitchFamily="34" charset="0"/>
                <a:hlinkClick r:id="rId6"/>
              </a:rPr>
              <a:t>create an ExpressRoute circuit</a:t>
            </a:r>
            <a:r>
              <a:rPr lang="en-US" b="0" i="0" dirty="0">
                <a:solidFill>
                  <a:srgbClr val="171717"/>
                </a:solidFill>
                <a:effectLst/>
                <a:latin typeface="Segoe UI" panose="020B0502040204020203" pitchFamily="34" charset="0"/>
              </a:rPr>
              <a:t> and have the circuit enabled by your connectivity provider.</a:t>
            </a:r>
          </a:p>
          <a:p>
            <a:pPr marL="742950" lvl="1" indent="-285750" algn="l">
              <a:buFont typeface="Arial" panose="020B0604020202020204" pitchFamily="34" charset="0"/>
              <a:buChar char="•"/>
            </a:pPr>
            <a:r>
              <a:rPr lang="en-US" b="0" i="0" dirty="0">
                <a:solidFill>
                  <a:srgbClr val="171717"/>
                </a:solidFill>
                <a:effectLst/>
                <a:latin typeface="Segoe UI" panose="020B0502040204020203" pitchFamily="34" charset="0"/>
              </a:rPr>
              <a:t>Ensure that you have Azure private peering configured for your circuit. See the </a:t>
            </a:r>
            <a:r>
              <a:rPr lang="en-US" b="0" i="0" u="none" strike="noStrike" dirty="0">
                <a:solidFill>
                  <a:srgbClr val="171717"/>
                </a:solidFill>
                <a:effectLst/>
                <a:latin typeface="Segoe UI" panose="020B0502040204020203" pitchFamily="34" charset="0"/>
                <a:hlinkClick r:id="rId7"/>
              </a:rPr>
              <a:t>Create and modify peering for an ExpressRoute circuit</a:t>
            </a:r>
            <a:r>
              <a:rPr lang="en-US" b="0" i="0" dirty="0">
                <a:solidFill>
                  <a:srgbClr val="171717"/>
                </a:solidFill>
                <a:effectLst/>
                <a:latin typeface="Segoe UI" panose="020B0502040204020203" pitchFamily="34" charset="0"/>
              </a:rPr>
              <a:t> article for peering and routing instructions.</a:t>
            </a:r>
          </a:p>
          <a:p>
            <a:pPr marL="742950" lvl="1" indent="-285750" algn="l">
              <a:buFont typeface="Arial" panose="020B0604020202020204" pitchFamily="34" charset="0"/>
              <a:buChar char="•"/>
            </a:pPr>
            <a:r>
              <a:rPr lang="en-US" b="0" i="0" dirty="0">
                <a:solidFill>
                  <a:srgbClr val="171717"/>
                </a:solidFill>
                <a:effectLst/>
                <a:latin typeface="Segoe UI" panose="020B0502040204020203" pitchFamily="34" charset="0"/>
              </a:rPr>
              <a:t>Ensure that Azure private peering gets configured and establishes BGP peering between your network and Microsoft for end-to-end connectivity.</a:t>
            </a:r>
          </a:p>
          <a:p>
            <a:pPr marL="742950" lvl="1" indent="-285750" algn="l">
              <a:buFont typeface="Arial" panose="020B0604020202020204" pitchFamily="34" charset="0"/>
              <a:buChar char="•"/>
            </a:pPr>
            <a:r>
              <a:rPr lang="en-US" b="0" i="0" dirty="0">
                <a:solidFill>
                  <a:srgbClr val="171717"/>
                </a:solidFill>
                <a:effectLst/>
                <a:latin typeface="Segoe UI" panose="020B0502040204020203" pitchFamily="34" charset="0"/>
              </a:rPr>
              <a:t>Ensure that you have a virtual network and a virtual network gateway created and fully provisioned. Follow the instructions to </a:t>
            </a:r>
            <a:r>
              <a:rPr lang="en-US" b="0" i="0" u="none" strike="noStrike" dirty="0">
                <a:solidFill>
                  <a:srgbClr val="171717"/>
                </a:solidFill>
                <a:effectLst/>
                <a:latin typeface="Segoe UI" panose="020B0502040204020203" pitchFamily="34" charset="0"/>
                <a:hlinkClick r:id="rId8"/>
              </a:rPr>
              <a:t>create a virtual network gateway for ExpressRoute</a:t>
            </a:r>
            <a:r>
              <a:rPr lang="en-US" b="0" i="0" dirty="0">
                <a:solidFill>
                  <a:srgbClr val="171717"/>
                </a:solidFill>
                <a:effectLst/>
                <a:latin typeface="Segoe UI" panose="020B0502040204020203" pitchFamily="34" charset="0"/>
              </a:rPr>
              <a:t>. A virtual network gateway for ExpressRoute uses the </a:t>
            </a:r>
            <a:r>
              <a:rPr lang="en-US" b="0" i="0" dirty="0" err="1">
                <a:solidFill>
                  <a:srgbClr val="171717"/>
                </a:solidFill>
                <a:effectLst/>
                <a:latin typeface="Segoe UI" panose="020B0502040204020203" pitchFamily="34" charset="0"/>
              </a:rPr>
              <a:t>GatewayType</a:t>
            </a:r>
            <a:r>
              <a:rPr lang="en-US" b="0" i="0" dirty="0">
                <a:solidFill>
                  <a:srgbClr val="171717"/>
                </a:solidFill>
                <a:effectLst/>
                <a:latin typeface="Segoe UI" panose="020B0502040204020203" pitchFamily="34" charset="0"/>
              </a:rPr>
              <a:t> 'ExpressRoute', not VPN.</a:t>
            </a:r>
          </a:p>
          <a:p>
            <a:pPr algn="l">
              <a:buFont typeface="Arial" panose="020B0604020202020204" pitchFamily="34" charset="0"/>
              <a:buChar char="•"/>
            </a:pPr>
            <a:r>
              <a:rPr lang="en-US" b="0" i="0" dirty="0">
                <a:solidFill>
                  <a:srgbClr val="171717"/>
                </a:solidFill>
                <a:effectLst/>
                <a:latin typeface="Segoe UI" panose="020B0502040204020203" pitchFamily="34" charset="0"/>
              </a:rPr>
              <a:t>You can link up to 10 virtual networks to a standard ExpressRoute circuit. All virtual networks must be in the same geopolitical region when using a standard ExpressRoute circuit.</a:t>
            </a:r>
          </a:p>
          <a:p>
            <a:pPr algn="l">
              <a:buFont typeface="Arial" panose="020B0604020202020204" pitchFamily="34" charset="0"/>
              <a:buChar char="•"/>
            </a:pPr>
            <a:r>
              <a:rPr lang="en-US" b="0" i="0" dirty="0">
                <a:solidFill>
                  <a:srgbClr val="171717"/>
                </a:solidFill>
                <a:effectLst/>
                <a:latin typeface="Segoe UI" panose="020B0502040204020203" pitchFamily="34" charset="0"/>
              </a:rPr>
              <a:t>A single VNet can be linked to up to 16 ExpressRoute circuits. Use the following process to create a new connection object for each ExpressRoute circuit you're connecting to. The ExpressRoute circuits can be in the same subscription, different subscriptions, or a mix of both.</a:t>
            </a:r>
          </a:p>
          <a:p>
            <a:pPr algn="l">
              <a:buFont typeface="Arial" panose="020B0604020202020204" pitchFamily="34" charset="0"/>
              <a:buChar char="•"/>
            </a:pPr>
            <a:r>
              <a:rPr lang="en-US" b="0" i="0" dirty="0">
                <a:solidFill>
                  <a:srgbClr val="171717"/>
                </a:solidFill>
                <a:effectLst/>
                <a:latin typeface="Segoe UI" panose="020B0502040204020203" pitchFamily="34" charset="0"/>
              </a:rPr>
              <a:t>If you enable the ExpressRoute premium add-on, you can link virtual networks outside of the geopolitical region of the ExpressRoute circuit. The premium add-on will also allow you to connect more than 10 virtual networks to your ExpressRoute circuit depending on the bandwidth chosen. Check the </a:t>
            </a:r>
            <a:r>
              <a:rPr lang="en-US" b="0" i="0" u="none" strike="noStrike" dirty="0">
                <a:solidFill>
                  <a:srgbClr val="171717"/>
                </a:solidFill>
                <a:effectLst/>
                <a:latin typeface="Segoe UI" panose="020B0502040204020203" pitchFamily="34" charset="0"/>
                <a:hlinkClick r:id="rId9"/>
              </a:rPr>
              <a:t>FAQ</a:t>
            </a:r>
            <a:r>
              <a:rPr lang="en-US" b="0" i="0" dirty="0">
                <a:solidFill>
                  <a:srgbClr val="171717"/>
                </a:solidFill>
                <a:effectLst/>
                <a:latin typeface="Segoe UI" panose="020B0502040204020203" pitchFamily="34" charset="0"/>
              </a:rPr>
              <a:t> for more details on the premium add-on.</a:t>
            </a:r>
          </a:p>
          <a:p>
            <a:pPr algn="l">
              <a:buFont typeface="Arial" panose="020B0604020202020204" pitchFamily="34" charset="0"/>
              <a:buChar char="•"/>
            </a:pPr>
            <a:r>
              <a:rPr lang="en-US" b="0" i="0" dirty="0">
                <a:solidFill>
                  <a:srgbClr val="171717"/>
                </a:solidFill>
                <a:effectLst/>
                <a:latin typeface="Segoe UI" panose="020B0502040204020203" pitchFamily="34" charset="0"/>
              </a:rPr>
              <a:t>In order to create the connection from the ExpressRoute circuit to the target ExpressRoute virtual network gateway, the number of address spaces advertised from the local or peered virtual networks needs to be equal to or less than </a:t>
            </a:r>
            <a:r>
              <a:rPr lang="en-US" b="1" i="0" dirty="0">
                <a:solidFill>
                  <a:srgbClr val="171717"/>
                </a:solidFill>
                <a:effectLst/>
                <a:latin typeface="Segoe UI" panose="020B0502040204020203" pitchFamily="34" charset="0"/>
              </a:rPr>
              <a:t>200</a:t>
            </a:r>
            <a:r>
              <a:rPr lang="en-US" b="0" i="0" dirty="0">
                <a:solidFill>
                  <a:srgbClr val="171717"/>
                </a:solidFill>
                <a:effectLst/>
                <a:latin typeface="Segoe UI" panose="020B0502040204020203" pitchFamily="34" charset="0"/>
              </a:rPr>
              <a:t>. Once the connection has been successfully created, you can add additional address spaces, up to 1,000, to the local or peered virtual networks.</a:t>
            </a:r>
          </a:p>
          <a:p>
            <a:pPr algn="l">
              <a:buFont typeface="Arial" panose="020B0604020202020204" pitchFamily="34" charset="0"/>
              <a:buChar char="•"/>
            </a:pPr>
            <a:r>
              <a:rPr lang="en-US" b="0" i="0" dirty="0">
                <a:solidFill>
                  <a:srgbClr val="171717"/>
                </a:solidFill>
                <a:effectLst/>
                <a:latin typeface="Segoe UI" panose="020B0502040204020203" pitchFamily="34" charset="0"/>
              </a:rPr>
              <a:t>You can </a:t>
            </a:r>
            <a:r>
              <a:rPr lang="en-US" b="0" i="0" u="none" strike="noStrike" dirty="0">
                <a:solidFill>
                  <a:srgbClr val="171717"/>
                </a:solidFill>
                <a:effectLst/>
                <a:latin typeface="Segoe UI" panose="020B0502040204020203" pitchFamily="34" charset="0"/>
                <a:hlinkClick r:id="rId10"/>
              </a:rPr>
              <a:t>view a video</a:t>
            </a:r>
            <a:r>
              <a:rPr lang="en-US" b="0" i="0" dirty="0">
                <a:solidFill>
                  <a:srgbClr val="171717"/>
                </a:solidFill>
                <a:effectLst/>
                <a:latin typeface="Segoe UI" panose="020B0502040204020203" pitchFamily="34" charset="0"/>
              </a:rPr>
              <a:t> before beginning to better understand the steps.</a:t>
            </a:r>
          </a:p>
          <a:p>
            <a:endParaRPr lang="en-US" dirty="0"/>
          </a:p>
        </p:txBody>
      </p:sp>
      <p:sp>
        <p:nvSpPr>
          <p:cNvPr id="4" name="Slide Number Placeholder 3"/>
          <p:cNvSpPr>
            <a:spLocks noGrp="1"/>
          </p:cNvSpPr>
          <p:nvPr>
            <p:ph type="sldNum" sz="quarter" idx="5"/>
          </p:nvPr>
        </p:nvSpPr>
        <p:spPr/>
        <p:txBody>
          <a:bodyPr/>
          <a:lstStyle/>
          <a:p>
            <a:fld id="{C0005BC2-C81C-445F-8CF4-D6736DD49201}" type="slidenum">
              <a:rPr lang="en-US" smtClean="0"/>
              <a:t>34</a:t>
            </a:fld>
            <a:endParaRPr lang="en-US"/>
          </a:p>
        </p:txBody>
      </p:sp>
    </p:spTree>
    <p:extLst>
      <p:ext uri="{BB962C8B-B14F-4D97-AF65-F5344CB8AC3E}">
        <p14:creationId xmlns:p14="http://schemas.microsoft.com/office/powerpoint/2010/main" val="42697169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You can now start provisioning a connection to link your virtual network gateway to your ExpressRoute circuit. Select </a:t>
            </a:r>
            <a:r>
              <a:rPr lang="en-US" b="1" i="0">
                <a:solidFill>
                  <a:srgbClr val="171717"/>
                </a:solidFill>
                <a:effectLst/>
                <a:latin typeface="Segoe UI" panose="020B0502040204020203" pitchFamily="34" charset="0"/>
              </a:rPr>
              <a:t>Connection</a:t>
            </a:r>
            <a:r>
              <a:rPr lang="en-US" b="0" i="0">
                <a:solidFill>
                  <a:srgbClr val="171717"/>
                </a:solidFill>
                <a:effectLst/>
                <a:latin typeface="Segoe UI" panose="020B0502040204020203" pitchFamily="34" charset="0"/>
              </a:rPr>
              <a:t> &gt; </a:t>
            </a:r>
            <a:r>
              <a:rPr lang="en-US" b="1" i="0">
                <a:solidFill>
                  <a:srgbClr val="171717"/>
                </a:solidFill>
                <a:effectLst/>
                <a:latin typeface="Segoe UI" panose="020B0502040204020203" pitchFamily="34" charset="0"/>
              </a:rPr>
              <a:t>Add</a:t>
            </a:r>
            <a:r>
              <a:rPr lang="en-US" b="0" i="0">
                <a:solidFill>
                  <a:srgbClr val="171717"/>
                </a:solidFill>
                <a:effectLst/>
                <a:latin typeface="Segoe UI" panose="020B0502040204020203" pitchFamily="34" charset="0"/>
              </a:rPr>
              <a:t> to open the </a:t>
            </a:r>
            <a:r>
              <a:rPr lang="en-US" b="1" i="0">
                <a:solidFill>
                  <a:srgbClr val="171717"/>
                </a:solidFill>
                <a:effectLst/>
                <a:latin typeface="Segoe UI" panose="020B0502040204020203" pitchFamily="34" charset="0"/>
              </a:rPr>
              <a:t>Add connection</a:t>
            </a:r>
            <a:r>
              <a:rPr lang="en-US" b="0" i="0">
                <a:solidFill>
                  <a:srgbClr val="171717"/>
                </a:solidFill>
                <a:effectLst/>
                <a:latin typeface="Segoe UI" panose="020B0502040204020203" pitchFamily="34" charset="0"/>
              </a:rPr>
              <a:t> page.</a:t>
            </a:r>
            <a:endParaRPr lang="en-US" b="1"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Enter a name for the connection and then select </a:t>
            </a:r>
            <a:r>
              <a:rPr lang="en-US" b="1" i="0">
                <a:solidFill>
                  <a:srgbClr val="171717"/>
                </a:solidFill>
                <a:effectLst/>
                <a:latin typeface="Segoe UI" panose="020B0502040204020203" pitchFamily="34" charset="0"/>
              </a:rPr>
              <a:t>Next: Settings &gt;</a:t>
            </a:r>
            <a:r>
              <a:rPr lang="en-US" b="0" i="0">
                <a:solidFill>
                  <a:srgbClr val="171717"/>
                </a:solidFill>
                <a:effectLst/>
                <a:latin typeface="Segoe UI" panose="020B0502040204020203" pitchFamily="34" charset="0"/>
              </a:rPr>
              <a:t>.</a:t>
            </a:r>
            <a:endParaRPr lang="en-US" b="1"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Select the gateway that belongs to the virtual network that you want to link to the circuit and select </a:t>
            </a:r>
            <a:r>
              <a:rPr lang="en-US" b="1" i="0">
                <a:solidFill>
                  <a:srgbClr val="171717"/>
                </a:solidFill>
                <a:effectLst/>
                <a:latin typeface="Segoe UI" panose="020B0502040204020203" pitchFamily="34" charset="0"/>
              </a:rPr>
              <a:t>Review + create</a:t>
            </a:r>
            <a:r>
              <a:rPr lang="en-US" b="0" i="0">
                <a:solidFill>
                  <a:srgbClr val="171717"/>
                </a:solidFill>
                <a:effectLst/>
                <a:latin typeface="Segoe UI" panose="020B0502040204020203" pitchFamily="34" charset="0"/>
              </a:rPr>
              <a:t>. Then select </a:t>
            </a:r>
            <a:r>
              <a:rPr lang="en-US" b="1" i="0">
                <a:solidFill>
                  <a:srgbClr val="171717"/>
                </a:solidFill>
                <a:effectLst/>
                <a:latin typeface="Segoe UI" panose="020B0502040204020203" pitchFamily="34" charset="0"/>
              </a:rPr>
              <a:t>Create</a:t>
            </a:r>
            <a:r>
              <a:rPr lang="en-US" b="0" i="0">
                <a:solidFill>
                  <a:srgbClr val="171717"/>
                </a:solidFill>
                <a:effectLst/>
                <a:latin typeface="Segoe UI" panose="020B0502040204020203" pitchFamily="34" charset="0"/>
              </a:rPr>
              <a:t> after validation completes.</a:t>
            </a:r>
            <a:endParaRPr lang="en-US" b="1" i="0">
              <a:solidFill>
                <a:srgbClr val="171717"/>
              </a:solidFill>
              <a:effectLst/>
              <a:latin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35</a:t>
            </a:fld>
            <a:endParaRPr lang="en-US"/>
          </a:p>
        </p:txBody>
      </p:sp>
    </p:spTree>
    <p:extLst>
      <p:ext uri="{BB962C8B-B14F-4D97-AF65-F5344CB8AC3E}">
        <p14:creationId xmlns:p14="http://schemas.microsoft.com/office/powerpoint/2010/main" val="4093198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After your connection has been successfully configured, your connection object will show the information for the connection.</a:t>
            </a:r>
          </a:p>
          <a:p>
            <a:br>
              <a:rPr lang="en-US"/>
            </a:br>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36</a:t>
            </a:fld>
            <a:endParaRPr lang="en-US"/>
          </a:p>
        </p:txBody>
      </p:sp>
    </p:spTree>
    <p:extLst>
      <p:ext uri="{BB962C8B-B14F-4D97-AF65-F5344CB8AC3E}">
        <p14:creationId xmlns:p14="http://schemas.microsoft.com/office/powerpoint/2010/main" val="359038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37</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578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2800" b="0" i="0" dirty="0" err="1">
                <a:solidFill>
                  <a:srgbClr val="171717"/>
                </a:solidFill>
                <a:effectLst/>
                <a:latin typeface="Segoe UI" panose="020B0502040204020203" pitchFamily="34" charset="0"/>
              </a:rPr>
              <a:t>Fabrikam</a:t>
            </a:r>
            <a:r>
              <a:rPr lang="en-US" sz="2800" b="0" i="0" dirty="0">
                <a:solidFill>
                  <a:srgbClr val="171717"/>
                </a:solidFill>
                <a:effectLst/>
                <a:latin typeface="Segoe UI" panose="020B0502040204020203" pitchFamily="34" charset="0"/>
              </a:rPr>
              <a:t> Inc. acquires Contoso Ltd. Following the merger, </a:t>
            </a:r>
            <a:r>
              <a:rPr lang="en-US" sz="2800" b="0" i="0" dirty="0" err="1">
                <a:solidFill>
                  <a:srgbClr val="171717"/>
                </a:solidFill>
                <a:effectLst/>
                <a:latin typeface="Segoe UI" panose="020B0502040204020203" pitchFamily="34" charset="0"/>
              </a:rPr>
              <a:t>Fabrikam</a:t>
            </a:r>
            <a:r>
              <a:rPr lang="en-US" sz="2800" b="0" i="0" dirty="0">
                <a:solidFill>
                  <a:srgbClr val="171717"/>
                </a:solidFill>
                <a:effectLst/>
                <a:latin typeface="Segoe UI" panose="020B0502040204020203" pitchFamily="34" charset="0"/>
              </a:rPr>
              <a:t> wants to interconnect the networks. The following figure illustrates the scenario:</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various ways of designing and implementing ExpressRoute based on specific organizational requirements.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ExpressRoute connections enable access to the following services: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Microsoft Azure services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Microsoft 365 services</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Connectivity to all regions within a geopolitical region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connect to Microsoft in one of the peering locations and access regions within the geopolitical region.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example, if you connect to Microsoft in Amsterdam through ExpressRoute, you will have access to all Microsoft cloud services hosted in Northern and Western Europe.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Global connectivity with ExpressRoute Premium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enable ExpressRoute Premium to extend connectivity across geopolitical boundaries. For example, if you connect to Microsoft in Amsterdam through ExpressRoute, you will have access to all Microsoft cloud services hosted in all regions across the world. You can also access services deployed in South America or Australia the same way you access North and West Europe regions. National clouds are excluded.</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Local connectivity with ExpressRoute Local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transfer data cost-effectively by enabling the Local SKU. With Local SKU, you can bring your data to an ExpressRoute location near the Azure region you want. With Local, Data transfer is included in the ExpressRoute port charge.</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Across on-premises connectivity with ExpressRoute Global Reach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enable ExpressRoute Global Reach to exchange data across your on-premises sites by connecting your ExpressRoute circuits. For example, if you have a private data center in California connected to an ExpressRoute circuit in Silicon Valley and another private data center in Texas connected to an ExpressRoute circuit in Dallas. With ExpressRoute Global Reach, you can connect your private data centers together through these two ExpressRoute circuits. Your cross-data-center traffic will traverse through Microsoft's network.</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Rich connectivity partner ecosystem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ExpressRoute has a constantly growing ecosystem of connectivity providers and systems integrator partners. You can refer to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ExpressRoute partners and peering locations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Connectivity to national clouds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Microsoft operates isolated cloud environments for special geopolitical regions and customer segments.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ExpressRoute Direct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ExpressRoute Direct provides customers the opportunity to connect directly into Microsoft’s global network at peering locations strategically distributed across the world. ExpressRoute Direct provides dual 100-Gbps connectivity, which supports Active/Active connectivity at scale.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C0005BC2-C81C-445F-8CF4-D6736DD49201}" type="slidenum">
              <a:rPr lang="en-US" smtClean="0"/>
              <a:t>40</a:t>
            </a:fld>
            <a:endParaRPr lang="en-US"/>
          </a:p>
        </p:txBody>
      </p:sp>
    </p:spTree>
    <p:extLst>
      <p:ext uri="{BB962C8B-B14F-4D97-AF65-F5344CB8AC3E}">
        <p14:creationId xmlns:p14="http://schemas.microsoft.com/office/powerpoint/2010/main" val="14360734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ExpressRoute Global Reach is designed to complement your service provider’s WAN implementation and connect your branch offices across the world. For example, if your service provider primarily operates in the United States and has linked all of your branches in the U.S., but the service provider doesn’t operate in Japan </a:t>
            </a:r>
            <a:r>
              <a:rPr lang="en-US" b="0" i="0">
                <a:solidFill>
                  <a:srgbClr val="171717"/>
                </a:solidFill>
                <a:effectLst/>
                <a:latin typeface="Segoe UI" panose="020B0502040204020203" pitchFamily="34" charset="0"/>
              </a:rPr>
              <a:t>and </a:t>
            </a:r>
            <a:r>
              <a:rPr lang="en-US" sz="1800" i="0">
                <a:effectLst/>
                <a:latin typeface="Verdana" panose="020B0604030504040204" pitchFamily="34" charset="0"/>
              </a:rPr>
              <a:t>Hong </a:t>
            </a:r>
            <a:r>
              <a:rPr lang="en-US" sz="1800" i="0" dirty="0">
                <a:effectLst/>
                <a:latin typeface="Verdana" panose="020B0604030504040204" pitchFamily="34" charset="0"/>
              </a:rPr>
              <a:t>Kong SAR</a:t>
            </a:r>
            <a:r>
              <a:rPr lang="en-US" b="0" i="0" dirty="0">
                <a:solidFill>
                  <a:srgbClr val="171717"/>
                </a:solidFill>
                <a:effectLst/>
                <a:latin typeface="Segoe UI" panose="020B0502040204020203" pitchFamily="34" charset="0"/>
              </a:rPr>
              <a:t>, with ExpressRoute Global Reach you can work with a local service provider and Microsoft will connect your branches there to the ones in the U.S. using ExpressRoute and our global network.</a:t>
            </a:r>
            <a:endParaRPr lang="en-US" dirty="0"/>
          </a:p>
        </p:txBody>
      </p:sp>
      <p:sp>
        <p:nvSpPr>
          <p:cNvPr id="4" name="Slide Number Placeholder 3"/>
          <p:cNvSpPr>
            <a:spLocks noGrp="1"/>
          </p:cNvSpPr>
          <p:nvPr>
            <p:ph type="sldNum" sz="quarter" idx="5"/>
          </p:nvPr>
        </p:nvSpPr>
        <p:spPr/>
        <p:txBody>
          <a:bodyPr/>
          <a:lstStyle/>
          <a:p>
            <a:fld id="{C0005BC2-C81C-445F-8CF4-D6736DD49201}" type="slidenum">
              <a:rPr lang="en-US" smtClean="0"/>
              <a:t>41</a:t>
            </a:fld>
            <a:endParaRPr lang="en-US"/>
          </a:p>
        </p:txBody>
      </p:sp>
    </p:spTree>
    <p:extLst>
      <p:ext uri="{BB962C8B-B14F-4D97-AF65-F5344CB8AC3E}">
        <p14:creationId xmlns:p14="http://schemas.microsoft.com/office/powerpoint/2010/main" val="8836553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43</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3:30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77028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2800" b="0" i="0">
                <a:solidFill>
                  <a:srgbClr val="171717"/>
                </a:solidFill>
                <a:effectLst/>
                <a:latin typeface="Segoe UI" panose="020B0502040204020203" pitchFamily="34" charset="0"/>
              </a:rPr>
              <a:t>ExpressRoute virtual network gateway is designed to exchange network routes and route network traffic. FastPath is designed to improve the data path performance between your on-premises network and your virtual network. When enabled, FastPath sends network traffic directly to virtual machines in the virtual network, bypassing the gateway.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While FastPath supports most configurations, it does not support the following features: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UDR on the gateway subnet: This UDR has no impact on the network traffic that FastPath sends directly from your on-premises network to the virtual machines in Azure virtual network.</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VNet Peering: If you have other virtual networks peered with the one that is connected to ExpressRoute, the network traffic from your on-premises network to the other virtual networks (i.e., the so-called "Spoke" VNets) will continue to be sent to the virtual network gateway. The workaround is to connect all the virtual networks to the ExpressRoute circuit directly.</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Basic Load Balancer: If you deploy a Basic internal load balancer in your virtual network or the Azure PaaS service you deploy in your virtual network uses a Basic internal load balancer, the network traffic from your on-premises network to the virtual IPs hosted on the Basic load balancer will be sent to the virtual network gateway. The solution is to upgrade the Basic load balancer to a Standard load balancer.</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Private Link: If you connect to a private endpoint in your virtual network from your on-premises network, the connection will go through the virtual network gateway.</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46</a:t>
            </a:fld>
            <a:endParaRPr lang="en-US"/>
          </a:p>
        </p:txBody>
      </p:sp>
    </p:spTree>
    <p:extLst>
      <p:ext uri="{BB962C8B-B14F-4D97-AF65-F5344CB8AC3E}">
        <p14:creationId xmlns:p14="http://schemas.microsoft.com/office/powerpoint/2010/main" val="34466205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If you plan to use FastPath with IPv6-based private peering over ExpressRoute, make sure to select ErGw3AZ for </a:t>
            </a:r>
            <a:r>
              <a:rPr lang="en-US" b="1" i="0" dirty="0">
                <a:solidFill>
                  <a:srgbClr val="171717"/>
                </a:solidFill>
                <a:effectLst/>
                <a:latin typeface="Segoe UI" panose="020B0502040204020203" pitchFamily="34" charset="0"/>
              </a:rPr>
              <a:t>SKU</a:t>
            </a:r>
            <a:r>
              <a:rPr lang="en-US" b="0" i="0" dirty="0">
                <a:solidFill>
                  <a:srgbClr val="171717"/>
                </a:solidFill>
                <a:effectLst/>
                <a:latin typeface="Segoe UI" panose="020B0502040204020203" pitchFamily="34" charset="0"/>
              </a:rPr>
              <a:t>. Note that this is only available for circuits using ExpressRoute Direct.</a:t>
            </a:r>
          </a:p>
          <a:p>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FastPath still requires a virtual network gateway to be created to exchange routes between virtual network and on-premises network. For more information about virtual network gateways and ExpressRoute, including performance information and gateway SKUs, see </a:t>
            </a:r>
            <a:r>
              <a:rPr lang="en-US" b="0" i="0" u="none" strike="noStrike" dirty="0">
                <a:solidFill>
                  <a:srgbClr val="171717"/>
                </a:solidFill>
                <a:effectLst/>
                <a:latin typeface="Segoe UI" panose="020B0502040204020203" pitchFamily="34" charset="0"/>
                <a:hlinkClick r:id="rId3"/>
              </a:rPr>
              <a:t>ExpressRoute virtual network gateways</a:t>
            </a:r>
            <a:r>
              <a:rPr lang="en-US" b="0" i="0" dirty="0">
                <a:solidFill>
                  <a:srgbClr val="171717"/>
                </a:solidFill>
                <a:effectLst/>
                <a:latin typeface="Segoe UI" panose="020B0502040204020203" pitchFamily="34" charset="0"/>
              </a:rPr>
              <a:t>.</a:t>
            </a:r>
          </a:p>
          <a:p>
            <a:pPr algn="l"/>
            <a:r>
              <a:rPr lang="en-US" b="0" i="0" dirty="0">
                <a:solidFill>
                  <a:srgbClr val="171717"/>
                </a:solidFill>
                <a:effectLst/>
                <a:latin typeface="Segoe UI" panose="020B0502040204020203" pitchFamily="34" charset="0"/>
              </a:rPr>
              <a:t>To configure FastPath, the virtual network gateway must be either:</a:t>
            </a:r>
          </a:p>
          <a:p>
            <a:pPr algn="l">
              <a:buFont typeface="Arial" panose="020B0604020202020204" pitchFamily="34" charset="0"/>
              <a:buChar char="•"/>
            </a:pPr>
            <a:r>
              <a:rPr lang="en-US" b="0" i="0" dirty="0">
                <a:solidFill>
                  <a:srgbClr val="171717"/>
                </a:solidFill>
                <a:effectLst/>
                <a:latin typeface="Segoe UI" panose="020B0502040204020203" pitchFamily="34" charset="0"/>
              </a:rPr>
              <a:t>Ultra Performance</a:t>
            </a:r>
          </a:p>
          <a:p>
            <a:pPr algn="l">
              <a:buFont typeface="Arial" panose="020B0604020202020204" pitchFamily="34" charset="0"/>
              <a:buChar char="•"/>
            </a:pPr>
            <a:r>
              <a:rPr lang="en-US" b="0" i="0" dirty="0">
                <a:solidFill>
                  <a:srgbClr val="171717"/>
                </a:solidFill>
                <a:effectLst/>
                <a:latin typeface="Segoe UI" panose="020B0502040204020203" pitchFamily="34" charset="0"/>
              </a:rPr>
              <a:t>ErGw3AZ</a:t>
            </a:r>
          </a:p>
          <a:p>
            <a:r>
              <a:rPr lang="en-US" dirty="0"/>
              <a:t>https://docs.microsoft.com/en-us/azure/expressroute/about-fastpath</a:t>
            </a:r>
          </a:p>
          <a:p>
            <a:endParaRPr lang="en-US" dirty="0"/>
          </a:p>
          <a:p>
            <a:r>
              <a:rPr lang="en-US" dirty="0"/>
              <a:t>https://docs.microsoft.com/en-us/azure/expressroute/expressroute-howto-linkvnet-arm#configure-expressroute-fastpath</a:t>
            </a:r>
          </a:p>
        </p:txBody>
      </p:sp>
      <p:sp>
        <p:nvSpPr>
          <p:cNvPr id="4" name="Slide Number Placeholder 3"/>
          <p:cNvSpPr>
            <a:spLocks noGrp="1"/>
          </p:cNvSpPr>
          <p:nvPr>
            <p:ph type="sldNum" sz="quarter" idx="5"/>
          </p:nvPr>
        </p:nvSpPr>
        <p:spPr/>
        <p:txBody>
          <a:bodyPr/>
          <a:lstStyle/>
          <a:p>
            <a:fld id="{C0005BC2-C81C-445F-8CF4-D6736DD49201}" type="slidenum">
              <a:rPr lang="en-US" smtClean="0"/>
              <a:t>47</a:t>
            </a:fld>
            <a:endParaRPr lang="en-US"/>
          </a:p>
        </p:txBody>
      </p:sp>
    </p:spTree>
    <p:extLst>
      <p:ext uri="{BB962C8B-B14F-4D97-AF65-F5344CB8AC3E}">
        <p14:creationId xmlns:p14="http://schemas.microsoft.com/office/powerpoint/2010/main" val="16698786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48</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50</a:t>
            </a:fld>
            <a:endParaRPr lang="en-US"/>
          </a:p>
        </p:txBody>
      </p:sp>
    </p:spTree>
    <p:extLst>
      <p:ext uri="{BB962C8B-B14F-4D97-AF65-F5344CB8AC3E}">
        <p14:creationId xmlns:p14="http://schemas.microsoft.com/office/powerpoint/2010/main" val="24271855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In the Azure portal, open the ExpressRoute circuit blade. In the  section of the blade, the ExpressRoute essentials are listed as shown in the following screenshot:</a:t>
            </a:r>
          </a:p>
          <a:p>
            <a:pPr algn="l"/>
            <a:r>
              <a:rPr lang="en-US" b="0" i="0">
                <a:solidFill>
                  <a:srgbClr val="171717"/>
                </a:solidFill>
                <a:effectLst/>
                <a:latin typeface="Segoe UI" panose="020B0502040204020203" pitchFamily="34" charset="0"/>
              </a:rPr>
              <a:t>In the ExpressRoute Essentials, </a:t>
            </a:r>
            <a:r>
              <a:rPr lang="en-US" b="0" i="1">
                <a:solidFill>
                  <a:srgbClr val="171717"/>
                </a:solidFill>
                <a:effectLst/>
                <a:latin typeface="Segoe UI" panose="020B0502040204020203" pitchFamily="34" charset="0"/>
              </a:rPr>
              <a:t>Circuit status</a:t>
            </a:r>
            <a:r>
              <a:rPr lang="en-US" b="0" i="0">
                <a:solidFill>
                  <a:srgbClr val="171717"/>
                </a:solidFill>
                <a:effectLst/>
                <a:latin typeface="Segoe UI" panose="020B0502040204020203" pitchFamily="34" charset="0"/>
              </a:rPr>
              <a:t> indicates the status of the circuit on the Microsoft side. </a:t>
            </a:r>
            <a:r>
              <a:rPr lang="en-US" b="0" i="1">
                <a:solidFill>
                  <a:srgbClr val="171717"/>
                </a:solidFill>
                <a:effectLst/>
                <a:latin typeface="Segoe UI" panose="020B0502040204020203" pitchFamily="34" charset="0"/>
              </a:rPr>
              <a:t>Provider status</a:t>
            </a:r>
            <a:r>
              <a:rPr lang="en-US" b="0" i="0">
                <a:solidFill>
                  <a:srgbClr val="171717"/>
                </a:solidFill>
                <a:effectLst/>
                <a:latin typeface="Segoe UI" panose="020B0502040204020203" pitchFamily="34" charset="0"/>
              </a:rPr>
              <a:t> indicates if the circuit has been </a:t>
            </a:r>
            <a:r>
              <a:rPr lang="en-US" b="0" i="1">
                <a:solidFill>
                  <a:srgbClr val="171717"/>
                </a:solidFill>
                <a:effectLst/>
                <a:latin typeface="Segoe UI" panose="020B0502040204020203" pitchFamily="34" charset="0"/>
              </a:rPr>
              <a:t>Provisioned/Not provisioned</a:t>
            </a:r>
            <a:r>
              <a:rPr lang="en-US" b="0" i="0">
                <a:solidFill>
                  <a:srgbClr val="171717"/>
                </a:solidFill>
                <a:effectLst/>
                <a:latin typeface="Segoe UI" panose="020B0502040204020203" pitchFamily="34" charset="0"/>
              </a:rPr>
              <a:t> on the service-provider side.</a:t>
            </a:r>
          </a:p>
          <a:p>
            <a:pPr algn="l"/>
            <a:r>
              <a:rPr lang="en-US" b="0" i="0">
                <a:solidFill>
                  <a:srgbClr val="171717"/>
                </a:solidFill>
                <a:effectLst/>
                <a:latin typeface="Segoe UI" panose="020B0502040204020203" pitchFamily="34" charset="0"/>
              </a:rPr>
              <a:t>For an ExpressRoute circuit to be operational, the </a:t>
            </a:r>
            <a:r>
              <a:rPr lang="en-US" b="0" i="1">
                <a:solidFill>
                  <a:srgbClr val="171717"/>
                </a:solidFill>
                <a:effectLst/>
                <a:latin typeface="Segoe UI" panose="020B0502040204020203" pitchFamily="34" charset="0"/>
              </a:rPr>
              <a:t>Circuit status</a:t>
            </a:r>
            <a:r>
              <a:rPr lang="en-US" b="0" i="0">
                <a:solidFill>
                  <a:srgbClr val="171717"/>
                </a:solidFill>
                <a:effectLst/>
                <a:latin typeface="Segoe UI" panose="020B0502040204020203" pitchFamily="34" charset="0"/>
              </a:rPr>
              <a:t> must be </a:t>
            </a:r>
            <a:r>
              <a:rPr lang="en-US" b="0" i="1">
                <a:solidFill>
                  <a:srgbClr val="171717"/>
                </a:solidFill>
                <a:effectLst/>
                <a:latin typeface="Segoe UI" panose="020B0502040204020203" pitchFamily="34" charset="0"/>
              </a:rPr>
              <a:t>Enabled</a:t>
            </a:r>
            <a:r>
              <a:rPr lang="en-US" b="0" i="0">
                <a:solidFill>
                  <a:srgbClr val="171717"/>
                </a:solidFill>
                <a:effectLst/>
                <a:latin typeface="Segoe UI" panose="020B0502040204020203" pitchFamily="34" charset="0"/>
              </a:rPr>
              <a:t> and the </a:t>
            </a:r>
            <a:r>
              <a:rPr lang="en-US" b="0" i="1">
                <a:solidFill>
                  <a:srgbClr val="171717"/>
                </a:solidFill>
                <a:effectLst/>
                <a:latin typeface="Segoe UI" panose="020B0502040204020203" pitchFamily="34" charset="0"/>
              </a:rPr>
              <a:t>Provider status</a:t>
            </a:r>
            <a:r>
              <a:rPr lang="en-US" b="0" i="0">
                <a:solidFill>
                  <a:srgbClr val="171717"/>
                </a:solidFill>
                <a:effectLst/>
                <a:latin typeface="Segoe UI" panose="020B0502040204020203" pitchFamily="34" charset="0"/>
              </a:rPr>
              <a:t> must be </a:t>
            </a:r>
            <a:r>
              <a:rPr lang="en-US" b="0" i="1">
                <a:solidFill>
                  <a:srgbClr val="171717"/>
                </a:solidFill>
                <a:effectLst/>
                <a:latin typeface="Segoe UI" panose="020B0502040204020203" pitchFamily="34" charset="0"/>
              </a:rPr>
              <a:t>Provisioned</a:t>
            </a:r>
            <a:r>
              <a:rPr lang="en-US" b="0" i="0">
                <a:solidFill>
                  <a:srgbClr val="171717"/>
                </a:solidFill>
                <a:effectLst/>
                <a:latin typeface="Segoe UI" panose="020B0502040204020203" pitchFamily="34" charset="0"/>
              </a:rPr>
              <a:t>.</a:t>
            </a:r>
          </a:p>
          <a:p>
            <a:pPr algn="l"/>
            <a:endParaRPr lang="en-US"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Provisioning an ExpressRoute circuit establishes a redundant Layer 2 connections between CEs/PE-MSEEs (2)/(4) and MSEEs (5). </a:t>
            </a:r>
          </a:p>
          <a:p>
            <a:pPr algn="l"/>
            <a:r>
              <a:rPr lang="en-US" b="0" i="0">
                <a:solidFill>
                  <a:srgbClr val="171717"/>
                </a:solidFill>
                <a:effectLst/>
                <a:latin typeface="Segoe UI" panose="020B0502040204020203" pitchFamily="34" charset="0"/>
              </a:rPr>
              <a:t>The following are the logical steps, in troubleshooting ExpressRoute circuit:</a:t>
            </a:r>
          </a:p>
          <a:p>
            <a:pPr algn="l"/>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3"/>
              </a:rPr>
              <a:t>Verify circuit provisioning and state</a:t>
            </a: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4"/>
              </a:rPr>
              <a:t>Validate Peering Configuration</a:t>
            </a: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5"/>
              </a:rPr>
              <a:t>Validate ARP</a:t>
            </a: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6"/>
              </a:rPr>
              <a:t>Validate BGP and routes on the MSEE</a:t>
            </a: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7"/>
              </a:rPr>
              <a:t>Confirm the traffic flow</a:t>
            </a:r>
            <a:endParaRPr lang="en-US" b="0" i="0">
              <a:solidFill>
                <a:srgbClr val="171717"/>
              </a:solidFill>
              <a:effectLst/>
              <a:latin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51</a:t>
            </a:fld>
            <a:endParaRPr lang="en-US"/>
          </a:p>
        </p:txBody>
      </p:sp>
    </p:spTree>
    <p:extLst>
      <p:ext uri="{BB962C8B-B14F-4D97-AF65-F5344CB8AC3E}">
        <p14:creationId xmlns:p14="http://schemas.microsoft.com/office/powerpoint/2010/main" val="23885428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When an operation on an ExpressRoute circuit doesn't complete successfully, the circuit may go into a 'failed' state. This article will help you reset a failed Azure ExpressRoute circuit.</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The steps and examples in this article use Azure PowerShell Az modules. To install the Az modules locally on your computer, see </a:t>
            </a:r>
            <a:r>
              <a:rPr lang="en-US" b="0" i="0" u="none" strike="noStrike">
                <a:solidFill>
                  <a:srgbClr val="171717"/>
                </a:solidFill>
                <a:effectLst/>
                <a:latin typeface="Segoe UI" panose="020B0502040204020203" pitchFamily="34" charset="0"/>
                <a:hlinkClick r:id="rId3"/>
              </a:rPr>
              <a:t>Install Azure PowerShell</a:t>
            </a:r>
            <a:r>
              <a:rPr lang="en-US" b="0" i="0">
                <a:solidFill>
                  <a:srgbClr val="171717"/>
                </a:solidFill>
                <a:effectLst/>
                <a:latin typeface="Segoe UI" panose="020B0502040204020203" pitchFamily="34" charset="0"/>
              </a:rPr>
              <a:t>. To learn more about the new Az module, see </a:t>
            </a:r>
            <a:r>
              <a:rPr lang="en-US" b="0" i="0" u="none" strike="noStrike">
                <a:solidFill>
                  <a:srgbClr val="171717"/>
                </a:solidFill>
                <a:effectLst/>
                <a:latin typeface="Segoe UI" panose="020B0502040204020203" pitchFamily="34" charset="0"/>
                <a:hlinkClick r:id="rId4"/>
              </a:rPr>
              <a:t>Introducing the new Azure PowerShell Az module</a:t>
            </a:r>
            <a:r>
              <a:rPr lang="en-US" b="0" i="0">
                <a:solidFill>
                  <a:srgbClr val="171717"/>
                </a:solidFill>
                <a:effectLst/>
                <a:latin typeface="Segoe UI" panose="020B0502040204020203" pitchFamily="34" charset="0"/>
              </a:rPr>
              <a:t>. PowerShell cmdlets are updated frequently. If you are not running the latest version, the values specified in the instructions may fail. To find the installed versions of PowerShell on your system, use the Get-Module -</a:t>
            </a:r>
            <a:r>
              <a:rPr lang="en-US" b="0" i="0" err="1">
                <a:solidFill>
                  <a:srgbClr val="171717"/>
                </a:solidFill>
                <a:effectLst/>
                <a:latin typeface="Segoe UI" panose="020B0502040204020203" pitchFamily="34" charset="0"/>
              </a:rPr>
              <a:t>ListAvailable</a:t>
            </a:r>
            <a:r>
              <a:rPr lang="en-US" b="0" i="0">
                <a:solidFill>
                  <a:srgbClr val="171717"/>
                </a:solidFill>
                <a:effectLst/>
                <a:latin typeface="Segoe UI" panose="020B0502040204020203" pitchFamily="34" charset="0"/>
              </a:rPr>
              <a:t> Az cmdlet.</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52</a:t>
            </a:fld>
            <a:endParaRPr lang="en-US"/>
          </a:p>
        </p:txBody>
      </p:sp>
    </p:spTree>
    <p:extLst>
      <p:ext uri="{BB962C8B-B14F-4D97-AF65-F5344CB8AC3E}">
        <p14:creationId xmlns:p14="http://schemas.microsoft.com/office/powerpoint/2010/main" val="24876443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After the service provider has completed the provisioning the ExpressRoute circuit, multiple eBGP based routing configurations can be created over the ExpressRoute circuit between CEs/MSEE-PEs (2)/(4) and MSEEs (5). Each ExpressRoute circuit can have: Azure private peering (traffic to private virtual networks in Azure), and/or Microsoft peering (traffic to public endpoints of PaaS and SaaS). </a:t>
            </a:r>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In the preceding example, as noted Azure private peering is provisioned, whereas Azure public and Microsoft </a:t>
            </a:r>
            <a:r>
              <a:rPr lang="en-US" b="0" i="0" dirty="0" err="1">
                <a:solidFill>
                  <a:srgbClr val="171717"/>
                </a:solidFill>
                <a:effectLst/>
                <a:latin typeface="Segoe UI" panose="020B0502040204020203" pitchFamily="34" charset="0"/>
              </a:rPr>
              <a:t>peerings</a:t>
            </a:r>
            <a:r>
              <a:rPr lang="en-US" b="0" i="0" dirty="0">
                <a:solidFill>
                  <a:srgbClr val="171717"/>
                </a:solidFill>
                <a:effectLst/>
                <a:latin typeface="Segoe UI" panose="020B0502040204020203" pitchFamily="34" charset="0"/>
              </a:rPr>
              <a:t> are not provisioned. A successfully provisioned peering context would also have the primary and secondary point-to-point subnets listed. The /30 subnets are used for the interface IP address of the MSEEs and CEs/PE-MSEEs. For the </a:t>
            </a:r>
            <a:r>
              <a:rPr lang="en-US" b="0" i="0" dirty="0" err="1">
                <a:solidFill>
                  <a:srgbClr val="171717"/>
                </a:solidFill>
                <a:effectLst/>
                <a:latin typeface="Segoe UI" panose="020B0502040204020203" pitchFamily="34" charset="0"/>
              </a:rPr>
              <a:t>peerings</a:t>
            </a:r>
            <a:r>
              <a:rPr lang="en-US" b="0" i="0" dirty="0">
                <a:solidFill>
                  <a:srgbClr val="171717"/>
                </a:solidFill>
                <a:effectLst/>
                <a:latin typeface="Segoe UI" panose="020B0502040204020203" pitchFamily="34" charset="0"/>
              </a:rPr>
              <a:t> that are provisioned, the listing also indicates who last modified the configuration.</a:t>
            </a:r>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Another way is PowerShell:</a:t>
            </a:r>
          </a:p>
          <a:p>
            <a:r>
              <a:rPr lang="en-US" dirty="0"/>
              <a:t>$</a:t>
            </a:r>
            <a:r>
              <a:rPr lang="en-US" dirty="0" err="1"/>
              <a:t>ckt</a:t>
            </a:r>
            <a:r>
              <a:rPr lang="en-US" dirty="0"/>
              <a:t> = Get-</a:t>
            </a:r>
            <a:r>
              <a:rPr lang="en-US" dirty="0" err="1"/>
              <a:t>AzExpressRouteCircuit</a:t>
            </a:r>
            <a:r>
              <a:rPr lang="en-US" dirty="0"/>
              <a:t> -</a:t>
            </a:r>
            <a:r>
              <a:rPr lang="en-US" dirty="0" err="1"/>
              <a:t>ResourceGroupName</a:t>
            </a:r>
            <a:r>
              <a:rPr lang="en-US" dirty="0"/>
              <a:t> "Test-ER-RG" -Name "Test-ER-</a:t>
            </a:r>
            <a:r>
              <a:rPr lang="en-US" dirty="0" err="1"/>
              <a:t>Ckt</a:t>
            </a:r>
            <a:r>
              <a:rPr lang="en-US" dirty="0"/>
              <a:t>"</a:t>
            </a:r>
          </a:p>
          <a:p>
            <a:r>
              <a:rPr lang="en-US" dirty="0"/>
              <a:t>Get-</a:t>
            </a:r>
            <a:r>
              <a:rPr lang="en-US" dirty="0" err="1"/>
              <a:t>AzExpressRouteCircuitPeeringConfig</a:t>
            </a:r>
            <a:r>
              <a:rPr lang="en-US" dirty="0"/>
              <a:t> -Name "</a:t>
            </a:r>
            <a:r>
              <a:rPr lang="en-US" dirty="0" err="1"/>
              <a:t>AzurePrivatePeering</a:t>
            </a:r>
            <a:r>
              <a:rPr lang="en-US" dirty="0"/>
              <a:t>" -</a:t>
            </a:r>
            <a:r>
              <a:rPr lang="en-US" dirty="0" err="1"/>
              <a:t>ExpressRouteCircuit</a:t>
            </a:r>
            <a:r>
              <a:rPr lang="en-US" dirty="0"/>
              <a:t> $</a:t>
            </a:r>
            <a:r>
              <a:rPr lang="en-US" dirty="0" err="1"/>
              <a:t>ckt</a:t>
            </a:r>
            <a:endParaRPr lang="en-US" dirty="0"/>
          </a:p>
        </p:txBody>
      </p:sp>
      <p:sp>
        <p:nvSpPr>
          <p:cNvPr id="4" name="Slide Number Placeholder 3"/>
          <p:cNvSpPr>
            <a:spLocks noGrp="1"/>
          </p:cNvSpPr>
          <p:nvPr>
            <p:ph type="sldNum" sz="quarter" idx="5"/>
          </p:nvPr>
        </p:nvSpPr>
        <p:spPr/>
        <p:txBody>
          <a:bodyPr/>
          <a:lstStyle/>
          <a:p>
            <a:fld id="{C0005BC2-C81C-445F-8CF4-D6736DD49201}" type="slidenum">
              <a:rPr lang="en-US" smtClean="0"/>
              <a:t>53</a:t>
            </a:fld>
            <a:endParaRPr lang="en-US"/>
          </a:p>
        </p:txBody>
      </p:sp>
    </p:spTree>
    <p:extLst>
      <p:ext uri="{BB962C8B-B14F-4D97-AF65-F5344CB8AC3E}">
        <p14:creationId xmlns:p14="http://schemas.microsoft.com/office/powerpoint/2010/main" val="24051428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Address Resolution Protocol (ARP) is a layer 2 protocol defined in </a:t>
            </a:r>
            <a:r>
              <a:rPr lang="en-US" b="0" i="0" u="none" strike="noStrike">
                <a:solidFill>
                  <a:srgbClr val="171717"/>
                </a:solidFill>
                <a:effectLst/>
                <a:latin typeface="Segoe UI" panose="020B0502040204020203" pitchFamily="34" charset="0"/>
                <a:hlinkClick r:id="rId3"/>
              </a:rPr>
              <a:t>RFC 826</a:t>
            </a:r>
            <a:r>
              <a:rPr lang="en-US" b="0" i="0">
                <a:solidFill>
                  <a:srgbClr val="171717"/>
                </a:solidFill>
                <a:effectLst/>
                <a:latin typeface="Segoe UI" panose="020B0502040204020203" pitchFamily="34" charset="0"/>
              </a:rPr>
              <a:t>. ARP is used to map the Ethernet address (MAC address) with an ip address.</a:t>
            </a:r>
          </a:p>
          <a:p>
            <a:pPr algn="l"/>
            <a:r>
              <a:rPr lang="en-US" b="0" i="0">
                <a:solidFill>
                  <a:srgbClr val="171717"/>
                </a:solidFill>
                <a:effectLst/>
                <a:latin typeface="Segoe UI" panose="020B0502040204020203" pitchFamily="34" charset="0"/>
              </a:rPr>
              <a:t>The ARP table provides the following information for both the primary and secondary interfaces for each peering types:</a:t>
            </a:r>
          </a:p>
          <a:p>
            <a:pPr algn="l">
              <a:buFont typeface="+mj-lt"/>
              <a:buAutoNum type="arabicPeriod"/>
            </a:pPr>
            <a:r>
              <a:rPr lang="en-US" b="0" i="0">
                <a:solidFill>
                  <a:srgbClr val="171717"/>
                </a:solidFill>
                <a:effectLst/>
                <a:latin typeface="Segoe UI" panose="020B0502040204020203" pitchFamily="34" charset="0"/>
              </a:rPr>
              <a:t>Mapping of on-premises router interface ip address to the MAC address</a:t>
            </a:r>
          </a:p>
          <a:p>
            <a:pPr algn="l">
              <a:buFont typeface="+mj-lt"/>
              <a:buAutoNum type="arabicPeriod"/>
            </a:pPr>
            <a:r>
              <a:rPr lang="en-US" b="0" i="0">
                <a:solidFill>
                  <a:srgbClr val="171717"/>
                </a:solidFill>
                <a:effectLst/>
                <a:latin typeface="Segoe UI" panose="020B0502040204020203" pitchFamily="34" charset="0"/>
              </a:rPr>
              <a:t>Mapping of ExpressRoute router interface ip address to the MAC address</a:t>
            </a:r>
          </a:p>
          <a:p>
            <a:pPr algn="l">
              <a:buFont typeface="+mj-lt"/>
              <a:buAutoNum type="arabicPeriod"/>
            </a:pPr>
            <a:r>
              <a:rPr lang="en-US" b="0" i="0">
                <a:solidFill>
                  <a:srgbClr val="171717"/>
                </a:solidFill>
                <a:effectLst/>
                <a:latin typeface="Segoe UI" panose="020B0502040204020203" pitchFamily="34" charset="0"/>
              </a:rPr>
              <a:t>Age of the mapping</a:t>
            </a:r>
          </a:p>
          <a:p>
            <a:pPr algn="l"/>
            <a:r>
              <a:rPr lang="en-US" b="0" i="0">
                <a:solidFill>
                  <a:srgbClr val="171717"/>
                </a:solidFill>
                <a:effectLst/>
                <a:latin typeface="Segoe UI" panose="020B0502040204020203" pitchFamily="34" charset="0"/>
              </a:rPr>
              <a:t>ARP tables can help validate layer 2 configuration and troubleshooting basic layer 2 connectivity issues.</a:t>
            </a:r>
          </a:p>
          <a:p>
            <a:pPr algn="l"/>
            <a:endParaRPr lang="en-US"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r>
              <a:rPr lang="en-US" b="1">
                <a:effectLst/>
              </a:rPr>
              <a:t>ARP table when Microsoft side has problems</a:t>
            </a:r>
          </a:p>
          <a:p>
            <a:pPr>
              <a:buFont typeface="Arial" panose="020B0604020202020204" pitchFamily="34" charset="0"/>
              <a:buChar char="•"/>
            </a:pPr>
            <a:r>
              <a:rPr lang="en-US">
                <a:effectLst/>
              </a:rPr>
              <a:t>You won't see an ARP table shown for a peering if there are issues on the Microsoft side.</a:t>
            </a:r>
          </a:p>
          <a:p>
            <a:pPr>
              <a:buFont typeface="Arial" panose="020B0604020202020204" pitchFamily="34" charset="0"/>
              <a:buChar char="•"/>
            </a:pPr>
            <a:r>
              <a:rPr lang="en-US">
                <a:effectLst/>
              </a:rPr>
              <a:t>Open a support ticket with </a:t>
            </a:r>
            <a:r>
              <a:rPr lang="en-US" u="none" strike="noStrike">
                <a:effectLst/>
                <a:hlinkClick r:id="rId4"/>
              </a:rPr>
              <a:t>Microsoft support</a:t>
            </a:r>
            <a:r>
              <a:rPr lang="en-US">
                <a:effectLst/>
              </a:rPr>
              <a:t>. Specify that you have an issue with layer 2 connectivity.</a:t>
            </a:r>
          </a:p>
          <a:p>
            <a:r>
              <a:rPr lang="en-US" b="1">
                <a:effectLst/>
              </a:rPr>
              <a:t>Next Steps</a:t>
            </a:r>
          </a:p>
          <a:p>
            <a:pPr>
              <a:buFont typeface="Arial" panose="020B0604020202020204" pitchFamily="34" charset="0"/>
              <a:buChar char="•"/>
            </a:pPr>
            <a:r>
              <a:rPr lang="en-US">
                <a:effectLst/>
              </a:rPr>
              <a:t>Validate Layer 3 configurations for your ExpressRoute circuit.</a:t>
            </a:r>
          </a:p>
          <a:p>
            <a:pPr marL="742950" lvl="1" indent="-285750">
              <a:buFont typeface="Arial" panose="020B0604020202020204" pitchFamily="34" charset="0"/>
              <a:buChar char="•"/>
            </a:pPr>
            <a:r>
              <a:rPr lang="en-US">
                <a:effectLst/>
              </a:rPr>
              <a:t>Get route summary to determine the state of BGP sessions.</a:t>
            </a:r>
          </a:p>
          <a:p>
            <a:pPr marL="742950" lvl="1" indent="-285750">
              <a:buFont typeface="Arial" panose="020B0604020202020204" pitchFamily="34" charset="0"/>
              <a:buChar char="•"/>
            </a:pPr>
            <a:r>
              <a:rPr lang="en-US">
                <a:effectLst/>
              </a:rPr>
              <a:t>Get route table to determine which prefixes are advertised across ExpressRoute.</a:t>
            </a:r>
          </a:p>
          <a:p>
            <a:pPr>
              <a:buFont typeface="Arial" panose="020B0604020202020204" pitchFamily="34" charset="0"/>
              <a:buChar char="•"/>
            </a:pPr>
            <a:r>
              <a:rPr lang="en-US">
                <a:effectLst/>
              </a:rPr>
              <a:t>Validate data transfer by reviewing bytes in / out.</a:t>
            </a:r>
          </a:p>
          <a:p>
            <a:pPr>
              <a:buFont typeface="Arial" panose="020B0604020202020204" pitchFamily="34" charset="0"/>
              <a:buChar char="•"/>
            </a:pPr>
            <a:r>
              <a:rPr lang="en-US">
                <a:effectLst/>
              </a:rPr>
              <a:t>Open a support ticket with </a:t>
            </a:r>
            <a:r>
              <a:rPr lang="en-US" u="none" strike="noStrike">
                <a:effectLst/>
                <a:hlinkClick r:id="rId4"/>
              </a:rPr>
              <a:t>Microsoft support</a:t>
            </a:r>
            <a:r>
              <a:rPr lang="en-US">
                <a:effectLst/>
              </a:rPr>
              <a:t> if you're still experiencing issues.</a:t>
            </a:r>
          </a:p>
          <a:p>
            <a:br>
              <a:rPr lang="en-US"/>
            </a:br>
            <a:endParaRPr lang="en-US" b="0" i="0">
              <a:solidFill>
                <a:srgbClr val="171717"/>
              </a:solidFill>
              <a:effectLst/>
              <a:latin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54</a:t>
            </a:fld>
            <a:endParaRPr lang="en-US"/>
          </a:p>
        </p:txBody>
      </p:sp>
    </p:spTree>
    <p:extLst>
      <p:ext uri="{BB962C8B-B14F-4D97-AF65-F5344CB8AC3E}">
        <p14:creationId xmlns:p14="http://schemas.microsoft.com/office/powerpoint/2010/main" val="4708428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Network watcher</a:t>
            </a:r>
          </a:p>
          <a:p>
            <a:pPr algn="l"/>
            <a:r>
              <a:rPr lang="en-US" b="0" i="0" err="1">
                <a:solidFill>
                  <a:srgbClr val="171717"/>
                </a:solidFill>
                <a:effectLst/>
                <a:latin typeface="Segoe UI" panose="020B0502040204020203" pitchFamily="34" charset="0"/>
              </a:rPr>
              <a:t>Powershell</a:t>
            </a:r>
            <a:r>
              <a:rPr lang="en-US" b="0" i="0">
                <a:solidFill>
                  <a:srgbClr val="171717"/>
                </a:solidFill>
                <a:effectLst/>
                <a:latin typeface="Segoe UI" panose="020B0502040204020203" pitchFamily="34" charset="0"/>
              </a:rPr>
              <a:t> and CLI </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Most network issues can be analyzed and isolated using basic tools like ping and traceroute. It's rare you need to go as deep as a packet analysis using tools like Wireshark.</a:t>
            </a:r>
          </a:p>
          <a:p>
            <a:pPr algn="l"/>
            <a:r>
              <a:rPr lang="en-US" b="0" i="0">
                <a:solidFill>
                  <a:srgbClr val="171717"/>
                </a:solidFill>
                <a:effectLst/>
                <a:latin typeface="Segoe UI" panose="020B0502040204020203" pitchFamily="34" charset="0"/>
              </a:rPr>
              <a:t>To help with troubleshooting, the Azure Connectivity Toolkit (</a:t>
            </a:r>
            <a:r>
              <a:rPr lang="en-US" b="0" i="0" err="1">
                <a:solidFill>
                  <a:srgbClr val="171717"/>
                </a:solidFill>
                <a:effectLst/>
                <a:latin typeface="Segoe UI" panose="020B0502040204020203" pitchFamily="34" charset="0"/>
              </a:rPr>
              <a:t>AzureCT</a:t>
            </a:r>
            <a:r>
              <a:rPr lang="en-US" b="0" i="0">
                <a:solidFill>
                  <a:srgbClr val="171717"/>
                </a:solidFill>
                <a:effectLst/>
                <a:latin typeface="Segoe UI" panose="020B0502040204020203" pitchFamily="34" charset="0"/>
              </a:rPr>
              <a:t>) was developed to put some of these tools in an easy package. For performance testing, tools like </a:t>
            </a:r>
            <a:r>
              <a:rPr lang="en-US" b="0" i="0" err="1">
                <a:solidFill>
                  <a:srgbClr val="171717"/>
                </a:solidFill>
                <a:effectLst/>
                <a:latin typeface="Segoe UI" panose="020B0502040204020203" pitchFamily="34" charset="0"/>
              </a:rPr>
              <a:t>iPerf</a:t>
            </a:r>
            <a:r>
              <a:rPr lang="en-US" b="0" i="0">
                <a:solidFill>
                  <a:srgbClr val="171717"/>
                </a:solidFill>
                <a:effectLst/>
                <a:latin typeface="Segoe UI" panose="020B0502040204020203" pitchFamily="34" charset="0"/>
              </a:rPr>
              <a:t> and </a:t>
            </a:r>
            <a:r>
              <a:rPr lang="en-US" b="0" i="0" err="1">
                <a:solidFill>
                  <a:srgbClr val="171717"/>
                </a:solidFill>
                <a:effectLst/>
                <a:latin typeface="Segoe UI" panose="020B0502040204020203" pitchFamily="34" charset="0"/>
              </a:rPr>
              <a:t>PSPing</a:t>
            </a:r>
            <a:r>
              <a:rPr lang="en-US" b="0" i="0">
                <a:solidFill>
                  <a:srgbClr val="171717"/>
                </a:solidFill>
                <a:effectLst/>
                <a:latin typeface="Segoe UI" panose="020B0502040204020203" pitchFamily="34" charset="0"/>
              </a:rPr>
              <a:t> can provide you information about your network. </a:t>
            </a:r>
            <a:r>
              <a:rPr lang="en-US" b="0" i="0" err="1">
                <a:solidFill>
                  <a:srgbClr val="171717"/>
                </a:solidFill>
                <a:effectLst/>
                <a:latin typeface="Segoe UI" panose="020B0502040204020203" pitchFamily="34" charset="0"/>
              </a:rPr>
              <a:t>iPerf</a:t>
            </a:r>
            <a:r>
              <a:rPr lang="en-US" b="0" i="0">
                <a:solidFill>
                  <a:srgbClr val="171717"/>
                </a:solidFill>
                <a:effectLst/>
                <a:latin typeface="Segoe UI" panose="020B0502040204020203" pitchFamily="34" charset="0"/>
              </a:rPr>
              <a:t> is a commonly used tool for basic performances tests and is fairly easy to use. </a:t>
            </a:r>
            <a:r>
              <a:rPr lang="en-US" b="0" i="0" err="1">
                <a:solidFill>
                  <a:srgbClr val="171717"/>
                </a:solidFill>
                <a:effectLst/>
                <a:latin typeface="Segoe UI" panose="020B0502040204020203" pitchFamily="34" charset="0"/>
              </a:rPr>
              <a:t>PSPing</a:t>
            </a:r>
            <a:r>
              <a:rPr lang="en-US" b="0" i="0">
                <a:solidFill>
                  <a:srgbClr val="171717"/>
                </a:solidFill>
                <a:effectLst/>
                <a:latin typeface="Segoe UI" panose="020B0502040204020203" pitchFamily="34" charset="0"/>
              </a:rPr>
              <a:t> is a ping tool developed by </a:t>
            </a:r>
            <a:r>
              <a:rPr lang="en-US" b="0" i="0" err="1">
                <a:solidFill>
                  <a:srgbClr val="171717"/>
                </a:solidFill>
                <a:effectLst/>
                <a:latin typeface="Segoe UI" panose="020B0502040204020203" pitchFamily="34" charset="0"/>
              </a:rPr>
              <a:t>SysInternals</a:t>
            </a:r>
            <a:r>
              <a:rPr lang="en-US" b="0" i="0">
                <a:solidFill>
                  <a:srgbClr val="171717"/>
                </a:solidFill>
                <a:effectLst/>
                <a:latin typeface="Segoe UI" panose="020B0502040204020203" pitchFamily="34" charset="0"/>
              </a:rPr>
              <a:t>. </a:t>
            </a:r>
            <a:r>
              <a:rPr lang="en-US" b="0" i="0" err="1">
                <a:solidFill>
                  <a:srgbClr val="171717"/>
                </a:solidFill>
                <a:effectLst/>
                <a:latin typeface="Segoe UI" panose="020B0502040204020203" pitchFamily="34" charset="0"/>
              </a:rPr>
              <a:t>PSPing</a:t>
            </a:r>
            <a:r>
              <a:rPr lang="en-US" b="0" i="0">
                <a:solidFill>
                  <a:srgbClr val="171717"/>
                </a:solidFill>
                <a:effectLst/>
                <a:latin typeface="Segoe UI" panose="020B0502040204020203" pitchFamily="34" charset="0"/>
              </a:rPr>
              <a:t> can do both ICMP and TCP pings to reach a remote host. Both of these tools are lightweight and are "installed" simply by coping the files to a directory on the host.</a:t>
            </a:r>
          </a:p>
          <a:p>
            <a:pPr algn="l"/>
            <a:r>
              <a:rPr lang="en-US" b="0" i="0">
                <a:solidFill>
                  <a:srgbClr val="171717"/>
                </a:solidFill>
                <a:effectLst/>
                <a:latin typeface="Segoe UI" panose="020B0502040204020203" pitchFamily="34" charset="0"/>
              </a:rPr>
              <a:t>These tools and methods are wrapped into a PowerShell module (</a:t>
            </a:r>
            <a:r>
              <a:rPr lang="en-US" b="0" i="0" err="1">
                <a:solidFill>
                  <a:srgbClr val="171717"/>
                </a:solidFill>
                <a:effectLst/>
                <a:latin typeface="Segoe UI" panose="020B0502040204020203" pitchFamily="34" charset="0"/>
              </a:rPr>
              <a:t>AzureCT</a:t>
            </a:r>
            <a:r>
              <a:rPr lang="en-US" b="0" i="0">
                <a:solidFill>
                  <a:srgbClr val="171717"/>
                </a:solidFill>
                <a:effectLst/>
                <a:latin typeface="Segoe UI" panose="020B0502040204020203" pitchFamily="34" charset="0"/>
              </a:rPr>
              <a:t>) that you can install and use.</a:t>
            </a:r>
          </a:p>
          <a:p>
            <a:endParaRPr lang="en-US"/>
          </a:p>
        </p:txBody>
      </p:sp>
      <p:sp>
        <p:nvSpPr>
          <p:cNvPr id="4" name="Slide Number Placeholder 3"/>
          <p:cNvSpPr>
            <a:spLocks noGrp="1"/>
          </p:cNvSpPr>
          <p:nvPr>
            <p:ph type="sldNum" sz="quarter" idx="5"/>
          </p:nvPr>
        </p:nvSpPr>
        <p:spPr/>
        <p:txBody>
          <a:bodyPr/>
          <a:lstStyle/>
          <a:p>
            <a:fld id="{C0005BC2-C81C-445F-8CF4-D6736DD49201}" type="slidenum">
              <a:rPr lang="en-US" smtClean="0"/>
              <a:t>55</a:t>
            </a:fld>
            <a:endParaRPr lang="en-US"/>
          </a:p>
        </p:txBody>
      </p:sp>
    </p:spTree>
    <p:extLst>
      <p:ext uri="{BB962C8B-B14F-4D97-AF65-F5344CB8AC3E}">
        <p14:creationId xmlns:p14="http://schemas.microsoft.com/office/powerpoint/2010/main" val="28172180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56</a:t>
            </a:fld>
            <a:endParaRPr lang="en-US"/>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427945650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spc="0">
                <a:ln w="3175">
                  <a:noFill/>
                </a:ln>
                <a:solidFill>
                  <a:schemeClr val="tx1"/>
                </a:solidFill>
              </a:defRPr>
            </a:lvl1pPr>
          </a:lstStyle>
          <a:p>
            <a:r>
              <a:rPr lang="en-US"/>
              <a:t>Title</a:t>
            </a:r>
          </a:p>
        </p:txBody>
      </p:sp>
      <p:sp>
        <p:nvSpPr>
          <p:cNvPr id="4" name="Footer Placeholder 1">
            <a:extLst>
              <a:ext uri="{FF2B5EF4-FFF2-40B4-BE49-F238E27FC236}">
                <a16:creationId xmlns:a16="http://schemas.microsoft.com/office/drawing/2014/main" id="{29DBB0C0-C71B-4E00-BC91-2FB053666D41}"/>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127953728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CAC636FD-8B7A-4800-AB08-3D6AA6585803}"/>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232604734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27821"/>
            <a:ext cx="2457386" cy="40235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336226646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7840299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5727904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314382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5696572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675" r:id="rId3"/>
    <p:sldLayoutId id="214748367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458197135"/>
      </p:ext>
    </p:extLst>
  </p:cSld>
  <p:clrMap bg1="lt1" tx1="dk1" bg2="lt2" tx2="dk2" accent1="accent1" accent2="accent2" accent3="accent3" accent4="accent4" accent5="accent5" accent6="accent6" hlink="hlink" folHlink="folHlink"/>
  <p:sldLayoutIdLst>
    <p:sldLayoutId id="2147483693" r:id="rId1"/>
    <p:sldLayoutId id="2147483695" r:id="rId2"/>
    <p:sldLayoutId id="2147483697" r:id="rId3"/>
    <p:sldLayoutId id="2147483725" r:id="rId4"/>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image" Target="../media/image10.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8.emf"/><Relationship Id="rId5" Type="http://schemas.openxmlformats.org/officeDocument/2006/relationships/image" Target="../media/image10.emf"/><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20.xml.rels><?xml version="1.0" encoding="UTF-8" standalone="yes"?>
<Relationships xmlns="http://schemas.openxmlformats.org/package/2006/relationships"><Relationship Id="rId3" Type="http://schemas.openxmlformats.org/officeDocument/2006/relationships/hyperlink" Target="https://docs.microsoft.com/en-us/azure/expressroute/designing-for-high-availability-with-expressrout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docs.microsoft.com/en-us/azure/architecture/reference-architectures/hybrid-networking/expressroute" TargetMode="External"/><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11.emf"/><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8.emf"/><Relationship Id="rId5" Type="http://schemas.openxmlformats.org/officeDocument/2006/relationships/image" Target="../media/image10.emf"/><Relationship Id="rId4" Type="http://schemas.openxmlformats.org/officeDocument/2006/relationships/image" Target="../media/image6.emf"/></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docs.microsoft.com/en-us/azure/expressroute/expressroute-circuit-peerings"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6.emf"/></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hyperlink" Target="https://docs.microsoft.com/en-us/azure/expressroute/expressroute-workflows"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6.emf"/></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docs.microsoft.com/en-us/azure/expressroute/expressroute-global-reach" TargetMode="External"/></Relationships>
</file>

<file path=ppt/slides/_rels/slide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image" Target="../media/image10.emf"/><Relationship Id="rId4" Type="http://schemas.openxmlformats.org/officeDocument/2006/relationships/image" Target="../media/image6.emf"/></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docs.microsoft.com/en-us/azure/expressroute/about-fastpath"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11.emf"/><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8.emf"/><Relationship Id="rId5" Type="http://schemas.openxmlformats.org/officeDocument/2006/relationships/image" Target="../media/image10.emf"/><Relationship Id="rId4" Type="http://schemas.openxmlformats.org/officeDocument/2006/relationships/image" Target="../media/image6.emf"/></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hyperlink" Target="https://docs.microsoft.com/en-us/azure/expressroute/reset-circuit" TargetMode="External"/><Relationship Id="rId5" Type="http://schemas.openxmlformats.org/officeDocument/2006/relationships/hyperlink" Target="https://docs.microsoft.com/en-us/azure/expressroute/expressroute-troubleshooting-network-performance" TargetMode="External"/><Relationship Id="rId4" Type="http://schemas.openxmlformats.org/officeDocument/2006/relationships/hyperlink" Target="https://docs.microsoft.com/en-us/azure/expressroute/expressroute-troubleshooting-expressroute-overview"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a:bodyPr>
          <a:lstStyle/>
          <a:p>
            <a:r>
              <a:rPr lang="en-US" sz="4509" dirty="0">
                <a:latin typeface="Segoe UI Semibold" panose="020B0702040204020203" pitchFamily="34" charset="0"/>
                <a:cs typeface="Segoe UI Semibold" panose="020B0702040204020203" pitchFamily="34" charset="0"/>
              </a:rPr>
              <a:t>AZ-700T00A</a:t>
            </a:r>
            <a:br>
              <a:rPr lang="en-US" sz="4509" dirty="0">
                <a:latin typeface="Segoe UI Semibold" panose="020B0702040204020203" pitchFamily="34" charset="0"/>
                <a:cs typeface="Segoe UI Semibold" panose="020B0702040204020203" pitchFamily="34" charset="0"/>
              </a:rPr>
            </a:br>
            <a:r>
              <a:rPr lang="en-US" sz="4509" dirty="0">
                <a:latin typeface="Segoe UI Semibold" panose="020B0702040204020203" pitchFamily="34" charset="0"/>
                <a:cs typeface="Segoe UI Semibold" panose="020B0702040204020203" pitchFamily="34" charset="0"/>
              </a:rPr>
              <a:t>Module 03: Design and implement Azure ExpressRoute</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Module Overview</a:t>
            </a:r>
          </a:p>
        </p:txBody>
      </p:sp>
      <p:sp>
        <p:nvSpPr>
          <p:cNvPr id="6" name="Text Placeholder 5"/>
          <p:cNvSpPr>
            <a:spLocks noGrp="1"/>
          </p:cNvSpPr>
          <p:nvPr>
            <p:ph type="body" sz="quarter" idx="11"/>
          </p:nvPr>
        </p:nvSpPr>
        <p:spPr/>
        <p:txBody>
          <a:bodyPr/>
          <a:lstStyle/>
          <a:p>
            <a:pPr lvl="1"/>
            <a:r>
              <a:rPr lang="fr-FR" dirty="0"/>
              <a:t>Lesson 01: Explore Azure ExpressRoute</a:t>
            </a:r>
          </a:p>
        </p:txBody>
      </p:sp>
      <p:sp>
        <p:nvSpPr>
          <p:cNvPr id="2" name="Text Placeholder 1"/>
          <p:cNvSpPr>
            <a:spLocks noGrp="1"/>
          </p:cNvSpPr>
          <p:nvPr>
            <p:ph type="body" sz="quarter" idx="15"/>
          </p:nvPr>
        </p:nvSpPr>
        <p:spPr/>
        <p:txBody>
          <a:bodyPr/>
          <a:lstStyle/>
          <a:p>
            <a:pPr lvl="1"/>
            <a:r>
              <a:rPr lang="en-US" dirty="0"/>
              <a:t>Lesson 02: Design an ExpressRoute deployment</a:t>
            </a:r>
          </a:p>
        </p:txBody>
      </p:sp>
      <p:sp>
        <p:nvSpPr>
          <p:cNvPr id="3" name="Text Placeholder 2"/>
          <p:cNvSpPr>
            <a:spLocks noGrp="1"/>
          </p:cNvSpPr>
          <p:nvPr>
            <p:ph type="body" sz="quarter" idx="17"/>
          </p:nvPr>
        </p:nvSpPr>
        <p:spPr/>
        <p:txBody>
          <a:bodyPr/>
          <a:lstStyle/>
          <a:p>
            <a:pPr lvl="1"/>
            <a:r>
              <a:rPr lang="en-US" dirty="0"/>
              <a:t>Lesson 03: Exercise - Configure an ExpressRoute Gateway</a:t>
            </a:r>
          </a:p>
        </p:txBody>
      </p:sp>
      <p:sp>
        <p:nvSpPr>
          <p:cNvPr id="4" name="Text Placeholder 3"/>
          <p:cNvSpPr>
            <a:spLocks noGrp="1"/>
          </p:cNvSpPr>
          <p:nvPr>
            <p:ph type="body" sz="quarter" idx="19"/>
          </p:nvPr>
        </p:nvSpPr>
        <p:spPr/>
        <p:txBody>
          <a:bodyPr/>
          <a:lstStyle/>
          <a:p>
            <a:pPr lvl="1"/>
            <a:r>
              <a:rPr lang="fr-FR" dirty="0"/>
              <a:t>Lesson 04: Exercice - Provision an ExpressRoute circuit</a:t>
            </a:r>
          </a:p>
        </p:txBody>
      </p:sp>
      <p:sp>
        <p:nvSpPr>
          <p:cNvPr id="5" name="Text Placeholder 4"/>
          <p:cNvSpPr>
            <a:spLocks noGrp="1"/>
          </p:cNvSpPr>
          <p:nvPr>
            <p:ph type="body" sz="quarter" idx="21"/>
          </p:nvPr>
        </p:nvSpPr>
        <p:spPr/>
        <p:txBody>
          <a:bodyPr/>
          <a:lstStyle/>
          <a:p>
            <a:pPr lvl="1"/>
            <a:r>
              <a:rPr lang="en-US" dirty="0"/>
              <a:t>Lesson 05: Configure peering for an ExpressRoute deployment</a:t>
            </a:r>
          </a:p>
        </p:txBody>
      </p:sp>
      <p:sp>
        <p:nvSpPr>
          <p:cNvPr id="8" name="Text Placeholder 7">
            <a:extLst>
              <a:ext uri="{FF2B5EF4-FFF2-40B4-BE49-F238E27FC236}">
                <a16:creationId xmlns:a16="http://schemas.microsoft.com/office/drawing/2014/main" id="{4C970C09-C124-49EF-A806-956DD6EAA798}"/>
              </a:ext>
            </a:extLst>
          </p:cNvPr>
          <p:cNvSpPr>
            <a:spLocks noGrp="1"/>
          </p:cNvSpPr>
          <p:nvPr>
            <p:ph type="body" sz="quarter" idx="31"/>
          </p:nvPr>
        </p:nvSpPr>
        <p:spPr/>
        <p:txBody>
          <a:bodyPr/>
          <a:lstStyle/>
          <a:p>
            <a:pPr lvl="1"/>
            <a:r>
              <a:rPr lang="en-US" dirty="0"/>
              <a:t>Lesson 06: Connect an ExpressRoute circuit to a </a:t>
            </a:r>
            <a:r>
              <a:rPr lang="en-US" dirty="0" err="1"/>
              <a:t>VNet</a:t>
            </a:r>
            <a:endParaRPr lang="en-US" dirty="0"/>
          </a:p>
        </p:txBody>
      </p:sp>
      <p:sp>
        <p:nvSpPr>
          <p:cNvPr id="9" name="Text Placeholder 8">
            <a:extLst>
              <a:ext uri="{FF2B5EF4-FFF2-40B4-BE49-F238E27FC236}">
                <a16:creationId xmlns:a16="http://schemas.microsoft.com/office/drawing/2014/main" id="{597E9C1C-70B1-4FF1-BDCE-E3611225B156}"/>
              </a:ext>
            </a:extLst>
          </p:cNvPr>
          <p:cNvSpPr>
            <a:spLocks noGrp="1"/>
          </p:cNvSpPr>
          <p:nvPr>
            <p:ph type="body" sz="quarter" idx="32"/>
          </p:nvPr>
        </p:nvSpPr>
        <p:spPr/>
        <p:txBody>
          <a:bodyPr/>
          <a:lstStyle/>
          <a:p>
            <a:pPr lvl="1"/>
            <a:r>
              <a:rPr lang="en-US" dirty="0"/>
              <a:t>Lesson 07: Connect geographically dispersed networks with ExpressRoute Global Reach</a:t>
            </a:r>
          </a:p>
        </p:txBody>
      </p:sp>
      <p:sp>
        <p:nvSpPr>
          <p:cNvPr id="10" name="Text Placeholder 9">
            <a:extLst>
              <a:ext uri="{FF2B5EF4-FFF2-40B4-BE49-F238E27FC236}">
                <a16:creationId xmlns:a16="http://schemas.microsoft.com/office/drawing/2014/main" id="{2D95B341-ABC5-4ED8-9462-B7B4216DF042}"/>
              </a:ext>
            </a:extLst>
          </p:cNvPr>
          <p:cNvSpPr>
            <a:spLocks noGrp="1"/>
          </p:cNvSpPr>
          <p:nvPr>
            <p:ph type="body" sz="quarter" idx="33"/>
          </p:nvPr>
        </p:nvSpPr>
        <p:spPr/>
        <p:txBody>
          <a:bodyPr/>
          <a:lstStyle/>
          <a:p>
            <a:pPr lvl="1"/>
            <a:r>
              <a:rPr lang="en-US" dirty="0"/>
              <a:t>Lesson 08: Improve data path performance between networks with ExpressRoute FastPath</a:t>
            </a:r>
          </a:p>
        </p:txBody>
      </p:sp>
      <p:sp>
        <p:nvSpPr>
          <p:cNvPr id="11" name="Text Placeholder 10">
            <a:extLst>
              <a:ext uri="{FF2B5EF4-FFF2-40B4-BE49-F238E27FC236}">
                <a16:creationId xmlns:a16="http://schemas.microsoft.com/office/drawing/2014/main" id="{0B1D4227-99BD-41CF-8A9E-CAEF2A37B390}"/>
              </a:ext>
            </a:extLst>
          </p:cNvPr>
          <p:cNvSpPr>
            <a:spLocks noGrp="1"/>
          </p:cNvSpPr>
          <p:nvPr>
            <p:ph type="body" sz="quarter" idx="34"/>
          </p:nvPr>
        </p:nvSpPr>
        <p:spPr/>
        <p:txBody>
          <a:bodyPr/>
          <a:lstStyle/>
          <a:p>
            <a:pPr lvl="1"/>
            <a:r>
              <a:rPr lang="en-US" dirty="0"/>
              <a:t>Lesson 09: Troubleshoot ExpressRoute connection issues</a:t>
            </a:r>
          </a:p>
        </p:txBody>
      </p:sp>
      <p:grpSp>
        <p:nvGrpSpPr>
          <p:cNvPr id="12" name="Group 11">
            <a:extLst>
              <a:ext uri="{FF2B5EF4-FFF2-40B4-BE49-F238E27FC236}">
                <a16:creationId xmlns:a16="http://schemas.microsoft.com/office/drawing/2014/main" id="{B47BCB82-4DA2-49D1-8F42-67C58E8E4892}"/>
              </a:ext>
              <a:ext uri="{C183D7F6-B498-43B3-948B-1728B52AA6E4}">
                <adec:decorative xmlns:adec="http://schemas.microsoft.com/office/drawing/2017/decorative" val="1"/>
              </a:ext>
            </a:extLst>
          </p:cNvPr>
          <p:cNvGrpSpPr/>
          <p:nvPr/>
        </p:nvGrpSpPr>
        <p:grpSpPr>
          <a:xfrm>
            <a:off x="418643" y="1441758"/>
            <a:ext cx="717140" cy="4101743"/>
            <a:chOff x="418643" y="1441758"/>
            <a:chExt cx="717140" cy="4101743"/>
          </a:xfrm>
        </p:grpSpPr>
        <p:grpSp>
          <p:nvGrpSpPr>
            <p:cNvPr id="41" name="Group 40">
              <a:extLst>
                <a:ext uri="{FF2B5EF4-FFF2-40B4-BE49-F238E27FC236}">
                  <a16:creationId xmlns:a16="http://schemas.microsoft.com/office/drawing/2014/main" id="{DDB96B85-21AC-4E2C-B52F-760B90C12459}"/>
                </a:ext>
              </a:extLst>
            </p:cNvPr>
            <p:cNvGrpSpPr/>
            <p:nvPr/>
          </p:nvGrpSpPr>
          <p:grpSpPr>
            <a:xfrm>
              <a:off x="418643" y="1441758"/>
              <a:ext cx="717140" cy="717242"/>
              <a:chOff x="418643" y="1441758"/>
              <a:chExt cx="717140" cy="717242"/>
            </a:xfrm>
          </p:grpSpPr>
          <p:grpSp>
            <p:nvGrpSpPr>
              <p:cNvPr id="23" name="Group 22">
                <a:extLst>
                  <a:ext uri="{FF2B5EF4-FFF2-40B4-BE49-F238E27FC236}">
                    <a16:creationId xmlns:a16="http://schemas.microsoft.com/office/drawing/2014/main" id="{CB713C76-4F2D-4DA7-8DFA-9C41878BB94E}"/>
                  </a:ext>
                </a:extLst>
              </p:cNvPr>
              <p:cNvGrpSpPr/>
              <p:nvPr/>
            </p:nvGrpSpPr>
            <p:grpSpPr>
              <a:xfrm>
                <a:off x="418643" y="1441758"/>
                <a:ext cx="717140" cy="717242"/>
                <a:chOff x="418643" y="1441758"/>
                <a:chExt cx="717140" cy="717242"/>
              </a:xfrm>
            </p:grpSpPr>
            <p:sp>
              <p:nvSpPr>
                <p:cNvPr id="437" name="Freeform 5">
                  <a:extLst>
                    <a:ext uri="{FF2B5EF4-FFF2-40B4-BE49-F238E27FC236}">
                      <a16:creationId xmlns:a16="http://schemas.microsoft.com/office/drawing/2014/main" id="{62DF44AF-1A0C-4B66-B6D6-EF98C8C6F9B2}"/>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38" name="Freeform 6">
                  <a:extLst>
                    <a:ext uri="{FF2B5EF4-FFF2-40B4-BE49-F238E27FC236}">
                      <a16:creationId xmlns:a16="http://schemas.microsoft.com/office/drawing/2014/main" id="{9CDBFDD5-398A-4CB1-B92E-B4D024B3A4E5}"/>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DD3B672E-8841-4C9C-BA26-55DF9EF6C671}"/>
                  </a:ext>
                </a:extLst>
              </p:cNvPr>
              <p:cNvPicPr>
                <a:picLocks noChangeAspect="1"/>
              </p:cNvPicPr>
              <p:nvPr/>
            </p:nvPicPr>
            <p:blipFill>
              <a:blip r:embed="rId3"/>
              <a:stretch>
                <a:fillRect/>
              </a:stretch>
            </p:blipFill>
            <p:spPr>
              <a:xfrm>
                <a:off x="588767" y="1611934"/>
                <a:ext cx="376892" cy="376890"/>
              </a:xfrm>
              <a:prstGeom prst="rect">
                <a:avLst/>
              </a:prstGeom>
            </p:spPr>
          </p:pic>
        </p:grpSp>
        <p:grpSp>
          <p:nvGrpSpPr>
            <p:cNvPr id="40" name="Group 39">
              <a:extLst>
                <a:ext uri="{FF2B5EF4-FFF2-40B4-BE49-F238E27FC236}">
                  <a16:creationId xmlns:a16="http://schemas.microsoft.com/office/drawing/2014/main" id="{8C858700-6A33-49E5-96C8-2D574B8F02ED}"/>
                </a:ext>
              </a:extLst>
            </p:cNvPr>
            <p:cNvGrpSpPr/>
            <p:nvPr/>
          </p:nvGrpSpPr>
          <p:grpSpPr>
            <a:xfrm>
              <a:off x="418643" y="2287883"/>
              <a:ext cx="717140" cy="717242"/>
              <a:chOff x="418643" y="2287883"/>
              <a:chExt cx="717140" cy="717242"/>
            </a:xfrm>
          </p:grpSpPr>
          <p:grpSp>
            <p:nvGrpSpPr>
              <p:cNvPr id="24" name="Group 23">
                <a:extLst>
                  <a:ext uri="{FF2B5EF4-FFF2-40B4-BE49-F238E27FC236}">
                    <a16:creationId xmlns:a16="http://schemas.microsoft.com/office/drawing/2014/main" id="{C6B8A81B-3C2B-4999-8E6E-2A8FE4213AD4}"/>
                  </a:ext>
                </a:extLst>
              </p:cNvPr>
              <p:cNvGrpSpPr/>
              <p:nvPr/>
            </p:nvGrpSpPr>
            <p:grpSpPr>
              <a:xfrm>
                <a:off x="418643" y="2287883"/>
                <a:ext cx="717140" cy="717242"/>
                <a:chOff x="418643" y="2287883"/>
                <a:chExt cx="717140" cy="717242"/>
              </a:xfrm>
            </p:grpSpPr>
            <p:sp>
              <p:nvSpPr>
                <p:cNvPr id="444" name="Freeform 5">
                  <a:extLst>
                    <a:ext uri="{FF2B5EF4-FFF2-40B4-BE49-F238E27FC236}">
                      <a16:creationId xmlns:a16="http://schemas.microsoft.com/office/drawing/2014/main" id="{0952D2D1-E1F5-40C1-9CB9-1094FC75154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45" name="Freeform 6">
                  <a:extLst>
                    <a:ext uri="{FF2B5EF4-FFF2-40B4-BE49-F238E27FC236}">
                      <a16:creationId xmlns:a16="http://schemas.microsoft.com/office/drawing/2014/main" id="{5EED13B1-E5DD-464E-9D55-EEEB17EE72B4}"/>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arrow in a circular path with a timer inside the circle">
                <a:extLst>
                  <a:ext uri="{FF2B5EF4-FFF2-40B4-BE49-F238E27FC236}">
                    <a16:creationId xmlns:a16="http://schemas.microsoft.com/office/drawing/2014/main" id="{2793DF5E-1B92-422B-8BA1-AC40015913F0}"/>
                  </a:ext>
                </a:extLst>
              </p:cNvPr>
              <p:cNvPicPr>
                <a:picLocks noChangeAspect="1"/>
              </p:cNvPicPr>
              <p:nvPr/>
            </p:nvPicPr>
            <p:blipFill>
              <a:blip r:embed="rId4"/>
              <a:stretch>
                <a:fillRect/>
              </a:stretch>
            </p:blipFill>
            <p:spPr>
              <a:xfrm>
                <a:off x="588767" y="2458059"/>
                <a:ext cx="376892" cy="376890"/>
              </a:xfrm>
              <a:prstGeom prst="rect">
                <a:avLst/>
              </a:prstGeom>
            </p:spPr>
          </p:pic>
        </p:grpSp>
        <p:grpSp>
          <p:nvGrpSpPr>
            <p:cNvPr id="39" name="Group 38">
              <a:extLst>
                <a:ext uri="{FF2B5EF4-FFF2-40B4-BE49-F238E27FC236}">
                  <a16:creationId xmlns:a16="http://schemas.microsoft.com/office/drawing/2014/main" id="{8284B803-5FAA-4399-83A8-A4561698A875}"/>
                </a:ext>
              </a:extLst>
            </p:cNvPr>
            <p:cNvGrpSpPr/>
            <p:nvPr/>
          </p:nvGrpSpPr>
          <p:grpSpPr>
            <a:xfrm>
              <a:off x="418643" y="3134008"/>
              <a:ext cx="717140" cy="717242"/>
              <a:chOff x="418643" y="3134008"/>
              <a:chExt cx="717140" cy="717242"/>
            </a:xfrm>
          </p:grpSpPr>
          <p:grpSp>
            <p:nvGrpSpPr>
              <p:cNvPr id="25" name="Group 24">
                <a:extLst>
                  <a:ext uri="{FF2B5EF4-FFF2-40B4-BE49-F238E27FC236}">
                    <a16:creationId xmlns:a16="http://schemas.microsoft.com/office/drawing/2014/main" id="{EBC12EB9-9B46-4FFF-9662-F3F89EFC498B}"/>
                  </a:ext>
                </a:extLst>
              </p:cNvPr>
              <p:cNvGrpSpPr/>
              <p:nvPr/>
            </p:nvGrpSpPr>
            <p:grpSpPr>
              <a:xfrm>
                <a:off x="418643" y="3134008"/>
                <a:ext cx="717140" cy="717242"/>
                <a:chOff x="418643" y="3134008"/>
                <a:chExt cx="717140" cy="717242"/>
              </a:xfrm>
            </p:grpSpPr>
            <p:sp>
              <p:nvSpPr>
                <p:cNvPr id="462" name="Freeform 5">
                  <a:extLst>
                    <a:ext uri="{FF2B5EF4-FFF2-40B4-BE49-F238E27FC236}">
                      <a16:creationId xmlns:a16="http://schemas.microsoft.com/office/drawing/2014/main" id="{888F553F-7725-480F-8A81-67806B6E1C1D}"/>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63" name="Freeform 6">
                  <a:extLst>
                    <a:ext uri="{FF2B5EF4-FFF2-40B4-BE49-F238E27FC236}">
                      <a16:creationId xmlns:a16="http://schemas.microsoft.com/office/drawing/2014/main" id="{5ACB146D-E90A-4B02-A04C-3C75A55BBE6E}"/>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dots and outward pointing chevrons on left and right">
                <a:extLst>
                  <a:ext uri="{FF2B5EF4-FFF2-40B4-BE49-F238E27FC236}">
                    <a16:creationId xmlns:a16="http://schemas.microsoft.com/office/drawing/2014/main" id="{65842D12-2F92-42D3-B65A-DE465C113497}"/>
                  </a:ext>
                </a:extLst>
              </p:cNvPr>
              <p:cNvPicPr>
                <a:picLocks noChangeAspect="1"/>
              </p:cNvPicPr>
              <p:nvPr/>
            </p:nvPicPr>
            <p:blipFill>
              <a:blip r:embed="rId5"/>
              <a:stretch>
                <a:fillRect/>
              </a:stretch>
            </p:blipFill>
            <p:spPr>
              <a:xfrm>
                <a:off x="526606" y="3382030"/>
                <a:ext cx="501214" cy="221198"/>
              </a:xfrm>
              <a:prstGeom prst="rect">
                <a:avLst/>
              </a:prstGeom>
            </p:spPr>
          </p:pic>
        </p:grpSp>
        <p:grpSp>
          <p:nvGrpSpPr>
            <p:cNvPr id="38" name="Group 37">
              <a:extLst>
                <a:ext uri="{FF2B5EF4-FFF2-40B4-BE49-F238E27FC236}">
                  <a16:creationId xmlns:a16="http://schemas.microsoft.com/office/drawing/2014/main" id="{00B12B47-0F34-4D41-9F49-8CD1D4CF17F0}"/>
                </a:ext>
              </a:extLst>
            </p:cNvPr>
            <p:cNvGrpSpPr/>
            <p:nvPr/>
          </p:nvGrpSpPr>
          <p:grpSpPr>
            <a:xfrm>
              <a:off x="418643" y="3980133"/>
              <a:ext cx="717140" cy="717242"/>
              <a:chOff x="418643" y="3980133"/>
              <a:chExt cx="717140" cy="717242"/>
            </a:xfrm>
          </p:grpSpPr>
          <p:grpSp>
            <p:nvGrpSpPr>
              <p:cNvPr id="26" name="Group 25">
                <a:extLst>
                  <a:ext uri="{FF2B5EF4-FFF2-40B4-BE49-F238E27FC236}">
                    <a16:creationId xmlns:a16="http://schemas.microsoft.com/office/drawing/2014/main" id="{B75929F5-A085-4C51-8C6E-6E76D2B7DF4B}"/>
                  </a:ext>
                </a:extLst>
              </p:cNvPr>
              <p:cNvGrpSpPr/>
              <p:nvPr/>
            </p:nvGrpSpPr>
            <p:grpSpPr>
              <a:xfrm>
                <a:off x="418643" y="3980133"/>
                <a:ext cx="717140" cy="717242"/>
                <a:chOff x="418643" y="3980133"/>
                <a:chExt cx="717140" cy="717242"/>
              </a:xfrm>
            </p:grpSpPr>
            <p:sp>
              <p:nvSpPr>
                <p:cNvPr id="479" name="Freeform 5">
                  <a:extLst>
                    <a:ext uri="{FF2B5EF4-FFF2-40B4-BE49-F238E27FC236}">
                      <a16:creationId xmlns:a16="http://schemas.microsoft.com/office/drawing/2014/main" id="{A4703758-132D-40D8-BC75-876B4F27A079}"/>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80" name="Freeform 6">
                  <a:extLst>
                    <a:ext uri="{FF2B5EF4-FFF2-40B4-BE49-F238E27FC236}">
                      <a16:creationId xmlns:a16="http://schemas.microsoft.com/office/drawing/2014/main" id="{22856682-E9F0-4805-B656-1CF1B5DE306A}"/>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bulb">
                <a:extLst>
                  <a:ext uri="{FF2B5EF4-FFF2-40B4-BE49-F238E27FC236}">
                    <a16:creationId xmlns:a16="http://schemas.microsoft.com/office/drawing/2014/main" id="{64AF90CC-F600-4DB6-9BB3-F6B3BF6BD67B}"/>
                  </a:ext>
                </a:extLst>
              </p:cNvPr>
              <p:cNvPicPr>
                <a:picLocks noChangeAspect="1"/>
              </p:cNvPicPr>
              <p:nvPr/>
            </p:nvPicPr>
            <p:blipFill>
              <a:blip r:embed="rId6"/>
              <a:stretch>
                <a:fillRect/>
              </a:stretch>
            </p:blipFill>
            <p:spPr>
              <a:xfrm>
                <a:off x="641719" y="4150309"/>
                <a:ext cx="270988" cy="376890"/>
              </a:xfrm>
              <a:prstGeom prst="rect">
                <a:avLst/>
              </a:prstGeom>
            </p:spPr>
          </p:pic>
        </p:grpSp>
        <p:grpSp>
          <p:nvGrpSpPr>
            <p:cNvPr id="37" name="Group 36">
              <a:extLst>
                <a:ext uri="{FF2B5EF4-FFF2-40B4-BE49-F238E27FC236}">
                  <a16:creationId xmlns:a16="http://schemas.microsoft.com/office/drawing/2014/main" id="{D3C49F5C-3419-4D9A-96A4-84DED3E809E0}"/>
                </a:ext>
              </a:extLst>
            </p:cNvPr>
            <p:cNvGrpSpPr/>
            <p:nvPr/>
          </p:nvGrpSpPr>
          <p:grpSpPr>
            <a:xfrm>
              <a:off x="418643" y="4826259"/>
              <a:ext cx="717140" cy="717242"/>
              <a:chOff x="418643" y="4826259"/>
              <a:chExt cx="717140" cy="717242"/>
            </a:xfrm>
          </p:grpSpPr>
          <p:grpSp>
            <p:nvGrpSpPr>
              <p:cNvPr id="27" name="Group 26">
                <a:extLst>
                  <a:ext uri="{FF2B5EF4-FFF2-40B4-BE49-F238E27FC236}">
                    <a16:creationId xmlns:a16="http://schemas.microsoft.com/office/drawing/2014/main" id="{83E35324-EF88-48AD-83A4-74F13EF77C23}"/>
                  </a:ext>
                </a:extLst>
              </p:cNvPr>
              <p:cNvGrpSpPr/>
              <p:nvPr/>
            </p:nvGrpSpPr>
            <p:grpSpPr>
              <a:xfrm>
                <a:off x="418643" y="4826259"/>
                <a:ext cx="717140" cy="717242"/>
                <a:chOff x="418643" y="4826259"/>
                <a:chExt cx="717140" cy="717242"/>
              </a:xfrm>
            </p:grpSpPr>
            <p:sp>
              <p:nvSpPr>
                <p:cNvPr id="494" name="Freeform 5">
                  <a:extLst>
                    <a:ext uri="{FF2B5EF4-FFF2-40B4-BE49-F238E27FC236}">
                      <a16:creationId xmlns:a16="http://schemas.microsoft.com/office/drawing/2014/main" id="{FB419442-E6E4-414B-8372-EE8657DFE447}"/>
                    </a:ext>
                  </a:extLst>
                </p:cNvPr>
                <p:cNvSpPr>
                  <a:spLocks/>
                </p:cNvSpPr>
                <p:nvPr/>
              </p:nvSpPr>
              <p:spPr bwMode="auto">
                <a:xfrm>
                  <a:off x="418643"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95" name="Freeform 6">
                  <a:extLst>
                    <a:ext uri="{FF2B5EF4-FFF2-40B4-BE49-F238E27FC236}">
                      <a16:creationId xmlns:a16="http://schemas.microsoft.com/office/drawing/2014/main" id="{39AAC0A3-E2DF-4066-9E38-235B2F7F896B}"/>
                    </a:ext>
                  </a:extLst>
                </p:cNvPr>
                <p:cNvSpPr>
                  <a:spLocks noEditPoints="1"/>
                </p:cNvSpPr>
                <p:nvPr/>
              </p:nvSpPr>
              <p:spPr bwMode="auto">
                <a:xfrm>
                  <a:off x="468541"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coding brackets">
                <a:extLst>
                  <a:ext uri="{FF2B5EF4-FFF2-40B4-BE49-F238E27FC236}">
                    <a16:creationId xmlns:a16="http://schemas.microsoft.com/office/drawing/2014/main" id="{631F695F-C061-4F6A-93D6-30805DA4F847}"/>
                  </a:ext>
                </a:extLst>
              </p:cNvPr>
              <p:cNvPicPr>
                <a:picLocks noChangeAspect="1"/>
              </p:cNvPicPr>
              <p:nvPr/>
            </p:nvPicPr>
            <p:blipFill>
              <a:blip r:embed="rId7"/>
              <a:stretch>
                <a:fillRect/>
              </a:stretch>
            </p:blipFill>
            <p:spPr>
              <a:xfrm>
                <a:off x="589184" y="4996851"/>
                <a:ext cx="376058" cy="376058"/>
              </a:xfrm>
              <a:prstGeom prst="rect">
                <a:avLst/>
              </a:prstGeom>
            </p:spPr>
          </p:pic>
        </p:grpSp>
      </p:grpSp>
      <p:grpSp>
        <p:nvGrpSpPr>
          <p:cNvPr id="22" name="Group 21">
            <a:extLst>
              <a:ext uri="{FF2B5EF4-FFF2-40B4-BE49-F238E27FC236}">
                <a16:creationId xmlns:a16="http://schemas.microsoft.com/office/drawing/2014/main" id="{B6FC34E3-0CBD-40A0-B8FC-7691272D35CA}"/>
              </a:ext>
              <a:ext uri="{C183D7F6-B498-43B3-948B-1728B52AA6E4}">
                <adec:decorative xmlns:adec="http://schemas.microsoft.com/office/drawing/2017/decorative" val="1"/>
              </a:ext>
            </a:extLst>
          </p:cNvPr>
          <p:cNvGrpSpPr/>
          <p:nvPr/>
        </p:nvGrpSpPr>
        <p:grpSpPr>
          <a:xfrm>
            <a:off x="6229350" y="1441758"/>
            <a:ext cx="717140" cy="3255617"/>
            <a:chOff x="6229350" y="1441758"/>
            <a:chExt cx="717140" cy="3255617"/>
          </a:xfrm>
        </p:grpSpPr>
        <p:grpSp>
          <p:nvGrpSpPr>
            <p:cNvPr id="35" name="Group 34">
              <a:extLst>
                <a:ext uri="{FF2B5EF4-FFF2-40B4-BE49-F238E27FC236}">
                  <a16:creationId xmlns:a16="http://schemas.microsoft.com/office/drawing/2014/main" id="{B638961C-A7D9-4A05-9017-BD540877B4C0}"/>
                </a:ext>
              </a:extLst>
            </p:cNvPr>
            <p:cNvGrpSpPr/>
            <p:nvPr/>
          </p:nvGrpSpPr>
          <p:grpSpPr>
            <a:xfrm>
              <a:off x="6229350" y="1441758"/>
              <a:ext cx="717140" cy="717242"/>
              <a:chOff x="6229350" y="1441758"/>
              <a:chExt cx="717140" cy="717242"/>
            </a:xfrm>
          </p:grpSpPr>
          <p:grpSp>
            <p:nvGrpSpPr>
              <p:cNvPr id="34" name="Group 33">
                <a:extLst>
                  <a:ext uri="{FF2B5EF4-FFF2-40B4-BE49-F238E27FC236}">
                    <a16:creationId xmlns:a16="http://schemas.microsoft.com/office/drawing/2014/main" id="{92DA2DB9-AA76-434B-AADC-C00668F5E99C}"/>
                  </a:ext>
                </a:extLst>
              </p:cNvPr>
              <p:cNvGrpSpPr/>
              <p:nvPr/>
            </p:nvGrpSpPr>
            <p:grpSpPr>
              <a:xfrm>
                <a:off x="6229350" y="1441758"/>
                <a:ext cx="717140" cy="717242"/>
                <a:chOff x="6229350" y="1441758"/>
                <a:chExt cx="717140" cy="717242"/>
              </a:xfrm>
            </p:grpSpPr>
            <p:sp>
              <p:nvSpPr>
                <p:cNvPr id="502" name="Freeform 5">
                  <a:extLst>
                    <a:ext uri="{FF2B5EF4-FFF2-40B4-BE49-F238E27FC236}">
                      <a16:creationId xmlns:a16="http://schemas.microsoft.com/office/drawing/2014/main" id="{7C38D06D-3BDF-4FE8-ACEE-5D2D68A5DC07}"/>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03" name="Freeform 6">
                  <a:extLst>
                    <a:ext uri="{FF2B5EF4-FFF2-40B4-BE49-F238E27FC236}">
                      <a16:creationId xmlns:a16="http://schemas.microsoft.com/office/drawing/2014/main" id="{095AD193-40D2-470E-9F4F-4D7268E94FCA}"/>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three concentric arcs">
                <a:extLst>
                  <a:ext uri="{FF2B5EF4-FFF2-40B4-BE49-F238E27FC236}">
                    <a16:creationId xmlns:a16="http://schemas.microsoft.com/office/drawing/2014/main" id="{1189780B-0175-4F91-8B75-98110B53B820}"/>
                  </a:ext>
                </a:extLst>
              </p:cNvPr>
              <p:cNvPicPr>
                <a:picLocks noChangeAspect="1"/>
              </p:cNvPicPr>
              <p:nvPr/>
            </p:nvPicPr>
            <p:blipFill>
              <a:blip r:embed="rId3"/>
              <a:stretch>
                <a:fillRect/>
              </a:stretch>
            </p:blipFill>
            <p:spPr>
              <a:xfrm>
                <a:off x="6399474" y="1611934"/>
                <a:ext cx="376892" cy="376890"/>
              </a:xfrm>
              <a:prstGeom prst="rect">
                <a:avLst/>
              </a:prstGeom>
            </p:spPr>
          </p:pic>
        </p:grpSp>
        <p:grpSp>
          <p:nvGrpSpPr>
            <p:cNvPr id="33" name="Group 32">
              <a:extLst>
                <a:ext uri="{FF2B5EF4-FFF2-40B4-BE49-F238E27FC236}">
                  <a16:creationId xmlns:a16="http://schemas.microsoft.com/office/drawing/2014/main" id="{6308A370-1D97-4A49-9014-CF4723C04ABF}"/>
                </a:ext>
              </a:extLst>
            </p:cNvPr>
            <p:cNvGrpSpPr/>
            <p:nvPr/>
          </p:nvGrpSpPr>
          <p:grpSpPr>
            <a:xfrm>
              <a:off x="6229350" y="2287883"/>
              <a:ext cx="717140" cy="717242"/>
              <a:chOff x="6229350" y="2287883"/>
              <a:chExt cx="717140" cy="717242"/>
            </a:xfrm>
          </p:grpSpPr>
          <p:grpSp>
            <p:nvGrpSpPr>
              <p:cNvPr id="32" name="Group 31">
                <a:extLst>
                  <a:ext uri="{FF2B5EF4-FFF2-40B4-BE49-F238E27FC236}">
                    <a16:creationId xmlns:a16="http://schemas.microsoft.com/office/drawing/2014/main" id="{7F4F032F-246D-443C-8163-A701DA6DE211}"/>
                  </a:ext>
                </a:extLst>
              </p:cNvPr>
              <p:cNvGrpSpPr/>
              <p:nvPr/>
            </p:nvGrpSpPr>
            <p:grpSpPr>
              <a:xfrm>
                <a:off x="6229350" y="2287883"/>
                <a:ext cx="717140" cy="717242"/>
                <a:chOff x="6229350" y="2287883"/>
                <a:chExt cx="717140" cy="717242"/>
              </a:xfrm>
            </p:grpSpPr>
            <p:sp>
              <p:nvSpPr>
                <p:cNvPr id="509" name="Freeform 5">
                  <a:extLst>
                    <a:ext uri="{FF2B5EF4-FFF2-40B4-BE49-F238E27FC236}">
                      <a16:creationId xmlns:a16="http://schemas.microsoft.com/office/drawing/2014/main" id="{4D76B15B-3B47-4151-8F32-4166422F1E3F}"/>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10" name="Freeform 6">
                  <a:extLst>
                    <a:ext uri="{FF2B5EF4-FFF2-40B4-BE49-F238E27FC236}">
                      <a16:creationId xmlns:a16="http://schemas.microsoft.com/office/drawing/2014/main" id="{78E89B24-9DDC-480F-87AB-0549ADA90EA3}"/>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arrow in a circular path with a timer inside the circle">
                <a:extLst>
                  <a:ext uri="{FF2B5EF4-FFF2-40B4-BE49-F238E27FC236}">
                    <a16:creationId xmlns:a16="http://schemas.microsoft.com/office/drawing/2014/main" id="{CDBDB94A-0E09-4593-BA27-B37EB53EE990}"/>
                  </a:ext>
                </a:extLst>
              </p:cNvPr>
              <p:cNvPicPr>
                <a:picLocks noChangeAspect="1"/>
              </p:cNvPicPr>
              <p:nvPr/>
            </p:nvPicPr>
            <p:blipFill>
              <a:blip r:embed="rId4"/>
              <a:stretch>
                <a:fillRect/>
              </a:stretch>
            </p:blipFill>
            <p:spPr>
              <a:xfrm>
                <a:off x="6399474" y="2458059"/>
                <a:ext cx="376892" cy="376890"/>
              </a:xfrm>
              <a:prstGeom prst="rect">
                <a:avLst/>
              </a:prstGeom>
            </p:spPr>
          </p:pic>
        </p:grpSp>
        <p:grpSp>
          <p:nvGrpSpPr>
            <p:cNvPr id="31" name="Group 30">
              <a:extLst>
                <a:ext uri="{FF2B5EF4-FFF2-40B4-BE49-F238E27FC236}">
                  <a16:creationId xmlns:a16="http://schemas.microsoft.com/office/drawing/2014/main" id="{71600EC7-D681-442E-ADA2-26B906AE2BC2}"/>
                </a:ext>
              </a:extLst>
            </p:cNvPr>
            <p:cNvGrpSpPr/>
            <p:nvPr/>
          </p:nvGrpSpPr>
          <p:grpSpPr>
            <a:xfrm>
              <a:off x="6229350" y="3134008"/>
              <a:ext cx="717140" cy="717242"/>
              <a:chOff x="6229350" y="3134008"/>
              <a:chExt cx="717140" cy="717242"/>
            </a:xfrm>
          </p:grpSpPr>
          <p:grpSp>
            <p:nvGrpSpPr>
              <p:cNvPr id="30" name="Group 29">
                <a:extLst>
                  <a:ext uri="{FF2B5EF4-FFF2-40B4-BE49-F238E27FC236}">
                    <a16:creationId xmlns:a16="http://schemas.microsoft.com/office/drawing/2014/main" id="{1943EAE8-9815-4AEA-AE45-47D92C6B3AF6}"/>
                  </a:ext>
                </a:extLst>
              </p:cNvPr>
              <p:cNvGrpSpPr/>
              <p:nvPr/>
            </p:nvGrpSpPr>
            <p:grpSpPr>
              <a:xfrm>
                <a:off x="6229350" y="3134008"/>
                <a:ext cx="717140" cy="717242"/>
                <a:chOff x="6229350" y="3134008"/>
                <a:chExt cx="717140" cy="717242"/>
              </a:xfrm>
            </p:grpSpPr>
            <p:sp>
              <p:nvSpPr>
                <p:cNvPr id="527" name="Freeform 5">
                  <a:extLst>
                    <a:ext uri="{FF2B5EF4-FFF2-40B4-BE49-F238E27FC236}">
                      <a16:creationId xmlns:a16="http://schemas.microsoft.com/office/drawing/2014/main" id="{28A598F9-17B1-4932-84A8-C1415942342C}"/>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28" name="Freeform 6">
                  <a:extLst>
                    <a:ext uri="{FF2B5EF4-FFF2-40B4-BE49-F238E27FC236}">
                      <a16:creationId xmlns:a16="http://schemas.microsoft.com/office/drawing/2014/main" id="{FB10E352-70F0-42D5-8556-93A2EBE199B9}"/>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three dots and outward pointing chevrons on left and right">
                <a:extLst>
                  <a:ext uri="{FF2B5EF4-FFF2-40B4-BE49-F238E27FC236}">
                    <a16:creationId xmlns:a16="http://schemas.microsoft.com/office/drawing/2014/main" id="{E3B0539E-609C-48CE-B0F2-F92786CA4BE7}"/>
                  </a:ext>
                </a:extLst>
              </p:cNvPr>
              <p:cNvPicPr>
                <a:picLocks noChangeAspect="1"/>
              </p:cNvPicPr>
              <p:nvPr/>
            </p:nvPicPr>
            <p:blipFill>
              <a:blip r:embed="rId5"/>
              <a:stretch>
                <a:fillRect/>
              </a:stretch>
            </p:blipFill>
            <p:spPr>
              <a:xfrm>
                <a:off x="6337313" y="3382030"/>
                <a:ext cx="501214" cy="221198"/>
              </a:xfrm>
              <a:prstGeom prst="rect">
                <a:avLst/>
              </a:prstGeom>
            </p:spPr>
          </p:pic>
        </p:grpSp>
        <p:grpSp>
          <p:nvGrpSpPr>
            <p:cNvPr id="42" name="Group 41">
              <a:extLst>
                <a:ext uri="{FF2B5EF4-FFF2-40B4-BE49-F238E27FC236}">
                  <a16:creationId xmlns:a16="http://schemas.microsoft.com/office/drawing/2014/main" id="{01091F28-2D11-4429-94AB-64CAA9A9C021}"/>
                </a:ext>
              </a:extLst>
            </p:cNvPr>
            <p:cNvGrpSpPr/>
            <p:nvPr/>
          </p:nvGrpSpPr>
          <p:grpSpPr>
            <a:xfrm>
              <a:off x="6229350" y="3980133"/>
              <a:ext cx="717140" cy="717242"/>
              <a:chOff x="6229350" y="3980133"/>
              <a:chExt cx="717140" cy="717242"/>
            </a:xfrm>
          </p:grpSpPr>
          <p:grpSp>
            <p:nvGrpSpPr>
              <p:cNvPr id="29" name="Group 28">
                <a:extLst>
                  <a:ext uri="{FF2B5EF4-FFF2-40B4-BE49-F238E27FC236}">
                    <a16:creationId xmlns:a16="http://schemas.microsoft.com/office/drawing/2014/main" id="{35BAB889-B931-4956-992D-E9E68985EC18}"/>
                  </a:ext>
                </a:extLst>
              </p:cNvPr>
              <p:cNvGrpSpPr/>
              <p:nvPr/>
            </p:nvGrpSpPr>
            <p:grpSpPr>
              <a:xfrm>
                <a:off x="6229350" y="3980133"/>
                <a:ext cx="717140" cy="717242"/>
                <a:chOff x="6229350" y="3980133"/>
                <a:chExt cx="717140" cy="717242"/>
              </a:xfrm>
            </p:grpSpPr>
            <p:sp>
              <p:nvSpPr>
                <p:cNvPr id="544" name="Freeform 5">
                  <a:extLst>
                    <a:ext uri="{FF2B5EF4-FFF2-40B4-BE49-F238E27FC236}">
                      <a16:creationId xmlns:a16="http://schemas.microsoft.com/office/drawing/2014/main" id="{735B3FEE-05B7-4A88-A2AD-D24062CA3094}"/>
                    </a:ext>
                  </a:extLst>
                </p:cNvPr>
                <p:cNvSpPr>
                  <a:spLocks/>
                </p:cNvSpPr>
                <p:nvPr/>
              </p:nvSpPr>
              <p:spPr bwMode="auto">
                <a:xfrm>
                  <a:off x="6229350"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45" name="Freeform 6">
                  <a:extLst>
                    <a:ext uri="{FF2B5EF4-FFF2-40B4-BE49-F238E27FC236}">
                      <a16:creationId xmlns:a16="http://schemas.microsoft.com/office/drawing/2014/main" id="{DFA6593E-7641-4C25-9D71-733CB9C245B5}"/>
                    </a:ext>
                  </a:extLst>
                </p:cNvPr>
                <p:cNvSpPr>
                  <a:spLocks noEditPoints="1"/>
                </p:cNvSpPr>
                <p:nvPr/>
              </p:nvSpPr>
              <p:spPr bwMode="auto">
                <a:xfrm>
                  <a:off x="6279248"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1" name="Picture 20" descr="Icon of a bulb">
                <a:extLst>
                  <a:ext uri="{FF2B5EF4-FFF2-40B4-BE49-F238E27FC236}">
                    <a16:creationId xmlns:a16="http://schemas.microsoft.com/office/drawing/2014/main" id="{A8226D75-0AD7-4E58-89AE-02EAF1566AF9}"/>
                  </a:ext>
                </a:extLst>
              </p:cNvPr>
              <p:cNvPicPr>
                <a:picLocks noChangeAspect="1"/>
              </p:cNvPicPr>
              <p:nvPr/>
            </p:nvPicPr>
            <p:blipFill>
              <a:blip r:embed="rId6"/>
              <a:stretch>
                <a:fillRect/>
              </a:stretch>
            </p:blipFill>
            <p:spPr>
              <a:xfrm>
                <a:off x="6452426" y="4150309"/>
                <a:ext cx="270988" cy="376890"/>
              </a:xfrm>
              <a:prstGeom prst="rect">
                <a:avLst/>
              </a:prstGeom>
            </p:spPr>
          </p:pic>
        </p:grpSp>
      </p:grpSp>
    </p:spTree>
    <p:extLst>
      <p:ext uri="{BB962C8B-B14F-4D97-AF65-F5344CB8AC3E}">
        <p14:creationId xmlns:p14="http://schemas.microsoft.com/office/powerpoint/2010/main" val="102512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a:t>Lesson 01: </a:t>
            </a:r>
            <a:r>
              <a:rPr lang="en-US" sz="3600"/>
              <a:t>Explore Azure ExpressRoute</a:t>
            </a:r>
            <a:endParaRPr lang="en-US"/>
          </a:p>
        </p:txBody>
      </p:sp>
      <p:grpSp>
        <p:nvGrpSpPr>
          <p:cNvPr id="5" name="Group 4">
            <a:extLst>
              <a:ext uri="{FF2B5EF4-FFF2-40B4-BE49-F238E27FC236}">
                <a16:creationId xmlns:a16="http://schemas.microsoft.com/office/drawing/2014/main" id="{A7625E50-3146-4B40-B85B-9C183CDCE333}"/>
              </a:ext>
              <a:ext uri="{C183D7F6-B498-43B3-948B-1728B52AA6E4}">
                <adec:decorative xmlns:adec="http://schemas.microsoft.com/office/drawing/2017/decorative" val="1"/>
              </a:ext>
            </a:extLst>
          </p:cNvPr>
          <p:cNvGrpSpPr/>
          <p:nvPr/>
        </p:nvGrpSpPr>
        <p:grpSpPr>
          <a:xfrm>
            <a:off x="10387590" y="3070379"/>
            <a:ext cx="717140" cy="717242"/>
            <a:chOff x="418643" y="1441758"/>
            <a:chExt cx="717140" cy="717242"/>
          </a:xfrm>
        </p:grpSpPr>
        <p:grpSp>
          <p:nvGrpSpPr>
            <p:cNvPr id="6" name="Group 5">
              <a:extLst>
                <a:ext uri="{FF2B5EF4-FFF2-40B4-BE49-F238E27FC236}">
                  <a16:creationId xmlns:a16="http://schemas.microsoft.com/office/drawing/2014/main" id="{08D3A3E7-DE1A-40C8-AB9D-439E1CBB1C81}"/>
                </a:ext>
              </a:extLst>
            </p:cNvPr>
            <p:cNvGrpSpPr/>
            <p:nvPr/>
          </p:nvGrpSpPr>
          <p:grpSpPr>
            <a:xfrm>
              <a:off x="418643" y="1441758"/>
              <a:ext cx="717140" cy="717242"/>
              <a:chOff x="418643" y="1441758"/>
              <a:chExt cx="717140" cy="717242"/>
            </a:xfrm>
          </p:grpSpPr>
          <p:sp>
            <p:nvSpPr>
              <p:cNvPr id="8" name="Freeform 5">
                <a:extLst>
                  <a:ext uri="{FF2B5EF4-FFF2-40B4-BE49-F238E27FC236}">
                    <a16:creationId xmlns:a16="http://schemas.microsoft.com/office/drawing/2014/main" id="{667A34ED-83E1-428F-9846-9D1F88493DEF}"/>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5D00CC97-76CF-462B-8078-3AD8DE60C09C}"/>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0B5F1877-BD89-468E-A41A-61801F810F9B}"/>
                </a:ext>
              </a:extLst>
            </p:cNvPr>
            <p:cNvPicPr>
              <a:picLocks noChangeAspect="1"/>
            </p:cNvPicPr>
            <p:nvPr/>
          </p:nvPicPr>
          <p:blipFill>
            <a:blip r:embed="rId2"/>
            <a:stretch>
              <a:fillRect/>
            </a:stretch>
          </p:blipFill>
          <p:spPr>
            <a:xfrm>
              <a:off x="588767" y="1611934"/>
              <a:ext cx="376892" cy="37689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31715" y="3088902"/>
            <a:ext cx="2055904" cy="680196"/>
          </a:xfrm>
        </p:spPr>
        <p:txBody>
          <a:bodyPr/>
          <a:lstStyle/>
          <a:p>
            <a:r>
              <a:rPr lang="en-US" sz="2750" dirty="0"/>
              <a:t>Explore Azure ExpressRoute Overview</a:t>
            </a:r>
          </a:p>
        </p:txBody>
      </p:sp>
      <p:sp>
        <p:nvSpPr>
          <p:cNvPr id="6" name="Text Placeholder 5"/>
          <p:cNvSpPr>
            <a:spLocks noGrp="1"/>
          </p:cNvSpPr>
          <p:nvPr>
            <p:ph type="body" sz="quarter" idx="11"/>
          </p:nvPr>
        </p:nvSpPr>
        <p:spPr>
          <a:xfrm>
            <a:off x="3619500" y="1164089"/>
            <a:ext cx="3330574" cy="675889"/>
          </a:xfrm>
        </p:spPr>
        <p:txBody>
          <a:bodyPr/>
          <a:lstStyle/>
          <a:p>
            <a:pPr lvl="1"/>
            <a:r>
              <a:rPr lang="en-US" dirty="0"/>
              <a:t>ExpressRoute Capabilities</a:t>
            </a:r>
          </a:p>
        </p:txBody>
      </p:sp>
      <p:sp>
        <p:nvSpPr>
          <p:cNvPr id="2" name="Text Placeholder 1"/>
          <p:cNvSpPr>
            <a:spLocks noGrp="1"/>
          </p:cNvSpPr>
          <p:nvPr>
            <p:ph type="body" sz="quarter" idx="15"/>
          </p:nvPr>
        </p:nvSpPr>
        <p:spPr>
          <a:xfrm>
            <a:off x="3619500" y="2007940"/>
            <a:ext cx="3330574" cy="675889"/>
          </a:xfrm>
        </p:spPr>
        <p:txBody>
          <a:bodyPr/>
          <a:lstStyle/>
          <a:p>
            <a:pPr lvl="1"/>
            <a:r>
              <a:rPr lang="en-US" dirty="0"/>
              <a:t>Understand use cases for Azure ExpressRoute</a:t>
            </a:r>
          </a:p>
        </p:txBody>
      </p:sp>
      <p:sp>
        <p:nvSpPr>
          <p:cNvPr id="3" name="Text Placeholder 2"/>
          <p:cNvSpPr>
            <a:spLocks noGrp="1"/>
          </p:cNvSpPr>
          <p:nvPr>
            <p:ph type="body" sz="quarter" idx="17"/>
          </p:nvPr>
        </p:nvSpPr>
        <p:spPr>
          <a:xfrm>
            <a:off x="3619500" y="2851791"/>
            <a:ext cx="3330574" cy="675889"/>
          </a:xfrm>
        </p:spPr>
        <p:txBody>
          <a:bodyPr/>
          <a:lstStyle/>
          <a:p>
            <a:pPr lvl="1"/>
            <a:r>
              <a:rPr lang="en-US" dirty="0"/>
              <a:t>ExpressRoute connectivity models </a:t>
            </a:r>
          </a:p>
        </p:txBody>
      </p:sp>
      <p:sp>
        <p:nvSpPr>
          <p:cNvPr id="4" name="Text Placeholder 3"/>
          <p:cNvSpPr>
            <a:spLocks noGrp="1"/>
          </p:cNvSpPr>
          <p:nvPr>
            <p:ph type="body" sz="quarter" idx="19"/>
          </p:nvPr>
        </p:nvSpPr>
        <p:spPr>
          <a:xfrm>
            <a:off x="3619500" y="3695642"/>
            <a:ext cx="3330574" cy="675889"/>
          </a:xfrm>
        </p:spPr>
        <p:txBody>
          <a:bodyPr/>
          <a:lstStyle/>
          <a:p>
            <a:pPr lvl="1"/>
            <a:r>
              <a:rPr lang="en-US" dirty="0"/>
              <a:t>Design considerations for ExpressRoute deployments </a:t>
            </a:r>
          </a:p>
        </p:txBody>
      </p:sp>
      <p:sp>
        <p:nvSpPr>
          <p:cNvPr id="5" name="Text Placeholder 4"/>
          <p:cNvSpPr>
            <a:spLocks noGrp="1"/>
          </p:cNvSpPr>
          <p:nvPr>
            <p:ph type="body" sz="quarter" idx="21"/>
          </p:nvPr>
        </p:nvSpPr>
        <p:spPr>
          <a:xfrm>
            <a:off x="3619500" y="4539493"/>
            <a:ext cx="3330574" cy="675889"/>
          </a:xfrm>
        </p:spPr>
        <p:txBody>
          <a:bodyPr/>
          <a:lstStyle/>
          <a:p>
            <a:pPr lvl="1"/>
            <a:r>
              <a:rPr lang="en-US" dirty="0"/>
              <a:t>Bidirectional Forwarding Detection (BFD)</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a:xfrm>
            <a:off x="8331200" y="1164089"/>
            <a:ext cx="3442157" cy="675889"/>
          </a:xfrm>
        </p:spPr>
        <p:txBody>
          <a:bodyPr/>
          <a:lstStyle/>
          <a:p>
            <a:pPr lvl="1"/>
            <a:r>
              <a:rPr lang="en-US" dirty="0"/>
              <a:t>Configure encryption over ExpressRoute</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a:xfrm>
            <a:off x="8331200" y="2007940"/>
            <a:ext cx="3442157" cy="675889"/>
          </a:xfrm>
        </p:spPr>
        <p:txBody>
          <a:bodyPr/>
          <a:lstStyle/>
          <a:p>
            <a:pPr lvl="1"/>
            <a:r>
              <a:rPr lang="en-US" dirty="0"/>
              <a:t>Create a zone redundant VNET gateway in Azure Availability zones</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a:xfrm>
            <a:off x="8331200" y="2851791"/>
            <a:ext cx="3442157" cy="675889"/>
          </a:xfrm>
        </p:spPr>
        <p:txBody>
          <a:bodyPr/>
          <a:lstStyle/>
          <a:p>
            <a:pPr lvl="1"/>
            <a:r>
              <a:rPr lang="en-US" dirty="0"/>
              <a:t>Review </a:t>
            </a:r>
          </a:p>
        </p:txBody>
      </p:sp>
      <p:grpSp>
        <p:nvGrpSpPr>
          <p:cNvPr id="7" name="Group 6">
            <a:extLst>
              <a:ext uri="{FF2B5EF4-FFF2-40B4-BE49-F238E27FC236}">
                <a16:creationId xmlns:a16="http://schemas.microsoft.com/office/drawing/2014/main" id="{46FB6C30-5328-460F-8585-F983B68E61B9}"/>
              </a:ext>
              <a:ext uri="{C183D7F6-B498-43B3-948B-1728B52AA6E4}">
                <adec:decorative xmlns:adec="http://schemas.microsoft.com/office/drawing/2017/decorative" val="1"/>
              </a:ext>
            </a:extLst>
          </p:cNvPr>
          <p:cNvGrpSpPr/>
          <p:nvPr/>
        </p:nvGrpSpPr>
        <p:grpSpPr>
          <a:xfrm>
            <a:off x="2744702" y="1185760"/>
            <a:ext cx="648329" cy="4017477"/>
            <a:chOff x="2744702" y="1185760"/>
            <a:chExt cx="648329" cy="4017477"/>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1185760"/>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2028024"/>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2870288"/>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712552"/>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31" name="Group 30">
              <a:extLst>
                <a:ext uri="{FF2B5EF4-FFF2-40B4-BE49-F238E27FC236}">
                  <a16:creationId xmlns:a16="http://schemas.microsoft.com/office/drawing/2014/main" id="{5FCBCBA0-2D4A-4E80-9B7F-8C503DC68F17}"/>
                </a:ext>
              </a:extLst>
            </p:cNvPr>
            <p:cNvGrpSpPr/>
            <p:nvPr/>
          </p:nvGrpSpPr>
          <p:grpSpPr>
            <a:xfrm>
              <a:off x="2744702" y="4554816"/>
              <a:ext cx="648329" cy="648421"/>
              <a:chOff x="2744702" y="3849138"/>
              <a:chExt cx="648329" cy="648421"/>
            </a:xfrm>
          </p:grpSpPr>
          <p:grpSp>
            <p:nvGrpSpPr>
              <p:cNvPr id="30" name="Group 29">
                <a:extLst>
                  <a:ext uri="{FF2B5EF4-FFF2-40B4-BE49-F238E27FC236}">
                    <a16:creationId xmlns:a16="http://schemas.microsoft.com/office/drawing/2014/main" id="{8937348B-CC1B-4A60-A129-B846017B9F46}"/>
                  </a:ext>
                </a:extLst>
              </p:cNvPr>
              <p:cNvGrpSpPr/>
              <p:nvPr/>
            </p:nvGrpSpPr>
            <p:grpSpPr>
              <a:xfrm>
                <a:off x="2744702" y="3849138"/>
                <a:ext cx="648329" cy="648421"/>
                <a:chOff x="2744702" y="3849138"/>
                <a:chExt cx="648329" cy="648421"/>
              </a:xfrm>
            </p:grpSpPr>
            <p:sp>
              <p:nvSpPr>
                <p:cNvPr id="172" name="Freeform 5">
                  <a:extLst>
                    <a:ext uri="{FF2B5EF4-FFF2-40B4-BE49-F238E27FC236}">
                      <a16:creationId xmlns:a16="http://schemas.microsoft.com/office/drawing/2014/main" id="{E3809A20-017B-4B88-86C5-C5074965D327}"/>
                    </a:ext>
                  </a:extLst>
                </p:cNvPr>
                <p:cNvSpPr>
                  <a:spLocks/>
                </p:cNvSpPr>
                <p:nvPr/>
              </p:nvSpPr>
              <p:spPr bwMode="auto">
                <a:xfrm>
                  <a:off x="2744702"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3778FB8E-D7E5-4F26-9C8E-CFB30C3C9617}"/>
                    </a:ext>
                  </a:extLst>
                </p:cNvPr>
                <p:cNvSpPr>
                  <a:spLocks noEditPoints="1"/>
                </p:cNvSpPr>
                <p:nvPr/>
              </p:nvSpPr>
              <p:spPr bwMode="auto">
                <a:xfrm>
                  <a:off x="2789287"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E7064263-D8DA-43D1-8BA3-A8EE0085D643}"/>
                  </a:ext>
                </a:extLst>
              </p:cNvPr>
              <p:cNvPicPr>
                <a:picLocks noChangeAspect="1"/>
              </p:cNvPicPr>
              <p:nvPr/>
            </p:nvPicPr>
            <p:blipFill>
              <a:blip r:embed="rId7"/>
              <a:stretch>
                <a:fillRect/>
              </a:stretch>
            </p:blipFill>
            <p:spPr>
              <a:xfrm>
                <a:off x="2900000" y="4046628"/>
                <a:ext cx="337732" cy="253437"/>
              </a:xfrm>
              <a:prstGeom prst="rect">
                <a:avLst/>
              </a:prstGeom>
            </p:spPr>
          </p:pic>
        </p:grpSp>
      </p:grpSp>
      <p:grpSp>
        <p:nvGrpSpPr>
          <p:cNvPr id="34" name="Group 33">
            <a:extLst>
              <a:ext uri="{FF2B5EF4-FFF2-40B4-BE49-F238E27FC236}">
                <a16:creationId xmlns:a16="http://schemas.microsoft.com/office/drawing/2014/main" id="{E9A1D5A1-52B2-B4A2-B3F6-8DC43A4B7C4E}"/>
              </a:ext>
              <a:ext uri="{C183D7F6-B498-43B3-948B-1728B52AA6E4}">
                <adec:decorative xmlns:adec="http://schemas.microsoft.com/office/drawing/2017/decorative" val="1"/>
              </a:ext>
            </a:extLst>
          </p:cNvPr>
          <p:cNvGrpSpPr/>
          <p:nvPr/>
        </p:nvGrpSpPr>
        <p:grpSpPr>
          <a:xfrm>
            <a:off x="7465384" y="1185760"/>
            <a:ext cx="648329" cy="2332949"/>
            <a:chOff x="7465384" y="1185760"/>
            <a:chExt cx="648329" cy="2332949"/>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1185760"/>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2028024"/>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2870288"/>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spTree>
    <p:extLst>
      <p:ext uri="{BB962C8B-B14F-4D97-AF65-F5344CB8AC3E}">
        <p14:creationId xmlns:p14="http://schemas.microsoft.com/office/powerpoint/2010/main" val="19385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262C-1C72-4951-B194-B5503A267E60}"/>
              </a:ext>
            </a:extLst>
          </p:cNvPr>
          <p:cNvSpPr>
            <a:spLocks noGrp="1"/>
          </p:cNvSpPr>
          <p:nvPr>
            <p:ph type="title"/>
          </p:nvPr>
        </p:nvSpPr>
        <p:spPr/>
        <p:txBody>
          <a:bodyPr/>
          <a:lstStyle/>
          <a:p>
            <a:r>
              <a:rPr lang="en-US"/>
              <a:t>ExpressRoute Capabilities</a:t>
            </a:r>
          </a:p>
        </p:txBody>
      </p:sp>
      <p:sp>
        <p:nvSpPr>
          <p:cNvPr id="5" name="Rectangle 4">
            <a:extLst>
              <a:ext uri="{FF2B5EF4-FFF2-40B4-BE49-F238E27FC236}">
                <a16:creationId xmlns:a16="http://schemas.microsoft.com/office/drawing/2014/main" id="{1A88F035-B520-4BA6-9435-407E2FA5BD16}"/>
              </a:ext>
              <a:ext uri="{C183D7F6-B498-43B3-948B-1728B52AA6E4}">
                <adec:decorative xmlns:adec="http://schemas.microsoft.com/office/drawing/2017/decorative" val="0"/>
              </a:ext>
            </a:extLst>
          </p:cNvPr>
          <p:cNvSpPr/>
          <p:nvPr/>
        </p:nvSpPr>
        <p:spPr bwMode="auto">
          <a:xfrm>
            <a:off x="418642" y="1169264"/>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Layer 3 connectivity with redundancy</a:t>
            </a:r>
          </a:p>
        </p:txBody>
      </p:sp>
      <p:sp>
        <p:nvSpPr>
          <p:cNvPr id="6" name="Rectangle 5">
            <a:extLst>
              <a:ext uri="{FF2B5EF4-FFF2-40B4-BE49-F238E27FC236}">
                <a16:creationId xmlns:a16="http://schemas.microsoft.com/office/drawing/2014/main" id="{64797FA9-3D83-4A5B-8FB7-7B637C97CF86}"/>
              </a:ext>
              <a:ext uri="{C183D7F6-B498-43B3-948B-1728B52AA6E4}">
                <adec:decorative xmlns:adec="http://schemas.microsoft.com/office/drawing/2017/decorative" val="0"/>
              </a:ext>
            </a:extLst>
          </p:cNvPr>
          <p:cNvSpPr/>
          <p:nvPr/>
        </p:nvSpPr>
        <p:spPr bwMode="auto">
          <a:xfrm>
            <a:off x="418642" y="1951021"/>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Connectivity to all regions within a geography</a:t>
            </a:r>
          </a:p>
        </p:txBody>
      </p:sp>
      <p:sp>
        <p:nvSpPr>
          <p:cNvPr id="7" name="Rectangle 6">
            <a:extLst>
              <a:ext uri="{FF2B5EF4-FFF2-40B4-BE49-F238E27FC236}">
                <a16:creationId xmlns:a16="http://schemas.microsoft.com/office/drawing/2014/main" id="{B5CDDA5E-0561-4864-8F5D-C3CE95EB354F}"/>
              </a:ext>
              <a:ext uri="{C183D7F6-B498-43B3-948B-1728B52AA6E4}">
                <adec:decorative xmlns:adec="http://schemas.microsoft.com/office/drawing/2017/decorative" val="0"/>
              </a:ext>
            </a:extLst>
          </p:cNvPr>
          <p:cNvSpPr/>
          <p:nvPr/>
        </p:nvSpPr>
        <p:spPr bwMode="auto">
          <a:xfrm>
            <a:off x="418642" y="2732778"/>
            <a:ext cx="4835404" cy="98464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Global connectivity with ExpressRoute premium add-on</a:t>
            </a:r>
          </a:p>
        </p:txBody>
      </p:sp>
      <p:sp>
        <p:nvSpPr>
          <p:cNvPr id="8" name="Rectangle 7">
            <a:extLst>
              <a:ext uri="{FF2B5EF4-FFF2-40B4-BE49-F238E27FC236}">
                <a16:creationId xmlns:a16="http://schemas.microsoft.com/office/drawing/2014/main" id="{56C64E31-DB5C-4B45-9FE3-ACBF3044450F}"/>
              </a:ext>
              <a:ext uri="{C183D7F6-B498-43B3-948B-1728B52AA6E4}">
                <adec:decorative xmlns:adec="http://schemas.microsoft.com/office/drawing/2017/decorative" val="0"/>
              </a:ext>
            </a:extLst>
          </p:cNvPr>
          <p:cNvSpPr/>
          <p:nvPr/>
        </p:nvSpPr>
        <p:spPr bwMode="auto">
          <a:xfrm>
            <a:off x="418642" y="3868928"/>
            <a:ext cx="4835404" cy="86040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Across on-premises connectivity with ExpressRoute Global Reach</a:t>
            </a:r>
          </a:p>
        </p:txBody>
      </p:sp>
      <p:sp>
        <p:nvSpPr>
          <p:cNvPr id="9" name="Rectangle 8">
            <a:extLst>
              <a:ext uri="{FF2B5EF4-FFF2-40B4-BE49-F238E27FC236}">
                <a16:creationId xmlns:a16="http://schemas.microsoft.com/office/drawing/2014/main" id="{0740A132-97DC-4A0F-9CC1-E7AAC9E1FF6E}"/>
              </a:ext>
              <a:ext uri="{C183D7F6-B498-43B3-948B-1728B52AA6E4}">
                <adec:decorative xmlns:adec="http://schemas.microsoft.com/office/drawing/2017/decorative" val="0"/>
              </a:ext>
            </a:extLst>
          </p:cNvPr>
          <p:cNvSpPr/>
          <p:nvPr/>
        </p:nvSpPr>
        <p:spPr bwMode="auto">
          <a:xfrm>
            <a:off x="418642" y="4868744"/>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Bandwidth options – 50 Mbps to 100 Gbps</a:t>
            </a:r>
          </a:p>
        </p:txBody>
      </p:sp>
      <p:sp>
        <p:nvSpPr>
          <p:cNvPr id="11" name="Rectangle 10">
            <a:extLst>
              <a:ext uri="{FF2B5EF4-FFF2-40B4-BE49-F238E27FC236}">
                <a16:creationId xmlns:a16="http://schemas.microsoft.com/office/drawing/2014/main" id="{BC73936A-9C06-4461-8A20-E069C7EE5E0D}"/>
              </a:ext>
              <a:ext uri="{C183D7F6-B498-43B3-948B-1728B52AA6E4}">
                <adec:decorative xmlns:adec="http://schemas.microsoft.com/office/drawing/2017/decorative" val="0"/>
              </a:ext>
            </a:extLst>
          </p:cNvPr>
          <p:cNvSpPr/>
          <p:nvPr/>
        </p:nvSpPr>
        <p:spPr bwMode="auto">
          <a:xfrm>
            <a:off x="418642" y="5606926"/>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dirty="0">
                <a:solidFill>
                  <a:schemeClr val="tx1"/>
                </a:solidFill>
              </a:rPr>
              <a:t>Billing models – Unlimited, metered</a:t>
            </a:r>
          </a:p>
        </p:txBody>
      </p:sp>
      <p:sp>
        <p:nvSpPr>
          <p:cNvPr id="14" name="Rectangle 13">
            <a:extLst>
              <a:ext uri="{FF2B5EF4-FFF2-40B4-BE49-F238E27FC236}">
                <a16:creationId xmlns:a16="http://schemas.microsoft.com/office/drawing/2014/main" id="{DA623AE1-ED3E-4A1F-943F-17F10AB1A575}"/>
              </a:ext>
              <a:ext uri="{C183D7F6-B498-43B3-948B-1728B52AA6E4}">
                <adec:decorative xmlns:adec="http://schemas.microsoft.com/office/drawing/2017/decorative" val="1"/>
              </a:ext>
            </a:extLst>
          </p:cNvPr>
          <p:cNvSpPr/>
          <p:nvPr/>
        </p:nvSpPr>
        <p:spPr bwMode="auto">
          <a:xfrm>
            <a:off x="5406439" y="1169264"/>
            <a:ext cx="6366921" cy="506791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Global map with partner locations">
            <a:extLst>
              <a:ext uri="{FF2B5EF4-FFF2-40B4-BE49-F238E27FC236}">
                <a16:creationId xmlns:a16="http://schemas.microsoft.com/office/drawing/2014/main" id="{59FDDE26-3A69-421F-8106-2D051AAD566A}"/>
              </a:ext>
            </a:extLst>
          </p:cNvPr>
          <p:cNvPicPr>
            <a:picLocks noChangeAspect="1"/>
          </p:cNvPicPr>
          <p:nvPr/>
        </p:nvPicPr>
        <p:blipFill>
          <a:blip r:embed="rId3"/>
          <a:stretch>
            <a:fillRect/>
          </a:stretch>
        </p:blipFill>
        <p:spPr>
          <a:xfrm>
            <a:off x="5583737" y="2300003"/>
            <a:ext cx="6012322" cy="2834831"/>
          </a:xfrm>
          <a:prstGeom prst="rect">
            <a:avLst/>
          </a:prstGeom>
        </p:spPr>
      </p:pic>
      <p:sp>
        <p:nvSpPr>
          <p:cNvPr id="3" name="Rectangle 2">
            <a:extLst>
              <a:ext uri="{FF2B5EF4-FFF2-40B4-BE49-F238E27FC236}">
                <a16:creationId xmlns:a16="http://schemas.microsoft.com/office/drawing/2014/main" id="{BB704E0E-A744-4EAC-803F-4E59AD6CBCFB}"/>
              </a:ext>
              <a:ext uri="{C183D7F6-B498-43B3-948B-1728B52AA6E4}">
                <adec:decorative xmlns:adec="http://schemas.microsoft.com/office/drawing/2017/decorative" val="1"/>
              </a:ext>
            </a:extLst>
          </p:cNvPr>
          <p:cNvSpPr/>
          <p:nvPr/>
        </p:nvSpPr>
        <p:spPr bwMode="auto">
          <a:xfrm>
            <a:off x="5406436" y="1169262"/>
            <a:ext cx="6366922" cy="5067910"/>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5952487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FDDBF-F917-4A4A-8056-E5E81CBFFBCC}"/>
              </a:ext>
            </a:extLst>
          </p:cNvPr>
          <p:cNvSpPr>
            <a:spLocks noGrp="1"/>
          </p:cNvSpPr>
          <p:nvPr>
            <p:ph type="title"/>
          </p:nvPr>
        </p:nvSpPr>
        <p:spPr>
          <a:xfrm>
            <a:off x="455995" y="623224"/>
            <a:ext cx="11306469" cy="397545"/>
          </a:xfrm>
        </p:spPr>
        <p:txBody>
          <a:bodyPr/>
          <a:lstStyle/>
          <a:p>
            <a:r>
              <a:rPr lang="en-US" sz="2800">
                <a:solidFill>
                  <a:schemeClr val="tx1"/>
                </a:solidFill>
              </a:rPr>
              <a:t>Understand use cases for Azure ExpressRoute</a:t>
            </a:r>
            <a:endParaRPr lang="en-US"/>
          </a:p>
        </p:txBody>
      </p:sp>
      <p:sp>
        <p:nvSpPr>
          <p:cNvPr id="4" name="Rectangle 3">
            <a:extLst>
              <a:ext uri="{FF2B5EF4-FFF2-40B4-BE49-F238E27FC236}">
                <a16:creationId xmlns:a16="http://schemas.microsoft.com/office/drawing/2014/main" id="{8FC44806-E2BA-4C58-9220-541F45B11D30}"/>
              </a:ext>
              <a:ext uri="{C183D7F6-B498-43B3-948B-1728B52AA6E4}">
                <adec:decorative xmlns:adec="http://schemas.microsoft.com/office/drawing/2017/decorative" val="0"/>
              </a:ext>
            </a:extLst>
          </p:cNvPr>
          <p:cNvSpPr/>
          <p:nvPr/>
        </p:nvSpPr>
        <p:spPr bwMode="auto">
          <a:xfrm>
            <a:off x="418642" y="1169264"/>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Faster and Reliable connection to Azure services</a:t>
            </a:r>
          </a:p>
        </p:txBody>
      </p:sp>
      <p:sp>
        <p:nvSpPr>
          <p:cNvPr id="6" name="Rectangle 5">
            <a:extLst>
              <a:ext uri="{FF2B5EF4-FFF2-40B4-BE49-F238E27FC236}">
                <a16:creationId xmlns:a16="http://schemas.microsoft.com/office/drawing/2014/main" id="{9BCB5681-A301-4273-B1D5-31DF98EF99D1}"/>
              </a:ext>
              <a:ext uri="{C183D7F6-B498-43B3-948B-1728B52AA6E4}">
                <adec:decorative xmlns:adec="http://schemas.microsoft.com/office/drawing/2017/decorative" val="0"/>
              </a:ext>
            </a:extLst>
          </p:cNvPr>
          <p:cNvSpPr/>
          <p:nvPr/>
        </p:nvSpPr>
        <p:spPr bwMode="auto">
          <a:xfrm>
            <a:off x="418642" y="1951021"/>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Storage, backup, and Recovery </a:t>
            </a:r>
          </a:p>
        </p:txBody>
      </p:sp>
      <p:sp>
        <p:nvSpPr>
          <p:cNvPr id="8" name="Rectangle 7">
            <a:extLst>
              <a:ext uri="{FF2B5EF4-FFF2-40B4-BE49-F238E27FC236}">
                <a16:creationId xmlns:a16="http://schemas.microsoft.com/office/drawing/2014/main" id="{EF863D1B-244B-41B2-B025-06C80C964704}"/>
              </a:ext>
              <a:ext uri="{C183D7F6-B498-43B3-948B-1728B52AA6E4}">
                <adec:decorative xmlns:adec="http://schemas.microsoft.com/office/drawing/2017/decorative" val="0"/>
              </a:ext>
            </a:extLst>
          </p:cNvPr>
          <p:cNvSpPr/>
          <p:nvPr/>
        </p:nvSpPr>
        <p:spPr bwMode="auto">
          <a:xfrm>
            <a:off x="418642" y="2732778"/>
            <a:ext cx="4835404" cy="98464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Extends Data center capabilities </a:t>
            </a:r>
          </a:p>
        </p:txBody>
      </p:sp>
      <p:sp>
        <p:nvSpPr>
          <p:cNvPr id="10" name="Rectangle 9">
            <a:extLst>
              <a:ext uri="{FF2B5EF4-FFF2-40B4-BE49-F238E27FC236}">
                <a16:creationId xmlns:a16="http://schemas.microsoft.com/office/drawing/2014/main" id="{D54456F2-580E-494D-91F6-657F0A4E121D}"/>
              </a:ext>
              <a:ext uri="{C183D7F6-B498-43B3-948B-1728B52AA6E4}">
                <adec:decorative xmlns:adec="http://schemas.microsoft.com/office/drawing/2017/decorative" val="0"/>
              </a:ext>
            </a:extLst>
          </p:cNvPr>
          <p:cNvSpPr/>
          <p:nvPr/>
        </p:nvSpPr>
        <p:spPr bwMode="auto">
          <a:xfrm>
            <a:off x="418642" y="3868928"/>
            <a:ext cx="4835404" cy="86040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Predictable, reliable, and high-throughput connections</a:t>
            </a:r>
          </a:p>
        </p:txBody>
      </p:sp>
      <p:sp>
        <p:nvSpPr>
          <p:cNvPr id="3" name="Rectangle 2">
            <a:extLst>
              <a:ext uri="{FF2B5EF4-FFF2-40B4-BE49-F238E27FC236}">
                <a16:creationId xmlns:a16="http://schemas.microsoft.com/office/drawing/2014/main" id="{CD7A4ECF-AB52-4A6D-A4C4-09A4E078BE96}"/>
              </a:ext>
              <a:ext uri="{C183D7F6-B498-43B3-948B-1728B52AA6E4}">
                <adec:decorative xmlns:adec="http://schemas.microsoft.com/office/drawing/2017/decorative" val="0"/>
              </a:ext>
            </a:extLst>
          </p:cNvPr>
          <p:cNvSpPr/>
          <p:nvPr/>
        </p:nvSpPr>
        <p:spPr bwMode="auto">
          <a:xfrm>
            <a:off x="455995" y="4940662"/>
            <a:ext cx="4835404" cy="49130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SLA </a:t>
            </a:r>
          </a:p>
        </p:txBody>
      </p:sp>
      <p:sp>
        <p:nvSpPr>
          <p:cNvPr id="5" name="Rectangle 4">
            <a:extLst>
              <a:ext uri="{FF2B5EF4-FFF2-40B4-BE49-F238E27FC236}">
                <a16:creationId xmlns:a16="http://schemas.microsoft.com/office/drawing/2014/main" id="{BF2BF975-5F2D-42DD-B32F-7A5D1532178E}"/>
              </a:ext>
              <a:ext uri="{C183D7F6-B498-43B3-948B-1728B52AA6E4}">
                <adec:decorative xmlns:adec="http://schemas.microsoft.com/office/drawing/2017/decorative" val="0"/>
              </a:ext>
            </a:extLst>
          </p:cNvPr>
          <p:cNvSpPr/>
          <p:nvPr/>
        </p:nvSpPr>
        <p:spPr bwMode="auto">
          <a:xfrm>
            <a:off x="455995" y="5719405"/>
            <a:ext cx="4835404" cy="74652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Private connection to Microsoft cloud</a:t>
            </a:r>
          </a:p>
        </p:txBody>
      </p:sp>
      <p:sp>
        <p:nvSpPr>
          <p:cNvPr id="12" name="Rectangle 11">
            <a:extLst>
              <a:ext uri="{FF2B5EF4-FFF2-40B4-BE49-F238E27FC236}">
                <a16:creationId xmlns:a16="http://schemas.microsoft.com/office/drawing/2014/main" id="{BC246664-0963-4553-AEFE-9E0E4DE762E1}"/>
              </a:ext>
              <a:ext uri="{C183D7F6-B498-43B3-948B-1728B52AA6E4}">
                <adec:decorative xmlns:adec="http://schemas.microsoft.com/office/drawing/2017/decorative" val="0"/>
              </a:ext>
            </a:extLst>
          </p:cNvPr>
          <p:cNvSpPr/>
          <p:nvPr/>
        </p:nvSpPr>
        <p:spPr bwMode="auto">
          <a:xfrm>
            <a:off x="5781869" y="1169265"/>
            <a:ext cx="4835404" cy="63024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Built in redundant circuits</a:t>
            </a:r>
          </a:p>
        </p:txBody>
      </p:sp>
      <p:sp>
        <p:nvSpPr>
          <p:cNvPr id="14" name="Rectangle 13">
            <a:extLst>
              <a:ext uri="{FF2B5EF4-FFF2-40B4-BE49-F238E27FC236}">
                <a16:creationId xmlns:a16="http://schemas.microsoft.com/office/drawing/2014/main" id="{352B6192-7C06-4C22-976D-B75B0776A290}"/>
              </a:ext>
              <a:ext uri="{C183D7F6-B498-43B3-948B-1728B52AA6E4}">
                <adec:decorative xmlns:adec="http://schemas.microsoft.com/office/drawing/2017/decorative" val="0"/>
              </a:ext>
            </a:extLst>
          </p:cNvPr>
          <p:cNvSpPr/>
          <p:nvPr/>
        </p:nvSpPr>
        <p:spPr bwMode="auto">
          <a:xfrm>
            <a:off x="5781869" y="1948009"/>
            <a:ext cx="4835404" cy="63024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Border Gateway Protocol (BGP)  </a:t>
            </a:r>
          </a:p>
        </p:txBody>
      </p:sp>
      <p:sp>
        <p:nvSpPr>
          <p:cNvPr id="16" name="Rectangle 15">
            <a:extLst>
              <a:ext uri="{FF2B5EF4-FFF2-40B4-BE49-F238E27FC236}">
                <a16:creationId xmlns:a16="http://schemas.microsoft.com/office/drawing/2014/main" id="{72402FC3-358A-4CBE-9C8A-13164A146EDD}"/>
              </a:ext>
              <a:ext uri="{C183D7F6-B498-43B3-948B-1728B52AA6E4}">
                <adec:decorative xmlns:adec="http://schemas.microsoft.com/office/drawing/2017/decorative" val="0"/>
              </a:ext>
            </a:extLst>
          </p:cNvPr>
          <p:cNvSpPr/>
          <p:nvPr/>
        </p:nvSpPr>
        <p:spPr bwMode="auto">
          <a:xfrm>
            <a:off x="5781869" y="2758708"/>
            <a:ext cx="4835404" cy="98464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Integrates with existing Multiprotocol Label Switching (MPLS)</a:t>
            </a:r>
          </a:p>
        </p:txBody>
      </p:sp>
    </p:spTree>
    <p:extLst>
      <p:ext uri="{BB962C8B-B14F-4D97-AF65-F5344CB8AC3E}">
        <p14:creationId xmlns:p14="http://schemas.microsoft.com/office/powerpoint/2010/main" val="36960893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F9A8EF-F6CB-40DA-BA12-7FDFC781EFAE}"/>
              </a:ext>
            </a:extLst>
          </p:cNvPr>
          <p:cNvSpPr>
            <a:spLocks noGrp="1"/>
          </p:cNvSpPr>
          <p:nvPr>
            <p:ph type="title"/>
          </p:nvPr>
        </p:nvSpPr>
        <p:spPr>
          <a:xfrm>
            <a:off x="455995" y="623224"/>
            <a:ext cx="11306469" cy="397545"/>
          </a:xfrm>
        </p:spPr>
        <p:txBody>
          <a:bodyPr/>
          <a:lstStyle/>
          <a:p>
            <a:r>
              <a:rPr lang="en-US" sz="2800">
                <a:solidFill>
                  <a:schemeClr val="tx1"/>
                </a:solidFill>
              </a:rPr>
              <a:t>ExpressRoute connectivity models </a:t>
            </a:r>
            <a:endParaRPr lang="en-US"/>
          </a:p>
        </p:txBody>
      </p:sp>
      <p:sp>
        <p:nvSpPr>
          <p:cNvPr id="2" name="Rectangle 1">
            <a:extLst>
              <a:ext uri="{FF2B5EF4-FFF2-40B4-BE49-F238E27FC236}">
                <a16:creationId xmlns:a16="http://schemas.microsoft.com/office/drawing/2014/main" id="{BA779722-B37E-4910-B3E1-F480130A4BE4}"/>
              </a:ext>
              <a:ext uri="{C183D7F6-B498-43B3-948B-1728B52AA6E4}">
                <adec:decorative xmlns:adec="http://schemas.microsoft.com/office/drawing/2017/decorative" val="1"/>
              </a:ext>
            </a:extLst>
          </p:cNvPr>
          <p:cNvSpPr/>
          <p:nvPr/>
        </p:nvSpPr>
        <p:spPr bwMode="auto">
          <a:xfrm>
            <a:off x="466888" y="1169261"/>
            <a:ext cx="11306469" cy="472671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6" name="Picture 5" descr="Diagram of ExpressRoute connectivity models">
            <a:extLst>
              <a:ext uri="{FF2B5EF4-FFF2-40B4-BE49-F238E27FC236}">
                <a16:creationId xmlns:a16="http://schemas.microsoft.com/office/drawing/2014/main" id="{0A014D4D-3571-4153-B02B-DDBD7097D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604" y="1392164"/>
            <a:ext cx="9144792" cy="4503810"/>
          </a:xfrm>
          <a:prstGeom prst="rect">
            <a:avLst/>
          </a:prstGeom>
        </p:spPr>
      </p:pic>
    </p:spTree>
    <p:extLst>
      <p:ext uri="{BB962C8B-B14F-4D97-AF65-F5344CB8AC3E}">
        <p14:creationId xmlns:p14="http://schemas.microsoft.com/office/powerpoint/2010/main" val="325995944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95C46-E945-4192-87BF-3503C64E0280}"/>
              </a:ext>
            </a:extLst>
          </p:cNvPr>
          <p:cNvSpPr>
            <a:spLocks noGrp="1"/>
          </p:cNvSpPr>
          <p:nvPr>
            <p:ph type="title"/>
          </p:nvPr>
        </p:nvSpPr>
        <p:spPr>
          <a:xfrm>
            <a:off x="455995" y="623224"/>
            <a:ext cx="11306469" cy="397545"/>
          </a:xfrm>
        </p:spPr>
        <p:txBody>
          <a:bodyPr/>
          <a:lstStyle/>
          <a:p>
            <a:r>
              <a:rPr lang="en-US" sz="2800" dirty="0">
                <a:solidFill>
                  <a:schemeClr val="tx1"/>
                </a:solidFill>
              </a:rPr>
              <a:t>Design considerations for ExpressRoute deployments </a:t>
            </a:r>
            <a:endParaRPr lang="en-US" dirty="0"/>
          </a:p>
        </p:txBody>
      </p:sp>
      <p:graphicFrame>
        <p:nvGraphicFramePr>
          <p:cNvPr id="4" name="Table 3">
            <a:extLst>
              <a:ext uri="{FF2B5EF4-FFF2-40B4-BE49-F238E27FC236}">
                <a16:creationId xmlns:a16="http://schemas.microsoft.com/office/drawing/2014/main" id="{4924E355-F908-4297-9A24-6F7FC3AE480E}"/>
              </a:ext>
            </a:extLst>
          </p:cNvPr>
          <p:cNvGraphicFramePr/>
          <p:nvPr>
            <p:extLst>
              <p:ext uri="{D42A27DB-BD31-4B8C-83A1-F6EECF244321}">
                <p14:modId xmlns:p14="http://schemas.microsoft.com/office/powerpoint/2010/main" val="1202879450"/>
              </p:ext>
            </p:extLst>
          </p:nvPr>
        </p:nvGraphicFramePr>
        <p:xfrm>
          <a:off x="455995" y="1195991"/>
          <a:ext cx="10123105" cy="5038785"/>
        </p:xfrm>
        <a:graphic>
          <a:graphicData uri="http://schemas.openxmlformats.org/drawingml/2006/table">
            <a:tbl>
              <a:tblPr firstRow="1" bandRow="1">
                <a:tableStyleId>{5C22544A-7EE6-4342-B048-85BDC9FD1C3A}</a:tableStyleId>
              </a:tblPr>
              <a:tblGrid>
                <a:gridCol w="4293805">
                  <a:extLst>
                    <a:ext uri="{9D8B030D-6E8A-4147-A177-3AD203B41FA5}">
                      <a16:colId xmlns:a16="http://schemas.microsoft.com/office/drawing/2014/main" val="1552089376"/>
                    </a:ext>
                  </a:extLst>
                </a:gridCol>
                <a:gridCol w="5829300">
                  <a:extLst>
                    <a:ext uri="{9D8B030D-6E8A-4147-A177-3AD203B41FA5}">
                      <a16:colId xmlns:a16="http://schemas.microsoft.com/office/drawing/2014/main" val="3503651055"/>
                    </a:ext>
                  </a:extLst>
                </a:gridCol>
              </a:tblGrid>
              <a:tr h="830718">
                <a:tc>
                  <a:txBody>
                    <a:bodyPr/>
                    <a:lstStyle/>
                    <a:p>
                      <a:pPr marL="0" marR="0" algn="l" fontAlgn="t">
                        <a:spcBef>
                          <a:spcPts val="0"/>
                        </a:spcBef>
                        <a:spcAft>
                          <a:spcPts val="1000"/>
                        </a:spcAft>
                      </a:pPr>
                      <a:r>
                        <a:rPr lang="en-US" sz="2400" u="none" strike="noStrike">
                          <a:effectLst/>
                        </a:rPr>
                        <a:t>ExpressRoute using a Service Provider</a:t>
                      </a:r>
                      <a:endParaRPr lang="en-US" sz="2400" b="0" i="0" u="none" strike="noStrike">
                        <a:effectLst/>
                        <a:latin typeface="Arial" panose="020B0604020202020204" pitchFamily="34" charset="0"/>
                      </a:endParaRPr>
                    </a:p>
                  </a:txBody>
                  <a:tcPr marL="60505" marR="60505" marT="8404" marB="0"/>
                </a:tc>
                <a:tc>
                  <a:txBody>
                    <a:bodyPr/>
                    <a:lstStyle/>
                    <a:p>
                      <a:pPr marL="0" marR="0" algn="l" fontAlgn="t">
                        <a:spcBef>
                          <a:spcPts val="0"/>
                        </a:spcBef>
                        <a:spcAft>
                          <a:spcPts val="1000"/>
                        </a:spcAft>
                      </a:pPr>
                      <a:r>
                        <a:rPr lang="en-US" sz="2400" u="none" strike="noStrike">
                          <a:effectLst/>
                        </a:rPr>
                        <a:t>ExpressRoute Direct</a:t>
                      </a:r>
                      <a:endParaRPr lang="en-US" sz="2400" b="0" i="0" u="none" strike="noStrike">
                        <a:effectLst/>
                        <a:latin typeface="Arial" panose="020B0604020202020204" pitchFamily="34" charset="0"/>
                      </a:endParaRPr>
                    </a:p>
                  </a:txBody>
                  <a:tcPr marL="60505" marR="60505" marT="8404" marB="0"/>
                </a:tc>
                <a:extLst>
                  <a:ext uri="{0D108BD9-81ED-4DB2-BD59-A6C34878D82A}">
                    <a16:rowId xmlns:a16="http://schemas.microsoft.com/office/drawing/2014/main" val="4106848232"/>
                  </a:ext>
                </a:extLst>
              </a:tr>
              <a:tr h="794247">
                <a:tc>
                  <a:txBody>
                    <a:bodyPr/>
                    <a:lstStyle/>
                    <a:p>
                      <a:pPr marL="0" marR="0" algn="l" fontAlgn="t">
                        <a:spcBef>
                          <a:spcPts val="0"/>
                        </a:spcBef>
                        <a:spcAft>
                          <a:spcPts val="1000"/>
                        </a:spcAft>
                      </a:pPr>
                      <a:r>
                        <a:rPr lang="en-US" sz="1800" u="none" strike="noStrike">
                          <a:effectLst/>
                        </a:rPr>
                        <a:t>Uses service providers to enable fast onboarding and connectivity into existing infrastructure</a:t>
                      </a:r>
                      <a:endParaRPr lang="en-US" sz="1800" b="0" i="0" u="none" strike="noStrike">
                        <a:effectLst/>
                        <a:latin typeface="Arial" panose="020B0604020202020204" pitchFamily="34" charset="0"/>
                      </a:endParaRPr>
                    </a:p>
                  </a:txBody>
                  <a:tcPr marL="60505" marR="60505" marT="8404" marB="0"/>
                </a:tc>
                <a:tc>
                  <a:txBody>
                    <a:bodyPr/>
                    <a:lstStyle/>
                    <a:p>
                      <a:pPr marL="0" marR="0" algn="l" fontAlgn="t">
                        <a:spcBef>
                          <a:spcPts val="0"/>
                        </a:spcBef>
                        <a:spcAft>
                          <a:spcPts val="1000"/>
                        </a:spcAft>
                      </a:pPr>
                      <a:r>
                        <a:rPr lang="en-US" sz="1800" u="none" strike="noStrike">
                          <a:effectLst/>
                        </a:rPr>
                        <a:t>Requires 100 Gbps/10 Gbps infrastructure and full management of all layers</a:t>
                      </a:r>
                      <a:endParaRPr lang="en-US" sz="1800" b="0" i="0" u="none" strike="noStrike">
                        <a:effectLst/>
                        <a:latin typeface="Arial" panose="020B0604020202020204" pitchFamily="34" charset="0"/>
                      </a:endParaRPr>
                    </a:p>
                  </a:txBody>
                  <a:tcPr marL="60505" marR="60505" marT="8404" marB="0"/>
                </a:tc>
                <a:extLst>
                  <a:ext uri="{0D108BD9-81ED-4DB2-BD59-A6C34878D82A}">
                    <a16:rowId xmlns:a16="http://schemas.microsoft.com/office/drawing/2014/main" val="2271927905"/>
                  </a:ext>
                </a:extLst>
              </a:tr>
              <a:tr h="626380">
                <a:tc>
                  <a:txBody>
                    <a:bodyPr/>
                    <a:lstStyle/>
                    <a:p>
                      <a:pPr marL="0" marR="0" algn="l" fontAlgn="t">
                        <a:spcBef>
                          <a:spcPts val="0"/>
                        </a:spcBef>
                        <a:spcAft>
                          <a:spcPts val="1000"/>
                        </a:spcAft>
                      </a:pPr>
                      <a:r>
                        <a:rPr lang="en-US" sz="1800" u="none" strike="noStrike">
                          <a:effectLst/>
                        </a:rPr>
                        <a:t>Integrates with hundreds of providers including Ethernet and MPLS</a:t>
                      </a:r>
                      <a:endParaRPr lang="en-US" sz="1800" b="0" i="0" u="none" strike="noStrike">
                        <a:effectLst/>
                        <a:latin typeface="Arial" panose="020B0604020202020204" pitchFamily="34" charset="0"/>
                      </a:endParaRPr>
                    </a:p>
                  </a:txBody>
                  <a:tcPr marL="60505" marR="60505" marT="8404" marB="0"/>
                </a:tc>
                <a:tc>
                  <a:txBody>
                    <a:bodyPr/>
                    <a:lstStyle/>
                    <a:p>
                      <a:pPr marL="0" marR="0" algn="l" fontAlgn="t">
                        <a:spcBef>
                          <a:spcPts val="0"/>
                        </a:spcBef>
                        <a:spcAft>
                          <a:spcPts val="1000"/>
                        </a:spcAft>
                      </a:pPr>
                      <a:r>
                        <a:rPr lang="en-US" sz="1800" u="none" strike="noStrike">
                          <a:effectLst/>
                        </a:rPr>
                        <a:t>Direct/Dedicated capacity for regulated industries and massive data ingestion</a:t>
                      </a:r>
                      <a:endParaRPr lang="en-US" sz="1800" b="0" i="0" u="none" strike="noStrike">
                        <a:effectLst/>
                        <a:latin typeface="Arial" panose="020B0604020202020204" pitchFamily="34" charset="0"/>
                      </a:endParaRPr>
                    </a:p>
                  </a:txBody>
                  <a:tcPr marL="60505" marR="60505" marT="8404" marB="0"/>
                </a:tc>
                <a:extLst>
                  <a:ext uri="{0D108BD9-81ED-4DB2-BD59-A6C34878D82A}">
                    <a16:rowId xmlns:a16="http://schemas.microsoft.com/office/drawing/2014/main" val="135102047"/>
                  </a:ext>
                </a:extLst>
              </a:tr>
              <a:tr h="2034263">
                <a:tc>
                  <a:txBody>
                    <a:bodyPr/>
                    <a:lstStyle/>
                    <a:p>
                      <a:pPr marL="0" marR="0" algn="l" fontAlgn="t">
                        <a:spcBef>
                          <a:spcPts val="0"/>
                        </a:spcBef>
                        <a:spcAft>
                          <a:spcPts val="1000"/>
                        </a:spcAft>
                      </a:pPr>
                      <a:r>
                        <a:rPr lang="en-US" sz="1800" u="none" strike="noStrike">
                          <a:effectLst/>
                        </a:rPr>
                        <a:t>Circuits SKUs from 50 Mbps to 10 Gbps</a:t>
                      </a:r>
                      <a:endParaRPr lang="en-US" sz="1800" b="0" i="0" u="none" strike="noStrike">
                        <a:effectLst/>
                        <a:latin typeface="Arial" panose="020B0604020202020204" pitchFamily="34" charset="0"/>
                      </a:endParaRPr>
                    </a:p>
                  </a:txBody>
                  <a:tcPr marL="60505" marR="60505" marT="8404" marB="0"/>
                </a:tc>
                <a:tc>
                  <a:txBody>
                    <a:bodyPr/>
                    <a:lstStyle/>
                    <a:p>
                      <a:pPr marL="0" marR="0" algn="l" fontAlgn="t">
                        <a:spcBef>
                          <a:spcPts val="0"/>
                        </a:spcBef>
                        <a:spcAft>
                          <a:spcPts val="1000"/>
                        </a:spcAft>
                      </a:pPr>
                      <a:r>
                        <a:rPr lang="en-US" sz="1800" u="none" strike="noStrike">
                          <a:effectLst/>
                        </a:rPr>
                        <a:t>Customer may select a combination of the following circuit SKUs on 100-Gbps ExpressRoute Direct: (5 Gbps, 10 Gbps, 40 Gbps, 100 Gbps) </a:t>
                      </a:r>
                    </a:p>
                    <a:p>
                      <a:pPr marL="0" marR="0" algn="l" fontAlgn="t">
                        <a:spcBef>
                          <a:spcPts val="0"/>
                        </a:spcBef>
                        <a:spcAft>
                          <a:spcPts val="1000"/>
                        </a:spcAft>
                      </a:pPr>
                      <a:r>
                        <a:rPr lang="en-US" sz="1800" u="none" strike="noStrike">
                          <a:effectLst/>
                        </a:rPr>
                        <a:t>Customer may select a combination of the following circuit SKUs on 10-Gbps ExpressRoute Direct: (1 Gbps, 2 Gbps, 5 Gbps, 10 Gbps )</a:t>
                      </a:r>
                    </a:p>
                  </a:txBody>
                  <a:tcPr marL="60505" marR="60505" marT="8404" marB="0"/>
                </a:tc>
                <a:extLst>
                  <a:ext uri="{0D108BD9-81ED-4DB2-BD59-A6C34878D82A}">
                    <a16:rowId xmlns:a16="http://schemas.microsoft.com/office/drawing/2014/main" val="2912170872"/>
                  </a:ext>
                </a:extLst>
              </a:tr>
              <a:tr h="716060">
                <a:tc>
                  <a:txBody>
                    <a:bodyPr/>
                    <a:lstStyle/>
                    <a:p>
                      <a:pPr marL="0" marR="0" algn="l" fontAlgn="t">
                        <a:spcBef>
                          <a:spcPts val="0"/>
                        </a:spcBef>
                        <a:spcAft>
                          <a:spcPts val="1000"/>
                        </a:spcAft>
                      </a:pPr>
                      <a:r>
                        <a:rPr lang="en-US" sz="1800" u="none" strike="noStrike">
                          <a:effectLst/>
                        </a:rPr>
                        <a:t>Optimized for single tenant</a:t>
                      </a:r>
                      <a:endParaRPr lang="en-US" sz="1800" b="0" i="0" u="none" strike="noStrike">
                        <a:effectLst/>
                        <a:latin typeface="Arial" panose="020B0604020202020204" pitchFamily="34" charset="0"/>
                      </a:endParaRPr>
                    </a:p>
                  </a:txBody>
                  <a:tcPr marL="60505" marR="60505" marT="8404" marB="0"/>
                </a:tc>
                <a:tc>
                  <a:txBody>
                    <a:bodyPr/>
                    <a:lstStyle/>
                    <a:p>
                      <a:pPr marL="0" marR="0" algn="l" fontAlgn="t">
                        <a:spcBef>
                          <a:spcPts val="0"/>
                        </a:spcBef>
                        <a:spcAft>
                          <a:spcPts val="1000"/>
                        </a:spcAft>
                      </a:pPr>
                      <a:r>
                        <a:rPr lang="en-US" sz="1800" u="none" strike="noStrike">
                          <a:effectLst/>
                        </a:rPr>
                        <a:t>Optimized for single tenant with multiple business units and multiple work environments</a:t>
                      </a:r>
                      <a:endParaRPr lang="en-US" sz="1800" b="0" i="0" u="none" strike="noStrike">
                        <a:effectLst/>
                        <a:latin typeface="Arial" panose="020B0604020202020204" pitchFamily="34" charset="0"/>
                      </a:endParaRPr>
                    </a:p>
                  </a:txBody>
                  <a:tcPr marL="60505" marR="60505" marT="8404" marB="0"/>
                </a:tc>
                <a:extLst>
                  <a:ext uri="{0D108BD9-81ED-4DB2-BD59-A6C34878D82A}">
                    <a16:rowId xmlns:a16="http://schemas.microsoft.com/office/drawing/2014/main" val="126734324"/>
                  </a:ext>
                </a:extLst>
              </a:tr>
            </a:tbl>
          </a:graphicData>
        </a:graphic>
      </p:graphicFrame>
    </p:spTree>
    <p:extLst>
      <p:ext uri="{BB962C8B-B14F-4D97-AF65-F5344CB8AC3E}">
        <p14:creationId xmlns:p14="http://schemas.microsoft.com/office/powerpoint/2010/main" val="97744905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340F-64E8-46C9-ABC1-A7EF9729D0C6}"/>
              </a:ext>
            </a:extLst>
          </p:cNvPr>
          <p:cNvSpPr>
            <a:spLocks noGrp="1"/>
          </p:cNvSpPr>
          <p:nvPr>
            <p:ph type="title"/>
          </p:nvPr>
        </p:nvSpPr>
        <p:spPr>
          <a:xfrm>
            <a:off x="455995" y="623224"/>
            <a:ext cx="11306469" cy="397545"/>
          </a:xfrm>
        </p:spPr>
        <p:txBody>
          <a:bodyPr/>
          <a:lstStyle/>
          <a:p>
            <a:r>
              <a:rPr lang="en-US" sz="2800">
                <a:solidFill>
                  <a:schemeClr val="tx1"/>
                </a:solidFill>
              </a:rPr>
              <a:t>Bidirectional Forwarding Detection (BFD) with ExpressRoute Private Peering  </a:t>
            </a:r>
            <a:endParaRPr lang="en-US"/>
          </a:p>
        </p:txBody>
      </p:sp>
      <p:pic>
        <p:nvPicPr>
          <p:cNvPr id="3" name="Picture 2" descr="Bidirectional flow between partner or customer edge and Microsoft edge.">
            <a:extLst>
              <a:ext uri="{FF2B5EF4-FFF2-40B4-BE49-F238E27FC236}">
                <a16:creationId xmlns:a16="http://schemas.microsoft.com/office/drawing/2014/main" id="{158D1585-667C-40D1-A423-CE282E986E07}"/>
              </a:ext>
            </a:extLst>
          </p:cNvPr>
          <p:cNvPicPr/>
          <p:nvPr/>
        </p:nvPicPr>
        <p:blipFill>
          <a:blip r:embed="rId3"/>
          <a:stretch>
            <a:fillRect/>
          </a:stretch>
        </p:blipFill>
        <p:spPr bwMode="auto">
          <a:xfrm>
            <a:off x="2197101" y="1306512"/>
            <a:ext cx="7477442" cy="3482975"/>
          </a:xfrm>
          <a:prstGeom prst="rect">
            <a:avLst/>
          </a:prstGeom>
          <a:noFill/>
          <a:ln>
            <a:noFill/>
          </a:ln>
        </p:spPr>
      </p:pic>
      <p:sp>
        <p:nvSpPr>
          <p:cNvPr id="11" name="Freeform: Shape 10">
            <a:extLst>
              <a:ext uri="{FF2B5EF4-FFF2-40B4-BE49-F238E27FC236}">
                <a16:creationId xmlns:a16="http://schemas.microsoft.com/office/drawing/2014/main" id="{8D6E3012-C115-49B3-BC7B-86E0EB2542C4}"/>
              </a:ext>
            </a:extLst>
          </p:cNvPr>
          <p:cNvSpPr/>
          <p:nvPr/>
        </p:nvSpPr>
        <p:spPr>
          <a:xfrm>
            <a:off x="407750" y="4813963"/>
            <a:ext cx="3692155" cy="160827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BFD is configured by default </a:t>
            </a:r>
          </a:p>
        </p:txBody>
      </p:sp>
      <p:sp>
        <p:nvSpPr>
          <p:cNvPr id="13" name="Freeform: Shape 12">
            <a:extLst>
              <a:ext uri="{FF2B5EF4-FFF2-40B4-BE49-F238E27FC236}">
                <a16:creationId xmlns:a16="http://schemas.microsoft.com/office/drawing/2014/main" id="{7A6AD820-BDE8-4E1C-A9E8-5C2932F52445}"/>
              </a:ext>
            </a:extLst>
          </p:cNvPr>
          <p:cNvSpPr/>
          <p:nvPr/>
        </p:nvSpPr>
        <p:spPr>
          <a:xfrm>
            <a:off x="4239030" y="4813963"/>
            <a:ext cx="3692155" cy="160827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You only need to configure BFD on both your primary and secondary devices</a:t>
            </a:r>
          </a:p>
        </p:txBody>
      </p:sp>
      <p:sp>
        <p:nvSpPr>
          <p:cNvPr id="15" name="Freeform: Shape 14">
            <a:extLst>
              <a:ext uri="{FF2B5EF4-FFF2-40B4-BE49-F238E27FC236}">
                <a16:creationId xmlns:a16="http://schemas.microsoft.com/office/drawing/2014/main" id="{15681884-8C1A-4C83-882D-14EBCE3F1B0D}"/>
              </a:ext>
            </a:extLst>
          </p:cNvPr>
          <p:cNvSpPr/>
          <p:nvPr/>
        </p:nvSpPr>
        <p:spPr>
          <a:xfrm>
            <a:off x="8070309" y="4813963"/>
            <a:ext cx="3692155" cy="160827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You configure the BFD on the interface and then link it to the BGP session.</a:t>
            </a:r>
          </a:p>
        </p:txBody>
      </p:sp>
      <p:sp>
        <p:nvSpPr>
          <p:cNvPr id="4" name="Rectangle 3">
            <a:extLst>
              <a:ext uri="{FF2B5EF4-FFF2-40B4-BE49-F238E27FC236}">
                <a16:creationId xmlns:a16="http://schemas.microsoft.com/office/drawing/2014/main" id="{6EC94EE0-210A-45F8-B899-89C85DBFCB34}"/>
              </a:ext>
              <a:ext uri="{C183D7F6-B498-43B3-948B-1728B52AA6E4}">
                <adec:decorative xmlns:adec="http://schemas.microsoft.com/office/drawing/2017/decorative" val="1"/>
              </a:ext>
            </a:extLst>
          </p:cNvPr>
          <p:cNvSpPr/>
          <p:nvPr/>
        </p:nvSpPr>
        <p:spPr bwMode="auto">
          <a:xfrm>
            <a:off x="418644" y="1169261"/>
            <a:ext cx="11354714" cy="362022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1619216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E5542-EB2E-4F3D-8196-0E3A9D3F6530}"/>
              </a:ext>
            </a:extLst>
          </p:cNvPr>
          <p:cNvSpPr>
            <a:spLocks noGrp="1"/>
          </p:cNvSpPr>
          <p:nvPr>
            <p:ph type="title"/>
          </p:nvPr>
        </p:nvSpPr>
        <p:spPr/>
        <p:txBody>
          <a:bodyPr/>
          <a:lstStyle/>
          <a:p>
            <a:r>
              <a:rPr lang="en-US"/>
              <a:t>Configure encryption over ExpressRoute</a:t>
            </a:r>
          </a:p>
        </p:txBody>
      </p:sp>
      <p:pic>
        <p:nvPicPr>
          <p:cNvPr id="3" name="Picture 2" descr="VWAN to VPN over ExpressRoute ">
            <a:extLst>
              <a:ext uri="{FF2B5EF4-FFF2-40B4-BE49-F238E27FC236}">
                <a16:creationId xmlns:a16="http://schemas.microsoft.com/office/drawing/2014/main" id="{90DD7079-9736-4DAA-B6D4-2ECFFAB47FEE}"/>
              </a:ext>
            </a:extLst>
          </p:cNvPr>
          <p:cNvPicPr/>
          <p:nvPr/>
        </p:nvPicPr>
        <p:blipFill>
          <a:blip r:embed="rId3"/>
          <a:stretch>
            <a:fillRect/>
          </a:stretch>
        </p:blipFill>
        <p:spPr bwMode="auto">
          <a:xfrm>
            <a:off x="1944581" y="1336675"/>
            <a:ext cx="8329295" cy="2609850"/>
          </a:xfrm>
          <a:prstGeom prst="rect">
            <a:avLst/>
          </a:prstGeom>
          <a:noFill/>
          <a:ln>
            <a:noFill/>
          </a:ln>
        </p:spPr>
      </p:pic>
      <p:sp>
        <p:nvSpPr>
          <p:cNvPr id="5" name="Freeform: Shape 4">
            <a:extLst>
              <a:ext uri="{FF2B5EF4-FFF2-40B4-BE49-F238E27FC236}">
                <a16:creationId xmlns:a16="http://schemas.microsoft.com/office/drawing/2014/main" id="{6357CD9F-2D2C-43D1-B979-F7C893AB9759}"/>
              </a:ext>
            </a:extLst>
          </p:cNvPr>
          <p:cNvSpPr/>
          <p:nvPr/>
        </p:nvSpPr>
        <p:spPr>
          <a:xfrm>
            <a:off x="418643" y="4628903"/>
            <a:ext cx="3692155" cy="160827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Establish ExpressRoute connectivity with an ExpressRoute circuit and private peering</a:t>
            </a:r>
          </a:p>
        </p:txBody>
      </p:sp>
      <p:sp>
        <p:nvSpPr>
          <p:cNvPr id="7" name="Freeform: Shape 6">
            <a:extLst>
              <a:ext uri="{FF2B5EF4-FFF2-40B4-BE49-F238E27FC236}">
                <a16:creationId xmlns:a16="http://schemas.microsoft.com/office/drawing/2014/main" id="{0DCD0426-9639-47D2-BD6E-C51E99BBC176}"/>
              </a:ext>
            </a:extLst>
          </p:cNvPr>
          <p:cNvSpPr/>
          <p:nvPr/>
        </p:nvSpPr>
        <p:spPr>
          <a:xfrm>
            <a:off x="4249923" y="4628903"/>
            <a:ext cx="3692155" cy="160827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Establish the VPN connectivity over ExpressRoute</a:t>
            </a:r>
          </a:p>
        </p:txBody>
      </p:sp>
      <p:sp>
        <p:nvSpPr>
          <p:cNvPr id="9" name="Freeform: Shape 8">
            <a:extLst>
              <a:ext uri="{FF2B5EF4-FFF2-40B4-BE49-F238E27FC236}">
                <a16:creationId xmlns:a16="http://schemas.microsoft.com/office/drawing/2014/main" id="{5F10A7EB-F4BC-4D60-975C-C8014F9ED2CF}"/>
              </a:ext>
            </a:extLst>
          </p:cNvPr>
          <p:cNvSpPr/>
          <p:nvPr/>
        </p:nvSpPr>
        <p:spPr>
          <a:xfrm>
            <a:off x="8081202" y="4628903"/>
            <a:ext cx="3692155" cy="160827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Routing between the on-premises networks and Azure over both the ExpressRoute and VPN paths</a:t>
            </a:r>
          </a:p>
        </p:txBody>
      </p:sp>
      <p:sp>
        <p:nvSpPr>
          <p:cNvPr id="4" name="Rectangle 3">
            <a:extLst>
              <a:ext uri="{FF2B5EF4-FFF2-40B4-BE49-F238E27FC236}">
                <a16:creationId xmlns:a16="http://schemas.microsoft.com/office/drawing/2014/main" id="{55F074C2-5BF9-403E-ACC9-FD03318A8616}"/>
              </a:ext>
              <a:ext uri="{C183D7F6-B498-43B3-948B-1728B52AA6E4}">
                <adec:decorative xmlns:adec="http://schemas.microsoft.com/office/drawing/2017/decorative" val="1"/>
              </a:ext>
            </a:extLst>
          </p:cNvPr>
          <p:cNvSpPr/>
          <p:nvPr/>
        </p:nvSpPr>
        <p:spPr bwMode="auto">
          <a:xfrm>
            <a:off x="418643" y="1169262"/>
            <a:ext cx="11354715" cy="324081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0544934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Coexisting Site-to-Site and ExpressRoute</a:t>
            </a:r>
          </a:p>
        </p:txBody>
      </p:sp>
      <p:sp>
        <p:nvSpPr>
          <p:cNvPr id="5" name="Rectangle 4">
            <a:extLst>
              <a:ext uri="{FF2B5EF4-FFF2-40B4-BE49-F238E27FC236}">
                <a16:creationId xmlns:a16="http://schemas.microsoft.com/office/drawing/2014/main" id="{5AA8B58F-184B-4375-84C6-42F7D4AD291E}"/>
              </a:ext>
              <a:ext uri="{C183D7F6-B498-43B3-948B-1728B52AA6E4}">
                <adec:decorative xmlns:adec="http://schemas.microsoft.com/office/drawing/2017/decorative" val="1"/>
              </a:ext>
            </a:extLst>
          </p:cNvPr>
          <p:cNvSpPr/>
          <p:nvPr/>
        </p:nvSpPr>
        <p:spPr bwMode="auto">
          <a:xfrm>
            <a:off x="418644" y="1169262"/>
            <a:ext cx="11354714" cy="3582276"/>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1" descr="Diagram showing how you can have an ExpressRoute and a Site-to-Tite VPN configuration coexisting. VNet1 is configured with 2 virtual network gateways, one for the private ExpressRoute connection, and the other for the Site-to-Site traffic. The two S2S connections originate from an on-premises HQ and an on-premises branch site, whereas the dedicated private ExpressRoute originates from the on-premise HQ">
            <a:extLst>
              <a:ext uri="{FF2B5EF4-FFF2-40B4-BE49-F238E27FC236}">
                <a16:creationId xmlns:a16="http://schemas.microsoft.com/office/drawing/2014/main" id="{61679998-A56C-493C-B991-4220C7A9199E}"/>
              </a:ext>
            </a:extLst>
          </p:cNvPr>
          <p:cNvPicPr>
            <a:picLocks noChangeAspect="1"/>
          </p:cNvPicPr>
          <p:nvPr/>
        </p:nvPicPr>
        <p:blipFill rotWithShape="1">
          <a:blip r:embed="rId3"/>
          <a:srcRect l="906" t="2597" r="1202" b="2603"/>
          <a:stretch/>
        </p:blipFill>
        <p:spPr>
          <a:xfrm>
            <a:off x="3083262" y="1334200"/>
            <a:ext cx="6051933" cy="3252400"/>
          </a:xfrm>
          <a:prstGeom prst="rect">
            <a:avLst/>
          </a:prstGeom>
          <a:ln>
            <a:noFill/>
          </a:ln>
        </p:spPr>
      </p:pic>
      <p:sp>
        <p:nvSpPr>
          <p:cNvPr id="7" name="Freeform: Shape 6">
            <a:extLst>
              <a:ext uri="{FF2B5EF4-FFF2-40B4-BE49-F238E27FC236}">
                <a16:creationId xmlns:a16="http://schemas.microsoft.com/office/drawing/2014/main" id="{8A441DD0-F947-4102-B1D8-A8AD5C5A57FB}"/>
              </a:ext>
            </a:extLst>
          </p:cNvPr>
          <p:cNvSpPr/>
          <p:nvPr/>
        </p:nvSpPr>
        <p:spPr>
          <a:xfrm>
            <a:off x="418643" y="4896895"/>
            <a:ext cx="3676563" cy="134028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Use S2S VPN as a</a:t>
            </a:r>
            <a:br>
              <a:rPr lang="en-US" sz="2157">
                <a:solidFill>
                  <a:schemeClr val="tx1"/>
                </a:solidFill>
              </a:rPr>
            </a:br>
            <a:r>
              <a:rPr lang="en-US" sz="2157">
                <a:solidFill>
                  <a:schemeClr val="tx1"/>
                </a:solidFill>
              </a:rPr>
              <a:t>secure failover path</a:t>
            </a:r>
            <a:br>
              <a:rPr lang="en-US" sz="2157">
                <a:solidFill>
                  <a:schemeClr val="tx1"/>
                </a:solidFill>
              </a:rPr>
            </a:br>
            <a:r>
              <a:rPr lang="en-US" sz="2157">
                <a:solidFill>
                  <a:schemeClr val="tx1"/>
                </a:solidFill>
              </a:rPr>
              <a:t>for ExpressRoute</a:t>
            </a:r>
          </a:p>
        </p:txBody>
      </p:sp>
      <p:sp>
        <p:nvSpPr>
          <p:cNvPr id="8" name="Freeform: Shape 7">
            <a:extLst>
              <a:ext uri="{FF2B5EF4-FFF2-40B4-BE49-F238E27FC236}">
                <a16:creationId xmlns:a16="http://schemas.microsoft.com/office/drawing/2014/main" id="{D32C76B3-B91A-48D4-B4A2-D977E1FBD0B1}"/>
              </a:ext>
            </a:extLst>
          </p:cNvPr>
          <p:cNvSpPr/>
          <p:nvPr/>
        </p:nvSpPr>
        <p:spPr>
          <a:xfrm>
            <a:off x="4252272" y="4896895"/>
            <a:ext cx="3676563" cy="134028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Use S2S VPNs to connect to sites that are not connected with ExpressRoute</a:t>
            </a:r>
          </a:p>
        </p:txBody>
      </p:sp>
      <p:sp>
        <p:nvSpPr>
          <p:cNvPr id="9" name="Freeform: Shape 8">
            <a:extLst>
              <a:ext uri="{FF2B5EF4-FFF2-40B4-BE49-F238E27FC236}">
                <a16:creationId xmlns:a16="http://schemas.microsoft.com/office/drawing/2014/main" id="{2D9945BC-9639-44DB-8202-C42B479941BF}"/>
              </a:ext>
            </a:extLst>
          </p:cNvPr>
          <p:cNvSpPr/>
          <p:nvPr/>
        </p:nvSpPr>
        <p:spPr>
          <a:xfrm>
            <a:off x="8085900" y="4896895"/>
            <a:ext cx="3676563" cy="134028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Notice two VNet</a:t>
            </a:r>
            <a:br>
              <a:rPr lang="en-US" sz="2157">
                <a:solidFill>
                  <a:schemeClr val="tx1"/>
                </a:solidFill>
              </a:rPr>
            </a:br>
            <a:r>
              <a:rPr lang="en-US" sz="2157">
                <a:solidFill>
                  <a:schemeClr val="tx1"/>
                </a:solidFill>
              </a:rPr>
              <a:t>gateways for the</a:t>
            </a:r>
            <a:br>
              <a:rPr lang="en-US" sz="2157">
                <a:solidFill>
                  <a:schemeClr val="tx1"/>
                </a:solidFill>
              </a:rPr>
            </a:br>
            <a:r>
              <a:rPr lang="en-US" sz="2157">
                <a:solidFill>
                  <a:schemeClr val="tx1"/>
                </a:solidFill>
              </a:rPr>
              <a:t>same virtual network</a:t>
            </a:r>
          </a:p>
        </p:txBody>
      </p:sp>
    </p:spTree>
    <p:extLst>
      <p:ext uri="{BB962C8B-B14F-4D97-AF65-F5344CB8AC3E}">
        <p14:creationId xmlns:p14="http://schemas.microsoft.com/office/powerpoint/2010/main" val="61293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17D4A-567E-4726-B1A2-C0B270D65D70}"/>
              </a:ext>
            </a:extLst>
          </p:cNvPr>
          <p:cNvSpPr>
            <a:spLocks noGrp="1"/>
          </p:cNvSpPr>
          <p:nvPr>
            <p:ph type="title"/>
          </p:nvPr>
        </p:nvSpPr>
        <p:spPr/>
        <p:txBody>
          <a:bodyPr/>
          <a:lstStyle/>
          <a:p>
            <a:r>
              <a:rPr lang="en-US"/>
              <a:t>Create a zone redundant VNET gateway in Azure Availability zones</a:t>
            </a:r>
          </a:p>
        </p:txBody>
      </p:sp>
      <p:pic>
        <p:nvPicPr>
          <p:cNvPr id="3" name="Picture 2" descr="Zone redundant gateways layout">
            <a:extLst>
              <a:ext uri="{FF2B5EF4-FFF2-40B4-BE49-F238E27FC236}">
                <a16:creationId xmlns:a16="http://schemas.microsoft.com/office/drawing/2014/main" id="{E498416D-870A-44A1-AF58-82257F41DB8F}"/>
              </a:ext>
            </a:extLst>
          </p:cNvPr>
          <p:cNvPicPr/>
          <p:nvPr/>
        </p:nvPicPr>
        <p:blipFill>
          <a:blip r:embed="rId2"/>
          <a:stretch>
            <a:fillRect/>
          </a:stretch>
        </p:blipFill>
        <p:spPr bwMode="auto">
          <a:xfrm>
            <a:off x="2022031" y="1466293"/>
            <a:ext cx="7531491" cy="3925413"/>
          </a:xfrm>
          <a:prstGeom prst="rect">
            <a:avLst/>
          </a:prstGeom>
          <a:noFill/>
          <a:ln>
            <a:noFill/>
          </a:ln>
        </p:spPr>
      </p:pic>
      <p:sp>
        <p:nvSpPr>
          <p:cNvPr id="5" name="Rectangle 4">
            <a:extLst>
              <a:ext uri="{FF2B5EF4-FFF2-40B4-BE49-F238E27FC236}">
                <a16:creationId xmlns:a16="http://schemas.microsoft.com/office/drawing/2014/main" id="{939968DD-A0C9-4C57-93FB-4AC0695BA4CD}"/>
              </a:ext>
              <a:ext uri="{C183D7F6-B498-43B3-948B-1728B52AA6E4}">
                <adec:decorative xmlns:adec="http://schemas.microsoft.com/office/drawing/2017/decorative" val="1"/>
              </a:ext>
            </a:extLst>
          </p:cNvPr>
          <p:cNvSpPr/>
          <p:nvPr/>
        </p:nvSpPr>
        <p:spPr bwMode="auto">
          <a:xfrm>
            <a:off x="1842499" y="1189234"/>
            <a:ext cx="8507002" cy="447953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47370791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t>Design an ExpressRoute deployment</a:t>
            </a:r>
            <a:r>
              <a:rPr lang="en-US">
                <a:solidFill>
                  <a:schemeClr val="tx1"/>
                </a:solidFill>
              </a:rPr>
              <a:t> Review</a:t>
            </a: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solidFill>
                  <a:schemeClr val="bg1"/>
                </a:solidFill>
                <a:latin typeface="+mj-lt"/>
              </a:rPr>
              <a:t>Knowledge Check Questions</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12" name="Rectangle 11">
            <a:extLst>
              <a:ext uri="{FF2B5EF4-FFF2-40B4-BE49-F238E27FC236}">
                <a16:creationId xmlns:a16="http://schemas.microsoft.com/office/drawing/2014/main" id="{ACF8A76B-7FBD-4048-9860-A742DD5D6DB3}"/>
              </a:ext>
            </a:extLst>
          </p:cNvPr>
          <p:cNvSpPr/>
          <p:nvPr/>
        </p:nvSpPr>
        <p:spPr>
          <a:xfrm>
            <a:off x="4189871" y="2271340"/>
            <a:ext cx="7590042" cy="76196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765">
                <a:solidFill>
                  <a:schemeClr val="tx1"/>
                </a:solidFill>
              </a:rPr>
              <a:t>Connect your on-premises network to the Microsoft global network by using ExpressRoute</a:t>
            </a:r>
          </a:p>
        </p:txBody>
      </p:sp>
      <p:sp>
        <p:nvSpPr>
          <p:cNvPr id="13" name="TextBox 12">
            <a:extLst>
              <a:ext uri="{FF2B5EF4-FFF2-40B4-BE49-F238E27FC236}">
                <a16:creationId xmlns:a16="http://schemas.microsoft.com/office/drawing/2014/main" id="{123CC305-E433-4F08-B7FB-48213BB985E5}"/>
              </a:ext>
            </a:extLst>
          </p:cNvPr>
          <p:cNvSpPr txBox="1"/>
          <p:nvPr/>
        </p:nvSpPr>
        <p:spPr>
          <a:xfrm>
            <a:off x="4217987" y="3355737"/>
            <a:ext cx="6094763" cy="362072"/>
          </a:xfrm>
          <a:prstGeom prst="rect">
            <a:avLst/>
          </a:prstGeom>
          <a:noFill/>
        </p:spPr>
        <p:txBody>
          <a:bodyPr wrap="square">
            <a:spAutoFit/>
          </a:bodyPr>
          <a:lstStyle/>
          <a:p>
            <a:r>
              <a:rPr lang="en-US" sz="1765" dirty="0"/>
              <a:t>Configure the network for your virtual machines</a:t>
            </a: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207320" y="317824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493646" y="2652321"/>
            <a:ext cx="1465263" cy="2130976"/>
          </a:xfrm>
          <a:prstGeom prst="rect">
            <a:avLst/>
          </a:prstGeom>
        </p:spPr>
      </p:pic>
      <p:cxnSp>
        <p:nvCxnSpPr>
          <p:cNvPr id="5" name="Straight Connector 4">
            <a:extLst>
              <a:ext uri="{FF2B5EF4-FFF2-40B4-BE49-F238E27FC236}">
                <a16:creationId xmlns:a16="http://schemas.microsoft.com/office/drawing/2014/main" id="{454DC8C7-C45F-482D-868A-EA213B189908}"/>
              </a:ext>
              <a:ext uri="{C183D7F6-B498-43B3-948B-1728B52AA6E4}">
                <adec:decorative xmlns:adec="http://schemas.microsoft.com/office/drawing/2017/decorative" val="1"/>
              </a:ext>
            </a:extLst>
          </p:cNvPr>
          <p:cNvCxnSpPr>
            <a:cxnSpLocks/>
          </p:cNvCxnSpPr>
          <p:nvPr/>
        </p:nvCxnSpPr>
        <p:spPr>
          <a:xfrm>
            <a:off x="4207320" y="386365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2395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3179701"/>
            <a:ext cx="8892608" cy="498598"/>
          </a:xfrm>
        </p:spPr>
        <p:txBody>
          <a:bodyPr/>
          <a:lstStyle/>
          <a:p>
            <a:r>
              <a:rPr lang="en-US"/>
              <a:t>Lesson 02: </a:t>
            </a:r>
            <a:r>
              <a:rPr lang="en-US" sz="3600"/>
              <a:t>Design an ExpressRoute deployment</a:t>
            </a:r>
            <a:endParaRPr lang="en-US"/>
          </a:p>
        </p:txBody>
      </p:sp>
      <p:grpSp>
        <p:nvGrpSpPr>
          <p:cNvPr id="5" name="Group 4">
            <a:extLst>
              <a:ext uri="{FF2B5EF4-FFF2-40B4-BE49-F238E27FC236}">
                <a16:creationId xmlns:a16="http://schemas.microsoft.com/office/drawing/2014/main" id="{9E09476C-88BE-41D4-AA2C-43BA9B7B35A6}"/>
              </a:ext>
              <a:ext uri="{C183D7F6-B498-43B3-948B-1728B52AA6E4}">
                <adec:decorative xmlns:adec="http://schemas.microsoft.com/office/drawing/2017/decorative" val="1"/>
              </a:ext>
            </a:extLst>
          </p:cNvPr>
          <p:cNvGrpSpPr/>
          <p:nvPr/>
        </p:nvGrpSpPr>
        <p:grpSpPr>
          <a:xfrm>
            <a:off x="10337895" y="3070379"/>
            <a:ext cx="717140" cy="717242"/>
            <a:chOff x="418643" y="2287883"/>
            <a:chExt cx="717140" cy="717242"/>
          </a:xfrm>
        </p:grpSpPr>
        <p:grpSp>
          <p:nvGrpSpPr>
            <p:cNvPr id="6" name="Group 5">
              <a:extLst>
                <a:ext uri="{FF2B5EF4-FFF2-40B4-BE49-F238E27FC236}">
                  <a16:creationId xmlns:a16="http://schemas.microsoft.com/office/drawing/2014/main" id="{8DEDAEBD-9C81-4945-B229-EC551416EFB9}"/>
                </a:ext>
              </a:extLst>
            </p:cNvPr>
            <p:cNvGrpSpPr/>
            <p:nvPr/>
          </p:nvGrpSpPr>
          <p:grpSpPr>
            <a:xfrm>
              <a:off x="418643" y="2287883"/>
              <a:ext cx="717140" cy="717242"/>
              <a:chOff x="418643" y="2287883"/>
              <a:chExt cx="717140" cy="717242"/>
            </a:xfrm>
          </p:grpSpPr>
          <p:sp>
            <p:nvSpPr>
              <p:cNvPr id="8" name="Freeform 5">
                <a:extLst>
                  <a:ext uri="{FF2B5EF4-FFF2-40B4-BE49-F238E27FC236}">
                    <a16:creationId xmlns:a16="http://schemas.microsoft.com/office/drawing/2014/main" id="{A93D92FB-18B5-4A60-B36E-95607DDA4F8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1127A7D7-4C95-4CE1-A750-787E77120BF5}"/>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a arrow in a circular path with a timer inside the circle">
              <a:extLst>
                <a:ext uri="{FF2B5EF4-FFF2-40B4-BE49-F238E27FC236}">
                  <a16:creationId xmlns:a16="http://schemas.microsoft.com/office/drawing/2014/main" id="{19A85EEA-5EA1-4209-AFD2-7721E3B020B6}"/>
                </a:ext>
              </a:extLst>
            </p:cNvPr>
            <p:cNvPicPr>
              <a:picLocks noChangeAspect="1"/>
            </p:cNvPicPr>
            <p:nvPr/>
          </p:nvPicPr>
          <p:blipFill>
            <a:blip r:embed="rId2"/>
            <a:stretch>
              <a:fillRect/>
            </a:stretch>
          </p:blipFill>
          <p:spPr>
            <a:xfrm>
              <a:off x="588767" y="2458059"/>
              <a:ext cx="376892" cy="376890"/>
            </a:xfrm>
            <a:prstGeom prst="rect">
              <a:avLst/>
            </a:prstGeom>
          </p:spPr>
        </p:pic>
      </p:grpSp>
    </p:spTree>
    <p:extLst>
      <p:ext uri="{BB962C8B-B14F-4D97-AF65-F5344CB8AC3E}">
        <p14:creationId xmlns:p14="http://schemas.microsoft.com/office/powerpoint/2010/main" val="324925473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49068" y="3088902"/>
            <a:ext cx="2268537" cy="680196"/>
          </a:xfrm>
        </p:spPr>
        <p:txBody>
          <a:bodyPr/>
          <a:lstStyle/>
          <a:p>
            <a:r>
              <a:rPr lang="en-US" sz="2750" dirty="0"/>
              <a:t>Design an ExpressRoute deployment Overview</a:t>
            </a:r>
          </a:p>
        </p:txBody>
      </p:sp>
      <p:sp>
        <p:nvSpPr>
          <p:cNvPr id="6" name="Text Placeholder 5"/>
          <p:cNvSpPr>
            <a:spLocks noGrp="1"/>
          </p:cNvSpPr>
          <p:nvPr>
            <p:ph type="body" sz="quarter" idx="11"/>
          </p:nvPr>
        </p:nvSpPr>
        <p:spPr>
          <a:xfrm>
            <a:off x="4078288" y="1212798"/>
            <a:ext cx="7695070" cy="741783"/>
          </a:xfrm>
        </p:spPr>
        <p:txBody>
          <a:bodyPr/>
          <a:lstStyle/>
          <a:p>
            <a:pPr lvl="1"/>
            <a:r>
              <a:rPr lang="en-US" dirty="0"/>
              <a:t>ExpressRoute SKUs and Tiers</a:t>
            </a:r>
          </a:p>
        </p:txBody>
      </p:sp>
      <p:sp>
        <p:nvSpPr>
          <p:cNvPr id="2" name="Text Placeholder 1"/>
          <p:cNvSpPr>
            <a:spLocks noGrp="1"/>
          </p:cNvSpPr>
          <p:nvPr>
            <p:ph type="body" sz="quarter" idx="15"/>
          </p:nvPr>
        </p:nvSpPr>
        <p:spPr>
          <a:xfrm>
            <a:off x="4078288" y="2077857"/>
            <a:ext cx="7695070" cy="741783"/>
          </a:xfrm>
        </p:spPr>
        <p:txBody>
          <a:bodyPr/>
          <a:lstStyle/>
          <a:p>
            <a:pPr lvl="1"/>
            <a:r>
              <a:rPr lang="en-US" dirty="0"/>
              <a:t>Choose a peering location </a:t>
            </a:r>
          </a:p>
        </p:txBody>
      </p:sp>
      <p:sp>
        <p:nvSpPr>
          <p:cNvPr id="3" name="Text Placeholder 2"/>
          <p:cNvSpPr>
            <a:spLocks noGrp="1"/>
          </p:cNvSpPr>
          <p:nvPr>
            <p:ph type="body" sz="quarter" idx="17"/>
          </p:nvPr>
        </p:nvSpPr>
        <p:spPr>
          <a:xfrm>
            <a:off x="4078288" y="2942916"/>
            <a:ext cx="7695070" cy="741783"/>
          </a:xfrm>
        </p:spPr>
        <p:txBody>
          <a:bodyPr/>
          <a:lstStyle/>
          <a:p>
            <a:pPr lvl="1"/>
            <a:r>
              <a:rPr lang="en-US" dirty="0"/>
              <a:t>Choose the right ExpressRoute Circuit and billing model</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a:xfrm>
            <a:off x="4078288" y="3807975"/>
            <a:ext cx="7695070" cy="741783"/>
          </a:xfrm>
        </p:spPr>
        <p:txBody>
          <a:bodyPr/>
          <a:lstStyle/>
          <a:p>
            <a:pPr lvl="1"/>
            <a:r>
              <a:rPr lang="en-US" dirty="0"/>
              <a:t>Demonstration </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a:xfrm>
            <a:off x="4078288" y="4673034"/>
            <a:ext cx="7695070" cy="741783"/>
          </a:xfrm>
        </p:spPr>
        <p:txBody>
          <a:bodyPr/>
          <a:lstStyle/>
          <a:p>
            <a:pPr lvl="1"/>
            <a:r>
              <a:rPr lang="en-US" dirty="0"/>
              <a:t>Review </a:t>
            </a:r>
          </a:p>
        </p:txBody>
      </p:sp>
      <p:grpSp>
        <p:nvGrpSpPr>
          <p:cNvPr id="7" name="Group 6">
            <a:extLst>
              <a:ext uri="{FF2B5EF4-FFF2-40B4-BE49-F238E27FC236}">
                <a16:creationId xmlns:a16="http://schemas.microsoft.com/office/drawing/2014/main" id="{7E9F4E07-7368-4239-A2CB-EF4C71A8085B}"/>
              </a:ext>
              <a:ext uri="{C183D7F6-B498-43B3-948B-1728B52AA6E4}">
                <adec:decorative xmlns:adec="http://schemas.microsoft.com/office/drawing/2017/decorative" val="1"/>
              </a:ext>
            </a:extLst>
          </p:cNvPr>
          <p:cNvGrpSpPr/>
          <p:nvPr/>
        </p:nvGrpSpPr>
        <p:grpSpPr>
          <a:xfrm>
            <a:off x="3031668" y="1218370"/>
            <a:ext cx="702132" cy="4174487"/>
            <a:chOff x="3031668" y="1218370"/>
            <a:chExt cx="702132" cy="4174487"/>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1218370"/>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2097086"/>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961599"/>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826112"/>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4690625"/>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spTree>
    <p:extLst>
      <p:ext uri="{BB962C8B-B14F-4D97-AF65-F5344CB8AC3E}">
        <p14:creationId xmlns:p14="http://schemas.microsoft.com/office/powerpoint/2010/main" val="28297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31FB3-797C-48FA-9F88-C5C0944C35AB}"/>
              </a:ext>
            </a:extLst>
          </p:cNvPr>
          <p:cNvSpPr>
            <a:spLocks noGrp="1"/>
          </p:cNvSpPr>
          <p:nvPr>
            <p:ph type="title"/>
          </p:nvPr>
        </p:nvSpPr>
        <p:spPr>
          <a:xfrm>
            <a:off x="455995" y="623224"/>
            <a:ext cx="11306469" cy="397545"/>
          </a:xfrm>
        </p:spPr>
        <p:txBody>
          <a:bodyPr/>
          <a:lstStyle/>
          <a:p>
            <a:r>
              <a:rPr lang="en-US" sz="2800" dirty="0">
                <a:solidFill>
                  <a:schemeClr val="tx1"/>
                </a:solidFill>
              </a:rPr>
              <a:t>ExpressRoute SKUs</a:t>
            </a:r>
            <a:endParaRPr lang="en-US" dirty="0"/>
          </a:p>
        </p:txBody>
      </p:sp>
      <p:sp>
        <p:nvSpPr>
          <p:cNvPr id="4" name="Rectangle 3">
            <a:extLst>
              <a:ext uri="{FF2B5EF4-FFF2-40B4-BE49-F238E27FC236}">
                <a16:creationId xmlns:a16="http://schemas.microsoft.com/office/drawing/2014/main" id="{0A1B20EC-6C82-4B53-9B5F-E97EA882CB1C}"/>
              </a:ext>
              <a:ext uri="{C183D7F6-B498-43B3-948B-1728B52AA6E4}">
                <adec:decorative xmlns:adec="http://schemas.microsoft.com/office/drawing/2017/decorative" val="0"/>
              </a:ext>
            </a:extLst>
          </p:cNvPr>
          <p:cNvSpPr/>
          <p:nvPr/>
        </p:nvSpPr>
        <p:spPr bwMode="auto">
          <a:xfrm>
            <a:off x="418641" y="1169264"/>
            <a:ext cx="4872757" cy="154853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dirty="0">
                <a:solidFill>
                  <a:schemeClr val="tx1"/>
                </a:solidFill>
              </a:rPr>
              <a:t>Local (if available) - provides free egress data transfer and gives you access to only 1-2 Azure regions in the same area as your circuit</a:t>
            </a:r>
          </a:p>
        </p:txBody>
      </p:sp>
      <p:sp>
        <p:nvSpPr>
          <p:cNvPr id="6" name="Rectangle 5">
            <a:extLst>
              <a:ext uri="{FF2B5EF4-FFF2-40B4-BE49-F238E27FC236}">
                <a16:creationId xmlns:a16="http://schemas.microsoft.com/office/drawing/2014/main" id="{9351171A-7CF6-4819-B216-5063A70B8A15}"/>
              </a:ext>
              <a:ext uri="{C183D7F6-B498-43B3-948B-1728B52AA6E4}">
                <adec:decorative xmlns:adec="http://schemas.microsoft.com/office/drawing/2017/decorative" val="0"/>
              </a:ext>
            </a:extLst>
          </p:cNvPr>
          <p:cNvSpPr/>
          <p:nvPr/>
        </p:nvSpPr>
        <p:spPr bwMode="auto">
          <a:xfrm>
            <a:off x="455995" y="3155560"/>
            <a:ext cx="4872758" cy="98464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Standard SKU - gives you access to all Azure regions in a geopolitical area</a:t>
            </a:r>
          </a:p>
        </p:txBody>
      </p:sp>
      <p:sp>
        <p:nvSpPr>
          <p:cNvPr id="8" name="Rectangle 7">
            <a:extLst>
              <a:ext uri="{FF2B5EF4-FFF2-40B4-BE49-F238E27FC236}">
                <a16:creationId xmlns:a16="http://schemas.microsoft.com/office/drawing/2014/main" id="{371F1BF5-BFAA-49F9-BB03-09D9AC4F1939}"/>
              </a:ext>
              <a:ext uri="{C183D7F6-B498-43B3-948B-1728B52AA6E4}">
                <adec:decorative xmlns:adec="http://schemas.microsoft.com/office/drawing/2017/decorative" val="0"/>
              </a:ext>
            </a:extLst>
          </p:cNvPr>
          <p:cNvSpPr/>
          <p:nvPr/>
        </p:nvSpPr>
        <p:spPr bwMode="auto">
          <a:xfrm>
            <a:off x="455995" y="4753843"/>
            <a:ext cx="4835404" cy="98464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Premium SKU - </a:t>
            </a:r>
            <a:r>
              <a:rPr lang="en-US" sz="1800" b="0" i="0">
                <a:solidFill>
                  <a:srgbClr val="323130"/>
                </a:solidFill>
                <a:effectLst/>
                <a:latin typeface="az_ea_font"/>
              </a:rPr>
              <a:t>provides support for more than 4K routes, ability to connect to more than 10 virtual networks, and global connectivity</a:t>
            </a:r>
            <a:r>
              <a:rPr lang="en-US" sz="1765">
                <a:solidFill>
                  <a:schemeClr val="tx1"/>
                </a:solidFill>
              </a:rPr>
              <a:t> </a:t>
            </a:r>
          </a:p>
        </p:txBody>
      </p:sp>
      <p:pic>
        <p:nvPicPr>
          <p:cNvPr id="16" name="Picture 15" descr="Azure portal screenshot configuration page for ExpressRoute circuit ">
            <a:extLst>
              <a:ext uri="{FF2B5EF4-FFF2-40B4-BE49-F238E27FC236}">
                <a16:creationId xmlns:a16="http://schemas.microsoft.com/office/drawing/2014/main" id="{7740344F-A3F6-47F7-97DC-271902933634}"/>
              </a:ext>
            </a:extLst>
          </p:cNvPr>
          <p:cNvPicPr>
            <a:picLocks noChangeAspect="1"/>
          </p:cNvPicPr>
          <p:nvPr/>
        </p:nvPicPr>
        <p:blipFill>
          <a:blip r:embed="rId3"/>
          <a:stretch>
            <a:fillRect/>
          </a:stretch>
        </p:blipFill>
        <p:spPr>
          <a:xfrm>
            <a:off x="5553075" y="1169264"/>
            <a:ext cx="6448425" cy="4400550"/>
          </a:xfrm>
          <a:prstGeom prst="rect">
            <a:avLst/>
          </a:prstGeom>
        </p:spPr>
      </p:pic>
      <p:sp>
        <p:nvSpPr>
          <p:cNvPr id="3" name="Rectangle 2">
            <a:extLst>
              <a:ext uri="{FF2B5EF4-FFF2-40B4-BE49-F238E27FC236}">
                <a16:creationId xmlns:a16="http://schemas.microsoft.com/office/drawing/2014/main" id="{921D6077-9235-4707-B0B4-AF1C523DBA70}"/>
              </a:ext>
              <a:ext uri="{C183D7F6-B498-43B3-948B-1728B52AA6E4}">
                <adec:decorative xmlns:adec="http://schemas.microsoft.com/office/drawing/2017/decorative" val="1"/>
              </a:ext>
            </a:extLst>
          </p:cNvPr>
          <p:cNvSpPr/>
          <p:nvPr/>
        </p:nvSpPr>
        <p:spPr bwMode="auto">
          <a:xfrm>
            <a:off x="5657850" y="1169264"/>
            <a:ext cx="6115508" cy="4569220"/>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23854431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FF0A-94EB-4F74-AEAF-C16BBF504F02}"/>
              </a:ext>
            </a:extLst>
          </p:cNvPr>
          <p:cNvSpPr>
            <a:spLocks noGrp="1"/>
          </p:cNvSpPr>
          <p:nvPr>
            <p:ph type="title"/>
          </p:nvPr>
        </p:nvSpPr>
        <p:spPr>
          <a:xfrm>
            <a:off x="455995" y="623224"/>
            <a:ext cx="11306469" cy="397545"/>
          </a:xfrm>
        </p:spPr>
        <p:txBody>
          <a:bodyPr/>
          <a:lstStyle/>
          <a:p>
            <a:r>
              <a:rPr lang="en-US" sz="2800" dirty="0">
                <a:solidFill>
                  <a:schemeClr val="tx1"/>
                </a:solidFill>
              </a:rPr>
              <a:t>Choose a peering location </a:t>
            </a:r>
            <a:endParaRPr lang="en-US" dirty="0"/>
          </a:p>
        </p:txBody>
      </p:sp>
      <p:pic>
        <p:nvPicPr>
          <p:cNvPr id="1026" name="Picture 2" descr="map of Azure networking meet me points ">
            <a:extLst>
              <a:ext uri="{FF2B5EF4-FFF2-40B4-BE49-F238E27FC236}">
                <a16:creationId xmlns:a16="http://schemas.microsoft.com/office/drawing/2014/main" id="{B52DCA29-D29F-408E-A357-7D4D6A62C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845" y="1112515"/>
            <a:ext cx="8851900" cy="4979194"/>
          </a:xfrm>
          <a:prstGeom prst="rect">
            <a:avLst/>
          </a:prstGeom>
          <a:noFill/>
        </p:spPr>
      </p:pic>
      <p:sp>
        <p:nvSpPr>
          <p:cNvPr id="3" name="Rectangle 2">
            <a:extLst>
              <a:ext uri="{FF2B5EF4-FFF2-40B4-BE49-F238E27FC236}">
                <a16:creationId xmlns:a16="http://schemas.microsoft.com/office/drawing/2014/main" id="{27CAA877-8972-4F2C-8CDE-5F93C2994BAB}"/>
              </a:ext>
              <a:ext uri="{C183D7F6-B498-43B3-948B-1728B52AA6E4}">
                <adec:decorative xmlns:adec="http://schemas.microsoft.com/office/drawing/2017/decorative" val="1"/>
              </a:ext>
            </a:extLst>
          </p:cNvPr>
          <p:cNvSpPr/>
          <p:nvPr/>
        </p:nvSpPr>
        <p:spPr bwMode="auto">
          <a:xfrm>
            <a:off x="1752600" y="1026195"/>
            <a:ext cx="9153525" cy="518391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60050990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F25E-8E5D-4DC1-BDF1-E1DEB708D79E}"/>
              </a:ext>
            </a:extLst>
          </p:cNvPr>
          <p:cNvSpPr>
            <a:spLocks noGrp="1"/>
          </p:cNvSpPr>
          <p:nvPr>
            <p:ph type="title"/>
          </p:nvPr>
        </p:nvSpPr>
        <p:spPr>
          <a:xfrm>
            <a:off x="455995" y="623224"/>
            <a:ext cx="11306469" cy="397545"/>
          </a:xfrm>
        </p:spPr>
        <p:txBody>
          <a:bodyPr/>
          <a:lstStyle/>
          <a:p>
            <a:r>
              <a:rPr lang="en-US" sz="2800" dirty="0">
                <a:solidFill>
                  <a:schemeClr val="tx1"/>
                </a:solidFill>
              </a:rPr>
              <a:t>Choose the right ExpressRoute Circuit and billing model</a:t>
            </a:r>
            <a:endParaRPr lang="en-US" dirty="0"/>
          </a:p>
        </p:txBody>
      </p:sp>
      <p:sp>
        <p:nvSpPr>
          <p:cNvPr id="14" name="Rectangle 13">
            <a:extLst>
              <a:ext uri="{FF2B5EF4-FFF2-40B4-BE49-F238E27FC236}">
                <a16:creationId xmlns:a16="http://schemas.microsoft.com/office/drawing/2014/main" id="{D3DA41EC-6575-4A34-ADCB-7AA2893870EB}"/>
              </a:ext>
              <a:ext uri="{C183D7F6-B498-43B3-948B-1728B52AA6E4}">
                <adec:decorative xmlns:adec="http://schemas.microsoft.com/office/drawing/2017/decorative" val="0"/>
              </a:ext>
            </a:extLst>
          </p:cNvPr>
          <p:cNvSpPr/>
          <p:nvPr/>
        </p:nvSpPr>
        <p:spPr bwMode="auto">
          <a:xfrm>
            <a:off x="466890" y="2021270"/>
            <a:ext cx="4835404" cy="6182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Choose Metered or unlimited data plan </a:t>
            </a:r>
          </a:p>
        </p:txBody>
      </p:sp>
      <p:sp>
        <p:nvSpPr>
          <p:cNvPr id="18" name="Rectangle 17">
            <a:extLst>
              <a:ext uri="{FF2B5EF4-FFF2-40B4-BE49-F238E27FC236}">
                <a16:creationId xmlns:a16="http://schemas.microsoft.com/office/drawing/2014/main" id="{BF88FCE9-3E53-450D-888F-F1A74D97C759}"/>
              </a:ext>
              <a:ext uri="{C183D7F6-B498-43B3-948B-1728B52AA6E4}">
                <adec:decorative xmlns:adec="http://schemas.microsoft.com/office/drawing/2017/decorative" val="0"/>
              </a:ext>
            </a:extLst>
          </p:cNvPr>
          <p:cNvSpPr/>
          <p:nvPr/>
        </p:nvSpPr>
        <p:spPr bwMode="auto">
          <a:xfrm>
            <a:off x="466890" y="2891480"/>
            <a:ext cx="4835404" cy="61825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Choose Bandwidth </a:t>
            </a:r>
          </a:p>
        </p:txBody>
      </p:sp>
      <p:sp>
        <p:nvSpPr>
          <p:cNvPr id="20" name="Rectangle 19">
            <a:extLst>
              <a:ext uri="{FF2B5EF4-FFF2-40B4-BE49-F238E27FC236}">
                <a16:creationId xmlns:a16="http://schemas.microsoft.com/office/drawing/2014/main" id="{FD8BE8CC-013F-4AED-8380-6BE15D0177B6}"/>
              </a:ext>
              <a:ext uri="{C183D7F6-B498-43B3-948B-1728B52AA6E4}">
                <adec:decorative xmlns:adec="http://schemas.microsoft.com/office/drawing/2017/decorative" val="0"/>
              </a:ext>
            </a:extLst>
          </p:cNvPr>
          <p:cNvSpPr/>
          <p:nvPr/>
        </p:nvSpPr>
        <p:spPr bwMode="auto">
          <a:xfrm>
            <a:off x="466890" y="3654075"/>
            <a:ext cx="4835404" cy="78825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You can increase gateway size but not decrease without service outage </a:t>
            </a:r>
          </a:p>
        </p:txBody>
      </p:sp>
      <p:sp>
        <p:nvSpPr>
          <p:cNvPr id="22" name="Rectangle 21">
            <a:extLst>
              <a:ext uri="{FF2B5EF4-FFF2-40B4-BE49-F238E27FC236}">
                <a16:creationId xmlns:a16="http://schemas.microsoft.com/office/drawing/2014/main" id="{C232502E-C16F-460D-9C2C-99684E166036}"/>
              </a:ext>
              <a:ext uri="{C183D7F6-B498-43B3-948B-1728B52AA6E4}">
                <adec:decorative xmlns:adec="http://schemas.microsoft.com/office/drawing/2017/decorative" val="0"/>
              </a:ext>
            </a:extLst>
          </p:cNvPr>
          <p:cNvSpPr/>
          <p:nvPr/>
        </p:nvSpPr>
        <p:spPr bwMode="auto">
          <a:xfrm>
            <a:off x="466888" y="4753943"/>
            <a:ext cx="4835405" cy="78825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Pricing varies by region and zone</a:t>
            </a:r>
          </a:p>
        </p:txBody>
      </p:sp>
      <p:sp>
        <p:nvSpPr>
          <p:cNvPr id="4" name="Rectangle 3">
            <a:extLst>
              <a:ext uri="{FF2B5EF4-FFF2-40B4-BE49-F238E27FC236}">
                <a16:creationId xmlns:a16="http://schemas.microsoft.com/office/drawing/2014/main" id="{08FEA0F7-D8AC-4D3B-9FC8-CB366B7C99C7}"/>
              </a:ext>
              <a:ext uri="{C183D7F6-B498-43B3-948B-1728B52AA6E4}">
                <adec:decorative xmlns:adec="http://schemas.microsoft.com/office/drawing/2017/decorative" val="0"/>
              </a:ext>
            </a:extLst>
          </p:cNvPr>
          <p:cNvSpPr/>
          <p:nvPr/>
        </p:nvSpPr>
        <p:spPr bwMode="auto">
          <a:xfrm>
            <a:off x="6889707" y="1342944"/>
            <a:ext cx="4872757" cy="154853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b="1">
                <a:solidFill>
                  <a:schemeClr val="tx1"/>
                </a:solidFill>
              </a:rPr>
              <a:t>Unlimited data. </a:t>
            </a:r>
            <a:r>
              <a:rPr lang="en-US" sz="1765">
                <a:solidFill>
                  <a:schemeClr val="tx1"/>
                </a:solidFill>
              </a:rPr>
              <a:t>Billing is based on a monthly fee; all inbound and outbound data transfer is included free of charge.</a:t>
            </a:r>
          </a:p>
        </p:txBody>
      </p:sp>
      <p:sp>
        <p:nvSpPr>
          <p:cNvPr id="10" name="Rectangle 9">
            <a:extLst>
              <a:ext uri="{FF2B5EF4-FFF2-40B4-BE49-F238E27FC236}">
                <a16:creationId xmlns:a16="http://schemas.microsoft.com/office/drawing/2014/main" id="{C63E90FA-8F53-4291-BC44-7A9290E3EB0A}"/>
              </a:ext>
              <a:ext uri="{C183D7F6-B498-43B3-948B-1728B52AA6E4}">
                <adec:decorative xmlns:adec="http://schemas.microsoft.com/office/drawing/2017/decorative" val="0"/>
              </a:ext>
            </a:extLst>
          </p:cNvPr>
          <p:cNvSpPr/>
          <p:nvPr/>
        </p:nvSpPr>
        <p:spPr bwMode="auto">
          <a:xfrm>
            <a:off x="6889706" y="3014592"/>
            <a:ext cx="4872757" cy="154853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b="1">
                <a:solidFill>
                  <a:schemeClr val="tx1"/>
                </a:solidFill>
              </a:rPr>
              <a:t>Metered data. </a:t>
            </a:r>
            <a:r>
              <a:rPr lang="en-US" sz="1765">
                <a:solidFill>
                  <a:schemeClr val="tx1"/>
                </a:solidFill>
              </a:rPr>
              <a:t>Billing is based on a monthly fee; all inbound data transfer is free of charge. Outbound data transfer is charged per GB of data transfer. Data transfer rates vary by region.</a:t>
            </a:r>
          </a:p>
        </p:txBody>
      </p:sp>
      <p:sp>
        <p:nvSpPr>
          <p:cNvPr id="12" name="Rectangle 11">
            <a:extLst>
              <a:ext uri="{FF2B5EF4-FFF2-40B4-BE49-F238E27FC236}">
                <a16:creationId xmlns:a16="http://schemas.microsoft.com/office/drawing/2014/main" id="{532394C3-0E0F-4967-A44A-3B26A37AC747}"/>
              </a:ext>
              <a:ext uri="{C183D7F6-B498-43B3-948B-1728B52AA6E4}">
                <adec:decorative xmlns:adec="http://schemas.microsoft.com/office/drawing/2017/decorative" val="0"/>
              </a:ext>
            </a:extLst>
          </p:cNvPr>
          <p:cNvSpPr/>
          <p:nvPr/>
        </p:nvSpPr>
        <p:spPr bwMode="auto">
          <a:xfrm>
            <a:off x="6889706" y="4686240"/>
            <a:ext cx="4872757" cy="154853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b="1">
                <a:solidFill>
                  <a:schemeClr val="tx1"/>
                </a:solidFill>
              </a:rPr>
              <a:t>ExpressRoute premium add-on</a:t>
            </a:r>
            <a:r>
              <a:rPr lang="en-US" sz="1765">
                <a:solidFill>
                  <a:schemeClr val="tx1"/>
                </a:solidFill>
              </a:rPr>
              <a:t>. ExpressRoute premium is an add-on to the ExpressRoute circuit.</a:t>
            </a:r>
          </a:p>
        </p:txBody>
      </p:sp>
    </p:spTree>
    <p:extLst>
      <p:ext uri="{BB962C8B-B14F-4D97-AF65-F5344CB8AC3E}">
        <p14:creationId xmlns:p14="http://schemas.microsoft.com/office/powerpoint/2010/main" val="127096297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3AA9-9013-4982-9938-7B5B9415D043}"/>
              </a:ext>
            </a:extLst>
          </p:cNvPr>
          <p:cNvSpPr>
            <a:spLocks noGrp="1"/>
          </p:cNvSpPr>
          <p:nvPr>
            <p:ph type="title"/>
          </p:nvPr>
        </p:nvSpPr>
        <p:spPr/>
        <p:txBody>
          <a:bodyPr/>
          <a:lstStyle/>
          <a:p>
            <a:r>
              <a:rPr lang="en-US" dirty="0"/>
              <a:t>Demonstration </a:t>
            </a:r>
          </a:p>
        </p:txBody>
      </p:sp>
      <p:pic>
        <p:nvPicPr>
          <p:cNvPr id="4" name="Picture 3" descr="Icon of two gears">
            <a:extLst>
              <a:ext uri="{FF2B5EF4-FFF2-40B4-BE49-F238E27FC236}">
                <a16:creationId xmlns:a16="http://schemas.microsoft.com/office/drawing/2014/main" id="{DE6A8CA6-5758-4F0B-9643-9877CEABA27A}"/>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955C4A49-E878-4EAD-9348-CE2A0D971DF4}"/>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Review and deploy ExpressRoute circuit </a:t>
            </a:r>
          </a:p>
        </p:txBody>
      </p:sp>
      <p:cxnSp>
        <p:nvCxnSpPr>
          <p:cNvPr id="8" name="Straight Connector 7">
            <a:extLst>
              <a:ext uri="{FF2B5EF4-FFF2-40B4-BE49-F238E27FC236}">
                <a16:creationId xmlns:a16="http://schemas.microsoft.com/office/drawing/2014/main" id="{A5622BD9-B890-4D57-B50D-F65889FBA5CC}"/>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2401EF03-B2A0-47C8-AC50-11FB28974C88}"/>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1A4DEDE3-9DFF-42A1-A2FF-981F57ACC40D}"/>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Review and deploy ExpressRoute gateway </a:t>
            </a:r>
          </a:p>
        </p:txBody>
      </p:sp>
      <p:cxnSp>
        <p:nvCxnSpPr>
          <p:cNvPr id="14" name="Straight Connector 13">
            <a:extLst>
              <a:ext uri="{FF2B5EF4-FFF2-40B4-BE49-F238E27FC236}">
                <a16:creationId xmlns:a16="http://schemas.microsoft.com/office/drawing/2014/main" id="{3FDF0884-A63F-451F-9348-1C66E425F97F}"/>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21887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t>Design for an ExpressRoute deployment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600">
                <a:hlinkClick r:id="rId3"/>
              </a:rPr>
              <a:t>Azure ExpressRoute: Designing for high availability | Microsoft Docs</a:t>
            </a:r>
            <a:endParaRPr lang="en-US" sz="1765">
              <a:solidFill>
                <a:schemeClr val="tx1"/>
              </a:solidFill>
            </a:endParaRPr>
          </a:p>
        </p:txBody>
      </p:sp>
      <p:sp>
        <p:nvSpPr>
          <p:cNvPr id="8" name="Rectangle 7">
            <a:extLst>
              <a:ext uri="{FF2B5EF4-FFF2-40B4-BE49-F238E27FC236}">
                <a16:creationId xmlns:a16="http://schemas.microsoft.com/office/drawing/2014/main" id="{74FB8EB5-9373-4BF7-A4F4-0EBE905EA0D8}"/>
              </a:ext>
              <a:ext uri="{C183D7F6-B498-43B3-948B-1728B52AA6E4}">
                <adec:decorative xmlns:adec="http://schemas.microsoft.com/office/drawing/2017/decorative" val="1"/>
              </a:ext>
            </a:extLst>
          </p:cNvPr>
          <p:cNvSpPr/>
          <p:nvPr/>
        </p:nvSpPr>
        <p:spPr>
          <a:xfrm>
            <a:off x="4770523" y="3019227"/>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cxnSp>
        <p:nvCxnSpPr>
          <p:cNvPr id="14" name="Straight Connector 13">
            <a:extLst>
              <a:ext uri="{FF2B5EF4-FFF2-40B4-BE49-F238E27FC236}">
                <a16:creationId xmlns:a16="http://schemas.microsoft.com/office/drawing/2014/main" id="{B8019769-3D92-44B8-B3D0-907648D9CF64}"/>
              </a:ext>
              <a:ext uri="{C183D7F6-B498-43B3-948B-1728B52AA6E4}">
                <adec:decorative xmlns:adec="http://schemas.microsoft.com/office/drawing/2017/decorative" val="1"/>
              </a:ext>
            </a:extLst>
          </p:cNvPr>
          <p:cNvCxnSpPr>
            <a:cxnSpLocks/>
          </p:cNvCxnSpPr>
          <p:nvPr/>
        </p:nvCxnSpPr>
        <p:spPr>
          <a:xfrm>
            <a:off x="4841850" y="3608958"/>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9429252-7CFD-41AC-AAEE-67657518E9FC}"/>
              </a:ext>
            </a:extLst>
          </p:cNvPr>
          <p:cNvSpPr txBox="1"/>
          <p:nvPr/>
        </p:nvSpPr>
        <p:spPr>
          <a:xfrm>
            <a:off x="4841850" y="2923659"/>
            <a:ext cx="6098344" cy="646331"/>
          </a:xfrm>
          <a:prstGeom prst="rect">
            <a:avLst/>
          </a:prstGeom>
          <a:noFill/>
        </p:spPr>
        <p:txBody>
          <a:bodyPr wrap="square">
            <a:spAutoFit/>
          </a:bodyPr>
          <a:lstStyle/>
          <a:p>
            <a:r>
              <a:rPr lang="en-US" dirty="0">
                <a:hlinkClick r:id="rId5"/>
              </a:rPr>
              <a:t>Extend an on-premises network using ExpressRoute - Azure Architecture Center | Microsoft Docs</a:t>
            </a:r>
            <a:endParaRPr lang="en-US" dirty="0"/>
          </a:p>
        </p:txBody>
      </p:sp>
    </p:spTree>
    <p:extLst>
      <p:ext uri="{BB962C8B-B14F-4D97-AF65-F5344CB8AC3E}">
        <p14:creationId xmlns:p14="http://schemas.microsoft.com/office/powerpoint/2010/main" val="42696244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dirty="0"/>
              <a:t>Lesson 03: </a:t>
            </a:r>
            <a:r>
              <a:rPr lang="en-US" sz="3600" dirty="0"/>
              <a:t>Exercise - Configure an ExpressRoute Gateway </a:t>
            </a:r>
            <a:endParaRPr lang="en-US" dirty="0"/>
          </a:p>
        </p:txBody>
      </p:sp>
      <p:grpSp>
        <p:nvGrpSpPr>
          <p:cNvPr id="4" name="Group 3">
            <a:extLst>
              <a:ext uri="{FF2B5EF4-FFF2-40B4-BE49-F238E27FC236}">
                <a16:creationId xmlns:a16="http://schemas.microsoft.com/office/drawing/2014/main" id="{ACDA176B-571D-4FB6-B791-213356D71021}"/>
              </a:ext>
              <a:ext uri="{C183D7F6-B498-43B3-948B-1728B52AA6E4}">
                <adec:decorative xmlns:adec="http://schemas.microsoft.com/office/drawing/2017/decorative" val="1"/>
              </a:ext>
            </a:extLst>
          </p:cNvPr>
          <p:cNvGrpSpPr/>
          <p:nvPr/>
        </p:nvGrpSpPr>
        <p:grpSpPr>
          <a:xfrm>
            <a:off x="10337894" y="3070379"/>
            <a:ext cx="717140" cy="717242"/>
            <a:chOff x="418643" y="3134008"/>
            <a:chExt cx="717140" cy="717242"/>
          </a:xfrm>
        </p:grpSpPr>
        <p:grpSp>
          <p:nvGrpSpPr>
            <p:cNvPr id="5" name="Group 4">
              <a:extLst>
                <a:ext uri="{FF2B5EF4-FFF2-40B4-BE49-F238E27FC236}">
                  <a16:creationId xmlns:a16="http://schemas.microsoft.com/office/drawing/2014/main" id="{3CC408A7-F235-475C-A4EB-F57E04D2340C}"/>
                </a:ext>
              </a:extLst>
            </p:cNvPr>
            <p:cNvGrpSpPr/>
            <p:nvPr/>
          </p:nvGrpSpPr>
          <p:grpSpPr>
            <a:xfrm>
              <a:off x="418643" y="3134008"/>
              <a:ext cx="717140" cy="717242"/>
              <a:chOff x="418643" y="3134008"/>
              <a:chExt cx="717140" cy="717242"/>
            </a:xfrm>
          </p:grpSpPr>
          <p:sp>
            <p:nvSpPr>
              <p:cNvPr id="7" name="Freeform 5">
                <a:extLst>
                  <a:ext uri="{FF2B5EF4-FFF2-40B4-BE49-F238E27FC236}">
                    <a16:creationId xmlns:a16="http://schemas.microsoft.com/office/drawing/2014/main" id="{3B26CCFA-A93A-4C16-977A-18C2FDE1100A}"/>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225D309C-6777-4A0D-AF7E-48A997954DFD}"/>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6F944A20-F3C0-4E0F-9EC0-D116CE2C3DEC}"/>
                </a:ext>
              </a:extLst>
            </p:cNvPr>
            <p:cNvPicPr>
              <a:picLocks noChangeAspect="1"/>
            </p:cNvPicPr>
            <p:nvPr/>
          </p:nvPicPr>
          <p:blipFill>
            <a:blip r:embed="rId2"/>
            <a:stretch>
              <a:fillRect/>
            </a:stretch>
          </p:blipFill>
          <p:spPr>
            <a:xfrm>
              <a:off x="526606" y="3382030"/>
              <a:ext cx="501214" cy="221198"/>
            </a:xfrm>
            <a:prstGeom prst="rect">
              <a:avLst/>
            </a:prstGeom>
          </p:spPr>
        </p:pic>
      </p:grpSp>
    </p:spTree>
    <p:extLst>
      <p:ext uri="{BB962C8B-B14F-4D97-AF65-F5344CB8AC3E}">
        <p14:creationId xmlns:p14="http://schemas.microsoft.com/office/powerpoint/2010/main" val="34547052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891431-B86F-436D-8D36-F82C3E7F89C5}"/>
              </a:ext>
            </a:extLst>
          </p:cNvPr>
          <p:cNvSpPr>
            <a:spLocks noGrp="1"/>
          </p:cNvSpPr>
          <p:nvPr>
            <p:ph type="title"/>
          </p:nvPr>
        </p:nvSpPr>
        <p:spPr/>
        <p:txBody>
          <a:bodyPr/>
          <a:lstStyle/>
          <a:p>
            <a:r>
              <a:rPr lang="en-US" dirty="0"/>
              <a:t>Exercise - Configure an ExpressRoute Gateway</a:t>
            </a:r>
          </a:p>
        </p:txBody>
      </p:sp>
      <p:sp>
        <p:nvSpPr>
          <p:cNvPr id="5" name="TextBox 4">
            <a:extLst>
              <a:ext uri="{FF2B5EF4-FFF2-40B4-BE49-F238E27FC236}">
                <a16:creationId xmlns:a16="http://schemas.microsoft.com/office/drawing/2014/main" id="{6676E404-CDC6-4043-885F-3563E18BC2F4}"/>
              </a:ext>
            </a:extLst>
          </p:cNvPr>
          <p:cNvSpPr txBox="1"/>
          <p:nvPr/>
        </p:nvSpPr>
        <p:spPr>
          <a:xfrm>
            <a:off x="893618" y="1205271"/>
            <a:ext cx="4656291" cy="1605568"/>
          </a:xfrm>
          <a:prstGeom prst="rect">
            <a:avLst/>
          </a:prstGeom>
          <a:noFill/>
        </p:spPr>
        <p:txBody>
          <a:bodyPr wrap="square" rtlCol="0">
            <a:spAutoFit/>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this exercise, you learn how to:</a:t>
            </a:r>
          </a:p>
          <a:p>
            <a:pPr algn="l"/>
            <a:r>
              <a:rPr lang="en-US" b="0" i="0" dirty="0">
                <a:solidFill>
                  <a:srgbClr val="24292E"/>
                </a:solidFill>
                <a:effectLst/>
                <a:latin typeface="-apple-system"/>
              </a:rPr>
              <a:t>Task 1: Create the VNet and gateway subnet</a:t>
            </a:r>
          </a:p>
          <a:p>
            <a:pPr algn="l"/>
            <a:endParaRPr lang="en-US" b="0" i="0" dirty="0">
              <a:solidFill>
                <a:srgbClr val="24292E"/>
              </a:solidFill>
              <a:effectLst/>
              <a:latin typeface="-apple-system"/>
            </a:endParaRPr>
          </a:p>
          <a:p>
            <a:pPr algn="l"/>
            <a:r>
              <a:rPr lang="en-US" b="0" i="0" dirty="0">
                <a:solidFill>
                  <a:srgbClr val="24292E"/>
                </a:solidFill>
                <a:effectLst/>
                <a:latin typeface="-apple-system"/>
              </a:rPr>
              <a:t>Task 2: Create the virtual network gateway</a:t>
            </a:r>
          </a:p>
          <a:p>
            <a:endParaRPr lang="en-US" dirty="0"/>
          </a:p>
        </p:txBody>
      </p:sp>
      <p:pic>
        <p:nvPicPr>
          <p:cNvPr id="11" name="Picture 10" descr="ExpressRoute circuit, Microsoft edge routers and ExpressRoute Gateway">
            <a:extLst>
              <a:ext uri="{FF2B5EF4-FFF2-40B4-BE49-F238E27FC236}">
                <a16:creationId xmlns:a16="http://schemas.microsoft.com/office/drawing/2014/main" id="{B67AFF59-7107-4E85-8400-CE5DA9D8E6C9}"/>
              </a:ext>
            </a:extLst>
          </p:cNvPr>
          <p:cNvPicPr>
            <a:picLocks noChangeAspect="1"/>
          </p:cNvPicPr>
          <p:nvPr/>
        </p:nvPicPr>
        <p:blipFill>
          <a:blip r:embed="rId3"/>
          <a:stretch>
            <a:fillRect/>
          </a:stretch>
        </p:blipFill>
        <p:spPr>
          <a:xfrm>
            <a:off x="7984980" y="620427"/>
            <a:ext cx="2809875" cy="1943100"/>
          </a:xfrm>
          <a:prstGeom prst="rect">
            <a:avLst/>
          </a:prstGeom>
        </p:spPr>
      </p:pic>
      <p:sp>
        <p:nvSpPr>
          <p:cNvPr id="9" name="Rectangle 8">
            <a:extLst>
              <a:ext uri="{FF2B5EF4-FFF2-40B4-BE49-F238E27FC236}">
                <a16:creationId xmlns:a16="http://schemas.microsoft.com/office/drawing/2014/main" id="{0A3EFB11-E9D6-4484-861C-32C8B3ABC1BC}"/>
              </a:ext>
              <a:ext uri="{C183D7F6-B498-43B3-948B-1728B52AA6E4}">
                <adec:decorative xmlns:adec="http://schemas.microsoft.com/office/drawing/2017/decorative" val="1"/>
              </a:ext>
            </a:extLst>
          </p:cNvPr>
          <p:cNvSpPr/>
          <p:nvPr/>
        </p:nvSpPr>
        <p:spPr bwMode="auto">
          <a:xfrm>
            <a:off x="3408219" y="2979769"/>
            <a:ext cx="3023754" cy="208978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pic>
        <p:nvPicPr>
          <p:cNvPr id="4" name="Picture 3" descr="an on-premises network connected to an Azure virtual network, using Azure ExpressRoute">
            <a:extLst>
              <a:ext uri="{FF2B5EF4-FFF2-40B4-BE49-F238E27FC236}">
                <a16:creationId xmlns:a16="http://schemas.microsoft.com/office/drawing/2014/main" id="{109F545A-5E93-410D-B7C5-71904442A580}"/>
              </a:ext>
            </a:extLst>
          </p:cNvPr>
          <p:cNvPicPr>
            <a:picLocks noChangeAspect="1"/>
          </p:cNvPicPr>
          <p:nvPr/>
        </p:nvPicPr>
        <p:blipFill>
          <a:blip r:embed="rId4"/>
          <a:stretch>
            <a:fillRect/>
          </a:stretch>
        </p:blipFill>
        <p:spPr>
          <a:xfrm>
            <a:off x="1176938" y="3072486"/>
            <a:ext cx="10121444" cy="3165086"/>
          </a:xfrm>
          <a:prstGeom prst="rect">
            <a:avLst/>
          </a:prstGeom>
        </p:spPr>
      </p:pic>
      <p:sp>
        <p:nvSpPr>
          <p:cNvPr id="7" name="Rectangle 6">
            <a:extLst>
              <a:ext uri="{FF2B5EF4-FFF2-40B4-BE49-F238E27FC236}">
                <a16:creationId xmlns:a16="http://schemas.microsoft.com/office/drawing/2014/main" id="{32E9B118-EBAB-4915-8E43-C05C2A475BB2}"/>
              </a:ext>
              <a:ext uri="{C183D7F6-B498-43B3-948B-1728B52AA6E4}">
                <adec:decorative xmlns:adec="http://schemas.microsoft.com/office/drawing/2017/decorative" val="1"/>
              </a:ext>
            </a:extLst>
          </p:cNvPr>
          <p:cNvSpPr/>
          <p:nvPr/>
        </p:nvSpPr>
        <p:spPr bwMode="auto">
          <a:xfrm>
            <a:off x="893618" y="2753590"/>
            <a:ext cx="10879739" cy="348398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3842700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dirty="0"/>
              <a:t>Lesson 04: </a:t>
            </a:r>
            <a:r>
              <a:rPr lang="fr-FR" sz="3600" dirty="0"/>
              <a:t>Exercice - Provision an ExpressRoute circuit</a:t>
            </a:r>
            <a:endParaRPr lang="en-US" dirty="0"/>
          </a:p>
        </p:txBody>
      </p:sp>
      <p:grpSp>
        <p:nvGrpSpPr>
          <p:cNvPr id="4" name="Group 3">
            <a:extLst>
              <a:ext uri="{FF2B5EF4-FFF2-40B4-BE49-F238E27FC236}">
                <a16:creationId xmlns:a16="http://schemas.microsoft.com/office/drawing/2014/main" id="{0C40D39B-F178-4819-857B-99C3595F42C9}"/>
              </a:ext>
              <a:ext uri="{C183D7F6-B498-43B3-948B-1728B52AA6E4}">
                <adec:decorative xmlns:adec="http://schemas.microsoft.com/office/drawing/2017/decorative" val="1"/>
              </a:ext>
            </a:extLst>
          </p:cNvPr>
          <p:cNvGrpSpPr/>
          <p:nvPr/>
        </p:nvGrpSpPr>
        <p:grpSpPr>
          <a:xfrm>
            <a:off x="10367713" y="3070379"/>
            <a:ext cx="717140" cy="717242"/>
            <a:chOff x="418643" y="3980133"/>
            <a:chExt cx="717140" cy="717242"/>
          </a:xfrm>
        </p:grpSpPr>
        <p:grpSp>
          <p:nvGrpSpPr>
            <p:cNvPr id="5" name="Group 4">
              <a:extLst>
                <a:ext uri="{FF2B5EF4-FFF2-40B4-BE49-F238E27FC236}">
                  <a16:creationId xmlns:a16="http://schemas.microsoft.com/office/drawing/2014/main" id="{FE26E25D-A3CB-4AA2-ABB9-FC8A5154FEF5}"/>
                </a:ext>
              </a:extLst>
            </p:cNvPr>
            <p:cNvGrpSpPr/>
            <p:nvPr/>
          </p:nvGrpSpPr>
          <p:grpSpPr>
            <a:xfrm>
              <a:off x="418643" y="3980133"/>
              <a:ext cx="717140" cy="717242"/>
              <a:chOff x="418643" y="3980133"/>
              <a:chExt cx="717140" cy="717242"/>
            </a:xfrm>
          </p:grpSpPr>
          <p:sp>
            <p:nvSpPr>
              <p:cNvPr id="7" name="Freeform 5">
                <a:extLst>
                  <a:ext uri="{FF2B5EF4-FFF2-40B4-BE49-F238E27FC236}">
                    <a16:creationId xmlns:a16="http://schemas.microsoft.com/office/drawing/2014/main" id="{076828E6-DCFE-4943-BB9C-C8EA5A450693}"/>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8D966C55-0936-4022-BFBA-71E0B2277ED3}"/>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bulb">
              <a:extLst>
                <a:ext uri="{FF2B5EF4-FFF2-40B4-BE49-F238E27FC236}">
                  <a16:creationId xmlns:a16="http://schemas.microsoft.com/office/drawing/2014/main" id="{8AA6DD9E-11DA-42AD-A9CB-A4BCF48BD417}"/>
                </a:ext>
              </a:extLst>
            </p:cNvPr>
            <p:cNvPicPr>
              <a:picLocks noChangeAspect="1"/>
            </p:cNvPicPr>
            <p:nvPr/>
          </p:nvPicPr>
          <p:blipFill>
            <a:blip r:embed="rId2"/>
            <a:stretch>
              <a:fillRect/>
            </a:stretch>
          </p:blipFill>
          <p:spPr>
            <a:xfrm>
              <a:off x="641719" y="4150309"/>
              <a:ext cx="270988" cy="376890"/>
            </a:xfrm>
            <a:prstGeom prst="rect">
              <a:avLst/>
            </a:prstGeom>
          </p:spPr>
        </p:pic>
      </p:grpSp>
    </p:spTree>
    <p:extLst>
      <p:ext uri="{BB962C8B-B14F-4D97-AF65-F5344CB8AC3E}">
        <p14:creationId xmlns:p14="http://schemas.microsoft.com/office/powerpoint/2010/main" val="13974388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5CF5C7-931B-46C0-B33C-FE056C0B98C5}"/>
              </a:ext>
            </a:extLst>
          </p:cNvPr>
          <p:cNvSpPr>
            <a:spLocks noGrp="1"/>
          </p:cNvSpPr>
          <p:nvPr>
            <p:ph type="title"/>
          </p:nvPr>
        </p:nvSpPr>
        <p:spPr/>
        <p:txBody>
          <a:bodyPr/>
          <a:lstStyle/>
          <a:p>
            <a:r>
              <a:rPr lang="en-US" dirty="0"/>
              <a:t>Exercise </a:t>
            </a:r>
          </a:p>
        </p:txBody>
      </p:sp>
      <p:pic>
        <p:nvPicPr>
          <p:cNvPr id="4" name="Picture 3" descr="Diagram&#10;&#10;ExpressRoute circuit layout for exercise">
            <a:extLst>
              <a:ext uri="{FF2B5EF4-FFF2-40B4-BE49-F238E27FC236}">
                <a16:creationId xmlns:a16="http://schemas.microsoft.com/office/drawing/2014/main" id="{E008C17E-8DBC-441F-A7B4-F5635C4A126E}"/>
              </a:ext>
            </a:extLst>
          </p:cNvPr>
          <p:cNvPicPr/>
          <p:nvPr/>
        </p:nvPicPr>
        <p:blipFill>
          <a:blip r:embed="rId3"/>
          <a:stretch>
            <a:fillRect/>
          </a:stretch>
        </p:blipFill>
        <p:spPr bwMode="auto">
          <a:xfrm>
            <a:off x="455995" y="1502229"/>
            <a:ext cx="3243626" cy="1802266"/>
          </a:xfrm>
          <a:prstGeom prst="rect">
            <a:avLst/>
          </a:prstGeom>
          <a:noFill/>
          <a:ln>
            <a:noFill/>
          </a:ln>
        </p:spPr>
      </p:pic>
      <p:sp>
        <p:nvSpPr>
          <p:cNvPr id="2" name="Rectangle 1">
            <a:extLst>
              <a:ext uri="{FF2B5EF4-FFF2-40B4-BE49-F238E27FC236}">
                <a16:creationId xmlns:a16="http://schemas.microsoft.com/office/drawing/2014/main" id="{7D2662C3-1DDE-4E94-8233-EB1F4AB21397}"/>
              </a:ext>
              <a:ext uri="{C183D7F6-B498-43B3-948B-1728B52AA6E4}">
                <adec:decorative xmlns:adec="http://schemas.microsoft.com/office/drawing/2017/decorative" val="1"/>
              </a:ext>
            </a:extLst>
          </p:cNvPr>
          <p:cNvSpPr/>
          <p:nvPr/>
        </p:nvSpPr>
        <p:spPr bwMode="auto">
          <a:xfrm>
            <a:off x="418644" y="1169262"/>
            <a:ext cx="3410406" cy="273598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2" name="TextBox 11">
            <a:extLst>
              <a:ext uri="{FF2B5EF4-FFF2-40B4-BE49-F238E27FC236}">
                <a16:creationId xmlns:a16="http://schemas.microsoft.com/office/drawing/2014/main" id="{1D575F0C-9FD5-466D-A3C8-66FDE4D64798}"/>
              </a:ext>
            </a:extLst>
          </p:cNvPr>
          <p:cNvSpPr txBox="1"/>
          <p:nvPr/>
        </p:nvSpPr>
        <p:spPr>
          <a:xfrm>
            <a:off x="418642" y="4374498"/>
            <a:ext cx="4656291" cy="1882567"/>
          </a:xfrm>
          <a:prstGeom prst="rect">
            <a:avLst/>
          </a:prstGeom>
          <a:noFill/>
        </p:spPr>
        <p:txBody>
          <a:bodyPr wrap="square" rtlCol="0">
            <a:spAutoFit/>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this exercise, you learn how to:</a:t>
            </a:r>
          </a:p>
          <a:p>
            <a:pPr algn="l"/>
            <a:r>
              <a:rPr lang="en-US" b="0" i="0" dirty="0">
                <a:solidFill>
                  <a:srgbClr val="24292E"/>
                </a:solidFill>
                <a:effectLst/>
                <a:latin typeface="-apple-system"/>
              </a:rPr>
              <a:t>Task 1: Create and provision an ExpressRoute circuit</a:t>
            </a:r>
          </a:p>
          <a:p>
            <a:pPr algn="l"/>
            <a:r>
              <a:rPr lang="en-US" b="0" i="0" dirty="0">
                <a:solidFill>
                  <a:srgbClr val="24292E"/>
                </a:solidFill>
                <a:effectLst/>
                <a:latin typeface="-apple-system"/>
              </a:rPr>
              <a:t>Task 2: Retrieve your Service key</a:t>
            </a:r>
          </a:p>
          <a:p>
            <a:pPr algn="l"/>
            <a:r>
              <a:rPr lang="en-US" b="0" i="0" dirty="0">
                <a:solidFill>
                  <a:srgbClr val="24292E"/>
                </a:solidFill>
                <a:effectLst/>
                <a:latin typeface="-apple-system"/>
              </a:rPr>
              <a:t>Task 3: Deprovisioning an ExpressRoute circuit</a:t>
            </a:r>
          </a:p>
          <a:p>
            <a:endParaRPr lang="en-US" dirty="0"/>
          </a:p>
        </p:txBody>
      </p:sp>
      <p:pic>
        <p:nvPicPr>
          <p:cNvPr id="5" name="Picture 4" descr="Azure portal - Create ExpressRoute configuration tab">
            <a:extLst>
              <a:ext uri="{FF2B5EF4-FFF2-40B4-BE49-F238E27FC236}">
                <a16:creationId xmlns:a16="http://schemas.microsoft.com/office/drawing/2014/main" id="{30FF9205-ADF2-4845-BD03-CFD4D0C2EA66}"/>
              </a:ext>
            </a:extLst>
          </p:cNvPr>
          <p:cNvPicPr/>
          <p:nvPr/>
        </p:nvPicPr>
        <p:blipFill>
          <a:blip r:embed="rId4"/>
          <a:stretch>
            <a:fillRect/>
          </a:stretch>
        </p:blipFill>
        <p:spPr bwMode="auto">
          <a:xfrm>
            <a:off x="5659149" y="623537"/>
            <a:ext cx="5666464" cy="5614035"/>
          </a:xfrm>
          <a:prstGeom prst="rect">
            <a:avLst/>
          </a:prstGeom>
          <a:noFill/>
          <a:ln>
            <a:noFill/>
          </a:ln>
        </p:spPr>
      </p:pic>
      <p:sp>
        <p:nvSpPr>
          <p:cNvPr id="8" name="Rectangle 7">
            <a:extLst>
              <a:ext uri="{FF2B5EF4-FFF2-40B4-BE49-F238E27FC236}">
                <a16:creationId xmlns:a16="http://schemas.microsoft.com/office/drawing/2014/main" id="{32F68519-FA19-4210-AB26-D0B6B71C7EB6}"/>
              </a:ext>
              <a:ext uri="{C183D7F6-B498-43B3-948B-1728B52AA6E4}">
                <adec:decorative xmlns:adec="http://schemas.microsoft.com/office/drawing/2017/decorative" val="1"/>
              </a:ext>
            </a:extLst>
          </p:cNvPr>
          <p:cNvSpPr/>
          <p:nvPr/>
        </p:nvSpPr>
        <p:spPr bwMode="auto">
          <a:xfrm>
            <a:off x="5429250" y="1023565"/>
            <a:ext cx="6344108" cy="533913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67146257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a:t>Lesson 05: </a:t>
            </a:r>
            <a:r>
              <a:rPr lang="en-US" sz="3600"/>
              <a:t>Configure peering for an ExpressRoute deployment</a:t>
            </a:r>
            <a:endParaRPr lang="en-US"/>
          </a:p>
        </p:txBody>
      </p:sp>
      <p:grpSp>
        <p:nvGrpSpPr>
          <p:cNvPr id="4" name="Group 3">
            <a:extLst>
              <a:ext uri="{FF2B5EF4-FFF2-40B4-BE49-F238E27FC236}">
                <a16:creationId xmlns:a16="http://schemas.microsoft.com/office/drawing/2014/main" id="{E11037C0-4AC4-4F6D-9DA5-2E17B367DA81}"/>
              </a:ext>
              <a:ext uri="{C183D7F6-B498-43B3-948B-1728B52AA6E4}">
                <adec:decorative xmlns:adec="http://schemas.microsoft.com/office/drawing/2017/decorative" val="1"/>
              </a:ext>
            </a:extLst>
          </p:cNvPr>
          <p:cNvGrpSpPr/>
          <p:nvPr/>
        </p:nvGrpSpPr>
        <p:grpSpPr>
          <a:xfrm>
            <a:off x="10337895" y="3070379"/>
            <a:ext cx="717140" cy="717242"/>
            <a:chOff x="418643" y="4826259"/>
            <a:chExt cx="717140" cy="717242"/>
          </a:xfrm>
        </p:grpSpPr>
        <p:grpSp>
          <p:nvGrpSpPr>
            <p:cNvPr id="5" name="Group 4">
              <a:extLst>
                <a:ext uri="{FF2B5EF4-FFF2-40B4-BE49-F238E27FC236}">
                  <a16:creationId xmlns:a16="http://schemas.microsoft.com/office/drawing/2014/main" id="{A2F009B0-F69E-4A16-AA58-498C52AD4FBF}"/>
                </a:ext>
              </a:extLst>
            </p:cNvPr>
            <p:cNvGrpSpPr/>
            <p:nvPr/>
          </p:nvGrpSpPr>
          <p:grpSpPr>
            <a:xfrm>
              <a:off x="418643" y="4826259"/>
              <a:ext cx="717140" cy="717242"/>
              <a:chOff x="418643" y="4826259"/>
              <a:chExt cx="717140" cy="717242"/>
            </a:xfrm>
          </p:grpSpPr>
          <p:sp>
            <p:nvSpPr>
              <p:cNvPr id="7" name="Freeform 5">
                <a:extLst>
                  <a:ext uri="{FF2B5EF4-FFF2-40B4-BE49-F238E27FC236}">
                    <a16:creationId xmlns:a16="http://schemas.microsoft.com/office/drawing/2014/main" id="{D89ADEDD-8A11-4C51-8EEE-BA8D99E4C17C}"/>
                  </a:ext>
                </a:extLst>
              </p:cNvPr>
              <p:cNvSpPr>
                <a:spLocks/>
              </p:cNvSpPr>
              <p:nvPr/>
            </p:nvSpPr>
            <p:spPr bwMode="auto">
              <a:xfrm>
                <a:off x="418643"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AB1AF046-ED0D-481E-B58A-B38ECA39D1FB}"/>
                  </a:ext>
                </a:extLst>
              </p:cNvPr>
              <p:cNvSpPr>
                <a:spLocks noEditPoints="1"/>
              </p:cNvSpPr>
              <p:nvPr/>
            </p:nvSpPr>
            <p:spPr bwMode="auto">
              <a:xfrm>
                <a:off x="468541"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coding brackets">
              <a:extLst>
                <a:ext uri="{FF2B5EF4-FFF2-40B4-BE49-F238E27FC236}">
                  <a16:creationId xmlns:a16="http://schemas.microsoft.com/office/drawing/2014/main" id="{9FA10A1C-26E1-474A-98AD-D6F9B3A8217D}"/>
                </a:ext>
              </a:extLst>
            </p:cNvPr>
            <p:cNvPicPr>
              <a:picLocks noChangeAspect="1"/>
            </p:cNvPicPr>
            <p:nvPr/>
          </p:nvPicPr>
          <p:blipFill>
            <a:blip r:embed="rId2"/>
            <a:stretch>
              <a:fillRect/>
            </a:stretch>
          </p:blipFill>
          <p:spPr>
            <a:xfrm>
              <a:off x="589184" y="4996851"/>
              <a:ext cx="376058" cy="376058"/>
            </a:xfrm>
            <a:prstGeom prst="rect">
              <a:avLst/>
            </a:prstGeom>
          </p:spPr>
        </p:pic>
      </p:grpSp>
    </p:spTree>
    <p:extLst>
      <p:ext uri="{BB962C8B-B14F-4D97-AF65-F5344CB8AC3E}">
        <p14:creationId xmlns:p14="http://schemas.microsoft.com/office/powerpoint/2010/main" val="131247808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49068" y="3088902"/>
            <a:ext cx="2268537" cy="680196"/>
          </a:xfrm>
        </p:spPr>
        <p:txBody>
          <a:bodyPr/>
          <a:lstStyle/>
          <a:p>
            <a:r>
              <a:rPr lang="en-US" sz="2750" dirty="0"/>
              <a:t>Configure peering for an ExpressRoute deployment Overview</a:t>
            </a:r>
          </a:p>
        </p:txBody>
      </p:sp>
      <p:sp>
        <p:nvSpPr>
          <p:cNvPr id="6" name="Text Placeholder 5"/>
          <p:cNvSpPr>
            <a:spLocks noGrp="1"/>
          </p:cNvSpPr>
          <p:nvPr>
            <p:ph type="body" sz="quarter" idx="11"/>
          </p:nvPr>
        </p:nvSpPr>
        <p:spPr>
          <a:xfrm>
            <a:off x="4078288" y="1212798"/>
            <a:ext cx="7695070" cy="741783"/>
          </a:xfrm>
        </p:spPr>
        <p:txBody>
          <a:bodyPr/>
          <a:lstStyle/>
          <a:p>
            <a:pPr lvl="1"/>
            <a:r>
              <a:rPr lang="en-US" dirty="0"/>
              <a:t>Configure Private peering </a:t>
            </a:r>
          </a:p>
        </p:txBody>
      </p:sp>
      <p:sp>
        <p:nvSpPr>
          <p:cNvPr id="2" name="Text Placeholder 1"/>
          <p:cNvSpPr>
            <a:spLocks noGrp="1"/>
          </p:cNvSpPr>
          <p:nvPr>
            <p:ph type="body" sz="quarter" idx="15"/>
          </p:nvPr>
        </p:nvSpPr>
        <p:spPr>
          <a:xfrm>
            <a:off x="4078288" y="2077857"/>
            <a:ext cx="7695070" cy="741783"/>
          </a:xfrm>
        </p:spPr>
        <p:txBody>
          <a:bodyPr/>
          <a:lstStyle/>
          <a:p>
            <a:pPr lvl="1"/>
            <a:r>
              <a:rPr lang="en-US" dirty="0"/>
              <a:t>Configure Microsoft peering </a:t>
            </a:r>
          </a:p>
        </p:txBody>
      </p:sp>
      <p:sp>
        <p:nvSpPr>
          <p:cNvPr id="3" name="Text Placeholder 2"/>
          <p:cNvSpPr>
            <a:spLocks noGrp="1"/>
          </p:cNvSpPr>
          <p:nvPr>
            <p:ph type="body" sz="quarter" idx="17"/>
          </p:nvPr>
        </p:nvSpPr>
        <p:spPr>
          <a:xfrm>
            <a:off x="4078288" y="2942916"/>
            <a:ext cx="7695070" cy="741783"/>
          </a:xfrm>
        </p:spPr>
        <p:txBody>
          <a:bodyPr/>
          <a:lstStyle/>
          <a:p>
            <a:pPr lvl="1"/>
            <a:r>
              <a:rPr lang="en-US" dirty="0"/>
              <a:t>Choose between private peering only, Microsoft peering only, or both</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a:xfrm>
            <a:off x="4078288" y="3807975"/>
            <a:ext cx="7695070" cy="741783"/>
          </a:xfrm>
        </p:spPr>
        <p:txBody>
          <a:bodyPr/>
          <a:lstStyle/>
          <a:p>
            <a:pPr lvl="1"/>
            <a:r>
              <a:rPr lang="en-US" dirty="0"/>
              <a:t>Route filters </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a:xfrm>
            <a:off x="4078288" y="4673034"/>
            <a:ext cx="7695070" cy="741783"/>
          </a:xfrm>
        </p:spPr>
        <p:txBody>
          <a:bodyPr/>
          <a:lstStyle/>
          <a:p>
            <a:pPr lvl="1"/>
            <a:r>
              <a:rPr lang="en-US" dirty="0"/>
              <a:t>Review </a:t>
            </a:r>
          </a:p>
        </p:txBody>
      </p:sp>
      <p:grpSp>
        <p:nvGrpSpPr>
          <p:cNvPr id="13" name="Group 12">
            <a:extLst>
              <a:ext uri="{FF2B5EF4-FFF2-40B4-BE49-F238E27FC236}">
                <a16:creationId xmlns:a16="http://schemas.microsoft.com/office/drawing/2014/main" id="{85F3277F-1911-FAE9-0CEF-8E6829831CA0}"/>
              </a:ext>
              <a:ext uri="{C183D7F6-B498-43B3-948B-1728B52AA6E4}">
                <adec:decorative xmlns:adec="http://schemas.microsoft.com/office/drawing/2017/decorative" val="1"/>
              </a:ext>
            </a:extLst>
          </p:cNvPr>
          <p:cNvGrpSpPr/>
          <p:nvPr/>
        </p:nvGrpSpPr>
        <p:grpSpPr>
          <a:xfrm>
            <a:off x="3031668" y="1218370"/>
            <a:ext cx="702132" cy="4174487"/>
            <a:chOff x="3031668" y="1218370"/>
            <a:chExt cx="702132" cy="4174487"/>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1218370"/>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2097086"/>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961599"/>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826112"/>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4690625"/>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spTree>
    <p:extLst>
      <p:ext uri="{BB962C8B-B14F-4D97-AF65-F5344CB8AC3E}">
        <p14:creationId xmlns:p14="http://schemas.microsoft.com/office/powerpoint/2010/main" val="2715146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FE2C0B-CAFC-4FB3-A02C-D0AD34371251}"/>
              </a:ext>
            </a:extLst>
          </p:cNvPr>
          <p:cNvSpPr>
            <a:spLocks noGrp="1"/>
          </p:cNvSpPr>
          <p:nvPr>
            <p:ph type="title"/>
          </p:nvPr>
        </p:nvSpPr>
        <p:spPr>
          <a:xfrm>
            <a:off x="455995" y="623224"/>
            <a:ext cx="11306469" cy="397545"/>
          </a:xfrm>
        </p:spPr>
        <p:txBody>
          <a:bodyPr/>
          <a:lstStyle/>
          <a:p>
            <a:r>
              <a:rPr lang="en-US" dirty="0"/>
              <a:t>Configure Private peering </a:t>
            </a:r>
          </a:p>
        </p:txBody>
      </p:sp>
      <p:sp>
        <p:nvSpPr>
          <p:cNvPr id="2" name="TextBox 1">
            <a:extLst>
              <a:ext uri="{FF2B5EF4-FFF2-40B4-BE49-F238E27FC236}">
                <a16:creationId xmlns:a16="http://schemas.microsoft.com/office/drawing/2014/main" id="{FA98D585-E34A-480D-B064-FF29F0649354}"/>
              </a:ext>
            </a:extLst>
          </p:cNvPr>
          <p:cNvSpPr txBox="1"/>
          <p:nvPr/>
        </p:nvSpPr>
        <p:spPr>
          <a:xfrm>
            <a:off x="455995" y="1230362"/>
            <a:ext cx="4890705" cy="186094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 pair of subnets that are not part of any address space reserved for virtual networks. One subnet will be used for the primary link, while the other will be used for the secondary link</a:t>
            </a:r>
          </a:p>
        </p:txBody>
      </p:sp>
      <p:sp>
        <p:nvSpPr>
          <p:cNvPr id="7" name="TextBox 1">
            <a:extLst>
              <a:ext uri="{FF2B5EF4-FFF2-40B4-BE49-F238E27FC236}">
                <a16:creationId xmlns:a16="http://schemas.microsoft.com/office/drawing/2014/main" id="{FC74AD7F-920A-46BB-BA64-48436589333B}"/>
              </a:ext>
            </a:extLst>
          </p:cNvPr>
          <p:cNvSpPr txBox="1"/>
          <p:nvPr/>
        </p:nvSpPr>
        <p:spPr>
          <a:xfrm>
            <a:off x="418643" y="3296326"/>
            <a:ext cx="4928057" cy="69147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 valid on-prem VLAN ID to establish this peering on  </a:t>
            </a:r>
          </a:p>
        </p:txBody>
      </p:sp>
      <p:sp>
        <p:nvSpPr>
          <p:cNvPr id="11" name="TextBox 1">
            <a:extLst>
              <a:ext uri="{FF2B5EF4-FFF2-40B4-BE49-F238E27FC236}">
                <a16:creationId xmlns:a16="http://schemas.microsoft.com/office/drawing/2014/main" id="{C298A462-3E2C-4ED5-85C4-BEEDDEE510A0}"/>
              </a:ext>
            </a:extLst>
          </p:cNvPr>
          <p:cNvSpPr txBox="1"/>
          <p:nvPr/>
        </p:nvSpPr>
        <p:spPr>
          <a:xfrm>
            <a:off x="418642" y="4192820"/>
            <a:ext cx="4928057" cy="57899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AS number for peering</a:t>
            </a:r>
          </a:p>
        </p:txBody>
      </p:sp>
      <p:sp>
        <p:nvSpPr>
          <p:cNvPr id="13" name="TextBox 1">
            <a:extLst>
              <a:ext uri="{FF2B5EF4-FFF2-40B4-BE49-F238E27FC236}">
                <a16:creationId xmlns:a16="http://schemas.microsoft.com/office/drawing/2014/main" id="{F4EC1349-23A2-439E-9517-6933B15B8328}"/>
              </a:ext>
            </a:extLst>
          </p:cNvPr>
          <p:cNvSpPr txBox="1"/>
          <p:nvPr/>
        </p:nvSpPr>
        <p:spPr>
          <a:xfrm>
            <a:off x="418643" y="4909948"/>
            <a:ext cx="4928057" cy="69147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Advertise the routes from your on-premises Edge router to Azure via BGP </a:t>
            </a:r>
          </a:p>
        </p:txBody>
      </p:sp>
      <p:sp>
        <p:nvSpPr>
          <p:cNvPr id="15" name="TextBox 1">
            <a:extLst>
              <a:ext uri="{FF2B5EF4-FFF2-40B4-BE49-F238E27FC236}">
                <a16:creationId xmlns:a16="http://schemas.microsoft.com/office/drawing/2014/main" id="{F797C4FB-3FC6-4783-8028-350F0042F081}"/>
              </a:ext>
            </a:extLst>
          </p:cNvPr>
          <p:cNvSpPr txBox="1"/>
          <p:nvPr/>
        </p:nvSpPr>
        <p:spPr>
          <a:xfrm>
            <a:off x="418642" y="5806442"/>
            <a:ext cx="4928057" cy="57899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Optional - An MD5 hash if you choose to use one</a:t>
            </a:r>
          </a:p>
        </p:txBody>
      </p:sp>
      <p:pic>
        <p:nvPicPr>
          <p:cNvPr id="6146" name="Picture 2" descr="screenshot of Azure portal configuring private peering ">
            <a:extLst>
              <a:ext uri="{FF2B5EF4-FFF2-40B4-BE49-F238E27FC236}">
                <a16:creationId xmlns:a16="http://schemas.microsoft.com/office/drawing/2014/main" id="{32092813-3501-4020-AD95-82010F706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925" y="722976"/>
            <a:ext cx="5820563" cy="5511800"/>
          </a:xfrm>
          <a:prstGeom prst="rect">
            <a:avLst/>
          </a:prstGeom>
          <a:noFill/>
        </p:spPr>
      </p:pic>
      <p:sp>
        <p:nvSpPr>
          <p:cNvPr id="4" name="Rectangle 3">
            <a:extLst>
              <a:ext uri="{FF2B5EF4-FFF2-40B4-BE49-F238E27FC236}">
                <a16:creationId xmlns:a16="http://schemas.microsoft.com/office/drawing/2014/main" id="{89903E4D-1E95-41FA-A40C-81E8131870CF}"/>
              </a:ext>
              <a:ext uri="{C183D7F6-B498-43B3-948B-1728B52AA6E4}">
                <adec:decorative xmlns:adec="http://schemas.microsoft.com/office/drawing/2017/decorative" val="1"/>
              </a:ext>
            </a:extLst>
          </p:cNvPr>
          <p:cNvSpPr/>
          <p:nvPr/>
        </p:nvSpPr>
        <p:spPr bwMode="auto">
          <a:xfrm>
            <a:off x="5699924" y="722976"/>
            <a:ext cx="6073434" cy="561155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90884627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4AF0-6CE6-4414-BA90-090C7C2578A2}"/>
              </a:ext>
            </a:extLst>
          </p:cNvPr>
          <p:cNvSpPr>
            <a:spLocks noGrp="1"/>
          </p:cNvSpPr>
          <p:nvPr>
            <p:ph type="title"/>
          </p:nvPr>
        </p:nvSpPr>
        <p:spPr>
          <a:xfrm>
            <a:off x="455995" y="623224"/>
            <a:ext cx="11306469" cy="397545"/>
          </a:xfrm>
        </p:spPr>
        <p:txBody>
          <a:bodyPr/>
          <a:lstStyle/>
          <a:p>
            <a:r>
              <a:rPr lang="en-US" dirty="0"/>
              <a:t>Configure Microsoft peering </a:t>
            </a:r>
          </a:p>
        </p:txBody>
      </p:sp>
      <p:sp>
        <p:nvSpPr>
          <p:cNvPr id="3" name="TextBox 2">
            <a:extLst>
              <a:ext uri="{FF2B5EF4-FFF2-40B4-BE49-F238E27FC236}">
                <a16:creationId xmlns:a16="http://schemas.microsoft.com/office/drawing/2014/main" id="{4EF5C4A1-178F-46D2-B32F-815327B78050}"/>
              </a:ext>
            </a:extLst>
          </p:cNvPr>
          <p:cNvSpPr txBox="1"/>
          <p:nvPr/>
        </p:nvSpPr>
        <p:spPr>
          <a:xfrm>
            <a:off x="455995" y="1230362"/>
            <a:ext cx="4890705" cy="186094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 pair of subnets owned by you and registered in an RIR/IRR. One subnet will be used for the primary link, while the other will be used for the secondary link. </a:t>
            </a:r>
          </a:p>
        </p:txBody>
      </p:sp>
      <p:sp>
        <p:nvSpPr>
          <p:cNvPr id="5" name="TextBox 1">
            <a:extLst>
              <a:ext uri="{FF2B5EF4-FFF2-40B4-BE49-F238E27FC236}">
                <a16:creationId xmlns:a16="http://schemas.microsoft.com/office/drawing/2014/main" id="{59D0CDF6-37BC-440D-8F26-803B2CB8BB7A}"/>
              </a:ext>
            </a:extLst>
          </p:cNvPr>
          <p:cNvSpPr txBox="1"/>
          <p:nvPr/>
        </p:nvSpPr>
        <p:spPr>
          <a:xfrm>
            <a:off x="418640" y="3178406"/>
            <a:ext cx="4928057" cy="69147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 valid on-prem VLAN ID to establish this peering on </a:t>
            </a:r>
          </a:p>
        </p:txBody>
      </p:sp>
      <p:sp>
        <p:nvSpPr>
          <p:cNvPr id="7" name="TextBox 1">
            <a:extLst>
              <a:ext uri="{FF2B5EF4-FFF2-40B4-BE49-F238E27FC236}">
                <a16:creationId xmlns:a16="http://schemas.microsoft.com/office/drawing/2014/main" id="{A289F6FB-8F4C-4363-ADAC-08204E1DA215}"/>
              </a:ext>
            </a:extLst>
          </p:cNvPr>
          <p:cNvSpPr txBox="1"/>
          <p:nvPr/>
        </p:nvSpPr>
        <p:spPr>
          <a:xfrm>
            <a:off x="418639" y="3956980"/>
            <a:ext cx="4928057" cy="57899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AS number for peering</a:t>
            </a:r>
          </a:p>
        </p:txBody>
      </p:sp>
      <p:sp>
        <p:nvSpPr>
          <p:cNvPr id="9" name="TextBox 1">
            <a:extLst>
              <a:ext uri="{FF2B5EF4-FFF2-40B4-BE49-F238E27FC236}">
                <a16:creationId xmlns:a16="http://schemas.microsoft.com/office/drawing/2014/main" id="{F777287B-5C38-46A4-AD64-C4F1C62DD6E4}"/>
              </a:ext>
            </a:extLst>
          </p:cNvPr>
          <p:cNvSpPr txBox="1"/>
          <p:nvPr/>
        </p:nvSpPr>
        <p:spPr>
          <a:xfrm>
            <a:off x="418643" y="4623074"/>
            <a:ext cx="4928057" cy="97834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Advertised prefixes: You provide a list of all prefixes you plan to advertise over the BGP session</a:t>
            </a:r>
          </a:p>
        </p:txBody>
      </p:sp>
      <p:sp>
        <p:nvSpPr>
          <p:cNvPr id="11" name="TextBox 1">
            <a:extLst>
              <a:ext uri="{FF2B5EF4-FFF2-40B4-BE49-F238E27FC236}">
                <a16:creationId xmlns:a16="http://schemas.microsoft.com/office/drawing/2014/main" id="{2CCFE249-960E-4C47-B7C4-F8D4A4DEB0B3}"/>
              </a:ext>
            </a:extLst>
          </p:cNvPr>
          <p:cNvSpPr txBox="1"/>
          <p:nvPr/>
        </p:nvSpPr>
        <p:spPr>
          <a:xfrm>
            <a:off x="418642" y="5806442"/>
            <a:ext cx="4928057" cy="57899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Routing Registry Name</a:t>
            </a:r>
          </a:p>
        </p:txBody>
      </p:sp>
      <p:pic>
        <p:nvPicPr>
          <p:cNvPr id="7170" name="Picture 2" descr="screenshot of Azure portal configuring Microsoft peering ">
            <a:extLst>
              <a:ext uri="{FF2B5EF4-FFF2-40B4-BE49-F238E27FC236}">
                <a16:creationId xmlns:a16="http://schemas.microsoft.com/office/drawing/2014/main" id="{EE8EC897-AD0E-4722-8F60-201951C8B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400" y="461045"/>
            <a:ext cx="4735901" cy="5664200"/>
          </a:xfrm>
          <a:prstGeom prst="rect">
            <a:avLst/>
          </a:prstGeom>
          <a:noFill/>
        </p:spPr>
      </p:pic>
      <p:sp>
        <p:nvSpPr>
          <p:cNvPr id="4" name="Rectangle 3">
            <a:extLst>
              <a:ext uri="{FF2B5EF4-FFF2-40B4-BE49-F238E27FC236}">
                <a16:creationId xmlns:a16="http://schemas.microsoft.com/office/drawing/2014/main" id="{D661406C-043F-45A0-8817-6FA08980A69B}"/>
              </a:ext>
              <a:ext uri="{C183D7F6-B498-43B3-948B-1728B52AA6E4}">
                <adec:decorative xmlns:adec="http://schemas.microsoft.com/office/drawing/2017/decorative" val="1"/>
              </a:ext>
            </a:extLst>
          </p:cNvPr>
          <p:cNvSpPr/>
          <p:nvPr/>
        </p:nvSpPr>
        <p:spPr bwMode="auto">
          <a:xfrm>
            <a:off x="6181726" y="352425"/>
            <a:ext cx="5591632" cy="603301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71880859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0D95-EF24-4E76-945F-93136E046A77}"/>
              </a:ext>
            </a:extLst>
          </p:cNvPr>
          <p:cNvSpPr>
            <a:spLocks noGrp="1"/>
          </p:cNvSpPr>
          <p:nvPr>
            <p:ph type="title"/>
          </p:nvPr>
        </p:nvSpPr>
        <p:spPr/>
        <p:txBody>
          <a:bodyPr/>
          <a:lstStyle/>
          <a:p>
            <a:r>
              <a:rPr lang="en-US" dirty="0"/>
              <a:t>Choose between private peering only, Microsoft peering only, or both</a:t>
            </a:r>
          </a:p>
        </p:txBody>
      </p:sp>
      <p:pic>
        <p:nvPicPr>
          <p:cNvPr id="5" name="Picture 4" descr="diagram of Azure ExpressRoute with both private peering and Microsoft peering ">
            <a:extLst>
              <a:ext uri="{FF2B5EF4-FFF2-40B4-BE49-F238E27FC236}">
                <a16:creationId xmlns:a16="http://schemas.microsoft.com/office/drawing/2014/main" id="{A1A55F4A-9A0C-4827-B51C-051C0FE29432}"/>
              </a:ext>
            </a:extLst>
          </p:cNvPr>
          <p:cNvPicPr>
            <a:picLocks noChangeAspect="1"/>
          </p:cNvPicPr>
          <p:nvPr/>
        </p:nvPicPr>
        <p:blipFill>
          <a:blip r:embed="rId2"/>
          <a:stretch>
            <a:fillRect/>
          </a:stretch>
        </p:blipFill>
        <p:spPr>
          <a:xfrm>
            <a:off x="1608314" y="1717064"/>
            <a:ext cx="8529729" cy="4078825"/>
          </a:xfrm>
          <a:prstGeom prst="rect">
            <a:avLst/>
          </a:prstGeom>
        </p:spPr>
      </p:pic>
    </p:spTree>
    <p:extLst>
      <p:ext uri="{BB962C8B-B14F-4D97-AF65-F5344CB8AC3E}">
        <p14:creationId xmlns:p14="http://schemas.microsoft.com/office/powerpoint/2010/main" val="81864521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48BA-580C-4C7E-BE90-D853CFD6F43F}"/>
              </a:ext>
            </a:extLst>
          </p:cNvPr>
          <p:cNvSpPr>
            <a:spLocks noGrp="1"/>
          </p:cNvSpPr>
          <p:nvPr>
            <p:ph type="title"/>
          </p:nvPr>
        </p:nvSpPr>
        <p:spPr/>
        <p:txBody>
          <a:bodyPr/>
          <a:lstStyle/>
          <a:p>
            <a:r>
              <a:rPr lang="en-US" dirty="0"/>
              <a:t>Route filters </a:t>
            </a:r>
          </a:p>
        </p:txBody>
      </p:sp>
      <p:pic>
        <p:nvPicPr>
          <p:cNvPr id="9218" name="Picture 2" descr="screenshot of Azure portal creating a route filter ">
            <a:extLst>
              <a:ext uri="{FF2B5EF4-FFF2-40B4-BE49-F238E27FC236}">
                <a16:creationId xmlns:a16="http://schemas.microsoft.com/office/drawing/2014/main" id="{DB1C22F6-25BE-460C-B5F1-A9BF1C4701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62" y="1441735"/>
            <a:ext cx="5717838" cy="4795837"/>
          </a:xfrm>
          <a:prstGeom prst="rect">
            <a:avLst/>
          </a:prstGeom>
          <a:noFill/>
        </p:spPr>
      </p:pic>
      <p:pic>
        <p:nvPicPr>
          <p:cNvPr id="8194" name="Picture 2" descr="screenshot of Azure portal selecting allowed service communities for a route filter">
            <a:extLst>
              <a:ext uri="{FF2B5EF4-FFF2-40B4-BE49-F238E27FC236}">
                <a16:creationId xmlns:a16="http://schemas.microsoft.com/office/drawing/2014/main" id="{8FE3F500-E5F3-4100-A3DE-A952EF1D32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6515" y="1291896"/>
            <a:ext cx="1711360" cy="5295900"/>
          </a:xfrm>
          <a:prstGeom prst="rect">
            <a:avLst/>
          </a:prstGeom>
          <a:noFill/>
        </p:spPr>
      </p:pic>
      <p:sp>
        <p:nvSpPr>
          <p:cNvPr id="4" name="TextBox 1">
            <a:extLst>
              <a:ext uri="{FF2B5EF4-FFF2-40B4-BE49-F238E27FC236}">
                <a16:creationId xmlns:a16="http://schemas.microsoft.com/office/drawing/2014/main" id="{87858828-2063-47C3-9612-6FE0108D1914}"/>
              </a:ext>
            </a:extLst>
          </p:cNvPr>
          <p:cNvSpPr txBox="1"/>
          <p:nvPr/>
        </p:nvSpPr>
        <p:spPr>
          <a:xfrm>
            <a:off x="8763000" y="3583391"/>
            <a:ext cx="3050838" cy="2362139"/>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Attach the route filter to an ExpressRoute circuit </a:t>
            </a:r>
          </a:p>
        </p:txBody>
      </p:sp>
      <p:sp>
        <p:nvSpPr>
          <p:cNvPr id="3" name="TextBox 1">
            <a:extLst>
              <a:ext uri="{FF2B5EF4-FFF2-40B4-BE49-F238E27FC236}">
                <a16:creationId xmlns:a16="http://schemas.microsoft.com/office/drawing/2014/main" id="{73839DBF-862B-4D41-82D3-E24FB1D2DE48}"/>
              </a:ext>
            </a:extLst>
          </p:cNvPr>
          <p:cNvSpPr txBox="1"/>
          <p:nvPr/>
        </p:nvSpPr>
        <p:spPr>
          <a:xfrm>
            <a:off x="8763000" y="952560"/>
            <a:ext cx="3050838" cy="2362139"/>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Create route filter and create route filter rules </a:t>
            </a:r>
          </a:p>
        </p:txBody>
      </p:sp>
      <p:sp>
        <p:nvSpPr>
          <p:cNvPr id="5" name="Rectangle 4">
            <a:extLst>
              <a:ext uri="{FF2B5EF4-FFF2-40B4-BE49-F238E27FC236}">
                <a16:creationId xmlns:a16="http://schemas.microsoft.com/office/drawing/2014/main" id="{E0357FE0-92B9-4CF7-9013-9A7B361CE61E}"/>
              </a:ext>
              <a:ext uri="{C183D7F6-B498-43B3-948B-1728B52AA6E4}">
                <adec:decorative xmlns:adec="http://schemas.microsoft.com/office/drawing/2017/decorative" val="1"/>
              </a:ext>
            </a:extLst>
          </p:cNvPr>
          <p:cNvSpPr/>
          <p:nvPr/>
        </p:nvSpPr>
        <p:spPr bwMode="auto">
          <a:xfrm>
            <a:off x="285750" y="1169261"/>
            <a:ext cx="8181975" cy="5295900"/>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21599707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sz="2400"/>
              <a:t>Configure peering for an ExpressRoute deployment</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 uri="{C183D7F6-B498-43B3-948B-1728B52AA6E4}">
                <adec:decorative xmlns:adec="http://schemas.microsoft.com/office/drawing/2017/decorative" val="1"/>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A37B7FD-F9DC-4D84-8062-BFC4E7DEF331}"/>
              </a:ext>
            </a:extLst>
          </p:cNvPr>
          <p:cNvSpPr txBox="1"/>
          <p:nvPr/>
        </p:nvSpPr>
        <p:spPr>
          <a:xfrm>
            <a:off x="4770523" y="2286483"/>
            <a:ext cx="6098344" cy="369332"/>
          </a:xfrm>
          <a:prstGeom prst="rect">
            <a:avLst/>
          </a:prstGeom>
          <a:noFill/>
        </p:spPr>
        <p:txBody>
          <a:bodyPr wrap="square">
            <a:spAutoFit/>
          </a:bodyPr>
          <a:lstStyle/>
          <a:p>
            <a:r>
              <a:rPr lang="en-US" dirty="0">
                <a:hlinkClick r:id="rId4"/>
              </a:rPr>
              <a:t>Azure ExpressRoute: circuits and peering | Microsoft Docs</a:t>
            </a:r>
            <a:endParaRPr lang="en-US" dirty="0"/>
          </a:p>
        </p:txBody>
      </p:sp>
    </p:spTree>
    <p:extLst>
      <p:ext uri="{BB962C8B-B14F-4D97-AF65-F5344CB8AC3E}">
        <p14:creationId xmlns:p14="http://schemas.microsoft.com/office/powerpoint/2010/main" val="376954695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a:t>Lesson 06: </a:t>
            </a:r>
            <a:r>
              <a:rPr lang="en-US" sz="3600"/>
              <a:t>Connect an ExpressRoute circuit to a VNet</a:t>
            </a:r>
            <a:endParaRPr lang="en-US"/>
          </a:p>
        </p:txBody>
      </p:sp>
      <p:grpSp>
        <p:nvGrpSpPr>
          <p:cNvPr id="4" name="Group 3">
            <a:extLst>
              <a:ext uri="{FF2B5EF4-FFF2-40B4-BE49-F238E27FC236}">
                <a16:creationId xmlns:a16="http://schemas.microsoft.com/office/drawing/2014/main" id="{FD22EDA8-D7D7-4EF5-9A09-CA3C209B9AA5}"/>
              </a:ext>
              <a:ext uri="{C183D7F6-B498-43B3-948B-1728B52AA6E4}">
                <adec:decorative xmlns:adec="http://schemas.microsoft.com/office/drawing/2017/decorative" val="1"/>
              </a:ext>
            </a:extLst>
          </p:cNvPr>
          <p:cNvGrpSpPr/>
          <p:nvPr/>
        </p:nvGrpSpPr>
        <p:grpSpPr>
          <a:xfrm>
            <a:off x="10324272" y="3070379"/>
            <a:ext cx="717140" cy="717242"/>
            <a:chOff x="6229350" y="1441758"/>
            <a:chExt cx="717140" cy="717242"/>
          </a:xfrm>
        </p:grpSpPr>
        <p:grpSp>
          <p:nvGrpSpPr>
            <p:cNvPr id="5" name="Group 4">
              <a:extLst>
                <a:ext uri="{FF2B5EF4-FFF2-40B4-BE49-F238E27FC236}">
                  <a16:creationId xmlns:a16="http://schemas.microsoft.com/office/drawing/2014/main" id="{53E83A0F-235F-478E-A6A7-6481C055C9A2}"/>
                </a:ext>
              </a:extLst>
            </p:cNvPr>
            <p:cNvGrpSpPr/>
            <p:nvPr/>
          </p:nvGrpSpPr>
          <p:grpSpPr>
            <a:xfrm>
              <a:off x="6229350" y="1441758"/>
              <a:ext cx="717140" cy="717242"/>
              <a:chOff x="6229350" y="1441758"/>
              <a:chExt cx="717140" cy="717242"/>
            </a:xfrm>
          </p:grpSpPr>
          <p:sp>
            <p:nvSpPr>
              <p:cNvPr id="7" name="Freeform 5">
                <a:extLst>
                  <a:ext uri="{FF2B5EF4-FFF2-40B4-BE49-F238E27FC236}">
                    <a16:creationId xmlns:a16="http://schemas.microsoft.com/office/drawing/2014/main" id="{720E2FF9-C429-4F63-AE90-28EEC5A088DE}"/>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C297C283-F019-461E-BAF6-38727726B95B}"/>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concentric arcs">
              <a:extLst>
                <a:ext uri="{FF2B5EF4-FFF2-40B4-BE49-F238E27FC236}">
                  <a16:creationId xmlns:a16="http://schemas.microsoft.com/office/drawing/2014/main" id="{2391ED44-2B8B-45ED-8ADA-F3268D7F9688}"/>
                </a:ext>
              </a:extLst>
            </p:cNvPr>
            <p:cNvPicPr>
              <a:picLocks noChangeAspect="1"/>
            </p:cNvPicPr>
            <p:nvPr/>
          </p:nvPicPr>
          <p:blipFill>
            <a:blip r:embed="rId2"/>
            <a:stretch>
              <a:fillRect/>
            </a:stretch>
          </p:blipFill>
          <p:spPr>
            <a:xfrm>
              <a:off x="6399474" y="1611934"/>
              <a:ext cx="376892" cy="376890"/>
            </a:xfrm>
            <a:prstGeom prst="rect">
              <a:avLst/>
            </a:prstGeom>
          </p:spPr>
        </p:pic>
      </p:grpSp>
    </p:spTree>
    <p:extLst>
      <p:ext uri="{BB962C8B-B14F-4D97-AF65-F5344CB8AC3E}">
        <p14:creationId xmlns:p14="http://schemas.microsoft.com/office/powerpoint/2010/main" val="166271331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sz="2750" dirty="0"/>
              <a:t>Connect an ExpressRoute circuit to a </a:t>
            </a:r>
            <a:r>
              <a:rPr lang="en-US" sz="2750" dirty="0" err="1"/>
              <a:t>VNet</a:t>
            </a:r>
            <a:r>
              <a:rPr lang="en-US" sz="2750" dirty="0"/>
              <a:t>  Overview</a:t>
            </a:r>
          </a:p>
        </p:txBody>
      </p:sp>
      <p:sp>
        <p:nvSpPr>
          <p:cNvPr id="6" name="Text Placeholder 5"/>
          <p:cNvSpPr>
            <a:spLocks noGrp="1"/>
          </p:cNvSpPr>
          <p:nvPr>
            <p:ph type="body" sz="quarter" idx="21"/>
          </p:nvPr>
        </p:nvSpPr>
        <p:spPr>
          <a:xfrm>
            <a:off x="4078287" y="2064577"/>
            <a:ext cx="7695069" cy="1224436"/>
          </a:xfrm>
        </p:spPr>
        <p:txBody>
          <a:bodyPr/>
          <a:lstStyle/>
          <a:p>
            <a:pPr lvl="1"/>
            <a:r>
              <a:rPr lang="en-US" dirty="0"/>
              <a:t>Connect virtual network to an ExpressRoute circuit </a:t>
            </a:r>
          </a:p>
        </p:txBody>
      </p:sp>
      <p:sp>
        <p:nvSpPr>
          <p:cNvPr id="2" name="Text Placeholder 1"/>
          <p:cNvSpPr>
            <a:spLocks noGrp="1"/>
          </p:cNvSpPr>
          <p:nvPr>
            <p:ph type="body" sz="quarter" idx="22"/>
          </p:nvPr>
        </p:nvSpPr>
        <p:spPr>
          <a:xfrm>
            <a:off x="4078287" y="3568988"/>
            <a:ext cx="7695069" cy="1224436"/>
          </a:xfrm>
        </p:spPr>
        <p:txBody>
          <a:bodyPr/>
          <a:lstStyle/>
          <a:p>
            <a:pPr lvl="1"/>
            <a:r>
              <a:rPr lang="en-US" altLang="zh-CN" dirty="0"/>
              <a:t>R</a:t>
            </a:r>
            <a:r>
              <a:rPr lang="en-US" dirty="0"/>
              <a:t>eview</a:t>
            </a:r>
          </a:p>
        </p:txBody>
      </p:sp>
      <p:grpSp>
        <p:nvGrpSpPr>
          <p:cNvPr id="3" name="Group 2">
            <a:extLst>
              <a:ext uri="{FF2B5EF4-FFF2-40B4-BE49-F238E27FC236}">
                <a16:creationId xmlns:a16="http://schemas.microsoft.com/office/drawing/2014/main" id="{CB4D57A6-AB33-4ADB-BB7D-201C43D5C50A}"/>
              </a:ext>
              <a:ext uri="{C183D7F6-B498-43B3-948B-1728B52AA6E4}">
                <adec:decorative xmlns:adec="http://schemas.microsoft.com/office/drawing/2017/decorative" val="1"/>
              </a:ext>
            </a:extLst>
          </p:cNvPr>
          <p:cNvGrpSpPr/>
          <p:nvPr/>
        </p:nvGrpSpPr>
        <p:grpSpPr>
          <a:xfrm>
            <a:off x="3031668" y="2325680"/>
            <a:ext cx="702132" cy="2160115"/>
            <a:chOff x="3031668" y="2325680"/>
            <a:chExt cx="702132" cy="2160115"/>
          </a:xfrm>
        </p:grpSpPr>
        <p:grpSp>
          <p:nvGrpSpPr>
            <p:cNvPr id="21" name="Group 20">
              <a:extLst>
                <a:ext uri="{FF2B5EF4-FFF2-40B4-BE49-F238E27FC236}">
                  <a16:creationId xmlns:a16="http://schemas.microsoft.com/office/drawing/2014/main" id="{7F0EA0D2-F5BD-4609-9E3A-21CFB6B3C81C}"/>
                </a:ext>
              </a:extLst>
            </p:cNvPr>
            <p:cNvGrpSpPr/>
            <p:nvPr/>
          </p:nvGrpSpPr>
          <p:grpSpPr>
            <a:xfrm>
              <a:off x="3031668" y="2325680"/>
              <a:ext cx="702132" cy="702232"/>
              <a:chOff x="3031668" y="1620002"/>
              <a:chExt cx="702132" cy="702232"/>
            </a:xfrm>
          </p:grpSpPr>
          <p:grpSp>
            <p:nvGrpSpPr>
              <p:cNvPr id="14" name="Group 13">
                <a:extLst>
                  <a:ext uri="{FF2B5EF4-FFF2-40B4-BE49-F238E27FC236}">
                    <a16:creationId xmlns:a16="http://schemas.microsoft.com/office/drawing/2014/main" id="{2A3BFF39-13AE-4902-A9D8-31EA3D524816}"/>
                  </a:ext>
                </a:extLst>
              </p:cNvPr>
              <p:cNvGrpSpPr/>
              <p:nvPr/>
            </p:nvGrpSpPr>
            <p:grpSpPr>
              <a:xfrm>
                <a:off x="3031668" y="1620002"/>
                <a:ext cx="702132" cy="702232"/>
                <a:chOff x="3031668" y="1620002"/>
                <a:chExt cx="702132" cy="702232"/>
              </a:xfrm>
            </p:grpSpPr>
            <p:sp>
              <p:nvSpPr>
                <p:cNvPr id="31" name="Freeform 5">
                  <a:extLst>
                    <a:ext uri="{FF2B5EF4-FFF2-40B4-BE49-F238E27FC236}">
                      <a16:creationId xmlns:a16="http://schemas.microsoft.com/office/drawing/2014/main" id="{D616F46A-8C8E-475E-91F4-D968F21F5186}"/>
                    </a:ext>
                  </a:extLst>
                </p:cNvPr>
                <p:cNvSpPr>
                  <a:spLocks/>
                </p:cNvSpPr>
                <p:nvPr/>
              </p:nvSpPr>
              <p:spPr bwMode="auto">
                <a:xfrm>
                  <a:off x="3031668" y="162000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4" name="Freeform 6">
                  <a:extLst>
                    <a:ext uri="{FF2B5EF4-FFF2-40B4-BE49-F238E27FC236}">
                      <a16:creationId xmlns:a16="http://schemas.microsoft.com/office/drawing/2014/main" id="{3931DC69-4D5C-40B4-80D2-7FDE66A622D0}"/>
                    </a:ext>
                  </a:extLst>
                </p:cNvPr>
                <p:cNvSpPr>
                  <a:spLocks noEditPoints="1"/>
                </p:cNvSpPr>
                <p:nvPr/>
              </p:nvSpPr>
              <p:spPr bwMode="auto">
                <a:xfrm>
                  <a:off x="3080522" y="1670000"/>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three concentric arcs">
                <a:extLst>
                  <a:ext uri="{FF2B5EF4-FFF2-40B4-BE49-F238E27FC236}">
                    <a16:creationId xmlns:a16="http://schemas.microsoft.com/office/drawing/2014/main" id="{C8C1464E-38F7-429A-A682-48FE4C614C97}"/>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20" name="Group 19">
              <a:extLst>
                <a:ext uri="{FF2B5EF4-FFF2-40B4-BE49-F238E27FC236}">
                  <a16:creationId xmlns:a16="http://schemas.microsoft.com/office/drawing/2014/main" id="{AA12E8A0-A5D4-4407-A411-404DA18AB8A9}"/>
                </a:ext>
              </a:extLst>
            </p:cNvPr>
            <p:cNvGrpSpPr/>
            <p:nvPr/>
          </p:nvGrpSpPr>
          <p:grpSpPr>
            <a:xfrm>
              <a:off x="3031668" y="3783563"/>
              <a:ext cx="702132" cy="702232"/>
              <a:chOff x="3031668" y="3077885"/>
              <a:chExt cx="702132" cy="702232"/>
            </a:xfrm>
          </p:grpSpPr>
          <p:grpSp>
            <p:nvGrpSpPr>
              <p:cNvPr id="15" name="Group 14">
                <a:extLst>
                  <a:ext uri="{FF2B5EF4-FFF2-40B4-BE49-F238E27FC236}">
                    <a16:creationId xmlns:a16="http://schemas.microsoft.com/office/drawing/2014/main" id="{6D4D717F-AEA5-416B-89E3-66232A50CCDC}"/>
                  </a:ext>
                </a:extLst>
              </p:cNvPr>
              <p:cNvGrpSpPr/>
              <p:nvPr/>
            </p:nvGrpSpPr>
            <p:grpSpPr>
              <a:xfrm>
                <a:off x="3031668" y="3077885"/>
                <a:ext cx="702132" cy="702232"/>
                <a:chOff x="3031668" y="3077885"/>
                <a:chExt cx="702132" cy="702232"/>
              </a:xfrm>
            </p:grpSpPr>
            <p:sp>
              <p:nvSpPr>
                <p:cNvPr id="36" name="Freeform 5">
                  <a:extLst>
                    <a:ext uri="{FF2B5EF4-FFF2-40B4-BE49-F238E27FC236}">
                      <a16:creationId xmlns:a16="http://schemas.microsoft.com/office/drawing/2014/main" id="{3F8F9610-0EC3-452C-8CD8-3BB282908543}"/>
                    </a:ext>
                  </a:extLst>
                </p:cNvPr>
                <p:cNvSpPr>
                  <a:spLocks/>
                </p:cNvSpPr>
                <p:nvPr/>
              </p:nvSpPr>
              <p:spPr bwMode="auto">
                <a:xfrm>
                  <a:off x="3031668" y="307788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7" name="Freeform 6">
                  <a:extLst>
                    <a:ext uri="{FF2B5EF4-FFF2-40B4-BE49-F238E27FC236}">
                      <a16:creationId xmlns:a16="http://schemas.microsoft.com/office/drawing/2014/main" id="{E126B067-1DDD-4966-9349-1E5FD0A6CBB1}"/>
                    </a:ext>
                  </a:extLst>
                </p:cNvPr>
                <p:cNvSpPr>
                  <a:spLocks noEditPoints="1"/>
                </p:cNvSpPr>
                <p:nvPr/>
              </p:nvSpPr>
              <p:spPr bwMode="auto">
                <a:xfrm>
                  <a:off x="3080522" y="312788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arrow in a circular path with a timer inside the circle">
                <a:extLst>
                  <a:ext uri="{FF2B5EF4-FFF2-40B4-BE49-F238E27FC236}">
                    <a16:creationId xmlns:a16="http://schemas.microsoft.com/office/drawing/2014/main" id="{AF3FD806-281B-4DF3-9F37-7A3996F827BC}"/>
                  </a:ext>
                </a:extLst>
              </p:cNvPr>
              <p:cNvPicPr>
                <a:picLocks noChangeAspect="1"/>
              </p:cNvPicPr>
              <p:nvPr/>
            </p:nvPicPr>
            <p:blipFill>
              <a:blip r:embed="rId4"/>
              <a:stretch>
                <a:fillRect/>
              </a:stretch>
            </p:blipFill>
            <p:spPr>
              <a:xfrm>
                <a:off x="3196572" y="3242839"/>
                <a:ext cx="372325" cy="372325"/>
              </a:xfrm>
              <a:prstGeom prst="rect">
                <a:avLst/>
              </a:prstGeom>
            </p:spPr>
          </p:pic>
        </p:grpSp>
      </p:grpSp>
    </p:spTree>
    <p:extLst>
      <p:ext uri="{BB962C8B-B14F-4D97-AF65-F5344CB8AC3E}">
        <p14:creationId xmlns:p14="http://schemas.microsoft.com/office/powerpoint/2010/main" val="424467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CB7397-78B6-4A1A-A6EB-A7E96DA239E3}"/>
              </a:ext>
            </a:extLst>
          </p:cNvPr>
          <p:cNvSpPr>
            <a:spLocks noGrp="1"/>
          </p:cNvSpPr>
          <p:nvPr>
            <p:ph type="title"/>
          </p:nvPr>
        </p:nvSpPr>
        <p:spPr>
          <a:xfrm>
            <a:off x="455995" y="623224"/>
            <a:ext cx="11306469" cy="397545"/>
          </a:xfrm>
        </p:spPr>
        <p:txBody>
          <a:bodyPr/>
          <a:lstStyle/>
          <a:p>
            <a:r>
              <a:rPr lang="en-IN" dirty="0">
                <a:solidFill>
                  <a:schemeClr val="tx1"/>
                </a:solidFill>
              </a:rPr>
              <a:t>Connect virtual network to an ExpressRoute circuit </a:t>
            </a:r>
            <a:endParaRPr lang="en-US" dirty="0"/>
          </a:p>
        </p:txBody>
      </p:sp>
      <p:sp>
        <p:nvSpPr>
          <p:cNvPr id="2" name="AutoShape 2" descr="Add connection screenshot">
            <a:extLst>
              <a:ext uri="{FF2B5EF4-FFF2-40B4-BE49-F238E27FC236}">
                <a16:creationId xmlns:a16="http://schemas.microsoft.com/office/drawing/2014/main" id="{A47B4942-D6ED-4683-A769-0F81B4E4E1A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screenshot of Azure portal adding a connection to an ExpressRoute circuit ">
            <a:extLst>
              <a:ext uri="{FF2B5EF4-FFF2-40B4-BE49-F238E27FC236}">
                <a16:creationId xmlns:a16="http://schemas.microsoft.com/office/drawing/2014/main" id="{2B65FA8C-6F2E-4451-B459-8BE6779637A2}"/>
              </a:ext>
            </a:extLst>
          </p:cNvPr>
          <p:cNvPicPr>
            <a:picLocks noChangeAspect="1"/>
          </p:cNvPicPr>
          <p:nvPr/>
        </p:nvPicPr>
        <p:blipFill>
          <a:blip r:embed="rId3"/>
          <a:stretch>
            <a:fillRect/>
          </a:stretch>
        </p:blipFill>
        <p:spPr>
          <a:xfrm>
            <a:off x="709653" y="1750362"/>
            <a:ext cx="8019143" cy="3662075"/>
          </a:xfrm>
          <a:prstGeom prst="rect">
            <a:avLst/>
          </a:prstGeom>
        </p:spPr>
      </p:pic>
      <p:sp>
        <p:nvSpPr>
          <p:cNvPr id="4" name="Rectangle 3">
            <a:extLst>
              <a:ext uri="{FF2B5EF4-FFF2-40B4-BE49-F238E27FC236}">
                <a16:creationId xmlns:a16="http://schemas.microsoft.com/office/drawing/2014/main" id="{490FA467-1A7C-4892-AD4E-53782DAE28B2}"/>
              </a:ext>
              <a:ext uri="{C183D7F6-B498-43B3-948B-1728B52AA6E4}">
                <adec:decorative xmlns:adec="http://schemas.microsoft.com/office/drawing/2017/decorative" val="1"/>
              </a:ext>
            </a:extLst>
          </p:cNvPr>
          <p:cNvSpPr/>
          <p:nvPr/>
        </p:nvSpPr>
        <p:spPr bwMode="auto">
          <a:xfrm>
            <a:off x="455994" y="1169262"/>
            <a:ext cx="8678481" cy="454573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15339720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23696-612E-48C4-865A-40157589D49E}"/>
              </a:ext>
            </a:extLst>
          </p:cNvPr>
          <p:cNvSpPr>
            <a:spLocks noGrp="1"/>
          </p:cNvSpPr>
          <p:nvPr>
            <p:ph type="title"/>
          </p:nvPr>
        </p:nvSpPr>
        <p:spPr/>
        <p:txBody>
          <a:bodyPr/>
          <a:lstStyle/>
          <a:p>
            <a:r>
              <a:rPr lang="en-IN" dirty="0">
                <a:solidFill>
                  <a:schemeClr val="tx1"/>
                </a:solidFill>
              </a:rPr>
              <a:t>Connect virtual network to an ExpressRoute </a:t>
            </a:r>
            <a:r>
              <a:rPr lang="en-IN" dirty="0"/>
              <a:t>circuit – continued </a:t>
            </a:r>
            <a:endParaRPr lang="en-US" dirty="0"/>
          </a:p>
        </p:txBody>
      </p:sp>
      <p:pic>
        <p:nvPicPr>
          <p:cNvPr id="4" name="Picture 3" descr="screenshot of Azure portal creating a connection basics tab ">
            <a:extLst>
              <a:ext uri="{FF2B5EF4-FFF2-40B4-BE49-F238E27FC236}">
                <a16:creationId xmlns:a16="http://schemas.microsoft.com/office/drawing/2014/main" id="{A93D179A-0C5F-45CD-ABE7-03647862FEDD}"/>
              </a:ext>
            </a:extLst>
          </p:cNvPr>
          <p:cNvPicPr>
            <a:picLocks noChangeAspect="1"/>
          </p:cNvPicPr>
          <p:nvPr/>
        </p:nvPicPr>
        <p:blipFill>
          <a:blip r:embed="rId3"/>
          <a:stretch>
            <a:fillRect/>
          </a:stretch>
        </p:blipFill>
        <p:spPr>
          <a:xfrm>
            <a:off x="455995" y="1790993"/>
            <a:ext cx="5595505" cy="4103370"/>
          </a:xfrm>
          <a:prstGeom prst="rect">
            <a:avLst/>
          </a:prstGeom>
        </p:spPr>
      </p:pic>
      <p:sp>
        <p:nvSpPr>
          <p:cNvPr id="3" name="AutoShape 2" descr="Create connection settings page">
            <a:extLst>
              <a:ext uri="{FF2B5EF4-FFF2-40B4-BE49-F238E27FC236}">
                <a16:creationId xmlns:a16="http://schemas.microsoft.com/office/drawing/2014/main" id="{EDBAC83D-1E8A-46D2-8B17-1442CB47A9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screenshot of Azure portal creating a connection settings ">
            <a:extLst>
              <a:ext uri="{FF2B5EF4-FFF2-40B4-BE49-F238E27FC236}">
                <a16:creationId xmlns:a16="http://schemas.microsoft.com/office/drawing/2014/main" id="{E6DAE7E6-DE5F-45CA-9CF1-CC7659895A7B}"/>
              </a:ext>
            </a:extLst>
          </p:cNvPr>
          <p:cNvPicPr>
            <a:picLocks noChangeAspect="1"/>
          </p:cNvPicPr>
          <p:nvPr/>
        </p:nvPicPr>
        <p:blipFill>
          <a:blip r:embed="rId4"/>
          <a:stretch>
            <a:fillRect/>
          </a:stretch>
        </p:blipFill>
        <p:spPr>
          <a:xfrm>
            <a:off x="6248400" y="1790993"/>
            <a:ext cx="5595505" cy="4103370"/>
          </a:xfrm>
          <a:prstGeom prst="rect">
            <a:avLst/>
          </a:prstGeom>
        </p:spPr>
      </p:pic>
      <p:sp>
        <p:nvSpPr>
          <p:cNvPr id="5" name="Rectangle 4">
            <a:extLst>
              <a:ext uri="{FF2B5EF4-FFF2-40B4-BE49-F238E27FC236}">
                <a16:creationId xmlns:a16="http://schemas.microsoft.com/office/drawing/2014/main" id="{6190EB2E-F6C0-4B31-9B3A-FA801075AC71}"/>
              </a:ext>
              <a:ext uri="{C183D7F6-B498-43B3-948B-1728B52AA6E4}">
                <adec:decorative xmlns:adec="http://schemas.microsoft.com/office/drawing/2017/decorative" val="1"/>
              </a:ext>
            </a:extLst>
          </p:cNvPr>
          <p:cNvSpPr/>
          <p:nvPr/>
        </p:nvSpPr>
        <p:spPr bwMode="auto">
          <a:xfrm>
            <a:off x="348095" y="1340712"/>
            <a:ext cx="5595505" cy="472510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9" name="Rectangle 8">
            <a:extLst>
              <a:ext uri="{FF2B5EF4-FFF2-40B4-BE49-F238E27FC236}">
                <a16:creationId xmlns:a16="http://schemas.microsoft.com/office/drawing/2014/main" id="{C3BF4365-9C62-420D-9C35-F925C51D0170}"/>
              </a:ext>
              <a:ext uri="{C183D7F6-B498-43B3-948B-1728B52AA6E4}">
                <adec:decorative xmlns:adec="http://schemas.microsoft.com/office/drawing/2017/decorative" val="1"/>
              </a:ext>
            </a:extLst>
          </p:cNvPr>
          <p:cNvSpPr/>
          <p:nvPr/>
        </p:nvSpPr>
        <p:spPr bwMode="auto">
          <a:xfrm>
            <a:off x="6095999" y="1340711"/>
            <a:ext cx="5747905" cy="472510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74533911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20DD-577A-4D34-BBD1-A13B97F8494D}"/>
              </a:ext>
            </a:extLst>
          </p:cNvPr>
          <p:cNvSpPr>
            <a:spLocks noGrp="1"/>
          </p:cNvSpPr>
          <p:nvPr>
            <p:ph type="title"/>
          </p:nvPr>
        </p:nvSpPr>
        <p:spPr/>
        <p:txBody>
          <a:bodyPr/>
          <a:lstStyle/>
          <a:p>
            <a:r>
              <a:rPr lang="en-IN" dirty="0">
                <a:solidFill>
                  <a:schemeClr val="tx1"/>
                </a:solidFill>
              </a:rPr>
              <a:t>Verify connection </a:t>
            </a:r>
            <a:endParaRPr lang="en-US" dirty="0"/>
          </a:p>
        </p:txBody>
      </p:sp>
      <p:pic>
        <p:nvPicPr>
          <p:cNvPr id="4" name="Picture 3" descr="screenshot of Azure portal confirming connection shows status succeeded ">
            <a:extLst>
              <a:ext uri="{FF2B5EF4-FFF2-40B4-BE49-F238E27FC236}">
                <a16:creationId xmlns:a16="http://schemas.microsoft.com/office/drawing/2014/main" id="{CAC84ACC-5387-4C30-9340-C7DE54EF6A37}"/>
              </a:ext>
            </a:extLst>
          </p:cNvPr>
          <p:cNvPicPr>
            <a:picLocks noChangeAspect="1"/>
          </p:cNvPicPr>
          <p:nvPr/>
        </p:nvPicPr>
        <p:blipFill>
          <a:blip r:embed="rId3"/>
          <a:stretch>
            <a:fillRect/>
          </a:stretch>
        </p:blipFill>
        <p:spPr>
          <a:xfrm>
            <a:off x="761640" y="1627895"/>
            <a:ext cx="9423662" cy="4083587"/>
          </a:xfrm>
          <a:prstGeom prst="rect">
            <a:avLst/>
          </a:prstGeom>
        </p:spPr>
      </p:pic>
      <p:sp>
        <p:nvSpPr>
          <p:cNvPr id="3" name="Rectangle 2">
            <a:extLst>
              <a:ext uri="{FF2B5EF4-FFF2-40B4-BE49-F238E27FC236}">
                <a16:creationId xmlns:a16="http://schemas.microsoft.com/office/drawing/2014/main" id="{D5A0F6B1-0F4E-4142-9B84-CECE93216788}"/>
              </a:ext>
              <a:ext uri="{C183D7F6-B498-43B3-948B-1728B52AA6E4}">
                <adec:decorative xmlns:adec="http://schemas.microsoft.com/office/drawing/2017/decorative" val="1"/>
              </a:ext>
            </a:extLst>
          </p:cNvPr>
          <p:cNvSpPr/>
          <p:nvPr/>
        </p:nvSpPr>
        <p:spPr bwMode="auto">
          <a:xfrm>
            <a:off x="466888" y="1169261"/>
            <a:ext cx="11306470" cy="474576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79903888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sz="2400"/>
              <a:t>Connect an ExpressRoute circuit to a VNet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 uri="{C183D7F6-B498-43B3-948B-1728B52AA6E4}">
                <adec:decorative xmlns:adec="http://schemas.microsoft.com/office/drawing/2017/decorative" val="1"/>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A991218-22FE-4C18-B6C9-A7E038B19DC9}"/>
              </a:ext>
            </a:extLst>
          </p:cNvPr>
          <p:cNvSpPr txBox="1"/>
          <p:nvPr/>
        </p:nvSpPr>
        <p:spPr>
          <a:xfrm>
            <a:off x="4754449" y="2140295"/>
            <a:ext cx="6098344" cy="646331"/>
          </a:xfrm>
          <a:prstGeom prst="rect">
            <a:avLst/>
          </a:prstGeom>
          <a:noFill/>
        </p:spPr>
        <p:txBody>
          <a:bodyPr wrap="square">
            <a:spAutoFit/>
          </a:bodyPr>
          <a:lstStyle/>
          <a:p>
            <a:r>
              <a:rPr lang="en-US" dirty="0">
                <a:hlinkClick r:id="rId4"/>
              </a:rPr>
              <a:t>Azure ExpressRoute: Circuit configuration workflow | Microsoft Docs</a:t>
            </a:r>
            <a:endParaRPr lang="en-US" dirty="0"/>
          </a:p>
        </p:txBody>
      </p:sp>
    </p:spTree>
    <p:extLst>
      <p:ext uri="{BB962C8B-B14F-4D97-AF65-F5344CB8AC3E}">
        <p14:creationId xmlns:p14="http://schemas.microsoft.com/office/powerpoint/2010/main" val="22015256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a:t>Lesson 07: </a:t>
            </a:r>
            <a:r>
              <a:rPr lang="en-US" sz="3600"/>
              <a:t>Connect geographically dispersed networks with ExpressRoute Global Reach</a:t>
            </a:r>
            <a:endParaRPr lang="en-US"/>
          </a:p>
        </p:txBody>
      </p:sp>
      <p:grpSp>
        <p:nvGrpSpPr>
          <p:cNvPr id="4" name="Group 3">
            <a:extLst>
              <a:ext uri="{FF2B5EF4-FFF2-40B4-BE49-F238E27FC236}">
                <a16:creationId xmlns:a16="http://schemas.microsoft.com/office/drawing/2014/main" id="{B94FAA59-47E7-4347-961A-D258FB32C13D}"/>
              </a:ext>
              <a:ext uri="{C183D7F6-B498-43B3-948B-1728B52AA6E4}">
                <adec:decorative xmlns:adec="http://schemas.microsoft.com/office/drawing/2017/decorative" val="1"/>
              </a:ext>
            </a:extLst>
          </p:cNvPr>
          <p:cNvGrpSpPr/>
          <p:nvPr/>
        </p:nvGrpSpPr>
        <p:grpSpPr>
          <a:xfrm>
            <a:off x="10373967" y="3070379"/>
            <a:ext cx="717140" cy="717242"/>
            <a:chOff x="6229350" y="2287883"/>
            <a:chExt cx="717140" cy="717242"/>
          </a:xfrm>
        </p:grpSpPr>
        <p:grpSp>
          <p:nvGrpSpPr>
            <p:cNvPr id="5" name="Group 4">
              <a:extLst>
                <a:ext uri="{FF2B5EF4-FFF2-40B4-BE49-F238E27FC236}">
                  <a16:creationId xmlns:a16="http://schemas.microsoft.com/office/drawing/2014/main" id="{601AAE8E-DFCC-4D39-A72C-41A2C3522A72}"/>
                </a:ext>
              </a:extLst>
            </p:cNvPr>
            <p:cNvGrpSpPr/>
            <p:nvPr/>
          </p:nvGrpSpPr>
          <p:grpSpPr>
            <a:xfrm>
              <a:off x="6229350" y="2287883"/>
              <a:ext cx="717140" cy="717242"/>
              <a:chOff x="6229350" y="2287883"/>
              <a:chExt cx="717140" cy="717242"/>
            </a:xfrm>
          </p:grpSpPr>
          <p:sp>
            <p:nvSpPr>
              <p:cNvPr id="7" name="Freeform 5">
                <a:extLst>
                  <a:ext uri="{FF2B5EF4-FFF2-40B4-BE49-F238E27FC236}">
                    <a16:creationId xmlns:a16="http://schemas.microsoft.com/office/drawing/2014/main" id="{129360B7-A939-4B31-959E-2986D6737290}"/>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AAE48176-3937-4526-B924-F384595D2086}"/>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arrow in a circular path with a timer inside the circle">
              <a:extLst>
                <a:ext uri="{FF2B5EF4-FFF2-40B4-BE49-F238E27FC236}">
                  <a16:creationId xmlns:a16="http://schemas.microsoft.com/office/drawing/2014/main" id="{F18B8709-3741-4335-9A26-5A0D7B65C6DA}"/>
                </a:ext>
              </a:extLst>
            </p:cNvPr>
            <p:cNvPicPr>
              <a:picLocks noChangeAspect="1"/>
            </p:cNvPicPr>
            <p:nvPr/>
          </p:nvPicPr>
          <p:blipFill>
            <a:blip r:embed="rId2"/>
            <a:stretch>
              <a:fillRect/>
            </a:stretch>
          </p:blipFill>
          <p:spPr>
            <a:xfrm>
              <a:off x="6399474" y="2458059"/>
              <a:ext cx="376892" cy="376890"/>
            </a:xfrm>
            <a:prstGeom prst="rect">
              <a:avLst/>
            </a:prstGeom>
          </p:spPr>
        </p:pic>
      </p:grpSp>
    </p:spTree>
    <p:extLst>
      <p:ext uri="{BB962C8B-B14F-4D97-AF65-F5344CB8AC3E}">
        <p14:creationId xmlns:p14="http://schemas.microsoft.com/office/powerpoint/2010/main" val="256933120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sz="2750" dirty="0"/>
              <a:t>Connect geographically dispersed networks with ExpressRoute Global Reach Overview</a:t>
            </a:r>
          </a:p>
        </p:txBody>
      </p:sp>
      <p:sp>
        <p:nvSpPr>
          <p:cNvPr id="22" name="Text Placeholder 96">
            <a:extLst>
              <a:ext uri="{FF2B5EF4-FFF2-40B4-BE49-F238E27FC236}">
                <a16:creationId xmlns:a16="http://schemas.microsoft.com/office/drawing/2014/main" id="{4FE08256-E856-894A-7ADD-F730C607261F}"/>
              </a:ext>
            </a:extLst>
          </p:cNvPr>
          <p:cNvSpPr txBox="1">
            <a:spLocks/>
          </p:cNvSpPr>
          <p:nvPr/>
        </p:nvSpPr>
        <p:spPr>
          <a:xfrm>
            <a:off x="3940264" y="436863"/>
            <a:ext cx="7351713" cy="675889"/>
          </a:xfrm>
          <a:prstGeom prst="rect">
            <a:avLst/>
          </a:prstGeom>
        </p:spPr>
        <p:txBody>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lvl="1"/>
            <a:r>
              <a:rPr lang="en-US" dirty="0"/>
              <a:t>Use Cross-region connectivity to link multiple ExpressRoutes</a:t>
            </a:r>
          </a:p>
        </p:txBody>
      </p:sp>
      <p:sp>
        <p:nvSpPr>
          <p:cNvPr id="6" name="Text Placeholder 5"/>
          <p:cNvSpPr>
            <a:spLocks noGrp="1"/>
          </p:cNvSpPr>
          <p:nvPr>
            <p:ph type="body" sz="quarter" idx="21"/>
          </p:nvPr>
        </p:nvSpPr>
        <p:spPr/>
        <p:txBody>
          <a:bodyPr/>
          <a:lstStyle/>
          <a:p>
            <a:pPr lvl="1"/>
            <a:r>
              <a:rPr lang="en-US" dirty="0"/>
              <a:t>Choose when to use ExpressRoute Global Reach</a:t>
            </a:r>
          </a:p>
        </p:txBody>
      </p:sp>
      <p:sp>
        <p:nvSpPr>
          <p:cNvPr id="2" name="Text Placeholder 1"/>
          <p:cNvSpPr>
            <a:spLocks noGrp="1"/>
          </p:cNvSpPr>
          <p:nvPr>
            <p:ph type="body" sz="quarter" idx="22"/>
          </p:nvPr>
        </p:nvSpPr>
        <p:spPr/>
        <p:txBody>
          <a:bodyPr/>
          <a:lstStyle/>
          <a:p>
            <a:pPr lvl="1"/>
            <a:r>
              <a:rPr lang="en-US" dirty="0"/>
              <a:t>Configure ExpressRoute Global Reach</a:t>
            </a:r>
          </a:p>
        </p:txBody>
      </p:sp>
      <p:sp>
        <p:nvSpPr>
          <p:cNvPr id="3" name="Text Placeholder 2"/>
          <p:cNvSpPr>
            <a:spLocks noGrp="1"/>
          </p:cNvSpPr>
          <p:nvPr>
            <p:ph type="body" sz="quarter" idx="23"/>
          </p:nvPr>
        </p:nvSpPr>
        <p:spPr/>
        <p:txBody>
          <a:bodyPr/>
          <a:lstStyle/>
          <a:p>
            <a:pPr lvl="1"/>
            <a:r>
              <a:rPr lang="en-US" dirty="0"/>
              <a:t>Review </a:t>
            </a:r>
          </a:p>
        </p:txBody>
      </p:sp>
      <p:grpSp>
        <p:nvGrpSpPr>
          <p:cNvPr id="4" name="Group 3">
            <a:extLst>
              <a:ext uri="{FF2B5EF4-FFF2-40B4-BE49-F238E27FC236}">
                <a16:creationId xmlns:a16="http://schemas.microsoft.com/office/drawing/2014/main" id="{D1CAE9DC-9D38-40C5-A54B-993778B70918}"/>
              </a:ext>
              <a:ext uri="{C183D7F6-B498-43B3-948B-1728B52AA6E4}">
                <adec:decorative xmlns:adec="http://schemas.microsoft.com/office/drawing/2017/decorative" val="1"/>
              </a:ext>
            </a:extLst>
          </p:cNvPr>
          <p:cNvGrpSpPr/>
          <p:nvPr/>
        </p:nvGrpSpPr>
        <p:grpSpPr>
          <a:xfrm>
            <a:off x="3031668" y="1620002"/>
            <a:ext cx="702132" cy="3617998"/>
            <a:chOff x="3031668" y="1620002"/>
            <a:chExt cx="702132" cy="3617998"/>
          </a:xfrm>
        </p:grpSpPr>
        <p:grpSp>
          <p:nvGrpSpPr>
            <p:cNvPr id="21" name="Group 20">
              <a:extLst>
                <a:ext uri="{FF2B5EF4-FFF2-40B4-BE49-F238E27FC236}">
                  <a16:creationId xmlns:a16="http://schemas.microsoft.com/office/drawing/2014/main" id="{7F0EA0D2-F5BD-4609-9E3A-21CFB6B3C81C}"/>
                </a:ext>
              </a:extLst>
            </p:cNvPr>
            <p:cNvGrpSpPr/>
            <p:nvPr/>
          </p:nvGrpSpPr>
          <p:grpSpPr>
            <a:xfrm>
              <a:off x="3031668" y="1620002"/>
              <a:ext cx="702132" cy="702232"/>
              <a:chOff x="3031668" y="1620002"/>
              <a:chExt cx="702132" cy="702232"/>
            </a:xfrm>
          </p:grpSpPr>
          <p:grpSp>
            <p:nvGrpSpPr>
              <p:cNvPr id="14" name="Group 13">
                <a:extLst>
                  <a:ext uri="{FF2B5EF4-FFF2-40B4-BE49-F238E27FC236}">
                    <a16:creationId xmlns:a16="http://schemas.microsoft.com/office/drawing/2014/main" id="{2A3BFF39-13AE-4902-A9D8-31EA3D524816}"/>
                  </a:ext>
                </a:extLst>
              </p:cNvPr>
              <p:cNvGrpSpPr/>
              <p:nvPr/>
            </p:nvGrpSpPr>
            <p:grpSpPr>
              <a:xfrm>
                <a:off x="3031668" y="1620002"/>
                <a:ext cx="702132" cy="702232"/>
                <a:chOff x="3031668" y="1620002"/>
                <a:chExt cx="702132" cy="702232"/>
              </a:xfrm>
            </p:grpSpPr>
            <p:sp>
              <p:nvSpPr>
                <p:cNvPr id="31" name="Freeform 5">
                  <a:extLst>
                    <a:ext uri="{FF2B5EF4-FFF2-40B4-BE49-F238E27FC236}">
                      <a16:creationId xmlns:a16="http://schemas.microsoft.com/office/drawing/2014/main" id="{D616F46A-8C8E-475E-91F4-D968F21F5186}"/>
                    </a:ext>
                  </a:extLst>
                </p:cNvPr>
                <p:cNvSpPr>
                  <a:spLocks/>
                </p:cNvSpPr>
                <p:nvPr/>
              </p:nvSpPr>
              <p:spPr bwMode="auto">
                <a:xfrm>
                  <a:off x="3031668" y="162000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4" name="Freeform 6">
                  <a:extLst>
                    <a:ext uri="{FF2B5EF4-FFF2-40B4-BE49-F238E27FC236}">
                      <a16:creationId xmlns:a16="http://schemas.microsoft.com/office/drawing/2014/main" id="{3931DC69-4D5C-40B4-80D2-7FDE66A622D0}"/>
                    </a:ext>
                  </a:extLst>
                </p:cNvPr>
                <p:cNvSpPr>
                  <a:spLocks noEditPoints="1"/>
                </p:cNvSpPr>
                <p:nvPr/>
              </p:nvSpPr>
              <p:spPr bwMode="auto">
                <a:xfrm>
                  <a:off x="3080522" y="1670000"/>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three concentric arcs">
                <a:extLst>
                  <a:ext uri="{FF2B5EF4-FFF2-40B4-BE49-F238E27FC236}">
                    <a16:creationId xmlns:a16="http://schemas.microsoft.com/office/drawing/2014/main" id="{C8C1464E-38F7-429A-A682-48FE4C614C97}"/>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20" name="Group 19">
              <a:extLst>
                <a:ext uri="{FF2B5EF4-FFF2-40B4-BE49-F238E27FC236}">
                  <a16:creationId xmlns:a16="http://schemas.microsoft.com/office/drawing/2014/main" id="{AA12E8A0-A5D4-4407-A411-404DA18AB8A9}"/>
                </a:ext>
              </a:extLst>
            </p:cNvPr>
            <p:cNvGrpSpPr/>
            <p:nvPr/>
          </p:nvGrpSpPr>
          <p:grpSpPr>
            <a:xfrm>
              <a:off x="3031668" y="3077885"/>
              <a:ext cx="702132" cy="702232"/>
              <a:chOff x="3031668" y="3077885"/>
              <a:chExt cx="702132" cy="702232"/>
            </a:xfrm>
          </p:grpSpPr>
          <p:grpSp>
            <p:nvGrpSpPr>
              <p:cNvPr id="15" name="Group 14">
                <a:extLst>
                  <a:ext uri="{FF2B5EF4-FFF2-40B4-BE49-F238E27FC236}">
                    <a16:creationId xmlns:a16="http://schemas.microsoft.com/office/drawing/2014/main" id="{6D4D717F-AEA5-416B-89E3-66232A50CCDC}"/>
                  </a:ext>
                </a:extLst>
              </p:cNvPr>
              <p:cNvGrpSpPr/>
              <p:nvPr/>
            </p:nvGrpSpPr>
            <p:grpSpPr>
              <a:xfrm>
                <a:off x="3031668" y="3077885"/>
                <a:ext cx="702132" cy="702232"/>
                <a:chOff x="3031668" y="3077885"/>
                <a:chExt cx="702132" cy="702232"/>
              </a:xfrm>
            </p:grpSpPr>
            <p:sp>
              <p:nvSpPr>
                <p:cNvPr id="36" name="Freeform 5">
                  <a:extLst>
                    <a:ext uri="{FF2B5EF4-FFF2-40B4-BE49-F238E27FC236}">
                      <a16:creationId xmlns:a16="http://schemas.microsoft.com/office/drawing/2014/main" id="{3F8F9610-0EC3-452C-8CD8-3BB282908543}"/>
                    </a:ext>
                  </a:extLst>
                </p:cNvPr>
                <p:cNvSpPr>
                  <a:spLocks/>
                </p:cNvSpPr>
                <p:nvPr/>
              </p:nvSpPr>
              <p:spPr bwMode="auto">
                <a:xfrm>
                  <a:off x="3031668" y="307788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7" name="Freeform 6">
                  <a:extLst>
                    <a:ext uri="{FF2B5EF4-FFF2-40B4-BE49-F238E27FC236}">
                      <a16:creationId xmlns:a16="http://schemas.microsoft.com/office/drawing/2014/main" id="{E126B067-1DDD-4966-9349-1E5FD0A6CBB1}"/>
                    </a:ext>
                  </a:extLst>
                </p:cNvPr>
                <p:cNvSpPr>
                  <a:spLocks noEditPoints="1"/>
                </p:cNvSpPr>
                <p:nvPr/>
              </p:nvSpPr>
              <p:spPr bwMode="auto">
                <a:xfrm>
                  <a:off x="3080522" y="312788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arrow in a circular path with a timer inside the circle">
                <a:extLst>
                  <a:ext uri="{FF2B5EF4-FFF2-40B4-BE49-F238E27FC236}">
                    <a16:creationId xmlns:a16="http://schemas.microsoft.com/office/drawing/2014/main" id="{AF3FD806-281B-4DF3-9F37-7A3996F827BC}"/>
                  </a:ext>
                </a:extLst>
              </p:cNvPr>
              <p:cNvPicPr>
                <a:picLocks noChangeAspect="1"/>
              </p:cNvPicPr>
              <p:nvPr/>
            </p:nvPicPr>
            <p:blipFill>
              <a:blip r:embed="rId4"/>
              <a:stretch>
                <a:fillRect/>
              </a:stretch>
            </p:blipFill>
            <p:spPr>
              <a:xfrm>
                <a:off x="3196572" y="3242839"/>
                <a:ext cx="372325" cy="372325"/>
              </a:xfrm>
              <a:prstGeom prst="rect">
                <a:avLst/>
              </a:prstGeom>
            </p:spPr>
          </p:pic>
        </p:grpSp>
        <p:grpSp>
          <p:nvGrpSpPr>
            <p:cNvPr id="19" name="Group 18">
              <a:extLst>
                <a:ext uri="{FF2B5EF4-FFF2-40B4-BE49-F238E27FC236}">
                  <a16:creationId xmlns:a16="http://schemas.microsoft.com/office/drawing/2014/main" id="{2A83C786-B00D-490E-B37F-A04BFDFD3BB3}"/>
                </a:ext>
              </a:extLst>
            </p:cNvPr>
            <p:cNvGrpSpPr/>
            <p:nvPr/>
          </p:nvGrpSpPr>
          <p:grpSpPr>
            <a:xfrm>
              <a:off x="3031668" y="4535768"/>
              <a:ext cx="702132" cy="702232"/>
              <a:chOff x="3031668" y="4535768"/>
              <a:chExt cx="702132" cy="702232"/>
            </a:xfrm>
          </p:grpSpPr>
          <p:grpSp>
            <p:nvGrpSpPr>
              <p:cNvPr id="18" name="Group 17">
                <a:extLst>
                  <a:ext uri="{FF2B5EF4-FFF2-40B4-BE49-F238E27FC236}">
                    <a16:creationId xmlns:a16="http://schemas.microsoft.com/office/drawing/2014/main" id="{17CC6BFE-662E-4AEF-9ACC-A5A3A466EBAB}"/>
                  </a:ext>
                </a:extLst>
              </p:cNvPr>
              <p:cNvGrpSpPr/>
              <p:nvPr/>
            </p:nvGrpSpPr>
            <p:grpSpPr>
              <a:xfrm>
                <a:off x="3031668" y="4535768"/>
                <a:ext cx="702132" cy="702232"/>
                <a:chOff x="3031668" y="4535768"/>
                <a:chExt cx="702132" cy="702232"/>
              </a:xfrm>
            </p:grpSpPr>
            <p:sp>
              <p:nvSpPr>
                <p:cNvPr id="44" name="Freeform 5">
                  <a:extLst>
                    <a:ext uri="{FF2B5EF4-FFF2-40B4-BE49-F238E27FC236}">
                      <a16:creationId xmlns:a16="http://schemas.microsoft.com/office/drawing/2014/main" id="{68545A57-D254-4040-9131-B81B012B454C}"/>
                    </a:ext>
                  </a:extLst>
                </p:cNvPr>
                <p:cNvSpPr>
                  <a:spLocks/>
                </p:cNvSpPr>
                <p:nvPr/>
              </p:nvSpPr>
              <p:spPr bwMode="auto">
                <a:xfrm>
                  <a:off x="3031668" y="453576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5" name="Freeform 6">
                  <a:extLst>
                    <a:ext uri="{FF2B5EF4-FFF2-40B4-BE49-F238E27FC236}">
                      <a16:creationId xmlns:a16="http://schemas.microsoft.com/office/drawing/2014/main" id="{A37A0F79-C2EA-4568-BF05-E46B9DFE0A0D}"/>
                    </a:ext>
                  </a:extLst>
                </p:cNvPr>
                <p:cNvSpPr>
                  <a:spLocks noEditPoints="1"/>
                </p:cNvSpPr>
                <p:nvPr/>
              </p:nvSpPr>
              <p:spPr bwMode="auto">
                <a:xfrm>
                  <a:off x="3080522" y="458576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gear inside a circle">
                <a:extLst>
                  <a:ext uri="{FF2B5EF4-FFF2-40B4-BE49-F238E27FC236}">
                    <a16:creationId xmlns:a16="http://schemas.microsoft.com/office/drawing/2014/main" id="{65C31315-C27D-41F3-9F94-06BF61084599}"/>
                  </a:ext>
                </a:extLst>
              </p:cNvPr>
              <p:cNvPicPr>
                <a:picLocks noChangeAspect="1"/>
              </p:cNvPicPr>
              <p:nvPr/>
            </p:nvPicPr>
            <p:blipFill>
              <a:blip r:embed="rId5"/>
              <a:stretch>
                <a:fillRect/>
              </a:stretch>
            </p:blipFill>
            <p:spPr>
              <a:xfrm>
                <a:off x="3196572" y="4700650"/>
                <a:ext cx="372325" cy="372325"/>
              </a:xfrm>
              <a:prstGeom prst="rect">
                <a:avLst/>
              </a:prstGeom>
            </p:spPr>
          </p:pic>
        </p:grpSp>
      </p:grpSp>
      <p:grpSp>
        <p:nvGrpSpPr>
          <p:cNvPr id="23" name="Group 22">
            <a:extLst>
              <a:ext uri="{FF2B5EF4-FFF2-40B4-BE49-F238E27FC236}">
                <a16:creationId xmlns:a16="http://schemas.microsoft.com/office/drawing/2014/main" id="{26A1B0F6-BF96-6307-B814-475605845869}"/>
              </a:ext>
              <a:ext uri="{C183D7F6-B498-43B3-948B-1728B52AA6E4}">
                <adec:decorative xmlns:adec="http://schemas.microsoft.com/office/drawing/2017/decorative" val="1"/>
              </a:ext>
            </a:extLst>
          </p:cNvPr>
          <p:cNvGrpSpPr/>
          <p:nvPr/>
        </p:nvGrpSpPr>
        <p:grpSpPr>
          <a:xfrm>
            <a:off x="3031668" y="308250"/>
            <a:ext cx="702132" cy="702232"/>
            <a:chOff x="3031668" y="3935251"/>
            <a:chExt cx="702132" cy="702232"/>
          </a:xfrm>
        </p:grpSpPr>
        <p:grpSp>
          <p:nvGrpSpPr>
            <p:cNvPr id="24" name="Group 23">
              <a:extLst>
                <a:ext uri="{FF2B5EF4-FFF2-40B4-BE49-F238E27FC236}">
                  <a16:creationId xmlns:a16="http://schemas.microsoft.com/office/drawing/2014/main" id="{099F2C6E-03A3-454E-A5C6-2712D7A1AAB1}"/>
                </a:ext>
              </a:extLst>
            </p:cNvPr>
            <p:cNvGrpSpPr/>
            <p:nvPr/>
          </p:nvGrpSpPr>
          <p:grpSpPr>
            <a:xfrm>
              <a:off x="3031668" y="3935251"/>
              <a:ext cx="702132" cy="702232"/>
              <a:chOff x="3031668" y="3935251"/>
              <a:chExt cx="702132" cy="702232"/>
            </a:xfrm>
          </p:grpSpPr>
          <p:sp>
            <p:nvSpPr>
              <p:cNvPr id="26" name="Freeform 5">
                <a:extLst>
                  <a:ext uri="{FF2B5EF4-FFF2-40B4-BE49-F238E27FC236}">
                    <a16:creationId xmlns:a16="http://schemas.microsoft.com/office/drawing/2014/main" id="{BBD1B2F1-FC87-3277-4213-D5EE99DA3DE8}"/>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7" name="Freeform 6">
                <a:extLst>
                  <a:ext uri="{FF2B5EF4-FFF2-40B4-BE49-F238E27FC236}">
                    <a16:creationId xmlns:a16="http://schemas.microsoft.com/office/drawing/2014/main" id="{4509C060-2DDA-C5B4-6A7A-5A489D28BB7E}"/>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5" name="Picture 24" descr="Icon of a screen with dots">
              <a:extLst>
                <a:ext uri="{FF2B5EF4-FFF2-40B4-BE49-F238E27FC236}">
                  <a16:creationId xmlns:a16="http://schemas.microsoft.com/office/drawing/2014/main" id="{C8637BEC-9F00-EF7A-22B7-320CF8841A1A}"/>
                </a:ext>
              </a:extLst>
            </p:cNvPr>
            <p:cNvPicPr>
              <a:picLocks noChangeAspect="1"/>
            </p:cNvPicPr>
            <p:nvPr/>
          </p:nvPicPr>
          <p:blipFill>
            <a:blip r:embed="rId6"/>
            <a:stretch>
              <a:fillRect/>
            </a:stretch>
          </p:blipFill>
          <p:spPr>
            <a:xfrm>
              <a:off x="3199854" y="4149132"/>
              <a:ext cx="365760" cy="274470"/>
            </a:xfrm>
            <a:prstGeom prst="rect">
              <a:avLst/>
            </a:prstGeom>
          </p:spPr>
        </p:pic>
      </p:grpSp>
    </p:spTree>
    <p:extLst>
      <p:ext uri="{BB962C8B-B14F-4D97-AF65-F5344CB8AC3E}">
        <p14:creationId xmlns:p14="http://schemas.microsoft.com/office/powerpoint/2010/main" val="4841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A169-8122-4349-9392-66436DAE4A6D}"/>
              </a:ext>
            </a:extLst>
          </p:cNvPr>
          <p:cNvSpPr>
            <a:spLocks noGrp="1"/>
          </p:cNvSpPr>
          <p:nvPr>
            <p:ph type="title"/>
          </p:nvPr>
        </p:nvSpPr>
        <p:spPr>
          <a:xfrm>
            <a:off x="455995" y="623224"/>
            <a:ext cx="11306469" cy="397545"/>
          </a:xfrm>
        </p:spPr>
        <p:txBody>
          <a:bodyPr/>
          <a:lstStyle/>
          <a:p>
            <a:r>
              <a:rPr lang="en-US" sz="2800" dirty="0">
                <a:solidFill>
                  <a:schemeClr val="tx1"/>
                </a:solidFill>
              </a:rPr>
              <a:t>Use Cross-region connectivity to link multiple ExpressRoutes </a:t>
            </a:r>
            <a:endParaRPr lang="en-US" dirty="0"/>
          </a:p>
        </p:txBody>
      </p:sp>
      <p:sp>
        <p:nvSpPr>
          <p:cNvPr id="3" name="TextBox 1">
            <a:extLst>
              <a:ext uri="{FF2B5EF4-FFF2-40B4-BE49-F238E27FC236}">
                <a16:creationId xmlns:a16="http://schemas.microsoft.com/office/drawing/2014/main" id="{1C99F8B3-FA44-46F1-9F4B-BBB8933D0464}"/>
              </a:ext>
            </a:extLst>
          </p:cNvPr>
          <p:cNvSpPr txBox="1"/>
          <p:nvPr/>
        </p:nvSpPr>
        <p:spPr>
          <a:xfrm>
            <a:off x="418643" y="1435382"/>
            <a:ext cx="4394657" cy="672319"/>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Connectivity to all regions within a geopolitical region</a:t>
            </a:r>
          </a:p>
        </p:txBody>
      </p:sp>
      <p:sp>
        <p:nvSpPr>
          <p:cNvPr id="5" name="TextBox 1">
            <a:extLst>
              <a:ext uri="{FF2B5EF4-FFF2-40B4-BE49-F238E27FC236}">
                <a16:creationId xmlns:a16="http://schemas.microsoft.com/office/drawing/2014/main" id="{7D061DD5-DE85-407B-B0AC-7A390451CB1A}"/>
              </a:ext>
            </a:extLst>
          </p:cNvPr>
          <p:cNvSpPr txBox="1"/>
          <p:nvPr/>
        </p:nvSpPr>
        <p:spPr>
          <a:xfrm>
            <a:off x="418643" y="2256093"/>
            <a:ext cx="4394657"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Global connectivity with ExpressRoute Premium</a:t>
            </a:r>
          </a:p>
        </p:txBody>
      </p:sp>
      <p:sp>
        <p:nvSpPr>
          <p:cNvPr id="7" name="TextBox 1">
            <a:extLst>
              <a:ext uri="{FF2B5EF4-FFF2-40B4-BE49-F238E27FC236}">
                <a16:creationId xmlns:a16="http://schemas.microsoft.com/office/drawing/2014/main" id="{03CA723A-3F60-4937-9F52-E2CAECECD47C}"/>
              </a:ext>
            </a:extLst>
          </p:cNvPr>
          <p:cNvSpPr txBox="1"/>
          <p:nvPr/>
        </p:nvSpPr>
        <p:spPr>
          <a:xfrm>
            <a:off x="418643" y="3296326"/>
            <a:ext cx="4394657"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Local connectivity with ExpressRoute Local</a:t>
            </a:r>
          </a:p>
        </p:txBody>
      </p:sp>
      <p:sp>
        <p:nvSpPr>
          <p:cNvPr id="9" name="TextBox 1">
            <a:extLst>
              <a:ext uri="{FF2B5EF4-FFF2-40B4-BE49-F238E27FC236}">
                <a16:creationId xmlns:a16="http://schemas.microsoft.com/office/drawing/2014/main" id="{FD4630D3-2EB4-4627-8570-49430A4B28AD}"/>
              </a:ext>
            </a:extLst>
          </p:cNvPr>
          <p:cNvSpPr txBox="1"/>
          <p:nvPr/>
        </p:nvSpPr>
        <p:spPr>
          <a:xfrm>
            <a:off x="418643" y="4336559"/>
            <a:ext cx="4394657"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Across on-premises connectivity with ExpressRoute Global Reach</a:t>
            </a:r>
          </a:p>
        </p:txBody>
      </p:sp>
      <p:sp>
        <p:nvSpPr>
          <p:cNvPr id="11" name="TextBox 1">
            <a:extLst>
              <a:ext uri="{FF2B5EF4-FFF2-40B4-BE49-F238E27FC236}">
                <a16:creationId xmlns:a16="http://schemas.microsoft.com/office/drawing/2014/main" id="{6F46035C-1F87-4128-A6A1-CF4053CAA769}"/>
              </a:ext>
            </a:extLst>
          </p:cNvPr>
          <p:cNvSpPr txBox="1"/>
          <p:nvPr/>
        </p:nvSpPr>
        <p:spPr>
          <a:xfrm>
            <a:off x="418643" y="5376792"/>
            <a:ext cx="4394657" cy="86038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ExpressRoute Direct</a:t>
            </a:r>
          </a:p>
        </p:txBody>
      </p:sp>
      <p:pic>
        <p:nvPicPr>
          <p:cNvPr id="4" name="Picture 3" descr="GlobalReach layout diagram">
            <a:extLst>
              <a:ext uri="{FF2B5EF4-FFF2-40B4-BE49-F238E27FC236}">
                <a16:creationId xmlns:a16="http://schemas.microsoft.com/office/drawing/2014/main" id="{F55DD0E4-E05A-4110-8CE4-57456019E2FB}"/>
              </a:ext>
            </a:extLst>
          </p:cNvPr>
          <p:cNvPicPr/>
          <p:nvPr/>
        </p:nvPicPr>
        <p:blipFill>
          <a:blip r:embed="rId3"/>
          <a:stretch>
            <a:fillRect/>
          </a:stretch>
        </p:blipFill>
        <p:spPr bwMode="auto">
          <a:xfrm>
            <a:off x="5884146" y="1181609"/>
            <a:ext cx="5238115" cy="5121275"/>
          </a:xfrm>
          <a:prstGeom prst="rect">
            <a:avLst/>
          </a:prstGeom>
          <a:noFill/>
          <a:ln>
            <a:noFill/>
          </a:ln>
        </p:spPr>
      </p:pic>
      <p:sp>
        <p:nvSpPr>
          <p:cNvPr id="6" name="Rectangle 5">
            <a:extLst>
              <a:ext uri="{FF2B5EF4-FFF2-40B4-BE49-F238E27FC236}">
                <a16:creationId xmlns:a16="http://schemas.microsoft.com/office/drawing/2014/main" id="{EB06F805-261F-4C72-A8F2-38299F484D15}"/>
              </a:ext>
              <a:ext uri="{C183D7F6-B498-43B3-948B-1728B52AA6E4}">
                <adec:decorative xmlns:adec="http://schemas.microsoft.com/office/drawing/2017/decorative" val="1"/>
              </a:ext>
            </a:extLst>
          </p:cNvPr>
          <p:cNvSpPr/>
          <p:nvPr/>
        </p:nvSpPr>
        <p:spPr bwMode="auto">
          <a:xfrm>
            <a:off x="5686424" y="1020769"/>
            <a:ext cx="5848351" cy="528211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1961851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1C3290-8E0E-45C2-B009-E63CF88A39AA}"/>
              </a:ext>
            </a:extLst>
          </p:cNvPr>
          <p:cNvSpPr>
            <a:spLocks noGrp="1"/>
          </p:cNvSpPr>
          <p:nvPr>
            <p:ph type="title"/>
          </p:nvPr>
        </p:nvSpPr>
        <p:spPr/>
        <p:txBody>
          <a:bodyPr/>
          <a:lstStyle/>
          <a:p>
            <a:r>
              <a:rPr lang="en-US" dirty="0"/>
              <a:t>ExpressRoute Global Reach</a:t>
            </a:r>
          </a:p>
        </p:txBody>
      </p:sp>
      <p:sp>
        <p:nvSpPr>
          <p:cNvPr id="2" name="TextBox 1">
            <a:extLst>
              <a:ext uri="{FF2B5EF4-FFF2-40B4-BE49-F238E27FC236}">
                <a16:creationId xmlns:a16="http://schemas.microsoft.com/office/drawing/2014/main" id="{1BFBE548-20C4-4749-B4E9-CF2FD514E9A7}"/>
              </a:ext>
            </a:extLst>
          </p:cNvPr>
          <p:cNvSpPr txBox="1"/>
          <p:nvPr/>
        </p:nvSpPr>
        <p:spPr>
          <a:xfrm>
            <a:off x="1014795" y="5107359"/>
            <a:ext cx="5081205" cy="123189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Designed to complement your service provider’s WAN implementation and connect your branch offices across the world</a:t>
            </a:r>
          </a:p>
        </p:txBody>
      </p:sp>
      <p:sp>
        <p:nvSpPr>
          <p:cNvPr id="7" name="TextBox 1">
            <a:extLst>
              <a:ext uri="{FF2B5EF4-FFF2-40B4-BE49-F238E27FC236}">
                <a16:creationId xmlns:a16="http://schemas.microsoft.com/office/drawing/2014/main" id="{76F3554B-2E5B-4F39-9BC2-09F19816AFBD}"/>
              </a:ext>
            </a:extLst>
          </p:cNvPr>
          <p:cNvSpPr txBox="1"/>
          <p:nvPr/>
        </p:nvSpPr>
        <p:spPr>
          <a:xfrm>
            <a:off x="6378491" y="5107359"/>
            <a:ext cx="5081205" cy="123189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You can link ExpressRoute circuits together to make a private network between your on-premises networks</a:t>
            </a:r>
          </a:p>
        </p:txBody>
      </p:sp>
      <p:pic>
        <p:nvPicPr>
          <p:cNvPr id="5" name="Picture 4" descr="Diagram of ExpressRoute global reach concept ">
            <a:extLst>
              <a:ext uri="{FF2B5EF4-FFF2-40B4-BE49-F238E27FC236}">
                <a16:creationId xmlns:a16="http://schemas.microsoft.com/office/drawing/2014/main" id="{3A03A80E-504E-2912-BE2F-0A4BD25B9E5A}"/>
              </a:ext>
            </a:extLst>
          </p:cNvPr>
          <p:cNvPicPr>
            <a:picLocks noChangeAspect="1"/>
          </p:cNvPicPr>
          <p:nvPr/>
        </p:nvPicPr>
        <p:blipFill rotWithShape="1">
          <a:blip r:embed="rId3"/>
          <a:srcRect l="11918" t="15109" r="11918" b="27675"/>
          <a:stretch/>
        </p:blipFill>
        <p:spPr>
          <a:xfrm>
            <a:off x="1613611" y="1023565"/>
            <a:ext cx="8964778" cy="3788011"/>
          </a:xfrm>
          <a:prstGeom prst="rect">
            <a:avLst/>
          </a:prstGeom>
          <a:ln>
            <a:solidFill>
              <a:schemeClr val="tx1"/>
            </a:solidFill>
          </a:ln>
        </p:spPr>
      </p:pic>
    </p:spTree>
    <p:extLst>
      <p:ext uri="{BB962C8B-B14F-4D97-AF65-F5344CB8AC3E}">
        <p14:creationId xmlns:p14="http://schemas.microsoft.com/office/powerpoint/2010/main" val="249215226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E7F63-AC28-4675-B19D-62B959E811AD}"/>
              </a:ext>
            </a:extLst>
          </p:cNvPr>
          <p:cNvSpPr>
            <a:spLocks noGrp="1"/>
          </p:cNvSpPr>
          <p:nvPr>
            <p:ph type="title"/>
          </p:nvPr>
        </p:nvSpPr>
        <p:spPr/>
        <p:txBody>
          <a:bodyPr/>
          <a:lstStyle/>
          <a:p>
            <a:r>
              <a:rPr lang="en-US" dirty="0"/>
              <a:t>Configure ExpressRoute Global Reach</a:t>
            </a:r>
          </a:p>
        </p:txBody>
      </p:sp>
      <p:pic>
        <p:nvPicPr>
          <p:cNvPr id="4" name="Picture 3" descr="Azure portal - add circuit to GlobalReach">
            <a:extLst>
              <a:ext uri="{FF2B5EF4-FFF2-40B4-BE49-F238E27FC236}">
                <a16:creationId xmlns:a16="http://schemas.microsoft.com/office/drawing/2014/main" id="{63F7B62E-7FF9-46D2-8633-D779C0F9A8B5}"/>
              </a:ext>
            </a:extLst>
          </p:cNvPr>
          <p:cNvPicPr/>
          <p:nvPr/>
        </p:nvPicPr>
        <p:blipFill>
          <a:blip r:embed="rId2"/>
          <a:stretch>
            <a:fillRect/>
          </a:stretch>
        </p:blipFill>
        <p:spPr bwMode="auto">
          <a:xfrm>
            <a:off x="722948" y="1469707"/>
            <a:ext cx="5037773" cy="4644423"/>
          </a:xfrm>
          <a:prstGeom prst="rect">
            <a:avLst/>
          </a:prstGeom>
          <a:noFill/>
          <a:ln>
            <a:noFill/>
          </a:ln>
        </p:spPr>
      </p:pic>
      <p:pic>
        <p:nvPicPr>
          <p:cNvPr id="3" name="Picture 2" descr="Azure portal - Add GlobalReach details">
            <a:extLst>
              <a:ext uri="{FF2B5EF4-FFF2-40B4-BE49-F238E27FC236}">
                <a16:creationId xmlns:a16="http://schemas.microsoft.com/office/drawing/2014/main" id="{53938036-A04E-4AB6-9225-96202EF136CD}"/>
              </a:ext>
            </a:extLst>
          </p:cNvPr>
          <p:cNvPicPr/>
          <p:nvPr/>
        </p:nvPicPr>
        <p:blipFill>
          <a:blip r:embed="rId3"/>
          <a:stretch>
            <a:fillRect/>
          </a:stretch>
        </p:blipFill>
        <p:spPr bwMode="auto">
          <a:xfrm>
            <a:off x="6832600" y="1558607"/>
            <a:ext cx="4636452" cy="4397693"/>
          </a:xfrm>
          <a:prstGeom prst="rect">
            <a:avLst/>
          </a:prstGeom>
          <a:noFill/>
          <a:ln>
            <a:noFill/>
          </a:ln>
        </p:spPr>
      </p:pic>
      <p:sp>
        <p:nvSpPr>
          <p:cNvPr id="6" name="Rectangle 5">
            <a:extLst>
              <a:ext uri="{FF2B5EF4-FFF2-40B4-BE49-F238E27FC236}">
                <a16:creationId xmlns:a16="http://schemas.microsoft.com/office/drawing/2014/main" id="{FCBA500E-46A2-49A2-8D3B-7F97C8F08FA2}"/>
              </a:ext>
              <a:ext uri="{C183D7F6-B498-43B3-948B-1728B52AA6E4}">
                <adec:decorative xmlns:adec="http://schemas.microsoft.com/office/drawing/2017/decorative" val="1"/>
              </a:ext>
            </a:extLst>
          </p:cNvPr>
          <p:cNvSpPr/>
          <p:nvPr/>
        </p:nvSpPr>
        <p:spPr bwMode="auto">
          <a:xfrm>
            <a:off x="418644" y="1321660"/>
            <a:ext cx="5715950" cy="4792469"/>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A84CDE43-78EB-4528-9CE2-0CC8DB169FFA}"/>
              </a:ext>
              <a:ext uri="{C183D7F6-B498-43B3-948B-1728B52AA6E4}">
                <adec:decorative xmlns:adec="http://schemas.microsoft.com/office/drawing/2017/decorative" val="1"/>
              </a:ext>
            </a:extLst>
          </p:cNvPr>
          <p:cNvSpPr/>
          <p:nvPr/>
        </p:nvSpPr>
        <p:spPr bwMode="auto">
          <a:xfrm>
            <a:off x="6515100" y="1321662"/>
            <a:ext cx="5334458" cy="479246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81334491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584200" y="620428"/>
            <a:ext cx="11178264" cy="403137"/>
          </a:xfrm>
        </p:spPr>
        <p:txBody>
          <a:bodyPr/>
          <a:lstStyle/>
          <a:p>
            <a:r>
              <a:rPr lang="en-US" sz="2400"/>
              <a:t>Connect geographically dispersed networks with ExpressRoute Global Reach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 uri="{C183D7F6-B498-43B3-948B-1728B52AA6E4}">
                <adec:decorative xmlns:adec="http://schemas.microsoft.com/office/drawing/2017/decorative" val="1"/>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7388345-AA43-4B0D-BD54-303341FFB842}"/>
              </a:ext>
            </a:extLst>
          </p:cNvPr>
          <p:cNvSpPr txBox="1"/>
          <p:nvPr/>
        </p:nvSpPr>
        <p:spPr>
          <a:xfrm>
            <a:off x="4841850" y="2171362"/>
            <a:ext cx="6099462" cy="646331"/>
          </a:xfrm>
          <a:prstGeom prst="rect">
            <a:avLst/>
          </a:prstGeom>
          <a:noFill/>
        </p:spPr>
        <p:txBody>
          <a:bodyPr wrap="square">
            <a:spAutoFit/>
          </a:bodyPr>
          <a:lstStyle/>
          <a:p>
            <a:r>
              <a:rPr lang="en-US" dirty="0">
                <a:hlinkClick r:id="rId4"/>
              </a:rPr>
              <a:t>Azure ExpressRoute: Connect to Microsoft Cloud using Global Reach | Microsoft Docs</a:t>
            </a:r>
            <a:endParaRPr lang="en-US" dirty="0"/>
          </a:p>
        </p:txBody>
      </p:sp>
    </p:spTree>
    <p:extLst>
      <p:ext uri="{BB962C8B-B14F-4D97-AF65-F5344CB8AC3E}">
        <p14:creationId xmlns:p14="http://schemas.microsoft.com/office/powerpoint/2010/main" val="243911313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dirty="0"/>
              <a:t>Lesson 08: </a:t>
            </a:r>
            <a:r>
              <a:rPr lang="en-US" sz="3600" dirty="0"/>
              <a:t>Improve data path performance between networks with ExpressRoute </a:t>
            </a:r>
            <a:r>
              <a:rPr lang="en-US" sz="3600" dirty="0" err="1"/>
              <a:t>FastPath</a:t>
            </a:r>
            <a:endParaRPr lang="en-US" dirty="0"/>
          </a:p>
        </p:txBody>
      </p:sp>
      <p:grpSp>
        <p:nvGrpSpPr>
          <p:cNvPr id="4" name="Group 3">
            <a:extLst>
              <a:ext uri="{FF2B5EF4-FFF2-40B4-BE49-F238E27FC236}">
                <a16:creationId xmlns:a16="http://schemas.microsoft.com/office/drawing/2014/main" id="{42C17C32-3BFB-47B0-9E9C-22FE4A7A3616}"/>
              </a:ext>
              <a:ext uri="{C183D7F6-B498-43B3-948B-1728B52AA6E4}">
                <adec:decorative xmlns:adec="http://schemas.microsoft.com/office/drawing/2017/decorative" val="1"/>
              </a:ext>
            </a:extLst>
          </p:cNvPr>
          <p:cNvGrpSpPr/>
          <p:nvPr/>
        </p:nvGrpSpPr>
        <p:grpSpPr>
          <a:xfrm>
            <a:off x="10324272" y="3070379"/>
            <a:ext cx="717140" cy="717242"/>
            <a:chOff x="6229350" y="3134008"/>
            <a:chExt cx="717140" cy="717242"/>
          </a:xfrm>
        </p:grpSpPr>
        <p:grpSp>
          <p:nvGrpSpPr>
            <p:cNvPr id="5" name="Group 4">
              <a:extLst>
                <a:ext uri="{FF2B5EF4-FFF2-40B4-BE49-F238E27FC236}">
                  <a16:creationId xmlns:a16="http://schemas.microsoft.com/office/drawing/2014/main" id="{20B5E341-3935-4C30-BEE3-CF7E303880E2}"/>
                </a:ext>
              </a:extLst>
            </p:cNvPr>
            <p:cNvGrpSpPr/>
            <p:nvPr/>
          </p:nvGrpSpPr>
          <p:grpSpPr>
            <a:xfrm>
              <a:off x="6229350" y="3134008"/>
              <a:ext cx="717140" cy="717242"/>
              <a:chOff x="6229350" y="3134008"/>
              <a:chExt cx="717140" cy="717242"/>
            </a:xfrm>
          </p:grpSpPr>
          <p:sp>
            <p:nvSpPr>
              <p:cNvPr id="7" name="Freeform 5">
                <a:extLst>
                  <a:ext uri="{FF2B5EF4-FFF2-40B4-BE49-F238E27FC236}">
                    <a16:creationId xmlns:a16="http://schemas.microsoft.com/office/drawing/2014/main" id="{A7D84AED-6D07-425F-B7E1-E84F680462F3}"/>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6B99BEB3-A64C-4F14-9DC2-4F36FD6EF9E9}"/>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98544B0C-7075-4FC3-948B-8CEF64C1A843}"/>
                </a:ext>
              </a:extLst>
            </p:cNvPr>
            <p:cNvPicPr>
              <a:picLocks noChangeAspect="1"/>
            </p:cNvPicPr>
            <p:nvPr/>
          </p:nvPicPr>
          <p:blipFill>
            <a:blip r:embed="rId2"/>
            <a:stretch>
              <a:fillRect/>
            </a:stretch>
          </p:blipFill>
          <p:spPr>
            <a:xfrm>
              <a:off x="6337313" y="3382030"/>
              <a:ext cx="501214" cy="221198"/>
            </a:xfrm>
            <a:prstGeom prst="rect">
              <a:avLst/>
            </a:prstGeom>
          </p:spPr>
        </p:pic>
      </p:grpSp>
    </p:spTree>
    <p:extLst>
      <p:ext uri="{BB962C8B-B14F-4D97-AF65-F5344CB8AC3E}">
        <p14:creationId xmlns:p14="http://schemas.microsoft.com/office/powerpoint/2010/main" val="49950737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sz="2750" dirty="0"/>
              <a:t>Improve data path performance between networks with ExpressRoute </a:t>
            </a:r>
            <a:r>
              <a:rPr lang="en-US" sz="2750" dirty="0" err="1"/>
              <a:t>FastPath</a:t>
            </a:r>
            <a:r>
              <a:rPr lang="en-US" sz="2750" dirty="0"/>
              <a:t> Overview</a:t>
            </a:r>
          </a:p>
        </p:txBody>
      </p:sp>
      <p:sp>
        <p:nvSpPr>
          <p:cNvPr id="6" name="Text Placeholder 5"/>
          <p:cNvSpPr>
            <a:spLocks noGrp="1"/>
          </p:cNvSpPr>
          <p:nvPr>
            <p:ph type="body" sz="quarter" idx="21"/>
          </p:nvPr>
        </p:nvSpPr>
        <p:spPr/>
        <p:txBody>
          <a:bodyPr/>
          <a:lstStyle/>
          <a:p>
            <a:pPr lvl="1"/>
            <a:r>
              <a:rPr lang="en-US" dirty="0"/>
              <a:t>ExpressRoute </a:t>
            </a:r>
            <a:r>
              <a:rPr lang="en-US" dirty="0" err="1"/>
              <a:t>FastPath</a:t>
            </a:r>
            <a:endParaRPr lang="en-US" dirty="0"/>
          </a:p>
        </p:txBody>
      </p:sp>
      <p:sp>
        <p:nvSpPr>
          <p:cNvPr id="2" name="Text Placeholder 1"/>
          <p:cNvSpPr>
            <a:spLocks noGrp="1"/>
          </p:cNvSpPr>
          <p:nvPr>
            <p:ph type="body" sz="quarter" idx="22"/>
          </p:nvPr>
        </p:nvSpPr>
        <p:spPr/>
        <p:txBody>
          <a:bodyPr/>
          <a:lstStyle/>
          <a:p>
            <a:pPr lvl="1"/>
            <a:r>
              <a:rPr lang="en-US" dirty="0"/>
              <a:t>Configure ExpressRoute </a:t>
            </a:r>
            <a:r>
              <a:rPr lang="en-US" dirty="0" err="1"/>
              <a:t>FastPath</a:t>
            </a:r>
            <a:endParaRPr lang="en-US" dirty="0"/>
          </a:p>
        </p:txBody>
      </p:sp>
      <p:sp>
        <p:nvSpPr>
          <p:cNvPr id="3" name="Text Placeholder 2"/>
          <p:cNvSpPr>
            <a:spLocks noGrp="1"/>
          </p:cNvSpPr>
          <p:nvPr>
            <p:ph type="body" sz="quarter" idx="23"/>
          </p:nvPr>
        </p:nvSpPr>
        <p:spPr/>
        <p:txBody>
          <a:bodyPr/>
          <a:lstStyle/>
          <a:p>
            <a:pPr lvl="1"/>
            <a:r>
              <a:rPr lang="en-US" dirty="0"/>
              <a:t>Review </a:t>
            </a:r>
          </a:p>
        </p:txBody>
      </p:sp>
      <p:grpSp>
        <p:nvGrpSpPr>
          <p:cNvPr id="4" name="Group 3">
            <a:extLst>
              <a:ext uri="{FF2B5EF4-FFF2-40B4-BE49-F238E27FC236}">
                <a16:creationId xmlns:a16="http://schemas.microsoft.com/office/drawing/2014/main" id="{99145EA7-1418-47A0-9C4F-0A936C8228C5}"/>
              </a:ext>
              <a:ext uri="{C183D7F6-B498-43B3-948B-1728B52AA6E4}">
                <adec:decorative xmlns:adec="http://schemas.microsoft.com/office/drawing/2017/decorative" val="1"/>
              </a:ext>
            </a:extLst>
          </p:cNvPr>
          <p:cNvGrpSpPr/>
          <p:nvPr/>
        </p:nvGrpSpPr>
        <p:grpSpPr>
          <a:xfrm>
            <a:off x="3031668" y="1620002"/>
            <a:ext cx="702132" cy="3617998"/>
            <a:chOff x="3031668" y="1620002"/>
            <a:chExt cx="702132" cy="3617998"/>
          </a:xfrm>
        </p:grpSpPr>
        <p:grpSp>
          <p:nvGrpSpPr>
            <p:cNvPr id="21" name="Group 20">
              <a:extLst>
                <a:ext uri="{FF2B5EF4-FFF2-40B4-BE49-F238E27FC236}">
                  <a16:creationId xmlns:a16="http://schemas.microsoft.com/office/drawing/2014/main" id="{7F0EA0D2-F5BD-4609-9E3A-21CFB6B3C81C}"/>
                </a:ext>
              </a:extLst>
            </p:cNvPr>
            <p:cNvGrpSpPr/>
            <p:nvPr/>
          </p:nvGrpSpPr>
          <p:grpSpPr>
            <a:xfrm>
              <a:off x="3031668" y="1620002"/>
              <a:ext cx="702132" cy="702232"/>
              <a:chOff x="3031668" y="1620002"/>
              <a:chExt cx="702132" cy="702232"/>
            </a:xfrm>
          </p:grpSpPr>
          <p:grpSp>
            <p:nvGrpSpPr>
              <p:cNvPr id="14" name="Group 13">
                <a:extLst>
                  <a:ext uri="{FF2B5EF4-FFF2-40B4-BE49-F238E27FC236}">
                    <a16:creationId xmlns:a16="http://schemas.microsoft.com/office/drawing/2014/main" id="{2A3BFF39-13AE-4902-A9D8-31EA3D524816}"/>
                  </a:ext>
                </a:extLst>
              </p:cNvPr>
              <p:cNvGrpSpPr/>
              <p:nvPr/>
            </p:nvGrpSpPr>
            <p:grpSpPr>
              <a:xfrm>
                <a:off x="3031668" y="1620002"/>
                <a:ext cx="702132" cy="702232"/>
                <a:chOff x="3031668" y="1620002"/>
                <a:chExt cx="702132" cy="702232"/>
              </a:xfrm>
            </p:grpSpPr>
            <p:sp>
              <p:nvSpPr>
                <p:cNvPr id="31" name="Freeform 5">
                  <a:extLst>
                    <a:ext uri="{FF2B5EF4-FFF2-40B4-BE49-F238E27FC236}">
                      <a16:creationId xmlns:a16="http://schemas.microsoft.com/office/drawing/2014/main" id="{D616F46A-8C8E-475E-91F4-D968F21F5186}"/>
                    </a:ext>
                  </a:extLst>
                </p:cNvPr>
                <p:cNvSpPr>
                  <a:spLocks/>
                </p:cNvSpPr>
                <p:nvPr/>
              </p:nvSpPr>
              <p:spPr bwMode="auto">
                <a:xfrm>
                  <a:off x="3031668" y="162000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4" name="Freeform 6">
                  <a:extLst>
                    <a:ext uri="{FF2B5EF4-FFF2-40B4-BE49-F238E27FC236}">
                      <a16:creationId xmlns:a16="http://schemas.microsoft.com/office/drawing/2014/main" id="{3931DC69-4D5C-40B4-80D2-7FDE66A622D0}"/>
                    </a:ext>
                  </a:extLst>
                </p:cNvPr>
                <p:cNvSpPr>
                  <a:spLocks noEditPoints="1"/>
                </p:cNvSpPr>
                <p:nvPr/>
              </p:nvSpPr>
              <p:spPr bwMode="auto">
                <a:xfrm>
                  <a:off x="3080522" y="1670000"/>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three concentric arcs">
                <a:extLst>
                  <a:ext uri="{FF2B5EF4-FFF2-40B4-BE49-F238E27FC236}">
                    <a16:creationId xmlns:a16="http://schemas.microsoft.com/office/drawing/2014/main" id="{C8C1464E-38F7-429A-A682-48FE4C614C97}"/>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20" name="Group 19">
              <a:extLst>
                <a:ext uri="{FF2B5EF4-FFF2-40B4-BE49-F238E27FC236}">
                  <a16:creationId xmlns:a16="http://schemas.microsoft.com/office/drawing/2014/main" id="{AA12E8A0-A5D4-4407-A411-404DA18AB8A9}"/>
                </a:ext>
              </a:extLst>
            </p:cNvPr>
            <p:cNvGrpSpPr/>
            <p:nvPr/>
          </p:nvGrpSpPr>
          <p:grpSpPr>
            <a:xfrm>
              <a:off x="3031668" y="3077885"/>
              <a:ext cx="702132" cy="702232"/>
              <a:chOff x="3031668" y="3077885"/>
              <a:chExt cx="702132" cy="702232"/>
            </a:xfrm>
          </p:grpSpPr>
          <p:grpSp>
            <p:nvGrpSpPr>
              <p:cNvPr id="15" name="Group 14">
                <a:extLst>
                  <a:ext uri="{FF2B5EF4-FFF2-40B4-BE49-F238E27FC236}">
                    <a16:creationId xmlns:a16="http://schemas.microsoft.com/office/drawing/2014/main" id="{6D4D717F-AEA5-416B-89E3-66232A50CCDC}"/>
                  </a:ext>
                </a:extLst>
              </p:cNvPr>
              <p:cNvGrpSpPr/>
              <p:nvPr/>
            </p:nvGrpSpPr>
            <p:grpSpPr>
              <a:xfrm>
                <a:off x="3031668" y="3077885"/>
                <a:ext cx="702132" cy="702232"/>
                <a:chOff x="3031668" y="3077885"/>
                <a:chExt cx="702132" cy="702232"/>
              </a:xfrm>
            </p:grpSpPr>
            <p:sp>
              <p:nvSpPr>
                <p:cNvPr id="36" name="Freeform 5">
                  <a:extLst>
                    <a:ext uri="{FF2B5EF4-FFF2-40B4-BE49-F238E27FC236}">
                      <a16:creationId xmlns:a16="http://schemas.microsoft.com/office/drawing/2014/main" id="{3F8F9610-0EC3-452C-8CD8-3BB282908543}"/>
                    </a:ext>
                  </a:extLst>
                </p:cNvPr>
                <p:cNvSpPr>
                  <a:spLocks/>
                </p:cNvSpPr>
                <p:nvPr/>
              </p:nvSpPr>
              <p:spPr bwMode="auto">
                <a:xfrm>
                  <a:off x="3031668" y="307788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7" name="Freeform 6">
                  <a:extLst>
                    <a:ext uri="{FF2B5EF4-FFF2-40B4-BE49-F238E27FC236}">
                      <a16:creationId xmlns:a16="http://schemas.microsoft.com/office/drawing/2014/main" id="{E126B067-1DDD-4966-9349-1E5FD0A6CBB1}"/>
                    </a:ext>
                  </a:extLst>
                </p:cNvPr>
                <p:cNvSpPr>
                  <a:spLocks noEditPoints="1"/>
                </p:cNvSpPr>
                <p:nvPr/>
              </p:nvSpPr>
              <p:spPr bwMode="auto">
                <a:xfrm>
                  <a:off x="3080522" y="312788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arrow in a circular path with a timer inside the circle">
                <a:extLst>
                  <a:ext uri="{FF2B5EF4-FFF2-40B4-BE49-F238E27FC236}">
                    <a16:creationId xmlns:a16="http://schemas.microsoft.com/office/drawing/2014/main" id="{AF3FD806-281B-4DF3-9F37-7A3996F827BC}"/>
                  </a:ext>
                </a:extLst>
              </p:cNvPr>
              <p:cNvPicPr>
                <a:picLocks noChangeAspect="1"/>
              </p:cNvPicPr>
              <p:nvPr/>
            </p:nvPicPr>
            <p:blipFill>
              <a:blip r:embed="rId4"/>
              <a:stretch>
                <a:fillRect/>
              </a:stretch>
            </p:blipFill>
            <p:spPr>
              <a:xfrm>
                <a:off x="3196572" y="3242839"/>
                <a:ext cx="372325" cy="372325"/>
              </a:xfrm>
              <a:prstGeom prst="rect">
                <a:avLst/>
              </a:prstGeom>
            </p:spPr>
          </p:pic>
        </p:grpSp>
        <p:grpSp>
          <p:nvGrpSpPr>
            <p:cNvPr id="19" name="Group 18">
              <a:extLst>
                <a:ext uri="{FF2B5EF4-FFF2-40B4-BE49-F238E27FC236}">
                  <a16:creationId xmlns:a16="http://schemas.microsoft.com/office/drawing/2014/main" id="{2A83C786-B00D-490E-B37F-A04BFDFD3BB3}"/>
                </a:ext>
              </a:extLst>
            </p:cNvPr>
            <p:cNvGrpSpPr/>
            <p:nvPr/>
          </p:nvGrpSpPr>
          <p:grpSpPr>
            <a:xfrm>
              <a:off x="3031668" y="4535768"/>
              <a:ext cx="702132" cy="702232"/>
              <a:chOff x="3031668" y="4535768"/>
              <a:chExt cx="702132" cy="702232"/>
            </a:xfrm>
          </p:grpSpPr>
          <p:grpSp>
            <p:nvGrpSpPr>
              <p:cNvPr id="18" name="Group 17">
                <a:extLst>
                  <a:ext uri="{FF2B5EF4-FFF2-40B4-BE49-F238E27FC236}">
                    <a16:creationId xmlns:a16="http://schemas.microsoft.com/office/drawing/2014/main" id="{17CC6BFE-662E-4AEF-9ACC-A5A3A466EBAB}"/>
                  </a:ext>
                </a:extLst>
              </p:cNvPr>
              <p:cNvGrpSpPr/>
              <p:nvPr/>
            </p:nvGrpSpPr>
            <p:grpSpPr>
              <a:xfrm>
                <a:off x="3031668" y="4535768"/>
                <a:ext cx="702132" cy="702232"/>
                <a:chOff x="3031668" y="4535768"/>
                <a:chExt cx="702132" cy="702232"/>
              </a:xfrm>
            </p:grpSpPr>
            <p:sp>
              <p:nvSpPr>
                <p:cNvPr id="44" name="Freeform 5">
                  <a:extLst>
                    <a:ext uri="{FF2B5EF4-FFF2-40B4-BE49-F238E27FC236}">
                      <a16:creationId xmlns:a16="http://schemas.microsoft.com/office/drawing/2014/main" id="{68545A57-D254-4040-9131-B81B012B454C}"/>
                    </a:ext>
                  </a:extLst>
                </p:cNvPr>
                <p:cNvSpPr>
                  <a:spLocks/>
                </p:cNvSpPr>
                <p:nvPr/>
              </p:nvSpPr>
              <p:spPr bwMode="auto">
                <a:xfrm>
                  <a:off x="3031668" y="453576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5" name="Freeform 6">
                  <a:extLst>
                    <a:ext uri="{FF2B5EF4-FFF2-40B4-BE49-F238E27FC236}">
                      <a16:creationId xmlns:a16="http://schemas.microsoft.com/office/drawing/2014/main" id="{A37A0F79-C2EA-4568-BF05-E46B9DFE0A0D}"/>
                    </a:ext>
                  </a:extLst>
                </p:cNvPr>
                <p:cNvSpPr>
                  <a:spLocks noEditPoints="1"/>
                </p:cNvSpPr>
                <p:nvPr/>
              </p:nvSpPr>
              <p:spPr bwMode="auto">
                <a:xfrm>
                  <a:off x="3080522" y="458576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gear inside a circle">
                <a:extLst>
                  <a:ext uri="{FF2B5EF4-FFF2-40B4-BE49-F238E27FC236}">
                    <a16:creationId xmlns:a16="http://schemas.microsoft.com/office/drawing/2014/main" id="{65C31315-C27D-41F3-9F94-06BF61084599}"/>
                  </a:ext>
                </a:extLst>
              </p:cNvPr>
              <p:cNvPicPr>
                <a:picLocks noChangeAspect="1"/>
              </p:cNvPicPr>
              <p:nvPr/>
            </p:nvPicPr>
            <p:blipFill>
              <a:blip r:embed="rId5"/>
              <a:stretch>
                <a:fillRect/>
              </a:stretch>
            </p:blipFill>
            <p:spPr>
              <a:xfrm>
                <a:off x="3196572" y="4700650"/>
                <a:ext cx="372325" cy="372325"/>
              </a:xfrm>
              <a:prstGeom prst="rect">
                <a:avLst/>
              </a:prstGeom>
            </p:spPr>
          </p:pic>
        </p:grpSp>
      </p:grpSp>
    </p:spTree>
    <p:extLst>
      <p:ext uri="{BB962C8B-B14F-4D97-AF65-F5344CB8AC3E}">
        <p14:creationId xmlns:p14="http://schemas.microsoft.com/office/powerpoint/2010/main" val="336078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1764A2-8AAD-4FBF-B828-8B8AF0403A67}"/>
              </a:ext>
            </a:extLst>
          </p:cNvPr>
          <p:cNvSpPr>
            <a:spLocks noGrp="1"/>
          </p:cNvSpPr>
          <p:nvPr>
            <p:ph type="title"/>
          </p:nvPr>
        </p:nvSpPr>
        <p:spPr/>
        <p:txBody>
          <a:bodyPr/>
          <a:lstStyle/>
          <a:p>
            <a:r>
              <a:rPr lang="en-US" dirty="0"/>
              <a:t>ExpressRoute FastPath</a:t>
            </a:r>
          </a:p>
        </p:txBody>
      </p:sp>
      <p:sp>
        <p:nvSpPr>
          <p:cNvPr id="2" name="TextBox 1">
            <a:extLst>
              <a:ext uri="{FF2B5EF4-FFF2-40B4-BE49-F238E27FC236}">
                <a16:creationId xmlns:a16="http://schemas.microsoft.com/office/drawing/2014/main" id="{F1F1345C-1876-45B4-B474-7A1760BD0949}"/>
              </a:ext>
            </a:extLst>
          </p:cNvPr>
          <p:cNvSpPr txBox="1"/>
          <p:nvPr/>
        </p:nvSpPr>
        <p:spPr>
          <a:xfrm>
            <a:off x="455995" y="1230362"/>
            <a:ext cx="4890705" cy="130963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FastPath is designed to improve the data path performance between your on-premises network and your virtual network</a:t>
            </a:r>
          </a:p>
        </p:txBody>
      </p:sp>
      <p:sp>
        <p:nvSpPr>
          <p:cNvPr id="6" name="TextBox 1">
            <a:extLst>
              <a:ext uri="{FF2B5EF4-FFF2-40B4-BE49-F238E27FC236}">
                <a16:creationId xmlns:a16="http://schemas.microsoft.com/office/drawing/2014/main" id="{91D28B94-AB41-4B67-A77E-B3514E853D92}"/>
              </a:ext>
            </a:extLst>
          </p:cNvPr>
          <p:cNvSpPr txBox="1"/>
          <p:nvPr/>
        </p:nvSpPr>
        <p:spPr>
          <a:xfrm>
            <a:off x="418640" y="2686512"/>
            <a:ext cx="4928057" cy="118336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When enabled, FastPath sends network traffic directly to virtual machines in the virtual network, bypassing the gateway.</a:t>
            </a:r>
          </a:p>
        </p:txBody>
      </p:sp>
      <p:sp>
        <p:nvSpPr>
          <p:cNvPr id="12" name="TextBox 1">
            <a:extLst>
              <a:ext uri="{FF2B5EF4-FFF2-40B4-BE49-F238E27FC236}">
                <a16:creationId xmlns:a16="http://schemas.microsoft.com/office/drawing/2014/main" id="{62BCC203-09D7-469A-910B-9D357595FEDB}"/>
              </a:ext>
            </a:extLst>
          </p:cNvPr>
          <p:cNvSpPr txBox="1"/>
          <p:nvPr/>
        </p:nvSpPr>
        <p:spPr>
          <a:xfrm>
            <a:off x="418640" y="4016392"/>
            <a:ext cx="4928057" cy="1329880"/>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FastPath improves data path performance such as packets per second and connections per second between your on-premises network and your virtual network.</a:t>
            </a:r>
          </a:p>
        </p:txBody>
      </p:sp>
      <p:sp>
        <p:nvSpPr>
          <p:cNvPr id="10" name="TextBox 1">
            <a:extLst>
              <a:ext uri="{FF2B5EF4-FFF2-40B4-BE49-F238E27FC236}">
                <a16:creationId xmlns:a16="http://schemas.microsoft.com/office/drawing/2014/main" id="{E86495A0-EA33-4BB2-8BBF-A3D8F19090D0}"/>
              </a:ext>
            </a:extLst>
          </p:cNvPr>
          <p:cNvSpPr txBox="1"/>
          <p:nvPr/>
        </p:nvSpPr>
        <p:spPr>
          <a:xfrm>
            <a:off x="418639" y="5492784"/>
            <a:ext cx="4928057" cy="118336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You can enable ExpressRoute FastPath if your virtual network gateway is Ultra Performance or ErGw3AZ</a:t>
            </a:r>
          </a:p>
        </p:txBody>
      </p:sp>
      <p:pic>
        <p:nvPicPr>
          <p:cNvPr id="2050" name="Picture 2" descr="Diagram illustrating how Azure FastPath connects a circuit directly to a peered virtual network ">
            <a:extLst>
              <a:ext uri="{FF2B5EF4-FFF2-40B4-BE49-F238E27FC236}">
                <a16:creationId xmlns:a16="http://schemas.microsoft.com/office/drawing/2014/main" id="{370B17EA-696F-4245-AEE4-FC9A6F301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8739" y="2253887"/>
            <a:ext cx="6012248" cy="2733749"/>
          </a:xfrm>
          <a:prstGeom prst="rect">
            <a:avLst/>
          </a:prstGeom>
          <a:noFill/>
        </p:spPr>
      </p:pic>
      <p:sp>
        <p:nvSpPr>
          <p:cNvPr id="4" name="Rectangle 3">
            <a:extLst>
              <a:ext uri="{FF2B5EF4-FFF2-40B4-BE49-F238E27FC236}">
                <a16:creationId xmlns:a16="http://schemas.microsoft.com/office/drawing/2014/main" id="{A7C97A3C-9F97-41F4-9077-2774F5BDEFF9}"/>
              </a:ext>
              <a:ext uri="{C183D7F6-B498-43B3-948B-1728B52AA6E4}">
                <adec:decorative xmlns:adec="http://schemas.microsoft.com/office/drawing/2017/decorative" val="1"/>
              </a:ext>
            </a:extLst>
          </p:cNvPr>
          <p:cNvSpPr/>
          <p:nvPr/>
        </p:nvSpPr>
        <p:spPr bwMode="auto">
          <a:xfrm>
            <a:off x="5476009" y="1974273"/>
            <a:ext cx="6567055" cy="3138054"/>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73747182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AF35D-CA23-4C6C-8DEB-7D2D1C871F71}"/>
              </a:ext>
            </a:extLst>
          </p:cNvPr>
          <p:cNvSpPr>
            <a:spLocks noGrp="1"/>
          </p:cNvSpPr>
          <p:nvPr>
            <p:ph type="title"/>
          </p:nvPr>
        </p:nvSpPr>
        <p:spPr/>
        <p:txBody>
          <a:bodyPr/>
          <a:lstStyle/>
          <a:p>
            <a:r>
              <a:rPr lang="en-US"/>
              <a:t>Configure ExpressRoute FastPath </a:t>
            </a:r>
          </a:p>
        </p:txBody>
      </p:sp>
      <p:sp>
        <p:nvSpPr>
          <p:cNvPr id="4" name="TextBox 3">
            <a:extLst>
              <a:ext uri="{FF2B5EF4-FFF2-40B4-BE49-F238E27FC236}">
                <a16:creationId xmlns:a16="http://schemas.microsoft.com/office/drawing/2014/main" id="{EFFCCD30-0054-4EF7-9708-184A97DD6494}"/>
              </a:ext>
            </a:extLst>
          </p:cNvPr>
          <p:cNvSpPr txBox="1"/>
          <p:nvPr/>
        </p:nvSpPr>
        <p:spPr>
          <a:xfrm>
            <a:off x="304800" y="1593334"/>
            <a:ext cx="6096000" cy="369332"/>
          </a:xfrm>
          <a:prstGeom prst="rect">
            <a:avLst/>
          </a:prstGeom>
          <a:noFill/>
        </p:spPr>
        <p:txBody>
          <a:bodyPr wrap="square">
            <a:spAutoFit/>
          </a:bodyPr>
          <a:lstStyle/>
          <a:p>
            <a:r>
              <a:rPr lang="en-US" i="0" dirty="0">
                <a:solidFill>
                  <a:srgbClr val="171717"/>
                </a:solidFill>
                <a:effectLst/>
                <a:latin typeface="Segoe UI" panose="020B0502040204020203" pitchFamily="34" charset="0"/>
              </a:rPr>
              <a:t>Configure FastPath on a new connection using PowerShell </a:t>
            </a:r>
            <a:endParaRPr lang="en-US" dirty="0"/>
          </a:p>
        </p:txBody>
      </p:sp>
      <p:sp>
        <p:nvSpPr>
          <p:cNvPr id="6" name="TextBox 5">
            <a:extLst>
              <a:ext uri="{FF2B5EF4-FFF2-40B4-BE49-F238E27FC236}">
                <a16:creationId xmlns:a16="http://schemas.microsoft.com/office/drawing/2014/main" id="{57E4BA5D-6B52-4139-8BD7-80EB91D3462F}"/>
              </a:ext>
            </a:extLst>
          </p:cNvPr>
          <p:cNvSpPr txBox="1"/>
          <p:nvPr/>
        </p:nvSpPr>
        <p:spPr>
          <a:xfrm>
            <a:off x="455995" y="2136339"/>
            <a:ext cx="10300905" cy="1477328"/>
          </a:xfrm>
          <a:prstGeom prst="rect">
            <a:avLst/>
          </a:prstGeom>
          <a:noFill/>
        </p:spPr>
        <p:txBody>
          <a:bodyPr wrap="square">
            <a:spAutoFit/>
          </a:bodyPr>
          <a:lstStyle/>
          <a:p>
            <a:r>
              <a:rPr lang="en-US" b="1"/>
              <a:t>Get-</a:t>
            </a:r>
            <a:r>
              <a:rPr lang="en-US" b="1" err="1"/>
              <a:t>AzExpressRouteCircuit</a:t>
            </a:r>
            <a:r>
              <a:rPr lang="en-US" b="1"/>
              <a:t> </a:t>
            </a:r>
            <a:r>
              <a:rPr lang="en-US"/>
              <a:t>-Name $</a:t>
            </a:r>
            <a:r>
              <a:rPr lang="en-US" err="1"/>
              <a:t>ExpressRouteCircuitName</a:t>
            </a:r>
            <a:r>
              <a:rPr lang="en-US"/>
              <a:t> -</a:t>
            </a:r>
            <a:r>
              <a:rPr lang="en-US" err="1"/>
              <a:t>ResourceGroupName</a:t>
            </a:r>
            <a:r>
              <a:rPr lang="en-US"/>
              <a:t> $</a:t>
            </a:r>
            <a:r>
              <a:rPr lang="en-US" err="1"/>
              <a:t>RGName</a:t>
            </a:r>
            <a:endParaRPr lang="en-US"/>
          </a:p>
          <a:p>
            <a:r>
              <a:rPr lang="en-US" b="1"/>
              <a:t>Get-</a:t>
            </a:r>
            <a:r>
              <a:rPr lang="en-US" b="1" err="1"/>
              <a:t>AzVirtualNetworkGateway</a:t>
            </a:r>
            <a:r>
              <a:rPr lang="en-US"/>
              <a:t> -Name $</a:t>
            </a:r>
            <a:r>
              <a:rPr lang="en-US" err="1"/>
              <a:t>VirtualNetworkGatewayName</a:t>
            </a:r>
            <a:r>
              <a:rPr lang="en-US"/>
              <a:t> -</a:t>
            </a:r>
            <a:r>
              <a:rPr lang="en-US" err="1"/>
              <a:t>ResourceGroupName</a:t>
            </a:r>
            <a:r>
              <a:rPr lang="en-US"/>
              <a:t> $</a:t>
            </a:r>
            <a:r>
              <a:rPr lang="en-US" err="1"/>
              <a:t>RGName</a:t>
            </a:r>
            <a:r>
              <a:rPr lang="en-US"/>
              <a:t>  $connection = </a:t>
            </a:r>
            <a:r>
              <a:rPr lang="en-US" b="1"/>
              <a:t>New-</a:t>
            </a:r>
            <a:r>
              <a:rPr lang="en-US" b="1" err="1"/>
              <a:t>AzVirtualNetworkGatewayConnection</a:t>
            </a:r>
            <a:r>
              <a:rPr lang="en-US"/>
              <a:t> -Name $</a:t>
            </a:r>
            <a:r>
              <a:rPr lang="en-US" err="1"/>
              <a:t>ConnectionName</a:t>
            </a:r>
            <a:r>
              <a:rPr lang="en-US"/>
              <a:t> -</a:t>
            </a:r>
            <a:r>
              <a:rPr lang="en-US" err="1"/>
              <a:t>ResourceGroupName</a:t>
            </a:r>
            <a:r>
              <a:rPr lang="en-US"/>
              <a:t> $</a:t>
            </a:r>
            <a:r>
              <a:rPr lang="en-US" err="1"/>
              <a:t>RGName</a:t>
            </a:r>
            <a:r>
              <a:rPr lang="en-US"/>
              <a:t> -</a:t>
            </a:r>
            <a:r>
              <a:rPr lang="en-US" err="1"/>
              <a:t>ExpressRouteGatewayBypass</a:t>
            </a:r>
            <a:r>
              <a:rPr lang="en-US"/>
              <a:t> -VirtualNetworkGateway1 $</a:t>
            </a:r>
            <a:r>
              <a:rPr lang="en-US" err="1"/>
              <a:t>gw</a:t>
            </a:r>
            <a:r>
              <a:rPr lang="en-US"/>
              <a:t> -</a:t>
            </a:r>
            <a:r>
              <a:rPr lang="en-US" err="1"/>
              <a:t>PeerId</a:t>
            </a:r>
            <a:r>
              <a:rPr lang="en-US"/>
              <a:t> $</a:t>
            </a:r>
            <a:r>
              <a:rPr lang="en-US" err="1"/>
              <a:t>circuit.Id</a:t>
            </a:r>
            <a:r>
              <a:rPr lang="en-US"/>
              <a:t> -</a:t>
            </a:r>
            <a:r>
              <a:rPr lang="en-US" err="1"/>
              <a:t>ConnectionType</a:t>
            </a:r>
            <a:r>
              <a:rPr lang="en-US"/>
              <a:t> ExpressRoute -Location $location</a:t>
            </a:r>
          </a:p>
        </p:txBody>
      </p:sp>
    </p:spTree>
    <p:extLst>
      <p:ext uri="{BB962C8B-B14F-4D97-AF65-F5344CB8AC3E}">
        <p14:creationId xmlns:p14="http://schemas.microsoft.com/office/powerpoint/2010/main" val="3373501569"/>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584200" y="620428"/>
            <a:ext cx="11178264" cy="403137"/>
          </a:xfrm>
        </p:spPr>
        <p:txBody>
          <a:bodyPr/>
          <a:lstStyle/>
          <a:p>
            <a:r>
              <a:rPr lang="en-US" sz="2400"/>
              <a:t>Improve data path performance between networks with ExpressRoute FastPath </a:t>
            </a:r>
            <a:r>
              <a:rPr lang="en-US">
                <a:solidFill>
                  <a:schemeClr val="tx1"/>
                </a:solidFill>
              </a:rPr>
              <a:t>- </a:t>
            </a:r>
            <a:r>
              <a:rPr lang="en-US" dirty="0">
                <a:solidFill>
                  <a:schemeClr val="tx1"/>
                </a:solidFill>
              </a:rPr>
              <a:t>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 uri="{C183D7F6-B498-43B3-948B-1728B52AA6E4}">
                <adec:decorative xmlns:adec="http://schemas.microsoft.com/office/drawing/2017/decorative" val="1"/>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4DC091B-0871-4A33-8885-46F055CAE808}"/>
              </a:ext>
            </a:extLst>
          </p:cNvPr>
          <p:cNvSpPr txBox="1"/>
          <p:nvPr/>
        </p:nvSpPr>
        <p:spPr>
          <a:xfrm>
            <a:off x="4841850" y="2246828"/>
            <a:ext cx="6099462" cy="369332"/>
          </a:xfrm>
          <a:prstGeom prst="rect">
            <a:avLst/>
          </a:prstGeom>
          <a:noFill/>
        </p:spPr>
        <p:txBody>
          <a:bodyPr wrap="square">
            <a:spAutoFit/>
          </a:bodyPr>
          <a:lstStyle/>
          <a:p>
            <a:r>
              <a:rPr lang="en-US" dirty="0">
                <a:hlinkClick r:id="rId4"/>
              </a:rPr>
              <a:t>About Azure ExpressRoute FastPath | Microsoft Docs</a:t>
            </a:r>
            <a:endParaRPr lang="en-US" dirty="0"/>
          </a:p>
        </p:txBody>
      </p:sp>
    </p:spTree>
    <p:extLst>
      <p:ext uri="{BB962C8B-B14F-4D97-AF65-F5344CB8AC3E}">
        <p14:creationId xmlns:p14="http://schemas.microsoft.com/office/powerpoint/2010/main" val="252801224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B9B3B3-482D-4910-9510-A169742C829C}"/>
              </a:ext>
            </a:extLst>
          </p:cNvPr>
          <p:cNvSpPr>
            <a:spLocks noGrp="1"/>
          </p:cNvSpPr>
          <p:nvPr>
            <p:ph type="title"/>
          </p:nvPr>
        </p:nvSpPr>
        <p:spPr>
          <a:xfrm>
            <a:off x="585217" y="2940213"/>
            <a:ext cx="8892608" cy="977575"/>
          </a:xfrm>
        </p:spPr>
        <p:txBody>
          <a:bodyPr/>
          <a:lstStyle/>
          <a:p>
            <a:r>
              <a:rPr lang="en-US"/>
              <a:t>Lesson 09: Troubleshoot ExpressRoute connection issues</a:t>
            </a:r>
          </a:p>
        </p:txBody>
      </p:sp>
      <p:grpSp>
        <p:nvGrpSpPr>
          <p:cNvPr id="4" name="Group 3">
            <a:extLst>
              <a:ext uri="{FF2B5EF4-FFF2-40B4-BE49-F238E27FC236}">
                <a16:creationId xmlns:a16="http://schemas.microsoft.com/office/drawing/2014/main" id="{DEEB8EA1-671B-48B5-AD82-7EDBA647D32B}"/>
              </a:ext>
              <a:ext uri="{C183D7F6-B498-43B3-948B-1728B52AA6E4}">
                <adec:decorative xmlns:adec="http://schemas.microsoft.com/office/drawing/2017/decorative" val="1"/>
              </a:ext>
            </a:extLst>
          </p:cNvPr>
          <p:cNvGrpSpPr/>
          <p:nvPr/>
        </p:nvGrpSpPr>
        <p:grpSpPr>
          <a:xfrm>
            <a:off x="10364028" y="3070379"/>
            <a:ext cx="717140" cy="717242"/>
            <a:chOff x="6229350" y="3980133"/>
            <a:chExt cx="717140" cy="717242"/>
          </a:xfrm>
        </p:grpSpPr>
        <p:grpSp>
          <p:nvGrpSpPr>
            <p:cNvPr id="5" name="Group 4">
              <a:extLst>
                <a:ext uri="{FF2B5EF4-FFF2-40B4-BE49-F238E27FC236}">
                  <a16:creationId xmlns:a16="http://schemas.microsoft.com/office/drawing/2014/main" id="{2EDF0CB3-0646-4B55-BA3A-C1E85D9D0C82}"/>
                </a:ext>
              </a:extLst>
            </p:cNvPr>
            <p:cNvGrpSpPr/>
            <p:nvPr/>
          </p:nvGrpSpPr>
          <p:grpSpPr>
            <a:xfrm>
              <a:off x="6229350" y="3980133"/>
              <a:ext cx="717140" cy="717242"/>
              <a:chOff x="6229350" y="3980133"/>
              <a:chExt cx="717140" cy="717242"/>
            </a:xfrm>
          </p:grpSpPr>
          <p:sp>
            <p:nvSpPr>
              <p:cNvPr id="7" name="Freeform 5">
                <a:extLst>
                  <a:ext uri="{FF2B5EF4-FFF2-40B4-BE49-F238E27FC236}">
                    <a16:creationId xmlns:a16="http://schemas.microsoft.com/office/drawing/2014/main" id="{CB5934A3-EC9A-4A62-9D12-E99C2A2D9590}"/>
                  </a:ext>
                </a:extLst>
              </p:cNvPr>
              <p:cNvSpPr>
                <a:spLocks/>
              </p:cNvSpPr>
              <p:nvPr/>
            </p:nvSpPr>
            <p:spPr bwMode="auto">
              <a:xfrm>
                <a:off x="6229350"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01FD5823-DA09-4E41-BD58-6187CC9B8363}"/>
                  </a:ext>
                </a:extLst>
              </p:cNvPr>
              <p:cNvSpPr>
                <a:spLocks noEditPoints="1"/>
              </p:cNvSpPr>
              <p:nvPr/>
            </p:nvSpPr>
            <p:spPr bwMode="auto">
              <a:xfrm>
                <a:off x="6279248"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bulb">
              <a:extLst>
                <a:ext uri="{FF2B5EF4-FFF2-40B4-BE49-F238E27FC236}">
                  <a16:creationId xmlns:a16="http://schemas.microsoft.com/office/drawing/2014/main" id="{1BF6934C-33C7-4E70-BE63-9D30F19B6A4E}"/>
                </a:ext>
              </a:extLst>
            </p:cNvPr>
            <p:cNvPicPr>
              <a:picLocks noChangeAspect="1"/>
            </p:cNvPicPr>
            <p:nvPr/>
          </p:nvPicPr>
          <p:blipFill>
            <a:blip r:embed="rId2"/>
            <a:stretch>
              <a:fillRect/>
            </a:stretch>
          </p:blipFill>
          <p:spPr>
            <a:xfrm>
              <a:off x="6452426" y="4150309"/>
              <a:ext cx="270988" cy="376890"/>
            </a:xfrm>
            <a:prstGeom prst="rect">
              <a:avLst/>
            </a:prstGeom>
          </p:spPr>
        </p:pic>
      </p:grpSp>
    </p:spTree>
    <p:extLst>
      <p:ext uri="{BB962C8B-B14F-4D97-AF65-F5344CB8AC3E}">
        <p14:creationId xmlns:p14="http://schemas.microsoft.com/office/powerpoint/2010/main" val="1052511836"/>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D40B28-50FB-4D90-942E-1CE025924ECE}"/>
              </a:ext>
            </a:extLst>
          </p:cNvPr>
          <p:cNvSpPr>
            <a:spLocks noGrp="1"/>
          </p:cNvSpPr>
          <p:nvPr>
            <p:ph type="title"/>
          </p:nvPr>
        </p:nvSpPr>
        <p:spPr>
          <a:xfrm>
            <a:off x="337320" y="1319680"/>
            <a:ext cx="2457386" cy="4225730"/>
          </a:xfrm>
        </p:spPr>
        <p:txBody>
          <a:bodyPr/>
          <a:lstStyle/>
          <a:p>
            <a:pPr rtl="0" eaLnBrk="1" fontAlgn="auto" latinLnBrk="0" hangingPunct="1"/>
            <a:r>
              <a:rPr lang="en-US" sz="2750" b="0" i="0" kern="1200" spc="-49" baseline="0" dirty="0">
                <a:ln>
                  <a:noFill/>
                </a:ln>
                <a:solidFill>
                  <a:srgbClr val="FFFFFF"/>
                </a:solidFill>
                <a:effectLst/>
                <a:latin typeface="Segoe UI Semibold" panose="020B0702040204020203" pitchFamily="34" charset="0"/>
                <a:ea typeface="+mn-ea"/>
                <a:cs typeface="Segoe UI" panose="020B0502040204020203" pitchFamily="34" charset="0"/>
              </a:rPr>
              <a:t>Troubleshoot ExpressRoute connection issues Overview</a:t>
            </a:r>
            <a:endParaRPr lang="en-US" dirty="0">
              <a:effectLst/>
            </a:endParaRPr>
          </a:p>
        </p:txBody>
      </p:sp>
      <p:grpSp>
        <p:nvGrpSpPr>
          <p:cNvPr id="2" name="Group 1">
            <a:extLst>
              <a:ext uri="{FF2B5EF4-FFF2-40B4-BE49-F238E27FC236}">
                <a16:creationId xmlns:a16="http://schemas.microsoft.com/office/drawing/2014/main" id="{06C15550-7BF5-4B3A-87FB-55815889DF85}"/>
              </a:ext>
              <a:ext uri="{C183D7F6-B498-43B3-948B-1728B52AA6E4}">
                <adec:decorative xmlns:adec="http://schemas.microsoft.com/office/drawing/2017/decorative" val="1"/>
              </a:ext>
            </a:extLst>
          </p:cNvPr>
          <p:cNvGrpSpPr/>
          <p:nvPr/>
        </p:nvGrpSpPr>
        <p:grpSpPr>
          <a:xfrm>
            <a:off x="3538564" y="1319679"/>
            <a:ext cx="702132" cy="4174487"/>
            <a:chOff x="3538564" y="1319679"/>
            <a:chExt cx="702132" cy="4174487"/>
          </a:xfrm>
        </p:grpSpPr>
        <p:grpSp>
          <p:nvGrpSpPr>
            <p:cNvPr id="31" name="Group 30">
              <a:extLst>
                <a:ext uri="{FF2B5EF4-FFF2-40B4-BE49-F238E27FC236}">
                  <a16:creationId xmlns:a16="http://schemas.microsoft.com/office/drawing/2014/main" id="{DC84B7DB-1F03-4E2F-974D-FA712201B527}"/>
                </a:ext>
              </a:extLst>
            </p:cNvPr>
            <p:cNvGrpSpPr/>
            <p:nvPr/>
          </p:nvGrpSpPr>
          <p:grpSpPr>
            <a:xfrm>
              <a:off x="3538564" y="1319679"/>
              <a:ext cx="702132" cy="702232"/>
              <a:chOff x="3031668" y="462996"/>
              <a:chExt cx="702132" cy="702232"/>
            </a:xfrm>
          </p:grpSpPr>
          <p:grpSp>
            <p:nvGrpSpPr>
              <p:cNvPr id="32" name="Group 31">
                <a:extLst>
                  <a:ext uri="{FF2B5EF4-FFF2-40B4-BE49-F238E27FC236}">
                    <a16:creationId xmlns:a16="http://schemas.microsoft.com/office/drawing/2014/main" id="{BF8A43BB-6405-4A9E-AFD7-5118B7751958}"/>
                  </a:ext>
                </a:extLst>
              </p:cNvPr>
              <p:cNvGrpSpPr/>
              <p:nvPr/>
            </p:nvGrpSpPr>
            <p:grpSpPr>
              <a:xfrm>
                <a:off x="3031668" y="462996"/>
                <a:ext cx="702132" cy="702232"/>
                <a:chOff x="3031668" y="462996"/>
                <a:chExt cx="702132" cy="702232"/>
              </a:xfrm>
            </p:grpSpPr>
            <p:sp>
              <p:nvSpPr>
                <p:cNvPr id="34" name="Freeform 5">
                  <a:extLst>
                    <a:ext uri="{FF2B5EF4-FFF2-40B4-BE49-F238E27FC236}">
                      <a16:creationId xmlns:a16="http://schemas.microsoft.com/office/drawing/2014/main" id="{CFA20785-6865-4BE1-86B5-30E77C79059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35" name="Freeform 6">
                  <a:extLst>
                    <a:ext uri="{FF2B5EF4-FFF2-40B4-BE49-F238E27FC236}">
                      <a16:creationId xmlns:a16="http://schemas.microsoft.com/office/drawing/2014/main" id="{A016CDDC-D163-4798-80C9-DC90416EB2EA}"/>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33" name="Picture 32" descr="Icon of three concentric arcs">
                <a:extLst>
                  <a:ext uri="{FF2B5EF4-FFF2-40B4-BE49-F238E27FC236}">
                    <a16:creationId xmlns:a16="http://schemas.microsoft.com/office/drawing/2014/main" id="{7D1B247D-DA01-4BC0-A126-B382E8831F8F}"/>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36" name="Group 35">
              <a:extLst>
                <a:ext uri="{FF2B5EF4-FFF2-40B4-BE49-F238E27FC236}">
                  <a16:creationId xmlns:a16="http://schemas.microsoft.com/office/drawing/2014/main" id="{3AAF95EB-6540-49F2-A31C-F1B03B6193E1}"/>
                </a:ext>
              </a:extLst>
            </p:cNvPr>
            <p:cNvGrpSpPr/>
            <p:nvPr/>
          </p:nvGrpSpPr>
          <p:grpSpPr>
            <a:xfrm>
              <a:off x="3538564" y="2198395"/>
              <a:ext cx="702132" cy="702232"/>
              <a:chOff x="3031668" y="1341712"/>
              <a:chExt cx="702132" cy="702232"/>
            </a:xfrm>
          </p:grpSpPr>
          <p:grpSp>
            <p:nvGrpSpPr>
              <p:cNvPr id="37" name="Group 36">
                <a:extLst>
                  <a:ext uri="{FF2B5EF4-FFF2-40B4-BE49-F238E27FC236}">
                    <a16:creationId xmlns:a16="http://schemas.microsoft.com/office/drawing/2014/main" id="{77CFBACB-AF17-480E-88F8-53743637C1C5}"/>
                  </a:ext>
                </a:extLst>
              </p:cNvPr>
              <p:cNvGrpSpPr/>
              <p:nvPr/>
            </p:nvGrpSpPr>
            <p:grpSpPr>
              <a:xfrm>
                <a:off x="3031668" y="1341712"/>
                <a:ext cx="702132" cy="702232"/>
                <a:chOff x="3031668" y="1341712"/>
                <a:chExt cx="702132" cy="702232"/>
              </a:xfrm>
            </p:grpSpPr>
            <p:sp>
              <p:nvSpPr>
                <p:cNvPr id="39" name="Freeform 5">
                  <a:extLst>
                    <a:ext uri="{FF2B5EF4-FFF2-40B4-BE49-F238E27FC236}">
                      <a16:creationId xmlns:a16="http://schemas.microsoft.com/office/drawing/2014/main" id="{D9DBB7AD-E183-4E8F-88F0-E99896AD92C0}"/>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40" name="Freeform 6">
                  <a:extLst>
                    <a:ext uri="{FF2B5EF4-FFF2-40B4-BE49-F238E27FC236}">
                      <a16:creationId xmlns:a16="http://schemas.microsoft.com/office/drawing/2014/main" id="{FD2B0B9F-6B61-47A9-90CF-6500F8821AC4}"/>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38" name="Picture 37" descr="Icon of a arrow in a circular path with a timer inside the circle">
                <a:extLst>
                  <a:ext uri="{FF2B5EF4-FFF2-40B4-BE49-F238E27FC236}">
                    <a16:creationId xmlns:a16="http://schemas.microsoft.com/office/drawing/2014/main" id="{02CB8228-3C84-4AB3-BDB4-9C4A34987486}"/>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41" name="Group 40">
              <a:extLst>
                <a:ext uri="{FF2B5EF4-FFF2-40B4-BE49-F238E27FC236}">
                  <a16:creationId xmlns:a16="http://schemas.microsoft.com/office/drawing/2014/main" id="{BF077E59-33D3-4411-BE3C-D12BFB7B792F}"/>
                </a:ext>
              </a:extLst>
            </p:cNvPr>
            <p:cNvGrpSpPr/>
            <p:nvPr/>
          </p:nvGrpSpPr>
          <p:grpSpPr>
            <a:xfrm>
              <a:off x="3538564" y="3062908"/>
              <a:ext cx="702132" cy="702232"/>
              <a:chOff x="3031668" y="2206225"/>
              <a:chExt cx="702132" cy="702232"/>
            </a:xfrm>
          </p:grpSpPr>
          <p:grpSp>
            <p:nvGrpSpPr>
              <p:cNvPr id="42" name="Group 41">
                <a:extLst>
                  <a:ext uri="{FF2B5EF4-FFF2-40B4-BE49-F238E27FC236}">
                    <a16:creationId xmlns:a16="http://schemas.microsoft.com/office/drawing/2014/main" id="{2BE341E3-27CB-49D9-8BF3-22518A5B2EF6}"/>
                  </a:ext>
                </a:extLst>
              </p:cNvPr>
              <p:cNvGrpSpPr/>
              <p:nvPr/>
            </p:nvGrpSpPr>
            <p:grpSpPr>
              <a:xfrm>
                <a:off x="3031668" y="2206225"/>
                <a:ext cx="702132" cy="702232"/>
                <a:chOff x="3031668" y="2206225"/>
                <a:chExt cx="702132" cy="702232"/>
              </a:xfrm>
            </p:grpSpPr>
            <p:sp>
              <p:nvSpPr>
                <p:cNvPr id="44" name="Freeform 5">
                  <a:extLst>
                    <a:ext uri="{FF2B5EF4-FFF2-40B4-BE49-F238E27FC236}">
                      <a16:creationId xmlns:a16="http://schemas.microsoft.com/office/drawing/2014/main" id="{54CA27AF-CEA9-4A78-8289-D09004526406}"/>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45" name="Freeform 6">
                  <a:extLst>
                    <a:ext uri="{FF2B5EF4-FFF2-40B4-BE49-F238E27FC236}">
                      <a16:creationId xmlns:a16="http://schemas.microsoft.com/office/drawing/2014/main" id="{34D6F675-CAAA-4F1B-B109-97D9C6100AC6}"/>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43" name="Picture 42" descr="Icon of a gear inside a circle">
                <a:extLst>
                  <a:ext uri="{FF2B5EF4-FFF2-40B4-BE49-F238E27FC236}">
                    <a16:creationId xmlns:a16="http://schemas.microsoft.com/office/drawing/2014/main" id="{E1D6DCEB-F5FF-44DA-B5F4-7BBC7C32C119}"/>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47" name="Group 46">
              <a:extLst>
                <a:ext uri="{FF2B5EF4-FFF2-40B4-BE49-F238E27FC236}">
                  <a16:creationId xmlns:a16="http://schemas.microsoft.com/office/drawing/2014/main" id="{473C1F6E-456F-4DA4-BECB-4DD55631FBED}"/>
                </a:ext>
              </a:extLst>
            </p:cNvPr>
            <p:cNvGrpSpPr/>
            <p:nvPr/>
          </p:nvGrpSpPr>
          <p:grpSpPr>
            <a:xfrm>
              <a:off x="3538564" y="3927421"/>
              <a:ext cx="702132" cy="702232"/>
              <a:chOff x="3031668" y="3070738"/>
              <a:chExt cx="702132" cy="702232"/>
            </a:xfrm>
          </p:grpSpPr>
          <p:grpSp>
            <p:nvGrpSpPr>
              <p:cNvPr id="48" name="Group 47">
                <a:extLst>
                  <a:ext uri="{FF2B5EF4-FFF2-40B4-BE49-F238E27FC236}">
                    <a16:creationId xmlns:a16="http://schemas.microsoft.com/office/drawing/2014/main" id="{0D022022-82C2-43FF-92FA-2BC8FE47A995}"/>
                  </a:ext>
                </a:extLst>
              </p:cNvPr>
              <p:cNvGrpSpPr/>
              <p:nvPr/>
            </p:nvGrpSpPr>
            <p:grpSpPr>
              <a:xfrm>
                <a:off x="3031668" y="3070738"/>
                <a:ext cx="702132" cy="702232"/>
                <a:chOff x="3031668" y="3070738"/>
                <a:chExt cx="702132" cy="702232"/>
              </a:xfrm>
            </p:grpSpPr>
            <p:sp>
              <p:nvSpPr>
                <p:cNvPr id="50" name="Freeform 5">
                  <a:extLst>
                    <a:ext uri="{FF2B5EF4-FFF2-40B4-BE49-F238E27FC236}">
                      <a16:creationId xmlns:a16="http://schemas.microsoft.com/office/drawing/2014/main" id="{3F70D75C-1D8E-4478-A73D-B6158DA0F494}"/>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51" name="Freeform 6">
                  <a:extLst>
                    <a:ext uri="{FF2B5EF4-FFF2-40B4-BE49-F238E27FC236}">
                      <a16:creationId xmlns:a16="http://schemas.microsoft.com/office/drawing/2014/main" id="{CAD4BCFF-0715-4A0B-BBDD-13935EE0DDAB}"/>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49" name="Picture 48" descr="Icon of a bulb">
                <a:extLst>
                  <a:ext uri="{FF2B5EF4-FFF2-40B4-BE49-F238E27FC236}">
                    <a16:creationId xmlns:a16="http://schemas.microsoft.com/office/drawing/2014/main" id="{615DC01F-9E00-4E4E-9D09-59EDEC813882}"/>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52" name="Group 51">
              <a:extLst>
                <a:ext uri="{FF2B5EF4-FFF2-40B4-BE49-F238E27FC236}">
                  <a16:creationId xmlns:a16="http://schemas.microsoft.com/office/drawing/2014/main" id="{5429201C-3AC8-4088-9BF7-CFF1805EE14D}"/>
                </a:ext>
              </a:extLst>
            </p:cNvPr>
            <p:cNvGrpSpPr/>
            <p:nvPr/>
          </p:nvGrpSpPr>
          <p:grpSpPr>
            <a:xfrm>
              <a:off x="3538564" y="4791934"/>
              <a:ext cx="702132" cy="702232"/>
              <a:chOff x="3031668" y="3935251"/>
              <a:chExt cx="702132" cy="702232"/>
            </a:xfrm>
          </p:grpSpPr>
          <p:grpSp>
            <p:nvGrpSpPr>
              <p:cNvPr id="53" name="Group 52">
                <a:extLst>
                  <a:ext uri="{FF2B5EF4-FFF2-40B4-BE49-F238E27FC236}">
                    <a16:creationId xmlns:a16="http://schemas.microsoft.com/office/drawing/2014/main" id="{CFB0F054-9672-4DB2-9B21-1461742065EE}"/>
                  </a:ext>
                </a:extLst>
              </p:cNvPr>
              <p:cNvGrpSpPr/>
              <p:nvPr/>
            </p:nvGrpSpPr>
            <p:grpSpPr>
              <a:xfrm>
                <a:off x="3031668" y="3935251"/>
                <a:ext cx="702132" cy="702232"/>
                <a:chOff x="3031668" y="3935251"/>
                <a:chExt cx="702132" cy="702232"/>
              </a:xfrm>
            </p:grpSpPr>
            <p:sp>
              <p:nvSpPr>
                <p:cNvPr id="55" name="Freeform 5">
                  <a:extLst>
                    <a:ext uri="{FF2B5EF4-FFF2-40B4-BE49-F238E27FC236}">
                      <a16:creationId xmlns:a16="http://schemas.microsoft.com/office/drawing/2014/main" id="{EA751B68-3E07-4872-8ADA-247D64A854E4}"/>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56" name="Freeform 6">
                  <a:extLst>
                    <a:ext uri="{FF2B5EF4-FFF2-40B4-BE49-F238E27FC236}">
                      <a16:creationId xmlns:a16="http://schemas.microsoft.com/office/drawing/2014/main" id="{58B7B04E-AA90-49E7-A4D3-55B99609D25C}"/>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54" name="Picture 53" descr="Icon of a screen with dots">
                <a:extLst>
                  <a:ext uri="{FF2B5EF4-FFF2-40B4-BE49-F238E27FC236}">
                    <a16:creationId xmlns:a16="http://schemas.microsoft.com/office/drawing/2014/main" id="{F99EB18F-10FD-4DB1-A925-5C36CED74B80}"/>
                  </a:ext>
                </a:extLst>
              </p:cNvPr>
              <p:cNvPicPr>
                <a:picLocks noChangeAspect="1"/>
              </p:cNvPicPr>
              <p:nvPr/>
            </p:nvPicPr>
            <p:blipFill>
              <a:blip r:embed="rId7"/>
              <a:stretch>
                <a:fillRect/>
              </a:stretch>
            </p:blipFill>
            <p:spPr>
              <a:xfrm>
                <a:off x="3199854" y="4149132"/>
                <a:ext cx="365760" cy="274470"/>
              </a:xfrm>
              <a:prstGeom prst="rect">
                <a:avLst/>
              </a:prstGeom>
            </p:spPr>
          </p:pic>
        </p:grpSp>
      </p:grpSp>
      <p:sp>
        <p:nvSpPr>
          <p:cNvPr id="58" name="Text Placeholder 5">
            <a:extLst>
              <a:ext uri="{FF2B5EF4-FFF2-40B4-BE49-F238E27FC236}">
                <a16:creationId xmlns:a16="http://schemas.microsoft.com/office/drawing/2014/main" id="{E8C0373E-DFC9-408F-84D2-4F2C6CA4431A}"/>
              </a:ext>
            </a:extLst>
          </p:cNvPr>
          <p:cNvSpPr txBox="1">
            <a:spLocks/>
          </p:cNvSpPr>
          <p:nvPr/>
        </p:nvSpPr>
        <p:spPr>
          <a:xfrm>
            <a:off x="4496930" y="1319679"/>
            <a:ext cx="67552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dirty="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Verify circuit provisioning and state through the Azure portal</a:t>
            </a:r>
          </a:p>
        </p:txBody>
      </p:sp>
      <p:sp>
        <p:nvSpPr>
          <p:cNvPr id="59" name="Text Placeholder 5">
            <a:extLst>
              <a:ext uri="{FF2B5EF4-FFF2-40B4-BE49-F238E27FC236}">
                <a16:creationId xmlns:a16="http://schemas.microsoft.com/office/drawing/2014/main" id="{FF41FCD1-10E3-424F-A837-CFFA5C9436FE}"/>
              </a:ext>
            </a:extLst>
          </p:cNvPr>
          <p:cNvSpPr txBox="1">
            <a:spLocks/>
          </p:cNvSpPr>
          <p:nvPr/>
        </p:nvSpPr>
        <p:spPr>
          <a:xfrm>
            <a:off x="4496930" y="2192723"/>
            <a:ext cx="67552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dirty="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Validate Peering Configuration</a:t>
            </a:r>
          </a:p>
        </p:txBody>
      </p:sp>
      <p:sp>
        <p:nvSpPr>
          <p:cNvPr id="9" name="TextBox 8">
            <a:extLst>
              <a:ext uri="{FF2B5EF4-FFF2-40B4-BE49-F238E27FC236}">
                <a16:creationId xmlns:a16="http://schemas.microsoft.com/office/drawing/2014/main" id="{A3668EBF-C9A1-450A-81E9-5F489B00EFC4}"/>
              </a:ext>
            </a:extLst>
          </p:cNvPr>
          <p:cNvSpPr txBox="1"/>
          <p:nvPr/>
        </p:nvSpPr>
        <p:spPr>
          <a:xfrm>
            <a:off x="4447235" y="3244334"/>
            <a:ext cx="4906918" cy="369332"/>
          </a:xfrm>
          <a:prstGeom prst="rect">
            <a:avLst/>
          </a:prstGeom>
          <a:noFill/>
        </p:spPr>
        <p:txBody>
          <a:bodyPr wrap="square" rtlCol="0">
            <a:spAutoFit/>
          </a:bodyPr>
          <a:lstStyle/>
          <a:p>
            <a:r>
              <a:rPr lang="en-US" dirty="0">
                <a:solidFill>
                  <a:srgbClr val="000000"/>
                </a:solidFill>
                <a:latin typeface="Segoe UI"/>
              </a:rPr>
              <a:t>Validate </a:t>
            </a:r>
            <a:r>
              <a:rPr lang="en-US" sz="1800" dirty="0">
                <a:effectLst/>
                <a:latin typeface="Segoe UI" panose="020B0502040204020203" pitchFamily="34" charset="0"/>
              </a:rPr>
              <a:t>Address Resolution Protocol</a:t>
            </a:r>
            <a:r>
              <a:rPr lang="en-US" dirty="0">
                <a:latin typeface="Arial" panose="020B0604020202020204" pitchFamily="34" charset="0"/>
              </a:rPr>
              <a:t> (ARP)</a:t>
            </a:r>
            <a:endParaRPr lang="en-US" dirty="0">
              <a:solidFill>
                <a:srgbClr val="000000"/>
              </a:solidFill>
              <a:latin typeface="Segoe UI"/>
            </a:endParaRPr>
          </a:p>
        </p:txBody>
      </p:sp>
      <p:sp>
        <p:nvSpPr>
          <p:cNvPr id="61" name="Text Placeholder 5">
            <a:extLst>
              <a:ext uri="{FF2B5EF4-FFF2-40B4-BE49-F238E27FC236}">
                <a16:creationId xmlns:a16="http://schemas.microsoft.com/office/drawing/2014/main" id="{9CF11857-BD38-499C-97E7-B37702EB9C8E}"/>
              </a:ext>
            </a:extLst>
          </p:cNvPr>
          <p:cNvSpPr txBox="1">
            <a:spLocks/>
          </p:cNvSpPr>
          <p:nvPr/>
        </p:nvSpPr>
        <p:spPr>
          <a:xfrm>
            <a:off x="4496930" y="3907645"/>
            <a:ext cx="67552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dirty="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Troubleshooting network performance</a:t>
            </a:r>
          </a:p>
        </p:txBody>
      </p:sp>
      <p:sp>
        <p:nvSpPr>
          <p:cNvPr id="63" name="Text Placeholder 5">
            <a:extLst>
              <a:ext uri="{FF2B5EF4-FFF2-40B4-BE49-F238E27FC236}">
                <a16:creationId xmlns:a16="http://schemas.microsoft.com/office/drawing/2014/main" id="{8E95B392-42B6-427E-A438-C572F261AD8C}"/>
              </a:ext>
            </a:extLst>
          </p:cNvPr>
          <p:cNvSpPr txBox="1">
            <a:spLocks/>
          </p:cNvSpPr>
          <p:nvPr/>
        </p:nvSpPr>
        <p:spPr>
          <a:xfrm>
            <a:off x="4496930" y="4774826"/>
            <a:ext cx="67552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dirty="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Review </a:t>
            </a:r>
          </a:p>
        </p:txBody>
      </p:sp>
    </p:spTree>
    <p:extLst>
      <p:ext uri="{BB962C8B-B14F-4D97-AF65-F5344CB8AC3E}">
        <p14:creationId xmlns:p14="http://schemas.microsoft.com/office/powerpoint/2010/main" val="1484332943"/>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1A335C-8D96-4733-80A2-0E195BC123B7}"/>
              </a:ext>
            </a:extLst>
          </p:cNvPr>
          <p:cNvSpPr>
            <a:spLocks noGrp="1"/>
          </p:cNvSpPr>
          <p:nvPr>
            <p:ph type="title"/>
          </p:nvPr>
        </p:nvSpPr>
        <p:spPr>
          <a:xfrm>
            <a:off x="455995" y="623224"/>
            <a:ext cx="11306469" cy="397545"/>
          </a:xfrm>
        </p:spPr>
        <p:txBody>
          <a:bodyPr/>
          <a:lstStyle/>
          <a:p>
            <a:r>
              <a:rPr lang="en-US" dirty="0"/>
              <a:t>Verify circuit provisioning and state</a:t>
            </a:r>
          </a:p>
        </p:txBody>
      </p:sp>
      <p:sp>
        <p:nvSpPr>
          <p:cNvPr id="5" name="TextBox 4">
            <a:extLst>
              <a:ext uri="{FF2B5EF4-FFF2-40B4-BE49-F238E27FC236}">
                <a16:creationId xmlns:a16="http://schemas.microsoft.com/office/drawing/2014/main" id="{690439BC-7102-46D7-9198-FE5134C47927}"/>
              </a:ext>
            </a:extLst>
          </p:cNvPr>
          <p:cNvSpPr txBox="1"/>
          <p:nvPr/>
        </p:nvSpPr>
        <p:spPr>
          <a:xfrm>
            <a:off x="410568" y="1277931"/>
            <a:ext cx="6098240" cy="646331"/>
          </a:xfrm>
          <a:prstGeom prst="rect">
            <a:avLst/>
          </a:prstGeom>
          <a:noFill/>
        </p:spPr>
        <p:txBody>
          <a:bodyPr wrap="square">
            <a:spAutoFit/>
          </a:bodyPr>
          <a:lstStyle/>
          <a:p>
            <a:r>
              <a:rPr lang="en-US" dirty="0"/>
              <a:t>Get-</a:t>
            </a:r>
            <a:r>
              <a:rPr lang="en-US" dirty="0" err="1"/>
              <a:t>AzExpressRouteCircuit</a:t>
            </a:r>
            <a:r>
              <a:rPr lang="en-US" dirty="0"/>
              <a:t> -</a:t>
            </a:r>
            <a:r>
              <a:rPr lang="en-US" dirty="0" err="1"/>
              <a:t>ResourceGroupName</a:t>
            </a:r>
            <a:r>
              <a:rPr lang="en-US" dirty="0"/>
              <a:t> “</a:t>
            </a:r>
            <a:r>
              <a:rPr lang="en-US" dirty="0" err="1"/>
              <a:t>USWest</a:t>
            </a:r>
            <a:r>
              <a:rPr lang="en-US" dirty="0"/>
              <a:t>-ER-Demo-RG” –Name “ER-Demo-</a:t>
            </a:r>
            <a:r>
              <a:rPr lang="en-US" dirty="0" err="1"/>
              <a:t>Ckt</a:t>
            </a:r>
            <a:r>
              <a:rPr lang="en-US" dirty="0"/>
              <a:t>-SV” </a:t>
            </a:r>
          </a:p>
        </p:txBody>
      </p:sp>
      <p:sp>
        <p:nvSpPr>
          <p:cNvPr id="7" name="TextBox 1">
            <a:extLst>
              <a:ext uri="{FF2B5EF4-FFF2-40B4-BE49-F238E27FC236}">
                <a16:creationId xmlns:a16="http://schemas.microsoft.com/office/drawing/2014/main" id="{686C0E4C-DF20-47BA-948A-DFB390EEE7C2}"/>
              </a:ext>
            </a:extLst>
          </p:cNvPr>
          <p:cNvSpPr txBox="1"/>
          <p:nvPr/>
        </p:nvSpPr>
        <p:spPr>
          <a:xfrm>
            <a:off x="455995" y="2084294"/>
            <a:ext cx="6254087" cy="437029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1200"/>
              <a:t>Name                            : ER-Demo-</a:t>
            </a:r>
            <a:r>
              <a:rPr lang="en-US" sz="1200" err="1"/>
              <a:t>Ckt</a:t>
            </a:r>
            <a:r>
              <a:rPr lang="en-US" sz="1200"/>
              <a:t>-SV</a:t>
            </a:r>
          </a:p>
          <a:p>
            <a:r>
              <a:rPr lang="en-US" sz="1200" err="1"/>
              <a:t>ResourceGroupName</a:t>
            </a:r>
            <a:r>
              <a:rPr lang="en-US" sz="1200"/>
              <a:t>                : </a:t>
            </a:r>
            <a:r>
              <a:rPr lang="en-US" sz="1200" err="1"/>
              <a:t>USWest</a:t>
            </a:r>
            <a:r>
              <a:rPr lang="en-US" sz="1200"/>
              <a:t>-ER-Demo-RG</a:t>
            </a:r>
          </a:p>
          <a:p>
            <a:r>
              <a:rPr lang="en-US" sz="1200"/>
              <a:t>Location                         : </a:t>
            </a:r>
            <a:r>
              <a:rPr lang="en-US" sz="1200" err="1"/>
              <a:t>westus</a:t>
            </a:r>
            <a:endParaRPr lang="en-US" sz="1200"/>
          </a:p>
          <a:p>
            <a:r>
              <a:rPr lang="en-US" sz="1200"/>
              <a:t>Id                               : /subscriptions/***************************/</a:t>
            </a:r>
            <a:r>
              <a:rPr lang="en-US" sz="1200" err="1"/>
              <a:t>resourceGroups</a:t>
            </a:r>
            <a:r>
              <a:rPr lang="en-US" sz="1200"/>
              <a:t>/ </a:t>
            </a:r>
            <a:r>
              <a:rPr lang="en-US" sz="1200" err="1"/>
              <a:t>USWest</a:t>
            </a:r>
            <a:r>
              <a:rPr lang="en-US" sz="1200"/>
              <a:t>-ER-Demo-RG /providers/***********/</a:t>
            </a:r>
            <a:r>
              <a:rPr lang="en-US" sz="1200" err="1"/>
              <a:t>expressRouteCircuits</a:t>
            </a:r>
            <a:r>
              <a:rPr lang="en-US" sz="1200"/>
              <a:t>/ ER-Demo-</a:t>
            </a:r>
            <a:r>
              <a:rPr lang="en-US" sz="1200" err="1"/>
              <a:t>Ckt</a:t>
            </a:r>
            <a:r>
              <a:rPr lang="en-US" sz="1200"/>
              <a:t>-SV</a:t>
            </a:r>
          </a:p>
          <a:p>
            <a:r>
              <a:rPr lang="en-US" sz="1200" err="1"/>
              <a:t>Etag</a:t>
            </a:r>
            <a:r>
              <a:rPr lang="en-US" sz="1200"/>
              <a:t>                             : W/"################################"</a:t>
            </a:r>
          </a:p>
          <a:p>
            <a:r>
              <a:rPr lang="en-US" sz="1200" err="1"/>
              <a:t>ProvisioningState</a:t>
            </a:r>
            <a:r>
              <a:rPr lang="en-US" sz="1200"/>
              <a:t>                : Succeeded</a:t>
            </a:r>
          </a:p>
          <a:p>
            <a:r>
              <a:rPr lang="en-US" sz="1200" err="1"/>
              <a:t>Sku</a:t>
            </a:r>
            <a:r>
              <a:rPr lang="en-US" sz="1200"/>
              <a:t>                              : {</a:t>
            </a:r>
          </a:p>
          <a:p>
            <a:r>
              <a:rPr lang="en-US" sz="1200"/>
              <a:t>                                    "Name": "</a:t>
            </a:r>
            <a:r>
              <a:rPr lang="en-US" sz="1200" err="1"/>
              <a:t>Standard_UnlimitedData</a:t>
            </a:r>
            <a:r>
              <a:rPr lang="en-US" sz="1200"/>
              <a:t>",</a:t>
            </a:r>
          </a:p>
          <a:p>
            <a:r>
              <a:rPr lang="en-US" sz="1200"/>
              <a:t>                                    "Tier": "Standard",</a:t>
            </a:r>
          </a:p>
          <a:p>
            <a:r>
              <a:rPr lang="en-US" sz="1200"/>
              <a:t>                                    "Family": "</a:t>
            </a:r>
            <a:r>
              <a:rPr lang="en-US" sz="1200" err="1"/>
              <a:t>UnlimitedData</a:t>
            </a:r>
            <a:r>
              <a:rPr lang="en-US" sz="1200"/>
              <a:t>"</a:t>
            </a:r>
          </a:p>
          <a:p>
            <a:r>
              <a:rPr lang="en-US" sz="1200"/>
              <a:t>                                   	}</a:t>
            </a:r>
          </a:p>
          <a:p>
            <a:r>
              <a:rPr lang="en-US" sz="1200" err="1"/>
              <a:t>CircuitProvisioningState</a:t>
            </a:r>
            <a:r>
              <a:rPr lang="en-US" sz="1200"/>
              <a:t>         : Enabled</a:t>
            </a:r>
          </a:p>
          <a:p>
            <a:r>
              <a:rPr lang="en-US" sz="1200" err="1"/>
              <a:t>ServiceProviderProvisioningState</a:t>
            </a:r>
            <a:r>
              <a:rPr lang="en-US" sz="1200"/>
              <a:t> : Provisioned</a:t>
            </a:r>
          </a:p>
          <a:p>
            <a:r>
              <a:rPr lang="en-US" sz="1200" err="1"/>
              <a:t>ServiceProviderNotes</a:t>
            </a:r>
            <a:r>
              <a:rPr lang="en-US" sz="1200"/>
              <a:t>             : </a:t>
            </a:r>
          </a:p>
          <a:p>
            <a:r>
              <a:rPr lang="en-US" sz="1200" err="1"/>
              <a:t>ServiceProviderProperties</a:t>
            </a:r>
            <a:r>
              <a:rPr lang="en-US" sz="1200"/>
              <a:t>        : {</a:t>
            </a:r>
          </a:p>
          <a:p>
            <a:r>
              <a:rPr lang="en-US" sz="1200"/>
              <a:t>                                    "</a:t>
            </a:r>
            <a:r>
              <a:rPr lang="en-US" sz="1200" err="1"/>
              <a:t>ServiceProviderName</a:t>
            </a:r>
            <a:r>
              <a:rPr lang="en-US" sz="1200"/>
              <a:t>": "****",</a:t>
            </a:r>
          </a:p>
          <a:p>
            <a:r>
              <a:rPr lang="en-US" sz="1200"/>
              <a:t>                                    "</a:t>
            </a:r>
            <a:r>
              <a:rPr lang="en-US" sz="1200" err="1"/>
              <a:t>PeeringLocation</a:t>
            </a:r>
            <a:r>
              <a:rPr lang="en-US" sz="1200"/>
              <a:t>": "******",</a:t>
            </a:r>
          </a:p>
          <a:p>
            <a:r>
              <a:rPr lang="en-US" sz="1200"/>
              <a:t>                                    "</a:t>
            </a:r>
            <a:r>
              <a:rPr lang="en-US" sz="1200" err="1"/>
              <a:t>BandwidthInMbps</a:t>
            </a:r>
            <a:r>
              <a:rPr lang="en-US" sz="1200"/>
              <a:t>": 200</a:t>
            </a:r>
          </a:p>
          <a:p>
            <a:r>
              <a:rPr lang="en-US" sz="1200"/>
              <a:t>                                   	}</a:t>
            </a:r>
          </a:p>
          <a:p>
            <a:r>
              <a:rPr lang="en-US" sz="1200" err="1"/>
              <a:t>ServiceKey</a:t>
            </a:r>
            <a:r>
              <a:rPr lang="en-US" sz="1200"/>
              <a:t>                       : **************************************</a:t>
            </a:r>
          </a:p>
          <a:p>
            <a:r>
              <a:rPr lang="en-US" sz="1200" err="1"/>
              <a:t>Peerings</a:t>
            </a:r>
            <a:r>
              <a:rPr lang="en-US" sz="1200"/>
              <a:t>                         : []</a:t>
            </a:r>
          </a:p>
          <a:p>
            <a:r>
              <a:rPr lang="en-US" sz="1200"/>
              <a:t>Authorizations                   : []</a:t>
            </a:r>
          </a:p>
        </p:txBody>
      </p:sp>
      <p:pic>
        <p:nvPicPr>
          <p:cNvPr id="4" name="Picture 3" descr="Azure portal - view circuit status">
            <a:extLst>
              <a:ext uri="{FF2B5EF4-FFF2-40B4-BE49-F238E27FC236}">
                <a16:creationId xmlns:a16="http://schemas.microsoft.com/office/drawing/2014/main" id="{ADF53814-6385-43F3-AAA1-FD15E3C3A367}"/>
              </a:ext>
            </a:extLst>
          </p:cNvPr>
          <p:cNvPicPr/>
          <p:nvPr/>
        </p:nvPicPr>
        <p:blipFill>
          <a:blip r:embed="rId3"/>
          <a:stretch>
            <a:fillRect/>
          </a:stretch>
        </p:blipFill>
        <p:spPr bwMode="auto">
          <a:xfrm>
            <a:off x="7091892" y="1277931"/>
            <a:ext cx="3948747" cy="4956845"/>
          </a:xfrm>
          <a:prstGeom prst="rect">
            <a:avLst/>
          </a:prstGeom>
          <a:noFill/>
          <a:ln>
            <a:noFill/>
          </a:ln>
        </p:spPr>
      </p:pic>
      <p:sp>
        <p:nvSpPr>
          <p:cNvPr id="2" name="Rectangle 1">
            <a:extLst>
              <a:ext uri="{FF2B5EF4-FFF2-40B4-BE49-F238E27FC236}">
                <a16:creationId xmlns:a16="http://schemas.microsoft.com/office/drawing/2014/main" id="{25FAE1E2-15B1-4A39-9EDD-E33C60822FED}"/>
              </a:ext>
              <a:ext uri="{C183D7F6-B498-43B3-948B-1728B52AA6E4}">
                <adec:decorative xmlns:adec="http://schemas.microsoft.com/office/drawing/2017/decorative" val="1"/>
              </a:ext>
            </a:extLst>
          </p:cNvPr>
          <p:cNvSpPr/>
          <p:nvPr/>
        </p:nvSpPr>
        <p:spPr bwMode="auto">
          <a:xfrm>
            <a:off x="6934200" y="1181100"/>
            <a:ext cx="4352925" cy="5143500"/>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99645272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320D-A9E4-4973-8638-DAD4E8AAA018}"/>
              </a:ext>
            </a:extLst>
          </p:cNvPr>
          <p:cNvSpPr>
            <a:spLocks noGrp="1"/>
          </p:cNvSpPr>
          <p:nvPr>
            <p:ph type="title"/>
          </p:nvPr>
        </p:nvSpPr>
        <p:spPr/>
        <p:txBody>
          <a:bodyPr/>
          <a:lstStyle/>
          <a:p>
            <a:r>
              <a:rPr lang="en-US"/>
              <a:t>Reset a failed circuit </a:t>
            </a:r>
          </a:p>
        </p:txBody>
      </p:sp>
      <p:sp>
        <p:nvSpPr>
          <p:cNvPr id="4" name="TextBox 1">
            <a:extLst>
              <a:ext uri="{FF2B5EF4-FFF2-40B4-BE49-F238E27FC236}">
                <a16:creationId xmlns:a16="http://schemas.microsoft.com/office/drawing/2014/main" id="{5846C65F-3690-4DC4-86F9-E66FAA2D6E31}"/>
              </a:ext>
            </a:extLst>
          </p:cNvPr>
          <p:cNvSpPr txBox="1"/>
          <p:nvPr/>
        </p:nvSpPr>
        <p:spPr>
          <a:xfrm>
            <a:off x="455995" y="1613648"/>
            <a:ext cx="11046741" cy="245632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1600" dirty="0"/>
              <a:t>Connect-</a:t>
            </a:r>
            <a:r>
              <a:rPr lang="en-US" sz="1600" dirty="0" err="1"/>
              <a:t>AzAccount</a:t>
            </a:r>
            <a:endParaRPr lang="en-US" sz="1600" dirty="0"/>
          </a:p>
          <a:p>
            <a:r>
              <a:rPr lang="en-US" sz="1600" dirty="0"/>
              <a:t>Get-</a:t>
            </a:r>
            <a:r>
              <a:rPr lang="en-US" sz="1600" dirty="0" err="1"/>
              <a:t>AzSubscription</a:t>
            </a:r>
            <a:endParaRPr lang="en-US" sz="1600" dirty="0"/>
          </a:p>
          <a:p>
            <a:r>
              <a:rPr lang="en-US" sz="1600" dirty="0"/>
              <a:t>Select-</a:t>
            </a:r>
            <a:r>
              <a:rPr lang="en-US" sz="1600" dirty="0" err="1"/>
              <a:t>AzSubscription</a:t>
            </a:r>
            <a:r>
              <a:rPr lang="en-US" sz="1600" dirty="0"/>
              <a:t> -</a:t>
            </a:r>
            <a:r>
              <a:rPr lang="en-US" sz="1600" dirty="0" err="1"/>
              <a:t>SubscriptionName</a:t>
            </a:r>
            <a:r>
              <a:rPr lang="en-US" sz="1600" dirty="0"/>
              <a:t> "</a:t>
            </a:r>
            <a:r>
              <a:rPr lang="en-US" sz="1600" dirty="0" err="1"/>
              <a:t>Replace_with_your_subscription_name</a:t>
            </a:r>
            <a:r>
              <a:rPr lang="en-US" sz="1600" dirty="0"/>
              <a:t>“</a:t>
            </a:r>
          </a:p>
          <a:p>
            <a:r>
              <a:rPr lang="en-US" sz="1600" dirty="0"/>
              <a:t>$</a:t>
            </a:r>
            <a:r>
              <a:rPr lang="en-US" sz="1600" dirty="0" err="1"/>
              <a:t>ckt</a:t>
            </a:r>
            <a:r>
              <a:rPr lang="en-US" sz="1600" dirty="0"/>
              <a:t> = Get-</a:t>
            </a:r>
            <a:r>
              <a:rPr lang="en-US" sz="1600" dirty="0" err="1"/>
              <a:t>AzExpressRouteCircuit</a:t>
            </a:r>
            <a:r>
              <a:rPr lang="en-US" sz="1600" dirty="0"/>
              <a:t> -Name "</a:t>
            </a:r>
            <a:r>
              <a:rPr lang="en-US" sz="1600" dirty="0" err="1"/>
              <a:t>ExpressRouteARMCircuit</a:t>
            </a:r>
            <a:r>
              <a:rPr lang="en-US" sz="1600" dirty="0"/>
              <a:t>" -</a:t>
            </a:r>
            <a:r>
              <a:rPr lang="en-US" sz="1600" dirty="0" err="1"/>
              <a:t>ResourceGroupName</a:t>
            </a:r>
            <a:r>
              <a:rPr lang="en-US" sz="1600" dirty="0"/>
              <a:t> "</a:t>
            </a:r>
            <a:r>
              <a:rPr lang="en-US" sz="1600" dirty="0" err="1"/>
              <a:t>ExpressRouteResourceGroup</a:t>
            </a:r>
            <a:r>
              <a:rPr lang="en-US" sz="1600" dirty="0"/>
              <a:t>"</a:t>
            </a:r>
          </a:p>
          <a:p>
            <a:endParaRPr lang="en-US" sz="1600" dirty="0"/>
          </a:p>
          <a:p>
            <a:r>
              <a:rPr lang="en-US" sz="1600" dirty="0"/>
              <a:t>Set-</a:t>
            </a:r>
            <a:r>
              <a:rPr lang="en-US" sz="1600" dirty="0" err="1"/>
              <a:t>AzExpressRouteCircuit</a:t>
            </a:r>
            <a:r>
              <a:rPr lang="en-US" sz="1600" dirty="0"/>
              <a:t> -</a:t>
            </a:r>
            <a:r>
              <a:rPr lang="en-US" sz="1600" dirty="0" err="1"/>
              <a:t>ExpressRouteCircuit</a:t>
            </a:r>
            <a:r>
              <a:rPr lang="en-US" sz="1600" dirty="0"/>
              <a:t> $</a:t>
            </a:r>
            <a:r>
              <a:rPr lang="en-US" sz="1600" dirty="0" err="1"/>
              <a:t>ckt</a:t>
            </a:r>
            <a:endParaRPr lang="en-US" sz="1600" dirty="0"/>
          </a:p>
          <a:p>
            <a:endParaRPr lang="en-US" sz="1600" dirty="0"/>
          </a:p>
        </p:txBody>
      </p:sp>
      <p:sp>
        <p:nvSpPr>
          <p:cNvPr id="5" name="TextBox 4">
            <a:extLst>
              <a:ext uri="{FF2B5EF4-FFF2-40B4-BE49-F238E27FC236}">
                <a16:creationId xmlns:a16="http://schemas.microsoft.com/office/drawing/2014/main" id="{F31F7711-7370-4E2C-8871-38D53CEA0D6A}"/>
              </a:ext>
            </a:extLst>
          </p:cNvPr>
          <p:cNvSpPr txBox="1"/>
          <p:nvPr/>
        </p:nvSpPr>
        <p:spPr>
          <a:xfrm>
            <a:off x="455994" y="4660059"/>
            <a:ext cx="10911065" cy="369332"/>
          </a:xfrm>
          <a:prstGeom prst="rect">
            <a:avLst/>
          </a:prstGeom>
          <a:noFill/>
        </p:spPr>
        <p:txBody>
          <a:bodyPr wrap="square">
            <a:spAutoFit/>
          </a:bodyPr>
          <a:lstStyle/>
          <a:p>
            <a:r>
              <a:rPr lang="en-US" sz="1800" dirty="0"/>
              <a:t>The circuit should now be healthy. Open a support ticket with Microsoft support if the circuit is still in a failed state.</a:t>
            </a:r>
          </a:p>
        </p:txBody>
      </p:sp>
    </p:spTree>
    <p:extLst>
      <p:ext uri="{BB962C8B-B14F-4D97-AF65-F5344CB8AC3E}">
        <p14:creationId xmlns:p14="http://schemas.microsoft.com/office/powerpoint/2010/main" val="3680132221"/>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80FE1-A9C2-43D6-81EE-1017604817B3}"/>
              </a:ext>
            </a:extLst>
          </p:cNvPr>
          <p:cNvSpPr>
            <a:spLocks noGrp="1"/>
          </p:cNvSpPr>
          <p:nvPr>
            <p:ph type="title"/>
          </p:nvPr>
        </p:nvSpPr>
        <p:spPr>
          <a:xfrm>
            <a:off x="455995" y="623224"/>
            <a:ext cx="11306469" cy="397545"/>
          </a:xfrm>
        </p:spPr>
        <p:txBody>
          <a:bodyPr/>
          <a:lstStyle/>
          <a:p>
            <a:r>
              <a:rPr lang="en-US"/>
              <a:t>Validate Peering Configuration</a:t>
            </a:r>
          </a:p>
        </p:txBody>
      </p:sp>
      <p:pic>
        <p:nvPicPr>
          <p:cNvPr id="3" name="Picture 2" descr="Azure portal - view peering status">
            <a:extLst>
              <a:ext uri="{FF2B5EF4-FFF2-40B4-BE49-F238E27FC236}">
                <a16:creationId xmlns:a16="http://schemas.microsoft.com/office/drawing/2014/main" id="{D8886964-ABFF-4F53-A076-1AB009E82C29}"/>
              </a:ext>
            </a:extLst>
          </p:cNvPr>
          <p:cNvPicPr/>
          <p:nvPr/>
        </p:nvPicPr>
        <p:blipFill>
          <a:blip r:embed="rId3"/>
          <a:stretch>
            <a:fillRect/>
          </a:stretch>
        </p:blipFill>
        <p:spPr bwMode="auto">
          <a:xfrm>
            <a:off x="1905749" y="1856451"/>
            <a:ext cx="7989570" cy="4114800"/>
          </a:xfrm>
          <a:prstGeom prst="rect">
            <a:avLst/>
          </a:prstGeom>
          <a:noFill/>
          <a:ln>
            <a:noFill/>
          </a:ln>
        </p:spPr>
      </p:pic>
      <p:sp>
        <p:nvSpPr>
          <p:cNvPr id="5" name="Rectangle 4">
            <a:extLst>
              <a:ext uri="{FF2B5EF4-FFF2-40B4-BE49-F238E27FC236}">
                <a16:creationId xmlns:a16="http://schemas.microsoft.com/office/drawing/2014/main" id="{6241A8F0-8716-481A-9236-649646A75A31}"/>
              </a:ext>
              <a:ext uri="{C183D7F6-B498-43B3-948B-1728B52AA6E4}">
                <adec:decorative xmlns:adec="http://schemas.microsoft.com/office/drawing/2017/decorative" val="1"/>
              </a:ext>
            </a:extLst>
          </p:cNvPr>
          <p:cNvSpPr/>
          <p:nvPr/>
        </p:nvSpPr>
        <p:spPr bwMode="auto">
          <a:xfrm>
            <a:off x="1804555" y="1384238"/>
            <a:ext cx="8191958" cy="485053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86188995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E05F-744F-48F3-96F5-3B1FA34C814F}"/>
              </a:ext>
            </a:extLst>
          </p:cNvPr>
          <p:cNvSpPr>
            <a:spLocks noGrp="1"/>
          </p:cNvSpPr>
          <p:nvPr>
            <p:ph type="title"/>
          </p:nvPr>
        </p:nvSpPr>
        <p:spPr/>
        <p:txBody>
          <a:bodyPr/>
          <a:lstStyle/>
          <a:p>
            <a:r>
              <a:rPr lang="en-US"/>
              <a:t>Validate ARP </a:t>
            </a:r>
          </a:p>
        </p:txBody>
      </p:sp>
      <p:sp>
        <p:nvSpPr>
          <p:cNvPr id="8" name="TextBox 1">
            <a:extLst>
              <a:ext uri="{FF2B5EF4-FFF2-40B4-BE49-F238E27FC236}">
                <a16:creationId xmlns:a16="http://schemas.microsoft.com/office/drawing/2014/main" id="{8219C421-185F-4871-BE3D-B273899A8EA6}"/>
              </a:ext>
            </a:extLst>
          </p:cNvPr>
          <p:cNvSpPr txBox="1"/>
          <p:nvPr/>
        </p:nvSpPr>
        <p:spPr>
          <a:xfrm>
            <a:off x="455995" y="1185564"/>
            <a:ext cx="4928057" cy="2243435"/>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Address Resolution Protocol (ARP):</a:t>
            </a:r>
          </a:p>
          <a:p>
            <a:pPr marL="342900" indent="-342900">
              <a:spcBef>
                <a:spcPts val="1176"/>
              </a:spcBef>
              <a:buFontTx/>
              <a:buChar char="-"/>
            </a:pPr>
            <a:r>
              <a:rPr lang="en-US" sz="1961" dirty="0"/>
              <a:t>layer 2 protocol defined in RFC 826. </a:t>
            </a:r>
          </a:p>
          <a:p>
            <a:pPr marL="342900" indent="-342900">
              <a:spcBef>
                <a:spcPts val="1176"/>
              </a:spcBef>
              <a:buFontTx/>
              <a:buChar char="-"/>
            </a:pPr>
            <a:r>
              <a:rPr lang="en-US" sz="1961" dirty="0"/>
              <a:t>Used to map the Ethernet address (MAC address) with an ip address.</a:t>
            </a:r>
          </a:p>
        </p:txBody>
      </p:sp>
      <p:sp>
        <p:nvSpPr>
          <p:cNvPr id="10" name="TextBox 1">
            <a:extLst>
              <a:ext uri="{FF2B5EF4-FFF2-40B4-BE49-F238E27FC236}">
                <a16:creationId xmlns:a16="http://schemas.microsoft.com/office/drawing/2014/main" id="{E308828F-2500-4F09-91A2-F6DE9A0A6B5D}"/>
              </a:ext>
            </a:extLst>
          </p:cNvPr>
          <p:cNvSpPr txBox="1"/>
          <p:nvPr/>
        </p:nvSpPr>
        <p:spPr>
          <a:xfrm>
            <a:off x="429536" y="3994137"/>
            <a:ext cx="4928057" cy="2243435"/>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Title of ARP table error messages:</a:t>
            </a:r>
          </a:p>
          <a:p>
            <a:pPr>
              <a:spcBef>
                <a:spcPts val="1176"/>
              </a:spcBef>
            </a:pPr>
            <a:r>
              <a:rPr lang="en-US" sz="1961"/>
              <a:t>- On-premises MAC address show incomplete </a:t>
            </a:r>
          </a:p>
          <a:p>
            <a:pPr>
              <a:spcBef>
                <a:spcPts val="1176"/>
              </a:spcBef>
            </a:pPr>
            <a:r>
              <a:rPr lang="en-US" sz="1961"/>
              <a:t>- Microsoft entry in the ARP table</a:t>
            </a:r>
          </a:p>
        </p:txBody>
      </p:sp>
      <p:sp>
        <p:nvSpPr>
          <p:cNvPr id="4" name="TextBox 1">
            <a:extLst>
              <a:ext uri="{FF2B5EF4-FFF2-40B4-BE49-F238E27FC236}">
                <a16:creationId xmlns:a16="http://schemas.microsoft.com/office/drawing/2014/main" id="{ADF49FC4-712F-48FB-BC89-18D6D20CF487}"/>
              </a:ext>
            </a:extLst>
          </p:cNvPr>
          <p:cNvSpPr txBox="1"/>
          <p:nvPr/>
        </p:nvSpPr>
        <p:spPr>
          <a:xfrm>
            <a:off x="5989108" y="1185565"/>
            <a:ext cx="5773356" cy="5052007"/>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The ARP table provides a mapping of the IP address and MAC address for a particular peering. The ARP table for an ExpressRoute circuit peering provides the following information for each interface (primary and secondary):</a:t>
            </a:r>
          </a:p>
          <a:p>
            <a:pPr marL="342900" indent="-342900">
              <a:spcBef>
                <a:spcPts val="1176"/>
              </a:spcBef>
              <a:buFont typeface="Arial" panose="020B0604020202020204" pitchFamily="34" charset="0"/>
              <a:buChar char="•"/>
            </a:pPr>
            <a:r>
              <a:rPr lang="en-US" sz="1961"/>
              <a:t>Mapping of on-premises router interface ip address to the MAC address</a:t>
            </a:r>
          </a:p>
          <a:p>
            <a:pPr marL="342900" indent="-342900">
              <a:spcBef>
                <a:spcPts val="1176"/>
              </a:spcBef>
              <a:buFont typeface="Arial" panose="020B0604020202020204" pitchFamily="34" charset="0"/>
              <a:buChar char="•"/>
            </a:pPr>
            <a:r>
              <a:rPr lang="en-US" sz="1961"/>
              <a:t>Mapping of ExpressRoute router interface ip address to the MAC address</a:t>
            </a:r>
          </a:p>
          <a:p>
            <a:pPr marL="342900" indent="-342900">
              <a:spcBef>
                <a:spcPts val="1176"/>
              </a:spcBef>
              <a:buFont typeface="Arial" panose="020B0604020202020204" pitchFamily="34" charset="0"/>
              <a:buChar char="•"/>
            </a:pPr>
            <a:r>
              <a:rPr lang="en-US" sz="1961"/>
              <a:t>Age of the mapping ARP tables can help validate layer 2 configuration and troubleshooting basic layer 2 connectivity issues.</a:t>
            </a:r>
          </a:p>
        </p:txBody>
      </p:sp>
    </p:spTree>
    <p:extLst>
      <p:ext uri="{BB962C8B-B14F-4D97-AF65-F5344CB8AC3E}">
        <p14:creationId xmlns:p14="http://schemas.microsoft.com/office/powerpoint/2010/main" val="355212729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C950D-87F7-4E5E-A83F-479CF7883B0A}"/>
              </a:ext>
            </a:extLst>
          </p:cNvPr>
          <p:cNvSpPr>
            <a:spLocks noGrp="1"/>
          </p:cNvSpPr>
          <p:nvPr>
            <p:ph type="title"/>
          </p:nvPr>
        </p:nvSpPr>
        <p:spPr>
          <a:xfrm>
            <a:off x="455995" y="623224"/>
            <a:ext cx="11306469" cy="397545"/>
          </a:xfrm>
        </p:spPr>
        <p:txBody>
          <a:bodyPr/>
          <a:lstStyle/>
          <a:p>
            <a:r>
              <a:rPr lang="en-US" dirty="0"/>
              <a:t>Troubleshooting network performance</a:t>
            </a:r>
          </a:p>
        </p:txBody>
      </p:sp>
      <p:sp>
        <p:nvSpPr>
          <p:cNvPr id="4" name="TextBox 1">
            <a:extLst>
              <a:ext uri="{FF2B5EF4-FFF2-40B4-BE49-F238E27FC236}">
                <a16:creationId xmlns:a16="http://schemas.microsoft.com/office/drawing/2014/main" id="{303F2FAB-2078-445C-A8C2-296BB1EDC463}"/>
              </a:ext>
            </a:extLst>
          </p:cNvPr>
          <p:cNvSpPr txBox="1"/>
          <p:nvPr/>
        </p:nvSpPr>
        <p:spPr>
          <a:xfrm>
            <a:off x="455995" y="1454184"/>
            <a:ext cx="4928057" cy="118336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Most network issues can be analyzed and isolated with Azure Network Watcher or PowerShell and CLI </a:t>
            </a:r>
          </a:p>
        </p:txBody>
      </p:sp>
      <p:sp>
        <p:nvSpPr>
          <p:cNvPr id="6" name="TextBox 1">
            <a:extLst>
              <a:ext uri="{FF2B5EF4-FFF2-40B4-BE49-F238E27FC236}">
                <a16:creationId xmlns:a16="http://schemas.microsoft.com/office/drawing/2014/main" id="{B5E2C010-30EF-40D4-BFEF-E8D0B346A062}"/>
              </a:ext>
            </a:extLst>
          </p:cNvPr>
          <p:cNvSpPr txBox="1"/>
          <p:nvPr/>
        </p:nvSpPr>
        <p:spPr>
          <a:xfrm>
            <a:off x="455995" y="3003419"/>
            <a:ext cx="4928057" cy="118336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To help with troubleshooting, the Azure Connectivity Toolkit (</a:t>
            </a:r>
            <a:r>
              <a:rPr lang="en-US" sz="1961" err="1"/>
              <a:t>AzureCT</a:t>
            </a:r>
            <a:r>
              <a:rPr lang="en-US" sz="1961"/>
              <a:t>) was developed to put some of these tools in an easy package.</a:t>
            </a:r>
          </a:p>
        </p:txBody>
      </p:sp>
      <p:sp>
        <p:nvSpPr>
          <p:cNvPr id="8" name="TextBox 1">
            <a:extLst>
              <a:ext uri="{FF2B5EF4-FFF2-40B4-BE49-F238E27FC236}">
                <a16:creationId xmlns:a16="http://schemas.microsoft.com/office/drawing/2014/main" id="{A06C8E92-C9B7-4B7F-8FF0-334B6AFECB86}"/>
              </a:ext>
            </a:extLst>
          </p:cNvPr>
          <p:cNvSpPr txBox="1"/>
          <p:nvPr/>
        </p:nvSpPr>
        <p:spPr>
          <a:xfrm>
            <a:off x="455994" y="4552654"/>
            <a:ext cx="4928057" cy="118336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a:t>These tools and methods are wrapped into a PowerShell module (</a:t>
            </a:r>
            <a:r>
              <a:rPr lang="en-US" sz="1961" err="1"/>
              <a:t>AzureCT</a:t>
            </a:r>
            <a:r>
              <a:rPr lang="en-US" sz="1961"/>
              <a:t>) that you can install and use</a:t>
            </a:r>
          </a:p>
        </p:txBody>
      </p:sp>
      <p:pic>
        <p:nvPicPr>
          <p:cNvPr id="10242" name="Picture 2" descr="A screenshot of a PowerShell session with get-Link Performance commend showing test complete ">
            <a:extLst>
              <a:ext uri="{FF2B5EF4-FFF2-40B4-BE49-F238E27FC236}">
                <a16:creationId xmlns:a16="http://schemas.microsoft.com/office/drawing/2014/main" id="{47B04AEF-C705-4675-9E65-D626C7E33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0530" y="2045868"/>
            <a:ext cx="5705475" cy="2914650"/>
          </a:xfrm>
          <a:prstGeom prst="rect">
            <a:avLst/>
          </a:prstGeom>
          <a:noFill/>
        </p:spPr>
      </p:pic>
      <p:sp>
        <p:nvSpPr>
          <p:cNvPr id="3" name="Rectangle 2">
            <a:extLst>
              <a:ext uri="{FF2B5EF4-FFF2-40B4-BE49-F238E27FC236}">
                <a16:creationId xmlns:a16="http://schemas.microsoft.com/office/drawing/2014/main" id="{85DBECB5-1886-498F-B050-F28EB9F1232E}"/>
              </a:ext>
              <a:ext uri="{C183D7F6-B498-43B3-948B-1728B52AA6E4}">
                <adec:decorative xmlns:adec="http://schemas.microsoft.com/office/drawing/2017/decorative" val="1"/>
              </a:ext>
            </a:extLst>
          </p:cNvPr>
          <p:cNvSpPr/>
          <p:nvPr/>
        </p:nvSpPr>
        <p:spPr bwMode="auto">
          <a:xfrm>
            <a:off x="5829300" y="1454185"/>
            <a:ext cx="6001208" cy="428183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86790332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584200" y="620428"/>
            <a:ext cx="11178264" cy="403137"/>
          </a:xfrm>
        </p:spPr>
        <p:txBody>
          <a:bodyPr/>
          <a:lstStyle/>
          <a:p>
            <a:r>
              <a:rPr lang="en-US" sz="2400" dirty="0"/>
              <a:t>Troubleshoot ExpressRoute connection issues </a:t>
            </a:r>
            <a:r>
              <a:rPr lang="en-US" dirty="0">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sp>
        <p:nvSpPr>
          <p:cNvPr id="6" name="Rectangle 5">
            <a:extLst>
              <a:ext uri="{FF2B5EF4-FFF2-40B4-BE49-F238E27FC236}">
                <a16:creationId xmlns:a16="http://schemas.microsoft.com/office/drawing/2014/main" id="{61BC68F2-350E-4BC1-9D25-F3B52EBA4534}"/>
              </a:ext>
              <a:ext uri="{C183D7F6-B498-43B3-948B-1728B52AA6E4}">
                <adec:decorative xmlns:adec="http://schemas.microsoft.com/office/drawing/2017/decorative" val="1"/>
              </a:ext>
            </a:extLst>
          </p:cNvPr>
          <p:cNvSpPr/>
          <p:nvPr/>
        </p:nvSpPr>
        <p:spPr>
          <a:xfrm>
            <a:off x="4754449" y="2194534"/>
            <a:ext cx="6991941"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sp>
        <p:nvSpPr>
          <p:cNvPr id="8" name="Rectangle 7">
            <a:extLst>
              <a:ext uri="{FF2B5EF4-FFF2-40B4-BE49-F238E27FC236}">
                <a16:creationId xmlns:a16="http://schemas.microsoft.com/office/drawing/2014/main" id="{74FB8EB5-9373-4BF7-A4F4-0EBE905EA0D8}"/>
              </a:ext>
              <a:ext uri="{C183D7F6-B498-43B3-948B-1728B52AA6E4}">
                <adec:decorative xmlns:adec="http://schemas.microsoft.com/office/drawing/2017/decorative" val="1"/>
              </a:ext>
            </a:extLst>
          </p:cNvPr>
          <p:cNvSpPr/>
          <p:nvPr/>
        </p:nvSpPr>
        <p:spPr>
          <a:xfrm>
            <a:off x="4770523" y="3019227"/>
            <a:ext cx="7045390"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cxnSp>
        <p:nvCxnSpPr>
          <p:cNvPr id="14" name="Straight Connector 13">
            <a:extLst>
              <a:ext uri="{FF2B5EF4-FFF2-40B4-BE49-F238E27FC236}">
                <a16:creationId xmlns:a16="http://schemas.microsoft.com/office/drawing/2014/main" id="{B8019769-3D92-44B8-B3D0-907648D9CF64}"/>
              </a:ext>
              <a:ext uri="{C183D7F6-B498-43B3-948B-1728B52AA6E4}">
                <adec:decorative xmlns:adec="http://schemas.microsoft.com/office/drawing/2017/decorative" val="1"/>
              </a:ext>
            </a:extLst>
          </p:cNvPr>
          <p:cNvCxnSpPr>
            <a:cxnSpLocks/>
          </p:cNvCxnSpPr>
          <p:nvPr/>
        </p:nvCxnSpPr>
        <p:spPr>
          <a:xfrm>
            <a:off x="4841850" y="3608958"/>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11" name="Straight Connector 10">
            <a:extLst>
              <a:ext uri="{FF2B5EF4-FFF2-40B4-BE49-F238E27FC236}">
                <a16:creationId xmlns:a16="http://schemas.microsoft.com/office/drawing/2014/main" id="{04762056-76B4-4807-B50E-B6EDF8CF973A}"/>
              </a:ext>
              <a:ext uri="{C183D7F6-B498-43B3-948B-1728B52AA6E4}">
                <adec:decorative xmlns:adec="http://schemas.microsoft.com/office/drawing/2017/decorative" val="1"/>
              </a:ext>
            </a:extLst>
          </p:cNvPr>
          <p:cNvCxnSpPr>
            <a:cxnSpLocks/>
          </p:cNvCxnSpPr>
          <p:nvPr/>
        </p:nvCxnSpPr>
        <p:spPr>
          <a:xfrm>
            <a:off x="4841850" y="4502205"/>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730526-2390-4516-8251-B739D51D80C3}"/>
              </a:ext>
            </a:extLst>
          </p:cNvPr>
          <p:cNvSpPr txBox="1"/>
          <p:nvPr/>
        </p:nvSpPr>
        <p:spPr>
          <a:xfrm>
            <a:off x="4754449" y="2086058"/>
            <a:ext cx="7045390" cy="646331"/>
          </a:xfrm>
          <a:prstGeom prst="rect">
            <a:avLst/>
          </a:prstGeom>
          <a:noFill/>
        </p:spPr>
        <p:txBody>
          <a:bodyPr wrap="square">
            <a:spAutoFit/>
          </a:bodyPr>
          <a:lstStyle/>
          <a:p>
            <a:r>
              <a:rPr lang="en-US" dirty="0">
                <a:hlinkClick r:id="rId4"/>
              </a:rPr>
              <a:t>Azure ExpressRoute: Verify Connectivity - Troubleshooting Guide | Microsoft Docs</a:t>
            </a:r>
            <a:endParaRPr lang="en-US" dirty="0"/>
          </a:p>
        </p:txBody>
      </p:sp>
      <p:sp>
        <p:nvSpPr>
          <p:cNvPr id="15" name="TextBox 14">
            <a:extLst>
              <a:ext uri="{FF2B5EF4-FFF2-40B4-BE49-F238E27FC236}">
                <a16:creationId xmlns:a16="http://schemas.microsoft.com/office/drawing/2014/main" id="{4B542044-9C9E-4392-946A-B07ABBADF85D}"/>
              </a:ext>
            </a:extLst>
          </p:cNvPr>
          <p:cNvSpPr txBox="1"/>
          <p:nvPr/>
        </p:nvSpPr>
        <p:spPr>
          <a:xfrm>
            <a:off x="4841850" y="2962627"/>
            <a:ext cx="6099462" cy="646331"/>
          </a:xfrm>
          <a:prstGeom prst="rect">
            <a:avLst/>
          </a:prstGeom>
          <a:noFill/>
        </p:spPr>
        <p:txBody>
          <a:bodyPr wrap="square">
            <a:spAutoFit/>
          </a:bodyPr>
          <a:lstStyle/>
          <a:p>
            <a:r>
              <a:rPr lang="en-US" dirty="0">
                <a:hlinkClick r:id="rId5"/>
              </a:rPr>
              <a:t>Troubleshoot network link performance: Azure | Microsoft Docs</a:t>
            </a:r>
            <a:endParaRPr lang="en-US" dirty="0"/>
          </a:p>
        </p:txBody>
      </p:sp>
      <p:sp>
        <p:nvSpPr>
          <p:cNvPr id="16" name="TextBox 15">
            <a:extLst>
              <a:ext uri="{FF2B5EF4-FFF2-40B4-BE49-F238E27FC236}">
                <a16:creationId xmlns:a16="http://schemas.microsoft.com/office/drawing/2014/main" id="{6CC89A40-36C5-4113-8B68-FD9904CE3773}"/>
              </a:ext>
            </a:extLst>
          </p:cNvPr>
          <p:cNvSpPr txBox="1"/>
          <p:nvPr/>
        </p:nvSpPr>
        <p:spPr>
          <a:xfrm>
            <a:off x="4841849" y="3855874"/>
            <a:ext cx="6957989" cy="369332"/>
          </a:xfrm>
          <a:prstGeom prst="rect">
            <a:avLst/>
          </a:prstGeom>
          <a:noFill/>
        </p:spPr>
        <p:txBody>
          <a:bodyPr wrap="square">
            <a:spAutoFit/>
          </a:bodyPr>
          <a:lstStyle/>
          <a:p>
            <a:r>
              <a:rPr lang="en-US" dirty="0">
                <a:hlinkClick r:id="rId6"/>
              </a:rPr>
              <a:t>Reset a failed circuit - ExpressRoute: PowerShell: Azure | Microsoft Docs</a:t>
            </a:r>
            <a:endParaRPr lang="en-US" dirty="0"/>
          </a:p>
        </p:txBody>
      </p:sp>
    </p:spTree>
    <p:extLst>
      <p:ext uri="{BB962C8B-B14F-4D97-AF65-F5344CB8AC3E}">
        <p14:creationId xmlns:p14="http://schemas.microsoft.com/office/powerpoint/2010/main" val="149354651"/>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DFE6B7-6700-4C4E-A754-B2FCB82CEC85}">
  <ds:schemaRefs>
    <ds:schemaRef ds:uri="http://schemas.microsoft.com/office/2006/documentManagement/types"/>
    <ds:schemaRef ds:uri="http://purl.org/dc/dcmitype/"/>
    <ds:schemaRef ds:uri="http://purl.org/dc/terms/"/>
    <ds:schemaRef ds:uri="1d16016b-1e11-4dbd-8bd0-b44cb6539c58"/>
    <ds:schemaRef ds:uri="http://www.w3.org/XML/1998/namespace"/>
    <ds:schemaRef ds:uri="http://schemas.microsoft.com/office/infopath/2007/PartnerControls"/>
    <ds:schemaRef ds:uri="http://schemas.openxmlformats.org/package/2006/metadata/core-properties"/>
    <ds:schemaRef ds:uri="e8bab37c-6053-4066-b569-fd9fbae908bd"/>
    <ds:schemaRef ds:uri="http://schemas.microsoft.com/sharepoint/v3"/>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8AF6F0FB-31B5-4B4F-AC66-9FF7EA40DF33}">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C122E1A-86ED-4F94-9B10-9F61C8021C5E}">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162</TotalTime>
  <Words>7968</Words>
  <Application>Microsoft Office PowerPoint</Application>
  <PresentationFormat>Widescreen</PresentationFormat>
  <Paragraphs>586</Paragraphs>
  <Slides>57</Slides>
  <Notes>44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57</vt:i4>
      </vt:variant>
    </vt:vector>
  </HeadingPairs>
  <TitlesOfParts>
    <vt:vector size="69" baseType="lpstr">
      <vt:lpstr>-apple-system</vt:lpstr>
      <vt:lpstr>Arial</vt:lpstr>
      <vt:lpstr>az_ea_font</vt:lpstr>
      <vt:lpstr>Calibri</vt:lpstr>
      <vt:lpstr>Calibri Light</vt:lpstr>
      <vt:lpstr>Segoe UI</vt:lpstr>
      <vt:lpstr>Segoe UI Semibold</vt:lpstr>
      <vt:lpstr>Symbol</vt:lpstr>
      <vt:lpstr>Verdana</vt:lpstr>
      <vt:lpstr>Wingdings</vt:lpstr>
      <vt:lpstr>office theme</vt:lpstr>
      <vt:lpstr>Microsoft Azure Template</vt:lpstr>
      <vt:lpstr>AZ-700T00A Module 03: Design and implement Azure ExpressRoute</vt:lpstr>
      <vt:lpstr>Module Overview</vt:lpstr>
      <vt:lpstr>Lesson 01: Explore Azure ExpressRoute</vt:lpstr>
      <vt:lpstr>Explore Azure ExpressRoute Overview</vt:lpstr>
      <vt:lpstr>ExpressRoute Capabilities</vt:lpstr>
      <vt:lpstr>Understand use cases for Azure ExpressRoute</vt:lpstr>
      <vt:lpstr>ExpressRoute connectivity models </vt:lpstr>
      <vt:lpstr>Design considerations for ExpressRoute deployments </vt:lpstr>
      <vt:lpstr>Bidirectional Forwarding Detection (BFD) with ExpressRoute Private Peering  </vt:lpstr>
      <vt:lpstr>Configure encryption over ExpressRoute</vt:lpstr>
      <vt:lpstr>Coexisting Site-to-Site and ExpressRoute</vt:lpstr>
      <vt:lpstr>Create a zone redundant VNET gateway in Azure Availability zones</vt:lpstr>
      <vt:lpstr>Design an ExpressRoute deployment Review</vt:lpstr>
      <vt:lpstr>Lesson 02: Design an ExpressRoute deployment</vt:lpstr>
      <vt:lpstr>Design an ExpressRoute deployment Overview</vt:lpstr>
      <vt:lpstr>ExpressRoute SKUs</vt:lpstr>
      <vt:lpstr>Choose a peering location </vt:lpstr>
      <vt:lpstr>Choose the right ExpressRoute Circuit and billing model</vt:lpstr>
      <vt:lpstr>Demonstration </vt:lpstr>
      <vt:lpstr>Design for an ExpressRoute deployment - Review</vt:lpstr>
      <vt:lpstr>Lesson 03: Exercise - Configure an ExpressRoute Gateway </vt:lpstr>
      <vt:lpstr>Exercise - Configure an ExpressRoute Gateway</vt:lpstr>
      <vt:lpstr>Lesson 04: Exercice - Provision an ExpressRoute circuit</vt:lpstr>
      <vt:lpstr>Exercise </vt:lpstr>
      <vt:lpstr>Lesson 05: Configure peering for an ExpressRoute deployment</vt:lpstr>
      <vt:lpstr>Configure peering for an ExpressRoute deployment Overview</vt:lpstr>
      <vt:lpstr>Configure Private peering </vt:lpstr>
      <vt:lpstr>Configure Microsoft peering </vt:lpstr>
      <vt:lpstr>Choose between private peering only, Microsoft peering only, or both</vt:lpstr>
      <vt:lpstr>Route filters </vt:lpstr>
      <vt:lpstr>Configure peering for an ExpressRoute deployment- Review</vt:lpstr>
      <vt:lpstr>Lesson 06: Connect an ExpressRoute circuit to a VNet</vt:lpstr>
      <vt:lpstr>Connect an ExpressRoute circuit to a VNet  Overview</vt:lpstr>
      <vt:lpstr>Connect virtual network to an ExpressRoute circuit </vt:lpstr>
      <vt:lpstr>Connect virtual network to an ExpressRoute circuit – continued </vt:lpstr>
      <vt:lpstr>Verify connection </vt:lpstr>
      <vt:lpstr>Connect an ExpressRoute circuit to a VNet - Review</vt:lpstr>
      <vt:lpstr>Lesson 07: Connect geographically dispersed networks with ExpressRoute Global Reach</vt:lpstr>
      <vt:lpstr>Connect geographically dispersed networks with ExpressRoute Global Reach Overview</vt:lpstr>
      <vt:lpstr>Use Cross-region connectivity to link multiple ExpressRoutes </vt:lpstr>
      <vt:lpstr>ExpressRoute Global Reach</vt:lpstr>
      <vt:lpstr>Configure ExpressRoute Global Reach</vt:lpstr>
      <vt:lpstr>Connect geographically dispersed networks with ExpressRoute Global Reach - Review</vt:lpstr>
      <vt:lpstr>Lesson 08: Improve data path performance between networks with ExpressRoute FastPath</vt:lpstr>
      <vt:lpstr>Improve data path performance between networks with ExpressRoute FastPath Overview</vt:lpstr>
      <vt:lpstr>ExpressRoute FastPath</vt:lpstr>
      <vt:lpstr>Configure ExpressRoute FastPath </vt:lpstr>
      <vt:lpstr>Improve data path performance between networks with ExpressRoute FastPath - Review</vt:lpstr>
      <vt:lpstr>Lesson 09: Troubleshoot ExpressRoute connection issues</vt:lpstr>
      <vt:lpstr>Troubleshoot ExpressRoute connection issues Overview</vt:lpstr>
      <vt:lpstr>Verify circuit provisioning and state</vt:lpstr>
      <vt:lpstr>Reset a failed circuit </vt:lpstr>
      <vt:lpstr>Validate Peering Configuration</vt:lpstr>
      <vt:lpstr>Validate ARP </vt:lpstr>
      <vt:lpstr>Troubleshooting network performance</vt:lpstr>
      <vt:lpstr>Troubleshoot ExpressRoute connection issues - Review</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Jill Leary</cp:lastModifiedBy>
  <cp:revision>7</cp:revision>
  <dcterms:created xsi:type="dcterms:W3CDTF">2021-06-18T15:01:00Z</dcterms:created>
  <dcterms:modified xsi:type="dcterms:W3CDTF">2022-04-25T22:50:02Z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
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8" r:id="rId5"/>
  </p:sldMasterIdLst>
  <p:notesMasterIdLst>
    <p:notesMasterId r:id="rId69"/>
  </p:notesMasterIdLst>
  <p:handoutMasterIdLst>
    <p:handoutMasterId r:id="rId70"/>
  </p:handoutMasterIdLst>
  <p:sldIdLst>
    <p:sldId id="1746" r:id="rId6"/>
    <p:sldId id="2076138193" r:id="rId7"/>
    <p:sldId id="1865" r:id="rId8"/>
    <p:sldId id="1779" r:id="rId9"/>
    <p:sldId id="1994" r:id="rId10"/>
    <p:sldId id="2336" r:id="rId11"/>
    <p:sldId id="2337" r:id="rId12"/>
    <p:sldId id="2352" r:id="rId13"/>
    <p:sldId id="1756" r:id="rId14"/>
    <p:sldId id="2341" r:id="rId15"/>
    <p:sldId id="2397" r:id="rId16"/>
    <p:sldId id="2546" r:id="rId17"/>
    <p:sldId id="2076138157" r:id="rId18"/>
    <p:sldId id="1780" r:id="rId19"/>
    <p:sldId id="2350" r:id="rId20"/>
    <p:sldId id="2076138158" r:id="rId21"/>
    <p:sldId id="2542" r:id="rId22"/>
    <p:sldId id="2076138177" r:id="rId23"/>
    <p:sldId id="2076138172" r:id="rId24"/>
    <p:sldId id="2076138159" r:id="rId25"/>
    <p:sldId id="2076137767" r:id="rId26"/>
    <p:sldId id="2076137766" r:id="rId27"/>
    <p:sldId id="2076138194" r:id="rId28"/>
    <p:sldId id="2076138160" r:id="rId29"/>
    <p:sldId id="2370" r:id="rId30"/>
    <p:sldId id="2375" r:id="rId31"/>
    <p:sldId id="2405" r:id="rId32"/>
    <p:sldId id="2406" r:id="rId33"/>
    <p:sldId id="2378" r:id="rId34"/>
    <p:sldId id="2076137781" r:id="rId35"/>
    <p:sldId id="2407" r:id="rId36"/>
    <p:sldId id="2549" r:id="rId37"/>
    <p:sldId id="2076138173" r:id="rId38"/>
    <p:sldId id="2076138183" r:id="rId39"/>
    <p:sldId id="2076137764" r:id="rId40"/>
    <p:sldId id="1781" r:id="rId41"/>
    <p:sldId id="2521" r:id="rId42"/>
    <p:sldId id="2522" r:id="rId43"/>
    <p:sldId id="2523" r:id="rId44"/>
    <p:sldId id="2076138184" r:id="rId45"/>
    <p:sldId id="2524" r:id="rId46"/>
    <p:sldId id="2532" r:id="rId47"/>
    <p:sldId id="2076138170" r:id="rId48"/>
    <p:sldId id="2076138175" r:id="rId49"/>
    <p:sldId id="2076138176" r:id="rId50"/>
    <p:sldId id="2076138135" r:id="rId51"/>
    <p:sldId id="2076138195" r:id="rId52"/>
    <p:sldId id="2076138166" r:id="rId53"/>
    <p:sldId id="2076138186" r:id="rId54"/>
    <p:sldId id="2076138188" r:id="rId55"/>
    <p:sldId id="2076138168" r:id="rId56"/>
    <p:sldId id="2134805861" r:id="rId57"/>
    <p:sldId id="2076138167" r:id="rId58"/>
    <p:sldId id="2496" r:id="rId59"/>
    <p:sldId id="2076138143" r:id="rId60"/>
    <p:sldId id="2076138153" r:id="rId61"/>
    <p:sldId id="2076138196" r:id="rId62"/>
    <p:sldId id="2076138169" r:id="rId63"/>
    <p:sldId id="2076138181" r:id="rId64"/>
    <p:sldId id="2076138180" r:id="rId65"/>
    <p:sldId id="2076138192" r:id="rId66"/>
    <p:sldId id="2076138154" r:id="rId67"/>
    <p:sldId id="2076138155"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 id="{9096F66B-FFF3-8A49-5E05-E5DA942D89B5}" name="Kyle Williams" initials="KW" userId="S::kywilli@microsoft.com::a0b5974d-b5a1-4c35-b8fb-c3ea27346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96" autoAdjust="0"/>
    <p:restoredTop sz="65006" autoAdjust="0"/>
  </p:normalViewPr>
  <p:slideViewPr>
    <p:cSldViewPr snapToGrid="0">
      <p:cViewPr varScale="1">
        <p:scale>
          <a:sx n="61" d="100"/>
          <a:sy n="61" d="100"/>
        </p:scale>
        <p:origin x="64" y="152"/>
      </p:cViewPr>
      <p:guideLst/>
    </p:cSldViewPr>
  </p:slideViewPr>
  <p:outlineViewPr>
    <p:cViewPr>
      <p:scale>
        <a:sx n="33" d="100"/>
        <a:sy n="33" d="100"/>
      </p:scale>
      <p:origin x="0" y="-1041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handoutMaster" Target="handoutMasters/handoutMaster1.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77B51-C45F-451C-9189-CEE9CF81BE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FBDA71-9B67-4D20-8161-0AE154045E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5E441-8A5E-461D-8AEF-D3C78BC7ECEF}" type="datetimeFigureOut">
              <a:rPr lang="en-US" smtClean="0"/>
              <a:t>4/6/2022</a:t>
            </a:fld>
            <a:endParaRPr lang="en-US"/>
          </a:p>
        </p:txBody>
      </p:sp>
      <p:sp>
        <p:nvSpPr>
          <p:cNvPr id="4" name="Footer Placeholder 3">
            <a:extLst>
              <a:ext uri="{FF2B5EF4-FFF2-40B4-BE49-F238E27FC236}">
                <a16:creationId xmlns:a16="http://schemas.microsoft.com/office/drawing/2014/main" id="{41250CFB-9DB7-447E-A4A7-7B044395E6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0430E61-DE2A-49FA-B1E3-78AB0CB51AC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352622-A03F-461D-9FDD-E306ABBF662F}" type="slidenum">
              <a:rPr lang="en-US" smtClean="0"/>
              <a:t>‹#›</a:t>
            </a:fld>
            <a:endParaRPr lang="en-US"/>
          </a:p>
        </p:txBody>
      </p:sp>
    </p:spTree>
    <p:extLst>
      <p:ext uri="{BB962C8B-B14F-4D97-AF65-F5344CB8AC3E}">
        <p14:creationId xmlns:p14="http://schemas.microsoft.com/office/powerpoint/2010/main" val="113441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4C573-DDE7-4816-8239-79FB69BB613D}" type="datetimeFigureOut">
              <a:rPr lang="en-US" smtClean="0"/>
              <a:t>4/6/2022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9185C-5C72-45C2-88F0-D7DF9039278A}" type="slidenum">
              <a:rPr lang="en-US" smtClean="0"/>
              <a:t>‹#›</a:t>
            </a:fld>
            <a:endParaRPr lang="en-US"/>
          </a:p>
        </p:txBody>
      </p:sp>
    </p:spTree>
    <p:extLst>
      <p:ext uri="{BB962C8B-B14F-4D97-AF65-F5344CB8AC3E}">
        <p14:creationId xmlns:p14="http://schemas.microsoft.com/office/powerpoint/2010/main" val="3427230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microsoft.com/en-us/azure/network-watcher/view-relative-latencies?toc=/azure/virtual-network/toc.json"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docs.microsoft.com/en-us/azure/availability-zones/az-overview?toc=/azure/virtual-network/toc.json" TargetMode="External"/><Relationship Id="rId4" Type="http://schemas.openxmlformats.org/officeDocument/2006/relationships/hyperlink" Target="https://azure.microsoft.com/global-infrastructure/geographies/"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microsoft.com/en-us/azure/virtual-network/virtual-network-public-ip-address"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docs.microsoft.com/en-us/azure/virtual-network/ip-services/public-ip-addresses#at-a-glance"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1/Module%2001%20Introduction%20to%20Azure%20Virtual%20Networks/4-exercise-design-implement-virtual-network-azure.md"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microsoft.com/en-us/azure/dns/dns-overview"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cs.microsoft.com/azure/dns/dns-domain-delegation"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s://docs.microsoft.com/en-us/azure/dns/dns-domain-delegation" TargetMode="External"/><Relationship Id="rId4" Type="http://schemas.openxmlformats.org/officeDocument/2006/relationships/hyperlink" Target="https://docs.microsoft.com/en-us/azure/app-service/manage-custom-dns-buy-domain#buy-an-app-service-domain"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ocs.microsoft.com/en-us/azure/dns/dns-zones-records#record-name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docs.microsoft.com/azure/dns/private-dns-overview#benefits"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contoso.internal.com/"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s://docs.microsoft.com/windows-server/administration/windows-commands/nslookup"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1/Module%2001%20Introduction%20to%20Azure%20Virtual%20Networks/6-exercise-configure-dns-configuration-azure.md"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microsoftlearning.github.io/AZ-700-Designing-and-Implementing-Microsoft-Azure-Networking-Solutions/Instructions/Exercises/M01-Unit%206%20Configure%20DNS%20settings%20in%20Azure.html"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docs.microsoft.com/en-us/azure/virtual-network/virtual-network-manage-peering#permissions"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microsoft.com/en-us/azure/vpn-gateway/vpn-gateway-peering-gateway-transit"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docs.microsoft.com/en-us/azure/virtual-network/virtual-network-peering-overview#gateways-and-on-premises-connectivity"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ocs.microsoft.com/en-us/learn/modules/integrate-vnets-with-vnet-peering/" TargetMode="External"/><Relationship Id="rId2" Type="http://schemas.openxmlformats.org/officeDocument/2006/relationships/slide" Target="../slides/slide41.xml"/><Relationship Id="rId1" Type="http://schemas.openxmlformats.org/officeDocument/2006/relationships/notesMaster" Target="../notesMasters/notesMaster1.xml"/><Relationship Id="rId5" Type="http://schemas.openxmlformats.org/officeDocument/2006/relationships/hyperlink" Target="https://docs.microsoft.com/en-us/azure/architecture/reference-architectures/hybrid-networking/hub-spoke?toc=%2fazure%2fvirtual-network%2ftoc.json" TargetMode="External"/><Relationship Id="rId4" Type="http://schemas.openxmlformats.org/officeDocument/2006/relationships/hyperlink" Target="https://docs.microsoft.com/en-us/azure/virtual-network/virtual-networks-udr-overview#user-defined" TargetMode="Externa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microsoftlearning.github.io/AZ-700-Designing-and-Implementing-Microsoft-Azure-Networking-Solutions/Instructions/Exercises/M01-Unit%208%20Connect%20two%20Azure%20Virtual%20Networks%20using%20global%20virtual%20network%20peering.html"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docs.microsoft.com/en-us/azure/virtual-network/virtual-networks-udr-overview#:~:text=Azure%20routes%20outbound%20traffic%20from%20a%20subnet%20based,can%20override%20some%20system%20routes%20with%20custom%20route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docs.microsoft.com/en-us/azure/virtual-network/virtual-network-network-interface#permissions"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docs.microsoft.com/en-us/azure/virtual-network/nat-gateway/tutorial-create-nat-gateway-portal"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12615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4148104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11810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Capabilities of Azure Virtual Networks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VNet enables resources in Azure resources to securely communicate with each other, the internet, and on-premises networks. </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Communication with the internet.</a:t>
            </a:r>
            <a:r>
              <a:rPr lang="en-US" sz="1800" dirty="0">
                <a:effectLst/>
                <a:latin typeface="Calibri" panose="020F0502020204030204" pitchFamily="34" charset="0"/>
                <a:ea typeface="Calibri" panose="020F0502020204030204" pitchFamily="34" charset="0"/>
                <a:cs typeface="Times New Roman" panose="02020603050405020304" pitchFamily="18" charset="0"/>
              </a:rPr>
              <a:t> All resources in a VNet can communicate outbound to the internet, by default. You can communicate inbound to a resource by assigning a public IP address or a public Load Balancer. You can also use public IP or public Load Balancer to manage your outbound connections.</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Communication between Azure resources.</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There are three key mechanisms through which Azure resource can communicate: VNets, VNet service endpoints and VNet peering. Virtual Networks can connect not only VMs, but other Azure Resources, such as the App Service Environment, Azure Kubernetes Service, and Azure VM Scale sets. You can use service endpoints to connect to other Azure resource types, such as Azure SQL databases and storage accounts. When you create a VNet, your services and VMs within your VNet can communication directly and securely with each other in the cloud.</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Communication between on-premises resources.</a:t>
            </a:r>
            <a:r>
              <a:rPr lang="en-US" sz="1800" dirty="0">
                <a:effectLst/>
                <a:latin typeface="Calibri" panose="020F0502020204030204" pitchFamily="34" charset="0"/>
                <a:ea typeface="Calibri" panose="020F0502020204030204" pitchFamily="34" charset="0"/>
                <a:cs typeface="Times New Roman" panose="02020603050405020304" pitchFamily="18" charset="0"/>
              </a:rPr>
              <a:t> Securely extend your data center. You can connect your on-premises computers and networks to a virtual network using any of the following options: Point-to-site virtual private network (VPN), Site-to-site VPN, Azure ExpressRoute. </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Filtering network traffic.</a:t>
            </a:r>
            <a:r>
              <a:rPr lang="en-US" sz="1800" dirty="0">
                <a:effectLst/>
                <a:latin typeface="Calibri" panose="020F0502020204030204" pitchFamily="34" charset="0"/>
                <a:ea typeface="Calibri" panose="020F0502020204030204" pitchFamily="34" charset="0"/>
                <a:cs typeface="Times New Roman" panose="02020603050405020304" pitchFamily="18" charset="0"/>
              </a:rPr>
              <a:t> You can filter network traffic between subnets using any combination of network security groups and network virtual appliances like firewalls, gateways, proxies, and Network Address Translation (NAT) services.</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Routing network traffic.</a:t>
            </a:r>
            <a:r>
              <a:rPr lang="en-US" sz="1800" dirty="0">
                <a:effectLst/>
                <a:latin typeface="Calibri" panose="020F0502020204030204" pitchFamily="34" charset="0"/>
                <a:ea typeface="Calibri" panose="020F0502020204030204" pitchFamily="34" charset="0"/>
                <a:cs typeface="Times New Roman" panose="02020603050405020304" pitchFamily="18" charset="0"/>
              </a:rPr>
              <a:t> Azure routes traffic between subnets, connected virtual networks, on-premises networks, and the Internet, by default. You can implement route tables or border gateway protocol (BGP) routes to override the default routes Azure creates.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597945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Azure Virtual Networks - https://azure.microsoft.com/services/virtual-network/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Azure Virtual Network? - https://docs.microsoft.com/azure/virtual-network/virtual-networks-overview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lgn="l">
              <a:buFont typeface="Arial" panose="020B0604020202020204" pitchFamily="34" charset="0"/>
              <a:buChar char="•"/>
            </a:pPr>
            <a:r>
              <a:rPr lang="en-US" sz="2800" b="1" i="0" dirty="0">
                <a:solidFill>
                  <a:srgbClr val="171717"/>
                </a:solidFill>
                <a:effectLst/>
                <a:latin typeface="Segoe UI" panose="020B0502040204020203" pitchFamily="34" charset="0"/>
              </a:rPr>
              <a:t>Address space:</a:t>
            </a:r>
            <a:r>
              <a:rPr lang="en-US" sz="2800" b="0" i="0" dirty="0">
                <a:solidFill>
                  <a:srgbClr val="171717"/>
                </a:solidFill>
                <a:effectLst/>
                <a:latin typeface="Segoe UI" panose="020B0502040204020203" pitchFamily="34" charset="0"/>
              </a:rPr>
              <a:t> When creating a VNet, you must specify a custom private IP address space using public and private (RFC 1918) addresses. Azure assigns resources in a virtual network a private IP address from the address space that you assign. For example, if you deploy a VM in a VNet with address space, 10.0.0.0/16, the VM will be assigned a private IP like 10.0.0.4.</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490994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 </a:t>
            </a:r>
            <a:r>
              <a:rPr lang="en-US" b="1" i="0" dirty="0">
                <a:solidFill>
                  <a:srgbClr val="000000"/>
                </a:solidFill>
                <a:effectLst/>
                <a:latin typeface="Segoe UI VSS (Regular)"/>
              </a:rPr>
              <a:t> </a:t>
            </a:r>
            <a:r>
              <a:rPr lang="en-US" b="0" i="0" dirty="0">
                <a:solidFill>
                  <a:srgbClr val="000000"/>
                </a:solidFill>
                <a:effectLst/>
                <a:latin typeface="Segoe UI VSS (Regular)"/>
              </a:rPr>
              <a:t>Azure reserves 5 IP addresses within each subnet.</a:t>
            </a:r>
          </a:p>
          <a:p>
            <a:pPr algn="l"/>
            <a:endParaRPr lang="en-US" b="0" i="0" dirty="0">
              <a:solidFill>
                <a:srgbClr val="000000"/>
              </a:solidFill>
              <a:effectLst/>
              <a:latin typeface="Segoe UI VSS (Regular)"/>
            </a:endParaRPr>
          </a:p>
          <a:p>
            <a:pPr algn="l">
              <a:buFont typeface="Arial" panose="020B0604020202020204" pitchFamily="34" charset="0"/>
              <a:buChar char="•"/>
            </a:pPr>
            <a:r>
              <a:rPr lang="en-US" b="0" i="0" dirty="0">
                <a:solidFill>
                  <a:srgbClr val="000000"/>
                </a:solidFill>
                <a:effectLst/>
                <a:latin typeface="Segoe UI VSS (Regular)"/>
              </a:rPr>
              <a:t> x.x.x.0: Network address</a:t>
            </a: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b="0" i="0" dirty="0">
                <a:solidFill>
                  <a:srgbClr val="000000"/>
                </a:solidFill>
                <a:effectLst/>
                <a:latin typeface="Segoe UI VSS (Regular)"/>
              </a:rPr>
              <a:t> x.x.x.1: Reserved by Azure for the default gateway</a:t>
            </a: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b="0" i="0" dirty="0">
                <a:solidFill>
                  <a:srgbClr val="000000"/>
                </a:solidFill>
                <a:effectLst/>
                <a:latin typeface="Segoe UI VSS (Regular)"/>
              </a:rPr>
              <a:t> x.x.x.2, x.x.x.3: Reserved by Azure to map the Azure DNS IPs to the VNet space</a:t>
            </a:r>
          </a:p>
          <a:p>
            <a:pPr algn="l">
              <a:buFont typeface="Arial" panose="020B0604020202020204" pitchFamily="34" charset="0"/>
              <a:buChar char="•"/>
            </a:pPr>
            <a:r>
              <a:rPr lang="en-US" b="0" i="0" dirty="0">
                <a:solidFill>
                  <a:srgbClr val="000000"/>
                </a:solidFill>
                <a:effectLst/>
                <a:latin typeface="Segoe UI VSS (Regular)"/>
              </a:rPr>
              <a:t> x.x.x.255: Network broadcast address</a:t>
            </a:r>
          </a:p>
          <a:p>
            <a:pPr algn="l">
              <a:buFont typeface="Arial" panose="020B0604020202020204" pitchFamily="34" charset="0"/>
              <a:buChar char="•"/>
            </a:pPr>
            <a:endParaRPr lang="en-US" b="0" i="0" dirty="0">
              <a:solidFill>
                <a:srgbClr val="000000"/>
              </a:solidFill>
              <a:effectLst/>
              <a:latin typeface="Segoe UI VSS (Regular)"/>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segment VNets into smaller subnets, creating as many subnets as you require within the subscription limit. You can then deploy Azure resources in a specific subnet. Just like in a traditional network, subnets allow you to segment your VNet address space into segments that are appropriate for the organization's internal network. This also improves address allocation efficiency. When planning to implement subnets, you need to consider the following:</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Each subnet must have a unique address range, specified in Classless Inter-Domain Routing (CIDR) format.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Certain Azure services require their own subnet.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Subnets can be used for traffic management. For example, you can create subnets to route traffic through a network virtual appliance.</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limit access to Azure resources to specific subnets with a virtual network service endpoint. You can create multiple subnets, and enable a service endpoint for some subnets, but not others.  </a:t>
            </a:r>
          </a:p>
          <a:p>
            <a:pPr marL="342900" marR="0" lvl="0" indent="-342900">
              <a:spcBef>
                <a:spcPts val="0"/>
              </a:spcBef>
              <a:spcAft>
                <a:spcPts val="1000"/>
              </a:spcAft>
              <a:buFont typeface="Symbol" panose="05050102010706020507" pitchFamily="18" charset="2"/>
              <a:buChar char=""/>
            </a:pPr>
            <a:r>
              <a:rPr lang="en-US" b="0" i="0" dirty="0">
                <a:solidFill>
                  <a:srgbClr val="171717"/>
                </a:solidFill>
                <a:effectLst/>
                <a:latin typeface="Segoe UI" panose="020B0502040204020203" pitchFamily="34" charset="0"/>
              </a:rPr>
              <a:t>You can secure resources within subnets using Network Security Groups. </a:t>
            </a:r>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1842464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Private IP addresses - https://docs.microsoft.com/azure/virtual-network/private-ip-addresses</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3740782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dirty="0">
                <a:solidFill>
                  <a:srgbClr val="000000"/>
                </a:solidFill>
                <a:effectLst/>
                <a:latin typeface="Calibri" panose="020F0502020204030204" pitchFamily="34" charset="0"/>
              </a:rPr>
              <a:t>https://docs.microsoft.com/azure/networking/microsoft-global-network</a:t>
            </a:r>
            <a:r>
              <a:rPr lang="en-US" sz="5400" dirty="0"/>
              <a:t> </a:t>
            </a:r>
          </a:p>
          <a:p>
            <a:pPr algn="l"/>
            <a:r>
              <a:rPr lang="en-US" sz="5400" dirty="0"/>
              <a:t>https://docs.microsoft.com/azure/virtual-network/virtual-network-vnet-plan-design-arm#connectivity</a:t>
            </a:r>
          </a:p>
          <a:p>
            <a:pPr algn="l"/>
            <a:endParaRPr lang="en-US" sz="4000" b="0" i="0" dirty="0">
              <a:solidFill>
                <a:srgbClr val="171717"/>
              </a:solidFill>
              <a:effectLst/>
              <a:latin typeface="Segoe UI" panose="020B0502040204020203" pitchFamily="34" charset="0"/>
            </a:endParaRPr>
          </a:p>
          <a:p>
            <a:pPr algn="l"/>
            <a:r>
              <a:rPr lang="en-US" sz="4000" b="0" i="0" dirty="0">
                <a:solidFill>
                  <a:srgbClr val="171717"/>
                </a:solidFill>
                <a:effectLst/>
                <a:latin typeface="Segoe UI" panose="020B0502040204020203" pitchFamily="34" charset="0"/>
              </a:rPr>
              <a:t>All Azure resources are created in an Azure region and subscription. A resource can only be created in a virtual network that exists in the same region and subscription as the resource. You can however, connect virtual networks that exist in different subscriptions and regions. When deciding which region(s) to deploy resources in, consider where consumers of the resources are physically located:</a:t>
            </a:r>
          </a:p>
          <a:p>
            <a:pPr algn="l">
              <a:buFont typeface="Arial" panose="020B0604020202020204" pitchFamily="34" charset="0"/>
              <a:buChar char="•"/>
            </a:pPr>
            <a:endParaRPr lang="en-US" sz="4000" b="0" i="0" dirty="0">
              <a:solidFill>
                <a:srgbClr val="171717"/>
              </a:solidFill>
              <a:effectLst/>
              <a:latin typeface="Segoe UI" panose="020B0502040204020203" pitchFamily="34" charset="0"/>
            </a:endParaRPr>
          </a:p>
          <a:p>
            <a:pPr algn="l">
              <a:buFont typeface="Arial" panose="020B0604020202020204" pitchFamily="34" charset="0"/>
              <a:buChar char="•"/>
            </a:pPr>
            <a:r>
              <a:rPr lang="en-US" sz="4000" b="0" i="0" dirty="0">
                <a:solidFill>
                  <a:srgbClr val="171717"/>
                </a:solidFill>
                <a:effectLst/>
                <a:latin typeface="Segoe UI" panose="020B0502040204020203" pitchFamily="34" charset="0"/>
              </a:rPr>
              <a:t> Consumers of resources typically want the lowest network latency to their resources. To determine relative latencies between a specified location and Azure regions, see </a:t>
            </a:r>
            <a:r>
              <a:rPr lang="en-US" sz="4000" b="0" i="0" u="none" strike="noStrike" dirty="0">
                <a:solidFill>
                  <a:srgbClr val="171717"/>
                </a:solidFill>
                <a:effectLst/>
                <a:latin typeface="Segoe UI" panose="020B0502040204020203" pitchFamily="34" charset="0"/>
                <a:hlinkClick r:id="rId3"/>
              </a:rPr>
              <a:t>View relative latencies</a:t>
            </a:r>
            <a:r>
              <a:rPr lang="en-US" sz="4000" b="0" i="0" dirty="0">
                <a:solidFill>
                  <a:srgbClr val="171717"/>
                </a:solidFill>
                <a:effectLst/>
                <a:latin typeface="Segoe UI" panose="020B0502040204020203" pitchFamily="34" charset="0"/>
              </a:rPr>
              <a:t>.</a:t>
            </a:r>
          </a:p>
          <a:p>
            <a:pPr algn="l">
              <a:buFont typeface="Arial" panose="020B0604020202020204" pitchFamily="34" charset="0"/>
              <a:buNone/>
            </a:pPr>
            <a:r>
              <a:rPr lang="en-US" sz="4000" b="0" i="0" dirty="0">
                <a:solidFill>
                  <a:srgbClr val="171717"/>
                </a:solidFill>
                <a:effectLst/>
                <a:latin typeface="Segoe UI" panose="020B0502040204020203" pitchFamily="34" charset="0"/>
              </a:rPr>
              <a:t>https://docs.microsoft.com/azure/network-watcher/view-relative-latencies?toc=/azure/virtual-network/toc.json</a:t>
            </a:r>
          </a:p>
          <a:p>
            <a:pPr algn="l">
              <a:buFont typeface="Arial" panose="020B0604020202020204" pitchFamily="34" charset="0"/>
              <a:buChar char="•"/>
            </a:pPr>
            <a:endParaRPr lang="en-US" sz="4000" b="0" i="0" dirty="0">
              <a:solidFill>
                <a:srgbClr val="171717"/>
              </a:solidFill>
              <a:effectLst/>
              <a:latin typeface="Segoe UI" panose="020B0502040204020203" pitchFamily="34" charset="0"/>
            </a:endParaRPr>
          </a:p>
          <a:p>
            <a:pPr algn="l">
              <a:buFont typeface="Arial" panose="020B0604020202020204" pitchFamily="34" charset="0"/>
              <a:buChar char="•"/>
            </a:pPr>
            <a:r>
              <a:rPr lang="en-US" sz="4000" b="0" i="0" dirty="0">
                <a:solidFill>
                  <a:srgbClr val="171717"/>
                </a:solidFill>
                <a:effectLst/>
                <a:latin typeface="Segoe UI" panose="020B0502040204020203" pitchFamily="34" charset="0"/>
              </a:rPr>
              <a:t> Do you have data residency, sovereignty, compliance, or resiliency requirements? If so, choosing the region that aligns to the requirements is critical. For more information, see </a:t>
            </a:r>
            <a:r>
              <a:rPr lang="en-US" sz="4000" b="0" i="0" u="none" strike="noStrike" dirty="0">
                <a:solidFill>
                  <a:srgbClr val="171717"/>
                </a:solidFill>
                <a:effectLst/>
                <a:latin typeface="Segoe UI" panose="020B0502040204020203" pitchFamily="34" charset="0"/>
                <a:hlinkClick r:id="rId4"/>
              </a:rPr>
              <a:t>Azure geographies</a:t>
            </a:r>
            <a:r>
              <a:rPr lang="en-US" sz="4000" b="0" i="0" dirty="0">
                <a:solidFill>
                  <a:srgbClr val="171717"/>
                </a:solidFill>
                <a:effectLst/>
                <a:latin typeface="Segoe UI" panose="020B0502040204020203" pitchFamily="34" charset="0"/>
              </a:rPr>
              <a:t>.</a:t>
            </a:r>
          </a:p>
          <a:p>
            <a:pPr algn="l">
              <a:buFont typeface="Arial" panose="020B0604020202020204" pitchFamily="34" charset="0"/>
              <a:buNone/>
            </a:pPr>
            <a:r>
              <a:rPr lang="en-US" sz="4000" b="0" i="0" dirty="0">
                <a:solidFill>
                  <a:srgbClr val="171717"/>
                </a:solidFill>
                <a:effectLst/>
                <a:latin typeface="Segoe UI" panose="020B0502040204020203" pitchFamily="34" charset="0"/>
              </a:rPr>
              <a:t>https://azure.microsoft.com/global-infrastructure/geographies/</a:t>
            </a:r>
          </a:p>
          <a:p>
            <a:pPr algn="l">
              <a:buFont typeface="Arial" panose="020B0604020202020204" pitchFamily="34" charset="0"/>
              <a:buNone/>
            </a:pPr>
            <a:endParaRPr lang="en-US" sz="4000" b="0" i="0" dirty="0">
              <a:solidFill>
                <a:srgbClr val="171717"/>
              </a:solidFill>
              <a:effectLst/>
              <a:latin typeface="Segoe UI" panose="020B0502040204020203" pitchFamily="34" charset="0"/>
            </a:endParaRPr>
          </a:p>
          <a:p>
            <a:pPr algn="l">
              <a:buFont typeface="Arial" panose="020B0604020202020204" pitchFamily="34" charset="0"/>
              <a:buChar char="•"/>
            </a:pPr>
            <a:r>
              <a:rPr lang="en-US" sz="4000" b="0" i="0" dirty="0">
                <a:solidFill>
                  <a:srgbClr val="171717"/>
                </a:solidFill>
                <a:effectLst/>
                <a:latin typeface="Segoe UI" panose="020B0502040204020203" pitchFamily="34" charset="0"/>
              </a:rPr>
              <a:t> Do you require resiliency across Azure Availability Zones within the same Azure region for the resources you deploy? You can deploy resources, such as virtual machines (VM) to different availability zones within the same virtual network. Not all Azure regions support availability zones however. To learn more about availability zones and the regions that support them, see </a:t>
            </a:r>
            <a:r>
              <a:rPr lang="en-US" sz="4000" b="0" i="0" u="none" strike="noStrike" dirty="0">
                <a:solidFill>
                  <a:srgbClr val="171717"/>
                </a:solidFill>
                <a:effectLst/>
                <a:latin typeface="Segoe UI" panose="020B0502040204020203" pitchFamily="34" charset="0"/>
                <a:hlinkClick r:id="rId5"/>
              </a:rPr>
              <a:t>Availability zones</a:t>
            </a:r>
            <a:r>
              <a:rPr lang="en-US" sz="4000" b="0" i="0" dirty="0">
                <a:solidFill>
                  <a:srgbClr val="171717"/>
                </a:solidFill>
                <a:effectLst/>
                <a:latin typeface="Segoe UI" panose="020B0502040204020203" pitchFamily="34" charset="0"/>
              </a:rPr>
              <a:t>. </a:t>
            </a:r>
          </a:p>
          <a:p>
            <a:pPr algn="l">
              <a:buFont typeface="Arial" panose="020B0604020202020204" pitchFamily="34" charset="0"/>
              <a:buNone/>
            </a:pPr>
            <a:r>
              <a:rPr lang="en-US" sz="4000" b="0" i="0" dirty="0">
                <a:solidFill>
                  <a:srgbClr val="171717"/>
                </a:solidFill>
                <a:effectLst/>
                <a:latin typeface="Segoe UI" panose="020B0502040204020203" pitchFamily="34" charset="0"/>
              </a:rPr>
              <a:t>https://docs.microsoft.com/azure/availability-zones/az-overview?toc=/azure/virtual-network/toc.json</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l"/>
            <a:r>
              <a:rPr lang="en-US" sz="2800" b="1" i="0" dirty="0">
                <a:solidFill>
                  <a:srgbClr val="171717"/>
                </a:solidFill>
                <a:effectLst/>
                <a:latin typeface="Segoe UI" panose="020B0502040204020203" pitchFamily="34" charset="0"/>
              </a:rPr>
              <a:t>Regional/global presence</a:t>
            </a:r>
          </a:p>
          <a:p>
            <a:pPr algn="l"/>
            <a:r>
              <a:rPr lang="en-US" sz="2800" b="0" i="0" dirty="0">
                <a:solidFill>
                  <a:srgbClr val="171717"/>
                </a:solidFill>
                <a:effectLst/>
                <a:latin typeface="Segoe UI" panose="020B0502040204020203" pitchFamily="34" charset="0"/>
              </a:rPr>
              <a:t>Azure datacenters exist in many regions worldwide. When selecting multiple Azure datacenters, consider two related factors: geographical distances and latency. To optimize user experience, evaluate the distance between each virtual datacenter as well as the distance from each virtual datacenter to the end users.</a:t>
            </a:r>
          </a:p>
          <a:p>
            <a:pPr algn="l"/>
            <a:r>
              <a:rPr lang="en-US" sz="2800" b="0" i="0" dirty="0">
                <a:solidFill>
                  <a:srgbClr val="171717"/>
                </a:solidFill>
                <a:effectLst/>
                <a:latin typeface="Segoe UI" panose="020B0502040204020203" pitchFamily="34" charset="0"/>
              </a:rPr>
              <a:t>An Azure region that hosts your virtual datacenter must conform with regulatory requirements of any legal jurisdiction under which your organization operates.</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1865787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 Create a virtual network using the Azure portal - https://docs.microsoft.com/azure/virtual-network/quick-create-portal</a:t>
            </a:r>
          </a:p>
          <a:p>
            <a:endParaRPr lang="en-US" dirty="0"/>
          </a:p>
          <a:p>
            <a:endParaRPr lang="en-US" dirty="0"/>
          </a:p>
          <a:p>
            <a:r>
              <a:rPr lang="en-US" dirty="0"/>
              <a:t>✔️ Always plan to use an address space that is not already in use in your organization, either on-premises or in other VNets. Even if you plan for a VNet to be cloud-only, you may want to make a VPN connection to it later. If there is any overlap in address spaces at that point, you will have to reconfigure or recreate the VNet. The next lesson will focus on IP addressing.</a:t>
            </a:r>
          </a:p>
          <a:p>
            <a:endParaRPr lang="en-US" dirty="0"/>
          </a:p>
          <a:p>
            <a:pPr algn="l"/>
            <a:r>
              <a:rPr lang="en-US" b="1" i="0" dirty="0">
                <a:solidFill>
                  <a:srgbClr val="171717"/>
                </a:solidFill>
                <a:effectLst/>
                <a:latin typeface="Segoe UI" panose="020B0502040204020203" pitchFamily="34" charset="0"/>
              </a:rPr>
              <a:t>Best practices</a:t>
            </a:r>
          </a:p>
          <a:p>
            <a:pPr algn="l"/>
            <a:r>
              <a:rPr lang="en-US" b="0" i="0" dirty="0">
                <a:solidFill>
                  <a:srgbClr val="171717"/>
                </a:solidFill>
                <a:effectLst/>
                <a:latin typeface="Segoe UI" panose="020B0502040204020203" pitchFamily="34" charset="0"/>
              </a:rPr>
              <a:t>As you build your network in Azure, it is important to keep in mind the following universal design principles:</a:t>
            </a:r>
          </a:p>
          <a:p>
            <a:pPr algn="l">
              <a:buFont typeface="Arial" panose="020B0604020202020204" pitchFamily="34" charset="0"/>
              <a:buChar char="•"/>
            </a:pPr>
            <a:r>
              <a:rPr lang="en-US" b="0" i="0" dirty="0">
                <a:solidFill>
                  <a:srgbClr val="171717"/>
                </a:solidFill>
                <a:effectLst/>
                <a:latin typeface="Segoe UI" panose="020B0502040204020203" pitchFamily="34" charset="0"/>
              </a:rPr>
              <a:t>Ensure non-overlapping address spaces. Make sure your VNet address space (CIDR block) does not overlap with your organization's other network ranges.</a:t>
            </a:r>
          </a:p>
          <a:p>
            <a:pPr algn="l">
              <a:buFont typeface="Arial" panose="020B0604020202020204" pitchFamily="34" charset="0"/>
              <a:buChar char="•"/>
            </a:pPr>
            <a:r>
              <a:rPr lang="en-US" b="0" i="0" dirty="0">
                <a:solidFill>
                  <a:srgbClr val="171717"/>
                </a:solidFill>
                <a:effectLst/>
                <a:latin typeface="Segoe UI" panose="020B0502040204020203" pitchFamily="34" charset="0"/>
              </a:rPr>
              <a:t>Your subnets should not cover the entire address space of the VNet. Plan ahead and reserve some address space for the future.</a:t>
            </a:r>
          </a:p>
          <a:p>
            <a:pPr algn="l">
              <a:buFont typeface="Arial" panose="020B0604020202020204" pitchFamily="34" charset="0"/>
              <a:buChar char="•"/>
            </a:pPr>
            <a:r>
              <a:rPr lang="en-US" b="0" i="0" dirty="0">
                <a:solidFill>
                  <a:srgbClr val="171717"/>
                </a:solidFill>
                <a:effectLst/>
                <a:latin typeface="Segoe UI" panose="020B0502040204020203" pitchFamily="34" charset="0"/>
              </a:rPr>
              <a:t>It is recommended you have fewer large VNets rather than multiple small VNets. This will prevent management overhead. (</a:t>
            </a:r>
            <a:r>
              <a:rPr lang="en-US" b="0" i="0" dirty="0">
                <a:solidFill>
                  <a:srgbClr val="000000"/>
                </a:solidFill>
                <a:effectLst/>
                <a:latin typeface="Segoe UI VSS (Regular)"/>
              </a:rPr>
              <a:t> 5 IP address not usable per subnet due to Azure reserving them)</a:t>
            </a:r>
            <a:endParaRPr lang="en-US" b="0" i="0" dirty="0">
              <a:solidFill>
                <a:srgbClr val="171717"/>
              </a:solidFill>
              <a:effectLst/>
              <a:latin typeface="Segoe UI" panose="020B0502040204020203" pitchFamily="34" charset="0"/>
            </a:endParaRPr>
          </a:p>
          <a:p>
            <a:pPr algn="l">
              <a:buFont typeface="Arial" panose="020B0604020202020204" pitchFamily="34" charset="0"/>
              <a:buChar char="•"/>
            </a:pPr>
            <a:r>
              <a:rPr lang="en-US" b="0" i="0" dirty="0">
                <a:solidFill>
                  <a:srgbClr val="171717"/>
                </a:solidFill>
                <a:effectLst/>
                <a:latin typeface="Segoe UI" panose="020B0502040204020203" pitchFamily="34" charset="0"/>
              </a:rPr>
              <a:t>Secure your </a:t>
            </a:r>
            <a:r>
              <a:rPr lang="en-US" b="0" i="0" dirty="0" err="1">
                <a:solidFill>
                  <a:srgbClr val="171717"/>
                </a:solidFill>
                <a:effectLst/>
                <a:latin typeface="Segoe UI" panose="020B0502040204020203" pitchFamily="34" charset="0"/>
              </a:rPr>
              <a:t>VNet's</a:t>
            </a:r>
            <a:r>
              <a:rPr lang="en-US" b="0" i="0" dirty="0">
                <a:solidFill>
                  <a:srgbClr val="171717"/>
                </a:solidFill>
                <a:effectLst/>
                <a:latin typeface="Segoe UI" panose="020B0502040204020203" pitchFamily="34" charset="0"/>
              </a:rPr>
              <a:t> by assigning Network Security Groups (NSGs) to the subnets beneath them.</a:t>
            </a:r>
          </a:p>
          <a:p>
            <a:endParaRPr lang="en-US" b="1"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470181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showing students how to create a Virtual network in the Azure portal or PowerShell – consider their next exercise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11</a:t>
            </a:fld>
            <a:endParaRPr lang="en-US"/>
          </a:p>
        </p:txBody>
      </p:sp>
    </p:spTree>
    <p:extLst>
      <p:ext uri="{BB962C8B-B14F-4D97-AF65-F5344CB8AC3E}">
        <p14:creationId xmlns:p14="http://schemas.microsoft.com/office/powerpoint/2010/main" val="4032834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https://docs.microsoft.com/learn/browse/</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12</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41481041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34380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Public IP addresses - https://docs.microsoft.com/azure/virtual-network/public-ip-addresses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cs typeface="Calibri" panose="020F0502020204030204"/>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Azure Resource Manager, a </a:t>
            </a:r>
            <a:r>
              <a:rPr lang="en-US" sz="1800" u="none" strike="noStrike" dirty="0">
                <a:effectLst/>
                <a:latin typeface="Calibri" panose="020F0502020204030204" pitchFamily="34" charset="0"/>
                <a:ea typeface="Calibri" panose="020F0502020204030204" pitchFamily="34" charset="0"/>
                <a:cs typeface="Times New Roman" panose="02020603050405020304" pitchFamily="18" charset="0"/>
                <a:hlinkClick r:id="rId3"/>
              </a:rPr>
              <a:t>public IP</a:t>
            </a:r>
            <a:r>
              <a:rPr lang="en-US" sz="1800" dirty="0">
                <a:effectLst/>
                <a:latin typeface="Calibri" panose="020F0502020204030204" pitchFamily="34" charset="0"/>
                <a:ea typeface="Calibri" panose="020F0502020204030204" pitchFamily="34" charset="0"/>
                <a:cs typeface="Times New Roman" panose="02020603050405020304" pitchFamily="18" charset="0"/>
              </a:rPr>
              <a:t> address is a resource that has its own properties. Some of the resources you can associate a public IP address resource with:</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l">
              <a:buFont typeface="Arial" panose="020B0604020202020204" pitchFamily="34" charset="0"/>
              <a:buChar char="•"/>
            </a:pPr>
            <a:r>
              <a:rPr lang="en-US" sz="2800" b="0" i="0" dirty="0">
                <a:solidFill>
                  <a:srgbClr val="171717"/>
                </a:solidFill>
                <a:effectLst/>
                <a:latin typeface="Segoe UI" panose="020B0502040204020203" pitchFamily="34" charset="0"/>
              </a:rPr>
              <a:t>Virtual machine network interfaces</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Virtual machine scale sets</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Public Load Balancers</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Virtual Network Gateways (VPN/ER)</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NAT gateways</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Application Gateways</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Azure Firewall</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Bastion Host</a:t>
            </a:r>
          </a:p>
          <a:p>
            <a:pPr algn="l">
              <a:buFont typeface="Arial" panose="020B0604020202020204" pitchFamily="34" charset="0"/>
              <a:buChar char="•"/>
            </a:pPr>
            <a:r>
              <a:rPr lang="en-US" sz="2800" b="0" i="0" dirty="0">
                <a:solidFill>
                  <a:srgbClr val="171717"/>
                </a:solidFill>
                <a:effectLst/>
                <a:latin typeface="Segoe UI" panose="020B0502040204020203" pitchFamily="34" charset="0"/>
              </a:rPr>
              <a:t>Route Server</a:t>
            </a:r>
          </a:p>
          <a:p>
            <a:pPr algn="l">
              <a:buFont typeface="Arial" panose="020B0604020202020204" pitchFamily="34" charset="0"/>
              <a:buChar char="•"/>
            </a:pPr>
            <a:endParaRPr lang="en-US" sz="2800" b="0" i="0" dirty="0">
              <a:solidFill>
                <a:srgbClr val="171717"/>
              </a:solidFill>
              <a:effectLst/>
              <a:latin typeface="Segoe UI" panose="020B0502040204020203" pitchFamily="34" charset="0"/>
              <a:ea typeface="Calibri" panose="020F0502020204030204" pitchFamily="34" charset="0"/>
              <a:cs typeface="Times New Roman" panose="02020603050405020304" pitchFamily="18" charset="0"/>
            </a:endParaRPr>
          </a:p>
          <a:p>
            <a:pPr algn="l">
              <a:buFont typeface="Arial" panose="020B0604020202020204" pitchFamily="34" charset="0"/>
              <a:buChar char="•"/>
            </a:pPr>
            <a:endParaRPr lang="en-US" sz="2800" b="0" i="0" dirty="0">
              <a:solidFill>
                <a:srgbClr val="171717"/>
              </a:solidFill>
              <a:effectLst/>
              <a:latin typeface="Segoe UI" panose="020B0502040204020203" pitchFamily="34" charset="0"/>
              <a:ea typeface="Calibri" panose="020F0502020204030204" pitchFamily="34" charset="0"/>
              <a:cs typeface="Times New Roman" panose="02020603050405020304" pitchFamily="18" charset="0"/>
            </a:endParaRPr>
          </a:p>
          <a:p>
            <a:pPr algn="l">
              <a:buFont typeface="Arial" panose="020B0604020202020204" pitchFamily="34" charset="0"/>
              <a:buChar char="•"/>
            </a:pPr>
            <a:r>
              <a:rPr lang="en-US" sz="2800" b="0" i="0" dirty="0">
                <a:solidFill>
                  <a:srgbClr val="171717"/>
                </a:solidFill>
                <a:effectLst/>
                <a:latin typeface="Segoe UI" panose="020B0502040204020203" pitchFamily="34" charset="0"/>
                <a:ea typeface="Calibri" panose="020F0502020204030204" pitchFamily="34" charset="0"/>
                <a:cs typeface="Times New Roman" panose="02020603050405020304" pitchFamily="18" charset="0"/>
              </a:rPr>
              <a:t>For the full chart of resources see here: </a:t>
            </a:r>
            <a:r>
              <a:rPr lang="en-US" sz="4000" dirty="0">
                <a:hlinkClick r:id="rId4"/>
              </a:rPr>
              <a:t>Public IP addresses in Azure - Azure Virtual Network | Microsoft Docs</a:t>
            </a:r>
            <a:r>
              <a:rPr lang="en-US" sz="4000" dirty="0"/>
              <a:t> https://docs.microsoft.com/azure/virtual-network/ip-services/public-ip-addresses#at-a-glance</a:t>
            </a:r>
            <a:endParaRPr lang="en-US" sz="2800" b="0" i="0" dirty="0">
              <a:solidFill>
                <a:srgbClr val="171717"/>
              </a:solidFill>
              <a:effectLst/>
              <a:latin typeface="Segoe UI" panose="020B0502040204020203" pitchFamily="34" charset="0"/>
              <a:ea typeface="Calibri" panose="020F0502020204030204" pitchFamily="34" charset="0"/>
              <a:cs typeface="Times New Roman" panose="02020603050405020304" pitchFamily="18" charset="0"/>
            </a:endParaRPr>
          </a:p>
          <a:p>
            <a:pPr algn="l">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Public IP addresses are created with an IPv4 or IPv6 address, which can be either static or dynamic.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 dynamic public IP address</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an assigned address that can change over the lifespan of the Azure resource. The dynamic IP address is allocated when you create or start a VM. The IP address is released when you stop or delete the VM. In each Azure region, public IP addresses are assigned from a unique pool of addresses. The default allocation method is dynamic.</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 static public IP address</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an assigned address that will not change over the lifespan of the Azure resource. To ensure that the IP address for the resource remains the same, set the allocation method explicitly to static. In this case, an IP address is assigned immediately. It is released only when you delete the public IP resource or change the IP allocation method to dynamic.</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cs typeface="Calibri" panose="020F0502020204030204"/>
            </a:endParaRPr>
          </a:p>
          <a:p>
            <a:endParaRPr lang="en-US" dirty="0">
              <a:cs typeface="Calibri" panose="020F0502020204030204"/>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1502010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public IP addresses, there are two types of SKUs to choose from: Basic and Standard. All public IP addresses created before the introduction of SKUs are Basic SKU public IP addresses. With the introduction of SKUs, you have the option to specify which SKU you would like the public IP address to be.</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2800" b="1" i="0" dirty="0">
                <a:effectLst/>
                <a:latin typeface="Segoe UI" panose="020B0502040204020203" pitchFamily="34" charset="0"/>
              </a:rPr>
              <a:t>SKU</a:t>
            </a:r>
            <a:r>
              <a:rPr lang="en-US" sz="2800" b="0" i="0" dirty="0">
                <a:effectLst/>
                <a:latin typeface="Segoe UI" panose="020B0502040204020203" pitchFamily="34" charset="0"/>
              </a:rPr>
              <a:t>. </a:t>
            </a:r>
            <a:r>
              <a:rPr lang="en-US" sz="4000" b="0" i="0" dirty="0">
                <a:solidFill>
                  <a:srgbClr val="000000"/>
                </a:solidFill>
                <a:effectLst/>
                <a:latin typeface="Segoe UI" panose="020B0502040204020203" pitchFamily="34" charset="0"/>
              </a:rPr>
              <a:t>Basic SKU IPv4 addresses can be upgraded after creation to Standard SKU.</a:t>
            </a:r>
            <a:r>
              <a:rPr lang="en-US" sz="2800" b="0" i="0" dirty="0">
                <a:effectLst/>
                <a:latin typeface="Segoe UI" panose="020B0502040204020203" pitchFamily="34" charset="0"/>
              </a:rPr>
              <a:t>. A standalone virtual machine, virtual machines within an availability set, or virtual machine scale sets can use Basic or Standard SKUs</a:t>
            </a:r>
            <a:r>
              <a:rPr lang="en-US" sz="2800" b="1" i="0" dirty="0">
                <a:effectLst/>
                <a:latin typeface="Segoe UI" panose="020B0502040204020203" pitchFamily="34" charset="0"/>
              </a:rPr>
              <a:t>. Mixing SKUs between virtual machines within availability sets or scale sets or standalone VMs is not allowed.</a:t>
            </a:r>
            <a:endParaRPr lang="en-US" sz="1800" b="1" i="0" dirty="0">
              <a:effectLst/>
              <a:latin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Basic SKU</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Basic SKU public IPs can be assigned by using static or dynamic allocation methods. Basic IPs are open by default, so the use of Network security groups is recommended but optional for restricting inbound or outbound traffic.</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Basic public IPs can be assigned to any Azure resource that can be assigned a public IP address, such as network interfaces, VPN gateways, application gateways, and internet-facing load balancers. They do not support availability zone scenarios. You must use a Standard SKU public IP for an availability zone scenario.</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Standard SKU</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Standard SKU public IP addresses always use the static allocation method. Standard IPs are secure by default and closed to inbound traffic. You must explicitly allow inbound traffic by using a network security group.</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Standard IPs can be assigned to network interfaces, Standard public load balancers, application gateways, or VPN gateways. Standard IPs are zone-redundant by default and optionally zonal (they can be created zonal and guaranteed in a specific availability zone).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16</a:t>
            </a:fld>
            <a:endParaRPr lang="en-US"/>
          </a:p>
        </p:txBody>
      </p:sp>
    </p:spTree>
    <p:extLst>
      <p:ext uri="{BB962C8B-B14F-4D97-AF65-F5344CB8AC3E}">
        <p14:creationId xmlns:p14="http://schemas.microsoft.com/office/powerpoint/2010/main" val="1576858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20000"/>
              </a:spcBef>
            </a:pPr>
            <a:r>
              <a:rPr lang="en-US" dirty="0">
                <a:cs typeface="Calibri"/>
              </a:rPr>
              <a:t>Create, change, or delete IP addresses - </a:t>
            </a:r>
            <a:r>
              <a:rPr lang="en-US" dirty="0"/>
              <a:t>https://docs.microsoft.com/azure/virtual-network/virtual-network-public-ip-address</a:t>
            </a:r>
          </a:p>
          <a:p>
            <a:pPr>
              <a:spcBef>
                <a:spcPct val="20000"/>
              </a:spcBef>
            </a:pPr>
            <a:endParaRPr lang="en-US" dirty="0"/>
          </a:p>
          <a:p>
            <a:pPr marL="0" marR="0" lvl="0" indent="0" algn="l" defTabSz="914400" rtl="0" eaLnBrk="1" fontAlgn="auto" latinLnBrk="0" hangingPunct="1">
              <a:lnSpc>
                <a:spcPct val="100000"/>
              </a:lnSpc>
              <a:spcBef>
                <a:spcPct val="20000"/>
              </a:spcBef>
              <a:spcAft>
                <a:spcPts val="0"/>
              </a:spcAft>
              <a:buClrTx/>
              <a:buSzTx/>
              <a:buFontTx/>
              <a:buNone/>
              <a:tabLst/>
              <a:defRPr/>
            </a:pPr>
            <a:r>
              <a:rPr lang="en-US" b="0" i="0" dirty="0">
                <a:solidFill>
                  <a:srgbClr val="171717"/>
                </a:solidFill>
                <a:effectLst/>
                <a:latin typeface="Segoe UI" panose="020B0502040204020203" pitchFamily="34" charset="0"/>
              </a:rPr>
              <a:t>The Global </a:t>
            </a:r>
            <a:r>
              <a:rPr lang="en-US" b="1" i="0" dirty="0">
                <a:solidFill>
                  <a:srgbClr val="171717"/>
                </a:solidFill>
                <a:effectLst/>
                <a:latin typeface="Segoe UI" panose="020B0502040204020203" pitchFamily="34" charset="0"/>
              </a:rPr>
              <a:t>Tier</a:t>
            </a:r>
            <a:r>
              <a:rPr lang="en-US" b="0" i="0" dirty="0">
                <a:solidFill>
                  <a:srgbClr val="171717"/>
                </a:solidFill>
                <a:effectLst/>
                <a:latin typeface="Segoe UI" panose="020B0502040204020203" pitchFamily="34" charset="0"/>
              </a:rPr>
              <a:t> allows a public IP address to be used with cross-region load balancers.</a:t>
            </a:r>
          </a:p>
          <a:p>
            <a:pPr>
              <a:spcBef>
                <a:spcPct val="20000"/>
              </a:spcBef>
            </a:pPr>
            <a:endParaRPr lang="en-US" dirty="0"/>
          </a:p>
          <a:p>
            <a:pPr>
              <a:spcBef>
                <a:spcPct val="20000"/>
              </a:spcBef>
            </a:pPr>
            <a:r>
              <a:rPr lang="en-US" dirty="0">
                <a:cs typeface="Calibri" panose="020F0502020204030204"/>
              </a:rPr>
              <a:t>Consider showing this in the Azure portal </a:t>
            </a:r>
          </a:p>
          <a:p>
            <a:pPr marL="228600" lvl="1">
              <a:spcBef>
                <a:spcPct val="20000"/>
              </a:spcBef>
            </a:pPr>
            <a:endParaRPr lang="en-US" dirty="0"/>
          </a:p>
          <a:p>
            <a:endParaRPr lang="en-US" dirty="0">
              <a:cs typeface="Calibri"/>
            </a:endParaRP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17</a:t>
            </a:fld>
            <a:endParaRPr lang="en-US"/>
          </a:p>
        </p:txBody>
      </p:sp>
    </p:spTree>
    <p:extLst>
      <p:ext uri="{BB962C8B-B14F-4D97-AF65-F5344CB8AC3E}">
        <p14:creationId xmlns:p14="http://schemas.microsoft.com/office/powerpoint/2010/main" val="1856170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https://docs.microsoft.com/learn/browse/</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18</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19</a:t>
            </a:fld>
            <a:endParaRPr lang="en-US"/>
          </a:p>
        </p:txBody>
      </p:sp>
    </p:spTree>
    <p:extLst>
      <p:ext uri="{BB962C8B-B14F-4D97-AF65-F5344CB8AC3E}">
        <p14:creationId xmlns:p14="http://schemas.microsoft.com/office/powerpoint/2010/main" val="1166823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171717"/>
                </a:solidFill>
                <a:effectLst/>
                <a:latin typeface="Segoe UI" panose="020B0502040204020203" pitchFamily="34" charset="0"/>
              </a:rPr>
              <a:t>Design and implement IP addressing for Azure virtual networks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Segoe UI" panose="020B0502040204020203" pitchFamily="34" charset="0"/>
              </a:rPr>
              <a:t>in this exercise you will deploy an azure virtual network and configure the subnets </a:t>
            </a:r>
            <a:endParaRPr lang="en-US" sz="1200" dirty="0">
              <a:effectLst/>
              <a:latin typeface="Arial" panose="020B0604020202020204" pitchFamily="34" charset="0"/>
            </a:endParaRPr>
          </a:p>
          <a:p>
            <a:endParaRPr lang="en-US" dirty="0"/>
          </a:p>
          <a:p>
            <a:r>
              <a:rPr lang="en-US" dirty="0">
                <a:hlinkClick r:id="rId3"/>
              </a:rPr>
              <a:t>AZ-700-Designing-and-Implementing-Microsoft-Azure-Networking-Solutions/4-exercise-design-implement-virtual-network-azure.md at master · </a:t>
            </a:r>
            <a:r>
              <a:rPr lang="en-US" dirty="0" err="1">
                <a:hlinkClick r:id="rId3"/>
              </a:rPr>
              <a:t>MicrosoftLearning</a:t>
            </a:r>
            <a:r>
              <a:rPr lang="en-US" dirty="0">
                <a:hlinkClick r:id="rId3"/>
              </a:rPr>
              <a:t>/AZ-700-Designing-and-Implementing-Microsoft-Azure-Networking-Solutions (github.com)</a:t>
            </a:r>
            <a:endParaRPr lang="en-US" dirty="0"/>
          </a:p>
          <a:p>
            <a:endParaRPr lang="en-US" dirty="0"/>
          </a:p>
          <a:p>
            <a:endParaRPr lang="en-US" dirty="0"/>
          </a:p>
          <a:p>
            <a:r>
              <a:rPr lang="en-US" dirty="0"/>
              <a:t>https://microsoftlearning.github.io/AZ-700-Designing-and-Implementing-Microsoft-Azure-Networking-Solutions/Instructions/Exercises/M01-Unit%204%20Design%20and%20implement%20a%20Virtual%20Network%20in%20Azure.html</a:t>
            </a:r>
          </a:p>
          <a:p>
            <a:endParaRPr lang="en-US" dirty="0"/>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20</a:t>
            </a:fld>
            <a:endParaRPr lang="en-US"/>
          </a:p>
        </p:txBody>
      </p:sp>
    </p:spTree>
    <p:extLst>
      <p:ext uri="{BB962C8B-B14F-4D97-AF65-F5344CB8AC3E}">
        <p14:creationId xmlns:p14="http://schemas.microsoft.com/office/powerpoint/2010/main" val="3813137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21</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22</a:t>
            </a:fld>
            <a:endParaRPr lang="en-US"/>
          </a:p>
        </p:txBody>
      </p:sp>
    </p:spTree>
    <p:extLst>
      <p:ext uri="{BB962C8B-B14F-4D97-AF65-F5344CB8AC3E}">
        <p14:creationId xmlns:p14="http://schemas.microsoft.com/office/powerpoint/2010/main" val="1166823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Configure and manage virtual networking (25-30%)</a:t>
            </a:r>
          </a:p>
          <a:p>
            <a:pPr algn="l"/>
            <a:r>
              <a:rPr lang="en-US" altLang="zh-CN" b="0" i="0" dirty="0">
                <a:effectLst/>
                <a:latin typeface="Segoe UI" panose="020B0502040204020203" pitchFamily="34" charset="0"/>
              </a:rPr>
              <a:t>Implement and manage virtual networking</a:t>
            </a:r>
          </a:p>
          <a:p>
            <a:r>
              <a:rPr lang="en-US" altLang="zh-CN" b="0" i="0" dirty="0">
                <a:effectLst/>
                <a:latin typeface="Segoe UI" panose="020B0502040204020203" pitchFamily="34" charset="0"/>
              </a:rPr>
              <a:t>* Configure Azure DNS, including custom DNS settings and private or public DNS zones.</a:t>
            </a:r>
          </a:p>
          <a:p>
            <a:endParaRPr lang="en-US" altLang="zh-CN"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736126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US" sz="1800" b="0" i="0" dirty="0">
                <a:solidFill>
                  <a:srgbClr val="666666"/>
                </a:solidFill>
                <a:effectLst/>
                <a:latin typeface="Roboto" panose="02000000000000000000" pitchFamily="2" charset="0"/>
              </a:rPr>
              <a:t>The Domain Name System (DNS) is a hierarchical and decentralized naming system for computers, services, or other resources connected to the Internet or a private network. It associates various information with domain names assigned to each of the participating entities. Most prominently, it translates more readily memorized domain names to the numerical IP addresses needed for locating and identifying computer services and devices with the underlying network protocols.</a:t>
            </a:r>
            <a:endParaRPr lang="en-US" sz="1800" dirty="0"/>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2800" dirty="0">
                <a:hlinkClick r:id="rId3"/>
              </a:rPr>
              <a:t>What is Azure DNS? | Microsoft Docs</a:t>
            </a:r>
            <a:endParaRPr lang="en-US" sz="2800" dirty="0"/>
          </a:p>
          <a:p>
            <a:pPr algn="l"/>
            <a:r>
              <a:rPr lang="en-US" sz="4000" b="0" i="0" u="sng" dirty="0">
                <a:solidFill>
                  <a:srgbClr val="000000"/>
                </a:solidFill>
                <a:effectLst/>
                <a:latin typeface="Segoe UI VSS (Regular)"/>
                <a:hlinkClick r:id="rId3"/>
              </a:rPr>
              <a:t>https://docs.microsoft.com/azure/dns/dns-overview</a:t>
            </a:r>
            <a:br>
              <a:rPr lang="en-US" sz="4000" b="0" i="0" dirty="0">
                <a:solidFill>
                  <a:srgbClr val="000000"/>
                </a:solidFill>
                <a:effectLst/>
                <a:latin typeface="Segoe UI VSS (Regular)"/>
              </a:rPr>
            </a:br>
            <a:endParaRPr lang="en-US" sz="2800" dirty="0"/>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Public DNS services resolve names and IP addresses for resources and services accessible over the internet such as web servers.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Azure DNS, you can create address records manually within relevant zones. The records most frequently used will be: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Host records: A/AAAA (IPv4/IPv6) </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Alias records: CNAME </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24</a:t>
            </a:fld>
            <a:endParaRPr lang="en-US"/>
          </a:p>
        </p:txBody>
      </p:sp>
    </p:spTree>
    <p:extLst>
      <p:ext uri="{BB962C8B-B14F-4D97-AF65-F5344CB8AC3E}">
        <p14:creationId xmlns:p14="http://schemas.microsoft.com/office/powerpoint/2010/main" val="3722738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DNS Zones - https://docs.microsoft.com/azure/dns/dns-zones-records#dns-zones </a:t>
            </a:r>
          </a:p>
          <a:p>
            <a:endParaRPr lang="en-US" dirty="0"/>
          </a:p>
          <a:p>
            <a:r>
              <a:rPr lang="en-US" dirty="0"/>
              <a:t>You do not have to own a domain name to create a DNS zone with that domain name in Azure DNS. However, you do need to own the domain to configure the domain.</a:t>
            </a:r>
          </a:p>
          <a:p>
            <a:endParaRPr lang="en-US"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1317683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b="0" i="0" u="sng" dirty="0">
                <a:effectLst/>
                <a:latin typeface="Segoe UI VSS (Regular)"/>
                <a:hlinkClick r:id="rId3"/>
              </a:rPr>
              <a:t>https://docs.microsoft.com/azure/dns/dns-domain-delegation</a:t>
            </a:r>
            <a:endParaRPr lang="en-US" b="0" i="0" u="sng" dirty="0">
              <a:effectLst/>
              <a:latin typeface="Segoe UI VSS (Regular)"/>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Host your domain on Azure DNS - https://docs.microsoft.com/learn/modules/host-domain-azure-dns/</a:t>
            </a:r>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You can't use Azure DNS to buy a domain name. For an annual fee, you can buy a domain name by </a:t>
            </a:r>
            <a:r>
              <a:rPr lang="en-US" sz="1200" b="0" i="0" kern="1200" dirty="0">
                <a:solidFill>
                  <a:srgbClr val="171717"/>
                </a:solidFill>
                <a:effectLst/>
                <a:latin typeface="Segoe UI" panose="020B0502040204020203" pitchFamily="34" charset="0"/>
                <a:ea typeface="+mn-ea"/>
                <a:cs typeface="+mn-cs"/>
              </a:rPr>
              <a:t>using </a:t>
            </a:r>
            <a:r>
              <a:rPr lang="en-US" sz="1200" b="0" i="0" kern="1200" dirty="0">
                <a:solidFill>
                  <a:srgbClr val="171717"/>
                </a:solidFill>
                <a:effectLst/>
                <a:latin typeface="Segoe UI" panose="020B0502040204020203" pitchFamily="34" charset="0"/>
                <a:ea typeface="+mn-ea"/>
                <a:cs typeface="+mn-cs"/>
                <a:hlinkClick r:id="rId4">
                  <a:extLst>
                    <a:ext uri="{A12FA001-AC4F-418D-AE19-62706E023703}">
                      <ahyp:hlinkClr xmlns:ahyp="http://schemas.microsoft.com/office/drawing/2018/hyperlinkcolor" val="tx"/>
                    </a:ext>
                  </a:extLst>
                </a:hlinkClick>
              </a:rPr>
              <a:t>App Service domains</a:t>
            </a:r>
            <a:r>
              <a:rPr lang="en-US" sz="1200" b="0" i="0" kern="1200" dirty="0">
                <a:solidFill>
                  <a:srgbClr val="171717"/>
                </a:solidFill>
                <a:effectLst/>
                <a:latin typeface="Segoe UI" panose="020B0502040204020203" pitchFamily="34" charset="0"/>
                <a:ea typeface="+mn-ea"/>
                <a:cs typeface="+mn-cs"/>
              </a:rPr>
              <a:t> or a third-party domain name registrar. Your domains then can be hosted in Azure DNS for record management. </a:t>
            </a:r>
            <a:r>
              <a:rPr lang="en-US" b="0" i="0" dirty="0">
                <a:solidFill>
                  <a:srgbClr val="171717"/>
                </a:solidFill>
                <a:effectLst/>
                <a:latin typeface="Segoe UI" panose="020B0502040204020203" pitchFamily="34" charset="0"/>
              </a:rPr>
              <a:t>For more information, see </a:t>
            </a:r>
            <a:r>
              <a:rPr lang="en-US" b="0" i="0" u="none" strike="noStrike" dirty="0">
                <a:effectLst/>
                <a:latin typeface="Segoe UI" panose="020B0502040204020203" pitchFamily="34" charset="0"/>
                <a:hlinkClick r:id="rId5"/>
              </a:rPr>
              <a:t>Delegate a domain to Azure DNS</a:t>
            </a:r>
            <a:r>
              <a:rPr lang="en-US" b="0" i="0" dirty="0">
                <a:solidFill>
                  <a:srgbClr val="171717"/>
                </a:solidFill>
                <a:effectLst/>
                <a:latin typeface="Segoe UI" panose="020B0502040204020203" pitchFamily="34" charset="0"/>
              </a:rPr>
              <a:t>. https://docs.microsoft.com/azure/dns/dns-delegate-domain-azure-dns</a:t>
            </a:r>
          </a:p>
          <a:p>
            <a:endParaRPr lang="en-US" b="0" i="0" dirty="0">
              <a:solidFill>
                <a:srgbClr val="171717"/>
              </a:solidFill>
              <a:effectLst/>
              <a:latin typeface="Segoe UI" panose="020B0502040204020203" pitchFamily="34" charset="0"/>
            </a:endParaRP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1470181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You can add up to 20 records to any record set</a:t>
            </a:r>
          </a:p>
          <a:p>
            <a:r>
              <a:rPr lang="en-US" dirty="0">
                <a:hlinkClick r:id="rId3"/>
              </a:rPr>
              <a:t>DNS Zones and Records overview - Azure DNS | Microsoft Docs</a:t>
            </a:r>
            <a:endParaRPr lang="en-US" dirty="0"/>
          </a:p>
          <a:p>
            <a:endParaRPr lang="en-US" dirty="0"/>
          </a:p>
          <a:p>
            <a:r>
              <a:rPr lang="en-US" dirty="0"/>
              <a:t>https://docs.microsoft.com/azure/dns/dns-zones-records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1037973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Private DNS services resolve names and IP addresses for resources and services accessible over the internet such as web servers.</a:t>
            </a: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Private DNS zones in Azure are available to internal resources only. They are global in scope, so you can access them from any region, any subscription, any VNet, and any tenant. If you have permission to read the zone, you can use it for name resolution. Private DNS zones are highly resilient, being replicated to regions all throughout the world. They are not available to resources on the internet.</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b="0" i="0" u="sng" dirty="0">
                <a:effectLst/>
                <a:latin typeface="Segoe UI VSS (Regular)"/>
                <a:hlinkClick r:id="rId3"/>
              </a:rPr>
              <a:t>https://docs.microsoft.com/azure/dns/private-dns-overview#benefits</a:t>
            </a:r>
            <a:r>
              <a:rPr lang="en-US" b="0" i="0" dirty="0">
                <a:solidFill>
                  <a:srgbClr val="000000"/>
                </a:solidFill>
                <a:effectLst/>
                <a:latin typeface="Segoe UI VSS (Regular)"/>
              </a:rPr>
              <a:t> </a:t>
            </a: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QuickStart: Create an Azure private DNS zone using the Azure portal - https://docs.microsoft.com/azure/dns/private-dns-getstarted-portal</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2267000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4/6/2022 10:28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26451957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IP is not accessible from on prem networks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IP address 168.63.129.16 is a virtual public IP address that is used to facilitate a communication channel to Azure platform resources. Customers can define any address space for their private virtual network in Azure. The Azure platform resources must be presented as a unique public IP address. This virtual public IP address facilitates the following things: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the VM Agent to communicate with the Azure platform to signal that it is in a "Ready" state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communication with the DNS virtual server to provide filtered name resolution to the resources (such as VM) that do not have a custom DNS server. This filtering makes sure that customers can resolve only the hostnames of their resources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health probes from Azure load balancer to determine the health state of VMs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the VM to obtain a dynamic IP address from the DHCP service in Azure</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Guest Agent heartbeat messages for the PaaS role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 non-virtual network scenario (Classic), a private IP address is used instead of 168.63.129.16. This private IP address is dynamically discovered through DHCP. Firewall rules specific to 168.63.129.16 need to be adjusted as appropriate.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30</a:t>
            </a:fld>
            <a:endParaRPr lang="en-US" dirty="0"/>
          </a:p>
        </p:txBody>
      </p:sp>
    </p:spTree>
    <p:extLst>
      <p:ext uri="{BB962C8B-B14F-4D97-AF65-F5344CB8AC3E}">
        <p14:creationId xmlns:p14="http://schemas.microsoft.com/office/powerpoint/2010/main" val="2411897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Always consider having students walk-through the demonstrations themselves. Also, consider the overlap with the formal labs and your best use of time. </a:t>
            </a:r>
          </a:p>
          <a:p>
            <a:endParaRPr lang="en-US" dirty="0"/>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In this demonstration, you will explore Azure DNS.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Note:</a:t>
            </a:r>
            <a:r>
              <a:rPr lang="en-US" sz="1200" dirty="0">
                <a:effectLst/>
                <a:latin typeface="Calibri" panose="020F0502020204030204" pitchFamily="34" charset="0"/>
                <a:ea typeface="Calibri" panose="020F0502020204030204" pitchFamily="34" charset="0"/>
                <a:cs typeface="Calibri" panose="020F0502020204030204" pitchFamily="34" charset="0"/>
              </a:rPr>
              <a:t> There is a DNS lab for the student.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Create a DNS zone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Access the Azure Portal.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Search for the </a:t>
            </a:r>
            <a:r>
              <a:rPr lang="en-US" sz="1200" b="1" dirty="0">
                <a:effectLst/>
                <a:latin typeface="Calibri" panose="020F0502020204030204" pitchFamily="34" charset="0"/>
                <a:ea typeface="Calibri" panose="020F0502020204030204" pitchFamily="34" charset="0"/>
                <a:cs typeface="Calibri" panose="020F0502020204030204" pitchFamily="34" charset="0"/>
              </a:rPr>
              <a:t>DNS zones</a:t>
            </a:r>
            <a:r>
              <a:rPr lang="en-US" sz="1200" dirty="0">
                <a:effectLst/>
                <a:latin typeface="Calibri" panose="020F0502020204030204" pitchFamily="34" charset="0"/>
                <a:ea typeface="Calibri" panose="020F0502020204030204" pitchFamily="34" charset="0"/>
                <a:cs typeface="Calibri" panose="020F0502020204030204" pitchFamily="34" charset="0"/>
              </a:rPr>
              <a:t> service.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On the </a:t>
            </a:r>
            <a:r>
              <a:rPr lang="en-US" sz="1200" b="1" dirty="0">
                <a:effectLst/>
                <a:latin typeface="Calibri" panose="020F0502020204030204" pitchFamily="34" charset="0"/>
                <a:ea typeface="Calibri" panose="020F0502020204030204" pitchFamily="34" charset="0"/>
                <a:cs typeface="Calibri" panose="020F0502020204030204" pitchFamily="34" charset="0"/>
              </a:rPr>
              <a:t>Create DNS zone</a:t>
            </a:r>
            <a:r>
              <a:rPr lang="en-US" sz="1200" dirty="0">
                <a:effectLst/>
                <a:latin typeface="Calibri" panose="020F0502020204030204" pitchFamily="34" charset="0"/>
                <a:ea typeface="Calibri" panose="020F0502020204030204" pitchFamily="34" charset="0"/>
                <a:cs typeface="Calibri" panose="020F0502020204030204" pitchFamily="34" charset="0"/>
              </a:rPr>
              <a:t> blade enter the following values, and </a:t>
            </a:r>
            <a:r>
              <a:rPr lang="en-US" sz="1200" b="1" dirty="0">
                <a:effectLst/>
                <a:latin typeface="Calibri" panose="020F0502020204030204" pitchFamily="34" charset="0"/>
                <a:ea typeface="Calibri" panose="020F0502020204030204" pitchFamily="34" charset="0"/>
                <a:cs typeface="Calibri" panose="020F0502020204030204" pitchFamily="34" charset="0"/>
              </a:rPr>
              <a:t>Create</a:t>
            </a:r>
            <a:r>
              <a:rPr lang="en-US" sz="1200" dirty="0">
                <a:effectLst/>
                <a:latin typeface="Calibri" panose="020F0502020204030204" pitchFamily="34" charset="0"/>
                <a:ea typeface="Calibri" panose="020F0502020204030204" pitchFamily="34" charset="0"/>
                <a:cs typeface="Calibri" panose="020F0502020204030204" pitchFamily="34" charset="0"/>
              </a:rPr>
              <a:t> the new DNS zone.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Name</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3"/>
              </a:rPr>
              <a:t>contoso.internal.com</a:t>
            </a:r>
            <a:r>
              <a:rPr lang="en-US" sz="1200" i="1" dirty="0">
                <a:effectLst/>
                <a:latin typeface="Calibri" panose="020F0502020204030204" pitchFamily="34" charset="0"/>
                <a:ea typeface="Calibri" panose="020F0502020204030204" pitchFamily="34" charset="0"/>
                <a:cs typeface="Calibri" panose="020F0502020204030204" pitchFamily="34"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Subscription</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&lt;your subscription&gt;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Resource group</a:t>
            </a:r>
            <a:r>
              <a:rPr lang="en-US" sz="1200" dirty="0">
                <a:effectLst/>
                <a:latin typeface="Calibri" panose="020F0502020204030204" pitchFamily="34" charset="0"/>
                <a:ea typeface="Calibri" panose="020F0502020204030204" pitchFamily="34" charset="0"/>
                <a:cs typeface="Calibri" panose="020F0502020204030204" pitchFamily="34" charset="0"/>
              </a:rPr>
              <a:t>: Select or create a resource group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Location</a:t>
            </a:r>
            <a:r>
              <a:rPr lang="en-US" sz="1200" dirty="0">
                <a:effectLst/>
                <a:latin typeface="Calibri" panose="020F0502020204030204" pitchFamily="34" charset="0"/>
                <a:ea typeface="Calibri" panose="020F0502020204030204" pitchFamily="34" charset="0"/>
                <a:cs typeface="Calibri" panose="020F0502020204030204" pitchFamily="34" charset="0"/>
              </a:rPr>
              <a:t>: Select your Location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Wait for the DNS zone to be created.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You may need to </a:t>
            </a:r>
            <a:r>
              <a:rPr lang="en-US" sz="1200" b="1" dirty="0">
                <a:effectLst/>
                <a:latin typeface="Calibri" panose="020F0502020204030204" pitchFamily="34" charset="0"/>
                <a:ea typeface="Calibri" panose="020F0502020204030204" pitchFamily="34" charset="0"/>
                <a:cs typeface="Calibri" panose="020F0502020204030204" pitchFamily="34" charset="0"/>
              </a:rPr>
              <a:t>Refresh</a:t>
            </a:r>
            <a:r>
              <a:rPr lang="en-US" sz="1200" dirty="0">
                <a:effectLst/>
                <a:latin typeface="Calibri" panose="020F0502020204030204" pitchFamily="34" charset="0"/>
                <a:ea typeface="Calibri" panose="020F0502020204030204" pitchFamily="34" charset="0"/>
                <a:cs typeface="Calibri" panose="020F0502020204030204" pitchFamily="34" charset="0"/>
              </a:rPr>
              <a:t> the page.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Add a DNS record set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+Record Set</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Use the </a:t>
            </a:r>
            <a:r>
              <a:rPr lang="en-US" sz="1200" b="1" dirty="0">
                <a:effectLst/>
                <a:latin typeface="Calibri" panose="020F0502020204030204" pitchFamily="34" charset="0"/>
                <a:ea typeface="Calibri" panose="020F0502020204030204" pitchFamily="34" charset="0"/>
                <a:cs typeface="Calibri" panose="020F0502020204030204" pitchFamily="34" charset="0"/>
              </a:rPr>
              <a:t>Type</a:t>
            </a:r>
            <a:r>
              <a:rPr lang="en-US" sz="1200" dirty="0">
                <a:effectLst/>
                <a:latin typeface="Calibri" panose="020F0502020204030204" pitchFamily="34" charset="0"/>
                <a:ea typeface="Calibri" panose="020F0502020204030204" pitchFamily="34" charset="0"/>
                <a:cs typeface="Calibri" panose="020F0502020204030204" pitchFamily="34" charset="0"/>
              </a:rPr>
              <a:t> drop-down to view the different types of records.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Notice how the required information changes as you change record types.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Change the </a:t>
            </a:r>
            <a:r>
              <a:rPr lang="en-US" sz="1200" b="1" dirty="0">
                <a:effectLst/>
                <a:latin typeface="Calibri" panose="020F0502020204030204" pitchFamily="34" charset="0"/>
                <a:ea typeface="Calibri" panose="020F0502020204030204" pitchFamily="34" charset="0"/>
                <a:cs typeface="Calibri" panose="020F0502020204030204" pitchFamily="34" charset="0"/>
              </a:rPr>
              <a:t>Type</a:t>
            </a:r>
            <a:r>
              <a:rPr lang="en-US" sz="1200" dirty="0">
                <a:effectLst/>
                <a:latin typeface="Calibri" panose="020F0502020204030204" pitchFamily="34" charset="0"/>
                <a:ea typeface="Calibri" panose="020F0502020204030204" pitchFamily="34" charset="0"/>
                <a:cs typeface="Calibri" panose="020F0502020204030204" pitchFamily="34" charset="0"/>
              </a:rPr>
              <a:t> to </a:t>
            </a:r>
            <a:r>
              <a:rPr lang="en-US" sz="1200" b="1" dirty="0">
                <a:effectLst/>
                <a:latin typeface="Calibri" panose="020F0502020204030204" pitchFamily="34" charset="0"/>
                <a:ea typeface="Calibri" panose="020F0502020204030204" pitchFamily="34" charset="0"/>
                <a:cs typeface="Calibri" panose="020F0502020204030204" pitchFamily="34" charset="0"/>
              </a:rPr>
              <a:t>A</a:t>
            </a:r>
            <a:r>
              <a:rPr lang="en-US" sz="1200" dirty="0">
                <a:effectLst/>
                <a:latin typeface="Calibri" panose="020F0502020204030204" pitchFamily="34" charset="0"/>
                <a:ea typeface="Calibri" panose="020F0502020204030204" pitchFamily="34" charset="0"/>
                <a:cs typeface="Calibri" panose="020F0502020204030204" pitchFamily="34" charset="0"/>
              </a:rPr>
              <a:t> and enter these values.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Name</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err="1">
                <a:effectLst/>
                <a:latin typeface="Calibri" panose="020F0502020204030204" pitchFamily="34" charset="0"/>
                <a:ea typeface="Calibri" panose="020F0502020204030204" pitchFamily="34" charset="0"/>
                <a:cs typeface="Calibri" panose="020F0502020204030204" pitchFamily="34" charset="0"/>
              </a:rPr>
              <a:t>ARecord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IP Address</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1.2.3.4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Notice you can add other records.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OK</a:t>
            </a:r>
            <a:r>
              <a:rPr lang="en-US" sz="1200" dirty="0">
                <a:effectLst/>
                <a:latin typeface="Calibri" panose="020F0502020204030204" pitchFamily="34" charset="0"/>
                <a:ea typeface="Calibri" panose="020F0502020204030204" pitchFamily="34" charset="0"/>
                <a:cs typeface="Calibri" panose="020F0502020204030204" pitchFamily="34" charset="0"/>
              </a:rPr>
              <a:t> to save your record.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Refresh</a:t>
            </a:r>
            <a:r>
              <a:rPr lang="en-US" sz="1200" dirty="0">
                <a:effectLst/>
                <a:latin typeface="Calibri" panose="020F0502020204030204" pitchFamily="34" charset="0"/>
                <a:ea typeface="Calibri" panose="020F0502020204030204" pitchFamily="34" charset="0"/>
                <a:cs typeface="Calibri" panose="020F0502020204030204" pitchFamily="34" charset="0"/>
              </a:rPr>
              <a:t> the page to observe the new record set.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You will need the resource group name.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Optional - Use PowerShell to view DNS information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Open the Cloud Shell.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Get information about your DNS zones. Notice the name servers and number of record sets.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Get-</a:t>
            </a:r>
            <a:r>
              <a:rPr lang="en-US" sz="1200" b="1" dirty="0" err="1">
                <a:effectLst/>
                <a:latin typeface="Calibri" panose="020F0502020204030204" pitchFamily="34" charset="0"/>
                <a:ea typeface="Calibri" panose="020F0502020204030204" pitchFamily="34" charset="0"/>
                <a:cs typeface="Calibri" panose="020F0502020204030204" pitchFamily="34" charset="0"/>
              </a:rPr>
              <a:t>AzDnsZone</a:t>
            </a:r>
            <a:r>
              <a:rPr lang="en-US" sz="1200" b="1" dirty="0">
                <a:effectLst/>
                <a:latin typeface="Calibri" panose="020F0502020204030204" pitchFamily="34" charset="0"/>
                <a:ea typeface="Calibri" panose="020F0502020204030204" pitchFamily="34" charset="0"/>
                <a:cs typeface="Calibri" panose="020F0502020204030204" pitchFamily="34" charset="0"/>
              </a:rPr>
              <a:t> -Name "contoso.internal.com" -</a:t>
            </a:r>
            <a:r>
              <a:rPr lang="en-US" sz="1200" b="1" dirty="0" err="1">
                <a:effectLst/>
                <a:latin typeface="Calibri" panose="020F0502020204030204" pitchFamily="34" charset="0"/>
                <a:ea typeface="Calibri" panose="020F0502020204030204" pitchFamily="34" charset="0"/>
                <a:cs typeface="Calibri" panose="020F0502020204030204" pitchFamily="34" charset="0"/>
              </a:rPr>
              <a:t>ResourceGroupName</a:t>
            </a:r>
            <a:r>
              <a:rPr lang="en-US" sz="1200" b="1" dirty="0">
                <a:effectLst/>
                <a:latin typeface="Calibri" panose="020F0502020204030204" pitchFamily="34" charset="0"/>
                <a:ea typeface="Calibri" panose="020F0502020204030204" pitchFamily="34" charset="0"/>
                <a:cs typeface="Calibri" panose="020F0502020204030204" pitchFamily="34" charset="0"/>
              </a:rPr>
              <a:t> &lt;</a:t>
            </a:r>
            <a:r>
              <a:rPr lang="en-US" sz="1200" b="1" dirty="0" err="1">
                <a:effectLst/>
                <a:latin typeface="Calibri" panose="020F0502020204030204" pitchFamily="34" charset="0"/>
                <a:ea typeface="Calibri" panose="020F0502020204030204" pitchFamily="34" charset="0"/>
                <a:cs typeface="Calibri" panose="020F0502020204030204" pitchFamily="34" charset="0"/>
              </a:rPr>
              <a:t>resourcegroupname</a:t>
            </a:r>
            <a:r>
              <a:rPr lang="en-US" sz="1200" b="1" dirty="0">
                <a:effectLst/>
                <a:latin typeface="Calibri" panose="020F0502020204030204" pitchFamily="34" charset="0"/>
                <a:ea typeface="Calibri" panose="020F0502020204030204" pitchFamily="34" charset="0"/>
                <a:cs typeface="Calibri" panose="020F0502020204030204" pitchFamily="34" charset="0"/>
              </a:rPr>
              <a:t>&gt;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3"/>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Get information about your DNS record set.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Get-</a:t>
            </a:r>
            <a:r>
              <a:rPr lang="en-US" sz="1200" b="1" dirty="0" err="1">
                <a:effectLst/>
                <a:latin typeface="Calibri" panose="020F0502020204030204" pitchFamily="34" charset="0"/>
                <a:ea typeface="Calibri" panose="020F0502020204030204" pitchFamily="34" charset="0"/>
                <a:cs typeface="Calibri" panose="020F0502020204030204" pitchFamily="34" charset="0"/>
              </a:rPr>
              <a:t>AzDnsRecordSet</a:t>
            </a:r>
            <a:r>
              <a:rPr lang="en-US" sz="1200" b="1" dirty="0">
                <a:effectLst/>
                <a:latin typeface="Calibri" panose="020F0502020204030204" pitchFamily="34" charset="0"/>
                <a:ea typeface="Calibri" panose="020F0502020204030204" pitchFamily="34" charset="0"/>
                <a:cs typeface="Calibri" panose="020F0502020204030204" pitchFamily="34" charset="0"/>
              </a:rPr>
              <a:t> -</a:t>
            </a:r>
            <a:r>
              <a:rPr lang="en-US" sz="1200" b="1" dirty="0" err="1">
                <a:effectLst/>
                <a:latin typeface="Calibri" panose="020F0502020204030204" pitchFamily="34" charset="0"/>
                <a:ea typeface="Calibri" panose="020F0502020204030204" pitchFamily="34" charset="0"/>
                <a:cs typeface="Calibri" panose="020F0502020204030204" pitchFamily="34" charset="0"/>
              </a:rPr>
              <a:t>ResourceGroupName</a:t>
            </a:r>
            <a:r>
              <a:rPr lang="en-US" sz="1200" b="1" dirty="0">
                <a:effectLst/>
                <a:latin typeface="Calibri" panose="020F0502020204030204" pitchFamily="34" charset="0"/>
                <a:ea typeface="Calibri" panose="020F0502020204030204" pitchFamily="34" charset="0"/>
                <a:cs typeface="Calibri" panose="020F0502020204030204" pitchFamily="34" charset="0"/>
              </a:rPr>
              <a:t> &lt;</a:t>
            </a:r>
            <a:r>
              <a:rPr lang="en-US" sz="1200" b="1" dirty="0" err="1">
                <a:effectLst/>
                <a:latin typeface="Calibri" panose="020F0502020204030204" pitchFamily="34" charset="0"/>
                <a:ea typeface="Calibri" panose="020F0502020204030204" pitchFamily="34" charset="0"/>
                <a:cs typeface="Calibri" panose="020F0502020204030204" pitchFamily="34" charset="0"/>
              </a:rPr>
              <a:t>resourcegroupname</a:t>
            </a:r>
            <a:r>
              <a:rPr lang="en-US" sz="1200" b="1" dirty="0">
                <a:effectLst/>
                <a:latin typeface="Calibri" panose="020F0502020204030204" pitchFamily="34" charset="0"/>
                <a:ea typeface="Calibri" panose="020F0502020204030204" pitchFamily="34" charset="0"/>
                <a:cs typeface="Calibri" panose="020F0502020204030204" pitchFamily="34" charset="0"/>
              </a:rPr>
              <a:t>&gt; -</a:t>
            </a:r>
            <a:r>
              <a:rPr lang="en-US" sz="1200" b="1" dirty="0" err="1">
                <a:effectLst/>
                <a:latin typeface="Calibri" panose="020F0502020204030204" pitchFamily="34" charset="0"/>
                <a:ea typeface="Calibri" panose="020F0502020204030204" pitchFamily="34" charset="0"/>
                <a:cs typeface="Calibri" panose="020F0502020204030204" pitchFamily="34" charset="0"/>
              </a:rPr>
              <a:t>ZoneName</a:t>
            </a:r>
            <a:r>
              <a:rPr lang="en-US" sz="1200" b="1" dirty="0">
                <a:effectLst/>
                <a:latin typeface="Calibri" panose="020F0502020204030204" pitchFamily="34" charset="0"/>
                <a:ea typeface="Calibri" panose="020F0502020204030204" pitchFamily="34" charset="0"/>
                <a:cs typeface="Calibri" panose="020F0502020204030204" pitchFamily="34" charset="0"/>
              </a:rPr>
              <a:t> contoso.internal.com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View your name servers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Access the Azure Portal and your DNS zone.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Review the Name Server information. There should be four name servers.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Open the Cloud Shell.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Use PowerShell to confirm your NS records.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 Retrieve the zone information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$zone = Get-</a:t>
            </a:r>
            <a:r>
              <a:rPr lang="en-US" sz="1200" b="1" dirty="0" err="1">
                <a:effectLst/>
                <a:latin typeface="Calibri" panose="020F0502020204030204" pitchFamily="34" charset="0"/>
                <a:ea typeface="Calibri" panose="020F0502020204030204" pitchFamily="34" charset="0"/>
                <a:cs typeface="Calibri" panose="020F0502020204030204" pitchFamily="34" charset="0"/>
              </a:rPr>
              <a:t>AzDnsZone</a:t>
            </a:r>
            <a:r>
              <a:rPr lang="en-US" sz="1200" b="1" dirty="0">
                <a:effectLst/>
                <a:latin typeface="Calibri" panose="020F0502020204030204" pitchFamily="34" charset="0"/>
                <a:ea typeface="Calibri" panose="020F0502020204030204" pitchFamily="34" charset="0"/>
                <a:cs typeface="Calibri" panose="020F0502020204030204" pitchFamily="34" charset="0"/>
              </a:rPr>
              <a:t> –Name contoso.internal.com –</a:t>
            </a:r>
            <a:r>
              <a:rPr lang="en-US" sz="1200" b="1" dirty="0" err="1">
                <a:effectLst/>
                <a:latin typeface="Calibri" panose="020F0502020204030204" pitchFamily="34" charset="0"/>
                <a:ea typeface="Calibri" panose="020F0502020204030204" pitchFamily="34" charset="0"/>
                <a:cs typeface="Calibri" panose="020F0502020204030204" pitchFamily="34" charset="0"/>
              </a:rPr>
              <a:t>ResourceGroupName</a:t>
            </a:r>
            <a:r>
              <a:rPr lang="en-US" sz="1200" b="1" dirty="0">
                <a:effectLst/>
                <a:latin typeface="Calibri" panose="020F0502020204030204" pitchFamily="34" charset="0"/>
                <a:ea typeface="Calibri" panose="020F0502020204030204" pitchFamily="34" charset="0"/>
                <a:cs typeface="Calibri" panose="020F0502020204030204" pitchFamily="34" charset="0"/>
              </a:rPr>
              <a:t> &lt;</a:t>
            </a:r>
            <a:r>
              <a:rPr lang="en-US" sz="1200" b="1" dirty="0" err="1">
                <a:effectLst/>
                <a:latin typeface="Calibri" panose="020F0502020204030204" pitchFamily="34" charset="0"/>
                <a:ea typeface="Calibri" panose="020F0502020204030204" pitchFamily="34" charset="0"/>
                <a:cs typeface="Calibri" panose="020F0502020204030204" pitchFamily="34" charset="0"/>
              </a:rPr>
              <a:t>resourcegroupname</a:t>
            </a:r>
            <a:r>
              <a:rPr lang="en-US" sz="1200" b="1" dirty="0">
                <a:effectLst/>
                <a:latin typeface="Calibri" panose="020F0502020204030204" pitchFamily="34" charset="0"/>
                <a:ea typeface="Calibri" panose="020F0502020204030204" pitchFamily="34" charset="0"/>
                <a:cs typeface="Calibri" panose="020F0502020204030204" pitchFamily="34" charset="0"/>
              </a:rPr>
              <a:t>&gt;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 Retrieve the name server records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Get-</a:t>
            </a:r>
            <a:r>
              <a:rPr lang="en-US" sz="1200" b="1" dirty="0" err="1">
                <a:effectLst/>
                <a:latin typeface="Calibri" panose="020F0502020204030204" pitchFamily="34" charset="0"/>
                <a:ea typeface="Calibri" panose="020F0502020204030204" pitchFamily="34" charset="0"/>
                <a:cs typeface="Calibri" panose="020F0502020204030204" pitchFamily="34" charset="0"/>
              </a:rPr>
              <a:t>AzDnsRecordSet</a:t>
            </a:r>
            <a:r>
              <a:rPr lang="en-US" sz="1200" b="1" dirty="0">
                <a:effectLst/>
                <a:latin typeface="Calibri" panose="020F0502020204030204" pitchFamily="34" charset="0"/>
                <a:ea typeface="Calibri" panose="020F0502020204030204" pitchFamily="34" charset="0"/>
                <a:cs typeface="Calibri" panose="020F0502020204030204" pitchFamily="34" charset="0"/>
              </a:rPr>
              <a:t> –Name “@” –</a:t>
            </a:r>
            <a:r>
              <a:rPr lang="en-US" sz="1200" b="1" dirty="0" err="1">
                <a:effectLst/>
                <a:latin typeface="Calibri" panose="020F0502020204030204" pitchFamily="34" charset="0"/>
                <a:ea typeface="Calibri" panose="020F0502020204030204" pitchFamily="34" charset="0"/>
                <a:cs typeface="Calibri" panose="020F0502020204030204" pitchFamily="34" charset="0"/>
              </a:rPr>
              <a:t>RecordType</a:t>
            </a:r>
            <a:r>
              <a:rPr lang="en-US" sz="1200" b="1" dirty="0">
                <a:effectLst/>
                <a:latin typeface="Calibri" panose="020F0502020204030204" pitchFamily="34" charset="0"/>
                <a:ea typeface="Calibri" panose="020F0502020204030204" pitchFamily="34" charset="0"/>
                <a:cs typeface="Calibri" panose="020F0502020204030204" pitchFamily="34" charset="0"/>
              </a:rPr>
              <a:t> NS –Zone $zone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Test the resolution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Continue in the Cloud Shell.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Use a Name Server in your zone to review records.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07000"/>
              </a:lnSpc>
              <a:spcBef>
                <a:spcPts val="0"/>
              </a:spcBef>
              <a:spcAft>
                <a:spcPts val="800"/>
              </a:spcAft>
            </a:pPr>
            <a:r>
              <a:rPr lang="en-US" sz="1200" b="1" dirty="0" err="1">
                <a:effectLst/>
                <a:latin typeface="Calibri" panose="020F0502020204030204" pitchFamily="34" charset="0"/>
                <a:ea typeface="Calibri" panose="020F0502020204030204" pitchFamily="34" charset="0"/>
                <a:cs typeface="Calibri" panose="020F0502020204030204" pitchFamily="34" charset="0"/>
              </a:rPr>
              <a:t>nslookup</a:t>
            </a:r>
            <a:r>
              <a:rPr lang="en-US" sz="1200" b="1" dirty="0">
                <a:effectLst/>
                <a:latin typeface="Calibri" panose="020F0502020204030204" pitchFamily="34" charset="0"/>
                <a:ea typeface="Calibri" panose="020F0502020204030204" pitchFamily="34" charset="0"/>
                <a:cs typeface="Calibri" panose="020F0502020204030204" pitchFamily="34" charset="0"/>
              </a:rPr>
              <a:t> arecord.contoso.internal.com &lt;name server for the zone&gt;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3"/>
              <a:tabLst>
                <a:tab pos="457200" algn="l"/>
              </a:tabLst>
            </a:pPr>
            <a:r>
              <a:rPr lang="en-US" sz="1200" dirty="0" err="1">
                <a:effectLst/>
                <a:latin typeface="Calibri" panose="020F0502020204030204" pitchFamily="34" charset="0"/>
                <a:ea typeface="Calibri" panose="020F0502020204030204" pitchFamily="34" charset="0"/>
                <a:cs typeface="Calibri" panose="020F0502020204030204" pitchFamily="34" charset="0"/>
              </a:rPr>
              <a:t>Nslookup</a:t>
            </a:r>
            <a:r>
              <a:rPr lang="en-US" sz="1200" dirty="0">
                <a:effectLst/>
                <a:latin typeface="Calibri" panose="020F0502020204030204" pitchFamily="34" charset="0"/>
                <a:ea typeface="Calibri" panose="020F0502020204030204" pitchFamily="34" charset="0"/>
                <a:cs typeface="Calibri" panose="020F0502020204030204" pitchFamily="34" charset="0"/>
              </a:rPr>
              <a:t> should provide the IP address for the record.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Explore DNS metrics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Return to the Azure portal.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 DNS zone, and then select </a:t>
            </a:r>
            <a:r>
              <a:rPr lang="en-US" sz="1200" b="1" dirty="0">
                <a:effectLst/>
                <a:latin typeface="Calibri" panose="020F0502020204030204" pitchFamily="34" charset="0"/>
                <a:ea typeface="Calibri" panose="020F0502020204030204" pitchFamily="34" charset="0"/>
                <a:cs typeface="Calibri" panose="020F0502020204030204" pitchFamily="34" charset="0"/>
              </a:rPr>
              <a:t>Metrics</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Use the </a:t>
            </a:r>
            <a:r>
              <a:rPr lang="en-US" sz="1200" b="1" dirty="0">
                <a:effectLst/>
                <a:latin typeface="Calibri" panose="020F0502020204030204" pitchFamily="34" charset="0"/>
                <a:ea typeface="Calibri" panose="020F0502020204030204" pitchFamily="34" charset="0"/>
                <a:cs typeface="Calibri" panose="020F0502020204030204" pitchFamily="34" charset="0"/>
              </a:rPr>
              <a:t>Metrics</a:t>
            </a:r>
            <a:r>
              <a:rPr lang="en-US" sz="1200" dirty="0">
                <a:effectLst/>
                <a:latin typeface="Calibri" panose="020F0502020204030204" pitchFamily="34" charset="0"/>
                <a:ea typeface="Calibri" panose="020F0502020204030204" pitchFamily="34" charset="0"/>
                <a:cs typeface="Calibri" panose="020F0502020204030204" pitchFamily="34" charset="0"/>
              </a:rPr>
              <a:t> drop-down to view the different metrics that are available.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Query Volume</a:t>
            </a:r>
            <a:r>
              <a:rPr lang="en-US" sz="1200" dirty="0">
                <a:effectLst/>
                <a:latin typeface="Calibri" panose="020F0502020204030204" pitchFamily="34" charset="0"/>
                <a:ea typeface="Calibri" panose="020F0502020204030204" pitchFamily="34" charset="0"/>
                <a:cs typeface="Calibri" panose="020F0502020204030204" pitchFamily="34" charset="0"/>
              </a:rPr>
              <a:t>. If you have been using </a:t>
            </a:r>
            <a:r>
              <a:rPr lang="en-US" sz="1200" dirty="0" err="1">
                <a:effectLst/>
                <a:latin typeface="Calibri" panose="020F0502020204030204" pitchFamily="34" charset="0"/>
                <a:ea typeface="Calibri" panose="020F0502020204030204" pitchFamily="34" charset="0"/>
                <a:cs typeface="Calibri" panose="020F0502020204030204" pitchFamily="34" charset="0"/>
              </a:rPr>
              <a:t>nslookup</a:t>
            </a:r>
            <a:r>
              <a:rPr lang="en-US" sz="1200" dirty="0">
                <a:effectLst/>
                <a:latin typeface="Calibri" panose="020F0502020204030204" pitchFamily="34" charset="0"/>
                <a:ea typeface="Calibri" panose="020F0502020204030204" pitchFamily="34" charset="0"/>
                <a:cs typeface="Calibri" panose="020F0502020204030204" pitchFamily="34" charset="0"/>
              </a:rPr>
              <a:t>, there should be queries.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Use the </a:t>
            </a:r>
            <a:r>
              <a:rPr lang="en-US" sz="1200" b="1" dirty="0">
                <a:effectLst/>
                <a:latin typeface="Calibri" panose="020F0502020204030204" pitchFamily="34" charset="0"/>
                <a:ea typeface="Calibri" panose="020F0502020204030204" pitchFamily="34" charset="0"/>
                <a:cs typeface="Calibri" panose="020F0502020204030204" pitchFamily="34" charset="0"/>
              </a:rPr>
              <a:t>Line Chart</a:t>
            </a:r>
            <a:r>
              <a:rPr lang="en-US" sz="1200" dirty="0">
                <a:effectLst/>
                <a:latin typeface="Calibri" panose="020F0502020204030204" pitchFamily="34" charset="0"/>
                <a:ea typeface="Calibri" panose="020F0502020204030204" pitchFamily="34" charset="0"/>
                <a:cs typeface="Calibri" panose="020F0502020204030204" pitchFamily="34" charset="0"/>
              </a:rPr>
              <a:t> drop-down to observe other chart types, like Area Chart, Bar Chart, and Scatter Chart.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2860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Note: </a:t>
            </a:r>
            <a:r>
              <a:rPr lang="en-US" sz="1200" dirty="0">
                <a:effectLst/>
                <a:latin typeface="Calibri" panose="020F0502020204030204" pitchFamily="34" charset="0"/>
                <a:ea typeface="Calibri" panose="020F0502020204030204" pitchFamily="34" charset="0"/>
                <a:cs typeface="Calibri" panose="020F0502020204030204" pitchFamily="34" charset="0"/>
              </a:rPr>
              <a:t>For more information, </a:t>
            </a:r>
            <a:r>
              <a:rPr lang="en-US" sz="1200" u="sng" dirty="0" err="1">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4"/>
              </a:rPr>
              <a:t>Nslookup</a:t>
            </a:r>
            <a:r>
              <a:rPr lang="en-US" sz="1200" dirty="0">
                <a:effectLst/>
                <a:latin typeface="Calibri" panose="020F0502020204030204" pitchFamily="34" charset="0"/>
                <a:ea typeface="Calibri" panose="020F0502020204030204" pitchFamily="34" charset="0"/>
                <a:cs typeface="Calibri" panose="020F0502020204030204" pitchFamily="34"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31</a:t>
            </a:fld>
            <a:endParaRPr lang="en-US"/>
          </a:p>
        </p:txBody>
      </p:sp>
    </p:spTree>
    <p:extLst>
      <p:ext uri="{BB962C8B-B14F-4D97-AF65-F5344CB8AC3E}">
        <p14:creationId xmlns:p14="http://schemas.microsoft.com/office/powerpoint/2010/main" val="1369546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https://docs.microsoft.com/learn/browse/</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32</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33</a:t>
            </a:fld>
            <a:endParaRPr lang="en-US"/>
          </a:p>
        </p:txBody>
      </p:sp>
    </p:spTree>
    <p:extLst>
      <p:ext uri="{BB962C8B-B14F-4D97-AF65-F5344CB8AC3E}">
        <p14:creationId xmlns:p14="http://schemas.microsoft.com/office/powerpoint/2010/main" val="11668233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AZ-700-Designing-and-Implementing-Microsoft-Azure-Networking-Solutions/6-exercise-configure-dns-configuration-azure.md at master · </a:t>
            </a:r>
            <a:r>
              <a:rPr lang="en-US" dirty="0" err="1">
                <a:hlinkClick r:id="rId3"/>
              </a:rPr>
              <a:t>MicrosoftLearning</a:t>
            </a:r>
            <a:r>
              <a:rPr lang="en-US" dirty="0">
                <a:hlinkClick r:id="rId3"/>
              </a:rPr>
              <a:t>/AZ-700-Designing-and-Implementing-Microsoft-Azure-Networking-Solutions (github.com)</a:t>
            </a:r>
            <a:endParaRPr lang="en-US" dirty="0"/>
          </a:p>
          <a:p>
            <a:endParaRPr lang="en-US" dirty="0"/>
          </a:p>
          <a:p>
            <a:endParaRPr lang="en-US" dirty="0"/>
          </a:p>
          <a:p>
            <a:r>
              <a:rPr lang="en-US" dirty="0">
                <a:hlinkClick r:id="rId4"/>
              </a:rPr>
              <a:t>AZ-700-Designing-and-Implementing-Microsoft-Azure-Networking-Solutions (microsoftlearning.github.io)</a:t>
            </a:r>
            <a:r>
              <a:rPr lang="en-US" dirty="0"/>
              <a:t> </a:t>
            </a:r>
          </a:p>
          <a:p>
            <a:endParaRPr lang="en-US" dirty="0"/>
          </a:p>
          <a:p>
            <a:r>
              <a:rPr lang="en-US" dirty="0"/>
              <a:t>https://microsoftlearning.github.io/AZ-700-Designing-and-Implementing-Microsoft-Azure-Networking-Solutions/Instructions/Exercises/M01-Unit%206%20Configure%20DNS%20settings%20in%20Azure.html</a:t>
            </a:r>
          </a:p>
        </p:txBody>
      </p:sp>
      <p:sp>
        <p:nvSpPr>
          <p:cNvPr id="4" name="Slide Number Placeholder 3"/>
          <p:cNvSpPr>
            <a:spLocks noGrp="1"/>
          </p:cNvSpPr>
          <p:nvPr>
            <p:ph type="sldNum" sz="quarter" idx="5"/>
          </p:nvPr>
        </p:nvSpPr>
        <p:spPr/>
        <p:txBody>
          <a:bodyPr/>
          <a:lstStyle/>
          <a:p>
            <a:fld id="{89B9185C-5C72-45C2-88F0-D7DF9039278A}" type="slidenum">
              <a:rPr lang="en-US" smtClean="0"/>
              <a:t>34</a:t>
            </a:fld>
            <a:endParaRPr lang="en-US"/>
          </a:p>
        </p:txBody>
      </p:sp>
    </p:spTree>
    <p:extLst>
      <p:ext uri="{BB962C8B-B14F-4D97-AF65-F5344CB8AC3E}">
        <p14:creationId xmlns:p14="http://schemas.microsoft.com/office/powerpoint/2010/main" val="12756178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Configure and manage virtual networking (25–30%)</a:t>
            </a:r>
          </a:p>
          <a:p>
            <a:r>
              <a:rPr lang="en-US" altLang="zh-CN" b="0" dirty="0">
                <a:solidFill>
                  <a:srgbClr val="000000"/>
                </a:solidFill>
                <a:effectLst/>
                <a:latin typeface="Consolas" panose="020B0609020204030204" pitchFamily="49" charset="0"/>
              </a:rPr>
              <a:t>Implement and manage virtual networking</a:t>
            </a:r>
          </a:p>
          <a:p>
            <a:r>
              <a:rPr lang="en-US" altLang="zh-CN" b="0" dirty="0">
                <a:solidFill>
                  <a:srgbClr val="0000FF"/>
                </a:solidFill>
                <a:effectLst/>
                <a:latin typeface="Consolas" panose="020B0609020204030204" pitchFamily="49" charset="0"/>
              </a:rPr>
              <a:t>* </a:t>
            </a:r>
            <a:r>
              <a:rPr lang="en-US" altLang="zh-CN" b="0" dirty="0">
                <a:solidFill>
                  <a:srgbClr val="000000"/>
                </a:solidFill>
                <a:effectLst/>
                <a:latin typeface="Consolas" panose="020B0609020204030204" pitchFamily="49" charset="0"/>
              </a:rPr>
              <a:t>Create and configure virtual networks, including peering.</a:t>
            </a:r>
          </a:p>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network peering - https://docs.microsoft.com/azure/virtual-network/virtual-network-peering-overview</a:t>
            </a:r>
          </a:p>
          <a:p>
            <a:pPr marL="171450" indent="-171450">
              <a:buFontTx/>
              <a:buChar char="-"/>
            </a:pPr>
            <a:r>
              <a:rPr lang="en-US" dirty="0"/>
              <a:t>Not encrypted traffic </a:t>
            </a:r>
          </a:p>
          <a:p>
            <a:pPr marL="171450" indent="-171450">
              <a:buFontTx/>
              <a:buChar char="-"/>
            </a:pPr>
            <a:r>
              <a:rPr lang="en-US" dirty="0"/>
              <a:t>Egress traffic is billable </a:t>
            </a:r>
          </a:p>
          <a:p>
            <a:pPr marL="171450" indent="-171450">
              <a:buFontTx/>
              <a:buChar char="-"/>
            </a:pPr>
            <a:endParaRPr lang="en-US" dirty="0"/>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56755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Virtual Network frequently asked questions (FAQ) VNet Peering - https://docs.microsoft.com/azure/virtual-network/virtual-networks-faq</a:t>
            </a:r>
          </a:p>
          <a:p>
            <a:endParaRPr lang="en-US" dirty="0"/>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0586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Create, change, or delete a virtual network peering - https://docs.microsoft.com/azure/virtual-network/virtual-network-manage-peering#requirements-and-constraints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Tutorial: Connect virtual networks with virtual network peering using the Azure portal - https://docs.microsoft.com/azure/virtual-network/tutorial-connect-virtual-networks-portal</a:t>
            </a:r>
          </a:p>
          <a:p>
            <a:endParaRPr lang="en-US" dirty="0"/>
          </a:p>
          <a:p>
            <a:r>
              <a:rPr lang="en-US" sz="1800" b="0" i="0" dirty="0">
                <a:solidFill>
                  <a:srgbClr val="000000"/>
                </a:solidFill>
                <a:effectLst/>
                <a:latin typeface="Calibri" panose="020F0502020204030204" pitchFamily="34" charset="0"/>
              </a:rPr>
              <a:t>When you add a peering on one virtual network, the second virtual network configuration is automatically added as long as you do have the necessary permissions and it is not cross-tenant. Read more about permissions here: </a:t>
            </a:r>
            <a:r>
              <a:rPr lang="en-US" sz="1800" b="0" i="0" u="none" strike="noStrike" dirty="0">
                <a:solidFill>
                  <a:srgbClr val="000000"/>
                </a:solidFill>
                <a:effectLst/>
                <a:latin typeface="Calibri" panose="020F0502020204030204" pitchFamily="34" charset="0"/>
                <a:hlinkClick r:id="rId3"/>
              </a:rPr>
              <a:t>Create, change, or delete an Azure virtual network peering | Microsoft Docs</a:t>
            </a:r>
            <a:br>
              <a:rPr lang="en-US" dirty="0"/>
            </a:br>
            <a:r>
              <a:rPr lang="en-US" dirty="0"/>
              <a:t>https://docs.microsoft.com/en-/azure/virtual-network/virtual-network-manage-peering#permissions</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4942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sng" dirty="0">
                <a:effectLst/>
                <a:latin typeface="Segoe UI VSS (Regular)"/>
                <a:hlinkClick r:id="rId3"/>
              </a:rPr>
              <a:t>Configure VPN gateway transit for virtual network peering - Azure VPN Gateway | Microsoft Docs</a:t>
            </a:r>
            <a:endParaRPr lang="en-US" b="0" i="0" u="sng" dirty="0">
              <a:effectLst/>
              <a:latin typeface="Segoe UI VSS (Regular)"/>
            </a:endParaRPr>
          </a:p>
          <a:p>
            <a:pPr algn="l"/>
            <a:endParaRPr lang="en-US" b="0" i="0" u="none" strike="noStrike" dirty="0">
              <a:solidFill>
                <a:srgbClr val="171717"/>
              </a:solidFill>
              <a:effectLst/>
              <a:latin typeface="Segoe UI" panose="020B0502040204020203" pitchFamily="34" charset="0"/>
              <a:hlinkClick r:id="rId4"/>
            </a:endParaRPr>
          </a:p>
          <a:p>
            <a:pPr algn="l"/>
            <a:r>
              <a:rPr lang="en-US" b="0" i="0" u="none" strike="noStrike" dirty="0">
                <a:solidFill>
                  <a:srgbClr val="171717"/>
                </a:solidFill>
                <a:effectLst/>
                <a:latin typeface="Segoe UI" panose="020B0502040204020203" pitchFamily="34" charset="0"/>
                <a:hlinkClick r:id="rId4"/>
              </a:rPr>
              <a:t>https://docs.microsoft.com/azure/vpn-gateway/vpn-gateway-peering-gateway-transit</a:t>
            </a:r>
          </a:p>
          <a:p>
            <a:pPr algn="l"/>
            <a:endParaRPr lang="en-US" b="0" i="0" u="none" strike="noStrike" dirty="0">
              <a:solidFill>
                <a:srgbClr val="171717"/>
              </a:solidFill>
              <a:effectLst/>
              <a:latin typeface="Segoe UI" panose="020B0502040204020203" pitchFamily="34" charset="0"/>
              <a:hlinkClick r:id="rId4"/>
            </a:endParaRPr>
          </a:p>
          <a:p>
            <a:pPr algn="l"/>
            <a:r>
              <a:rPr lang="en-US" b="0" i="0" u="none" strike="noStrike" dirty="0">
                <a:solidFill>
                  <a:srgbClr val="171717"/>
                </a:solidFill>
                <a:effectLst/>
                <a:latin typeface="Segoe UI" panose="020B0502040204020203" pitchFamily="34" charset="0"/>
                <a:hlinkClick r:id="rId4"/>
              </a:rPr>
              <a:t>Gateway transit</a:t>
            </a:r>
            <a:r>
              <a:rPr lang="en-US" b="0" i="0" dirty="0">
                <a:solidFill>
                  <a:srgbClr val="171717"/>
                </a:solidFill>
                <a:effectLst/>
                <a:latin typeface="Segoe UI" panose="020B0502040204020203" pitchFamily="34" charset="0"/>
              </a:rPr>
              <a:t> is a peering property that lets one virtual network use the VPN gateway in the peered virtual network for cross-premises or VNet-to-VNet connectivity. </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The following diagram shows how gateway transit works with virtual network peering.</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In the diagram, gateway transit allows the peered virtual networks to use the Azure VPN gateway in Hub-RM. Connectivity available on the VPN gateway, including S2S, P2S, and VNet-to-VNet connections, applies to all three virtual networks. The transit option is available for peering between the same, or different deployment models. If you are configuring transit between different deployment models, the hub virtual network and virtual network gateway must be in the Resource Manager deployment model, not the classic deployment model.</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40</a:t>
            </a:fld>
            <a:endParaRPr lang="en-US"/>
          </a:p>
        </p:txBody>
      </p:sp>
    </p:spTree>
    <p:extLst>
      <p:ext uri="{BB962C8B-B14F-4D97-AF65-F5344CB8AC3E}">
        <p14:creationId xmlns:p14="http://schemas.microsoft.com/office/powerpoint/2010/main" val="28081662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Distribute your services across Azure virtual networks and integrate them by using virtual network peering - https://docs.microsoft.com/learn/modules/integrate-vnets-with-vnet-peering/</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hlinkClick r:id="rId3"/>
              </a:rPr>
              <a:t>Distribute your services across Azure virtual networks and integrate them by using virtual network peering - Learn | Microsoft Docs</a:t>
            </a: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a:p>
            <a:pPr algn="l"/>
            <a:r>
              <a:rPr lang="en-US" b="0" i="0" dirty="0">
                <a:solidFill>
                  <a:srgbClr val="171717"/>
                </a:solidFill>
                <a:effectLst/>
                <a:latin typeface="Segoe UI" panose="020B0502040204020203" pitchFamily="34" charset="0"/>
              </a:rPr>
              <a:t>Service chaining enables you to direct traffic from one virtual network to a virtual appliance or gateway in a peered network through user-defined routes.</a:t>
            </a:r>
          </a:p>
          <a:p>
            <a:pPr algn="l"/>
            <a:r>
              <a:rPr lang="en-US" b="0" i="0" dirty="0">
                <a:solidFill>
                  <a:srgbClr val="171717"/>
                </a:solidFill>
                <a:effectLst/>
                <a:latin typeface="Segoe UI" panose="020B0502040204020203" pitchFamily="34" charset="0"/>
              </a:rPr>
              <a:t>To enable service chaining, configure user-defined routes that point to virtual machines in peered virtual networks as the </a:t>
            </a:r>
            <a:r>
              <a:rPr lang="en-US" b="0" i="1" dirty="0">
                <a:solidFill>
                  <a:srgbClr val="171717"/>
                </a:solidFill>
                <a:effectLst/>
                <a:latin typeface="Segoe UI" panose="020B0502040204020203" pitchFamily="34" charset="0"/>
              </a:rPr>
              <a:t>next hop</a:t>
            </a:r>
            <a:r>
              <a:rPr lang="en-US" b="0" i="0" dirty="0">
                <a:solidFill>
                  <a:srgbClr val="171717"/>
                </a:solidFill>
                <a:effectLst/>
                <a:latin typeface="Segoe UI" panose="020B0502040204020203" pitchFamily="34" charset="0"/>
              </a:rPr>
              <a:t> IP address. User-defined routes could also point to virtual network gateways to enable service chaining.</a:t>
            </a:r>
          </a:p>
          <a:p>
            <a:pPr algn="l"/>
            <a:r>
              <a:rPr lang="en-US" b="0" i="0" dirty="0">
                <a:solidFill>
                  <a:srgbClr val="171717"/>
                </a:solidFill>
                <a:effectLst/>
                <a:latin typeface="Segoe UI" panose="020B0502040204020203" pitchFamily="34" charset="0"/>
              </a:rPr>
              <a:t>You can deploy hub-and-spoke networks, where the hub virtual network hosts infrastructure components such as a network virtual appliance or VPN gateway. All the spoke virtual networks can then peer with the hub virtual network. Traffic flows through network virtual appliances or VPN gateways in the hub virtual network.</a:t>
            </a:r>
          </a:p>
          <a:p>
            <a:pPr algn="l"/>
            <a:r>
              <a:rPr lang="en-US" b="0" i="0" dirty="0">
                <a:solidFill>
                  <a:srgbClr val="171717"/>
                </a:solidFill>
                <a:effectLst/>
                <a:latin typeface="Segoe UI" panose="020B0502040204020203" pitchFamily="34" charset="0"/>
              </a:rPr>
              <a:t>Virtual network peering enables the next hop in a user-defined route to be the IP address of a virtual machine in the peered virtual network, or a VPN gateway. You can't route between virtual networks with a user-defined route that specifies an Azure ExpressRoute gateway as the next hop type. </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To learn more about user-defined routes, see </a:t>
            </a:r>
            <a:r>
              <a:rPr lang="en-US" b="0" i="0" u="none" strike="noStrike" dirty="0">
                <a:solidFill>
                  <a:srgbClr val="171717"/>
                </a:solidFill>
                <a:effectLst/>
                <a:latin typeface="Segoe UI" panose="020B0502040204020203" pitchFamily="34" charset="0"/>
                <a:hlinkClick r:id="rId4"/>
              </a:rPr>
              <a:t>User-defined routes overview</a:t>
            </a:r>
            <a:r>
              <a:rPr lang="en-US" b="0" i="0" dirty="0">
                <a:solidFill>
                  <a:srgbClr val="171717"/>
                </a:solidFill>
                <a:effectLst/>
                <a:latin typeface="Segoe UI" panose="020B0502040204020203" pitchFamily="34" charset="0"/>
              </a:rPr>
              <a:t>. https://docs.microsoft.com/azure/virtual-network/virtual-networks-udr-overview#user-defined</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 To learn how to create a hub and spoke network topology, see </a:t>
            </a:r>
            <a:r>
              <a:rPr lang="en-US" b="0" i="0" u="none" strike="noStrike" dirty="0">
                <a:solidFill>
                  <a:srgbClr val="171717"/>
                </a:solidFill>
                <a:effectLst/>
                <a:latin typeface="Segoe UI" panose="020B0502040204020203" pitchFamily="34" charset="0"/>
                <a:hlinkClick r:id="rId5"/>
              </a:rPr>
              <a:t>Hub-spoke network topology in Azure</a:t>
            </a:r>
            <a:r>
              <a:rPr lang="en-US" b="0" i="0" dirty="0">
                <a:solidFill>
                  <a:srgbClr val="171717"/>
                </a:solidFill>
                <a:effectLst/>
                <a:latin typeface="Segoe UI" panose="020B0502040204020203" pitchFamily="34" charset="0"/>
              </a:rPr>
              <a:t>. https://docs.microsoft.com/azure/architecture/reference-architectures/hybrid-networking/hub-spoke?tabs=portal</a:t>
            </a:r>
          </a:p>
        </p:txBody>
      </p:sp>
      <p:sp>
        <p:nvSpPr>
          <p:cNvPr id="4" name="Slide Number Placeholder 3"/>
          <p:cNvSpPr>
            <a:spLocks noGrp="1"/>
          </p:cNvSpPr>
          <p:nvPr>
            <p:ph type="sldNum" sz="quarter" idx="5"/>
          </p:nvPr>
        </p:nvSpPr>
        <p:spPr/>
        <p:txBody>
          <a:bodyPr/>
          <a:lstStyle/>
          <a:p>
            <a:fld id="{8507DC7E-BC41-4478-BA30-CBCC3A644F0A}" type="slidenum">
              <a:rPr lang="en-US" smtClean="0"/>
              <a:t>41</a:t>
            </a:fld>
            <a:endParaRPr lang="en-US"/>
          </a:p>
        </p:txBody>
      </p:sp>
    </p:spTree>
    <p:extLst>
      <p:ext uri="{BB962C8B-B14F-4D97-AF65-F5344CB8AC3E}">
        <p14:creationId xmlns:p14="http://schemas.microsoft.com/office/powerpoint/2010/main" val="2266160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Always consider having students walk-through the demonstrations themselves. Also, consider the overlap with the formal labs and your best use of time. </a:t>
            </a:r>
          </a:p>
          <a:p>
            <a:endParaRPr lang="en-US" dirty="0"/>
          </a:p>
          <a:p>
            <a:pPr marL="0" marR="0">
              <a:lnSpc>
                <a:spcPct val="107000"/>
              </a:lnSpc>
              <a:spcBef>
                <a:spcPts val="200"/>
              </a:spcBef>
              <a:spcAft>
                <a:spcPts val="0"/>
              </a:spcAft>
            </a:pPr>
            <a:r>
              <a:rPr lang="en-US" sz="1200" b="1"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Configure VNet Peering</a:t>
            </a:r>
            <a:endParaRPr lang="en-US" sz="13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Note:</a:t>
            </a:r>
            <a:r>
              <a:rPr lang="en-US" sz="1200" dirty="0">
                <a:effectLst/>
                <a:latin typeface="Calibri" panose="020F0502020204030204" pitchFamily="34" charset="0"/>
                <a:ea typeface="Calibri" panose="020F0502020204030204" pitchFamily="34" charset="0"/>
                <a:cs typeface="Calibri" panose="020F0502020204030204" pitchFamily="34" charset="0"/>
              </a:rPr>
              <a:t> For this demonstration you will need two virtual networks.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Configure VNet peering on the first virtual network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In the </a:t>
            </a:r>
            <a:r>
              <a:rPr lang="en-US" sz="1200" b="1" dirty="0">
                <a:effectLst/>
                <a:latin typeface="Calibri" panose="020F0502020204030204" pitchFamily="34" charset="0"/>
                <a:ea typeface="Calibri" panose="020F0502020204030204" pitchFamily="34" charset="0"/>
                <a:cs typeface="Calibri" panose="020F0502020204030204" pitchFamily="34" charset="0"/>
              </a:rPr>
              <a:t>Azure portal</a:t>
            </a:r>
            <a:r>
              <a:rPr lang="en-US" sz="1200" dirty="0">
                <a:effectLst/>
                <a:latin typeface="Calibri" panose="020F0502020204030204" pitchFamily="34" charset="0"/>
                <a:ea typeface="Calibri" panose="020F0502020204030204" pitchFamily="34" charset="0"/>
                <a:cs typeface="Calibri" panose="020F0502020204030204" pitchFamily="34" charset="0"/>
              </a:rPr>
              <a:t>, select the first virtual network.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Under </a:t>
            </a:r>
            <a:r>
              <a:rPr lang="en-US" sz="1200" b="1" dirty="0">
                <a:effectLst/>
                <a:latin typeface="Calibri" panose="020F0502020204030204" pitchFamily="34" charset="0"/>
                <a:ea typeface="Calibri" panose="020F0502020204030204" pitchFamily="34" charset="0"/>
                <a:cs typeface="Calibri" panose="020F0502020204030204" pitchFamily="34" charset="0"/>
              </a:rPr>
              <a:t>Settings</a:t>
            </a:r>
            <a:r>
              <a:rPr lang="en-US" sz="1200" dirty="0">
                <a:effectLst/>
                <a:latin typeface="Calibri" panose="020F0502020204030204" pitchFamily="34" charset="0"/>
                <a:ea typeface="Calibri" panose="020F0502020204030204" pitchFamily="34" charset="0"/>
                <a:cs typeface="Calibri" panose="020F0502020204030204" pitchFamily="34" charset="0"/>
              </a:rPr>
              <a:t>, select </a:t>
            </a:r>
            <a:r>
              <a:rPr lang="en-US" sz="1200" b="1" dirty="0" err="1">
                <a:effectLst/>
                <a:latin typeface="Calibri" panose="020F0502020204030204" pitchFamily="34" charset="0"/>
                <a:ea typeface="Calibri" panose="020F0502020204030204" pitchFamily="34" charset="0"/>
                <a:cs typeface="Calibri" panose="020F0502020204030204" pitchFamily="34" charset="0"/>
              </a:rPr>
              <a:t>Peerings</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 Add</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Provide a </a:t>
            </a:r>
            <a:r>
              <a:rPr lang="en-US" sz="1200" b="1" dirty="0">
                <a:effectLst/>
                <a:latin typeface="Calibri" panose="020F0502020204030204" pitchFamily="34" charset="0"/>
                <a:ea typeface="Calibri" panose="020F0502020204030204" pitchFamily="34" charset="0"/>
                <a:cs typeface="Calibri" panose="020F0502020204030204" pitchFamily="34" charset="0"/>
              </a:rPr>
              <a:t>Peering link name</a:t>
            </a:r>
            <a:r>
              <a:rPr lang="en-US" sz="1200" dirty="0">
                <a:effectLst/>
                <a:latin typeface="Calibri" panose="020F0502020204030204" pitchFamily="34" charset="0"/>
                <a:ea typeface="Calibri" panose="020F0502020204030204" pitchFamily="34" charset="0"/>
                <a:cs typeface="Calibri" panose="020F0502020204030204" pitchFamily="34" charset="0"/>
              </a:rPr>
              <a:t> for </a:t>
            </a:r>
            <a:r>
              <a:rPr lang="en-US" sz="1200" b="1" dirty="0">
                <a:effectLst/>
                <a:latin typeface="Calibri" panose="020F0502020204030204" pitchFamily="34" charset="0"/>
                <a:ea typeface="Calibri" panose="020F0502020204030204" pitchFamily="34" charset="0"/>
                <a:cs typeface="Calibri" panose="020F0502020204030204" pitchFamily="34" charset="0"/>
              </a:rPr>
              <a:t>This</a:t>
            </a:r>
            <a:r>
              <a:rPr lang="en-US" sz="1200" dirty="0">
                <a:effectLst/>
                <a:latin typeface="Calibri" panose="020F0502020204030204" pitchFamily="34" charset="0"/>
                <a:ea typeface="Calibri" panose="020F0502020204030204" pitchFamily="34" charset="0"/>
                <a:cs typeface="Calibri" panose="020F0502020204030204" pitchFamily="34" charset="0"/>
              </a:rPr>
              <a:t> virtual network peering. For example, VNet1toVNet2.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Provide a </a:t>
            </a:r>
            <a:r>
              <a:rPr lang="en-US" sz="1200" b="1" dirty="0">
                <a:effectLst/>
                <a:latin typeface="Calibri" panose="020F0502020204030204" pitchFamily="34" charset="0"/>
                <a:ea typeface="Calibri" panose="020F0502020204030204" pitchFamily="34" charset="0"/>
                <a:cs typeface="Calibri" panose="020F0502020204030204" pitchFamily="34" charset="0"/>
              </a:rPr>
              <a:t>Peering link name</a:t>
            </a:r>
            <a:r>
              <a:rPr lang="en-US" sz="1200" dirty="0">
                <a:effectLst/>
                <a:latin typeface="Calibri" panose="020F0502020204030204" pitchFamily="34" charset="0"/>
                <a:ea typeface="Calibri" panose="020F0502020204030204" pitchFamily="34" charset="0"/>
                <a:cs typeface="Calibri" panose="020F0502020204030204" pitchFamily="34" charset="0"/>
              </a:rPr>
              <a:t> for the </a:t>
            </a:r>
            <a:r>
              <a:rPr lang="en-US" sz="1200" b="1" dirty="0">
                <a:effectLst/>
                <a:latin typeface="Calibri" panose="020F0502020204030204" pitchFamily="34" charset="0"/>
                <a:ea typeface="Calibri" panose="020F0502020204030204" pitchFamily="34" charset="0"/>
                <a:cs typeface="Calibri" panose="020F0502020204030204" pitchFamily="34" charset="0"/>
              </a:rPr>
              <a:t>Remote</a:t>
            </a:r>
            <a:r>
              <a:rPr lang="en-US" sz="1200" dirty="0">
                <a:effectLst/>
                <a:latin typeface="Calibri" panose="020F0502020204030204" pitchFamily="34" charset="0"/>
                <a:ea typeface="Calibri" panose="020F0502020204030204" pitchFamily="34" charset="0"/>
                <a:cs typeface="Calibri" panose="020F0502020204030204" pitchFamily="34" charset="0"/>
              </a:rPr>
              <a:t> virtual network peering. For example, VNet2toVNet1.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In the </a:t>
            </a:r>
            <a:r>
              <a:rPr lang="en-US" sz="1200" b="1" dirty="0">
                <a:effectLst/>
                <a:latin typeface="Calibri" panose="020F0502020204030204" pitchFamily="34" charset="0"/>
                <a:ea typeface="Calibri" panose="020F0502020204030204" pitchFamily="34" charset="0"/>
                <a:cs typeface="Calibri" panose="020F0502020204030204" pitchFamily="34" charset="0"/>
              </a:rPr>
              <a:t>Virtual network</a:t>
            </a:r>
            <a:r>
              <a:rPr lang="en-US" sz="1200" dirty="0">
                <a:effectLst/>
                <a:latin typeface="Calibri" panose="020F0502020204030204" pitchFamily="34" charset="0"/>
                <a:ea typeface="Calibri" panose="020F0502020204030204" pitchFamily="34" charset="0"/>
                <a:cs typeface="Calibri" panose="020F0502020204030204" pitchFamily="34" charset="0"/>
              </a:rPr>
              <a:t> drop-down, select the </a:t>
            </a:r>
            <a:r>
              <a:rPr lang="en-US" sz="1200" b="1" dirty="0">
                <a:effectLst/>
                <a:latin typeface="Calibri" panose="020F0502020204030204" pitchFamily="34" charset="0"/>
                <a:ea typeface="Calibri" panose="020F0502020204030204" pitchFamily="34" charset="0"/>
                <a:cs typeface="Calibri" panose="020F0502020204030204" pitchFamily="34" charset="0"/>
              </a:rPr>
              <a:t>Remote virtual network</a:t>
            </a:r>
            <a:r>
              <a:rPr lang="en-US" sz="1200" dirty="0">
                <a:effectLst/>
                <a:latin typeface="Calibri" panose="020F0502020204030204" pitchFamily="34" charset="0"/>
                <a:ea typeface="Calibri" panose="020F0502020204030204" pitchFamily="34" charset="0"/>
                <a:cs typeface="Calibri" panose="020F0502020204030204" pitchFamily="34" charset="0"/>
              </a:rPr>
              <a:t> you would like to peer with ensuring you also select the correct </a:t>
            </a:r>
            <a:r>
              <a:rPr lang="en-US" sz="1200" b="1" dirty="0">
                <a:effectLst/>
                <a:latin typeface="Calibri" panose="020F0502020204030204" pitchFamily="34" charset="0"/>
                <a:ea typeface="Calibri" panose="020F0502020204030204" pitchFamily="34" charset="0"/>
                <a:cs typeface="Calibri" panose="020F0502020204030204" pitchFamily="34" charset="0"/>
              </a:rPr>
              <a:t>Subscription</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Use the informational icons to review the </a:t>
            </a:r>
            <a:r>
              <a:rPr lang="en-US" sz="1200" b="1" dirty="0">
                <a:effectLst/>
                <a:latin typeface="Calibri" panose="020F0502020204030204" pitchFamily="34" charset="0"/>
                <a:ea typeface="Calibri" panose="020F0502020204030204" pitchFamily="34" charset="0"/>
                <a:cs typeface="Calibri" panose="020F0502020204030204" pitchFamily="34" charset="0"/>
              </a:rPr>
              <a:t>Traffic to remote virtual network</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b="1" dirty="0">
                <a:effectLst/>
                <a:latin typeface="Calibri" panose="020F0502020204030204" pitchFamily="34" charset="0"/>
                <a:ea typeface="Calibri" panose="020F0502020204030204" pitchFamily="34" charset="0"/>
                <a:cs typeface="Calibri" panose="020F0502020204030204" pitchFamily="34" charset="0"/>
              </a:rPr>
              <a:t>Traffic forwarded from remote virtual network</a:t>
            </a:r>
            <a:r>
              <a:rPr lang="en-US" sz="1200" dirty="0">
                <a:effectLst/>
                <a:latin typeface="Calibri" panose="020F0502020204030204" pitchFamily="34" charset="0"/>
                <a:ea typeface="Calibri" panose="020F0502020204030204" pitchFamily="34" charset="0"/>
                <a:cs typeface="Calibri" panose="020F0502020204030204" pitchFamily="34" charset="0"/>
              </a:rPr>
              <a:t>, and </a:t>
            </a:r>
            <a:r>
              <a:rPr lang="en-US" sz="1200" b="1" dirty="0">
                <a:effectLst/>
                <a:latin typeface="Calibri" panose="020F0502020204030204" pitchFamily="34" charset="0"/>
                <a:ea typeface="Calibri" panose="020F0502020204030204" pitchFamily="34" charset="0"/>
                <a:cs typeface="Calibri" panose="020F0502020204030204" pitchFamily="34" charset="0"/>
              </a:rPr>
              <a:t>Virtual network gateway or Route Server</a:t>
            </a:r>
            <a:r>
              <a:rPr lang="en-US" sz="1200" dirty="0">
                <a:effectLst/>
                <a:latin typeface="Calibri" panose="020F0502020204030204" pitchFamily="34" charset="0"/>
                <a:ea typeface="Calibri" panose="020F0502020204030204" pitchFamily="34" charset="0"/>
                <a:cs typeface="Calibri" panose="020F0502020204030204" pitchFamily="34" charset="0"/>
              </a:rPr>
              <a:t> settings. If you do not have a VPN Gateway, those settings will be greyed out.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Add</a:t>
            </a:r>
            <a:r>
              <a:rPr lang="en-US" sz="1200" dirty="0">
                <a:effectLst/>
                <a:latin typeface="Calibri" panose="020F0502020204030204" pitchFamily="34" charset="0"/>
                <a:ea typeface="Calibri" panose="020F0502020204030204" pitchFamily="34" charset="0"/>
                <a:cs typeface="Calibri" panose="020F0502020204030204" pitchFamily="34" charset="0"/>
              </a:rPr>
              <a:t> to save your settings.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On the </a:t>
            </a:r>
            <a:r>
              <a:rPr lang="en-US" sz="1200" b="1" dirty="0" err="1">
                <a:effectLst/>
                <a:latin typeface="Calibri" panose="020F0502020204030204" pitchFamily="34" charset="0"/>
                <a:ea typeface="Calibri" panose="020F0502020204030204" pitchFamily="34" charset="0"/>
                <a:cs typeface="Calibri" panose="020F0502020204030204" pitchFamily="34" charset="0"/>
              </a:rPr>
              <a:t>Peerings</a:t>
            </a:r>
            <a:r>
              <a:rPr lang="en-US" sz="1200" dirty="0">
                <a:effectLst/>
                <a:latin typeface="Calibri" panose="020F0502020204030204" pitchFamily="34" charset="0"/>
                <a:ea typeface="Calibri" panose="020F0502020204030204" pitchFamily="34" charset="0"/>
                <a:cs typeface="Calibri" panose="020F0502020204030204" pitchFamily="34" charset="0"/>
              </a:rPr>
              <a:t> page, discuss the </a:t>
            </a:r>
            <a:r>
              <a:rPr lang="en-US" sz="1200" b="1" dirty="0">
                <a:effectLst/>
                <a:latin typeface="Calibri" panose="020F0502020204030204" pitchFamily="34" charset="0"/>
                <a:ea typeface="Calibri" panose="020F0502020204030204" pitchFamily="34" charset="0"/>
                <a:cs typeface="Calibri" panose="020F0502020204030204" pitchFamily="34" charset="0"/>
              </a:rPr>
              <a:t>Peering Status</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Confirm VNet peering on the second virtual network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In the </a:t>
            </a:r>
            <a:r>
              <a:rPr lang="en-US" sz="1200" b="1" dirty="0">
                <a:effectLst/>
                <a:latin typeface="Calibri" panose="020F0502020204030204" pitchFamily="34" charset="0"/>
                <a:ea typeface="Calibri" panose="020F0502020204030204" pitchFamily="34" charset="0"/>
                <a:cs typeface="Calibri" panose="020F0502020204030204" pitchFamily="34" charset="0"/>
              </a:rPr>
              <a:t>Azure portal</a:t>
            </a:r>
            <a:r>
              <a:rPr lang="en-US" sz="1200" dirty="0">
                <a:effectLst/>
                <a:latin typeface="Calibri" panose="020F0502020204030204" pitchFamily="34" charset="0"/>
                <a:ea typeface="Calibri" panose="020F0502020204030204" pitchFamily="34" charset="0"/>
                <a:cs typeface="Calibri" panose="020F0502020204030204" pitchFamily="34" charset="0"/>
              </a:rPr>
              <a:t>, select the second virtual network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Under </a:t>
            </a:r>
            <a:r>
              <a:rPr lang="en-US" sz="1200" b="1" dirty="0">
                <a:effectLst/>
                <a:latin typeface="Calibri" panose="020F0502020204030204" pitchFamily="34" charset="0"/>
                <a:ea typeface="Calibri" panose="020F0502020204030204" pitchFamily="34" charset="0"/>
                <a:cs typeface="Calibri" panose="020F0502020204030204" pitchFamily="34" charset="0"/>
              </a:rPr>
              <a:t>Settings</a:t>
            </a:r>
            <a:r>
              <a:rPr lang="en-US" sz="1200" dirty="0">
                <a:effectLst/>
                <a:latin typeface="Calibri" panose="020F0502020204030204" pitchFamily="34" charset="0"/>
                <a:ea typeface="Calibri" panose="020F0502020204030204" pitchFamily="34" charset="0"/>
                <a:cs typeface="Calibri" panose="020F0502020204030204" pitchFamily="34" charset="0"/>
              </a:rPr>
              <a:t>, select </a:t>
            </a:r>
            <a:r>
              <a:rPr lang="en-US" sz="1200" b="1" dirty="0" err="1">
                <a:effectLst/>
                <a:latin typeface="Calibri" panose="020F0502020204030204" pitchFamily="34" charset="0"/>
                <a:ea typeface="Calibri" panose="020F0502020204030204" pitchFamily="34" charset="0"/>
                <a:cs typeface="Calibri" panose="020F0502020204030204" pitchFamily="34" charset="0"/>
              </a:rPr>
              <a:t>Peerings</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Notice that a peering has automatically been created. The name is what you provided when the first virtual network peering was configured.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Notice that the </a:t>
            </a:r>
            <a:r>
              <a:rPr lang="en-US" sz="1200" b="1" dirty="0">
                <a:effectLst/>
                <a:latin typeface="Calibri" panose="020F0502020204030204" pitchFamily="34" charset="0"/>
                <a:ea typeface="Calibri" panose="020F0502020204030204" pitchFamily="34" charset="0"/>
                <a:cs typeface="Calibri" panose="020F0502020204030204" pitchFamily="34" charset="0"/>
              </a:rPr>
              <a:t>Peering Status</a:t>
            </a:r>
            <a:r>
              <a:rPr lang="en-US" sz="1200" dirty="0">
                <a:effectLst/>
                <a:latin typeface="Calibri" panose="020F0502020204030204" pitchFamily="34" charset="0"/>
                <a:ea typeface="Calibri" panose="020F0502020204030204" pitchFamily="34" charset="0"/>
                <a:cs typeface="Calibri" panose="020F0502020204030204" pitchFamily="34" charset="0"/>
              </a:rPr>
              <a:t> is </a:t>
            </a:r>
            <a:r>
              <a:rPr lang="en-US" sz="1200" b="1" dirty="0">
                <a:effectLst/>
                <a:latin typeface="Calibri" panose="020F0502020204030204" pitchFamily="34" charset="0"/>
                <a:ea typeface="Calibri" panose="020F0502020204030204" pitchFamily="34" charset="0"/>
                <a:cs typeface="Calibri" panose="020F0502020204030204" pitchFamily="34" charset="0"/>
              </a:rPr>
              <a:t>Connected</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Discuss how the settings could be changed.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Cancel</a:t>
            </a:r>
            <a:r>
              <a:rPr lang="en-US" sz="1200" dirty="0">
                <a:effectLst/>
                <a:latin typeface="Calibri" panose="020F0502020204030204" pitchFamily="34" charset="0"/>
                <a:ea typeface="Calibri" panose="020F0502020204030204" pitchFamily="34" charset="0"/>
                <a:cs typeface="Calibri" panose="020F0502020204030204" pitchFamily="34" charset="0"/>
              </a:rPr>
              <a:t> your changes.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183784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https://docs.microsoft.com/learn/browse/</a:t>
            </a:r>
          </a:p>
        </p:txBody>
      </p:sp>
      <p:sp>
        <p:nvSpPr>
          <p:cNvPr id="4" name="Slide Number Placeholder 3"/>
          <p:cNvSpPr>
            <a:spLocks noGrp="1"/>
          </p:cNvSpPr>
          <p:nvPr>
            <p:ph type="sldNum" sz="quarter" idx="5"/>
          </p:nvPr>
        </p:nvSpPr>
        <p:spPr/>
        <p:txBody>
          <a:bodyPr/>
          <a:lstStyle/>
          <a:p>
            <a:fld id="{8507DC7E-BC41-4478-BA30-CBCC3A644F0A}" type="slidenum">
              <a:rPr lang="en-US" smtClean="0"/>
              <a:t>43</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44</a:t>
            </a:fld>
            <a:endParaRPr lang="en-US"/>
          </a:p>
        </p:txBody>
      </p:sp>
    </p:spTree>
    <p:extLst>
      <p:ext uri="{BB962C8B-B14F-4D97-AF65-F5344CB8AC3E}">
        <p14:creationId xmlns:p14="http://schemas.microsoft.com/office/powerpoint/2010/main" val="11668233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 (microsoftlearning.github.io)</a:t>
            </a:r>
            <a:endParaRPr lang="en-US" dirty="0"/>
          </a:p>
          <a:p>
            <a:endParaRPr lang="en-US" dirty="0"/>
          </a:p>
          <a:p>
            <a:r>
              <a:rPr lang="en-US" dirty="0"/>
              <a:t>https://microsoftlearning.github.io/AZ-700-Designing-and-Implementing-Microsoft-Azure-Networking-Solutions/Instructions/Exercises/M01-Unit%208%20Connect%20two%20Azure%20Virtual%20Networks%20using%20global%20virtual%20network%20peering.html</a:t>
            </a:r>
          </a:p>
          <a:p>
            <a:endParaRPr lang="en-US" dirty="0"/>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45</a:t>
            </a:fld>
            <a:endParaRPr lang="en-US"/>
          </a:p>
        </p:txBody>
      </p:sp>
    </p:spTree>
    <p:extLst>
      <p:ext uri="{BB962C8B-B14F-4D97-AF65-F5344CB8AC3E}">
        <p14:creationId xmlns:p14="http://schemas.microsoft.com/office/powerpoint/2010/main" val="473477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1000"/>
              </a:spcBef>
              <a:spcAft>
                <a:spcPts val="0"/>
              </a:spcAft>
            </a:pPr>
            <a:r>
              <a:rPr lang="en-US" sz="2800" dirty="0">
                <a:hlinkClick r:id="rId3"/>
              </a:rPr>
              <a:t>Azure virtual network traffic routing | Microsoft Docs</a:t>
            </a:r>
            <a:r>
              <a:rPr lang="en-US" sz="2800" dirty="0"/>
              <a:t> https://docs.microsoft.com/azure/virtual-network/virtual-networks-udr-overview </a:t>
            </a:r>
          </a:p>
          <a:p>
            <a:pPr marL="0" marR="0">
              <a:spcBef>
                <a:spcPts val="1000"/>
              </a:spcBef>
              <a:spcAft>
                <a:spcPts val="0"/>
              </a:spcAft>
            </a:pPr>
            <a:endPar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endParaRP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System routes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automatically creates system routes and assigns the routes to each subnet in a virtual network. You can't create system or remove routes, but you can override some system routes with custom routes. Azure creates default system routes for each subnet, and adds additional optional default routes to specific subnets, or every subnet, when you use specific Azure capabilities.</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Default routes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Each route contains an address prefix and next hop type. When traffic leaving a subnet is sent to an IP address within the address prefix of a route, the route that contains the prefix is the route Azure uses. Whenever a virtual network is created, Azure automatically creates the following default system routes for each subnet within the virtual network.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In routing terms, a hop is a waypoint on the overall route. Therefore, the next hop is the next waypoint that the traffic is directed to on its journey to its ultimate destination. The next hop types listed in the previous table represent how Azure routes traffic destined for the address prefix listed. The next hop types are defined as follows: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Virtual network:</a:t>
            </a:r>
            <a:r>
              <a:rPr lang="en-US" sz="1800" dirty="0">
                <a:effectLst/>
                <a:latin typeface="Calibri" panose="020F0502020204030204" pitchFamily="34" charset="0"/>
                <a:ea typeface="Calibri" panose="020F0502020204030204" pitchFamily="34" charset="0"/>
                <a:cs typeface="Times New Roman" panose="02020603050405020304" pitchFamily="18" charset="0"/>
              </a:rPr>
              <a:t> Routes traffic between address ranges within the address space of a virtual network. Azure creates a route with an address prefix that corresponds to each address range defined within the address space of a virtual network. Azure automatically routes traffic between subnets using the routes created for each address range.</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Internet: </a:t>
            </a:r>
            <a:r>
              <a:rPr lang="en-US" sz="1800" dirty="0">
                <a:effectLst/>
                <a:latin typeface="Calibri" panose="020F0502020204030204" pitchFamily="34" charset="0"/>
                <a:ea typeface="Calibri" panose="020F0502020204030204" pitchFamily="34" charset="0"/>
                <a:cs typeface="Times New Roman" panose="02020603050405020304" pitchFamily="18" charset="0"/>
              </a:rPr>
              <a:t>Routes traffic specified by the address prefix to the Internet. The system default route specifies the 0.0.0.0/0 address prefix. Azure routes traffic for any address not specified by an address range within a virtual network to the Internet, unless the destination address is for an Azure service. Azure routes any traffic destined for its service directly to the service over the backbone network, rather than routing the traffic to the Internet. You can override Azure's default system route for the 0.0.0.0/0 address prefix with a custom route.</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None:</a:t>
            </a:r>
            <a:r>
              <a:rPr lang="en-US" sz="1800" dirty="0">
                <a:effectLst/>
                <a:latin typeface="Calibri" panose="020F0502020204030204" pitchFamily="34" charset="0"/>
                <a:ea typeface="Calibri" panose="020F0502020204030204" pitchFamily="34" charset="0"/>
                <a:cs typeface="Times New Roman" panose="02020603050405020304" pitchFamily="18" charset="0"/>
              </a:rPr>
              <a:t> Traffic routed to 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None</a:t>
            </a:r>
            <a:r>
              <a:rPr lang="en-US" sz="1800" dirty="0">
                <a:effectLst/>
                <a:latin typeface="Calibri" panose="020F0502020204030204" pitchFamily="34" charset="0"/>
                <a:ea typeface="Calibri" panose="020F0502020204030204" pitchFamily="34" charset="0"/>
                <a:cs typeface="Times New Roman" panose="02020603050405020304" pitchFamily="18" charset="0"/>
              </a:rPr>
              <a:t> next hop type is dropped, rather than routed outside the subnet. Azure automatically creates default routes for the following address prefixes: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10.0.0.0/8 and 192.168.0.0/16: Reserved for private use in RFC 1918.</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100.64.0.0/10: Reserved in RFC 6598.</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If you assign any of the previous address ranges within the address space of a virtual network, Azure automatically changes the next hop type for the route from None to Virtual network. If you assign an address range to the address space of a virtual network that includes, but isn't the same as, one of the four reserved address prefixes, Azure removes the route for the prefix and adds a route for the address prefix you added, with Virtual network as the next hop type.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48</a:t>
            </a:fld>
            <a:endParaRPr lang="en-US"/>
          </a:p>
        </p:txBody>
      </p:sp>
    </p:spTree>
    <p:extLst>
      <p:ext uri="{BB962C8B-B14F-4D97-AF65-F5344CB8AC3E}">
        <p14:creationId xmlns:p14="http://schemas.microsoft.com/office/powerpoint/2010/main" val="29681664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and implement user-defined routes (UDRs)</a:t>
            </a:r>
          </a:p>
          <a:p>
            <a:r>
              <a:rPr lang="en-US" dirty="0"/>
              <a:t>  associate a route table with a subnet </a:t>
            </a:r>
          </a:p>
          <a:p>
            <a:r>
              <a:rPr lang="en-US" dirty="0"/>
              <a:t> configure forced tunneling</a:t>
            </a:r>
          </a:p>
          <a:p>
            <a:endParaRPr lang="en-US" dirty="0"/>
          </a:p>
          <a:p>
            <a:endParaRPr lang="en-US" dirty="0"/>
          </a:p>
          <a:p>
            <a:pPr algn="l"/>
            <a:r>
              <a:rPr lang="en-US" b="0" i="0" dirty="0">
                <a:effectLst/>
                <a:latin typeface="Segoe UI" panose="020B0502040204020203" pitchFamily="34" charset="0"/>
              </a:rPr>
              <a:t>Here is an example where you have a virtual network that includes three subnets.</a:t>
            </a:r>
          </a:p>
          <a:p>
            <a:pPr algn="l">
              <a:buFont typeface="Arial" panose="020B0604020202020204" pitchFamily="34" charset="0"/>
              <a:buChar char="•"/>
            </a:pPr>
            <a:r>
              <a:rPr lang="en-US" b="0" i="0" dirty="0">
                <a:effectLst/>
                <a:latin typeface="Segoe UI" panose="020B0502040204020203" pitchFamily="34" charset="0"/>
              </a:rPr>
              <a:t>The subnets are Private, DMZ, and Public. In the DMZ subnet, there is a network virtual appliance (NVA). NVAs are VMs that help with network functions like routing and firewall optimization.</a:t>
            </a:r>
          </a:p>
          <a:p>
            <a:pPr algn="l">
              <a:buFont typeface="Arial" panose="020B0604020202020204" pitchFamily="34" charset="0"/>
              <a:buChar char="•"/>
            </a:pPr>
            <a:r>
              <a:rPr lang="en-US" b="0" i="0" dirty="0">
                <a:effectLst/>
                <a:latin typeface="Segoe UI" panose="020B0502040204020203" pitchFamily="34" charset="0"/>
              </a:rPr>
              <a:t>You want to ensure all traffic from the Public subnet goes through the NVA to the Private subnet.</a:t>
            </a:r>
          </a:p>
          <a:p>
            <a:br>
              <a:rPr lang="en-US" dirty="0"/>
            </a:b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49</a:t>
            </a:fld>
            <a:endParaRPr lang="en-US"/>
          </a:p>
        </p:txBody>
      </p:sp>
    </p:spTree>
    <p:extLst>
      <p:ext uri="{BB962C8B-B14F-4D97-AF65-F5344CB8AC3E}">
        <p14:creationId xmlns:p14="http://schemas.microsoft.com/office/powerpoint/2010/main" val="34333870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effectLst/>
                <a:latin typeface="Segoe UI" panose="020B0502040204020203" pitchFamily="34" charset="0"/>
              </a:rPr>
              <a:t>The new route is named </a:t>
            </a:r>
            <a:r>
              <a:rPr lang="en-US" b="0" i="1" dirty="0" err="1">
                <a:effectLst/>
                <a:latin typeface="Segoe UI" panose="020B0502040204020203" pitchFamily="34" charset="0"/>
              </a:rPr>
              <a:t>ToPrivateSubnet</a:t>
            </a:r>
            <a:r>
              <a:rPr lang="en-US" b="0" i="0" dirty="0">
                <a:effectLst/>
                <a:latin typeface="Segoe UI" panose="020B0502040204020203" pitchFamily="34" charset="0"/>
              </a:rPr>
              <a:t>.</a:t>
            </a:r>
          </a:p>
          <a:p>
            <a:pPr algn="l">
              <a:buFont typeface="Arial" panose="020B0604020202020204" pitchFamily="34" charset="0"/>
              <a:buChar char="•"/>
            </a:pPr>
            <a:r>
              <a:rPr lang="en-US" b="0" i="0" dirty="0">
                <a:effectLst/>
                <a:latin typeface="Segoe UI" panose="020B0502040204020203" pitchFamily="34" charset="0"/>
              </a:rPr>
              <a:t>The Private subnet is at 10.0.1.0/24.</a:t>
            </a:r>
          </a:p>
          <a:p>
            <a:pPr algn="l">
              <a:buFont typeface="Arial" panose="020B0604020202020204" pitchFamily="34" charset="0"/>
              <a:buChar char="•"/>
            </a:pPr>
            <a:r>
              <a:rPr lang="en-US" b="0" i="0" dirty="0">
                <a:effectLst/>
                <a:latin typeface="Segoe UI" panose="020B0502040204020203" pitchFamily="34" charset="0"/>
              </a:rPr>
              <a:t>The route uses a virtual appliance. Notice the other choices for </a:t>
            </a:r>
            <a:r>
              <a:rPr lang="en-US" b="0" i="1" dirty="0">
                <a:effectLst/>
                <a:latin typeface="Segoe UI" panose="020B0502040204020203" pitchFamily="34" charset="0"/>
              </a:rPr>
              <a:t>Next hop type</a:t>
            </a:r>
            <a:r>
              <a:rPr lang="en-US" b="0" i="0" dirty="0">
                <a:effectLst/>
                <a:latin typeface="Segoe UI" panose="020B0502040204020203" pitchFamily="34" charset="0"/>
              </a:rPr>
              <a:t>: virtual network gateway, virtual network, internet, and none.</a:t>
            </a:r>
          </a:p>
          <a:p>
            <a:pPr algn="l">
              <a:buFont typeface="Arial" panose="020B0604020202020204" pitchFamily="34" charset="0"/>
              <a:buChar char="•"/>
            </a:pPr>
            <a:r>
              <a:rPr lang="en-US" b="0" i="0" dirty="0">
                <a:effectLst/>
                <a:latin typeface="Segoe UI" panose="020B0502040204020203" pitchFamily="34" charset="0"/>
              </a:rPr>
              <a:t>The virtual appliance is located at 10.0.2.4.</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50</a:t>
            </a:fld>
            <a:endParaRPr lang="en-US"/>
          </a:p>
        </p:txBody>
      </p:sp>
    </p:spTree>
    <p:extLst>
      <p:ext uri="{BB962C8B-B14F-4D97-AF65-F5344CB8AC3E}">
        <p14:creationId xmlns:p14="http://schemas.microsoft.com/office/powerpoint/2010/main" val="40526443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Forced tunneling lets you redirect or "force" all Internet-bound traffic back to your on-premises location via a Site-to-Site VPN tunnel for inspection and auditing. This is a critical security requirement for most enterprise IT policies. If you don't configure forced tunneling, Internet-bound traffic from your VMs in Azure always traverses from the Azure network infrastructure directly out to the Internet, without the option to allow you to inspect or audit the traffic. Unauthorized Internet access can potentially lead to information disclosure or other types of security breaches. Forced tunneling can be configured by using Azure PowerShell. It can't be configured using the Azure portal.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following example, the Frontend subnet is not force tunneled. The workloads in the Frontend subnet can continue to accept and respond to customer requests from the Internet directly. The Mid-tier and Backend subnets are forced tunneled. Any outbound connections from these two subnets to the Internet will be forced or redirected back to an on-premises site via one of the Site-to-site (S2S) VPN tunnels.</a:t>
            </a:r>
          </a:p>
          <a:p>
            <a:endParaRPr lang="en-US" dirty="0"/>
          </a:p>
          <a:p>
            <a:endParaRPr lang="en-US" dirty="0"/>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Each virtual network subnet has a built-in, system routing table. The system routing table has the following three groups of routes:</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Local VNet routes: Route directly to the destination VMs in the same virtual network.</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On-premises routes: Route to the Azure VPN gateway.</a:t>
            </a:r>
          </a:p>
          <a:p>
            <a:pPr marL="342900" marR="0" lvl="0" indent="-342900">
              <a:spcBef>
                <a:spcPts val="0"/>
              </a:spcBef>
              <a:spcAft>
                <a:spcPts val="100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Default route: Route directly to the Internet. Packets destined to the private IP addresses not covered by the previous two routes are dropped.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To configure forced tunnelling, you must:</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routing table.</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Add a user-defined default route to the VPN Gateway.</a:t>
            </a:r>
          </a:p>
          <a:p>
            <a:pPr marL="342900" marR="0" lvl="0" indent="-342900">
              <a:spcBef>
                <a:spcPts val="0"/>
              </a:spcBef>
              <a:spcAft>
                <a:spcPts val="100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Associate the routing table to the appropriate VNet subnet(s).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Forced tunneling must be associated with a VNet that has a route-based VPN gateway. </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must set a default site connection among the cross-premises local sites connected to the virtual network. </a:t>
            </a:r>
          </a:p>
          <a:p>
            <a:pPr marL="342900" marR="0" lvl="0" indent="-342900">
              <a:spcBef>
                <a:spcPts val="0"/>
              </a:spcBef>
              <a:spcAft>
                <a:spcPts val="100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on-premises VPN device must be configured using 0.0.0.0/0 as traffic selectors.</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51</a:t>
            </a:fld>
            <a:endParaRPr lang="en-US"/>
          </a:p>
        </p:txBody>
      </p:sp>
    </p:spTree>
    <p:extLst>
      <p:ext uri="{BB962C8B-B14F-4D97-AF65-F5344CB8AC3E}">
        <p14:creationId xmlns:p14="http://schemas.microsoft.com/office/powerpoint/2010/main" val="13990482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https://docs.microsoft.com/azure/route-server/overview</a:t>
            </a:r>
          </a:p>
        </p:txBody>
      </p:sp>
      <p:sp>
        <p:nvSpPr>
          <p:cNvPr id="4" name="Slide Number Placeholder 3"/>
          <p:cNvSpPr>
            <a:spLocks noGrp="1"/>
          </p:cNvSpPr>
          <p:nvPr>
            <p:ph type="sldNum" sz="quarter" idx="5"/>
          </p:nvPr>
        </p:nvSpPr>
        <p:spPr/>
        <p:txBody>
          <a:bodyPr/>
          <a:lstStyle/>
          <a:p>
            <a:fld id="{2C33A655-50E7-4D5D-8F4B-4E747C8025DC}" type="slidenum">
              <a:rPr lang="en-US" smtClean="0"/>
              <a:t>52</a:t>
            </a:fld>
            <a:endParaRPr lang="en-US"/>
          </a:p>
        </p:txBody>
      </p:sp>
    </p:spTree>
    <p:extLst>
      <p:ext uri="{BB962C8B-B14F-4D97-AF65-F5344CB8AC3E}">
        <p14:creationId xmlns:p14="http://schemas.microsoft.com/office/powerpoint/2010/main" val="30068811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You can view the effective routes for each network interface by using the Azure Portal, Azure PowerShell, or Azure CLI. The following steps show examples of each technique. In each case, output is only returned if the VM is in the running state. If there are multiple network interfaces attached to the VM, you can review the effective routes for each network interface. Since each network interface can be in a different subnet, each network interface can have different effective routes.</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Times New Roman" panose="02020603050405020304" pitchFamily="18" charset="0"/>
              </a:rPr>
              <a:t>Log into the Azure portal with an Azure account that has the </a:t>
            </a:r>
            <a:r>
              <a:rPr lang="en-US" sz="1800" u="sng">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necessary permissions</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Times New Roman" panose="02020603050405020304" pitchFamily="18" charset="0"/>
              </a:rPr>
              <a:t>In the search box, enter the name of the VM that you want to investigate. </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Times New Roman" panose="02020603050405020304" pitchFamily="18" charset="0"/>
              </a:rPr>
              <a:t>Select the VM from the search results.</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Times New Roman" panose="02020603050405020304" pitchFamily="18" charset="0"/>
              </a:rPr>
              <a:t>Under </a:t>
            </a:r>
            <a:r>
              <a:rPr lang="en-US" sz="1800" b="1">
                <a:effectLst/>
                <a:latin typeface="Calibri" panose="020F0502020204030204" pitchFamily="34" charset="0"/>
                <a:ea typeface="Calibri" panose="020F0502020204030204" pitchFamily="34" charset="0"/>
                <a:cs typeface="Times New Roman" panose="02020603050405020304" pitchFamily="18" charset="0"/>
              </a:rPr>
              <a:t>Settings</a:t>
            </a:r>
            <a:r>
              <a:rPr lang="en-US" sz="1800">
                <a:effectLst/>
                <a:latin typeface="Calibri" panose="020F0502020204030204" pitchFamily="34" charset="0"/>
                <a:ea typeface="Calibri" panose="020F0502020204030204" pitchFamily="34" charset="0"/>
                <a:cs typeface="Times New Roman" panose="02020603050405020304" pitchFamily="18" charset="0"/>
              </a:rPr>
              <a:t>, select </a:t>
            </a:r>
            <a:r>
              <a:rPr lang="en-US" sz="1800" b="1">
                <a:effectLst/>
                <a:latin typeface="Calibri" panose="020F0502020204030204" pitchFamily="34" charset="0"/>
                <a:ea typeface="Calibri" panose="020F0502020204030204" pitchFamily="34" charset="0"/>
                <a:cs typeface="Times New Roman" panose="02020603050405020304" pitchFamily="18" charset="0"/>
              </a:rPr>
              <a:t>Networking</a:t>
            </a:r>
            <a:r>
              <a:rPr lang="en-US" sz="1800">
                <a:effectLst/>
                <a:latin typeface="Calibri" panose="020F0502020204030204" pitchFamily="34" charset="0"/>
                <a:ea typeface="Calibri" panose="020F0502020204030204" pitchFamily="34" charset="0"/>
                <a:cs typeface="Times New Roman" panose="02020603050405020304" pitchFamily="18" charset="0"/>
              </a:rPr>
              <a:t>, and navigate to the network interface resource by selecting its name.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5.      Under </a:t>
            </a:r>
            <a:r>
              <a:rPr lang="en-US" sz="1800" b="1">
                <a:effectLst/>
                <a:latin typeface="Calibri" panose="020F0502020204030204" pitchFamily="34" charset="0"/>
                <a:ea typeface="Calibri" panose="020F0502020204030204" pitchFamily="34" charset="0"/>
                <a:cs typeface="Times New Roman" panose="02020603050405020304" pitchFamily="18" charset="0"/>
              </a:rPr>
              <a:t>Support + troubleshooting</a:t>
            </a:r>
            <a:r>
              <a:rPr lang="en-US" sz="1800">
                <a:effectLst/>
                <a:latin typeface="Calibri" panose="020F0502020204030204" pitchFamily="34" charset="0"/>
                <a:ea typeface="Calibri" panose="020F0502020204030204" pitchFamily="34" charset="0"/>
                <a:cs typeface="Times New Roman" panose="02020603050405020304" pitchFamily="18" charset="0"/>
              </a:rPr>
              <a:t>, select </a:t>
            </a:r>
            <a:r>
              <a:rPr lang="en-US" sz="1800" b="1">
                <a:effectLst/>
                <a:latin typeface="Calibri" panose="020F0502020204030204" pitchFamily="34" charset="0"/>
                <a:ea typeface="Calibri" panose="020F0502020204030204" pitchFamily="34" charset="0"/>
                <a:cs typeface="Times New Roman" panose="02020603050405020304" pitchFamily="18" charset="0"/>
              </a:rPr>
              <a:t>Effective routes</a:t>
            </a:r>
            <a:r>
              <a:rPr lang="en-US" sz="1800">
                <a:effectLst/>
                <a:latin typeface="Calibri" panose="020F0502020204030204" pitchFamily="34" charset="0"/>
                <a:ea typeface="Calibri" panose="020F0502020204030204" pitchFamily="34" charset="0"/>
                <a:cs typeface="Times New Roman" panose="02020603050405020304" pitchFamily="18" charset="0"/>
              </a:rPr>
              <a:t>. The effective routes for a network interface named </a:t>
            </a:r>
            <a:r>
              <a:rPr lang="en-US" sz="1800" b="1">
                <a:effectLst/>
                <a:latin typeface="Calibri" panose="020F0502020204030204" pitchFamily="34" charset="0"/>
                <a:ea typeface="Calibri" panose="020F0502020204030204" pitchFamily="34" charset="0"/>
                <a:cs typeface="Times New Roman" panose="02020603050405020304" pitchFamily="18" charset="0"/>
              </a:rPr>
              <a:t>myVMNic1</a:t>
            </a:r>
            <a:r>
              <a:rPr lang="en-US" sz="180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You can view the effective routes for a network interface with the </a:t>
            </a:r>
            <a:r>
              <a:rPr lang="en-US" sz="1800" b="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Get-</a:t>
            </a:r>
            <a:r>
              <a:rPr lang="en-US" sz="1800" b="0" err="1">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AzEffectiveRouteTable</a:t>
            </a:r>
            <a:r>
              <a:rPr lang="en-US" sz="1800" b="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command. The following example gets the effective routes for a network interface named </a:t>
            </a:r>
            <a:r>
              <a:rPr lang="en-US" sz="1800" i="1">
                <a:effectLst/>
                <a:latin typeface="Calibri" panose="020F0502020204030204" pitchFamily="34" charset="0"/>
                <a:ea typeface="Calibri" panose="020F0502020204030204" pitchFamily="34" charset="0"/>
                <a:cs typeface="Times New Roman" panose="02020603050405020304" pitchFamily="18" charset="0"/>
              </a:rPr>
              <a:t>myVMNic1</a:t>
            </a:r>
            <a:r>
              <a:rPr lang="en-US" sz="1800">
                <a:effectLst/>
                <a:latin typeface="Calibri" panose="020F0502020204030204" pitchFamily="34" charset="0"/>
                <a:ea typeface="Calibri" panose="020F0502020204030204" pitchFamily="34" charset="0"/>
                <a:cs typeface="Times New Roman" panose="02020603050405020304" pitchFamily="18" charset="0"/>
              </a:rPr>
              <a:t>, that is in a resource group named </a:t>
            </a:r>
            <a:r>
              <a:rPr lang="en-US" sz="1800" i="1" err="1">
                <a:effectLst/>
                <a:latin typeface="Calibri" panose="020F0502020204030204" pitchFamily="34" charset="0"/>
                <a:ea typeface="Calibri" panose="020F0502020204030204" pitchFamily="34" charset="0"/>
                <a:cs typeface="Times New Roman" panose="02020603050405020304" pitchFamily="18" charset="0"/>
              </a:rPr>
              <a:t>myResourceGroup</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You can view the effective routes for a network interface with the </a:t>
            </a:r>
            <a:r>
              <a:rPr lang="en-US" sz="1800" b="0" err="1">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az</a:t>
            </a:r>
            <a:r>
              <a:rPr lang="en-US" sz="1800" b="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 network </a:t>
            </a:r>
            <a:r>
              <a:rPr lang="en-US" sz="1800" b="0" err="1">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nic</a:t>
            </a:r>
            <a:r>
              <a:rPr lang="en-US" sz="1800" b="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 show-effective-route-table </a:t>
            </a:r>
            <a:r>
              <a:rPr lang="en-US" sz="1800">
                <a:effectLst/>
                <a:latin typeface="Calibri" panose="020F0502020204030204" pitchFamily="34" charset="0"/>
                <a:ea typeface="Calibri" panose="020F0502020204030204" pitchFamily="34" charset="0"/>
                <a:cs typeface="Times New Roman" panose="02020603050405020304" pitchFamily="18" charset="0"/>
              </a:rPr>
              <a:t>command. The following example gets the effective routes for a network interface named </a:t>
            </a:r>
            <a:r>
              <a:rPr lang="en-US" sz="1800" i="1">
                <a:effectLst/>
                <a:latin typeface="Calibri" panose="020F0502020204030204" pitchFamily="34" charset="0"/>
                <a:ea typeface="Calibri" panose="020F0502020204030204" pitchFamily="34" charset="0"/>
                <a:cs typeface="Times New Roman" panose="02020603050405020304" pitchFamily="18" charset="0"/>
              </a:rPr>
              <a:t>myVMNic1</a:t>
            </a:r>
            <a:r>
              <a:rPr lang="en-US" sz="1800">
                <a:effectLst/>
                <a:latin typeface="Calibri" panose="020F0502020204030204" pitchFamily="34" charset="0"/>
                <a:ea typeface="Calibri" panose="020F0502020204030204" pitchFamily="34" charset="0"/>
                <a:cs typeface="Times New Roman" panose="02020603050405020304" pitchFamily="18" charset="0"/>
              </a:rPr>
              <a:t> that is in a resource group named </a:t>
            </a:r>
            <a:r>
              <a:rPr lang="en-US" sz="1800" i="1" err="1">
                <a:effectLst/>
                <a:latin typeface="Calibri" panose="020F0502020204030204" pitchFamily="34" charset="0"/>
                <a:ea typeface="Calibri" panose="020F0502020204030204" pitchFamily="34" charset="0"/>
                <a:cs typeface="Times New Roman" panose="02020603050405020304" pitchFamily="18" charset="0"/>
              </a:rPr>
              <a:t>myResourceGroup</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53</a:t>
            </a:fld>
            <a:endParaRPr lang="en-US"/>
          </a:p>
        </p:txBody>
      </p:sp>
    </p:spTree>
    <p:extLst>
      <p:ext uri="{BB962C8B-B14F-4D97-AF65-F5344CB8AC3E}">
        <p14:creationId xmlns:p14="http://schemas.microsoft.com/office/powerpoint/2010/main" val="41735801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Always consider having students walk-through the demonstrations themselves. Also, consider the overlap with the formal labs and your best use of time. </a:t>
            </a:r>
          </a:p>
          <a:p>
            <a:endParaRPr lang="en-US" dirty="0"/>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In this demonstration, we will learn how to create a route table, define a custom route, and associate the route with a subnet.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Note:</a:t>
            </a:r>
            <a:r>
              <a:rPr lang="en-US" sz="1200" dirty="0">
                <a:effectLst/>
                <a:latin typeface="Calibri" panose="020F0502020204030204" pitchFamily="34" charset="0"/>
                <a:ea typeface="Calibri" panose="020F0502020204030204" pitchFamily="34" charset="0"/>
                <a:cs typeface="Calibri" panose="020F0502020204030204" pitchFamily="34" charset="0"/>
              </a:rPr>
              <a:t> This demonstration requires a virtual network with at least one subnet.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Create a routing table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Access the Azure portal.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Navigate to </a:t>
            </a:r>
            <a:r>
              <a:rPr lang="en-US" sz="1200" b="1" dirty="0">
                <a:effectLst/>
                <a:latin typeface="Calibri" panose="020F0502020204030204" pitchFamily="34" charset="0"/>
                <a:ea typeface="Calibri" panose="020F0502020204030204" pitchFamily="34" charset="0"/>
                <a:cs typeface="Calibri" panose="020F0502020204030204" pitchFamily="34" charset="0"/>
              </a:rPr>
              <a:t>Route tables</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 Create</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Name</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err="1">
                <a:effectLst/>
                <a:latin typeface="Calibri" panose="020F0502020204030204" pitchFamily="34" charset="0"/>
                <a:ea typeface="Calibri" panose="020F0502020204030204" pitchFamily="34" charset="0"/>
                <a:cs typeface="Calibri" panose="020F0502020204030204" pitchFamily="34" charset="0"/>
              </a:rPr>
              <a:t>myRouteTablePublic</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Subscription</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select your subscription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Resource group</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create or select a resource group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Region</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select your location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Virtual network gateway route propagation</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Enabled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Create</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Wait for the new routing table to be deployed.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Add a route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your new routing table, and then select </a:t>
            </a:r>
            <a:r>
              <a:rPr lang="en-US" sz="1200" b="1" dirty="0">
                <a:effectLst/>
                <a:latin typeface="Calibri" panose="020F0502020204030204" pitchFamily="34" charset="0"/>
                <a:ea typeface="Calibri" panose="020F0502020204030204" pitchFamily="34" charset="0"/>
                <a:cs typeface="Calibri" panose="020F0502020204030204" pitchFamily="34" charset="0"/>
              </a:rPr>
              <a:t>Routes</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 Add</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Name</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err="1">
                <a:effectLst/>
                <a:latin typeface="Calibri" panose="020F0502020204030204" pitchFamily="34" charset="0"/>
                <a:ea typeface="Calibri" panose="020F0502020204030204" pitchFamily="34" charset="0"/>
                <a:cs typeface="Calibri" panose="020F0502020204030204" pitchFamily="34" charset="0"/>
              </a:rPr>
              <a:t>ToPrivateSubnet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Address prefix</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10.0.1.0/24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Next hop type</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Virtual appliance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Next hop address</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10.0.2.4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Read the information and ensure you have IP forwarding enabled on your virtual appliance. You can enable this by navigating to the respective network interface's IP address settings.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Create</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Wait for the new route to be deployed.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Associate a route table to a subnet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Navigate to the subnet you want to associate with the routing table.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a:t>
            </a:r>
            <a:r>
              <a:rPr lang="en-US" sz="1200" b="1" dirty="0">
                <a:effectLst/>
                <a:latin typeface="Calibri" panose="020F0502020204030204" pitchFamily="34" charset="0"/>
                <a:ea typeface="Calibri" panose="020F0502020204030204" pitchFamily="34" charset="0"/>
                <a:cs typeface="Calibri" panose="020F0502020204030204" pitchFamily="34" charset="0"/>
              </a:rPr>
              <a:t>Route table</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Select your new routing table, </a:t>
            </a:r>
            <a:r>
              <a:rPr lang="en-US" sz="1200" b="1" dirty="0" err="1">
                <a:effectLst/>
                <a:latin typeface="Calibri" panose="020F0502020204030204" pitchFamily="34" charset="0"/>
                <a:ea typeface="Calibri" panose="020F0502020204030204" pitchFamily="34" charset="0"/>
                <a:cs typeface="Calibri" panose="020F0502020204030204" pitchFamily="34" charset="0"/>
              </a:rPr>
              <a:t>myRouteTablePublic</a:t>
            </a:r>
            <a:r>
              <a:rPr lang="en-US" sz="1200" dirty="0">
                <a:effectLst/>
                <a:latin typeface="Calibri" panose="020F0502020204030204" pitchFamily="34" charset="0"/>
                <a:ea typeface="Calibri" panose="020F0502020204030204" pitchFamily="34" charset="0"/>
                <a:cs typeface="Calibri" panose="020F0502020204030204" pitchFamily="34"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Calibri" panose="020F0502020204030204" pitchFamily="34" charset="0"/>
                <a:ea typeface="Calibri" panose="020F0502020204030204" pitchFamily="34" charset="0"/>
                <a:cs typeface="Calibri" panose="020F0502020204030204" pitchFamily="34" charset="0"/>
              </a:rPr>
              <a:t>Save</a:t>
            </a:r>
            <a:r>
              <a:rPr lang="en-US" sz="1200" dirty="0">
                <a:effectLst/>
                <a:latin typeface="Calibri" panose="020F0502020204030204" pitchFamily="34" charset="0"/>
                <a:ea typeface="Calibri" panose="020F0502020204030204" pitchFamily="34" charset="0"/>
                <a:cs typeface="Calibri" panose="020F0502020204030204" pitchFamily="34" charset="0"/>
              </a:rPr>
              <a:t> your changes.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Use PowerShell to view your routing information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Open the Cloud Shell.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dirty="0">
                <a:effectLst/>
                <a:latin typeface="Calibri" panose="020F0502020204030204" pitchFamily="34" charset="0"/>
                <a:ea typeface="Calibri" panose="020F0502020204030204" pitchFamily="34" charset="0"/>
                <a:cs typeface="Calibri" panose="020F0502020204030204" pitchFamily="34" charset="0"/>
              </a:rPr>
              <a:t>View information about your new routing table.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Calibri" panose="020F0502020204030204" pitchFamily="34" charset="0"/>
              </a:rPr>
              <a:t>Get-</a:t>
            </a:r>
            <a:r>
              <a:rPr lang="en-US" sz="1200" b="1" dirty="0" err="1">
                <a:effectLst/>
                <a:latin typeface="Calibri" panose="020F0502020204030204" pitchFamily="34" charset="0"/>
                <a:ea typeface="Calibri" panose="020F0502020204030204" pitchFamily="34" charset="0"/>
                <a:cs typeface="Calibri" panose="020F0502020204030204" pitchFamily="34" charset="0"/>
              </a:rPr>
              <a:t>AzRouteTable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rPr>
              <a:t>Verify the </a:t>
            </a:r>
            <a:r>
              <a:rPr lang="en-US" sz="1200" b="1" dirty="0">
                <a:effectLst/>
                <a:latin typeface="Calibri" panose="020F0502020204030204" pitchFamily="34" charset="0"/>
                <a:ea typeface="Calibri" panose="020F0502020204030204" pitchFamily="34" charset="0"/>
              </a:rPr>
              <a:t>Routes</a:t>
            </a:r>
            <a:r>
              <a:rPr lang="en-US" sz="1200" dirty="0">
                <a:effectLst/>
                <a:latin typeface="Calibri" panose="020F0502020204030204" pitchFamily="34" charset="0"/>
                <a:ea typeface="Calibri" panose="020F0502020204030204" pitchFamily="34" charset="0"/>
              </a:rPr>
              <a:t> and </a:t>
            </a:r>
            <a:r>
              <a:rPr lang="en-US" sz="1200" b="1" dirty="0">
                <a:effectLst/>
                <a:latin typeface="Calibri" panose="020F0502020204030204" pitchFamily="34" charset="0"/>
                <a:ea typeface="Calibri" panose="020F0502020204030204" pitchFamily="34" charset="0"/>
              </a:rPr>
              <a:t>Subnet</a:t>
            </a:r>
            <a:r>
              <a:rPr lang="en-US" sz="1200" dirty="0">
                <a:effectLst/>
                <a:latin typeface="Calibri" panose="020F0502020204030204" pitchFamily="34" charset="0"/>
                <a:ea typeface="Calibri" panose="020F0502020204030204" pitchFamily="34" charset="0"/>
              </a:rPr>
              <a:t> information is correct</a:t>
            </a:r>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54</a:t>
            </a:fld>
            <a:endParaRPr lang="en-US"/>
          </a:p>
        </p:txBody>
      </p:sp>
    </p:spTree>
    <p:extLst>
      <p:ext uri="{BB962C8B-B14F-4D97-AF65-F5344CB8AC3E}">
        <p14:creationId xmlns:p14="http://schemas.microsoft.com/office/powerpoint/2010/main" val="20530063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55</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sz="1200" b="0" i="0" dirty="0">
                <a:solidFill>
                  <a:srgbClr val="DA846B"/>
                </a:solidFill>
                <a:effectLst/>
                <a:latin typeface="Segoe UI" panose="020B0502040204020203" pitchFamily="34" charset="0"/>
              </a:rPr>
              <a:t>Design and implement an Azure Virtual Network NAT</a:t>
            </a:r>
            <a:endParaRPr lang="en-US" altLang="zh-CN" b="0" i="0" dirty="0">
              <a:solidFill>
                <a:srgbClr val="FFFFFF"/>
              </a:solidFill>
              <a:effectLst/>
              <a:latin typeface="Segoe UI" panose="020B0502040204020203" pitchFamily="34" charset="0"/>
            </a:endParaRPr>
          </a:p>
          <a:p>
            <a:pPr algn="l"/>
            <a:br>
              <a:rPr lang="en-US" altLang="zh-CN" b="0" i="0" dirty="0">
                <a:solidFill>
                  <a:srgbClr val="FFFFFF"/>
                </a:solidFill>
                <a:effectLst/>
                <a:latin typeface="Segoe UI" panose="020B0502040204020203" pitchFamily="34" charset="0"/>
              </a:rPr>
            </a:br>
            <a:endParaRPr lang="en-US" altLang="zh-CN" b="0" i="0" dirty="0">
              <a:solidFill>
                <a:srgbClr val="FFFFFF"/>
              </a:solidFill>
              <a:effectLst/>
              <a:latin typeface="Segoe UI" panose="020B0502040204020203" pitchFamily="34" charset="0"/>
            </a:endParaRPr>
          </a:p>
          <a:p>
            <a:pPr algn="l"/>
            <a:r>
              <a:rPr lang="en-US" altLang="zh-CN" sz="1200" b="0" i="0" dirty="0">
                <a:solidFill>
                  <a:srgbClr val="DA846B"/>
                </a:solidFill>
                <a:effectLst/>
                <a:latin typeface="Segoe UI" panose="020B0502040204020203" pitchFamily="34" charset="0"/>
              </a:rPr>
              <a:t>· choose when to use a Virtual Network NAT</a:t>
            </a:r>
            <a:endParaRPr lang="en-US" altLang="zh-CN" b="0" i="0" dirty="0">
              <a:solidFill>
                <a:srgbClr val="FFFFFF"/>
              </a:solidFill>
              <a:effectLst/>
              <a:latin typeface="Segoe UI" panose="020B0502040204020203" pitchFamily="34" charset="0"/>
            </a:endParaRPr>
          </a:p>
          <a:p>
            <a:pPr algn="l"/>
            <a:r>
              <a:rPr lang="en-US" altLang="zh-CN" sz="1200" b="0" i="0" dirty="0">
                <a:solidFill>
                  <a:srgbClr val="DA846B"/>
                </a:solidFill>
                <a:effectLst/>
                <a:latin typeface="Segoe UI" panose="020B0502040204020203" pitchFamily="34" charset="0"/>
              </a:rPr>
              <a:t>· allocate public IP or public IP prefixes for a NAT gateway</a:t>
            </a:r>
            <a:endParaRPr lang="en-US" altLang="zh-CN" b="0" i="0" dirty="0">
              <a:solidFill>
                <a:srgbClr val="FFFFFF"/>
              </a:solidFill>
              <a:effectLst/>
              <a:latin typeface="Segoe UI" panose="020B0502040204020203" pitchFamily="34" charset="0"/>
            </a:endParaRPr>
          </a:p>
          <a:p>
            <a:pPr algn="l"/>
            <a:r>
              <a:rPr lang="en-US" altLang="zh-CN" sz="1200" b="0" i="0" dirty="0">
                <a:solidFill>
                  <a:srgbClr val="DA846B"/>
                </a:solidFill>
                <a:effectLst/>
                <a:latin typeface="Segoe UI" panose="020B0502040204020203" pitchFamily="34" charset="0"/>
              </a:rPr>
              <a:t>· associate a Virtual Network NAT with a subnet</a:t>
            </a:r>
            <a:endParaRPr lang="en-US" altLang="zh-CN" b="0" i="0" dirty="0">
              <a:solidFill>
                <a:srgbClr val="FFFFFF"/>
              </a:solidFill>
              <a:effectLst/>
              <a:latin typeface="Segoe UI" panose="020B0502040204020203" pitchFamily="34" charset="0"/>
            </a:endParaRPr>
          </a:p>
          <a:p>
            <a:endParaRPr lang="en-US" altLang="zh-CN" b="0" dirty="0">
              <a:solidFill>
                <a:srgbClr val="000000"/>
              </a:solidFill>
              <a:effectLst/>
              <a:latin typeface="Consolas" panose="020B0609020204030204" pitchFamily="49" charset="0"/>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4/6/2022 10:28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NAT services provide mappings for a single IP address, a range of IP addresses defined by an IP Prefix, and a range of ports associated with an IP address. NAT is compatible with standard SKU public IP address resources or public IP prefix resources or a combination of both. You can use a public IP prefix directly or distribute the public IP addresses of the prefix across multiple NAT gateway resources. NAT will map all traffic to the range of IP addresses of the prefix. NAT allows flows to be created from the virtual network to the Internet. Return traffic from the Internet is only allowed in response to an active flow.</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diagram shows outbound traffic flow from Subnet 1 through the NAT gateway to be mapped to a Public IP address or a Public IP prefix.</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define the NAT configuration for each subnet within a VNet to enable outbound connectivity by specifying which NAT gateway resource to use. After NAT is configured, all UDP and TCP outbound flows from any virtual machine instance will use NAT for internet connectivity. No further configuration is necessary, and you don’t need to create any user-defined routes. NAT takes precedence over other outbound scenarios and replaces the default Internet destination of a subnet.</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58</a:t>
            </a:fld>
            <a:endParaRPr lang="en-US"/>
          </a:p>
        </p:txBody>
      </p:sp>
    </p:spTree>
    <p:extLst>
      <p:ext uri="{BB962C8B-B14F-4D97-AF65-F5344CB8AC3E}">
        <p14:creationId xmlns:p14="http://schemas.microsoft.com/office/powerpoint/2010/main" val="24507581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 – Public IP </a:t>
            </a:r>
          </a:p>
          <a:p>
            <a:r>
              <a:rPr lang="en-US" dirty="0"/>
              <a:t>IL – Instance level Public IP </a:t>
            </a:r>
          </a:p>
          <a:p>
            <a:r>
              <a:rPr lang="en-US" dirty="0"/>
              <a:t>VMSS – VM Scale Set </a:t>
            </a:r>
          </a:p>
          <a:p>
            <a:endParaRPr lang="en-US" dirty="0"/>
          </a:p>
          <a:p>
            <a:r>
              <a:rPr lang="en-US" b="0" i="1" dirty="0">
                <a:solidFill>
                  <a:srgbClr val="171717"/>
                </a:solidFill>
                <a:effectLst/>
                <a:latin typeface="Segoe UI" panose="020B0502040204020203" pitchFamily="34" charset="0"/>
              </a:rPr>
              <a:t>Virtual Network NAT and VM with instance-level public IP and public Load Balancer</a:t>
            </a:r>
            <a:endParaRPr lang="en-US" dirty="0"/>
          </a:p>
          <a:p>
            <a:r>
              <a:rPr lang="en-US" dirty="0">
                <a:effectLst/>
              </a:rPr>
              <a:t>Inbound - VM with instance-level public IP and public Load Balancer </a:t>
            </a:r>
          </a:p>
          <a:p>
            <a:r>
              <a:rPr lang="en-US" dirty="0">
                <a:effectLst/>
              </a:rPr>
              <a:t>Outbound - NAT gateway</a:t>
            </a: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59</a:t>
            </a:fld>
            <a:endParaRPr lang="en-US"/>
          </a:p>
        </p:txBody>
      </p:sp>
    </p:spTree>
    <p:extLst>
      <p:ext uri="{BB962C8B-B14F-4D97-AF65-F5344CB8AC3E}">
        <p14:creationId xmlns:p14="http://schemas.microsoft.com/office/powerpoint/2010/main" val="24974191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Tutorial: Create a NAT gateway - Azure portal | Microsoft Docs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https://docs.microsoft.com/azure/virtual-network/nat-gateway/tutorial-create-nat-gateway-portal</a:t>
            </a:r>
          </a:p>
          <a:p>
            <a:endParaRPr lang="en-US" dirty="0"/>
          </a:p>
          <a:p>
            <a:endParaRPr lang="en-US" dirty="0"/>
          </a:p>
          <a:p>
            <a:pPr algn="l">
              <a:buFont typeface="Arial" panose="020B0604020202020204" pitchFamily="34" charset="0"/>
              <a:buChar char="•"/>
            </a:pPr>
            <a:r>
              <a:rPr lang="en-US" b="0" i="0" dirty="0">
                <a:solidFill>
                  <a:srgbClr val="171717"/>
                </a:solidFill>
                <a:effectLst/>
                <a:latin typeface="Segoe UI" panose="020B0502040204020203" pitchFamily="34" charset="0"/>
              </a:rPr>
              <a:t>Create a virtual network.</a:t>
            </a:r>
          </a:p>
          <a:p>
            <a:pPr algn="l">
              <a:buFont typeface="Arial" panose="020B0604020202020204" pitchFamily="34" charset="0"/>
              <a:buChar char="•"/>
            </a:pPr>
            <a:r>
              <a:rPr lang="en-US" b="0" i="0" dirty="0">
                <a:solidFill>
                  <a:srgbClr val="171717"/>
                </a:solidFill>
                <a:effectLst/>
                <a:latin typeface="Segoe UI" panose="020B0502040204020203" pitchFamily="34" charset="0"/>
              </a:rPr>
              <a:t>Create a virtual machine.</a:t>
            </a:r>
          </a:p>
          <a:p>
            <a:pPr algn="l">
              <a:buFont typeface="Arial" panose="020B0604020202020204" pitchFamily="34" charset="0"/>
              <a:buChar char="•"/>
            </a:pPr>
            <a:r>
              <a:rPr lang="en-US" b="0" i="0" dirty="0">
                <a:solidFill>
                  <a:srgbClr val="171717"/>
                </a:solidFill>
                <a:effectLst/>
                <a:latin typeface="Segoe UI" panose="020B0502040204020203" pitchFamily="34" charset="0"/>
              </a:rPr>
              <a:t>Create a NAT gateway and associate with the virtual network.</a:t>
            </a:r>
          </a:p>
          <a:p>
            <a:pPr algn="l">
              <a:buFont typeface="Arial" panose="020B0604020202020204" pitchFamily="34" charset="0"/>
              <a:buChar char="•"/>
            </a:pPr>
            <a:r>
              <a:rPr lang="en-US" b="0" i="0" dirty="0">
                <a:solidFill>
                  <a:srgbClr val="171717"/>
                </a:solidFill>
                <a:effectLst/>
                <a:latin typeface="Segoe UI" panose="020B0502040204020203" pitchFamily="34" charset="0"/>
              </a:rPr>
              <a:t>Connect to virtual machine and verify NAT IP address.</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61</a:t>
            </a:fld>
            <a:endParaRPr lang="en-US"/>
          </a:p>
        </p:txBody>
      </p:sp>
    </p:spTree>
    <p:extLst>
      <p:ext uri="{BB962C8B-B14F-4D97-AF65-F5344CB8AC3E}">
        <p14:creationId xmlns:p14="http://schemas.microsoft.com/office/powerpoint/2010/main" val="34213410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62</a:t>
            </a:fld>
            <a:endParaRPr lang="en-US"/>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19845313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7A88F767-C524-4EB1-8396-3C478E23A2A1}"/>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54203727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090" y="463300"/>
            <a:ext cx="11343820"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4" name="Footer Placeholder 1">
            <a:extLst>
              <a:ext uri="{FF2B5EF4-FFF2-40B4-BE49-F238E27FC236}">
                <a16:creationId xmlns:a16="http://schemas.microsoft.com/office/drawing/2014/main" id="{B48AA0CF-DFAD-4DF5-AF33-6EDC3354EC6F}"/>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369424246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80772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5316368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1526125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4847774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3811125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5566062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72405107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FF898-DEE1-477D-8ACE-3F1D91FA3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643AD7-D9EA-42F1-9388-61BAB9C2A6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73340-414E-47F2-B1A6-BB01CEBC2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236BE-BE1E-41A4-81E4-12E311102204}" type="datetimeFigureOut">
              <a:rPr lang="en-US" smtClean="0"/>
              <a:t>4/6/2022</a:t>
            </a:fld>
            <a:endParaRPr lang="en-US"/>
          </a:p>
        </p:txBody>
      </p:sp>
      <p:sp>
        <p:nvSpPr>
          <p:cNvPr id="5" name="Footer Placeholder 4">
            <a:extLst>
              <a:ext uri="{FF2B5EF4-FFF2-40B4-BE49-F238E27FC236}">
                <a16:creationId xmlns:a16="http://schemas.microsoft.com/office/drawing/2014/main" id="{4F50716D-66A0-4E9B-AFE8-DFED252AAF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751632-0E63-450E-9BA6-A4FF0361E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77433-B1D6-4140-98AE-D060540B36D1}" type="slidenum">
              <a:rPr lang="en-US" smtClean="0"/>
              <a:t>‹#›</a:t>
            </a:fld>
            <a:endParaRPr lang="en-US"/>
          </a:p>
        </p:txBody>
      </p:sp>
    </p:spTree>
    <p:extLst>
      <p:ext uri="{BB962C8B-B14F-4D97-AF65-F5344CB8AC3E}">
        <p14:creationId xmlns:p14="http://schemas.microsoft.com/office/powerpoint/2010/main" val="2828749614"/>
      </p:ext>
    </p:extLst>
  </p:cSld>
  <p:clrMap bg1="lt1" tx1="dk1" bg2="lt2" tx2="dk2" accent1="accent1" accent2="accent2" accent3="accent3" accent4="accent4" accent5="accent5" accent6="accent6" hlink="hlink" folHlink="folHlink"/>
  <p:sldLayoutIdLst>
    <p:sldLayoutId id="2147483660"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290776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716" r:id="rId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4.emf"/><Relationship Id="rId7"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5.emf"/><Relationship Id="rId9" Type="http://schemas.openxmlformats.org/officeDocument/2006/relationships/image" Target="../media/image11.em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docs.microsoft.com/en-us/azure/virtual-network/"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7.emf"/><Relationship Id="rId4" Type="http://schemas.openxmlformats.org/officeDocument/2006/relationships/hyperlink" Target="https://docs.microsoft.com/en-us/azure/virtual-network/virtual-networks-overview"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docs.microsoft.com/en-us/azure/virtual-network/public-ip-addresse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hyperlink" Target="https://docs.microsoft.com/en-us/azure/virtual-network/quick-create-powershell" TargetMode="External"/><Relationship Id="rId4" Type="http://schemas.openxmlformats.org/officeDocument/2006/relationships/hyperlink" Target="https://docs.microsoft.com/en-us/azure/virtual-network/quick-create-porta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20.wmf"/><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5.emf"/></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3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20.wmf"/></Relationships>
</file>

<file path=ppt/slides/_rels/slide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4.emf"/><Relationship Id="rId7" Type="http://schemas.openxmlformats.org/officeDocument/2006/relationships/image" Target="../media/image10.emf"/><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5.emf"/></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20.wmf"/></Relationships>
</file>

<file path=ppt/slides/_rels/slide4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4.emf"/><Relationship Id="rId7" Type="http://schemas.openxmlformats.org/officeDocument/2006/relationships/image" Target="../media/image10.emf"/><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5.emf"/><Relationship Id="rId9" Type="http://schemas.openxmlformats.org/officeDocument/2006/relationships/image" Target="../media/image20.wmf"/></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5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hyperlink" Target="https://docs.microsoft.com/en-us/azure/virtual-network/virtual-networks-udr-overview"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4.emf"/><Relationship Id="rId7" Type="http://schemas.openxmlformats.org/officeDocument/2006/relationships/image" Target="../media/image10.emf"/><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5.emf"/></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62.xml.rels><?xml version="1.0" encoding="UTF-8" standalone="yes"?>
<Relationships xmlns="http://schemas.openxmlformats.org/package/2006/relationships"><Relationship Id="rId3" Type="http://schemas.openxmlformats.org/officeDocument/2006/relationships/hyperlink" Target="https://docs.microsoft.com/azure/virtual-network/nat-gateway/nat-gateway-resource" TargetMode="External"/><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hyperlink" Target="https://docs.microsoft.com/azure/virtual-network/nat-gateway/nat-overview" TargetMode="External"/><Relationship Id="rId4" Type="http://schemas.openxmlformats.org/officeDocument/2006/relationships/image" Target="../media/image17.emf"/></Relationships>
</file>

<file path=ppt/slides/_rels/slide6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fontScale="90000"/>
          </a:bodyPr>
          <a:lstStyle/>
          <a:p>
            <a:r>
              <a:rPr lang="en-US" sz="4800" spc="0" dirty="0">
                <a:ln w="3175">
                  <a:noFill/>
                </a:ln>
                <a:latin typeface="Segoe UI Semibold"/>
                <a:ea typeface="+mn-ea"/>
                <a:cs typeface="Segoe UI" pitchFamily="34" charset="0"/>
              </a:rPr>
              <a:t>AZ-700T00A</a:t>
            </a:r>
            <a:br>
              <a:rPr lang="en-US" sz="4800" spc="0" dirty="0">
                <a:ln w="3175">
                  <a:noFill/>
                </a:ln>
                <a:latin typeface="Segoe UI Semibold"/>
                <a:ea typeface="+mn-ea"/>
                <a:cs typeface="Segoe UI" pitchFamily="34" charset="0"/>
              </a:rPr>
            </a:br>
            <a:r>
              <a:rPr lang="en-US" sz="4800" spc="0" dirty="0">
                <a:ln w="3175">
                  <a:noFill/>
                </a:ln>
                <a:latin typeface="Segoe UI Semibold"/>
                <a:ea typeface="+mn-ea"/>
                <a:cs typeface="Segoe UI" pitchFamily="34" charset="0"/>
              </a:rPr>
              <a:t>Module 01: Introduction to Azure Virtual Networks</a:t>
            </a:r>
            <a:endParaRPr lang="en-US" sz="4509" dirty="0"/>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zh-CN" dirty="0"/>
              <a:t>Module Overview</a:t>
            </a:r>
            <a:endParaRPr lang="en-US" dirty="0"/>
          </a:p>
        </p:txBody>
      </p:sp>
      <p:sp>
        <p:nvSpPr>
          <p:cNvPr id="6" name="Text Placeholder 5"/>
          <p:cNvSpPr>
            <a:spLocks noGrp="1"/>
          </p:cNvSpPr>
          <p:nvPr>
            <p:ph type="body" sz="quarter" idx="11"/>
          </p:nvPr>
        </p:nvSpPr>
        <p:spPr/>
        <p:txBody>
          <a:bodyPr/>
          <a:lstStyle/>
          <a:p>
            <a:pPr lvl="1"/>
            <a:r>
              <a:rPr lang="en-US" dirty="0"/>
              <a:t>Lesson 01: Explore Azure Virtual Networks</a:t>
            </a:r>
          </a:p>
        </p:txBody>
      </p:sp>
      <p:sp>
        <p:nvSpPr>
          <p:cNvPr id="2" name="Text Placeholder 1"/>
          <p:cNvSpPr>
            <a:spLocks noGrp="1"/>
          </p:cNvSpPr>
          <p:nvPr>
            <p:ph type="body" sz="quarter" idx="15"/>
          </p:nvPr>
        </p:nvSpPr>
        <p:spPr/>
        <p:txBody>
          <a:bodyPr/>
          <a:lstStyle/>
          <a:p>
            <a:pPr lvl="1"/>
            <a:r>
              <a:rPr lang="fr-FR" dirty="0"/>
              <a:t>Lesson 02: Configure Public IP services </a:t>
            </a:r>
          </a:p>
        </p:txBody>
      </p:sp>
      <p:sp>
        <p:nvSpPr>
          <p:cNvPr id="3" name="Text Placeholder 2"/>
          <p:cNvSpPr>
            <a:spLocks noGrp="1"/>
          </p:cNvSpPr>
          <p:nvPr>
            <p:ph type="body" sz="quarter" idx="17"/>
          </p:nvPr>
        </p:nvSpPr>
        <p:spPr/>
        <p:txBody>
          <a:bodyPr/>
          <a:lstStyle/>
          <a:p>
            <a:pPr lvl="1"/>
            <a:r>
              <a:rPr lang="en-US" dirty="0"/>
              <a:t>Lesson 03: Exercise: design and implement a Virtual Network in Azure </a:t>
            </a:r>
          </a:p>
        </p:txBody>
      </p:sp>
      <p:sp>
        <p:nvSpPr>
          <p:cNvPr id="4" name="Text Placeholder 3"/>
          <p:cNvSpPr>
            <a:spLocks noGrp="1"/>
          </p:cNvSpPr>
          <p:nvPr>
            <p:ph type="body" sz="quarter" idx="19"/>
          </p:nvPr>
        </p:nvSpPr>
        <p:spPr/>
        <p:txBody>
          <a:bodyPr/>
          <a:lstStyle/>
          <a:p>
            <a:pPr lvl="1"/>
            <a:r>
              <a:rPr lang="en-US" dirty="0"/>
              <a:t>Lesson 04: Design name resolution for your Virtual Network</a:t>
            </a:r>
          </a:p>
        </p:txBody>
      </p:sp>
      <p:sp>
        <p:nvSpPr>
          <p:cNvPr id="5" name="Text Placeholder 4"/>
          <p:cNvSpPr>
            <a:spLocks noGrp="1"/>
          </p:cNvSpPr>
          <p:nvPr>
            <p:ph type="body" sz="quarter" idx="21"/>
          </p:nvPr>
        </p:nvSpPr>
        <p:spPr/>
        <p:txBody>
          <a:bodyPr/>
          <a:lstStyle/>
          <a:p>
            <a:pPr lvl="1"/>
            <a:r>
              <a:rPr lang="en-US" dirty="0"/>
              <a:t>Lesson 05: Exercise: configure DNS settings in Azure </a:t>
            </a:r>
          </a:p>
        </p:txBody>
      </p:sp>
      <p:sp>
        <p:nvSpPr>
          <p:cNvPr id="8" name="Text Placeholder 7">
            <a:extLst>
              <a:ext uri="{FF2B5EF4-FFF2-40B4-BE49-F238E27FC236}">
                <a16:creationId xmlns:a16="http://schemas.microsoft.com/office/drawing/2014/main" id="{4C970C09-C124-49EF-A806-956DD6EAA798}"/>
              </a:ext>
            </a:extLst>
          </p:cNvPr>
          <p:cNvSpPr>
            <a:spLocks noGrp="1"/>
          </p:cNvSpPr>
          <p:nvPr>
            <p:ph type="body" sz="quarter" idx="31"/>
          </p:nvPr>
        </p:nvSpPr>
        <p:spPr/>
        <p:txBody>
          <a:bodyPr/>
          <a:lstStyle/>
          <a:p>
            <a:pPr lvl="1"/>
            <a:r>
              <a:rPr lang="en-US" dirty="0"/>
              <a:t>Lesson 06: Enable Cross-</a:t>
            </a:r>
            <a:r>
              <a:rPr lang="en-US" dirty="0" err="1"/>
              <a:t>VNet</a:t>
            </a:r>
            <a:r>
              <a:rPr lang="en-US" dirty="0"/>
              <a:t> connectivity with peering </a:t>
            </a:r>
          </a:p>
        </p:txBody>
      </p:sp>
      <p:sp>
        <p:nvSpPr>
          <p:cNvPr id="9" name="Text Placeholder 8">
            <a:extLst>
              <a:ext uri="{FF2B5EF4-FFF2-40B4-BE49-F238E27FC236}">
                <a16:creationId xmlns:a16="http://schemas.microsoft.com/office/drawing/2014/main" id="{597E9C1C-70B1-4FF1-BDCE-E3611225B156}"/>
              </a:ext>
            </a:extLst>
          </p:cNvPr>
          <p:cNvSpPr>
            <a:spLocks noGrp="1"/>
          </p:cNvSpPr>
          <p:nvPr>
            <p:ph type="body" sz="quarter" idx="32"/>
          </p:nvPr>
        </p:nvSpPr>
        <p:spPr/>
        <p:txBody>
          <a:bodyPr/>
          <a:lstStyle/>
          <a:p>
            <a:pPr lvl="1"/>
            <a:r>
              <a:rPr lang="en-US" dirty="0"/>
              <a:t>Lesson 07: Exercise: connect two Azure Virtual Networks using global virtual network peering </a:t>
            </a:r>
          </a:p>
        </p:txBody>
      </p:sp>
      <p:sp>
        <p:nvSpPr>
          <p:cNvPr id="10" name="Text Placeholder 9">
            <a:extLst>
              <a:ext uri="{FF2B5EF4-FFF2-40B4-BE49-F238E27FC236}">
                <a16:creationId xmlns:a16="http://schemas.microsoft.com/office/drawing/2014/main" id="{2D95B341-ABC5-4ED8-9462-B7B4216DF042}"/>
              </a:ext>
            </a:extLst>
          </p:cNvPr>
          <p:cNvSpPr>
            <a:spLocks noGrp="1"/>
          </p:cNvSpPr>
          <p:nvPr>
            <p:ph type="body" sz="quarter" idx="33"/>
          </p:nvPr>
        </p:nvSpPr>
        <p:spPr/>
        <p:txBody>
          <a:bodyPr/>
          <a:lstStyle/>
          <a:p>
            <a:pPr lvl="1"/>
            <a:r>
              <a:rPr lang="en-US" dirty="0"/>
              <a:t>Lesson 08: Implement virtual network traffic routing </a:t>
            </a:r>
          </a:p>
        </p:txBody>
      </p:sp>
      <p:sp>
        <p:nvSpPr>
          <p:cNvPr id="11" name="Text Placeholder 10">
            <a:extLst>
              <a:ext uri="{FF2B5EF4-FFF2-40B4-BE49-F238E27FC236}">
                <a16:creationId xmlns:a16="http://schemas.microsoft.com/office/drawing/2014/main" id="{0B1D4227-99BD-41CF-8A9E-CAEF2A37B390}"/>
              </a:ext>
            </a:extLst>
          </p:cNvPr>
          <p:cNvSpPr>
            <a:spLocks noGrp="1"/>
          </p:cNvSpPr>
          <p:nvPr>
            <p:ph type="body" sz="quarter" idx="34"/>
          </p:nvPr>
        </p:nvSpPr>
        <p:spPr/>
        <p:txBody>
          <a:bodyPr/>
          <a:lstStyle/>
          <a:p>
            <a:pPr lvl="1"/>
            <a:r>
              <a:rPr lang="en-US" dirty="0"/>
              <a:t>Lesson 09: Configure internet access with Azure Virtual NAT</a:t>
            </a:r>
          </a:p>
        </p:txBody>
      </p:sp>
      <p:sp>
        <p:nvSpPr>
          <p:cNvPr id="12" name="Text Placeholder 11">
            <a:extLst>
              <a:ext uri="{FF2B5EF4-FFF2-40B4-BE49-F238E27FC236}">
                <a16:creationId xmlns:a16="http://schemas.microsoft.com/office/drawing/2014/main" id="{BDB411B7-BFF9-4333-BE25-005B2EE2FA8D}"/>
              </a:ext>
            </a:extLst>
          </p:cNvPr>
          <p:cNvSpPr>
            <a:spLocks noGrp="1"/>
          </p:cNvSpPr>
          <p:nvPr>
            <p:ph type="body" sz="quarter" idx="35"/>
          </p:nvPr>
        </p:nvSpPr>
        <p:spPr/>
        <p:txBody>
          <a:bodyPr/>
          <a:lstStyle/>
          <a:p>
            <a:pPr lvl="1"/>
            <a:r>
              <a:rPr lang="en-US" dirty="0"/>
              <a:t>Review</a:t>
            </a:r>
          </a:p>
        </p:txBody>
      </p:sp>
      <p:grpSp>
        <p:nvGrpSpPr>
          <p:cNvPr id="41" name="Group 40">
            <a:extLst>
              <a:ext uri="{FF2B5EF4-FFF2-40B4-BE49-F238E27FC236}">
                <a16:creationId xmlns:a16="http://schemas.microsoft.com/office/drawing/2014/main" id="{DDB96B85-21AC-4E2C-B52F-760B90C12459}"/>
              </a:ext>
              <a:ext uri="{C183D7F6-B498-43B3-948B-1728B52AA6E4}">
                <adec:decorative xmlns:adec="http://schemas.microsoft.com/office/drawing/2017/decorative" val="1"/>
              </a:ext>
            </a:extLst>
          </p:cNvPr>
          <p:cNvGrpSpPr/>
          <p:nvPr/>
        </p:nvGrpSpPr>
        <p:grpSpPr>
          <a:xfrm>
            <a:off x="418643" y="1441758"/>
            <a:ext cx="717140" cy="717242"/>
            <a:chOff x="418643" y="1441758"/>
            <a:chExt cx="717140" cy="717242"/>
          </a:xfrm>
        </p:grpSpPr>
        <p:grpSp>
          <p:nvGrpSpPr>
            <p:cNvPr id="23" name="Group 22">
              <a:extLst>
                <a:ext uri="{FF2B5EF4-FFF2-40B4-BE49-F238E27FC236}">
                  <a16:creationId xmlns:a16="http://schemas.microsoft.com/office/drawing/2014/main" id="{CB713C76-4F2D-4DA7-8DFA-9C41878BB94E}"/>
                </a:ext>
              </a:extLst>
            </p:cNvPr>
            <p:cNvGrpSpPr/>
            <p:nvPr/>
          </p:nvGrpSpPr>
          <p:grpSpPr>
            <a:xfrm>
              <a:off x="418643" y="1441758"/>
              <a:ext cx="717140" cy="717242"/>
              <a:chOff x="418643" y="1441758"/>
              <a:chExt cx="717140" cy="717242"/>
            </a:xfrm>
          </p:grpSpPr>
          <p:sp>
            <p:nvSpPr>
              <p:cNvPr id="437" name="Freeform 5">
                <a:extLst>
                  <a:ext uri="{FF2B5EF4-FFF2-40B4-BE49-F238E27FC236}">
                    <a16:creationId xmlns:a16="http://schemas.microsoft.com/office/drawing/2014/main" id="{62DF44AF-1A0C-4B66-B6D6-EF98C8C6F9B2}"/>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38" name="Freeform 6">
                <a:extLst>
                  <a:ext uri="{FF2B5EF4-FFF2-40B4-BE49-F238E27FC236}">
                    <a16:creationId xmlns:a16="http://schemas.microsoft.com/office/drawing/2014/main" id="{9CDBFDD5-398A-4CB1-B92E-B4D024B3A4E5}"/>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DD3B672E-8841-4C9C-BA26-55DF9EF6C671}"/>
                </a:ext>
              </a:extLst>
            </p:cNvPr>
            <p:cNvPicPr>
              <a:picLocks noChangeAspect="1"/>
            </p:cNvPicPr>
            <p:nvPr/>
          </p:nvPicPr>
          <p:blipFill>
            <a:blip r:embed="rId3"/>
            <a:stretch>
              <a:fillRect/>
            </a:stretch>
          </p:blipFill>
          <p:spPr>
            <a:xfrm>
              <a:off x="588767" y="1611934"/>
              <a:ext cx="376892" cy="376890"/>
            </a:xfrm>
            <a:prstGeom prst="rect">
              <a:avLst/>
            </a:prstGeom>
          </p:spPr>
        </p:pic>
      </p:grpSp>
      <p:grpSp>
        <p:nvGrpSpPr>
          <p:cNvPr id="40" name="Group 39">
            <a:extLst>
              <a:ext uri="{FF2B5EF4-FFF2-40B4-BE49-F238E27FC236}">
                <a16:creationId xmlns:a16="http://schemas.microsoft.com/office/drawing/2014/main" id="{8C858700-6A33-49E5-96C8-2D574B8F02ED}"/>
              </a:ext>
              <a:ext uri="{C183D7F6-B498-43B3-948B-1728B52AA6E4}">
                <adec:decorative xmlns:adec="http://schemas.microsoft.com/office/drawing/2017/decorative" val="1"/>
              </a:ext>
            </a:extLst>
          </p:cNvPr>
          <p:cNvGrpSpPr/>
          <p:nvPr/>
        </p:nvGrpSpPr>
        <p:grpSpPr>
          <a:xfrm>
            <a:off x="418643" y="2287883"/>
            <a:ext cx="717140" cy="717242"/>
            <a:chOff x="418643" y="2287883"/>
            <a:chExt cx="717140" cy="717242"/>
          </a:xfrm>
        </p:grpSpPr>
        <p:grpSp>
          <p:nvGrpSpPr>
            <p:cNvPr id="24" name="Group 23">
              <a:extLst>
                <a:ext uri="{FF2B5EF4-FFF2-40B4-BE49-F238E27FC236}">
                  <a16:creationId xmlns:a16="http://schemas.microsoft.com/office/drawing/2014/main" id="{C6B8A81B-3C2B-4999-8E6E-2A8FE4213AD4}"/>
                </a:ext>
              </a:extLst>
            </p:cNvPr>
            <p:cNvGrpSpPr/>
            <p:nvPr/>
          </p:nvGrpSpPr>
          <p:grpSpPr>
            <a:xfrm>
              <a:off x="418643" y="2287883"/>
              <a:ext cx="717140" cy="717242"/>
              <a:chOff x="418643" y="2287883"/>
              <a:chExt cx="717140" cy="717242"/>
            </a:xfrm>
          </p:grpSpPr>
          <p:sp>
            <p:nvSpPr>
              <p:cNvPr id="444" name="Freeform 5">
                <a:extLst>
                  <a:ext uri="{FF2B5EF4-FFF2-40B4-BE49-F238E27FC236}">
                    <a16:creationId xmlns:a16="http://schemas.microsoft.com/office/drawing/2014/main" id="{0952D2D1-E1F5-40C1-9CB9-1094FC75154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45" name="Freeform 6">
                <a:extLst>
                  <a:ext uri="{FF2B5EF4-FFF2-40B4-BE49-F238E27FC236}">
                    <a16:creationId xmlns:a16="http://schemas.microsoft.com/office/drawing/2014/main" id="{5EED13B1-E5DD-464E-9D55-EEEB17EE72B4}"/>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arrow in a circular path with a timer inside the circle">
              <a:extLst>
                <a:ext uri="{FF2B5EF4-FFF2-40B4-BE49-F238E27FC236}">
                  <a16:creationId xmlns:a16="http://schemas.microsoft.com/office/drawing/2014/main" id="{2793DF5E-1B92-422B-8BA1-AC40015913F0}"/>
                </a:ext>
              </a:extLst>
            </p:cNvPr>
            <p:cNvPicPr>
              <a:picLocks noChangeAspect="1"/>
            </p:cNvPicPr>
            <p:nvPr/>
          </p:nvPicPr>
          <p:blipFill>
            <a:blip r:embed="rId4"/>
            <a:stretch>
              <a:fillRect/>
            </a:stretch>
          </p:blipFill>
          <p:spPr>
            <a:xfrm>
              <a:off x="588767" y="2458059"/>
              <a:ext cx="376892" cy="376890"/>
            </a:xfrm>
            <a:prstGeom prst="rect">
              <a:avLst/>
            </a:prstGeom>
          </p:spPr>
        </p:pic>
      </p:grpSp>
      <p:grpSp>
        <p:nvGrpSpPr>
          <p:cNvPr id="39" name="Group 38">
            <a:extLst>
              <a:ext uri="{FF2B5EF4-FFF2-40B4-BE49-F238E27FC236}">
                <a16:creationId xmlns:a16="http://schemas.microsoft.com/office/drawing/2014/main" id="{8284B803-5FAA-4399-83A8-A4561698A875}"/>
              </a:ext>
              <a:ext uri="{C183D7F6-B498-43B3-948B-1728B52AA6E4}">
                <adec:decorative xmlns:adec="http://schemas.microsoft.com/office/drawing/2017/decorative" val="1"/>
              </a:ext>
            </a:extLst>
          </p:cNvPr>
          <p:cNvGrpSpPr/>
          <p:nvPr/>
        </p:nvGrpSpPr>
        <p:grpSpPr>
          <a:xfrm>
            <a:off x="418643" y="3134008"/>
            <a:ext cx="717140" cy="717242"/>
            <a:chOff x="418643" y="3134008"/>
            <a:chExt cx="717140" cy="717242"/>
          </a:xfrm>
        </p:grpSpPr>
        <p:grpSp>
          <p:nvGrpSpPr>
            <p:cNvPr id="25" name="Group 24">
              <a:extLst>
                <a:ext uri="{FF2B5EF4-FFF2-40B4-BE49-F238E27FC236}">
                  <a16:creationId xmlns:a16="http://schemas.microsoft.com/office/drawing/2014/main" id="{EBC12EB9-9B46-4FFF-9662-F3F89EFC498B}"/>
                </a:ext>
              </a:extLst>
            </p:cNvPr>
            <p:cNvGrpSpPr/>
            <p:nvPr/>
          </p:nvGrpSpPr>
          <p:grpSpPr>
            <a:xfrm>
              <a:off x="418643" y="3134008"/>
              <a:ext cx="717140" cy="717242"/>
              <a:chOff x="418643" y="3134008"/>
              <a:chExt cx="717140" cy="717242"/>
            </a:xfrm>
          </p:grpSpPr>
          <p:sp>
            <p:nvSpPr>
              <p:cNvPr id="462" name="Freeform 5">
                <a:extLst>
                  <a:ext uri="{FF2B5EF4-FFF2-40B4-BE49-F238E27FC236}">
                    <a16:creationId xmlns:a16="http://schemas.microsoft.com/office/drawing/2014/main" id="{888F553F-7725-480F-8A81-67806B6E1C1D}"/>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63" name="Freeform 6">
                <a:extLst>
                  <a:ext uri="{FF2B5EF4-FFF2-40B4-BE49-F238E27FC236}">
                    <a16:creationId xmlns:a16="http://schemas.microsoft.com/office/drawing/2014/main" id="{5ACB146D-E90A-4B02-A04C-3C75A55BBE6E}"/>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dots and outward pointing chevrons on left and right">
              <a:extLst>
                <a:ext uri="{FF2B5EF4-FFF2-40B4-BE49-F238E27FC236}">
                  <a16:creationId xmlns:a16="http://schemas.microsoft.com/office/drawing/2014/main" id="{65842D12-2F92-42D3-B65A-DE465C113497}"/>
                </a:ext>
              </a:extLst>
            </p:cNvPr>
            <p:cNvPicPr>
              <a:picLocks noChangeAspect="1"/>
            </p:cNvPicPr>
            <p:nvPr/>
          </p:nvPicPr>
          <p:blipFill>
            <a:blip r:embed="rId5"/>
            <a:stretch>
              <a:fillRect/>
            </a:stretch>
          </p:blipFill>
          <p:spPr>
            <a:xfrm>
              <a:off x="526606" y="3382030"/>
              <a:ext cx="501214" cy="221198"/>
            </a:xfrm>
            <a:prstGeom prst="rect">
              <a:avLst/>
            </a:prstGeom>
          </p:spPr>
        </p:pic>
      </p:grpSp>
      <p:grpSp>
        <p:nvGrpSpPr>
          <p:cNvPr id="38" name="Group 37">
            <a:extLst>
              <a:ext uri="{FF2B5EF4-FFF2-40B4-BE49-F238E27FC236}">
                <a16:creationId xmlns:a16="http://schemas.microsoft.com/office/drawing/2014/main" id="{00B12B47-0F34-4D41-9F49-8CD1D4CF17F0}"/>
              </a:ext>
              <a:ext uri="{C183D7F6-B498-43B3-948B-1728B52AA6E4}">
                <adec:decorative xmlns:adec="http://schemas.microsoft.com/office/drawing/2017/decorative" val="1"/>
              </a:ext>
            </a:extLst>
          </p:cNvPr>
          <p:cNvGrpSpPr/>
          <p:nvPr/>
        </p:nvGrpSpPr>
        <p:grpSpPr>
          <a:xfrm>
            <a:off x="418643" y="3980133"/>
            <a:ext cx="717140" cy="717242"/>
            <a:chOff x="418643" y="3980133"/>
            <a:chExt cx="717140" cy="717242"/>
          </a:xfrm>
        </p:grpSpPr>
        <p:grpSp>
          <p:nvGrpSpPr>
            <p:cNvPr id="26" name="Group 25">
              <a:extLst>
                <a:ext uri="{FF2B5EF4-FFF2-40B4-BE49-F238E27FC236}">
                  <a16:creationId xmlns:a16="http://schemas.microsoft.com/office/drawing/2014/main" id="{B75929F5-A085-4C51-8C6E-6E76D2B7DF4B}"/>
                </a:ext>
              </a:extLst>
            </p:cNvPr>
            <p:cNvGrpSpPr/>
            <p:nvPr/>
          </p:nvGrpSpPr>
          <p:grpSpPr>
            <a:xfrm>
              <a:off x="418643" y="3980133"/>
              <a:ext cx="717140" cy="717242"/>
              <a:chOff x="418643" y="3980133"/>
              <a:chExt cx="717140" cy="717242"/>
            </a:xfrm>
          </p:grpSpPr>
          <p:sp>
            <p:nvSpPr>
              <p:cNvPr id="479" name="Freeform 5">
                <a:extLst>
                  <a:ext uri="{FF2B5EF4-FFF2-40B4-BE49-F238E27FC236}">
                    <a16:creationId xmlns:a16="http://schemas.microsoft.com/office/drawing/2014/main" id="{A4703758-132D-40D8-BC75-876B4F27A079}"/>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80" name="Freeform 6">
                <a:extLst>
                  <a:ext uri="{FF2B5EF4-FFF2-40B4-BE49-F238E27FC236}">
                    <a16:creationId xmlns:a16="http://schemas.microsoft.com/office/drawing/2014/main" id="{22856682-E9F0-4805-B656-1CF1B5DE306A}"/>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bulb">
              <a:extLst>
                <a:ext uri="{FF2B5EF4-FFF2-40B4-BE49-F238E27FC236}">
                  <a16:creationId xmlns:a16="http://schemas.microsoft.com/office/drawing/2014/main" id="{64AF90CC-F600-4DB6-9BB3-F6B3BF6BD67B}"/>
                </a:ext>
              </a:extLst>
            </p:cNvPr>
            <p:cNvPicPr>
              <a:picLocks noChangeAspect="1"/>
            </p:cNvPicPr>
            <p:nvPr/>
          </p:nvPicPr>
          <p:blipFill>
            <a:blip r:embed="rId6"/>
            <a:stretch>
              <a:fillRect/>
            </a:stretch>
          </p:blipFill>
          <p:spPr>
            <a:xfrm>
              <a:off x="641719" y="4150309"/>
              <a:ext cx="270988" cy="376890"/>
            </a:xfrm>
            <a:prstGeom prst="rect">
              <a:avLst/>
            </a:prstGeom>
          </p:spPr>
        </p:pic>
      </p:grpSp>
      <p:grpSp>
        <p:nvGrpSpPr>
          <p:cNvPr id="37" name="Group 36">
            <a:extLst>
              <a:ext uri="{FF2B5EF4-FFF2-40B4-BE49-F238E27FC236}">
                <a16:creationId xmlns:a16="http://schemas.microsoft.com/office/drawing/2014/main" id="{D3C49F5C-3419-4D9A-96A4-84DED3E809E0}"/>
              </a:ext>
              <a:ext uri="{C183D7F6-B498-43B3-948B-1728B52AA6E4}">
                <adec:decorative xmlns:adec="http://schemas.microsoft.com/office/drawing/2017/decorative" val="1"/>
              </a:ext>
            </a:extLst>
          </p:cNvPr>
          <p:cNvGrpSpPr/>
          <p:nvPr/>
        </p:nvGrpSpPr>
        <p:grpSpPr>
          <a:xfrm>
            <a:off x="418643" y="4826259"/>
            <a:ext cx="717140" cy="717242"/>
            <a:chOff x="418643" y="4826259"/>
            <a:chExt cx="717140" cy="717242"/>
          </a:xfrm>
        </p:grpSpPr>
        <p:grpSp>
          <p:nvGrpSpPr>
            <p:cNvPr id="27" name="Group 26">
              <a:extLst>
                <a:ext uri="{FF2B5EF4-FFF2-40B4-BE49-F238E27FC236}">
                  <a16:creationId xmlns:a16="http://schemas.microsoft.com/office/drawing/2014/main" id="{83E35324-EF88-48AD-83A4-74F13EF77C23}"/>
                </a:ext>
              </a:extLst>
            </p:cNvPr>
            <p:cNvGrpSpPr/>
            <p:nvPr/>
          </p:nvGrpSpPr>
          <p:grpSpPr>
            <a:xfrm>
              <a:off x="418643" y="4826259"/>
              <a:ext cx="717140" cy="717242"/>
              <a:chOff x="418643" y="4826259"/>
              <a:chExt cx="717140" cy="717242"/>
            </a:xfrm>
          </p:grpSpPr>
          <p:sp>
            <p:nvSpPr>
              <p:cNvPr id="494" name="Freeform 5">
                <a:extLst>
                  <a:ext uri="{FF2B5EF4-FFF2-40B4-BE49-F238E27FC236}">
                    <a16:creationId xmlns:a16="http://schemas.microsoft.com/office/drawing/2014/main" id="{FB419442-E6E4-414B-8372-EE8657DFE447}"/>
                  </a:ext>
                </a:extLst>
              </p:cNvPr>
              <p:cNvSpPr>
                <a:spLocks/>
              </p:cNvSpPr>
              <p:nvPr/>
            </p:nvSpPr>
            <p:spPr bwMode="auto">
              <a:xfrm>
                <a:off x="418643"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95" name="Freeform 6">
                <a:extLst>
                  <a:ext uri="{FF2B5EF4-FFF2-40B4-BE49-F238E27FC236}">
                    <a16:creationId xmlns:a16="http://schemas.microsoft.com/office/drawing/2014/main" id="{39AAC0A3-E2DF-4066-9E38-235B2F7F896B}"/>
                  </a:ext>
                </a:extLst>
              </p:cNvPr>
              <p:cNvSpPr>
                <a:spLocks noEditPoints="1"/>
              </p:cNvSpPr>
              <p:nvPr/>
            </p:nvSpPr>
            <p:spPr bwMode="auto">
              <a:xfrm>
                <a:off x="468541"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coding brackets">
              <a:extLst>
                <a:ext uri="{FF2B5EF4-FFF2-40B4-BE49-F238E27FC236}">
                  <a16:creationId xmlns:a16="http://schemas.microsoft.com/office/drawing/2014/main" id="{631F695F-C061-4F6A-93D6-30805DA4F847}"/>
                </a:ext>
              </a:extLst>
            </p:cNvPr>
            <p:cNvPicPr>
              <a:picLocks noChangeAspect="1"/>
            </p:cNvPicPr>
            <p:nvPr/>
          </p:nvPicPr>
          <p:blipFill>
            <a:blip r:embed="rId7"/>
            <a:stretch>
              <a:fillRect/>
            </a:stretch>
          </p:blipFill>
          <p:spPr>
            <a:xfrm>
              <a:off x="589184" y="4996851"/>
              <a:ext cx="376058" cy="376058"/>
            </a:xfrm>
            <a:prstGeom prst="rect">
              <a:avLst/>
            </a:prstGeom>
          </p:spPr>
        </p:pic>
      </p:grpSp>
      <p:grpSp>
        <p:nvGrpSpPr>
          <p:cNvPr id="35" name="Group 34">
            <a:extLst>
              <a:ext uri="{FF2B5EF4-FFF2-40B4-BE49-F238E27FC236}">
                <a16:creationId xmlns:a16="http://schemas.microsoft.com/office/drawing/2014/main" id="{B638961C-A7D9-4A05-9017-BD540877B4C0}"/>
              </a:ext>
              <a:ext uri="{C183D7F6-B498-43B3-948B-1728B52AA6E4}">
                <adec:decorative xmlns:adec="http://schemas.microsoft.com/office/drawing/2017/decorative" val="1"/>
              </a:ext>
            </a:extLst>
          </p:cNvPr>
          <p:cNvGrpSpPr/>
          <p:nvPr/>
        </p:nvGrpSpPr>
        <p:grpSpPr>
          <a:xfrm>
            <a:off x="6229350" y="1441758"/>
            <a:ext cx="717140" cy="717242"/>
            <a:chOff x="6229350" y="1441758"/>
            <a:chExt cx="717140" cy="717242"/>
          </a:xfrm>
        </p:grpSpPr>
        <p:grpSp>
          <p:nvGrpSpPr>
            <p:cNvPr id="34" name="Group 33">
              <a:extLst>
                <a:ext uri="{FF2B5EF4-FFF2-40B4-BE49-F238E27FC236}">
                  <a16:creationId xmlns:a16="http://schemas.microsoft.com/office/drawing/2014/main" id="{92DA2DB9-AA76-434B-AADC-C00668F5E99C}"/>
                </a:ext>
              </a:extLst>
            </p:cNvPr>
            <p:cNvGrpSpPr/>
            <p:nvPr/>
          </p:nvGrpSpPr>
          <p:grpSpPr>
            <a:xfrm>
              <a:off x="6229350" y="1441758"/>
              <a:ext cx="717140" cy="717242"/>
              <a:chOff x="6229350" y="1441758"/>
              <a:chExt cx="717140" cy="717242"/>
            </a:xfrm>
          </p:grpSpPr>
          <p:sp>
            <p:nvSpPr>
              <p:cNvPr id="502" name="Freeform 5">
                <a:extLst>
                  <a:ext uri="{FF2B5EF4-FFF2-40B4-BE49-F238E27FC236}">
                    <a16:creationId xmlns:a16="http://schemas.microsoft.com/office/drawing/2014/main" id="{7C38D06D-3BDF-4FE8-ACEE-5D2D68A5DC07}"/>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03" name="Freeform 6">
                <a:extLst>
                  <a:ext uri="{FF2B5EF4-FFF2-40B4-BE49-F238E27FC236}">
                    <a16:creationId xmlns:a16="http://schemas.microsoft.com/office/drawing/2014/main" id="{095AD193-40D2-470E-9F4F-4D7268E94FCA}"/>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three concentric arcs">
              <a:extLst>
                <a:ext uri="{FF2B5EF4-FFF2-40B4-BE49-F238E27FC236}">
                  <a16:creationId xmlns:a16="http://schemas.microsoft.com/office/drawing/2014/main" id="{1189780B-0175-4F91-8B75-98110B53B820}"/>
                </a:ext>
              </a:extLst>
            </p:cNvPr>
            <p:cNvPicPr>
              <a:picLocks noChangeAspect="1"/>
            </p:cNvPicPr>
            <p:nvPr/>
          </p:nvPicPr>
          <p:blipFill>
            <a:blip r:embed="rId3"/>
            <a:stretch>
              <a:fillRect/>
            </a:stretch>
          </p:blipFill>
          <p:spPr>
            <a:xfrm>
              <a:off x="6399474" y="1611934"/>
              <a:ext cx="376892" cy="376890"/>
            </a:xfrm>
            <a:prstGeom prst="rect">
              <a:avLst/>
            </a:prstGeom>
          </p:spPr>
        </p:pic>
      </p:grpSp>
      <p:grpSp>
        <p:nvGrpSpPr>
          <p:cNvPr id="33" name="Group 32">
            <a:extLst>
              <a:ext uri="{FF2B5EF4-FFF2-40B4-BE49-F238E27FC236}">
                <a16:creationId xmlns:a16="http://schemas.microsoft.com/office/drawing/2014/main" id="{6308A370-1D97-4A49-9014-CF4723C04ABF}"/>
              </a:ext>
              <a:ext uri="{C183D7F6-B498-43B3-948B-1728B52AA6E4}">
                <adec:decorative xmlns:adec="http://schemas.microsoft.com/office/drawing/2017/decorative" val="1"/>
              </a:ext>
            </a:extLst>
          </p:cNvPr>
          <p:cNvGrpSpPr/>
          <p:nvPr/>
        </p:nvGrpSpPr>
        <p:grpSpPr>
          <a:xfrm>
            <a:off x="6229350" y="2287883"/>
            <a:ext cx="717140" cy="717242"/>
            <a:chOff x="6229350" y="2287883"/>
            <a:chExt cx="717140" cy="717242"/>
          </a:xfrm>
        </p:grpSpPr>
        <p:grpSp>
          <p:nvGrpSpPr>
            <p:cNvPr id="32" name="Group 31">
              <a:extLst>
                <a:ext uri="{FF2B5EF4-FFF2-40B4-BE49-F238E27FC236}">
                  <a16:creationId xmlns:a16="http://schemas.microsoft.com/office/drawing/2014/main" id="{7F4F032F-246D-443C-8163-A701DA6DE211}"/>
                </a:ext>
              </a:extLst>
            </p:cNvPr>
            <p:cNvGrpSpPr/>
            <p:nvPr/>
          </p:nvGrpSpPr>
          <p:grpSpPr>
            <a:xfrm>
              <a:off x="6229350" y="2287883"/>
              <a:ext cx="717140" cy="717242"/>
              <a:chOff x="6229350" y="2287883"/>
              <a:chExt cx="717140" cy="717242"/>
            </a:xfrm>
          </p:grpSpPr>
          <p:sp>
            <p:nvSpPr>
              <p:cNvPr id="509" name="Freeform 5">
                <a:extLst>
                  <a:ext uri="{FF2B5EF4-FFF2-40B4-BE49-F238E27FC236}">
                    <a16:creationId xmlns:a16="http://schemas.microsoft.com/office/drawing/2014/main" id="{4D76B15B-3B47-4151-8F32-4166422F1E3F}"/>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10" name="Freeform 6">
                <a:extLst>
                  <a:ext uri="{FF2B5EF4-FFF2-40B4-BE49-F238E27FC236}">
                    <a16:creationId xmlns:a16="http://schemas.microsoft.com/office/drawing/2014/main" id="{78E89B24-9DDC-480F-87AB-0549ADA90EA3}"/>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arrow in a circular path with a timer inside the circle">
              <a:extLst>
                <a:ext uri="{FF2B5EF4-FFF2-40B4-BE49-F238E27FC236}">
                  <a16:creationId xmlns:a16="http://schemas.microsoft.com/office/drawing/2014/main" id="{CDBDB94A-0E09-4593-BA27-B37EB53EE990}"/>
                </a:ext>
              </a:extLst>
            </p:cNvPr>
            <p:cNvPicPr>
              <a:picLocks noChangeAspect="1"/>
            </p:cNvPicPr>
            <p:nvPr/>
          </p:nvPicPr>
          <p:blipFill>
            <a:blip r:embed="rId4"/>
            <a:stretch>
              <a:fillRect/>
            </a:stretch>
          </p:blipFill>
          <p:spPr>
            <a:xfrm>
              <a:off x="6399474" y="2458059"/>
              <a:ext cx="376892" cy="376890"/>
            </a:xfrm>
            <a:prstGeom prst="rect">
              <a:avLst/>
            </a:prstGeom>
          </p:spPr>
        </p:pic>
      </p:grpSp>
      <p:grpSp>
        <p:nvGrpSpPr>
          <p:cNvPr id="31" name="Group 30">
            <a:extLst>
              <a:ext uri="{FF2B5EF4-FFF2-40B4-BE49-F238E27FC236}">
                <a16:creationId xmlns:a16="http://schemas.microsoft.com/office/drawing/2014/main" id="{71600EC7-D681-442E-ADA2-26B906AE2BC2}"/>
              </a:ext>
              <a:ext uri="{C183D7F6-B498-43B3-948B-1728B52AA6E4}">
                <adec:decorative xmlns:adec="http://schemas.microsoft.com/office/drawing/2017/decorative" val="1"/>
              </a:ext>
            </a:extLst>
          </p:cNvPr>
          <p:cNvGrpSpPr/>
          <p:nvPr/>
        </p:nvGrpSpPr>
        <p:grpSpPr>
          <a:xfrm>
            <a:off x="6229350" y="3134008"/>
            <a:ext cx="717140" cy="717242"/>
            <a:chOff x="6229350" y="3134008"/>
            <a:chExt cx="717140" cy="717242"/>
          </a:xfrm>
        </p:grpSpPr>
        <p:grpSp>
          <p:nvGrpSpPr>
            <p:cNvPr id="30" name="Group 29">
              <a:extLst>
                <a:ext uri="{FF2B5EF4-FFF2-40B4-BE49-F238E27FC236}">
                  <a16:creationId xmlns:a16="http://schemas.microsoft.com/office/drawing/2014/main" id="{1943EAE8-9815-4AEA-AE45-47D92C6B3AF6}"/>
                </a:ext>
              </a:extLst>
            </p:cNvPr>
            <p:cNvGrpSpPr/>
            <p:nvPr/>
          </p:nvGrpSpPr>
          <p:grpSpPr>
            <a:xfrm>
              <a:off x="6229350" y="3134008"/>
              <a:ext cx="717140" cy="717242"/>
              <a:chOff x="6229350" y="3134008"/>
              <a:chExt cx="717140" cy="717242"/>
            </a:xfrm>
          </p:grpSpPr>
          <p:sp>
            <p:nvSpPr>
              <p:cNvPr id="527" name="Freeform 5">
                <a:extLst>
                  <a:ext uri="{FF2B5EF4-FFF2-40B4-BE49-F238E27FC236}">
                    <a16:creationId xmlns:a16="http://schemas.microsoft.com/office/drawing/2014/main" id="{28A598F9-17B1-4932-84A8-C1415942342C}"/>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28" name="Freeform 6">
                <a:extLst>
                  <a:ext uri="{FF2B5EF4-FFF2-40B4-BE49-F238E27FC236}">
                    <a16:creationId xmlns:a16="http://schemas.microsoft.com/office/drawing/2014/main" id="{FB10E352-70F0-42D5-8556-93A2EBE199B9}"/>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three dots and outward pointing chevrons on left and right">
              <a:extLst>
                <a:ext uri="{FF2B5EF4-FFF2-40B4-BE49-F238E27FC236}">
                  <a16:creationId xmlns:a16="http://schemas.microsoft.com/office/drawing/2014/main" id="{E3B0539E-609C-48CE-B0F2-F92786CA4BE7}"/>
                </a:ext>
              </a:extLst>
            </p:cNvPr>
            <p:cNvPicPr>
              <a:picLocks noChangeAspect="1"/>
            </p:cNvPicPr>
            <p:nvPr/>
          </p:nvPicPr>
          <p:blipFill>
            <a:blip r:embed="rId5"/>
            <a:stretch>
              <a:fillRect/>
            </a:stretch>
          </p:blipFill>
          <p:spPr>
            <a:xfrm>
              <a:off x="6337313" y="3382030"/>
              <a:ext cx="501214" cy="221198"/>
            </a:xfrm>
            <a:prstGeom prst="rect">
              <a:avLst/>
            </a:prstGeom>
          </p:spPr>
        </p:pic>
      </p:grpSp>
      <p:grpSp>
        <p:nvGrpSpPr>
          <p:cNvPr id="42" name="Group 41">
            <a:extLst>
              <a:ext uri="{FF2B5EF4-FFF2-40B4-BE49-F238E27FC236}">
                <a16:creationId xmlns:a16="http://schemas.microsoft.com/office/drawing/2014/main" id="{01091F28-2D11-4429-94AB-64CAA9A9C021}"/>
              </a:ext>
              <a:ext uri="{C183D7F6-B498-43B3-948B-1728B52AA6E4}">
                <adec:decorative xmlns:adec="http://schemas.microsoft.com/office/drawing/2017/decorative" val="1"/>
              </a:ext>
            </a:extLst>
          </p:cNvPr>
          <p:cNvGrpSpPr/>
          <p:nvPr/>
        </p:nvGrpSpPr>
        <p:grpSpPr>
          <a:xfrm>
            <a:off x="6229350" y="3980133"/>
            <a:ext cx="717140" cy="717242"/>
            <a:chOff x="6229350" y="3980133"/>
            <a:chExt cx="717140" cy="717242"/>
          </a:xfrm>
        </p:grpSpPr>
        <p:grpSp>
          <p:nvGrpSpPr>
            <p:cNvPr id="29" name="Group 28">
              <a:extLst>
                <a:ext uri="{FF2B5EF4-FFF2-40B4-BE49-F238E27FC236}">
                  <a16:creationId xmlns:a16="http://schemas.microsoft.com/office/drawing/2014/main" id="{35BAB889-B931-4956-992D-E9E68985EC18}"/>
                </a:ext>
              </a:extLst>
            </p:cNvPr>
            <p:cNvGrpSpPr/>
            <p:nvPr/>
          </p:nvGrpSpPr>
          <p:grpSpPr>
            <a:xfrm>
              <a:off x="6229350" y="3980133"/>
              <a:ext cx="717140" cy="717242"/>
              <a:chOff x="6229350" y="3980133"/>
              <a:chExt cx="717140" cy="717242"/>
            </a:xfrm>
          </p:grpSpPr>
          <p:sp>
            <p:nvSpPr>
              <p:cNvPr id="544" name="Freeform 5">
                <a:extLst>
                  <a:ext uri="{FF2B5EF4-FFF2-40B4-BE49-F238E27FC236}">
                    <a16:creationId xmlns:a16="http://schemas.microsoft.com/office/drawing/2014/main" id="{735B3FEE-05B7-4A88-A2AD-D24062CA3094}"/>
                  </a:ext>
                </a:extLst>
              </p:cNvPr>
              <p:cNvSpPr>
                <a:spLocks/>
              </p:cNvSpPr>
              <p:nvPr/>
            </p:nvSpPr>
            <p:spPr bwMode="auto">
              <a:xfrm>
                <a:off x="6229350"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45" name="Freeform 6">
                <a:extLst>
                  <a:ext uri="{FF2B5EF4-FFF2-40B4-BE49-F238E27FC236}">
                    <a16:creationId xmlns:a16="http://schemas.microsoft.com/office/drawing/2014/main" id="{DFA6593E-7641-4C25-9D71-733CB9C245B5}"/>
                  </a:ext>
                </a:extLst>
              </p:cNvPr>
              <p:cNvSpPr>
                <a:spLocks noEditPoints="1"/>
              </p:cNvSpPr>
              <p:nvPr/>
            </p:nvSpPr>
            <p:spPr bwMode="auto">
              <a:xfrm>
                <a:off x="6279248"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1" name="Picture 20" descr="Icon of a bulb">
              <a:extLst>
                <a:ext uri="{FF2B5EF4-FFF2-40B4-BE49-F238E27FC236}">
                  <a16:creationId xmlns:a16="http://schemas.microsoft.com/office/drawing/2014/main" id="{A8226D75-0AD7-4E58-89AE-02EAF1566AF9}"/>
                </a:ext>
              </a:extLst>
            </p:cNvPr>
            <p:cNvPicPr>
              <a:picLocks noChangeAspect="1"/>
            </p:cNvPicPr>
            <p:nvPr/>
          </p:nvPicPr>
          <p:blipFill>
            <a:blip r:embed="rId6"/>
            <a:stretch>
              <a:fillRect/>
            </a:stretch>
          </p:blipFill>
          <p:spPr>
            <a:xfrm>
              <a:off x="6452426" y="4150309"/>
              <a:ext cx="270988" cy="376890"/>
            </a:xfrm>
            <a:prstGeom prst="rect">
              <a:avLst/>
            </a:prstGeom>
          </p:spPr>
        </p:pic>
      </p:grpSp>
      <p:grpSp>
        <p:nvGrpSpPr>
          <p:cNvPr id="36" name="Group 35">
            <a:extLst>
              <a:ext uri="{FF2B5EF4-FFF2-40B4-BE49-F238E27FC236}">
                <a16:creationId xmlns:a16="http://schemas.microsoft.com/office/drawing/2014/main" id="{3C129EA1-F99B-4E53-8760-B0B9C03BB11A}"/>
              </a:ext>
              <a:ext uri="{C183D7F6-B498-43B3-948B-1728B52AA6E4}">
                <adec:decorative xmlns:adec="http://schemas.microsoft.com/office/drawing/2017/decorative" val="1"/>
              </a:ext>
            </a:extLst>
          </p:cNvPr>
          <p:cNvGrpSpPr/>
          <p:nvPr/>
        </p:nvGrpSpPr>
        <p:grpSpPr>
          <a:xfrm>
            <a:off x="6229350" y="4826259"/>
            <a:ext cx="717140" cy="717242"/>
            <a:chOff x="6229350" y="4826259"/>
            <a:chExt cx="717140" cy="717242"/>
          </a:xfrm>
        </p:grpSpPr>
        <p:grpSp>
          <p:nvGrpSpPr>
            <p:cNvPr id="28" name="Group 27">
              <a:extLst>
                <a:ext uri="{FF2B5EF4-FFF2-40B4-BE49-F238E27FC236}">
                  <a16:creationId xmlns:a16="http://schemas.microsoft.com/office/drawing/2014/main" id="{BF36424E-6205-4A6E-A742-5B4635F67E20}"/>
                </a:ext>
              </a:extLst>
            </p:cNvPr>
            <p:cNvGrpSpPr/>
            <p:nvPr/>
          </p:nvGrpSpPr>
          <p:grpSpPr>
            <a:xfrm>
              <a:off x="6229350" y="4826259"/>
              <a:ext cx="717140" cy="717242"/>
              <a:chOff x="6229350" y="4826259"/>
              <a:chExt cx="717140" cy="717242"/>
            </a:xfrm>
          </p:grpSpPr>
          <p:sp>
            <p:nvSpPr>
              <p:cNvPr id="559" name="Freeform 5">
                <a:extLst>
                  <a:ext uri="{FF2B5EF4-FFF2-40B4-BE49-F238E27FC236}">
                    <a16:creationId xmlns:a16="http://schemas.microsoft.com/office/drawing/2014/main" id="{77C49691-C77B-4199-BAA0-755A8C132403}"/>
                  </a:ext>
                </a:extLst>
              </p:cNvPr>
              <p:cNvSpPr>
                <a:spLocks/>
              </p:cNvSpPr>
              <p:nvPr/>
            </p:nvSpPr>
            <p:spPr bwMode="auto">
              <a:xfrm>
                <a:off x="6229350"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60" name="Freeform 6">
                <a:extLst>
                  <a:ext uri="{FF2B5EF4-FFF2-40B4-BE49-F238E27FC236}">
                    <a16:creationId xmlns:a16="http://schemas.microsoft.com/office/drawing/2014/main" id="{A2F145B3-7F61-4E5E-B228-528D899C244F}"/>
                  </a:ext>
                </a:extLst>
              </p:cNvPr>
              <p:cNvSpPr>
                <a:spLocks noEditPoints="1"/>
              </p:cNvSpPr>
              <p:nvPr/>
            </p:nvSpPr>
            <p:spPr bwMode="auto">
              <a:xfrm>
                <a:off x="6279248"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2" name="Picture 21" descr="Icon of coding brackets">
              <a:extLst>
                <a:ext uri="{FF2B5EF4-FFF2-40B4-BE49-F238E27FC236}">
                  <a16:creationId xmlns:a16="http://schemas.microsoft.com/office/drawing/2014/main" id="{79A9EB4F-F01E-4B3D-AECF-4E602F8A80E8}"/>
                </a:ext>
              </a:extLst>
            </p:cNvPr>
            <p:cNvPicPr>
              <a:picLocks noChangeAspect="1"/>
            </p:cNvPicPr>
            <p:nvPr/>
          </p:nvPicPr>
          <p:blipFill>
            <a:blip r:embed="rId7"/>
            <a:stretch>
              <a:fillRect/>
            </a:stretch>
          </p:blipFill>
          <p:spPr>
            <a:xfrm>
              <a:off x="6399891" y="4996851"/>
              <a:ext cx="376058" cy="376058"/>
            </a:xfrm>
            <a:prstGeom prst="rect">
              <a:avLst/>
            </a:prstGeom>
          </p:spPr>
        </p:pic>
      </p:grpSp>
    </p:spTree>
    <p:extLst>
      <p:ext uri="{BB962C8B-B14F-4D97-AF65-F5344CB8AC3E}">
        <p14:creationId xmlns:p14="http://schemas.microsoft.com/office/powerpoint/2010/main" val="225538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Lesson 01: Explore Azure Virtual Networks</a:t>
            </a:r>
          </a:p>
        </p:txBody>
      </p:sp>
      <p:grpSp>
        <p:nvGrpSpPr>
          <p:cNvPr id="10" name="Group 9">
            <a:extLst>
              <a:ext uri="{FF2B5EF4-FFF2-40B4-BE49-F238E27FC236}">
                <a16:creationId xmlns:a16="http://schemas.microsoft.com/office/drawing/2014/main" id="{82475FD9-782E-4124-A7F4-4B0A7A62EFDE}"/>
              </a:ext>
              <a:ext uri="{C183D7F6-B498-43B3-948B-1728B52AA6E4}">
                <adec:decorative xmlns:adec="http://schemas.microsoft.com/office/drawing/2017/decorative" val="1"/>
              </a:ext>
            </a:extLst>
          </p:cNvPr>
          <p:cNvGrpSpPr/>
          <p:nvPr/>
        </p:nvGrpSpPr>
        <p:grpSpPr>
          <a:xfrm>
            <a:off x="10350295" y="3070379"/>
            <a:ext cx="717140" cy="717242"/>
            <a:chOff x="418643" y="1441758"/>
            <a:chExt cx="717140" cy="717242"/>
          </a:xfrm>
        </p:grpSpPr>
        <p:grpSp>
          <p:nvGrpSpPr>
            <p:cNvPr id="11" name="Group 10">
              <a:extLst>
                <a:ext uri="{FF2B5EF4-FFF2-40B4-BE49-F238E27FC236}">
                  <a16:creationId xmlns:a16="http://schemas.microsoft.com/office/drawing/2014/main" id="{6CC66C38-2467-45F2-BB5C-4458384C286B}"/>
                </a:ext>
              </a:extLst>
            </p:cNvPr>
            <p:cNvGrpSpPr/>
            <p:nvPr/>
          </p:nvGrpSpPr>
          <p:grpSpPr>
            <a:xfrm>
              <a:off x="418643" y="1441758"/>
              <a:ext cx="717140" cy="717242"/>
              <a:chOff x="418643" y="1441758"/>
              <a:chExt cx="717140" cy="717242"/>
            </a:xfrm>
          </p:grpSpPr>
          <p:sp>
            <p:nvSpPr>
              <p:cNvPr id="13" name="Freeform 5">
                <a:extLst>
                  <a:ext uri="{FF2B5EF4-FFF2-40B4-BE49-F238E27FC236}">
                    <a16:creationId xmlns:a16="http://schemas.microsoft.com/office/drawing/2014/main" id="{4698CD3D-7F7C-4E3D-BAC2-1BF81A6900F0}"/>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4" name="Freeform 6">
                <a:extLst>
                  <a:ext uri="{FF2B5EF4-FFF2-40B4-BE49-F238E27FC236}">
                    <a16:creationId xmlns:a16="http://schemas.microsoft.com/office/drawing/2014/main" id="{68555087-5326-477D-8FA4-B57B1B15BC7D}"/>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three concentric arcs">
              <a:extLst>
                <a:ext uri="{FF2B5EF4-FFF2-40B4-BE49-F238E27FC236}">
                  <a16:creationId xmlns:a16="http://schemas.microsoft.com/office/drawing/2014/main" id="{1EB7732E-62E7-425F-AA32-7D661B5D38EE}"/>
                </a:ext>
              </a:extLst>
            </p:cNvPr>
            <p:cNvPicPr>
              <a:picLocks noChangeAspect="1"/>
            </p:cNvPicPr>
            <p:nvPr/>
          </p:nvPicPr>
          <p:blipFill>
            <a:blip r:embed="rId3"/>
            <a:stretch>
              <a:fillRect/>
            </a:stretch>
          </p:blipFill>
          <p:spPr>
            <a:xfrm>
              <a:off x="588767" y="1611934"/>
              <a:ext cx="376892" cy="37689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Explore Azure Virtual Networks overview</a:t>
            </a:r>
          </a:p>
        </p:txBody>
      </p:sp>
      <p:sp>
        <p:nvSpPr>
          <p:cNvPr id="6" name="Text Placeholder 5"/>
          <p:cNvSpPr>
            <a:spLocks noGrp="1"/>
          </p:cNvSpPr>
          <p:nvPr>
            <p:ph type="body" sz="quarter" idx="11"/>
          </p:nvPr>
        </p:nvSpPr>
        <p:spPr/>
        <p:txBody>
          <a:bodyPr/>
          <a:lstStyle/>
          <a:p>
            <a:pPr lvl="1"/>
            <a:r>
              <a:rPr lang="en-US" dirty="0"/>
              <a:t>Capabilities of Azure Virtual Networks </a:t>
            </a:r>
          </a:p>
        </p:txBody>
      </p:sp>
      <p:sp>
        <p:nvSpPr>
          <p:cNvPr id="2" name="Text Placeholder 1"/>
          <p:cNvSpPr>
            <a:spLocks noGrp="1"/>
          </p:cNvSpPr>
          <p:nvPr>
            <p:ph type="body" sz="quarter" idx="15"/>
          </p:nvPr>
        </p:nvSpPr>
        <p:spPr/>
        <p:txBody>
          <a:bodyPr/>
          <a:lstStyle/>
          <a:p>
            <a:pPr lvl="1"/>
            <a:r>
              <a:rPr lang="en-US" dirty="0"/>
              <a:t>Virtual Network Address space</a:t>
            </a:r>
          </a:p>
        </p:txBody>
      </p:sp>
      <p:sp>
        <p:nvSpPr>
          <p:cNvPr id="3" name="Text Placeholder 2"/>
          <p:cNvSpPr>
            <a:spLocks noGrp="1"/>
          </p:cNvSpPr>
          <p:nvPr>
            <p:ph type="body" sz="quarter" idx="17"/>
          </p:nvPr>
        </p:nvSpPr>
        <p:spPr/>
        <p:txBody>
          <a:bodyPr/>
          <a:lstStyle/>
          <a:p>
            <a:pPr lvl="1"/>
            <a:r>
              <a:rPr lang="en-US" dirty="0"/>
              <a:t>Subnets</a:t>
            </a:r>
          </a:p>
        </p:txBody>
      </p:sp>
      <p:sp>
        <p:nvSpPr>
          <p:cNvPr id="4" name="Text Placeholder 3"/>
          <p:cNvSpPr>
            <a:spLocks noGrp="1"/>
          </p:cNvSpPr>
          <p:nvPr>
            <p:ph type="body" sz="quarter" idx="19"/>
          </p:nvPr>
        </p:nvSpPr>
        <p:spPr/>
        <p:txBody>
          <a:bodyPr/>
          <a:lstStyle/>
          <a:p>
            <a:pPr lvl="1"/>
            <a:r>
              <a:rPr lang="en-US" dirty="0"/>
              <a:t>Private IP Address allocation</a:t>
            </a:r>
          </a:p>
        </p:txBody>
      </p:sp>
      <p:sp>
        <p:nvSpPr>
          <p:cNvPr id="5" name="Text Placeholder 4"/>
          <p:cNvSpPr>
            <a:spLocks noGrp="1"/>
          </p:cNvSpPr>
          <p:nvPr>
            <p:ph type="body" sz="quarter" idx="21"/>
          </p:nvPr>
        </p:nvSpPr>
        <p:spPr/>
        <p:txBody>
          <a:bodyPr/>
          <a:lstStyle/>
          <a:p>
            <a:pPr lvl="1"/>
            <a:r>
              <a:rPr lang="en-US" dirty="0"/>
              <a:t>Understand Regions and Subscriptions </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Create a Virtual Network</a:t>
            </a:r>
          </a:p>
        </p:txBody>
      </p:sp>
      <p:sp>
        <p:nvSpPr>
          <p:cNvPr id="32" name="Text Placeholder 31">
            <a:extLst>
              <a:ext uri="{FF2B5EF4-FFF2-40B4-BE49-F238E27FC236}">
                <a16:creationId xmlns:a16="http://schemas.microsoft.com/office/drawing/2014/main" id="{0EABA8D5-0A1B-4505-8E5A-DF6F2BF63FC3}"/>
              </a:ext>
            </a:extLst>
          </p:cNvPr>
          <p:cNvSpPr>
            <a:spLocks noGrp="1"/>
          </p:cNvSpPr>
          <p:nvPr>
            <p:ph type="body" sz="quarter" idx="23"/>
          </p:nvPr>
        </p:nvSpPr>
        <p:spPr/>
        <p:txBody>
          <a:bodyPr/>
          <a:lstStyle/>
          <a:p>
            <a:pPr lvl="1"/>
            <a:r>
              <a:rPr lang="en-US" dirty="0"/>
              <a:t>Demonstration – Creating Virtual Networks</a:t>
            </a:r>
          </a:p>
        </p:txBody>
      </p:sp>
      <p:grpSp>
        <p:nvGrpSpPr>
          <p:cNvPr id="25" name="Group 24">
            <a:extLst>
              <a:ext uri="{FF2B5EF4-FFF2-40B4-BE49-F238E27FC236}">
                <a16:creationId xmlns:a16="http://schemas.microsoft.com/office/drawing/2014/main" id="{22D9ADD6-F6B0-4B5D-B1E7-4FAE29F3C87F}"/>
              </a:ext>
              <a:ext uri="{C183D7F6-B498-43B3-948B-1728B52AA6E4}">
                <adec:decorative xmlns:adec="http://schemas.microsoft.com/office/drawing/2017/decorative" val="1"/>
              </a:ext>
            </a:extLst>
          </p:cNvPr>
          <p:cNvGrpSpPr/>
          <p:nvPr/>
        </p:nvGrpSpPr>
        <p:grpSpPr>
          <a:xfrm>
            <a:off x="3088645" y="480082"/>
            <a:ext cx="648328" cy="648421"/>
            <a:chOff x="3088645" y="480082"/>
            <a:chExt cx="648328" cy="648421"/>
          </a:xfrm>
        </p:grpSpPr>
        <p:grpSp>
          <p:nvGrpSpPr>
            <p:cNvPr id="23" name="Group 22">
              <a:extLst>
                <a:ext uri="{FF2B5EF4-FFF2-40B4-BE49-F238E27FC236}">
                  <a16:creationId xmlns:a16="http://schemas.microsoft.com/office/drawing/2014/main" id="{487252BB-E014-404B-A18B-AE3FFC133111}"/>
                </a:ext>
              </a:extLst>
            </p:cNvPr>
            <p:cNvGrpSpPr/>
            <p:nvPr/>
          </p:nvGrpSpPr>
          <p:grpSpPr>
            <a:xfrm>
              <a:off x="3088645" y="480082"/>
              <a:ext cx="648328" cy="648421"/>
              <a:chOff x="3088645" y="480082"/>
              <a:chExt cx="648328" cy="648421"/>
            </a:xfrm>
          </p:grpSpPr>
          <p:sp>
            <p:nvSpPr>
              <p:cNvPr id="140" name="Freeform 5">
                <a:extLst>
                  <a:ext uri="{FF2B5EF4-FFF2-40B4-BE49-F238E27FC236}">
                    <a16:creationId xmlns:a16="http://schemas.microsoft.com/office/drawing/2014/main" id="{DE8AF025-2E98-4B44-A38C-BC241F037DD7}"/>
                  </a:ext>
                </a:extLst>
              </p:cNvPr>
              <p:cNvSpPr>
                <a:spLocks/>
              </p:cNvSpPr>
              <p:nvPr/>
            </p:nvSpPr>
            <p:spPr bwMode="auto">
              <a:xfrm>
                <a:off x="3088645" y="480082"/>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41" name="Freeform 6">
                <a:extLst>
                  <a:ext uri="{FF2B5EF4-FFF2-40B4-BE49-F238E27FC236}">
                    <a16:creationId xmlns:a16="http://schemas.microsoft.com/office/drawing/2014/main" id="{7A727523-B56D-47D9-AA13-3FECAE967935}"/>
                  </a:ext>
                </a:extLst>
              </p:cNvPr>
              <p:cNvSpPr>
                <a:spLocks noEditPoints="1"/>
              </p:cNvSpPr>
              <p:nvPr/>
            </p:nvSpPr>
            <p:spPr bwMode="auto">
              <a:xfrm>
                <a:off x="3133231" y="525199"/>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8506289D-CBBD-4B48-A547-C4E511F8A6A5}"/>
                </a:ext>
              </a:extLst>
            </p:cNvPr>
            <p:cNvPicPr>
              <a:picLocks noChangeAspect="1"/>
            </p:cNvPicPr>
            <p:nvPr/>
          </p:nvPicPr>
          <p:blipFill>
            <a:blip r:embed="rId3"/>
            <a:stretch>
              <a:fillRect/>
            </a:stretch>
          </p:blipFill>
          <p:spPr>
            <a:xfrm>
              <a:off x="3241436" y="633445"/>
              <a:ext cx="343794" cy="343794"/>
            </a:xfrm>
            <a:prstGeom prst="rect">
              <a:avLst/>
            </a:prstGeom>
          </p:spPr>
        </p:pic>
      </p:grpSp>
      <p:grpSp>
        <p:nvGrpSpPr>
          <p:cNvPr id="26" name="Group 25">
            <a:extLst>
              <a:ext uri="{FF2B5EF4-FFF2-40B4-BE49-F238E27FC236}">
                <a16:creationId xmlns:a16="http://schemas.microsoft.com/office/drawing/2014/main" id="{1AD2D33C-6D93-452C-8019-D0903D89CC87}"/>
              </a:ext>
              <a:ext uri="{C183D7F6-B498-43B3-948B-1728B52AA6E4}">
                <adec:decorative xmlns:adec="http://schemas.microsoft.com/office/drawing/2017/decorative" val="1"/>
              </a:ext>
            </a:extLst>
          </p:cNvPr>
          <p:cNvGrpSpPr/>
          <p:nvPr/>
        </p:nvGrpSpPr>
        <p:grpSpPr>
          <a:xfrm>
            <a:off x="3088645" y="1209401"/>
            <a:ext cx="648328" cy="648421"/>
            <a:chOff x="3088645" y="1209401"/>
            <a:chExt cx="648328" cy="648421"/>
          </a:xfrm>
        </p:grpSpPr>
        <p:grpSp>
          <p:nvGrpSpPr>
            <p:cNvPr id="24" name="Group 23">
              <a:extLst>
                <a:ext uri="{FF2B5EF4-FFF2-40B4-BE49-F238E27FC236}">
                  <a16:creationId xmlns:a16="http://schemas.microsoft.com/office/drawing/2014/main" id="{0D57C996-6806-4E9F-834B-818FEDEA0E03}"/>
                </a:ext>
              </a:extLst>
            </p:cNvPr>
            <p:cNvGrpSpPr/>
            <p:nvPr/>
          </p:nvGrpSpPr>
          <p:grpSpPr>
            <a:xfrm>
              <a:off x="3088645" y="1209401"/>
              <a:ext cx="648328" cy="648421"/>
              <a:chOff x="3088645" y="1209401"/>
              <a:chExt cx="648328" cy="648421"/>
            </a:xfrm>
          </p:grpSpPr>
          <p:sp>
            <p:nvSpPr>
              <p:cNvPr id="153" name="Freeform 5">
                <a:extLst>
                  <a:ext uri="{FF2B5EF4-FFF2-40B4-BE49-F238E27FC236}">
                    <a16:creationId xmlns:a16="http://schemas.microsoft.com/office/drawing/2014/main" id="{46ED99BD-CDF6-4126-AC63-CC6947FF46CB}"/>
                  </a:ext>
                </a:extLst>
              </p:cNvPr>
              <p:cNvSpPr>
                <a:spLocks/>
              </p:cNvSpPr>
              <p:nvPr/>
            </p:nvSpPr>
            <p:spPr bwMode="auto">
              <a:xfrm>
                <a:off x="3088645" y="1209401"/>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54" name="Freeform 6">
                <a:extLst>
                  <a:ext uri="{FF2B5EF4-FFF2-40B4-BE49-F238E27FC236}">
                    <a16:creationId xmlns:a16="http://schemas.microsoft.com/office/drawing/2014/main" id="{AB179D2D-51C2-4D79-8395-7BB633939BA6}"/>
                  </a:ext>
                </a:extLst>
              </p:cNvPr>
              <p:cNvSpPr>
                <a:spLocks noEditPoints="1"/>
              </p:cNvSpPr>
              <p:nvPr/>
            </p:nvSpPr>
            <p:spPr bwMode="auto">
              <a:xfrm>
                <a:off x="3133231" y="1254518"/>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DECEC8E4-1C93-4D14-8D9C-B9E0F9962EFD}"/>
                </a:ext>
              </a:extLst>
            </p:cNvPr>
            <p:cNvPicPr>
              <a:picLocks noChangeAspect="1"/>
            </p:cNvPicPr>
            <p:nvPr/>
          </p:nvPicPr>
          <p:blipFill>
            <a:blip r:embed="rId4"/>
            <a:stretch>
              <a:fillRect/>
            </a:stretch>
          </p:blipFill>
          <p:spPr>
            <a:xfrm>
              <a:off x="3240912" y="1361714"/>
              <a:ext cx="343794" cy="343794"/>
            </a:xfrm>
            <a:prstGeom prst="rect">
              <a:avLst/>
            </a:prstGeom>
          </p:spPr>
        </p:pic>
      </p:grpSp>
      <p:grpSp>
        <p:nvGrpSpPr>
          <p:cNvPr id="29" name="Group 28">
            <a:extLst>
              <a:ext uri="{FF2B5EF4-FFF2-40B4-BE49-F238E27FC236}">
                <a16:creationId xmlns:a16="http://schemas.microsoft.com/office/drawing/2014/main" id="{5F3A4ACE-4E4D-472B-AE1D-23E2E88B8BBE}"/>
              </a:ext>
              <a:ext uri="{C183D7F6-B498-43B3-948B-1728B52AA6E4}">
                <adec:decorative xmlns:adec="http://schemas.microsoft.com/office/drawing/2017/decorative" val="1"/>
              </a:ext>
            </a:extLst>
          </p:cNvPr>
          <p:cNvGrpSpPr/>
          <p:nvPr/>
        </p:nvGrpSpPr>
        <p:grpSpPr>
          <a:xfrm>
            <a:off x="3088645" y="1938720"/>
            <a:ext cx="648328" cy="648421"/>
            <a:chOff x="3088645" y="1938720"/>
            <a:chExt cx="648328" cy="648421"/>
          </a:xfrm>
        </p:grpSpPr>
        <p:grpSp>
          <p:nvGrpSpPr>
            <p:cNvPr id="21" name="Group 20">
              <a:extLst>
                <a:ext uri="{FF2B5EF4-FFF2-40B4-BE49-F238E27FC236}">
                  <a16:creationId xmlns:a16="http://schemas.microsoft.com/office/drawing/2014/main" id="{1C4A1083-D448-46B3-93FF-8AD131110189}"/>
                </a:ext>
              </a:extLst>
            </p:cNvPr>
            <p:cNvGrpSpPr/>
            <p:nvPr/>
          </p:nvGrpSpPr>
          <p:grpSpPr>
            <a:xfrm>
              <a:off x="3088645" y="1938720"/>
              <a:ext cx="648328" cy="648421"/>
              <a:chOff x="3088645" y="1938720"/>
              <a:chExt cx="648328" cy="648421"/>
            </a:xfrm>
          </p:grpSpPr>
          <p:sp>
            <p:nvSpPr>
              <p:cNvPr id="160" name="Freeform 5">
                <a:extLst>
                  <a:ext uri="{FF2B5EF4-FFF2-40B4-BE49-F238E27FC236}">
                    <a16:creationId xmlns:a16="http://schemas.microsoft.com/office/drawing/2014/main" id="{522F9478-7E82-4490-8F10-BE0EDAB7924A}"/>
                  </a:ext>
                </a:extLst>
              </p:cNvPr>
              <p:cNvSpPr>
                <a:spLocks/>
              </p:cNvSpPr>
              <p:nvPr/>
            </p:nvSpPr>
            <p:spPr bwMode="auto">
              <a:xfrm>
                <a:off x="3088645" y="1938720"/>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1" name="Freeform 6">
                <a:extLst>
                  <a:ext uri="{FF2B5EF4-FFF2-40B4-BE49-F238E27FC236}">
                    <a16:creationId xmlns:a16="http://schemas.microsoft.com/office/drawing/2014/main" id="{849B0907-1A59-46CF-8A32-AAEA6C32F03E}"/>
                  </a:ext>
                </a:extLst>
              </p:cNvPr>
              <p:cNvSpPr>
                <a:spLocks noEditPoints="1"/>
              </p:cNvSpPr>
              <p:nvPr/>
            </p:nvSpPr>
            <p:spPr bwMode="auto">
              <a:xfrm>
                <a:off x="3133231" y="1983837"/>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C6D1CD6F-A4C9-4FB9-9845-6349BC117CE4}"/>
                </a:ext>
              </a:extLst>
            </p:cNvPr>
            <p:cNvPicPr>
              <a:picLocks noChangeAspect="1"/>
            </p:cNvPicPr>
            <p:nvPr/>
          </p:nvPicPr>
          <p:blipFill>
            <a:blip r:embed="rId5"/>
            <a:stretch>
              <a:fillRect/>
            </a:stretch>
          </p:blipFill>
          <p:spPr>
            <a:xfrm>
              <a:off x="3240912" y="2091033"/>
              <a:ext cx="343794" cy="343794"/>
            </a:xfrm>
            <a:prstGeom prst="rect">
              <a:avLst/>
            </a:prstGeom>
          </p:spPr>
        </p:pic>
      </p:grpSp>
      <p:grpSp>
        <p:nvGrpSpPr>
          <p:cNvPr id="30" name="Group 29">
            <a:extLst>
              <a:ext uri="{FF2B5EF4-FFF2-40B4-BE49-F238E27FC236}">
                <a16:creationId xmlns:a16="http://schemas.microsoft.com/office/drawing/2014/main" id="{386BC80C-13C3-48C1-B8A0-CB1818C4B28B}"/>
              </a:ext>
              <a:ext uri="{C183D7F6-B498-43B3-948B-1728B52AA6E4}">
                <adec:decorative xmlns:adec="http://schemas.microsoft.com/office/drawing/2017/decorative" val="1"/>
              </a:ext>
            </a:extLst>
          </p:cNvPr>
          <p:cNvGrpSpPr/>
          <p:nvPr/>
        </p:nvGrpSpPr>
        <p:grpSpPr>
          <a:xfrm>
            <a:off x="3088645" y="2668039"/>
            <a:ext cx="648328" cy="648421"/>
            <a:chOff x="3088645" y="2668039"/>
            <a:chExt cx="648328" cy="648421"/>
          </a:xfrm>
        </p:grpSpPr>
        <p:grpSp>
          <p:nvGrpSpPr>
            <p:cNvPr id="28" name="Group 27">
              <a:extLst>
                <a:ext uri="{FF2B5EF4-FFF2-40B4-BE49-F238E27FC236}">
                  <a16:creationId xmlns:a16="http://schemas.microsoft.com/office/drawing/2014/main" id="{90B6DB06-A21C-4370-AA75-9444BE3ACCB9}"/>
                </a:ext>
              </a:extLst>
            </p:cNvPr>
            <p:cNvGrpSpPr/>
            <p:nvPr/>
          </p:nvGrpSpPr>
          <p:grpSpPr>
            <a:xfrm>
              <a:off x="3088645" y="2668039"/>
              <a:ext cx="648328" cy="648421"/>
              <a:chOff x="3088645" y="2668039"/>
              <a:chExt cx="648328" cy="648421"/>
            </a:xfrm>
          </p:grpSpPr>
          <p:sp>
            <p:nvSpPr>
              <p:cNvPr id="173" name="Freeform 5">
                <a:extLst>
                  <a:ext uri="{FF2B5EF4-FFF2-40B4-BE49-F238E27FC236}">
                    <a16:creationId xmlns:a16="http://schemas.microsoft.com/office/drawing/2014/main" id="{3D4F9CBC-E9AC-4281-96C3-BFB5FEE97E7E}"/>
                  </a:ext>
                </a:extLst>
              </p:cNvPr>
              <p:cNvSpPr>
                <a:spLocks/>
              </p:cNvSpPr>
              <p:nvPr/>
            </p:nvSpPr>
            <p:spPr bwMode="auto">
              <a:xfrm>
                <a:off x="3088645" y="2668039"/>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4" name="Freeform 6">
                <a:extLst>
                  <a:ext uri="{FF2B5EF4-FFF2-40B4-BE49-F238E27FC236}">
                    <a16:creationId xmlns:a16="http://schemas.microsoft.com/office/drawing/2014/main" id="{DDA8F4C3-1DE2-4CF2-B4A6-08572A50AD69}"/>
                  </a:ext>
                </a:extLst>
              </p:cNvPr>
              <p:cNvSpPr>
                <a:spLocks noEditPoints="1"/>
              </p:cNvSpPr>
              <p:nvPr/>
            </p:nvSpPr>
            <p:spPr bwMode="auto">
              <a:xfrm>
                <a:off x="3133231" y="2713156"/>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F2CCC079-C0AA-4EB6-B85B-1E14898C8737}"/>
                </a:ext>
              </a:extLst>
            </p:cNvPr>
            <p:cNvPicPr>
              <a:picLocks noChangeAspect="1"/>
            </p:cNvPicPr>
            <p:nvPr/>
          </p:nvPicPr>
          <p:blipFill>
            <a:blip r:embed="rId6"/>
            <a:stretch>
              <a:fillRect/>
            </a:stretch>
          </p:blipFill>
          <p:spPr>
            <a:xfrm>
              <a:off x="3289214" y="2820352"/>
              <a:ext cx="247191" cy="343794"/>
            </a:xfrm>
            <a:prstGeom prst="rect">
              <a:avLst/>
            </a:prstGeom>
          </p:spPr>
        </p:pic>
      </p:grpSp>
      <p:grpSp>
        <p:nvGrpSpPr>
          <p:cNvPr id="31" name="Group 30">
            <a:extLst>
              <a:ext uri="{FF2B5EF4-FFF2-40B4-BE49-F238E27FC236}">
                <a16:creationId xmlns:a16="http://schemas.microsoft.com/office/drawing/2014/main" id="{7D80C3C3-9306-46CE-AEC2-3E77179C221C}"/>
              </a:ext>
              <a:ext uri="{C183D7F6-B498-43B3-948B-1728B52AA6E4}">
                <adec:decorative xmlns:adec="http://schemas.microsoft.com/office/drawing/2017/decorative" val="1"/>
              </a:ext>
            </a:extLst>
          </p:cNvPr>
          <p:cNvGrpSpPr/>
          <p:nvPr/>
        </p:nvGrpSpPr>
        <p:grpSpPr>
          <a:xfrm>
            <a:off x="3088645" y="3397358"/>
            <a:ext cx="648328" cy="648421"/>
            <a:chOff x="3088645" y="3397358"/>
            <a:chExt cx="648328" cy="648421"/>
          </a:xfrm>
        </p:grpSpPr>
        <p:grpSp>
          <p:nvGrpSpPr>
            <p:cNvPr id="19" name="Group 18">
              <a:extLst>
                <a:ext uri="{FF2B5EF4-FFF2-40B4-BE49-F238E27FC236}">
                  <a16:creationId xmlns:a16="http://schemas.microsoft.com/office/drawing/2014/main" id="{95117CE3-0E9B-4447-A3C8-E159CB3F92E5}"/>
                </a:ext>
              </a:extLst>
            </p:cNvPr>
            <p:cNvGrpSpPr/>
            <p:nvPr/>
          </p:nvGrpSpPr>
          <p:grpSpPr>
            <a:xfrm>
              <a:off x="3088645" y="3397358"/>
              <a:ext cx="648328" cy="648421"/>
              <a:chOff x="3088645" y="3397358"/>
              <a:chExt cx="648328" cy="648421"/>
            </a:xfrm>
          </p:grpSpPr>
          <p:sp>
            <p:nvSpPr>
              <p:cNvPr id="107" name="Freeform 5">
                <a:extLst>
                  <a:ext uri="{FF2B5EF4-FFF2-40B4-BE49-F238E27FC236}">
                    <a16:creationId xmlns:a16="http://schemas.microsoft.com/office/drawing/2014/main" id="{9474CA11-8D78-4EC6-A276-679EF16D3D96}"/>
                  </a:ext>
                </a:extLst>
              </p:cNvPr>
              <p:cNvSpPr>
                <a:spLocks/>
              </p:cNvSpPr>
              <p:nvPr/>
            </p:nvSpPr>
            <p:spPr bwMode="auto">
              <a:xfrm>
                <a:off x="3088645" y="3397358"/>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8" name="Freeform 6">
                <a:extLst>
                  <a:ext uri="{FF2B5EF4-FFF2-40B4-BE49-F238E27FC236}">
                    <a16:creationId xmlns:a16="http://schemas.microsoft.com/office/drawing/2014/main" id="{9B2D8782-888C-4CF5-9681-D1A1887683D0}"/>
                  </a:ext>
                </a:extLst>
              </p:cNvPr>
              <p:cNvSpPr>
                <a:spLocks noEditPoints="1"/>
              </p:cNvSpPr>
              <p:nvPr/>
            </p:nvSpPr>
            <p:spPr bwMode="auto">
              <a:xfrm>
                <a:off x="3133231" y="3442475"/>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490EA50-A693-4AC6-84FD-4D2DB9090CBD}"/>
                </a:ext>
              </a:extLst>
            </p:cNvPr>
            <p:cNvPicPr>
              <a:picLocks noChangeAspect="1"/>
            </p:cNvPicPr>
            <p:nvPr/>
          </p:nvPicPr>
          <p:blipFill>
            <a:blip r:embed="rId7"/>
            <a:stretch>
              <a:fillRect/>
            </a:stretch>
          </p:blipFill>
          <p:spPr>
            <a:xfrm>
              <a:off x="3243943" y="3594850"/>
              <a:ext cx="337732" cy="253437"/>
            </a:xfrm>
            <a:prstGeom prst="rect">
              <a:avLst/>
            </a:prstGeom>
          </p:spPr>
        </p:pic>
      </p:grpSp>
      <p:grpSp>
        <p:nvGrpSpPr>
          <p:cNvPr id="33" name="Group 32">
            <a:extLst>
              <a:ext uri="{FF2B5EF4-FFF2-40B4-BE49-F238E27FC236}">
                <a16:creationId xmlns:a16="http://schemas.microsoft.com/office/drawing/2014/main" id="{90917E78-AD9A-4BD2-A0DE-1468FBEFD828}"/>
              </a:ext>
              <a:ext uri="{C183D7F6-B498-43B3-948B-1728B52AA6E4}">
                <adec:decorative xmlns:adec="http://schemas.microsoft.com/office/drawing/2017/decorative" val="1"/>
              </a:ext>
            </a:extLst>
          </p:cNvPr>
          <p:cNvGrpSpPr/>
          <p:nvPr/>
        </p:nvGrpSpPr>
        <p:grpSpPr>
          <a:xfrm>
            <a:off x="3088645" y="4126677"/>
            <a:ext cx="648328" cy="648421"/>
            <a:chOff x="3088645" y="4126677"/>
            <a:chExt cx="648328" cy="648421"/>
          </a:xfrm>
        </p:grpSpPr>
        <p:grpSp>
          <p:nvGrpSpPr>
            <p:cNvPr id="18" name="Group 17">
              <a:extLst>
                <a:ext uri="{FF2B5EF4-FFF2-40B4-BE49-F238E27FC236}">
                  <a16:creationId xmlns:a16="http://schemas.microsoft.com/office/drawing/2014/main" id="{5D3BD2C7-2A7D-4F86-9D6E-B86CB2DBFE6A}"/>
                </a:ext>
              </a:extLst>
            </p:cNvPr>
            <p:cNvGrpSpPr/>
            <p:nvPr/>
          </p:nvGrpSpPr>
          <p:grpSpPr>
            <a:xfrm>
              <a:off x="3088645" y="4126677"/>
              <a:ext cx="648328" cy="648421"/>
              <a:chOff x="3088645" y="4126677"/>
              <a:chExt cx="648328" cy="648421"/>
            </a:xfrm>
          </p:grpSpPr>
          <p:sp>
            <p:nvSpPr>
              <p:cNvPr id="133" name="Freeform 5">
                <a:extLst>
                  <a:ext uri="{FF2B5EF4-FFF2-40B4-BE49-F238E27FC236}">
                    <a16:creationId xmlns:a16="http://schemas.microsoft.com/office/drawing/2014/main" id="{61B7FE4E-A54C-4AB3-B855-6A86D033CE0F}"/>
                  </a:ext>
                </a:extLst>
              </p:cNvPr>
              <p:cNvSpPr>
                <a:spLocks/>
              </p:cNvSpPr>
              <p:nvPr/>
            </p:nvSpPr>
            <p:spPr bwMode="auto">
              <a:xfrm>
                <a:off x="3088645" y="4126677"/>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4" name="Freeform 6">
                <a:extLst>
                  <a:ext uri="{FF2B5EF4-FFF2-40B4-BE49-F238E27FC236}">
                    <a16:creationId xmlns:a16="http://schemas.microsoft.com/office/drawing/2014/main" id="{212CD6A7-0C2A-4CB7-B2D0-E7E7F037253C}"/>
                  </a:ext>
                </a:extLst>
              </p:cNvPr>
              <p:cNvSpPr>
                <a:spLocks noEditPoints="1"/>
              </p:cNvSpPr>
              <p:nvPr/>
            </p:nvSpPr>
            <p:spPr bwMode="auto">
              <a:xfrm>
                <a:off x="3133231" y="4171794"/>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AA290B3-ADDF-431A-9250-5322DBA77ED6}"/>
                </a:ext>
              </a:extLst>
            </p:cNvPr>
            <p:cNvPicPr>
              <a:picLocks noChangeAspect="1"/>
            </p:cNvPicPr>
            <p:nvPr/>
          </p:nvPicPr>
          <p:blipFill>
            <a:blip r:embed="rId8"/>
            <a:stretch>
              <a:fillRect/>
            </a:stretch>
          </p:blipFill>
          <p:spPr>
            <a:xfrm>
              <a:off x="3241292" y="4279370"/>
              <a:ext cx="343035" cy="343035"/>
            </a:xfrm>
            <a:prstGeom prst="rect">
              <a:avLst/>
            </a:prstGeom>
          </p:spPr>
        </p:pic>
      </p:grpSp>
      <p:grpSp>
        <p:nvGrpSpPr>
          <p:cNvPr id="34" name="Group 33">
            <a:extLst>
              <a:ext uri="{FF2B5EF4-FFF2-40B4-BE49-F238E27FC236}">
                <a16:creationId xmlns:a16="http://schemas.microsoft.com/office/drawing/2014/main" id="{AC684AC9-6518-4DC6-A1AA-30095D06C456}"/>
              </a:ext>
              <a:ext uri="{C183D7F6-B498-43B3-948B-1728B52AA6E4}">
                <adec:decorative xmlns:adec="http://schemas.microsoft.com/office/drawing/2017/decorative" val="1"/>
              </a:ext>
            </a:extLst>
          </p:cNvPr>
          <p:cNvGrpSpPr/>
          <p:nvPr/>
        </p:nvGrpSpPr>
        <p:grpSpPr>
          <a:xfrm>
            <a:off x="3088645" y="4855994"/>
            <a:ext cx="648329" cy="648421"/>
            <a:chOff x="3088645" y="4855994"/>
            <a:chExt cx="648329" cy="648421"/>
          </a:xfrm>
        </p:grpSpPr>
        <p:grpSp>
          <p:nvGrpSpPr>
            <p:cNvPr id="16" name="Group 15">
              <a:extLst>
                <a:ext uri="{FF2B5EF4-FFF2-40B4-BE49-F238E27FC236}">
                  <a16:creationId xmlns:a16="http://schemas.microsoft.com/office/drawing/2014/main" id="{3F7D0CAC-211F-459F-B1EB-52595A1A6323}"/>
                </a:ext>
              </a:extLst>
            </p:cNvPr>
            <p:cNvGrpSpPr/>
            <p:nvPr/>
          </p:nvGrpSpPr>
          <p:grpSpPr>
            <a:xfrm>
              <a:off x="3088645" y="4855994"/>
              <a:ext cx="648329" cy="648421"/>
              <a:chOff x="3088645" y="4855994"/>
              <a:chExt cx="648329" cy="648421"/>
            </a:xfrm>
          </p:grpSpPr>
          <p:sp>
            <p:nvSpPr>
              <p:cNvPr id="94" name="Freeform 5">
                <a:extLst>
                  <a:ext uri="{FF2B5EF4-FFF2-40B4-BE49-F238E27FC236}">
                    <a16:creationId xmlns:a16="http://schemas.microsoft.com/office/drawing/2014/main" id="{2B5E6A94-C6D5-42AF-B89B-310056DC042A}"/>
                  </a:ext>
                </a:extLst>
              </p:cNvPr>
              <p:cNvSpPr>
                <a:spLocks/>
              </p:cNvSpPr>
              <p:nvPr/>
            </p:nvSpPr>
            <p:spPr bwMode="auto">
              <a:xfrm>
                <a:off x="3088645" y="485599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5" name="Freeform 6">
                <a:extLst>
                  <a:ext uri="{FF2B5EF4-FFF2-40B4-BE49-F238E27FC236}">
                    <a16:creationId xmlns:a16="http://schemas.microsoft.com/office/drawing/2014/main" id="{1D0893B1-8F26-4D9A-AEE0-0CF8243D6CB2}"/>
                  </a:ext>
                </a:extLst>
              </p:cNvPr>
              <p:cNvSpPr>
                <a:spLocks noEditPoints="1"/>
              </p:cNvSpPr>
              <p:nvPr/>
            </p:nvSpPr>
            <p:spPr bwMode="auto">
              <a:xfrm>
                <a:off x="3133230" y="4901111"/>
                <a:ext cx="559158"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a screen with a square enclosed by outward pointing chevrons on left and right">
              <a:extLst>
                <a:ext uri="{FF2B5EF4-FFF2-40B4-BE49-F238E27FC236}">
                  <a16:creationId xmlns:a16="http://schemas.microsoft.com/office/drawing/2014/main" id="{A0B80851-ACFB-44ED-90C5-B1BDCD71114F}"/>
                </a:ext>
              </a:extLst>
            </p:cNvPr>
            <p:cNvPicPr>
              <a:picLocks noChangeAspect="1"/>
            </p:cNvPicPr>
            <p:nvPr/>
          </p:nvPicPr>
          <p:blipFill>
            <a:blip r:embed="rId9"/>
            <a:stretch>
              <a:fillRect/>
            </a:stretch>
          </p:blipFill>
          <p:spPr>
            <a:xfrm>
              <a:off x="3231869" y="5044425"/>
              <a:ext cx="361881" cy="271559"/>
            </a:xfrm>
            <a:prstGeom prst="rect">
              <a:avLst/>
            </a:prstGeom>
          </p:spPr>
        </p:pic>
      </p:grpSp>
      <p:sp>
        <p:nvSpPr>
          <p:cNvPr id="45" name="Text Placeholder 2">
            <a:extLst>
              <a:ext uri="{FF2B5EF4-FFF2-40B4-BE49-F238E27FC236}">
                <a16:creationId xmlns:a16="http://schemas.microsoft.com/office/drawing/2014/main" id="{CD4A0A9E-7F67-4127-8623-95A8D22951F7}"/>
              </a:ext>
            </a:extLst>
          </p:cNvPr>
          <p:cNvSpPr txBox="1">
            <a:spLocks/>
          </p:cNvSpPr>
          <p:nvPr/>
        </p:nvSpPr>
        <p:spPr>
          <a:xfrm>
            <a:off x="4078288" y="5552246"/>
            <a:ext cx="7695069" cy="675889"/>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600" b="0" kern="1200" spc="0" baseline="0" dirty="0" smtClean="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lvl="1"/>
            <a:r>
              <a:rPr lang="en-US" dirty="0"/>
              <a:t>Review</a:t>
            </a:r>
          </a:p>
        </p:txBody>
      </p:sp>
      <p:grpSp>
        <p:nvGrpSpPr>
          <p:cNvPr id="46" name="Group 45">
            <a:extLst>
              <a:ext uri="{FF2B5EF4-FFF2-40B4-BE49-F238E27FC236}">
                <a16:creationId xmlns:a16="http://schemas.microsoft.com/office/drawing/2014/main" id="{FC5CF1F8-752D-46DB-9C71-060B4043247C}"/>
              </a:ext>
              <a:ext uri="{C183D7F6-B498-43B3-948B-1728B52AA6E4}">
                <adec:decorative xmlns:adec="http://schemas.microsoft.com/office/drawing/2017/decorative" val="1"/>
              </a:ext>
            </a:extLst>
          </p:cNvPr>
          <p:cNvGrpSpPr/>
          <p:nvPr/>
        </p:nvGrpSpPr>
        <p:grpSpPr>
          <a:xfrm>
            <a:off x="3088645" y="5565980"/>
            <a:ext cx="648328" cy="648421"/>
            <a:chOff x="3088645" y="1938720"/>
            <a:chExt cx="648328" cy="648421"/>
          </a:xfrm>
        </p:grpSpPr>
        <p:grpSp>
          <p:nvGrpSpPr>
            <p:cNvPr id="47" name="Group 46">
              <a:extLst>
                <a:ext uri="{FF2B5EF4-FFF2-40B4-BE49-F238E27FC236}">
                  <a16:creationId xmlns:a16="http://schemas.microsoft.com/office/drawing/2014/main" id="{1754D1F1-CC0D-41E2-8F76-D7D3C9441B3A}"/>
                </a:ext>
              </a:extLst>
            </p:cNvPr>
            <p:cNvGrpSpPr/>
            <p:nvPr/>
          </p:nvGrpSpPr>
          <p:grpSpPr>
            <a:xfrm>
              <a:off x="3088645" y="1938720"/>
              <a:ext cx="648328" cy="648421"/>
              <a:chOff x="3088645" y="1938720"/>
              <a:chExt cx="648328" cy="648421"/>
            </a:xfrm>
          </p:grpSpPr>
          <p:sp>
            <p:nvSpPr>
              <p:cNvPr id="49" name="Freeform 5">
                <a:extLst>
                  <a:ext uri="{FF2B5EF4-FFF2-40B4-BE49-F238E27FC236}">
                    <a16:creationId xmlns:a16="http://schemas.microsoft.com/office/drawing/2014/main" id="{C8F8424D-C211-43AC-A973-5B31A54625FF}"/>
                  </a:ext>
                </a:extLst>
              </p:cNvPr>
              <p:cNvSpPr>
                <a:spLocks/>
              </p:cNvSpPr>
              <p:nvPr/>
            </p:nvSpPr>
            <p:spPr bwMode="auto">
              <a:xfrm>
                <a:off x="3088645" y="1938720"/>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0" name="Freeform 6">
                <a:extLst>
                  <a:ext uri="{FF2B5EF4-FFF2-40B4-BE49-F238E27FC236}">
                    <a16:creationId xmlns:a16="http://schemas.microsoft.com/office/drawing/2014/main" id="{259AAA23-E2AA-432C-81EC-D952303C2FD3}"/>
                  </a:ext>
                </a:extLst>
              </p:cNvPr>
              <p:cNvSpPr>
                <a:spLocks noEditPoints="1"/>
              </p:cNvSpPr>
              <p:nvPr/>
            </p:nvSpPr>
            <p:spPr bwMode="auto">
              <a:xfrm>
                <a:off x="3133231" y="1983837"/>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48" name="Picture 47" descr="Icon of a gear inside a circle">
              <a:extLst>
                <a:ext uri="{FF2B5EF4-FFF2-40B4-BE49-F238E27FC236}">
                  <a16:creationId xmlns:a16="http://schemas.microsoft.com/office/drawing/2014/main" id="{CAA5C02A-1548-4CF2-A48C-6D157F33659F}"/>
                </a:ext>
              </a:extLst>
            </p:cNvPr>
            <p:cNvPicPr>
              <a:picLocks noChangeAspect="1"/>
            </p:cNvPicPr>
            <p:nvPr/>
          </p:nvPicPr>
          <p:blipFill>
            <a:blip r:embed="rId5"/>
            <a:stretch>
              <a:fillRect/>
            </a:stretch>
          </p:blipFill>
          <p:spPr>
            <a:xfrm>
              <a:off x="3240912" y="2091033"/>
              <a:ext cx="343794" cy="343794"/>
            </a:xfrm>
            <a:prstGeom prst="rect">
              <a:avLst/>
            </a:prstGeom>
          </p:spPr>
        </p:pic>
      </p:grpSp>
    </p:spTree>
    <p:extLst>
      <p:ext uri="{BB962C8B-B14F-4D97-AF65-F5344CB8AC3E}">
        <p14:creationId xmlns:p14="http://schemas.microsoft.com/office/powerpoint/2010/main" val="3075216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B204-9C57-4225-ADAF-45E6E88B98D7}"/>
              </a:ext>
            </a:extLst>
          </p:cNvPr>
          <p:cNvSpPr>
            <a:spLocks noGrp="1"/>
          </p:cNvSpPr>
          <p:nvPr>
            <p:ph type="title"/>
          </p:nvPr>
        </p:nvSpPr>
        <p:spPr/>
        <p:txBody>
          <a:bodyPr/>
          <a:lstStyle/>
          <a:p>
            <a:r>
              <a:rPr lang="en-US"/>
              <a:t>Capabilities of Azure Virtual Networks </a:t>
            </a:r>
          </a:p>
        </p:txBody>
      </p:sp>
      <p:sp>
        <p:nvSpPr>
          <p:cNvPr id="5" name="TextBox 1">
            <a:extLst>
              <a:ext uri="{FF2B5EF4-FFF2-40B4-BE49-F238E27FC236}">
                <a16:creationId xmlns:a16="http://schemas.microsoft.com/office/drawing/2014/main" id="{BFEB36CB-76C0-4CFB-B6C6-12BCC00FC0A9}"/>
              </a:ext>
            </a:extLst>
          </p:cNvPr>
          <p:cNvSpPr txBox="1"/>
          <p:nvPr/>
        </p:nvSpPr>
        <p:spPr>
          <a:xfrm>
            <a:off x="418643" y="1435382"/>
            <a:ext cx="5521378" cy="672319"/>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Communication with the Internet </a:t>
            </a:r>
          </a:p>
        </p:txBody>
      </p:sp>
      <p:sp>
        <p:nvSpPr>
          <p:cNvPr id="9" name="TextBox 1">
            <a:extLst>
              <a:ext uri="{FF2B5EF4-FFF2-40B4-BE49-F238E27FC236}">
                <a16:creationId xmlns:a16="http://schemas.microsoft.com/office/drawing/2014/main" id="{58B8175D-ED57-40EE-B612-E4362E901094}"/>
              </a:ext>
            </a:extLst>
          </p:cNvPr>
          <p:cNvSpPr txBox="1"/>
          <p:nvPr/>
        </p:nvSpPr>
        <p:spPr>
          <a:xfrm>
            <a:off x="418643" y="2256093"/>
            <a:ext cx="5521378"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Communication between Azure resources </a:t>
            </a:r>
          </a:p>
        </p:txBody>
      </p:sp>
      <p:sp>
        <p:nvSpPr>
          <p:cNvPr id="10" name="TextBox 1">
            <a:extLst>
              <a:ext uri="{FF2B5EF4-FFF2-40B4-BE49-F238E27FC236}">
                <a16:creationId xmlns:a16="http://schemas.microsoft.com/office/drawing/2014/main" id="{524489C5-10E2-4186-BEC6-B952B712FD8B}"/>
              </a:ext>
            </a:extLst>
          </p:cNvPr>
          <p:cNvSpPr txBox="1"/>
          <p:nvPr/>
        </p:nvSpPr>
        <p:spPr>
          <a:xfrm>
            <a:off x="418643" y="3296326"/>
            <a:ext cx="5521378"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Communication between on-premises resources</a:t>
            </a:r>
          </a:p>
        </p:txBody>
      </p:sp>
      <p:sp>
        <p:nvSpPr>
          <p:cNvPr id="11" name="TextBox 1">
            <a:extLst>
              <a:ext uri="{FF2B5EF4-FFF2-40B4-BE49-F238E27FC236}">
                <a16:creationId xmlns:a16="http://schemas.microsoft.com/office/drawing/2014/main" id="{42549C1A-B439-4798-8583-0FA5831212F9}"/>
              </a:ext>
            </a:extLst>
          </p:cNvPr>
          <p:cNvSpPr txBox="1"/>
          <p:nvPr/>
        </p:nvSpPr>
        <p:spPr>
          <a:xfrm>
            <a:off x="418643" y="4336559"/>
            <a:ext cx="5521378"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Filtering network traffic</a:t>
            </a:r>
          </a:p>
        </p:txBody>
      </p:sp>
      <p:sp>
        <p:nvSpPr>
          <p:cNvPr id="12" name="TextBox 1">
            <a:extLst>
              <a:ext uri="{FF2B5EF4-FFF2-40B4-BE49-F238E27FC236}">
                <a16:creationId xmlns:a16="http://schemas.microsoft.com/office/drawing/2014/main" id="{C19A5929-92B6-4569-A11F-8962B4F66202}"/>
              </a:ext>
            </a:extLst>
          </p:cNvPr>
          <p:cNvSpPr txBox="1"/>
          <p:nvPr/>
        </p:nvSpPr>
        <p:spPr>
          <a:xfrm>
            <a:off x="418643" y="5376792"/>
            <a:ext cx="5521378" cy="86038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Routing network traffic </a:t>
            </a:r>
          </a:p>
        </p:txBody>
      </p:sp>
      <p:sp>
        <p:nvSpPr>
          <p:cNvPr id="6" name="Rectangle 5">
            <a:extLst>
              <a:ext uri="{FF2B5EF4-FFF2-40B4-BE49-F238E27FC236}">
                <a16:creationId xmlns:a16="http://schemas.microsoft.com/office/drawing/2014/main" id="{682D4FB2-62C5-4058-8404-A6D746525401}"/>
              </a:ext>
              <a:ext uri="{C183D7F6-B498-43B3-948B-1728B52AA6E4}">
                <adec:decorative xmlns:adec="http://schemas.microsoft.com/office/drawing/2017/decorative" val="1"/>
              </a:ext>
            </a:extLst>
          </p:cNvPr>
          <p:cNvSpPr/>
          <p:nvPr/>
        </p:nvSpPr>
        <p:spPr bwMode="auto">
          <a:xfrm>
            <a:off x="6096001" y="119270"/>
            <a:ext cx="5677357" cy="611790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pic>
        <p:nvPicPr>
          <p:cNvPr id="7" name="Picture 6" descr="Azure virtual network diagram ">
            <a:extLst>
              <a:ext uri="{FF2B5EF4-FFF2-40B4-BE49-F238E27FC236}">
                <a16:creationId xmlns:a16="http://schemas.microsoft.com/office/drawing/2014/main" id="{7CB38AF7-7E91-4CA3-917A-6507C9EC9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2615" y="314730"/>
            <a:ext cx="3784127" cy="5726984"/>
          </a:xfrm>
          <a:prstGeom prst="rect">
            <a:avLst/>
          </a:prstGeom>
        </p:spPr>
      </p:pic>
    </p:spTree>
    <p:extLst>
      <p:ext uri="{BB962C8B-B14F-4D97-AF65-F5344CB8AC3E}">
        <p14:creationId xmlns:p14="http://schemas.microsoft.com/office/powerpoint/2010/main" val="40646147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CECF43-A5B3-4EBA-84DE-4A669251E787}"/>
              </a:ext>
              <a:ext uri="{C183D7F6-B498-43B3-948B-1728B52AA6E4}">
                <adec:decorative xmlns:adec="http://schemas.microsoft.com/office/drawing/2017/decorative" val="0"/>
              </a:ext>
            </a:extLst>
          </p:cNvPr>
          <p:cNvSpPr>
            <a:spLocks noGrp="1"/>
          </p:cNvSpPr>
          <p:nvPr>
            <p:ph type="title"/>
          </p:nvPr>
        </p:nvSpPr>
        <p:spPr/>
        <p:txBody>
          <a:bodyPr/>
          <a:lstStyle/>
          <a:p>
            <a:r>
              <a:rPr lang="en-US" dirty="0"/>
              <a:t>Virtual Network address space</a:t>
            </a:r>
          </a:p>
        </p:txBody>
      </p:sp>
      <p:sp>
        <p:nvSpPr>
          <p:cNvPr id="5" name="Rectangle 4">
            <a:extLst>
              <a:ext uri="{FF2B5EF4-FFF2-40B4-BE49-F238E27FC236}">
                <a16:creationId xmlns:a16="http://schemas.microsoft.com/office/drawing/2014/main" id="{34C9F17B-B8C1-4AA3-9263-DAC0478B9F60}"/>
              </a:ext>
              <a:ext uri="{C183D7F6-B498-43B3-948B-1728B52AA6E4}">
                <adec:decorative xmlns:adec="http://schemas.microsoft.com/office/drawing/2017/decorative" val="1"/>
              </a:ext>
            </a:extLst>
          </p:cNvPr>
          <p:cNvSpPr/>
          <p:nvPr/>
        </p:nvSpPr>
        <p:spPr bwMode="auto">
          <a:xfrm>
            <a:off x="418644" y="1169263"/>
            <a:ext cx="11354714" cy="375657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1" name="TextBox 1">
            <a:extLst>
              <a:ext uri="{FF2B5EF4-FFF2-40B4-BE49-F238E27FC236}">
                <a16:creationId xmlns:a16="http://schemas.microsoft.com/office/drawing/2014/main" id="{0EAF4BE6-957B-448A-AADF-1D0F9A97E2AA}"/>
              </a:ext>
            </a:extLst>
          </p:cNvPr>
          <p:cNvSpPr txBox="1"/>
          <p:nvPr/>
        </p:nvSpPr>
        <p:spPr>
          <a:xfrm>
            <a:off x="646514" y="1272209"/>
            <a:ext cx="5495999" cy="3472069"/>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a:spcBef>
                <a:spcPts val="0"/>
              </a:spcBef>
              <a:spcAft>
                <a:spcPts val="0"/>
              </a:spcAft>
            </a:pPr>
            <a:r>
              <a:rPr lang="en-US" sz="1961" b="1"/>
              <a:t>RFC 1918</a:t>
            </a:r>
          </a:p>
          <a:p>
            <a:pPr marR="0" lvl="0">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10.0.0.0 - 10.255.255.255 (10/8 prefix)</a:t>
            </a:r>
          </a:p>
          <a:p>
            <a:pPr marR="0" lvl="0">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172.16.0.0 - 172.31.255.255 (172.16/12 prefix)</a:t>
            </a:r>
          </a:p>
          <a:p>
            <a:pPr marR="0" lvl="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192.168.0.0 - 192.168.255.255 (192.168/16 prefix)</a:t>
            </a:r>
          </a:p>
          <a:p>
            <a:pPr marR="0" lvl="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Azure reserves 5 IP addresses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x.x.x.0: Network address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x.x.x.1: Reserved by Azure for the default gateway</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x.x.x.2, x.x.x.3: Reserved by Azure to map the Azure DNS IPs to the VNet space</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x.x.x.255: Network broadcast address</a:t>
            </a:r>
          </a:p>
          <a:p>
            <a:pPr marR="0" lvl="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
            <a:extLst>
              <a:ext uri="{FF2B5EF4-FFF2-40B4-BE49-F238E27FC236}">
                <a16:creationId xmlns:a16="http://schemas.microsoft.com/office/drawing/2014/main" id="{E5FF261B-978E-44FF-9D47-3DAAE4B7CD4A}"/>
              </a:ext>
            </a:extLst>
          </p:cNvPr>
          <p:cNvSpPr txBox="1"/>
          <p:nvPr/>
        </p:nvSpPr>
        <p:spPr>
          <a:xfrm>
            <a:off x="6311460" y="1272208"/>
            <a:ext cx="5292951" cy="3472069"/>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defTabSz="914400">
              <a:spcBef>
                <a:spcPts val="0"/>
              </a:spcBef>
              <a:spcAft>
                <a:spcPts val="0"/>
              </a:spcAft>
            </a:pPr>
            <a:r>
              <a:rPr lang="en-US" sz="1961" b="1"/>
              <a:t>Unavailable address ranges: </a:t>
            </a:r>
          </a:p>
          <a:p>
            <a:pPr marL="342900" marR="0" lvl="0" indent="-342900">
              <a:spcBef>
                <a:spcPts val="0"/>
              </a:spcBef>
              <a:spcAft>
                <a:spcPts val="0"/>
              </a:spcAft>
              <a:buFont typeface="Symbol" panose="05050102010706020507" pitchFamily="18" charset="2"/>
              <a:buChar char=""/>
            </a:pPr>
            <a:endParaRPr lang="en-US">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961"/>
              <a:t>224.0.0.0/4 (Multicast)</a:t>
            </a:r>
          </a:p>
          <a:p>
            <a:pPr marL="342900" marR="0" lvl="0" indent="-342900">
              <a:spcBef>
                <a:spcPts val="0"/>
              </a:spcBef>
              <a:spcAft>
                <a:spcPts val="0"/>
              </a:spcAft>
              <a:buFont typeface="Symbol" panose="05050102010706020507" pitchFamily="18" charset="2"/>
              <a:buChar char=""/>
            </a:pPr>
            <a:r>
              <a:rPr lang="en-US" sz="1961"/>
              <a:t>255.255.255.255/32 (Broadcast)</a:t>
            </a:r>
          </a:p>
          <a:p>
            <a:pPr marL="342900" marR="0" lvl="0" indent="-342900">
              <a:spcBef>
                <a:spcPts val="0"/>
              </a:spcBef>
              <a:spcAft>
                <a:spcPts val="0"/>
              </a:spcAft>
              <a:buFont typeface="Symbol" panose="05050102010706020507" pitchFamily="18" charset="2"/>
              <a:buChar char=""/>
            </a:pPr>
            <a:r>
              <a:rPr lang="en-US" sz="1961"/>
              <a:t>127.0.0.0/8 (Loopback)</a:t>
            </a:r>
          </a:p>
          <a:p>
            <a:pPr marL="342900" marR="0" lvl="0" indent="-342900">
              <a:spcBef>
                <a:spcPts val="0"/>
              </a:spcBef>
              <a:spcAft>
                <a:spcPts val="0"/>
              </a:spcAft>
              <a:buFont typeface="Symbol" panose="05050102010706020507" pitchFamily="18" charset="2"/>
              <a:buChar char=""/>
            </a:pPr>
            <a:r>
              <a:rPr lang="en-US" sz="1961"/>
              <a:t>169.254.0.0/16 (Link-local)</a:t>
            </a:r>
          </a:p>
          <a:p>
            <a:pPr marL="342900" marR="0" lvl="0" indent="-342900">
              <a:spcBef>
                <a:spcPts val="0"/>
              </a:spcBef>
              <a:spcAft>
                <a:spcPts val="1000"/>
              </a:spcAft>
              <a:buFont typeface="Symbol" panose="05050102010706020507" pitchFamily="18" charset="2"/>
              <a:buChar char=""/>
            </a:pPr>
            <a:r>
              <a:rPr lang="en-US" sz="1961"/>
              <a:t>168.63.129.16/32 (Internal DNS)</a:t>
            </a:r>
          </a:p>
          <a:p>
            <a:pPr>
              <a:spcBef>
                <a:spcPts val="1200"/>
              </a:spcBef>
            </a:pPr>
            <a:endParaRPr lang="en-US" sz="2400"/>
          </a:p>
        </p:txBody>
      </p:sp>
      <p:sp>
        <p:nvSpPr>
          <p:cNvPr id="8" name="Rectangle 7">
            <a:extLst>
              <a:ext uri="{FF2B5EF4-FFF2-40B4-BE49-F238E27FC236}">
                <a16:creationId xmlns:a16="http://schemas.microsoft.com/office/drawing/2014/main" id="{2FE2D89F-3864-4D98-9432-9AA601C6370A}"/>
              </a:ext>
            </a:extLst>
          </p:cNvPr>
          <p:cNvSpPr/>
          <p:nvPr/>
        </p:nvSpPr>
        <p:spPr>
          <a:xfrm>
            <a:off x="418643" y="5065377"/>
            <a:ext cx="2773848" cy="117179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Logical representation of your own network</a:t>
            </a:r>
          </a:p>
        </p:txBody>
      </p:sp>
      <p:sp>
        <p:nvSpPr>
          <p:cNvPr id="9" name="Rectangle 8">
            <a:extLst>
              <a:ext uri="{FF2B5EF4-FFF2-40B4-BE49-F238E27FC236}">
                <a16:creationId xmlns:a16="http://schemas.microsoft.com/office/drawing/2014/main" id="{A0A3D8C3-FB8D-435F-B975-864FBE05C79C}"/>
              </a:ext>
            </a:extLst>
          </p:cNvPr>
          <p:cNvSpPr/>
          <p:nvPr/>
        </p:nvSpPr>
        <p:spPr>
          <a:xfrm>
            <a:off x="3291382" y="5065377"/>
            <a:ext cx="2773848" cy="117179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Create a dedicated private cloud-only virtual network</a:t>
            </a:r>
          </a:p>
        </p:txBody>
      </p:sp>
      <p:sp>
        <p:nvSpPr>
          <p:cNvPr id="10" name="Rectangle 9">
            <a:extLst>
              <a:ext uri="{FF2B5EF4-FFF2-40B4-BE49-F238E27FC236}">
                <a16:creationId xmlns:a16="http://schemas.microsoft.com/office/drawing/2014/main" id="{127523E7-5480-4D13-886A-877F5511F3FE}"/>
              </a:ext>
            </a:extLst>
          </p:cNvPr>
          <p:cNvSpPr/>
          <p:nvPr/>
        </p:nvSpPr>
        <p:spPr>
          <a:xfrm>
            <a:off x="6126771" y="5065377"/>
            <a:ext cx="2773848" cy="117179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Securely extend</a:t>
            </a:r>
            <a:br>
              <a:rPr lang="en-US" sz="1961">
                <a:solidFill>
                  <a:schemeClr val="tx1"/>
                </a:solidFill>
              </a:rPr>
            </a:br>
            <a:r>
              <a:rPr lang="en-US" sz="1961">
                <a:solidFill>
                  <a:schemeClr val="tx1"/>
                </a:solidFill>
              </a:rPr>
              <a:t>your datacenter with virtual networks</a:t>
            </a:r>
          </a:p>
        </p:txBody>
      </p:sp>
      <p:sp>
        <p:nvSpPr>
          <p:cNvPr id="12" name="Rectangle 11">
            <a:extLst>
              <a:ext uri="{FF2B5EF4-FFF2-40B4-BE49-F238E27FC236}">
                <a16:creationId xmlns:a16="http://schemas.microsoft.com/office/drawing/2014/main" id="{A24A0C60-02F3-4501-968C-0E106BDEF086}"/>
              </a:ext>
            </a:extLst>
          </p:cNvPr>
          <p:cNvSpPr/>
          <p:nvPr/>
        </p:nvSpPr>
        <p:spPr>
          <a:xfrm>
            <a:off x="8999510" y="5065377"/>
            <a:ext cx="2773848" cy="117179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Enable hybrid</a:t>
            </a:r>
            <a:br>
              <a:rPr lang="en-US" sz="1961">
                <a:solidFill>
                  <a:schemeClr val="tx1"/>
                </a:solidFill>
              </a:rPr>
            </a:br>
            <a:r>
              <a:rPr lang="en-US" sz="1961">
                <a:solidFill>
                  <a:schemeClr val="tx1"/>
                </a:solidFill>
              </a:rPr>
              <a:t>cloud scenarios</a:t>
            </a:r>
          </a:p>
        </p:txBody>
      </p:sp>
    </p:spTree>
    <p:extLst>
      <p:ext uri="{BB962C8B-B14F-4D97-AF65-F5344CB8AC3E}">
        <p14:creationId xmlns:p14="http://schemas.microsoft.com/office/powerpoint/2010/main" val="126410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Subnets</a:t>
            </a:r>
          </a:p>
        </p:txBody>
      </p:sp>
      <p:sp>
        <p:nvSpPr>
          <p:cNvPr id="20" name="Rectangle 19">
            <a:extLst>
              <a:ext uri="{FF2B5EF4-FFF2-40B4-BE49-F238E27FC236}">
                <a16:creationId xmlns:a16="http://schemas.microsoft.com/office/drawing/2014/main" id="{53440C5D-67F0-4C24-9EB1-3BFE242EFB2B}"/>
              </a:ext>
              <a:ext uri="{C183D7F6-B498-43B3-948B-1728B52AA6E4}">
                <adec:decorative xmlns:adec="http://schemas.microsoft.com/office/drawing/2017/decorative" val="1"/>
              </a:ext>
            </a:extLst>
          </p:cNvPr>
          <p:cNvSpPr/>
          <p:nvPr/>
        </p:nvSpPr>
        <p:spPr bwMode="auto">
          <a:xfrm>
            <a:off x="418644" y="1169264"/>
            <a:ext cx="11354714" cy="323864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21" name="Rectangle 20">
            <a:extLst>
              <a:ext uri="{FF2B5EF4-FFF2-40B4-BE49-F238E27FC236}">
                <a16:creationId xmlns:a16="http://schemas.microsoft.com/office/drawing/2014/main" id="{7F7B7EDA-562D-4590-AE2F-F97A7E8A1378}"/>
              </a:ext>
            </a:extLst>
          </p:cNvPr>
          <p:cNvSpPr/>
          <p:nvPr/>
        </p:nvSpPr>
        <p:spPr>
          <a:xfrm>
            <a:off x="418644" y="4557315"/>
            <a:ext cx="2736496" cy="16798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rPr>
              <a:t>A virtual network can be segmented into one or more subnets</a:t>
            </a:r>
          </a:p>
        </p:txBody>
      </p:sp>
      <p:sp>
        <p:nvSpPr>
          <p:cNvPr id="22" name="Rectangle 21">
            <a:extLst>
              <a:ext uri="{FF2B5EF4-FFF2-40B4-BE49-F238E27FC236}">
                <a16:creationId xmlns:a16="http://schemas.microsoft.com/office/drawing/2014/main" id="{FDD26C2C-9F20-43BD-8385-F040055D6A56}"/>
              </a:ext>
            </a:extLst>
          </p:cNvPr>
          <p:cNvSpPr/>
          <p:nvPr/>
        </p:nvSpPr>
        <p:spPr>
          <a:xfrm>
            <a:off x="3291383" y="4557315"/>
            <a:ext cx="2736496" cy="16798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rPr>
              <a:t>Subnets provide logical divisions within your network</a:t>
            </a:r>
          </a:p>
        </p:txBody>
      </p:sp>
      <p:sp>
        <p:nvSpPr>
          <p:cNvPr id="23" name="Rectangle 22">
            <a:extLst>
              <a:ext uri="{FF2B5EF4-FFF2-40B4-BE49-F238E27FC236}">
                <a16:creationId xmlns:a16="http://schemas.microsoft.com/office/drawing/2014/main" id="{53A55359-2EC7-44DA-B0D4-793E9D40B4FE}"/>
              </a:ext>
            </a:extLst>
          </p:cNvPr>
          <p:cNvSpPr/>
          <p:nvPr/>
        </p:nvSpPr>
        <p:spPr>
          <a:xfrm>
            <a:off x="6164123" y="4557315"/>
            <a:ext cx="2736496" cy="16798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rPr>
              <a:t>Subnets can help improve security, increase performance, and make it easier to manage the network</a:t>
            </a:r>
          </a:p>
        </p:txBody>
      </p:sp>
      <p:sp>
        <p:nvSpPr>
          <p:cNvPr id="24" name="Rectangle 23">
            <a:extLst>
              <a:ext uri="{FF2B5EF4-FFF2-40B4-BE49-F238E27FC236}">
                <a16:creationId xmlns:a16="http://schemas.microsoft.com/office/drawing/2014/main" id="{09083D68-4C7B-43F3-926F-83A8CAC417AD}"/>
              </a:ext>
            </a:extLst>
          </p:cNvPr>
          <p:cNvSpPr/>
          <p:nvPr/>
        </p:nvSpPr>
        <p:spPr>
          <a:xfrm>
            <a:off x="9036861" y="4557315"/>
            <a:ext cx="2736496" cy="16798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rPr>
              <a:t>Each subnet must have a unique address range – cannot overlap with other subnets in the virtual network in the subscription </a:t>
            </a:r>
          </a:p>
        </p:txBody>
      </p:sp>
      <p:pic>
        <p:nvPicPr>
          <p:cNvPr id="4" name="Picture 3" descr="Screenshot of adding a subnet page. Several subnets are listed">
            <a:extLst>
              <a:ext uri="{FF2B5EF4-FFF2-40B4-BE49-F238E27FC236}">
                <a16:creationId xmlns:a16="http://schemas.microsoft.com/office/drawing/2014/main" id="{362CD7EA-0E3A-4743-B32D-E74A80016810}"/>
              </a:ext>
            </a:extLst>
          </p:cNvPr>
          <p:cNvPicPr>
            <a:picLocks noChangeAspect="1"/>
          </p:cNvPicPr>
          <p:nvPr/>
        </p:nvPicPr>
        <p:blipFill rotWithShape="1">
          <a:blip r:embed="rId3">
            <a:extLst>
              <a:ext uri="{28A0092B-C50C-407E-A947-70E740481C1C}">
                <a14:useLocalDpi xmlns:a14="http://schemas.microsoft.com/office/drawing/2010/main" val="0"/>
              </a:ext>
            </a:extLst>
          </a:blip>
          <a:srcRect r="14120"/>
          <a:stretch/>
        </p:blipFill>
        <p:spPr>
          <a:xfrm>
            <a:off x="745458" y="1205882"/>
            <a:ext cx="10837329" cy="3202027"/>
          </a:xfrm>
          <a:prstGeom prst="rect">
            <a:avLst/>
          </a:prstGeom>
        </p:spPr>
      </p:pic>
    </p:spTree>
    <p:extLst>
      <p:ext uri="{BB962C8B-B14F-4D97-AF65-F5344CB8AC3E}">
        <p14:creationId xmlns:p14="http://schemas.microsoft.com/office/powerpoint/2010/main" val="204549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Private IP Addresses allocation</a:t>
            </a:r>
          </a:p>
        </p:txBody>
      </p:sp>
      <p:graphicFrame>
        <p:nvGraphicFramePr>
          <p:cNvPr id="6" name="Table 5">
            <a:extLst>
              <a:ext uri="{FF2B5EF4-FFF2-40B4-BE49-F238E27FC236}">
                <a16:creationId xmlns:a16="http://schemas.microsoft.com/office/drawing/2014/main" id="{01F09E08-26E6-4844-B30B-D091C8CA5746}"/>
              </a:ext>
            </a:extLst>
          </p:cNvPr>
          <p:cNvGraphicFramePr>
            <a:graphicFrameLocks noGrp="1"/>
          </p:cNvGraphicFramePr>
          <p:nvPr>
            <p:extLst>
              <p:ext uri="{D42A27DB-BD31-4B8C-83A1-F6EECF244321}">
                <p14:modId xmlns:p14="http://schemas.microsoft.com/office/powerpoint/2010/main" val="3487437069"/>
              </p:ext>
            </p:extLst>
          </p:nvPr>
        </p:nvGraphicFramePr>
        <p:xfrm>
          <a:off x="418644" y="1281318"/>
          <a:ext cx="7644696" cy="2650240"/>
        </p:xfrm>
        <a:graphic>
          <a:graphicData uri="http://schemas.openxmlformats.org/drawingml/2006/table">
            <a:tbl>
              <a:tblPr firstRow="1" firstCol="1" bandRow="1">
                <a:tableStyleId>{2D5ABB26-0587-4C30-8999-92F81FD0307C}</a:tableStyleId>
              </a:tblPr>
              <a:tblGrid>
                <a:gridCol w="3491423">
                  <a:extLst>
                    <a:ext uri="{9D8B030D-6E8A-4147-A177-3AD203B41FA5}">
                      <a16:colId xmlns:a16="http://schemas.microsoft.com/office/drawing/2014/main" val="3174192451"/>
                    </a:ext>
                  </a:extLst>
                </a:gridCol>
                <a:gridCol w="4153273">
                  <a:extLst>
                    <a:ext uri="{9D8B030D-6E8A-4147-A177-3AD203B41FA5}">
                      <a16:colId xmlns:a16="http://schemas.microsoft.com/office/drawing/2014/main" val="2284610204"/>
                    </a:ext>
                  </a:extLst>
                </a:gridCol>
              </a:tblGrid>
              <a:tr h="611929">
                <a:tc>
                  <a:txBody>
                    <a:bodyPr/>
                    <a:lstStyle/>
                    <a:p>
                      <a:pPr marL="0" marR="156845" algn="l" defTabSz="932742" rtl="0" eaLnBrk="1" latinLnBrk="0" hangingPunct="1">
                        <a:lnSpc>
                          <a:spcPct val="115000"/>
                        </a:lnSpc>
                      </a:pPr>
                      <a:r>
                        <a:rPr lang="en-US" sz="2200" kern="1200" dirty="0">
                          <a:solidFill>
                            <a:schemeClr val="bg1"/>
                          </a:solidFill>
                          <a:effectLst/>
                          <a:latin typeface="+mj-lt"/>
                        </a:rPr>
                        <a:t>Private IP Addresses</a:t>
                      </a:r>
                      <a:endParaRPr lang="en-US" sz="2200" b="0" kern="1200" dirty="0">
                        <a:solidFill>
                          <a:schemeClr val="bg1"/>
                        </a:solidFill>
                        <a:effectLst/>
                        <a:latin typeface="+mj-lt"/>
                        <a:ea typeface="+mn-ea"/>
                        <a:cs typeface="Segoe UI Semilight"/>
                      </a:endParaRPr>
                    </a:p>
                  </a:txBody>
                  <a:tcPr marL="134464" marR="134464" marT="89642" marB="8964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gn="l" defTabSz="932742" rtl="0" eaLnBrk="1" latinLnBrk="0" hangingPunct="1">
                        <a:lnSpc>
                          <a:spcPct val="115000"/>
                        </a:lnSpc>
                      </a:pPr>
                      <a:r>
                        <a:rPr lang="en-US" sz="2200" kern="1200" dirty="0">
                          <a:solidFill>
                            <a:schemeClr val="bg1"/>
                          </a:solidFill>
                          <a:effectLst/>
                          <a:latin typeface="+mj-lt"/>
                        </a:rPr>
                        <a:t>IP address association</a:t>
                      </a:r>
                      <a:endParaRPr lang="en-US" sz="2200" b="0" kern="1200" dirty="0">
                        <a:solidFill>
                          <a:schemeClr val="bg1"/>
                        </a:solidFill>
                        <a:effectLst/>
                        <a:latin typeface="+mj-lt"/>
                        <a:ea typeface="+mn-ea"/>
                        <a:cs typeface="Segoe UI Semilight"/>
                      </a:endParaRPr>
                    </a:p>
                  </a:txBody>
                  <a:tcPr marL="134464" marR="134464" marT="89642" marB="8964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3394654805"/>
                  </a:ext>
                </a:extLst>
              </a:tr>
              <a:tr h="679437">
                <a:tc>
                  <a:txBody>
                    <a:bodyPr/>
                    <a:lstStyle/>
                    <a:p>
                      <a:pPr marL="0" marR="156845" algn="l" defTabSz="932742" rtl="0" eaLnBrk="1" latinLnBrk="0" hangingPunct="1">
                        <a:lnSpc>
                          <a:spcPct val="115000"/>
                        </a:lnSpc>
                      </a:pPr>
                      <a:r>
                        <a:rPr lang="en-US" sz="2200" kern="1200">
                          <a:effectLst/>
                          <a:latin typeface="+mj-lt"/>
                        </a:rPr>
                        <a:t>Virtual Machine</a:t>
                      </a:r>
                      <a:endParaRPr lang="en-US" sz="2200" b="0" kern="1200">
                        <a:solidFill>
                          <a:schemeClr val="tx1"/>
                        </a:solidFill>
                        <a:effectLst/>
                        <a:latin typeface="+mj-lt"/>
                        <a:ea typeface="+mn-ea"/>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lnSpc>
                          <a:spcPct val="115000"/>
                        </a:lnSpc>
                      </a:pPr>
                      <a:r>
                        <a:rPr lang="en-US" sz="2200" kern="1200">
                          <a:effectLst/>
                        </a:rPr>
                        <a:t>NIC</a:t>
                      </a:r>
                      <a:endParaRPr lang="en-US" sz="2200" b="0" kern="1200">
                        <a:solidFill>
                          <a:schemeClr val="tx1"/>
                        </a:solidFill>
                        <a:effectLst/>
                        <a:latin typeface="+mn-lt"/>
                        <a:ea typeface="+mn-ea"/>
                        <a:cs typeface="Segoe UI Semilight"/>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1043496"/>
                  </a:ext>
                </a:extLst>
              </a:tr>
              <a:tr h="679437">
                <a:tc>
                  <a:txBody>
                    <a:bodyPr/>
                    <a:lstStyle/>
                    <a:p>
                      <a:pPr marL="0" marR="156845" algn="l" defTabSz="932742" rtl="0" eaLnBrk="1" latinLnBrk="0" hangingPunct="1">
                        <a:lnSpc>
                          <a:spcPct val="115000"/>
                        </a:lnSpc>
                      </a:pPr>
                      <a:r>
                        <a:rPr lang="en-US" sz="2200" kern="1200">
                          <a:effectLst/>
                          <a:latin typeface="+mj-lt"/>
                        </a:rPr>
                        <a:t>Internal Load Balancer</a:t>
                      </a:r>
                      <a:endParaRPr lang="en-US" sz="2200" b="0" kern="1200">
                        <a:solidFill>
                          <a:schemeClr val="tx1"/>
                        </a:solidFill>
                        <a:effectLst/>
                        <a:latin typeface="+mj-lt"/>
                        <a:ea typeface="+mn-ea"/>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lnSpc>
                          <a:spcPct val="115000"/>
                        </a:lnSpc>
                      </a:pPr>
                      <a:r>
                        <a:rPr lang="en-US" sz="2200" kern="1200">
                          <a:effectLst/>
                        </a:rPr>
                        <a:t>Front-end configuration</a:t>
                      </a:r>
                      <a:endParaRPr lang="en-US" sz="2200" b="0" kern="1200">
                        <a:solidFill>
                          <a:schemeClr val="tx1"/>
                        </a:solidFill>
                        <a:effectLst/>
                        <a:latin typeface="+mn-lt"/>
                        <a:ea typeface="+mn-ea"/>
                        <a:cs typeface="Segoe UI Semilight"/>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49406885"/>
                  </a:ext>
                </a:extLst>
              </a:tr>
              <a:tr h="679437">
                <a:tc>
                  <a:txBody>
                    <a:bodyPr/>
                    <a:lstStyle/>
                    <a:p>
                      <a:pPr marL="0" marR="156845" algn="l" defTabSz="932742" rtl="0" eaLnBrk="1" latinLnBrk="0" hangingPunct="1">
                        <a:lnSpc>
                          <a:spcPct val="115000"/>
                        </a:lnSpc>
                      </a:pPr>
                      <a:r>
                        <a:rPr lang="en-US" sz="2200" kern="1200">
                          <a:effectLst/>
                          <a:latin typeface="+mj-lt"/>
                        </a:rPr>
                        <a:t>Application Gateway</a:t>
                      </a:r>
                      <a:endParaRPr lang="en-US" sz="2200" b="0" kern="1200">
                        <a:solidFill>
                          <a:schemeClr val="tx1"/>
                        </a:solidFill>
                        <a:effectLst/>
                        <a:latin typeface="+mj-lt"/>
                        <a:ea typeface="+mn-ea"/>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lnSpc>
                          <a:spcPct val="115000"/>
                        </a:lnSpc>
                      </a:pPr>
                      <a:r>
                        <a:rPr lang="en-US" sz="2200" kern="1200" dirty="0">
                          <a:effectLst/>
                        </a:rPr>
                        <a:t>Front-end configuration</a:t>
                      </a:r>
                      <a:endParaRPr lang="en-US" sz="2200" b="0" kern="1200" dirty="0">
                        <a:solidFill>
                          <a:schemeClr val="tx1"/>
                        </a:solidFill>
                        <a:effectLst/>
                        <a:latin typeface="+mn-lt"/>
                        <a:ea typeface="+mn-ea"/>
                        <a:cs typeface="Segoe UI Semilight"/>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85675026"/>
                  </a:ext>
                </a:extLst>
              </a:tr>
            </a:tbl>
          </a:graphicData>
        </a:graphic>
      </p:graphicFrame>
      <p:sp>
        <p:nvSpPr>
          <p:cNvPr id="11" name="Text Placeholder 2">
            <a:extLst>
              <a:ext uri="{FF2B5EF4-FFF2-40B4-BE49-F238E27FC236}">
                <a16:creationId xmlns:a16="http://schemas.microsoft.com/office/drawing/2014/main" id="{EC3544F5-E71F-41E9-85BB-F6BC6E8DE988}"/>
              </a:ext>
            </a:extLst>
          </p:cNvPr>
          <p:cNvSpPr txBox="1">
            <a:spLocks/>
          </p:cNvSpPr>
          <p:nvPr/>
        </p:nvSpPr>
        <p:spPr>
          <a:xfrm>
            <a:off x="418644" y="4067287"/>
            <a:ext cx="11354714" cy="958450"/>
          </a:xfrm>
          <a:prstGeom prst="rect">
            <a:avLst/>
          </a:prstGeom>
          <a:solidFill>
            <a:schemeClr val="bg1">
              <a:lumMod val="95000"/>
            </a:schemeClr>
          </a:solidFill>
          <a:ln w="6350">
            <a:noFill/>
          </a:ln>
        </p:spPr>
        <p:txBody>
          <a:bodyPr vert="horz" wrap="square" lIns="134464" tIns="89642" rIns="134464"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157" spc="0">
                <a:solidFill>
                  <a:schemeClr val="tx2">
                    <a:lumMod val="50000"/>
                  </a:schemeClr>
                </a:solidFill>
                <a:cs typeface="Segoe UI Semilight"/>
              </a:rPr>
              <a:t>Dynamic (default).</a:t>
            </a:r>
            <a:r>
              <a:rPr lang="en-US" sz="2157" spc="0">
                <a:solidFill>
                  <a:schemeClr val="tx2">
                    <a:lumMod val="50000"/>
                  </a:schemeClr>
                </a:solidFill>
                <a:latin typeface="+mn-lt"/>
                <a:cs typeface="Segoe UI Semilight"/>
              </a:rPr>
              <a:t> </a:t>
            </a:r>
            <a:r>
              <a:rPr lang="en-US" sz="2157" spc="0">
                <a:latin typeface="+mn-lt"/>
                <a:cs typeface="Segoe UI Semilight"/>
              </a:rPr>
              <a:t>Azure assigns the next available unassigned or unreserved IP address in the subnet’s address range </a:t>
            </a:r>
          </a:p>
        </p:txBody>
      </p:sp>
      <p:sp>
        <p:nvSpPr>
          <p:cNvPr id="5" name="Text Placeholder 2">
            <a:extLst>
              <a:ext uri="{FF2B5EF4-FFF2-40B4-BE49-F238E27FC236}">
                <a16:creationId xmlns:a16="http://schemas.microsoft.com/office/drawing/2014/main" id="{188DE04B-0ABB-4FE1-BAC8-6E3AB0E24B5C}"/>
              </a:ext>
            </a:extLst>
          </p:cNvPr>
          <p:cNvSpPr txBox="1">
            <a:spLocks/>
          </p:cNvSpPr>
          <p:nvPr/>
        </p:nvSpPr>
        <p:spPr>
          <a:xfrm>
            <a:off x="418644" y="5161466"/>
            <a:ext cx="11354714" cy="958450"/>
          </a:xfrm>
          <a:prstGeom prst="rect">
            <a:avLst/>
          </a:prstGeom>
          <a:solidFill>
            <a:schemeClr val="bg1">
              <a:lumMod val="95000"/>
            </a:schemeClr>
          </a:solidFill>
          <a:ln w="6350">
            <a:noFill/>
          </a:ln>
        </p:spPr>
        <p:txBody>
          <a:bodyPr vert="horz" wrap="square" lIns="134464" tIns="89642" rIns="134464"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157" spc="0">
                <a:solidFill>
                  <a:schemeClr val="tx2">
                    <a:lumMod val="50000"/>
                  </a:schemeClr>
                </a:solidFill>
                <a:cs typeface="Segoe UI Semilight"/>
              </a:rPr>
              <a:t>Static</a:t>
            </a:r>
            <a:r>
              <a:rPr lang="en-US" sz="2157" spc="0">
                <a:solidFill>
                  <a:schemeClr val="tx2"/>
                </a:solidFill>
                <a:cs typeface="Segoe UI Semilight"/>
              </a:rPr>
              <a:t>. </a:t>
            </a:r>
            <a:r>
              <a:rPr lang="en-US" sz="2157" spc="0">
                <a:latin typeface="+mn-lt"/>
                <a:cs typeface="Segoe UI Semilight"/>
              </a:rPr>
              <a:t>You select and assign any unassigned or unreserved IP address in the subnet's address range </a:t>
            </a:r>
          </a:p>
        </p:txBody>
      </p:sp>
    </p:spTree>
    <p:extLst>
      <p:ext uri="{BB962C8B-B14F-4D97-AF65-F5344CB8AC3E}">
        <p14:creationId xmlns:p14="http://schemas.microsoft.com/office/powerpoint/2010/main" val="323248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356079" y="262427"/>
            <a:ext cx="11341268" cy="680196"/>
          </a:xfrm>
        </p:spPr>
        <p:txBody>
          <a:bodyPr>
            <a:normAutofit/>
          </a:bodyPr>
          <a:lstStyle/>
          <a:p>
            <a:r>
              <a:rPr lang="en-US" sz="2745">
                <a:solidFill>
                  <a:srgbClr val="000000"/>
                </a:solidFill>
              </a:rPr>
              <a:t>Understand Regions and Subscriptions </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356079" y="1094464"/>
            <a:ext cx="3590279" cy="5017578"/>
          </a:xfrm>
          <a:solidFill>
            <a:schemeClr val="bg1">
              <a:lumMod val="95000"/>
            </a:schemeClr>
          </a:solidFill>
          <a:ln w="6350">
            <a:noFill/>
          </a:ln>
        </p:spPr>
        <p:txBody>
          <a:bodyPr vert="horz" wrap="square" lIns="134464" tIns="89642" rIns="134464" bIns="89642" rtlCol="0" anchor="ctr">
            <a:no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US" sz="2400" b="1" i="0" dirty="0">
                <a:solidFill>
                  <a:srgbClr val="171717"/>
                </a:solidFill>
                <a:effectLst/>
                <a:latin typeface="Segoe UI" panose="020B0502040204020203" pitchFamily="34" charset="0"/>
              </a:rPr>
              <a:t>Regions</a:t>
            </a:r>
            <a:r>
              <a:rPr lang="en-US" sz="2400" b="0" i="0" dirty="0">
                <a:solidFill>
                  <a:srgbClr val="171717"/>
                </a:solidFill>
                <a:effectLst/>
                <a:latin typeface="Segoe UI" panose="020B0502040204020203" pitchFamily="34" charset="0"/>
              </a:rPr>
              <a:t>: VNet is scoped to a single region/location; however, multiple virtual networks from different regions can be connected using Virtual Network Peering.</a:t>
            </a:r>
          </a:p>
        </p:txBody>
      </p:sp>
      <p:sp>
        <p:nvSpPr>
          <p:cNvPr id="4" name="Rectangle 3">
            <a:extLst>
              <a:ext uri="{FF2B5EF4-FFF2-40B4-BE49-F238E27FC236}">
                <a16:creationId xmlns:a16="http://schemas.microsoft.com/office/drawing/2014/main" id="{24D21760-EB33-4F2E-9BCA-D4E3AE7294D4}"/>
              </a:ext>
              <a:ext uri="{C183D7F6-B498-43B3-948B-1728B52AA6E4}">
                <adec:decorative xmlns:adec="http://schemas.microsoft.com/office/drawing/2017/decorative" val="1"/>
              </a:ext>
            </a:extLst>
          </p:cNvPr>
          <p:cNvSpPr/>
          <p:nvPr/>
        </p:nvSpPr>
        <p:spPr bwMode="auto">
          <a:xfrm>
            <a:off x="4037610" y="1448585"/>
            <a:ext cx="7964384" cy="441722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6" name="Picture 5" descr="Screen capture of a map of the Microsoft Azure global network">
            <a:extLst>
              <a:ext uri="{FF2B5EF4-FFF2-40B4-BE49-F238E27FC236}">
                <a16:creationId xmlns:a16="http://schemas.microsoft.com/office/drawing/2014/main" id="{27D8BECC-9B1F-467F-9E87-BFED906785C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99065" y="1676781"/>
            <a:ext cx="7041474" cy="3960828"/>
          </a:xfrm>
          <a:prstGeom prst="rect">
            <a:avLst/>
          </a:prstGeom>
        </p:spPr>
      </p:pic>
    </p:spTree>
    <p:extLst>
      <p:ext uri="{BB962C8B-B14F-4D97-AF65-F5344CB8AC3E}">
        <p14:creationId xmlns:p14="http://schemas.microsoft.com/office/powerpoint/2010/main" val="7767603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a Virtual Network</a:t>
            </a:r>
          </a:p>
        </p:txBody>
      </p:sp>
      <p:sp>
        <p:nvSpPr>
          <p:cNvPr id="5" name="Rectangle 4">
            <a:extLst>
              <a:ext uri="{FF2B5EF4-FFF2-40B4-BE49-F238E27FC236}">
                <a16:creationId xmlns:a16="http://schemas.microsoft.com/office/drawing/2014/main" id="{8B366F71-125D-42AF-BC52-5B7E07E5ACB0}"/>
              </a:ext>
            </a:extLst>
          </p:cNvPr>
          <p:cNvSpPr/>
          <p:nvPr/>
        </p:nvSpPr>
        <p:spPr>
          <a:xfrm>
            <a:off x="418641" y="1271947"/>
            <a:ext cx="4262687" cy="10039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a:solidFill>
                  <a:schemeClr val="tx1"/>
                </a:solidFill>
              </a:rPr>
              <a:t>Create new virtual networks</a:t>
            </a:r>
            <a:br>
              <a:rPr lang="en-US" sz="2157">
                <a:solidFill>
                  <a:schemeClr val="tx1"/>
                </a:solidFill>
              </a:rPr>
            </a:br>
            <a:r>
              <a:rPr lang="en-US" sz="2157">
                <a:solidFill>
                  <a:schemeClr val="tx1"/>
                </a:solidFill>
              </a:rPr>
              <a:t>at any time</a:t>
            </a:r>
          </a:p>
        </p:txBody>
      </p:sp>
      <p:sp>
        <p:nvSpPr>
          <p:cNvPr id="6" name="Rectangle 5">
            <a:extLst>
              <a:ext uri="{FF2B5EF4-FFF2-40B4-BE49-F238E27FC236}">
                <a16:creationId xmlns:a16="http://schemas.microsoft.com/office/drawing/2014/main" id="{AEF60C32-CAFD-4EF6-A3F5-3E8974BCDB4C}"/>
              </a:ext>
            </a:extLst>
          </p:cNvPr>
          <p:cNvSpPr/>
          <p:nvPr/>
        </p:nvSpPr>
        <p:spPr>
          <a:xfrm>
            <a:off x="418642" y="2553182"/>
            <a:ext cx="4262687" cy="10039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a:solidFill>
                  <a:schemeClr val="tx1"/>
                </a:solidFill>
              </a:rPr>
              <a:t>Add virtual networks when</a:t>
            </a:r>
            <a:br>
              <a:rPr lang="en-US" sz="2157">
                <a:solidFill>
                  <a:schemeClr val="tx1"/>
                </a:solidFill>
              </a:rPr>
            </a:br>
            <a:r>
              <a:rPr lang="en-US" sz="2157">
                <a:solidFill>
                  <a:schemeClr val="tx1"/>
                </a:solidFill>
              </a:rPr>
              <a:t>you create a virtual machine</a:t>
            </a:r>
          </a:p>
        </p:txBody>
      </p:sp>
      <p:sp>
        <p:nvSpPr>
          <p:cNvPr id="7" name="Rectangle 6">
            <a:extLst>
              <a:ext uri="{FF2B5EF4-FFF2-40B4-BE49-F238E27FC236}">
                <a16:creationId xmlns:a16="http://schemas.microsoft.com/office/drawing/2014/main" id="{86B16058-5ED7-447B-AD8E-E1BF9EA4F30B}"/>
              </a:ext>
            </a:extLst>
          </p:cNvPr>
          <p:cNvSpPr/>
          <p:nvPr/>
        </p:nvSpPr>
        <p:spPr>
          <a:xfrm>
            <a:off x="418641" y="3834417"/>
            <a:ext cx="4262687" cy="10039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a:solidFill>
                  <a:schemeClr val="tx1"/>
                </a:solidFill>
              </a:rPr>
              <a:t>Need to define the address space, and at least one subnet</a:t>
            </a:r>
          </a:p>
        </p:txBody>
      </p:sp>
      <p:sp>
        <p:nvSpPr>
          <p:cNvPr id="11" name="Rectangle 10">
            <a:extLst>
              <a:ext uri="{FF2B5EF4-FFF2-40B4-BE49-F238E27FC236}">
                <a16:creationId xmlns:a16="http://schemas.microsoft.com/office/drawing/2014/main" id="{43726846-A9A4-455D-93F8-83D05F7826D1}"/>
              </a:ext>
            </a:extLst>
          </p:cNvPr>
          <p:cNvSpPr/>
          <p:nvPr/>
        </p:nvSpPr>
        <p:spPr>
          <a:xfrm>
            <a:off x="418641" y="5115651"/>
            <a:ext cx="4262687" cy="10039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dirty="0">
                <a:solidFill>
                  <a:schemeClr val="tx1"/>
                </a:solidFill>
              </a:rPr>
              <a:t>Ensure non-overlapping address spaces</a:t>
            </a:r>
          </a:p>
        </p:txBody>
      </p:sp>
      <p:sp>
        <p:nvSpPr>
          <p:cNvPr id="8" name="Rectangle 7">
            <a:extLst>
              <a:ext uri="{FF2B5EF4-FFF2-40B4-BE49-F238E27FC236}">
                <a16:creationId xmlns:a16="http://schemas.microsoft.com/office/drawing/2014/main" id="{B0E6C658-2229-4F73-BB5F-D05565CAAC83}"/>
              </a:ext>
              <a:ext uri="{C183D7F6-B498-43B3-948B-1728B52AA6E4}">
                <adec:decorative xmlns:adec="http://schemas.microsoft.com/office/drawing/2017/decorative" val="1"/>
              </a:ext>
            </a:extLst>
          </p:cNvPr>
          <p:cNvSpPr/>
          <p:nvPr/>
        </p:nvSpPr>
        <p:spPr bwMode="auto">
          <a:xfrm>
            <a:off x="4818286" y="1169262"/>
            <a:ext cx="6955073" cy="506791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4" name="Picture 4" descr="Screenshot of a webpage on creating a virtual network">
            <a:extLst>
              <a:ext uri="{FF2B5EF4-FFF2-40B4-BE49-F238E27FC236}">
                <a16:creationId xmlns:a16="http://schemas.microsoft.com/office/drawing/2014/main" id="{657580F7-90E5-49BC-B813-1983949A4BCE}"/>
              </a:ext>
            </a:extLst>
          </p:cNvPr>
          <p:cNvPicPr>
            <a:picLocks noChangeAspect="1"/>
          </p:cNvPicPr>
          <p:nvPr/>
        </p:nvPicPr>
        <p:blipFill rotWithShape="1">
          <a:blip r:embed="rId3"/>
          <a:srcRect l="506" t="506" r="506" b="506"/>
          <a:stretch/>
        </p:blipFill>
        <p:spPr>
          <a:xfrm>
            <a:off x="5079741" y="1466762"/>
            <a:ext cx="6432158" cy="4652821"/>
          </a:xfrm>
          <a:prstGeom prst="rect">
            <a:avLst/>
          </a:prstGeom>
          <a:ln>
            <a:noFill/>
          </a:ln>
        </p:spPr>
      </p:pic>
    </p:spTree>
    <p:extLst>
      <p:ext uri="{BB962C8B-B14F-4D97-AF65-F5344CB8AC3E}">
        <p14:creationId xmlns:p14="http://schemas.microsoft.com/office/powerpoint/2010/main" val="285281172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1A9B-4884-43FC-B882-32050A4E731A}"/>
              </a:ext>
            </a:extLst>
          </p:cNvPr>
          <p:cNvSpPr>
            <a:spLocks noGrp="1"/>
          </p:cNvSpPr>
          <p:nvPr>
            <p:ph type="title"/>
          </p:nvPr>
        </p:nvSpPr>
        <p:spPr/>
        <p:txBody>
          <a:bodyPr/>
          <a:lstStyle/>
          <a:p>
            <a:r>
              <a:rPr lang="en-US" dirty="0"/>
              <a:t>Demonstration – Creating Virtual Networks</a:t>
            </a:r>
          </a:p>
        </p:txBody>
      </p:sp>
      <p:pic>
        <p:nvPicPr>
          <p:cNvPr id="9" name="Picture 8">
            <a:extLst>
              <a:ext uri="{FF2B5EF4-FFF2-40B4-BE49-F238E27FC236}">
                <a16:creationId xmlns:a16="http://schemas.microsoft.com/office/drawing/2014/main" id="{D26FA3CA-7EF3-4B2B-A311-A9C6BF07E5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047" y="1766880"/>
            <a:ext cx="12183907" cy="2078212"/>
          </a:xfrm>
          <a:prstGeom prst="rect">
            <a:avLst/>
          </a:prstGeom>
        </p:spPr>
      </p:pic>
      <p:sp>
        <p:nvSpPr>
          <p:cNvPr id="10" name="Oval 9">
            <a:extLst>
              <a:ext uri="{FF2B5EF4-FFF2-40B4-BE49-F238E27FC236}">
                <a16:creationId xmlns:a16="http://schemas.microsoft.com/office/drawing/2014/main" id="{E31FBD9E-00BE-4D41-8FB7-E020B62D794F}"/>
              </a:ext>
              <a:ext uri="{C183D7F6-B498-43B3-948B-1728B52AA6E4}">
                <adec:decorative xmlns:adec="http://schemas.microsoft.com/office/drawing/2017/decorative" val="0"/>
              </a:ext>
            </a:extLst>
          </p:cNvPr>
          <p:cNvSpPr/>
          <p:nvPr/>
        </p:nvSpPr>
        <p:spPr bwMode="auto">
          <a:xfrm>
            <a:off x="1902698" y="2042168"/>
            <a:ext cx="3400377" cy="3400370"/>
          </a:xfrm>
          <a:prstGeom prst="ellipse">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r>
              <a:rPr lang="en-US" sz="2353">
                <a:solidFill>
                  <a:schemeClr val="tx1"/>
                </a:solidFill>
                <a:latin typeface="+mj-lt"/>
              </a:rPr>
              <a:t>Create a</a:t>
            </a:r>
            <a:br>
              <a:rPr lang="en-US" sz="2353">
                <a:solidFill>
                  <a:schemeClr val="tx1"/>
                </a:solidFill>
                <a:latin typeface="+mj-lt"/>
              </a:rPr>
            </a:br>
            <a:r>
              <a:rPr lang="en-US" sz="2353">
                <a:solidFill>
                  <a:schemeClr val="tx1"/>
                </a:solidFill>
                <a:latin typeface="+mj-lt"/>
              </a:rPr>
              <a:t>virtual network</a:t>
            </a:r>
            <a:br>
              <a:rPr lang="en-US" sz="2353">
                <a:solidFill>
                  <a:schemeClr val="tx1"/>
                </a:solidFill>
                <a:latin typeface="+mj-lt"/>
              </a:rPr>
            </a:br>
            <a:r>
              <a:rPr lang="en-US" sz="2353">
                <a:solidFill>
                  <a:schemeClr val="tx1"/>
                </a:solidFill>
                <a:latin typeface="+mj-lt"/>
              </a:rPr>
              <a:t>in the portal</a:t>
            </a:r>
          </a:p>
        </p:txBody>
      </p:sp>
      <p:sp>
        <p:nvSpPr>
          <p:cNvPr id="12" name="Oval 11">
            <a:extLst>
              <a:ext uri="{FF2B5EF4-FFF2-40B4-BE49-F238E27FC236}">
                <a16:creationId xmlns:a16="http://schemas.microsoft.com/office/drawing/2014/main" id="{FCAEAFC7-DFE4-438B-B42A-DE8B301486B5}"/>
              </a:ext>
              <a:ext uri="{C183D7F6-B498-43B3-948B-1728B52AA6E4}">
                <adec:decorative xmlns:adec="http://schemas.microsoft.com/office/drawing/2017/decorative" val="0"/>
              </a:ext>
            </a:extLst>
          </p:cNvPr>
          <p:cNvSpPr/>
          <p:nvPr/>
        </p:nvSpPr>
        <p:spPr bwMode="auto">
          <a:xfrm>
            <a:off x="6888928" y="2042168"/>
            <a:ext cx="3400377" cy="3400370"/>
          </a:xfrm>
          <a:prstGeom prst="ellipse">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r>
              <a:rPr lang="en-US" sz="2353">
                <a:solidFill>
                  <a:schemeClr val="tx1"/>
                </a:solidFill>
                <a:latin typeface="+mj-lt"/>
              </a:rPr>
              <a:t>Create a</a:t>
            </a:r>
            <a:br>
              <a:rPr lang="en-US" sz="2353">
                <a:solidFill>
                  <a:schemeClr val="tx1"/>
                </a:solidFill>
                <a:latin typeface="+mj-lt"/>
              </a:rPr>
            </a:br>
            <a:r>
              <a:rPr lang="en-US" sz="2353">
                <a:solidFill>
                  <a:schemeClr val="tx1"/>
                </a:solidFill>
                <a:latin typeface="+mj-lt"/>
              </a:rPr>
              <a:t>virtual network</a:t>
            </a:r>
            <a:br>
              <a:rPr lang="en-US" sz="2353">
                <a:solidFill>
                  <a:schemeClr val="tx1"/>
                </a:solidFill>
                <a:latin typeface="+mj-lt"/>
              </a:rPr>
            </a:br>
            <a:r>
              <a:rPr lang="en-US" sz="2353">
                <a:solidFill>
                  <a:schemeClr val="tx1"/>
                </a:solidFill>
                <a:latin typeface="+mj-lt"/>
              </a:rPr>
              <a:t>with PowerShell</a:t>
            </a:r>
          </a:p>
        </p:txBody>
      </p:sp>
    </p:spTree>
    <p:extLst>
      <p:ext uri="{BB962C8B-B14F-4D97-AF65-F5344CB8AC3E}">
        <p14:creationId xmlns:p14="http://schemas.microsoft.com/office/powerpoint/2010/main" val="266545547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t>Explore Azure Virtual Networks</a:t>
            </a:r>
            <a:r>
              <a:rPr lang="en-US">
                <a:solidFill>
                  <a:schemeClr val="tx1"/>
                </a:solidFill>
              </a:rPr>
              <a:t> -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600" dirty="0">
                <a:hlinkClick r:id="rId3"/>
              </a:rPr>
              <a:t>Azure Virtual Network Documentation </a:t>
            </a:r>
            <a:endParaRPr lang="en-US" sz="1765" dirty="0">
              <a:solidFill>
                <a:schemeClr val="tx1"/>
              </a:solidFill>
            </a:endParaRPr>
          </a:p>
        </p:txBody>
      </p:sp>
      <p:sp>
        <p:nvSpPr>
          <p:cNvPr id="8" name="Rectangle 7">
            <a:extLst>
              <a:ext uri="{FF2B5EF4-FFF2-40B4-BE49-F238E27FC236}">
                <a16:creationId xmlns:a16="http://schemas.microsoft.com/office/drawing/2014/main" id="{74FB8EB5-9373-4BF7-A4F4-0EBE905EA0D8}"/>
              </a:ext>
            </a:extLst>
          </p:cNvPr>
          <p:cNvSpPr/>
          <p:nvPr/>
        </p:nvSpPr>
        <p:spPr>
          <a:xfrm>
            <a:off x="4754448" y="298011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600" dirty="0">
                <a:hlinkClick r:id="rId4"/>
              </a:rPr>
              <a:t>Azure Virtual Network | Microsoft Docs</a:t>
            </a:r>
            <a:endParaRPr lang="en-US" sz="1765" dirty="0">
              <a:solidFill>
                <a:schemeClr val="tx1"/>
              </a:solidFill>
            </a:endParaRPr>
          </a:p>
        </p:txBody>
      </p:sp>
      <p:cxnSp>
        <p:nvCxnSpPr>
          <p:cNvPr id="14" name="Straight Connector 13">
            <a:extLst>
              <a:ext uri="{FF2B5EF4-FFF2-40B4-BE49-F238E27FC236}">
                <a16:creationId xmlns:a16="http://schemas.microsoft.com/office/drawing/2014/main" id="{B8019769-3D92-44B8-B3D0-907648D9CF64}"/>
              </a:ext>
              <a:ext uri="{C183D7F6-B498-43B3-948B-1728B52AA6E4}">
                <adec:decorative xmlns:adec="http://schemas.microsoft.com/office/drawing/2017/decorative" val="1"/>
              </a:ext>
            </a:extLst>
          </p:cNvPr>
          <p:cNvCxnSpPr>
            <a:cxnSpLocks/>
          </p:cNvCxnSpPr>
          <p:nvPr/>
        </p:nvCxnSpPr>
        <p:spPr>
          <a:xfrm>
            <a:off x="4841850" y="3608958"/>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90536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a:t>Lesson 02: </a:t>
            </a:r>
            <a:r>
              <a:rPr lang="en-US" sz="3600"/>
              <a:t>Configure Public IP services </a:t>
            </a:r>
            <a:endParaRPr lang="en-US"/>
          </a:p>
        </p:txBody>
      </p:sp>
      <p:grpSp>
        <p:nvGrpSpPr>
          <p:cNvPr id="5" name="Group 4">
            <a:extLst>
              <a:ext uri="{FF2B5EF4-FFF2-40B4-BE49-F238E27FC236}">
                <a16:creationId xmlns:a16="http://schemas.microsoft.com/office/drawing/2014/main" id="{30A79F3B-D3ED-429F-95DB-C94AED9EF6E6}"/>
              </a:ext>
              <a:ext uri="{C183D7F6-B498-43B3-948B-1728B52AA6E4}">
                <adec:decorative xmlns:adec="http://schemas.microsoft.com/office/drawing/2017/decorative" val="1"/>
              </a:ext>
            </a:extLst>
          </p:cNvPr>
          <p:cNvGrpSpPr/>
          <p:nvPr/>
        </p:nvGrpSpPr>
        <p:grpSpPr>
          <a:xfrm>
            <a:off x="10272506" y="3070379"/>
            <a:ext cx="717140" cy="717242"/>
            <a:chOff x="418643" y="2287883"/>
            <a:chExt cx="717140" cy="717242"/>
          </a:xfrm>
        </p:grpSpPr>
        <p:grpSp>
          <p:nvGrpSpPr>
            <p:cNvPr id="6" name="Group 5">
              <a:extLst>
                <a:ext uri="{FF2B5EF4-FFF2-40B4-BE49-F238E27FC236}">
                  <a16:creationId xmlns:a16="http://schemas.microsoft.com/office/drawing/2014/main" id="{2D29CF23-D322-4E37-AE5B-8BC7CD9FADD3}"/>
                </a:ext>
              </a:extLst>
            </p:cNvPr>
            <p:cNvGrpSpPr/>
            <p:nvPr/>
          </p:nvGrpSpPr>
          <p:grpSpPr>
            <a:xfrm>
              <a:off x="418643" y="2287883"/>
              <a:ext cx="717140" cy="717242"/>
              <a:chOff x="418643" y="2287883"/>
              <a:chExt cx="717140" cy="717242"/>
            </a:xfrm>
          </p:grpSpPr>
          <p:sp>
            <p:nvSpPr>
              <p:cNvPr id="8" name="Freeform 5">
                <a:extLst>
                  <a:ext uri="{FF2B5EF4-FFF2-40B4-BE49-F238E27FC236}">
                    <a16:creationId xmlns:a16="http://schemas.microsoft.com/office/drawing/2014/main" id="{C2E822C3-25CD-414C-8E1D-6BC0DB8DD5D7}"/>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Freeform 6">
                <a:extLst>
                  <a:ext uri="{FF2B5EF4-FFF2-40B4-BE49-F238E27FC236}">
                    <a16:creationId xmlns:a16="http://schemas.microsoft.com/office/drawing/2014/main" id="{E9256BF4-0DCD-442A-B68C-2478839EF168}"/>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7" name="Picture 6" descr="Icon of a arrow in a circular path with a timer inside the circle">
              <a:extLst>
                <a:ext uri="{FF2B5EF4-FFF2-40B4-BE49-F238E27FC236}">
                  <a16:creationId xmlns:a16="http://schemas.microsoft.com/office/drawing/2014/main" id="{A6741FDF-0634-46F1-8C4D-27633DA3792C}"/>
                </a:ext>
              </a:extLst>
            </p:cNvPr>
            <p:cNvPicPr>
              <a:picLocks noChangeAspect="1"/>
            </p:cNvPicPr>
            <p:nvPr/>
          </p:nvPicPr>
          <p:blipFill>
            <a:blip r:embed="rId3"/>
            <a:stretch>
              <a:fillRect/>
            </a:stretch>
          </p:blipFill>
          <p:spPr>
            <a:xfrm>
              <a:off x="588767" y="2458059"/>
              <a:ext cx="376892" cy="376890"/>
            </a:xfrm>
            <a:prstGeom prst="rect">
              <a:avLst/>
            </a:prstGeom>
          </p:spPr>
        </p:pic>
      </p:grpSp>
    </p:spTree>
    <p:extLst>
      <p:ext uri="{BB962C8B-B14F-4D97-AF65-F5344CB8AC3E}">
        <p14:creationId xmlns:p14="http://schemas.microsoft.com/office/powerpoint/2010/main" val="36217047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Configure public IP services overview</a:t>
            </a:r>
          </a:p>
        </p:txBody>
      </p:sp>
      <p:sp>
        <p:nvSpPr>
          <p:cNvPr id="6" name="Text Placeholder 5"/>
          <p:cNvSpPr>
            <a:spLocks noGrp="1"/>
          </p:cNvSpPr>
          <p:nvPr>
            <p:ph type="body" sz="quarter" idx="11"/>
          </p:nvPr>
        </p:nvSpPr>
        <p:spPr/>
        <p:txBody>
          <a:bodyPr/>
          <a:lstStyle/>
          <a:p>
            <a:pPr defTabSz="1002210">
              <a:lnSpc>
                <a:spcPct val="150000"/>
              </a:lnSpc>
              <a:spcBef>
                <a:spcPct val="0"/>
              </a:spcBef>
              <a:spcAft>
                <a:spcPts val="1176"/>
              </a:spcAft>
            </a:pPr>
            <a:r>
              <a:rPr lang="en-US" sz="1800" dirty="0">
                <a:solidFill>
                  <a:schemeClr val="tx1"/>
                </a:solidFill>
              </a:rPr>
              <a:t>Public IP Addresses</a:t>
            </a:r>
          </a:p>
        </p:txBody>
      </p:sp>
      <p:sp>
        <p:nvSpPr>
          <p:cNvPr id="2" name="Text Placeholder 1"/>
          <p:cNvSpPr>
            <a:spLocks noGrp="1"/>
          </p:cNvSpPr>
          <p:nvPr>
            <p:ph type="body" sz="quarter" idx="15"/>
          </p:nvPr>
        </p:nvSpPr>
        <p:spPr/>
        <p:txBody>
          <a:bodyPr/>
          <a:lstStyle/>
          <a:p>
            <a:pPr defTabSz="1002210">
              <a:lnSpc>
                <a:spcPct val="150000"/>
              </a:lnSpc>
              <a:spcBef>
                <a:spcPct val="0"/>
              </a:spcBef>
              <a:spcAft>
                <a:spcPts val="1176"/>
              </a:spcAft>
            </a:pPr>
            <a:r>
              <a:rPr lang="en-US" sz="1800" dirty="0">
                <a:solidFill>
                  <a:schemeClr val="tx1"/>
                </a:solidFill>
              </a:rPr>
              <a:t>Choose the appropriate SKU for a public IP</a:t>
            </a:r>
          </a:p>
        </p:txBody>
      </p:sp>
      <p:sp>
        <p:nvSpPr>
          <p:cNvPr id="3" name="Text Placeholder 2"/>
          <p:cNvSpPr>
            <a:spLocks noGrp="1"/>
          </p:cNvSpPr>
          <p:nvPr>
            <p:ph type="body" sz="quarter" idx="17"/>
          </p:nvPr>
        </p:nvSpPr>
        <p:spPr/>
        <p:txBody>
          <a:bodyPr/>
          <a:lstStyle/>
          <a:p>
            <a:pPr defTabSz="1002210">
              <a:lnSpc>
                <a:spcPct val="150000"/>
              </a:lnSpc>
              <a:spcBef>
                <a:spcPct val="0"/>
              </a:spcBef>
              <a:spcAft>
                <a:spcPts val="1176"/>
              </a:spcAft>
            </a:pPr>
            <a:r>
              <a:rPr lang="en-US" sz="1800" dirty="0">
                <a:solidFill>
                  <a:schemeClr val="tx1"/>
                </a:solidFill>
              </a:rPr>
              <a:t>Creating Public IP Addresses</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21"/>
          </p:nvPr>
        </p:nvSpPr>
        <p:spPr/>
        <p:txBody>
          <a:bodyPr/>
          <a:lstStyle/>
          <a:p>
            <a:pPr defTabSz="1002210">
              <a:lnSpc>
                <a:spcPct val="150000"/>
              </a:lnSpc>
              <a:spcBef>
                <a:spcPct val="0"/>
              </a:spcBef>
              <a:spcAft>
                <a:spcPts val="1176"/>
              </a:spcAft>
            </a:pPr>
            <a:r>
              <a:rPr lang="en-US" sz="1800" dirty="0">
                <a:solidFill>
                  <a:schemeClr val="tx1"/>
                </a:solidFill>
              </a:rPr>
              <a:t>Review</a:t>
            </a:r>
          </a:p>
        </p:txBody>
      </p:sp>
      <p:grpSp>
        <p:nvGrpSpPr>
          <p:cNvPr id="15" name="Group 14">
            <a:extLst>
              <a:ext uri="{FF2B5EF4-FFF2-40B4-BE49-F238E27FC236}">
                <a16:creationId xmlns:a16="http://schemas.microsoft.com/office/drawing/2014/main" id="{7403CD60-83C2-4F7E-BCA7-2B7C55B1FFAC}"/>
              </a:ext>
              <a:ext uri="{C183D7F6-B498-43B3-948B-1728B52AA6E4}">
                <adec:decorative xmlns:adec="http://schemas.microsoft.com/office/drawing/2017/decorative" val="1"/>
              </a:ext>
            </a:extLst>
          </p:cNvPr>
          <p:cNvGrpSpPr/>
          <p:nvPr/>
        </p:nvGrpSpPr>
        <p:grpSpPr>
          <a:xfrm>
            <a:off x="3031668" y="1045773"/>
            <a:ext cx="702132" cy="702232"/>
            <a:chOff x="3031668" y="1045773"/>
            <a:chExt cx="702132" cy="702232"/>
          </a:xfrm>
        </p:grpSpPr>
        <p:grpSp>
          <p:nvGrpSpPr>
            <p:cNvPr id="11" name="Group 10">
              <a:extLst>
                <a:ext uri="{FF2B5EF4-FFF2-40B4-BE49-F238E27FC236}">
                  <a16:creationId xmlns:a16="http://schemas.microsoft.com/office/drawing/2014/main" id="{438E17F6-4130-4B22-967F-3025A3FB14F0}"/>
                </a:ext>
              </a:extLst>
            </p:cNvPr>
            <p:cNvGrpSpPr/>
            <p:nvPr/>
          </p:nvGrpSpPr>
          <p:grpSpPr>
            <a:xfrm>
              <a:off x="3031668" y="1045773"/>
              <a:ext cx="702132" cy="702232"/>
              <a:chOff x="3031668" y="1045773"/>
              <a:chExt cx="702132" cy="702232"/>
            </a:xfrm>
          </p:grpSpPr>
          <p:sp>
            <p:nvSpPr>
              <p:cNvPr id="39" name="Freeform 5">
                <a:extLst>
                  <a:ext uri="{FF2B5EF4-FFF2-40B4-BE49-F238E27FC236}">
                    <a16:creationId xmlns:a16="http://schemas.microsoft.com/office/drawing/2014/main" id="{0ACE14DD-2FF6-43F0-A08C-5CD4C0B7BF1C}"/>
                  </a:ext>
                </a:extLst>
              </p:cNvPr>
              <p:cNvSpPr>
                <a:spLocks/>
              </p:cNvSpPr>
              <p:nvPr/>
            </p:nvSpPr>
            <p:spPr bwMode="auto">
              <a:xfrm>
                <a:off x="3031668" y="104577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0" name="Freeform 6">
                <a:extLst>
                  <a:ext uri="{FF2B5EF4-FFF2-40B4-BE49-F238E27FC236}">
                    <a16:creationId xmlns:a16="http://schemas.microsoft.com/office/drawing/2014/main" id="{F37E8C3B-2DF2-4F1B-8FD6-36506ADCCE3D}"/>
                  </a:ext>
                </a:extLst>
              </p:cNvPr>
              <p:cNvSpPr>
                <a:spLocks noEditPoints="1"/>
              </p:cNvSpPr>
              <p:nvPr/>
            </p:nvSpPr>
            <p:spPr bwMode="auto">
              <a:xfrm>
                <a:off x="3080522" y="109577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8652296A-D3A2-448E-819B-C8C32005F581}"/>
                </a:ext>
              </a:extLst>
            </p:cNvPr>
            <p:cNvPicPr>
              <a:picLocks noChangeAspect="1"/>
            </p:cNvPicPr>
            <p:nvPr/>
          </p:nvPicPr>
          <p:blipFill>
            <a:blip r:embed="rId3"/>
            <a:stretch>
              <a:fillRect/>
            </a:stretch>
          </p:blipFill>
          <p:spPr>
            <a:xfrm>
              <a:off x="3196572" y="1210727"/>
              <a:ext cx="372325" cy="372325"/>
            </a:xfrm>
            <a:prstGeom prst="rect">
              <a:avLst/>
            </a:prstGeom>
          </p:spPr>
        </p:pic>
      </p:grpSp>
      <p:grpSp>
        <p:nvGrpSpPr>
          <p:cNvPr id="16" name="Group 15">
            <a:extLst>
              <a:ext uri="{FF2B5EF4-FFF2-40B4-BE49-F238E27FC236}">
                <a16:creationId xmlns:a16="http://schemas.microsoft.com/office/drawing/2014/main" id="{B342EB39-18E2-43D8-8590-8D580CE3CAD7}"/>
              </a:ext>
              <a:ext uri="{C183D7F6-B498-43B3-948B-1728B52AA6E4}">
                <adec:decorative xmlns:adec="http://schemas.microsoft.com/office/drawing/2017/decorative" val="1"/>
              </a:ext>
            </a:extLst>
          </p:cNvPr>
          <p:cNvGrpSpPr/>
          <p:nvPr/>
        </p:nvGrpSpPr>
        <p:grpSpPr>
          <a:xfrm>
            <a:off x="3031668" y="2272218"/>
            <a:ext cx="702132" cy="702232"/>
            <a:chOff x="3031668" y="2272218"/>
            <a:chExt cx="702132" cy="702232"/>
          </a:xfrm>
        </p:grpSpPr>
        <p:grpSp>
          <p:nvGrpSpPr>
            <p:cNvPr id="12" name="Group 11">
              <a:extLst>
                <a:ext uri="{FF2B5EF4-FFF2-40B4-BE49-F238E27FC236}">
                  <a16:creationId xmlns:a16="http://schemas.microsoft.com/office/drawing/2014/main" id="{28351FB6-3E23-4C63-9B46-683ECBA5ECEB}"/>
                </a:ext>
              </a:extLst>
            </p:cNvPr>
            <p:cNvGrpSpPr/>
            <p:nvPr/>
          </p:nvGrpSpPr>
          <p:grpSpPr>
            <a:xfrm>
              <a:off x="3031668" y="2272218"/>
              <a:ext cx="702132" cy="702232"/>
              <a:chOff x="3031668" y="2272218"/>
              <a:chExt cx="702132" cy="702232"/>
            </a:xfrm>
          </p:grpSpPr>
          <p:sp>
            <p:nvSpPr>
              <p:cNvPr id="55" name="Freeform 5">
                <a:extLst>
                  <a:ext uri="{FF2B5EF4-FFF2-40B4-BE49-F238E27FC236}">
                    <a16:creationId xmlns:a16="http://schemas.microsoft.com/office/drawing/2014/main" id="{C38D0AF8-061C-4F9F-9491-28BBF70A89E9}"/>
                  </a:ext>
                </a:extLst>
              </p:cNvPr>
              <p:cNvSpPr>
                <a:spLocks/>
              </p:cNvSpPr>
              <p:nvPr/>
            </p:nvSpPr>
            <p:spPr bwMode="auto">
              <a:xfrm>
                <a:off x="3031668" y="227221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6" name="Freeform 6">
                <a:extLst>
                  <a:ext uri="{FF2B5EF4-FFF2-40B4-BE49-F238E27FC236}">
                    <a16:creationId xmlns:a16="http://schemas.microsoft.com/office/drawing/2014/main" id="{34FEA54E-4069-4201-BAA1-B8D61035BBB0}"/>
                  </a:ext>
                </a:extLst>
              </p:cNvPr>
              <p:cNvSpPr>
                <a:spLocks noEditPoints="1"/>
              </p:cNvSpPr>
              <p:nvPr/>
            </p:nvSpPr>
            <p:spPr bwMode="auto">
              <a:xfrm>
                <a:off x="3080522" y="232221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a arrow in a circular path with a timer inside the circle">
              <a:extLst>
                <a:ext uri="{FF2B5EF4-FFF2-40B4-BE49-F238E27FC236}">
                  <a16:creationId xmlns:a16="http://schemas.microsoft.com/office/drawing/2014/main" id="{F74D1AD5-AD28-4530-8E05-5F445670A21C}"/>
                </a:ext>
              </a:extLst>
            </p:cNvPr>
            <p:cNvPicPr>
              <a:picLocks noChangeAspect="1"/>
            </p:cNvPicPr>
            <p:nvPr/>
          </p:nvPicPr>
          <p:blipFill>
            <a:blip r:embed="rId4"/>
            <a:stretch>
              <a:fillRect/>
            </a:stretch>
          </p:blipFill>
          <p:spPr>
            <a:xfrm>
              <a:off x="3196572" y="2437172"/>
              <a:ext cx="372325" cy="372325"/>
            </a:xfrm>
            <a:prstGeom prst="rect">
              <a:avLst/>
            </a:prstGeom>
          </p:spPr>
        </p:pic>
      </p:grpSp>
      <p:grpSp>
        <p:nvGrpSpPr>
          <p:cNvPr id="18" name="Group 17">
            <a:extLst>
              <a:ext uri="{FF2B5EF4-FFF2-40B4-BE49-F238E27FC236}">
                <a16:creationId xmlns:a16="http://schemas.microsoft.com/office/drawing/2014/main" id="{C7B39E84-E8FE-4BED-9C9C-E5905E0B3F06}"/>
              </a:ext>
              <a:ext uri="{C183D7F6-B498-43B3-948B-1728B52AA6E4}">
                <adec:decorative xmlns:adec="http://schemas.microsoft.com/office/drawing/2017/decorative" val="1"/>
              </a:ext>
            </a:extLst>
          </p:cNvPr>
          <p:cNvGrpSpPr/>
          <p:nvPr/>
        </p:nvGrpSpPr>
        <p:grpSpPr>
          <a:xfrm>
            <a:off x="3031668" y="3498663"/>
            <a:ext cx="702132" cy="702232"/>
            <a:chOff x="3031668" y="3498663"/>
            <a:chExt cx="702132" cy="702232"/>
          </a:xfrm>
        </p:grpSpPr>
        <p:grpSp>
          <p:nvGrpSpPr>
            <p:cNvPr id="13" name="Group 12">
              <a:extLst>
                <a:ext uri="{FF2B5EF4-FFF2-40B4-BE49-F238E27FC236}">
                  <a16:creationId xmlns:a16="http://schemas.microsoft.com/office/drawing/2014/main" id="{F23DFA05-31C9-446E-8AE4-77D0991F3CC4}"/>
                </a:ext>
              </a:extLst>
            </p:cNvPr>
            <p:cNvGrpSpPr/>
            <p:nvPr/>
          </p:nvGrpSpPr>
          <p:grpSpPr>
            <a:xfrm>
              <a:off x="3031668" y="3498663"/>
              <a:ext cx="702132" cy="702232"/>
              <a:chOff x="3031668" y="3498663"/>
              <a:chExt cx="702132" cy="702232"/>
            </a:xfrm>
          </p:grpSpPr>
          <p:sp>
            <p:nvSpPr>
              <p:cNvPr id="62" name="Freeform 5">
                <a:extLst>
                  <a:ext uri="{FF2B5EF4-FFF2-40B4-BE49-F238E27FC236}">
                    <a16:creationId xmlns:a16="http://schemas.microsoft.com/office/drawing/2014/main" id="{5006225B-4396-4525-AB55-9913674500E5}"/>
                  </a:ext>
                </a:extLst>
              </p:cNvPr>
              <p:cNvSpPr>
                <a:spLocks/>
              </p:cNvSpPr>
              <p:nvPr/>
            </p:nvSpPr>
            <p:spPr bwMode="auto">
              <a:xfrm>
                <a:off x="3031668" y="349866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63" name="Freeform 6">
                <a:extLst>
                  <a:ext uri="{FF2B5EF4-FFF2-40B4-BE49-F238E27FC236}">
                    <a16:creationId xmlns:a16="http://schemas.microsoft.com/office/drawing/2014/main" id="{AB3EFC98-34E6-4B81-BA39-77E612CE99DB}"/>
                  </a:ext>
                </a:extLst>
              </p:cNvPr>
              <p:cNvSpPr>
                <a:spLocks noEditPoints="1"/>
              </p:cNvSpPr>
              <p:nvPr/>
            </p:nvSpPr>
            <p:spPr bwMode="auto">
              <a:xfrm>
                <a:off x="3080522" y="354866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gear inside a circle">
              <a:extLst>
                <a:ext uri="{FF2B5EF4-FFF2-40B4-BE49-F238E27FC236}">
                  <a16:creationId xmlns:a16="http://schemas.microsoft.com/office/drawing/2014/main" id="{2F30D263-79FE-4058-94AE-F1CA909DAE0A}"/>
                </a:ext>
              </a:extLst>
            </p:cNvPr>
            <p:cNvPicPr>
              <a:picLocks noChangeAspect="1"/>
            </p:cNvPicPr>
            <p:nvPr/>
          </p:nvPicPr>
          <p:blipFill>
            <a:blip r:embed="rId5"/>
            <a:stretch>
              <a:fillRect/>
            </a:stretch>
          </p:blipFill>
          <p:spPr>
            <a:xfrm>
              <a:off x="3196572" y="3663617"/>
              <a:ext cx="372325" cy="372325"/>
            </a:xfrm>
            <a:prstGeom prst="rect">
              <a:avLst/>
            </a:prstGeom>
          </p:spPr>
        </p:pic>
      </p:grpSp>
      <p:grpSp>
        <p:nvGrpSpPr>
          <p:cNvPr id="19" name="Group 18">
            <a:extLst>
              <a:ext uri="{FF2B5EF4-FFF2-40B4-BE49-F238E27FC236}">
                <a16:creationId xmlns:a16="http://schemas.microsoft.com/office/drawing/2014/main" id="{04EA41AE-66FC-4562-BD52-83262BF29AAF}"/>
              </a:ext>
              <a:ext uri="{C183D7F6-B498-43B3-948B-1728B52AA6E4}">
                <adec:decorative xmlns:adec="http://schemas.microsoft.com/office/drawing/2017/decorative" val="1"/>
              </a:ext>
            </a:extLst>
          </p:cNvPr>
          <p:cNvGrpSpPr/>
          <p:nvPr/>
        </p:nvGrpSpPr>
        <p:grpSpPr>
          <a:xfrm>
            <a:off x="3031668" y="4725108"/>
            <a:ext cx="702132" cy="702232"/>
            <a:chOff x="3031668" y="4725108"/>
            <a:chExt cx="702132" cy="702232"/>
          </a:xfrm>
        </p:grpSpPr>
        <p:grpSp>
          <p:nvGrpSpPr>
            <p:cNvPr id="14" name="Group 13">
              <a:extLst>
                <a:ext uri="{FF2B5EF4-FFF2-40B4-BE49-F238E27FC236}">
                  <a16:creationId xmlns:a16="http://schemas.microsoft.com/office/drawing/2014/main" id="{F73677D7-9B45-4357-A08F-C849E68113A6}"/>
                </a:ext>
              </a:extLst>
            </p:cNvPr>
            <p:cNvGrpSpPr/>
            <p:nvPr/>
          </p:nvGrpSpPr>
          <p:grpSpPr>
            <a:xfrm>
              <a:off x="3031668" y="4725108"/>
              <a:ext cx="702132" cy="702232"/>
              <a:chOff x="3031668" y="4725108"/>
              <a:chExt cx="702132" cy="702232"/>
            </a:xfrm>
          </p:grpSpPr>
          <p:sp>
            <p:nvSpPr>
              <p:cNvPr id="25" name="Freeform 5">
                <a:extLst>
                  <a:ext uri="{FF2B5EF4-FFF2-40B4-BE49-F238E27FC236}">
                    <a16:creationId xmlns:a16="http://schemas.microsoft.com/office/drawing/2014/main" id="{176F770A-F08D-4439-952C-9F4034E2A163}"/>
                  </a:ext>
                </a:extLst>
              </p:cNvPr>
              <p:cNvSpPr>
                <a:spLocks/>
              </p:cNvSpPr>
              <p:nvPr/>
            </p:nvSpPr>
            <p:spPr bwMode="auto">
              <a:xfrm>
                <a:off x="3031668" y="472510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6" name="Freeform 6">
                <a:extLst>
                  <a:ext uri="{FF2B5EF4-FFF2-40B4-BE49-F238E27FC236}">
                    <a16:creationId xmlns:a16="http://schemas.microsoft.com/office/drawing/2014/main" id="{B4A5B2AA-4B40-4633-8696-F894CB71F10E}"/>
                  </a:ext>
                </a:extLst>
              </p:cNvPr>
              <p:cNvSpPr>
                <a:spLocks noEditPoints="1"/>
              </p:cNvSpPr>
              <p:nvPr/>
            </p:nvSpPr>
            <p:spPr bwMode="auto">
              <a:xfrm>
                <a:off x="3080522" y="477510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bulb">
              <a:extLst>
                <a:ext uri="{FF2B5EF4-FFF2-40B4-BE49-F238E27FC236}">
                  <a16:creationId xmlns:a16="http://schemas.microsoft.com/office/drawing/2014/main" id="{BD8A27FC-C3FC-4D9B-AED7-5D4C9191B0AA}"/>
                </a:ext>
              </a:extLst>
            </p:cNvPr>
            <p:cNvPicPr>
              <a:picLocks noChangeAspect="1"/>
            </p:cNvPicPr>
            <p:nvPr/>
          </p:nvPicPr>
          <p:blipFill>
            <a:blip r:embed="rId6"/>
            <a:stretch>
              <a:fillRect/>
            </a:stretch>
          </p:blipFill>
          <p:spPr>
            <a:xfrm>
              <a:off x="3248882" y="4890062"/>
              <a:ext cx="267705" cy="372325"/>
            </a:xfrm>
            <a:prstGeom prst="rect">
              <a:avLst/>
            </a:prstGeom>
          </p:spPr>
        </p:pic>
      </p:grpSp>
    </p:spTree>
    <p:extLst>
      <p:ext uri="{BB962C8B-B14F-4D97-AF65-F5344CB8AC3E}">
        <p14:creationId xmlns:p14="http://schemas.microsoft.com/office/powerpoint/2010/main" val="12393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Public IP Addresses</a:t>
            </a:r>
          </a:p>
        </p:txBody>
      </p:sp>
      <p:graphicFrame>
        <p:nvGraphicFramePr>
          <p:cNvPr id="6" name="Table 5">
            <a:extLst>
              <a:ext uri="{FF2B5EF4-FFF2-40B4-BE49-F238E27FC236}">
                <a16:creationId xmlns:a16="http://schemas.microsoft.com/office/drawing/2014/main" id="{502F9D95-E492-4C4B-AB80-7D143BF9436C}"/>
              </a:ext>
            </a:extLst>
          </p:cNvPr>
          <p:cNvGraphicFramePr>
            <a:graphicFrameLocks noGrp="1"/>
          </p:cNvGraphicFramePr>
          <p:nvPr>
            <p:extLst>
              <p:ext uri="{D42A27DB-BD31-4B8C-83A1-F6EECF244321}">
                <p14:modId xmlns:p14="http://schemas.microsoft.com/office/powerpoint/2010/main" val="2187625185"/>
              </p:ext>
            </p:extLst>
          </p:nvPr>
        </p:nvGraphicFramePr>
        <p:xfrm>
          <a:off x="418642" y="1191057"/>
          <a:ext cx="11468560" cy="4192622"/>
        </p:xfrm>
        <a:graphic>
          <a:graphicData uri="http://schemas.openxmlformats.org/drawingml/2006/table">
            <a:tbl>
              <a:tblPr firstRow="1" firstCol="1" bandRow="1">
                <a:tableStyleId>{2D5ABB26-0587-4C30-8999-92F81FD0307C}</a:tableStyleId>
              </a:tblPr>
              <a:tblGrid>
                <a:gridCol w="3526429">
                  <a:extLst>
                    <a:ext uri="{9D8B030D-6E8A-4147-A177-3AD203B41FA5}">
                      <a16:colId xmlns:a16="http://schemas.microsoft.com/office/drawing/2014/main" val="3174192451"/>
                    </a:ext>
                  </a:extLst>
                </a:gridCol>
                <a:gridCol w="3369919">
                  <a:extLst>
                    <a:ext uri="{9D8B030D-6E8A-4147-A177-3AD203B41FA5}">
                      <a16:colId xmlns:a16="http://schemas.microsoft.com/office/drawing/2014/main" val="2284610204"/>
                    </a:ext>
                  </a:extLst>
                </a:gridCol>
                <a:gridCol w="2578792">
                  <a:extLst>
                    <a:ext uri="{9D8B030D-6E8A-4147-A177-3AD203B41FA5}">
                      <a16:colId xmlns:a16="http://schemas.microsoft.com/office/drawing/2014/main" val="1182798680"/>
                    </a:ext>
                  </a:extLst>
                </a:gridCol>
                <a:gridCol w="1993420">
                  <a:extLst>
                    <a:ext uri="{9D8B030D-6E8A-4147-A177-3AD203B41FA5}">
                      <a16:colId xmlns:a16="http://schemas.microsoft.com/office/drawing/2014/main" val="3457186022"/>
                    </a:ext>
                  </a:extLst>
                </a:gridCol>
              </a:tblGrid>
              <a:tr h="547202">
                <a:tc>
                  <a:txBody>
                    <a:bodyPr/>
                    <a:lstStyle/>
                    <a:p>
                      <a:pPr marL="0" marR="156845">
                        <a:lnSpc>
                          <a:spcPct val="115000"/>
                        </a:lnSpc>
                      </a:pPr>
                      <a:r>
                        <a:rPr lang="en-US" sz="2200">
                          <a:solidFill>
                            <a:schemeClr val="bg1"/>
                          </a:solidFill>
                          <a:effectLst/>
                          <a:latin typeface="+mj-lt"/>
                        </a:rPr>
                        <a:t>Public IP addresses</a:t>
                      </a:r>
                      <a:endParaRPr lang="en-US" sz="2200" b="0">
                        <a:solidFill>
                          <a:schemeClr val="bg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nSpc>
                          <a:spcPct val="115000"/>
                        </a:lnSpc>
                      </a:pPr>
                      <a:r>
                        <a:rPr lang="en-US" sz="2200">
                          <a:solidFill>
                            <a:schemeClr val="bg1"/>
                          </a:solidFill>
                          <a:effectLst/>
                          <a:latin typeface="+mj-lt"/>
                        </a:rPr>
                        <a:t>IP address association</a:t>
                      </a:r>
                      <a:endParaRPr lang="en-US" sz="2200" b="0">
                        <a:solidFill>
                          <a:schemeClr val="bg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nSpc>
                          <a:spcPct val="115000"/>
                        </a:lnSpc>
                      </a:pPr>
                      <a:r>
                        <a:rPr lang="en-US" sz="2200">
                          <a:solidFill>
                            <a:schemeClr val="bg1"/>
                          </a:solidFill>
                          <a:effectLst/>
                          <a:latin typeface="+mj-lt"/>
                        </a:rPr>
                        <a:t>Dynamic</a:t>
                      </a:r>
                      <a:endParaRPr lang="en-US" sz="2200" b="0">
                        <a:solidFill>
                          <a:schemeClr val="bg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nSpc>
                          <a:spcPct val="115000"/>
                        </a:lnSpc>
                      </a:pPr>
                      <a:r>
                        <a:rPr lang="en-US" sz="2200">
                          <a:solidFill>
                            <a:schemeClr val="bg1"/>
                          </a:solidFill>
                          <a:effectLst/>
                          <a:latin typeface="+mj-lt"/>
                        </a:rPr>
                        <a:t>Static</a:t>
                      </a:r>
                      <a:endParaRPr lang="en-US" sz="2200" b="0">
                        <a:solidFill>
                          <a:schemeClr val="bg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3394654805"/>
                  </a:ext>
                </a:extLst>
              </a:tr>
              <a:tr h="607570">
                <a:tc>
                  <a:txBody>
                    <a:bodyPr/>
                    <a:lstStyle/>
                    <a:p>
                      <a:pPr marL="0" marR="156845">
                        <a:lnSpc>
                          <a:spcPct val="115000"/>
                        </a:lnSpc>
                      </a:pPr>
                      <a:r>
                        <a:rPr lang="en-US" sz="2200">
                          <a:effectLst/>
                          <a:latin typeface="+mj-lt"/>
                        </a:rPr>
                        <a:t>Virtual Machine</a:t>
                      </a:r>
                      <a:endParaRPr lang="en-US" sz="2200" b="0">
                        <a:solidFill>
                          <a:schemeClr val="tx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a:effectLst/>
                        </a:rPr>
                        <a:t>NIC</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a:effectLst/>
                        </a:rPr>
                        <a:t>Yes</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a:effectLst/>
                        </a:rPr>
                        <a:t>Yes</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1043496"/>
                  </a:ext>
                </a:extLst>
              </a:tr>
              <a:tr h="607570">
                <a:tc>
                  <a:txBody>
                    <a:bodyPr/>
                    <a:lstStyle/>
                    <a:p>
                      <a:pPr marL="0" marR="156845">
                        <a:lnSpc>
                          <a:spcPct val="115000"/>
                        </a:lnSpc>
                      </a:pPr>
                      <a:r>
                        <a:rPr lang="en-US" sz="2200" dirty="0">
                          <a:effectLst/>
                          <a:latin typeface="+mj-lt"/>
                        </a:rPr>
                        <a:t>Load Balancer</a:t>
                      </a:r>
                      <a:endParaRPr lang="en-US" sz="2200" b="0" dirty="0">
                        <a:solidFill>
                          <a:schemeClr val="tx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a:effectLst/>
                        </a:rPr>
                        <a:t>Front-end configuration</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a:effectLst/>
                        </a:rPr>
                        <a:t>Yes</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a:effectLst/>
                        </a:rPr>
                        <a:t>Yes</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49406885"/>
                  </a:ext>
                </a:extLst>
              </a:tr>
              <a:tr h="607570">
                <a:tc>
                  <a:txBody>
                    <a:bodyPr/>
                    <a:lstStyle/>
                    <a:p>
                      <a:pPr marL="0" marR="156845">
                        <a:lnSpc>
                          <a:spcPct val="115000"/>
                        </a:lnSpc>
                      </a:pPr>
                      <a:r>
                        <a:rPr lang="en-US" sz="2200">
                          <a:effectLst/>
                          <a:latin typeface="+mj-lt"/>
                        </a:rPr>
                        <a:t>VPN Gateway</a:t>
                      </a:r>
                      <a:endParaRPr lang="en-US" sz="2200" b="0">
                        <a:solidFill>
                          <a:schemeClr val="tx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a:effectLst/>
                        </a:rPr>
                        <a:t>Gateway IP configuration</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 </a:t>
                      </a:r>
                      <a:r>
                        <a:rPr lang="en-US" sz="1800" b="0" i="0" kern="1200" dirty="0">
                          <a:solidFill>
                            <a:schemeClr val="tx1"/>
                          </a:solidFill>
                          <a:effectLst/>
                          <a:latin typeface="+mn-lt"/>
                          <a:ea typeface="+mn-ea"/>
                          <a:cs typeface="+mn-cs"/>
                        </a:rPr>
                        <a:t>(non-AZ only)</a:t>
                      </a:r>
                      <a:endParaRPr lang="en-US" sz="2200" b="0" dirty="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85675026"/>
                  </a:ext>
                </a:extLst>
              </a:tr>
              <a:tr h="607570">
                <a:tc>
                  <a:txBody>
                    <a:bodyPr/>
                    <a:lstStyle/>
                    <a:p>
                      <a:pPr marL="0" marR="156845">
                        <a:lnSpc>
                          <a:spcPct val="115000"/>
                        </a:lnSpc>
                      </a:pPr>
                      <a:r>
                        <a:rPr lang="en-US" sz="2200">
                          <a:effectLst/>
                          <a:latin typeface="+mj-lt"/>
                        </a:rPr>
                        <a:t>Application Gateway</a:t>
                      </a:r>
                      <a:endParaRPr lang="en-US" sz="2200" b="0">
                        <a:solidFill>
                          <a:schemeClr val="tx1"/>
                        </a:solidFill>
                        <a:effectLst/>
                        <a:latin typeface="+mj-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a:effectLst/>
                        </a:rPr>
                        <a:t>Front-end configuration</a:t>
                      </a:r>
                      <a:endParaRPr lang="en-US" sz="2200" b="0">
                        <a:solidFill>
                          <a:schemeClr val="tx1"/>
                        </a:solidFill>
                        <a:effectLst/>
                        <a:latin typeface="+mn-lt"/>
                        <a:ea typeface="Times New Roman" panose="02020603050405020304" pitchFamily="18" charset="0"/>
                        <a:cs typeface="Segoe UI Semilight"/>
                      </a:endParaRPr>
                    </a:p>
                  </a:txBody>
                  <a:tcPr marL="134464" marR="134464"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 </a:t>
                      </a:r>
                      <a:r>
                        <a:rPr lang="en-US" sz="1800" b="0" i="0" kern="1200" dirty="0">
                          <a:solidFill>
                            <a:schemeClr val="tx1"/>
                          </a:solidFill>
                          <a:effectLst/>
                          <a:latin typeface="+mn-lt"/>
                          <a:ea typeface="+mn-ea"/>
                          <a:cs typeface="+mn-cs"/>
                        </a:rPr>
                        <a:t>(V1 only)</a:t>
                      </a:r>
                      <a:endParaRPr lang="en-US" sz="2200" b="0" dirty="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 </a:t>
                      </a:r>
                      <a:r>
                        <a:rPr lang="en-US" sz="1800" b="0" i="0" kern="1200" dirty="0">
                          <a:solidFill>
                            <a:schemeClr val="tx1"/>
                          </a:solidFill>
                          <a:effectLst/>
                          <a:latin typeface="+mn-lt"/>
                          <a:ea typeface="+mn-ea"/>
                          <a:cs typeface="+mn-cs"/>
                        </a:rPr>
                        <a:t>(V2 only)</a:t>
                      </a:r>
                      <a:endParaRPr lang="en-US" sz="2200" b="0" dirty="0">
                        <a:solidFill>
                          <a:schemeClr val="tx1"/>
                        </a:solidFill>
                        <a:effectLst/>
                        <a:latin typeface="+mn-lt"/>
                        <a:ea typeface="Times New Roman" panose="02020603050405020304" pitchFamily="18" charset="0"/>
                        <a:cs typeface="Segoe UI Semiligh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41467203"/>
                  </a:ext>
                </a:extLst>
              </a:tr>
              <a:tr h="607570">
                <a:tc>
                  <a:txBody>
                    <a:bodyPr/>
                    <a:lstStyle/>
                    <a:p>
                      <a:pPr marL="0" marR="156845">
                        <a:lnSpc>
                          <a:spcPct val="115000"/>
                        </a:lnSpc>
                      </a:pPr>
                      <a:r>
                        <a:rPr lang="en-US" sz="2200" b="0">
                          <a:solidFill>
                            <a:schemeClr val="tx1"/>
                          </a:solidFill>
                          <a:effectLst/>
                          <a:latin typeface="+mj-lt"/>
                          <a:ea typeface="Times New Roman" panose="02020603050405020304" pitchFamily="18" charset="0"/>
                          <a:cs typeface="Segoe UI Semilight"/>
                        </a:rPr>
                        <a:t>Azure Firewall </a:t>
                      </a:r>
                    </a:p>
                  </a:txBody>
                  <a:tcPr marL="134464" marR="134464" marT="89642" marB="89642"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b="0" dirty="0">
                          <a:solidFill>
                            <a:schemeClr val="tx1"/>
                          </a:solidFill>
                          <a:effectLst/>
                          <a:latin typeface="+mn-lt"/>
                          <a:ea typeface="Times New Roman" panose="02020603050405020304" pitchFamily="18" charset="0"/>
                          <a:cs typeface="Segoe UI Semilight"/>
                        </a:rPr>
                        <a:t>Front-end configuration</a:t>
                      </a:r>
                    </a:p>
                  </a:txBody>
                  <a:tcPr marL="134464" marR="134464"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b="0" dirty="0">
                          <a:solidFill>
                            <a:schemeClr val="tx1"/>
                          </a:solidFill>
                          <a:effectLst/>
                          <a:latin typeface="+mn-lt"/>
                          <a:ea typeface="Times New Roman" panose="02020603050405020304" pitchFamily="18" charset="0"/>
                          <a:cs typeface="Segoe UI Semilight"/>
                        </a:rPr>
                        <a:t>No</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b="0" dirty="0">
                          <a:solidFill>
                            <a:schemeClr val="tx1"/>
                          </a:solidFill>
                          <a:effectLst/>
                          <a:latin typeface="+mn-lt"/>
                          <a:ea typeface="Times New Roman" panose="02020603050405020304" pitchFamily="18" charset="0"/>
                          <a:cs typeface="Segoe UI Semilight"/>
                        </a:rPr>
                        <a:t>Yes </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22879239"/>
                  </a:ext>
                </a:extLst>
              </a:tr>
              <a:tr h="607570">
                <a:tc>
                  <a:txBody>
                    <a:bodyPr/>
                    <a:lstStyle/>
                    <a:p>
                      <a:pPr marL="0" marR="156845">
                        <a:lnSpc>
                          <a:spcPct val="115000"/>
                        </a:lnSpc>
                      </a:pPr>
                      <a:r>
                        <a:rPr lang="en-US" sz="2200" b="0" dirty="0">
                          <a:solidFill>
                            <a:schemeClr val="tx1"/>
                          </a:solidFill>
                          <a:effectLst/>
                          <a:latin typeface="+mj-lt"/>
                          <a:ea typeface="Times New Roman" panose="02020603050405020304" pitchFamily="18" charset="0"/>
                          <a:cs typeface="Segoe UI Semilight"/>
                        </a:rPr>
                        <a:t>NAT gateway </a:t>
                      </a:r>
                    </a:p>
                  </a:txBody>
                  <a:tcPr marL="134464" marR="134464" marT="89642" marB="89642"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b="0" dirty="0">
                          <a:solidFill>
                            <a:schemeClr val="tx1"/>
                          </a:solidFill>
                          <a:effectLst/>
                          <a:latin typeface="+mn-lt"/>
                          <a:ea typeface="Times New Roman" panose="02020603050405020304" pitchFamily="18" charset="0"/>
                          <a:cs typeface="Segoe UI Semilight"/>
                        </a:rPr>
                        <a:t>Gateway IP configuration</a:t>
                      </a:r>
                    </a:p>
                  </a:txBody>
                  <a:tcPr marL="134464" marR="134464"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b="0" dirty="0">
                          <a:solidFill>
                            <a:schemeClr val="tx1"/>
                          </a:solidFill>
                          <a:effectLst/>
                          <a:latin typeface="+mn-lt"/>
                          <a:ea typeface="Times New Roman" panose="02020603050405020304" pitchFamily="18" charset="0"/>
                          <a:cs typeface="Segoe UI Semilight"/>
                        </a:rPr>
                        <a:t>No</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b="0" dirty="0">
                          <a:solidFill>
                            <a:schemeClr val="tx1"/>
                          </a:solidFill>
                          <a:effectLst/>
                          <a:latin typeface="+mn-lt"/>
                          <a:ea typeface="Times New Roman" panose="02020603050405020304" pitchFamily="18" charset="0"/>
                          <a:cs typeface="Segoe UI Semilight"/>
                        </a:rPr>
                        <a:t>Yes</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51403381"/>
                  </a:ext>
                </a:extLst>
              </a:tr>
            </a:tbl>
          </a:graphicData>
        </a:graphic>
      </p:graphicFrame>
      <p:sp>
        <p:nvSpPr>
          <p:cNvPr id="5" name="Text Placeholder 2">
            <a:extLst>
              <a:ext uri="{FF2B5EF4-FFF2-40B4-BE49-F238E27FC236}">
                <a16:creationId xmlns:a16="http://schemas.microsoft.com/office/drawing/2014/main" id="{6B583F85-3C20-4317-AFBB-0E44244A4E2E}"/>
              </a:ext>
            </a:extLst>
          </p:cNvPr>
          <p:cNvSpPr txBox="1">
            <a:spLocks/>
          </p:cNvSpPr>
          <p:nvPr/>
        </p:nvSpPr>
        <p:spPr>
          <a:xfrm>
            <a:off x="290305" y="5588610"/>
            <a:ext cx="10977496" cy="601159"/>
          </a:xfrm>
          <a:prstGeom prst="rect">
            <a:avLst/>
          </a:prstGeom>
          <a:solidFill>
            <a:schemeClr val="bg1">
              <a:lumMod val="95000"/>
            </a:schemeClr>
          </a:solidFill>
          <a:ln w="6350">
            <a:noFill/>
          </a:ln>
        </p:spPr>
        <p:txBody>
          <a:bodyPr vert="horz" wrap="square" lIns="134464" tIns="89642" rIns="134464"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157" spc="0" dirty="0">
                <a:latin typeface="+mn-lt"/>
                <a:cs typeface="Segoe UI Semilight"/>
              </a:rPr>
              <a:t>A public IP address resource can be associated with resources such as virtual machine network interfaces, internet-facing load balancers, VPN gateways, and Application Gateways</a:t>
            </a:r>
          </a:p>
        </p:txBody>
      </p:sp>
    </p:spTree>
    <p:extLst>
      <p:ext uri="{BB962C8B-B14F-4D97-AF65-F5344CB8AC3E}">
        <p14:creationId xmlns:p14="http://schemas.microsoft.com/office/powerpoint/2010/main" val="97330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1063-0DB0-4EDA-ABCF-A2B8DD594256}"/>
              </a:ext>
            </a:extLst>
          </p:cNvPr>
          <p:cNvSpPr>
            <a:spLocks noGrp="1"/>
          </p:cNvSpPr>
          <p:nvPr>
            <p:ph type="title"/>
          </p:nvPr>
        </p:nvSpPr>
        <p:spPr/>
        <p:txBody>
          <a:bodyPr/>
          <a:lstStyle/>
          <a:p>
            <a:r>
              <a:rPr lang="en-US" dirty="0"/>
              <a:t>Choose the appropriate SKU for a public IP</a:t>
            </a:r>
          </a:p>
        </p:txBody>
      </p:sp>
      <p:sp>
        <p:nvSpPr>
          <p:cNvPr id="4" name="Rectangle 3">
            <a:extLst>
              <a:ext uri="{FF2B5EF4-FFF2-40B4-BE49-F238E27FC236}">
                <a16:creationId xmlns:a16="http://schemas.microsoft.com/office/drawing/2014/main" id="{C70DCB41-FE81-4D74-9F8F-7C00864DA756}"/>
              </a:ext>
              <a:ext uri="{C183D7F6-B498-43B3-948B-1728B52AA6E4}">
                <adec:decorative xmlns:adec="http://schemas.microsoft.com/office/drawing/2017/decorative" val="1"/>
              </a:ext>
            </a:extLst>
          </p:cNvPr>
          <p:cNvSpPr/>
          <p:nvPr/>
        </p:nvSpPr>
        <p:spPr bwMode="auto">
          <a:xfrm>
            <a:off x="418644" y="1169263"/>
            <a:ext cx="11354714" cy="496060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4" name="TextBox 1">
            <a:extLst>
              <a:ext uri="{FF2B5EF4-FFF2-40B4-BE49-F238E27FC236}">
                <a16:creationId xmlns:a16="http://schemas.microsoft.com/office/drawing/2014/main" id="{D1BED6AD-5154-48BE-80D6-1E485C49CB51}"/>
              </a:ext>
            </a:extLst>
          </p:cNvPr>
          <p:cNvSpPr txBox="1"/>
          <p:nvPr/>
        </p:nvSpPr>
        <p:spPr>
          <a:xfrm>
            <a:off x="630772" y="1272208"/>
            <a:ext cx="5495999" cy="45359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a:spcBef>
                <a:spcPts val="0"/>
              </a:spcBef>
              <a:spcAft>
                <a:spcPts val="0"/>
              </a:spcAft>
            </a:pPr>
            <a:r>
              <a:rPr lang="en-US" sz="2400" b="1" dirty="0"/>
              <a:t>Basic SKU</a:t>
            </a:r>
          </a:p>
          <a:p>
            <a:pPr marR="0" lvl="0">
              <a:spcBef>
                <a:spcPts val="0"/>
              </a:spcBef>
              <a:spcAft>
                <a:spcPts val="0"/>
              </a:spcAft>
            </a:pPr>
            <a:endParaRPr lang="en-US" sz="1961" b="1" dirty="0"/>
          </a:p>
          <a:p>
            <a:pPr marL="342900" marR="0" lvl="0" indent="-342900">
              <a:spcBef>
                <a:spcPts val="0"/>
              </a:spcBef>
              <a:spcAft>
                <a:spcPts val="0"/>
              </a:spcAft>
              <a:buFont typeface="Arial" panose="020B0604020202020204" pitchFamily="34" charset="0"/>
              <a:buChar char="•"/>
            </a:pPr>
            <a:r>
              <a:rPr lang="en-US" sz="2400" dirty="0"/>
              <a:t>Assigned with the static or dynamic allocation method </a:t>
            </a:r>
          </a:p>
          <a:p>
            <a:pPr marL="342900" marR="0" lvl="0" indent="-342900">
              <a:spcBef>
                <a:spcPts val="0"/>
              </a:spcBef>
              <a:spcAft>
                <a:spcPts val="0"/>
              </a:spcAft>
              <a:buFont typeface="Arial" panose="020B0604020202020204" pitchFamily="34" charset="0"/>
              <a:buChar char="•"/>
            </a:pPr>
            <a:r>
              <a:rPr lang="en-US" sz="2400" dirty="0"/>
              <a:t>Open by default. NSGs are recommended but optional </a:t>
            </a:r>
          </a:p>
          <a:p>
            <a:pPr marL="342900" marR="0" lvl="0" indent="-342900">
              <a:spcBef>
                <a:spcPts val="0"/>
              </a:spcBef>
              <a:spcAft>
                <a:spcPts val="0"/>
              </a:spcAft>
              <a:buFont typeface="Arial" panose="020B0604020202020204" pitchFamily="34" charset="0"/>
              <a:buChar char="•"/>
            </a:pPr>
            <a:r>
              <a:rPr lang="en-US" sz="2400" dirty="0"/>
              <a:t>Assigned to </a:t>
            </a:r>
            <a:r>
              <a:rPr lang="en-US" sz="2400" dirty="0">
                <a:latin typeface="Calibri" panose="020F0502020204030204" pitchFamily="34" charset="0"/>
                <a:cs typeface="Times New Roman" panose="02020603050405020304" pitchFamily="18" charset="0"/>
              </a:rPr>
              <a:t>network interfaces, VPN gateway, public load balancers, or Application Gateways</a:t>
            </a:r>
          </a:p>
          <a:p>
            <a:pPr marL="342900" marR="0" lvl="0" indent="-342900">
              <a:spcBef>
                <a:spcPts val="0"/>
              </a:spcBef>
              <a:spcAft>
                <a:spcPts val="0"/>
              </a:spcAft>
              <a:buFont typeface="Arial" panose="020B0604020202020204" pitchFamily="34" charset="0"/>
              <a:buChar char="•"/>
            </a:pPr>
            <a:r>
              <a:rPr lang="en-US" sz="2400" dirty="0">
                <a:latin typeface="Calibri" panose="020F0502020204030204" pitchFamily="34" charset="0"/>
                <a:cs typeface="Times New Roman" panose="02020603050405020304" pitchFamily="18" charset="0"/>
              </a:rPr>
              <a:t>Don’t support availability zone scenarios</a:t>
            </a:r>
            <a:endParaRPr lang="en-US" sz="2400" dirty="0"/>
          </a:p>
          <a:p>
            <a:pPr marL="342900" marR="0" lvl="0" indent="-342900">
              <a:spcBef>
                <a:spcPts val="0"/>
              </a:spcBef>
              <a:spcAft>
                <a:spcPts val="0"/>
              </a:spcAft>
              <a:buFont typeface="Arial" panose="020B0604020202020204" pitchFamily="34" charset="0"/>
              <a:buChar char="•"/>
            </a:pPr>
            <a:endParaRPr lang="en-US" sz="1961" b="1" dirty="0"/>
          </a:p>
          <a:p>
            <a:pPr marR="0" lvl="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
            <a:extLst>
              <a:ext uri="{FF2B5EF4-FFF2-40B4-BE49-F238E27FC236}">
                <a16:creationId xmlns:a16="http://schemas.microsoft.com/office/drawing/2014/main" id="{FEF90CF9-55F8-44C3-AE4A-4513787C715C}"/>
              </a:ext>
            </a:extLst>
          </p:cNvPr>
          <p:cNvSpPr txBox="1"/>
          <p:nvPr/>
        </p:nvSpPr>
        <p:spPr>
          <a:xfrm>
            <a:off x="6311460" y="1272208"/>
            <a:ext cx="5292951" cy="45359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defTabSz="914400">
              <a:spcBef>
                <a:spcPts val="0"/>
              </a:spcBef>
              <a:spcAft>
                <a:spcPts val="0"/>
              </a:spcAft>
            </a:pPr>
            <a:r>
              <a:rPr lang="en-US" sz="2400" b="1" dirty="0"/>
              <a:t>Standard SKU</a:t>
            </a:r>
          </a:p>
          <a:p>
            <a:pPr marR="0" lvl="0" defTabSz="914400">
              <a:spcBef>
                <a:spcPts val="0"/>
              </a:spcBef>
              <a:spcAft>
                <a:spcPts val="0"/>
              </a:spcAft>
            </a:pPr>
            <a:endParaRPr lang="en-US" sz="1961" b="1" dirty="0"/>
          </a:p>
          <a:p>
            <a:pPr marL="342900" indent="-342900">
              <a:buFont typeface="Arial" panose="020B0604020202020204" pitchFamily="34" charset="0"/>
              <a:buChar char="•"/>
            </a:pPr>
            <a:r>
              <a:rPr lang="en-US" sz="2400" dirty="0"/>
              <a:t>Always use static allocation method</a:t>
            </a:r>
          </a:p>
          <a:p>
            <a:pPr marL="342900" indent="-342900">
              <a:buFont typeface="Arial" panose="020B0604020202020204" pitchFamily="34" charset="0"/>
              <a:buChar char="•"/>
            </a:pPr>
            <a:r>
              <a:rPr lang="en-US" sz="2400" dirty="0"/>
              <a:t>Secure by default and closed to inbound traffic</a:t>
            </a:r>
          </a:p>
          <a:p>
            <a:pPr marL="342900" indent="-342900">
              <a:buFont typeface="Arial" panose="020B0604020202020204" pitchFamily="34" charset="0"/>
              <a:buChar char="•"/>
            </a:pPr>
            <a:r>
              <a:rPr lang="en-US" sz="2400" dirty="0"/>
              <a:t>Allow inbound traffic with NSG</a:t>
            </a:r>
          </a:p>
          <a:p>
            <a:pPr marL="342900" indent="-342900">
              <a:buFont typeface="Arial" panose="020B0604020202020204" pitchFamily="34" charset="0"/>
              <a:buChar char="•"/>
            </a:pPr>
            <a:r>
              <a:rPr lang="en-US" sz="2400" dirty="0"/>
              <a:t>Assigned to network interfaces, standard public load balancers, or Application Gateways</a:t>
            </a:r>
          </a:p>
          <a:p>
            <a:pPr marL="342900" indent="-342900">
              <a:buFont typeface="Arial" panose="020B0604020202020204" pitchFamily="34" charset="0"/>
              <a:buChar char="•"/>
            </a:pPr>
            <a:r>
              <a:rPr lang="en-US" sz="2400" dirty="0"/>
              <a:t>Can be zone-redundant, zonal, or no-zone </a:t>
            </a:r>
          </a:p>
          <a:p>
            <a:pPr>
              <a:spcBef>
                <a:spcPts val="1200"/>
              </a:spcBef>
            </a:pPr>
            <a:endParaRPr lang="en-US" sz="2400" dirty="0"/>
          </a:p>
        </p:txBody>
      </p:sp>
    </p:spTree>
    <p:extLst>
      <p:ext uri="{BB962C8B-B14F-4D97-AF65-F5344CB8AC3E}">
        <p14:creationId xmlns:p14="http://schemas.microsoft.com/office/powerpoint/2010/main" val="348733600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366E9-0060-45DA-BCD8-B002315BCFBD}"/>
              </a:ext>
            </a:extLst>
          </p:cNvPr>
          <p:cNvSpPr>
            <a:spLocks noGrp="1"/>
          </p:cNvSpPr>
          <p:nvPr>
            <p:ph type="title"/>
          </p:nvPr>
        </p:nvSpPr>
        <p:spPr/>
        <p:txBody>
          <a:bodyPr/>
          <a:lstStyle/>
          <a:p>
            <a:r>
              <a:rPr lang="en-US">
                <a:cs typeface="Segoe UI"/>
              </a:rPr>
              <a:t>Creating Public IP Addresses</a:t>
            </a:r>
          </a:p>
        </p:txBody>
      </p:sp>
      <p:sp>
        <p:nvSpPr>
          <p:cNvPr id="5" name="Rectangle 4">
            <a:extLst>
              <a:ext uri="{FF2B5EF4-FFF2-40B4-BE49-F238E27FC236}">
                <a16:creationId xmlns:a16="http://schemas.microsoft.com/office/drawing/2014/main" id="{B9242DA4-5145-4B62-AABD-206F9B5F2BBF}"/>
              </a:ext>
            </a:extLst>
          </p:cNvPr>
          <p:cNvSpPr/>
          <p:nvPr/>
        </p:nvSpPr>
        <p:spPr>
          <a:xfrm>
            <a:off x="418642" y="1169264"/>
            <a:ext cx="7214238"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a:solidFill>
                  <a:schemeClr val="tx1"/>
                </a:solidFill>
                <a:latin typeface="+mj-lt"/>
                <a:ea typeface="+mn-lt"/>
                <a:cs typeface="+mn-lt"/>
              </a:rPr>
              <a:t>Available in IPv4 or IPv6 or both</a:t>
            </a:r>
          </a:p>
        </p:txBody>
      </p:sp>
      <p:sp>
        <p:nvSpPr>
          <p:cNvPr id="9" name="Rectangle 8">
            <a:extLst>
              <a:ext uri="{FF2B5EF4-FFF2-40B4-BE49-F238E27FC236}">
                <a16:creationId xmlns:a16="http://schemas.microsoft.com/office/drawing/2014/main" id="{03F5FE44-5611-4304-B74B-4114F1920D46}"/>
              </a:ext>
            </a:extLst>
          </p:cNvPr>
          <p:cNvSpPr/>
          <p:nvPr/>
        </p:nvSpPr>
        <p:spPr>
          <a:xfrm>
            <a:off x="418642" y="2254988"/>
            <a:ext cx="7214238"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a:solidFill>
                  <a:schemeClr val="tx1"/>
                </a:solidFill>
                <a:latin typeface="+mj-lt"/>
                <a:cs typeface="Segoe UI Semilight"/>
              </a:rPr>
              <a:t>Basic vs Standard SKU  </a:t>
            </a:r>
          </a:p>
        </p:txBody>
      </p:sp>
      <p:sp>
        <p:nvSpPr>
          <p:cNvPr id="14" name="Rectangle 13">
            <a:extLst>
              <a:ext uri="{FF2B5EF4-FFF2-40B4-BE49-F238E27FC236}">
                <a16:creationId xmlns:a16="http://schemas.microsoft.com/office/drawing/2014/main" id="{0483A8CF-CAA0-49F6-B0B3-704BAC5FBA68}"/>
              </a:ext>
            </a:extLst>
          </p:cNvPr>
          <p:cNvSpPr/>
          <p:nvPr/>
        </p:nvSpPr>
        <p:spPr>
          <a:xfrm>
            <a:off x="418642" y="3340712"/>
            <a:ext cx="7214238"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dirty="0">
                <a:solidFill>
                  <a:schemeClr val="tx1"/>
                </a:solidFill>
                <a:latin typeface="+mj-lt"/>
                <a:ea typeface="+mn-lt"/>
                <a:cs typeface="+mn-lt"/>
              </a:rPr>
              <a:t>Regional vs Global</a:t>
            </a:r>
            <a:endParaRPr lang="en-US" sz="2157" dirty="0">
              <a:solidFill>
                <a:schemeClr val="tx1"/>
              </a:solidFill>
            </a:endParaRPr>
          </a:p>
        </p:txBody>
      </p:sp>
      <p:sp>
        <p:nvSpPr>
          <p:cNvPr id="4" name="Rectangle 3">
            <a:extLst>
              <a:ext uri="{FF2B5EF4-FFF2-40B4-BE49-F238E27FC236}">
                <a16:creationId xmlns:a16="http://schemas.microsoft.com/office/drawing/2014/main" id="{76D520F6-6881-4B8F-86F0-B2EADA22A3E2}"/>
              </a:ext>
            </a:extLst>
          </p:cNvPr>
          <p:cNvSpPr/>
          <p:nvPr/>
        </p:nvSpPr>
        <p:spPr>
          <a:xfrm>
            <a:off x="418642" y="4401777"/>
            <a:ext cx="7214238"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dirty="0">
                <a:solidFill>
                  <a:schemeClr val="tx1"/>
                </a:solidFill>
                <a:latin typeface="+mj-lt"/>
                <a:ea typeface="+mn-lt"/>
                <a:cs typeface="+mn-lt"/>
              </a:rPr>
              <a:t>Dynamic vs Static</a:t>
            </a:r>
          </a:p>
        </p:txBody>
      </p:sp>
      <p:sp>
        <p:nvSpPr>
          <p:cNvPr id="15" name="Rectangle 14">
            <a:extLst>
              <a:ext uri="{FF2B5EF4-FFF2-40B4-BE49-F238E27FC236}">
                <a16:creationId xmlns:a16="http://schemas.microsoft.com/office/drawing/2014/main" id="{EA0560FC-57E5-4F42-9F1A-33CD4FDED8A2}"/>
              </a:ext>
            </a:extLst>
          </p:cNvPr>
          <p:cNvSpPr/>
          <p:nvPr/>
        </p:nvSpPr>
        <p:spPr>
          <a:xfrm>
            <a:off x="418642" y="5487501"/>
            <a:ext cx="7214238"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dirty="0">
                <a:solidFill>
                  <a:schemeClr val="tx1"/>
                </a:solidFill>
                <a:latin typeface="+mj-lt"/>
                <a:cs typeface="Segoe UI Semilight"/>
              </a:rPr>
              <a:t>Range of contiguous addresses available as a prefix</a:t>
            </a:r>
          </a:p>
        </p:txBody>
      </p:sp>
      <p:sp>
        <p:nvSpPr>
          <p:cNvPr id="6" name="Rectangle 5">
            <a:extLst>
              <a:ext uri="{FF2B5EF4-FFF2-40B4-BE49-F238E27FC236}">
                <a16:creationId xmlns:a16="http://schemas.microsoft.com/office/drawing/2014/main" id="{A01390ED-4A1F-482E-BED1-8BA8D3BC317F}"/>
              </a:ext>
              <a:ext uri="{C183D7F6-B498-43B3-948B-1728B52AA6E4}">
                <adec:decorative xmlns:adec="http://schemas.microsoft.com/office/drawing/2017/decorative" val="1"/>
              </a:ext>
            </a:extLst>
          </p:cNvPr>
          <p:cNvSpPr/>
          <p:nvPr/>
        </p:nvSpPr>
        <p:spPr bwMode="auto">
          <a:xfrm>
            <a:off x="7785584" y="1169264"/>
            <a:ext cx="3987773"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3" name="Picture 2" descr="Screenshot of the create public IP address">
            <a:extLst>
              <a:ext uri="{FF2B5EF4-FFF2-40B4-BE49-F238E27FC236}">
                <a16:creationId xmlns:a16="http://schemas.microsoft.com/office/drawing/2014/main" id="{B348A149-CEFA-479E-A879-CE88368E02A0}"/>
              </a:ext>
            </a:extLst>
          </p:cNvPr>
          <p:cNvPicPr>
            <a:picLocks noChangeAspect="1"/>
          </p:cNvPicPr>
          <p:nvPr/>
        </p:nvPicPr>
        <p:blipFill rotWithShape="1">
          <a:blip r:embed="rId3"/>
          <a:srcRect t="13460" r="1355"/>
          <a:stretch/>
        </p:blipFill>
        <p:spPr>
          <a:xfrm>
            <a:off x="8062811" y="1281063"/>
            <a:ext cx="3433317" cy="4844312"/>
          </a:xfrm>
          <a:prstGeom prst="rect">
            <a:avLst/>
          </a:prstGeom>
        </p:spPr>
      </p:pic>
    </p:spTree>
    <p:extLst>
      <p:ext uri="{BB962C8B-B14F-4D97-AF65-F5344CB8AC3E}">
        <p14:creationId xmlns:p14="http://schemas.microsoft.com/office/powerpoint/2010/main" val="281938318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sz="2800"/>
              <a:t>Configure Public IP services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 uri="{C183D7F6-B498-43B3-948B-1728B52AA6E4}">
                <adec:decorative xmlns:adec="http://schemas.microsoft.com/office/drawing/2017/decorative" val="1"/>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708EEA0-A4BD-464B-996C-EA824B152708}"/>
              </a:ext>
            </a:extLst>
          </p:cNvPr>
          <p:cNvSpPr/>
          <p:nvPr/>
        </p:nvSpPr>
        <p:spPr>
          <a:xfrm>
            <a:off x="4885966" y="2278757"/>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600" dirty="0">
                <a:hlinkClick r:id="rId4"/>
              </a:rPr>
              <a:t>Public IP addresses in Azure - Azure Virtual Network | Microsoft Docs</a:t>
            </a:r>
            <a:endParaRPr lang="en-US" sz="1765" dirty="0">
              <a:solidFill>
                <a:schemeClr val="tx1"/>
              </a:solidFill>
            </a:endParaRPr>
          </a:p>
        </p:txBody>
      </p:sp>
    </p:spTree>
    <p:extLst>
      <p:ext uri="{BB962C8B-B14F-4D97-AF65-F5344CB8AC3E}">
        <p14:creationId xmlns:p14="http://schemas.microsoft.com/office/powerpoint/2010/main" val="38782967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30402"/>
            <a:ext cx="8892608" cy="997196"/>
          </a:xfrm>
        </p:spPr>
        <p:txBody>
          <a:bodyPr/>
          <a:lstStyle/>
          <a:p>
            <a:r>
              <a:rPr lang="en-US" dirty="0"/>
              <a:t>Lesson 03: </a:t>
            </a:r>
            <a:r>
              <a:rPr kumimoji="0" lang="en-US" b="0" i="0" u="none" strike="noStrike" kern="1200" cap="none" spc="0" normalizeH="0" baseline="0" noProof="0" dirty="0">
                <a:ln>
                  <a:noFill/>
                </a:ln>
                <a:effectLst/>
                <a:uLnTx/>
                <a:uFillTx/>
                <a:latin typeface="Calibri" panose="020F0502020204030204"/>
                <a:ea typeface="+mn-ea"/>
                <a:cs typeface="+mn-cs"/>
              </a:rPr>
              <a:t>Exercise: design and implement a Virtual Network in Azure </a:t>
            </a:r>
            <a:endParaRPr lang="en-US" dirty="0"/>
          </a:p>
        </p:txBody>
      </p:sp>
      <p:grpSp>
        <p:nvGrpSpPr>
          <p:cNvPr id="4" name="Group 3">
            <a:extLst>
              <a:ext uri="{FF2B5EF4-FFF2-40B4-BE49-F238E27FC236}">
                <a16:creationId xmlns:a16="http://schemas.microsoft.com/office/drawing/2014/main" id="{154C4004-5070-472E-9C8C-6261D8C05A52}"/>
              </a:ext>
              <a:ext uri="{C183D7F6-B498-43B3-948B-1728B52AA6E4}">
                <adec:decorative xmlns:adec="http://schemas.microsoft.com/office/drawing/2017/decorative" val="1"/>
              </a:ext>
            </a:extLst>
          </p:cNvPr>
          <p:cNvGrpSpPr/>
          <p:nvPr/>
        </p:nvGrpSpPr>
        <p:grpSpPr>
          <a:xfrm>
            <a:off x="10332664" y="3070379"/>
            <a:ext cx="717140" cy="717242"/>
            <a:chOff x="418643" y="3134008"/>
            <a:chExt cx="717140" cy="717242"/>
          </a:xfrm>
        </p:grpSpPr>
        <p:grpSp>
          <p:nvGrpSpPr>
            <p:cNvPr id="5" name="Group 4">
              <a:extLst>
                <a:ext uri="{FF2B5EF4-FFF2-40B4-BE49-F238E27FC236}">
                  <a16:creationId xmlns:a16="http://schemas.microsoft.com/office/drawing/2014/main" id="{7B5FC745-9BFE-47F2-86FD-E6089D132355}"/>
                </a:ext>
              </a:extLst>
            </p:cNvPr>
            <p:cNvGrpSpPr/>
            <p:nvPr/>
          </p:nvGrpSpPr>
          <p:grpSpPr>
            <a:xfrm>
              <a:off x="418643" y="3134008"/>
              <a:ext cx="717140" cy="717242"/>
              <a:chOff x="418643" y="3134008"/>
              <a:chExt cx="717140" cy="717242"/>
            </a:xfrm>
          </p:grpSpPr>
          <p:sp>
            <p:nvSpPr>
              <p:cNvPr id="7" name="Freeform 5">
                <a:extLst>
                  <a:ext uri="{FF2B5EF4-FFF2-40B4-BE49-F238E27FC236}">
                    <a16:creationId xmlns:a16="http://schemas.microsoft.com/office/drawing/2014/main" id="{F7739559-7241-4D45-8D6C-18CC6F27972E}"/>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Freeform 6">
                <a:extLst>
                  <a:ext uri="{FF2B5EF4-FFF2-40B4-BE49-F238E27FC236}">
                    <a16:creationId xmlns:a16="http://schemas.microsoft.com/office/drawing/2014/main" id="{FBA0C5D9-9763-4ABD-A984-329A046E75A0}"/>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6" name="Picture 5" descr="Icon of three dots and outward pointing chevrons on left and right">
              <a:extLst>
                <a:ext uri="{FF2B5EF4-FFF2-40B4-BE49-F238E27FC236}">
                  <a16:creationId xmlns:a16="http://schemas.microsoft.com/office/drawing/2014/main" id="{50B7CA68-D3E7-4B75-81D5-154068DB9560}"/>
                </a:ext>
              </a:extLst>
            </p:cNvPr>
            <p:cNvPicPr>
              <a:picLocks noChangeAspect="1"/>
            </p:cNvPicPr>
            <p:nvPr/>
          </p:nvPicPr>
          <p:blipFill>
            <a:blip r:embed="rId3"/>
            <a:stretch>
              <a:fillRect/>
            </a:stretch>
          </p:blipFill>
          <p:spPr>
            <a:xfrm>
              <a:off x="526606" y="3382030"/>
              <a:ext cx="501214" cy="221198"/>
            </a:xfrm>
            <a:prstGeom prst="rect">
              <a:avLst/>
            </a:prstGeom>
          </p:spPr>
        </p:pic>
      </p:grpSp>
    </p:spTree>
    <p:extLst>
      <p:ext uri="{BB962C8B-B14F-4D97-AF65-F5344CB8AC3E}">
        <p14:creationId xmlns:p14="http://schemas.microsoft.com/office/powerpoint/2010/main" val="35399139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E304-95F9-42B1-94B7-92B6A476220A}"/>
              </a:ext>
            </a:extLst>
          </p:cNvPr>
          <p:cNvSpPr>
            <a:spLocks noGrp="1"/>
          </p:cNvSpPr>
          <p:nvPr>
            <p:ph type="title"/>
          </p:nvPr>
        </p:nvSpPr>
        <p:spPr/>
        <p:txBody>
          <a:bodyPr/>
          <a:lstStyle/>
          <a:p>
            <a:r>
              <a:rPr lang="en-US" dirty="0"/>
              <a:t>Design and implement a Virtual Network in Azure</a:t>
            </a:r>
          </a:p>
        </p:txBody>
      </p:sp>
      <p:sp>
        <p:nvSpPr>
          <p:cNvPr id="5" name="Rectangle 4">
            <a:extLst>
              <a:ext uri="{FF2B5EF4-FFF2-40B4-BE49-F238E27FC236}">
                <a16:creationId xmlns:a16="http://schemas.microsoft.com/office/drawing/2014/main" id="{A0AC57E5-0657-456A-860B-C20378BE795D}"/>
              </a:ext>
              <a:ext uri="{C183D7F6-B498-43B3-948B-1728B52AA6E4}">
                <adec:decorative xmlns:adec="http://schemas.microsoft.com/office/drawing/2017/decorative" val="1"/>
              </a:ext>
            </a:extLst>
          </p:cNvPr>
          <p:cNvSpPr/>
          <p:nvPr/>
        </p:nvSpPr>
        <p:spPr bwMode="auto">
          <a:xfrm>
            <a:off x="4664990" y="1169262"/>
            <a:ext cx="7108368" cy="501456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4" name="Rectangle 3">
            <a:extLst>
              <a:ext uri="{FF2B5EF4-FFF2-40B4-BE49-F238E27FC236}">
                <a16:creationId xmlns:a16="http://schemas.microsoft.com/office/drawing/2014/main" id="{FED1EE2C-894E-430B-BD35-A33A47307BD7}"/>
              </a:ext>
            </a:extLst>
          </p:cNvPr>
          <p:cNvSpPr/>
          <p:nvPr/>
        </p:nvSpPr>
        <p:spPr>
          <a:xfrm>
            <a:off x="418642" y="1397876"/>
            <a:ext cx="3981653" cy="446221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pPr marL="285750" indent="-285750">
              <a:buFont typeface="Arial" panose="020B0604020202020204" pitchFamily="34" charset="0"/>
              <a:buChar char="•"/>
            </a:pPr>
            <a:r>
              <a:rPr lang="en-US" dirty="0">
                <a:solidFill>
                  <a:schemeClr val="tx1"/>
                </a:solidFill>
                <a:latin typeface="+mj-lt"/>
                <a:ea typeface="+mn-lt"/>
                <a:cs typeface="+mn-lt"/>
              </a:rPr>
              <a:t>Task 1: Create the Contoso resource group</a:t>
            </a:r>
          </a:p>
          <a:p>
            <a:endParaRPr lang="en-US" dirty="0">
              <a:solidFill>
                <a:schemeClr val="tx1"/>
              </a:solidFill>
              <a:latin typeface="+mj-lt"/>
              <a:ea typeface="+mn-lt"/>
              <a:cs typeface="+mn-lt"/>
            </a:endParaRPr>
          </a:p>
          <a:p>
            <a:pPr marL="285750" indent="-285750">
              <a:buFont typeface="Arial" panose="020B0604020202020204" pitchFamily="34" charset="0"/>
              <a:buChar char="•"/>
            </a:pPr>
            <a:r>
              <a:rPr lang="en-US" dirty="0">
                <a:solidFill>
                  <a:schemeClr val="tx1"/>
                </a:solidFill>
                <a:latin typeface="+mj-lt"/>
                <a:ea typeface="+mn-lt"/>
                <a:cs typeface="+mn-lt"/>
              </a:rPr>
              <a:t>Task 2: Create the </a:t>
            </a:r>
            <a:r>
              <a:rPr lang="en-US" dirty="0" err="1">
                <a:solidFill>
                  <a:schemeClr val="tx1"/>
                </a:solidFill>
                <a:latin typeface="+mj-lt"/>
                <a:ea typeface="+mn-lt"/>
                <a:cs typeface="+mn-lt"/>
              </a:rPr>
              <a:t>CoreServicesVnet</a:t>
            </a:r>
            <a:r>
              <a:rPr lang="en-US" dirty="0">
                <a:solidFill>
                  <a:schemeClr val="tx1"/>
                </a:solidFill>
                <a:latin typeface="+mj-lt"/>
                <a:ea typeface="+mn-lt"/>
                <a:cs typeface="+mn-lt"/>
              </a:rPr>
              <a:t> virtual network and subnets</a:t>
            </a:r>
          </a:p>
          <a:p>
            <a:endParaRPr lang="en-US" dirty="0">
              <a:solidFill>
                <a:schemeClr val="tx1"/>
              </a:solidFill>
              <a:latin typeface="+mj-lt"/>
              <a:ea typeface="+mn-lt"/>
              <a:cs typeface="+mn-lt"/>
            </a:endParaRPr>
          </a:p>
          <a:p>
            <a:pPr marL="285750" indent="-285750">
              <a:buFont typeface="Arial" panose="020B0604020202020204" pitchFamily="34" charset="0"/>
              <a:buChar char="•"/>
            </a:pPr>
            <a:r>
              <a:rPr lang="en-US" dirty="0">
                <a:solidFill>
                  <a:schemeClr val="tx1"/>
                </a:solidFill>
                <a:latin typeface="+mj-lt"/>
                <a:ea typeface="+mn-lt"/>
                <a:cs typeface="+mn-lt"/>
              </a:rPr>
              <a:t>Task 3: Create the </a:t>
            </a:r>
            <a:r>
              <a:rPr lang="en-US" dirty="0" err="1">
                <a:solidFill>
                  <a:schemeClr val="tx1"/>
                </a:solidFill>
                <a:latin typeface="+mj-lt"/>
                <a:ea typeface="+mn-lt"/>
                <a:cs typeface="+mn-lt"/>
              </a:rPr>
              <a:t>ManufacturingVnet</a:t>
            </a:r>
            <a:r>
              <a:rPr lang="en-US" dirty="0">
                <a:solidFill>
                  <a:schemeClr val="tx1"/>
                </a:solidFill>
                <a:latin typeface="+mj-lt"/>
                <a:ea typeface="+mn-lt"/>
                <a:cs typeface="+mn-lt"/>
              </a:rPr>
              <a:t> virtual network and subnets</a:t>
            </a:r>
          </a:p>
          <a:p>
            <a:endParaRPr lang="en-US" dirty="0">
              <a:solidFill>
                <a:schemeClr val="tx1"/>
              </a:solidFill>
              <a:latin typeface="+mj-lt"/>
              <a:ea typeface="+mn-lt"/>
              <a:cs typeface="+mn-lt"/>
            </a:endParaRPr>
          </a:p>
          <a:p>
            <a:pPr marL="285750" indent="-285750">
              <a:buFont typeface="Arial" panose="020B0604020202020204" pitchFamily="34" charset="0"/>
              <a:buChar char="•"/>
            </a:pPr>
            <a:r>
              <a:rPr lang="en-US" dirty="0">
                <a:solidFill>
                  <a:schemeClr val="tx1"/>
                </a:solidFill>
                <a:latin typeface="+mj-lt"/>
                <a:ea typeface="+mn-lt"/>
                <a:cs typeface="+mn-lt"/>
              </a:rPr>
              <a:t>Task 4: Create the </a:t>
            </a:r>
            <a:r>
              <a:rPr lang="en-US" dirty="0" err="1">
                <a:solidFill>
                  <a:schemeClr val="tx1"/>
                </a:solidFill>
                <a:latin typeface="+mj-lt"/>
                <a:ea typeface="+mn-lt"/>
                <a:cs typeface="+mn-lt"/>
              </a:rPr>
              <a:t>ResearchVnet</a:t>
            </a:r>
            <a:r>
              <a:rPr lang="en-US" dirty="0">
                <a:solidFill>
                  <a:schemeClr val="tx1"/>
                </a:solidFill>
                <a:latin typeface="+mj-lt"/>
                <a:ea typeface="+mn-lt"/>
                <a:cs typeface="+mn-lt"/>
              </a:rPr>
              <a:t> virtual network and subnets</a:t>
            </a:r>
          </a:p>
          <a:p>
            <a:endParaRPr lang="en-US" dirty="0">
              <a:solidFill>
                <a:schemeClr val="tx1"/>
              </a:solidFill>
              <a:latin typeface="+mj-lt"/>
              <a:ea typeface="+mn-lt"/>
              <a:cs typeface="+mn-lt"/>
            </a:endParaRPr>
          </a:p>
          <a:p>
            <a:pPr marL="285750" indent="-285750">
              <a:buFont typeface="Arial" panose="020B0604020202020204" pitchFamily="34" charset="0"/>
              <a:buChar char="•"/>
            </a:pPr>
            <a:r>
              <a:rPr lang="en-US" dirty="0">
                <a:solidFill>
                  <a:schemeClr val="tx1"/>
                </a:solidFill>
                <a:latin typeface="+mj-lt"/>
                <a:ea typeface="+mn-lt"/>
                <a:cs typeface="+mn-lt"/>
              </a:rPr>
              <a:t>Task 5: Verify the creation of VNets and Subnets</a:t>
            </a:r>
          </a:p>
        </p:txBody>
      </p:sp>
      <p:pic>
        <p:nvPicPr>
          <p:cNvPr id="3" name="Picture 2" descr="Network layout for Contoso. &#10;On-premises 10.10.0.0/16&#10;ResearchVNet 10.40.40.0/24&#10;CoreServicesVNet  10.20.0.0/16&#10;ManufacturingVNet 10.30.0.0/16">
            <a:extLst>
              <a:ext uri="{FF2B5EF4-FFF2-40B4-BE49-F238E27FC236}">
                <a16:creationId xmlns:a16="http://schemas.microsoft.com/office/drawing/2014/main" id="{05D056F3-AAA9-4507-A62D-FD660A63D2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6666" y="1650002"/>
            <a:ext cx="6870569" cy="4172729"/>
          </a:xfrm>
          <a:prstGeom prst="rect">
            <a:avLst/>
          </a:prstGeom>
        </p:spPr>
      </p:pic>
    </p:spTree>
    <p:extLst>
      <p:ext uri="{BB962C8B-B14F-4D97-AF65-F5344CB8AC3E}">
        <p14:creationId xmlns:p14="http://schemas.microsoft.com/office/powerpoint/2010/main" val="40997678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t>Exercise: design and implement a Virtual Network in Azure </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76D0BC1F-6FDA-4D91-8C6D-3CE264145808}"/>
              </a:ext>
            </a:extLst>
          </p:cNvPr>
          <p:cNvSpPr txBox="1"/>
          <p:nvPr/>
        </p:nvSpPr>
        <p:spPr>
          <a:xfrm>
            <a:off x="4093716" y="2122401"/>
            <a:ext cx="7450083" cy="646331"/>
          </a:xfrm>
          <a:prstGeom prst="rect">
            <a:avLst/>
          </a:prstGeom>
          <a:noFill/>
        </p:spPr>
        <p:txBody>
          <a:bodyPr wrap="square">
            <a:spAutoFit/>
          </a:bodyPr>
          <a:lstStyle/>
          <a:p>
            <a:r>
              <a:rPr lang="en-US" dirty="0" err="1">
                <a:hlinkClick r:id="rId4"/>
              </a:rPr>
              <a:t>Quickstart</a:t>
            </a:r>
            <a:r>
              <a:rPr lang="en-US" dirty="0">
                <a:hlinkClick r:id="rId4"/>
              </a:rPr>
              <a:t>: Create a virtual network - Azure portal - Azure Virtual Network | Microsoft Docs</a:t>
            </a:r>
            <a:endParaRPr lang="en-US" dirty="0"/>
          </a:p>
        </p:txBody>
      </p:sp>
      <p:sp>
        <p:nvSpPr>
          <p:cNvPr id="13" name="TextBox 12">
            <a:extLst>
              <a:ext uri="{FF2B5EF4-FFF2-40B4-BE49-F238E27FC236}">
                <a16:creationId xmlns:a16="http://schemas.microsoft.com/office/drawing/2014/main" id="{56F6A401-2880-48B1-B887-3A507BD88F9F}"/>
              </a:ext>
            </a:extLst>
          </p:cNvPr>
          <p:cNvSpPr txBox="1"/>
          <p:nvPr/>
        </p:nvSpPr>
        <p:spPr>
          <a:xfrm>
            <a:off x="4093716" y="2944218"/>
            <a:ext cx="7607491" cy="369332"/>
          </a:xfrm>
          <a:prstGeom prst="rect">
            <a:avLst/>
          </a:prstGeom>
          <a:noFill/>
        </p:spPr>
        <p:txBody>
          <a:bodyPr wrap="square">
            <a:spAutoFit/>
          </a:bodyPr>
          <a:lstStyle/>
          <a:p>
            <a:r>
              <a:rPr lang="en-US" dirty="0">
                <a:hlinkClick r:id="rId5"/>
              </a:rPr>
              <a:t>Create a virtual network - </a:t>
            </a:r>
            <a:r>
              <a:rPr lang="en-US" dirty="0" err="1">
                <a:hlinkClick r:id="rId5"/>
              </a:rPr>
              <a:t>quickstart</a:t>
            </a:r>
            <a:r>
              <a:rPr lang="en-US" dirty="0">
                <a:hlinkClick r:id="rId5"/>
              </a:rPr>
              <a:t> - Azure PowerShell | Microsoft Docs</a:t>
            </a:r>
            <a:endParaRPr lang="en-US" dirty="0"/>
          </a:p>
        </p:txBody>
      </p:sp>
    </p:spTree>
    <p:extLst>
      <p:ext uri="{BB962C8B-B14F-4D97-AF65-F5344CB8AC3E}">
        <p14:creationId xmlns:p14="http://schemas.microsoft.com/office/powerpoint/2010/main" val="9669957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30402"/>
            <a:ext cx="8892608" cy="997196"/>
          </a:xfrm>
        </p:spPr>
        <p:txBody>
          <a:bodyPr/>
          <a:lstStyle/>
          <a:p>
            <a:r>
              <a:rPr lang="en-US" dirty="0"/>
              <a:t>Lesson 04: Design N</a:t>
            </a:r>
            <a:r>
              <a:rPr lang="en-US" sz="3600" dirty="0"/>
              <a:t>ame Resolution for Azure Virtual Network</a:t>
            </a:r>
            <a:endParaRPr lang="en-US" dirty="0"/>
          </a:p>
        </p:txBody>
      </p:sp>
      <p:grpSp>
        <p:nvGrpSpPr>
          <p:cNvPr id="4" name="Group 3">
            <a:extLst>
              <a:ext uri="{FF2B5EF4-FFF2-40B4-BE49-F238E27FC236}">
                <a16:creationId xmlns:a16="http://schemas.microsoft.com/office/drawing/2014/main" id="{A13B3537-0349-4B84-8BF9-F9C5D7E9D6D7}"/>
              </a:ext>
              <a:ext uri="{C183D7F6-B498-43B3-948B-1728B52AA6E4}">
                <adec:decorative xmlns:adec="http://schemas.microsoft.com/office/drawing/2017/decorative" val="1"/>
              </a:ext>
            </a:extLst>
          </p:cNvPr>
          <p:cNvGrpSpPr/>
          <p:nvPr/>
        </p:nvGrpSpPr>
        <p:grpSpPr>
          <a:xfrm>
            <a:off x="10320633" y="3070379"/>
            <a:ext cx="717140" cy="717242"/>
            <a:chOff x="418643" y="3980133"/>
            <a:chExt cx="717140" cy="717242"/>
          </a:xfrm>
        </p:grpSpPr>
        <p:grpSp>
          <p:nvGrpSpPr>
            <p:cNvPr id="5" name="Group 4">
              <a:extLst>
                <a:ext uri="{FF2B5EF4-FFF2-40B4-BE49-F238E27FC236}">
                  <a16:creationId xmlns:a16="http://schemas.microsoft.com/office/drawing/2014/main" id="{07CCF92D-6005-488E-BE83-0A2C7EAD7193}"/>
                </a:ext>
              </a:extLst>
            </p:cNvPr>
            <p:cNvGrpSpPr/>
            <p:nvPr/>
          </p:nvGrpSpPr>
          <p:grpSpPr>
            <a:xfrm>
              <a:off x="418643" y="3980133"/>
              <a:ext cx="717140" cy="717242"/>
              <a:chOff x="418643" y="3980133"/>
              <a:chExt cx="717140" cy="717242"/>
            </a:xfrm>
          </p:grpSpPr>
          <p:sp>
            <p:nvSpPr>
              <p:cNvPr id="7" name="Freeform 5">
                <a:extLst>
                  <a:ext uri="{FF2B5EF4-FFF2-40B4-BE49-F238E27FC236}">
                    <a16:creationId xmlns:a16="http://schemas.microsoft.com/office/drawing/2014/main" id="{ECDFB02F-DCC8-47BB-AB0D-C3832C7D8EB5}"/>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Freeform 6">
                <a:extLst>
                  <a:ext uri="{FF2B5EF4-FFF2-40B4-BE49-F238E27FC236}">
                    <a16:creationId xmlns:a16="http://schemas.microsoft.com/office/drawing/2014/main" id="{CE183657-F7DA-40B9-86AF-E96C4F3B0578}"/>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6" name="Picture 5" descr="Icon of a bulb">
              <a:extLst>
                <a:ext uri="{FF2B5EF4-FFF2-40B4-BE49-F238E27FC236}">
                  <a16:creationId xmlns:a16="http://schemas.microsoft.com/office/drawing/2014/main" id="{E3956798-DE21-4EA5-BBB0-6584E8CE2395}"/>
                </a:ext>
              </a:extLst>
            </p:cNvPr>
            <p:cNvPicPr>
              <a:picLocks noChangeAspect="1"/>
            </p:cNvPicPr>
            <p:nvPr/>
          </p:nvPicPr>
          <p:blipFill>
            <a:blip r:embed="rId3"/>
            <a:stretch>
              <a:fillRect/>
            </a:stretch>
          </p:blipFill>
          <p:spPr>
            <a:xfrm>
              <a:off x="641719" y="4150309"/>
              <a:ext cx="270988" cy="376890"/>
            </a:xfrm>
            <a:prstGeom prst="rect">
              <a:avLst/>
            </a:prstGeom>
          </p:spPr>
        </p:pic>
      </p:grpSp>
    </p:spTree>
    <p:extLst>
      <p:ext uri="{BB962C8B-B14F-4D97-AF65-F5344CB8AC3E}">
        <p14:creationId xmlns:p14="http://schemas.microsoft.com/office/powerpoint/2010/main" val="349877145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Design Name Resolution for Azure Virtual Network overview</a:t>
            </a:r>
          </a:p>
        </p:txBody>
      </p:sp>
      <p:sp>
        <p:nvSpPr>
          <p:cNvPr id="6" name="Text Placeholder 5"/>
          <p:cNvSpPr>
            <a:spLocks noGrp="1"/>
          </p:cNvSpPr>
          <p:nvPr>
            <p:ph type="body" sz="quarter" idx="11"/>
          </p:nvPr>
        </p:nvSpPr>
        <p:spPr>
          <a:xfrm>
            <a:off x="3619500" y="1255116"/>
            <a:ext cx="3330574" cy="675889"/>
          </a:xfrm>
        </p:spPr>
        <p:txBody>
          <a:bodyPr/>
          <a:lstStyle/>
          <a:p>
            <a:pPr lvl="1"/>
            <a:r>
              <a:rPr lang="en-US" dirty="0"/>
              <a:t>Public DNS</a:t>
            </a:r>
          </a:p>
        </p:txBody>
      </p:sp>
      <p:sp>
        <p:nvSpPr>
          <p:cNvPr id="2" name="Text Placeholder 1"/>
          <p:cNvSpPr>
            <a:spLocks noGrp="1"/>
          </p:cNvSpPr>
          <p:nvPr>
            <p:ph type="body" sz="quarter" idx="15"/>
          </p:nvPr>
        </p:nvSpPr>
        <p:spPr>
          <a:xfrm>
            <a:off x="3619500" y="2098967"/>
            <a:ext cx="3330574" cy="675889"/>
          </a:xfrm>
        </p:spPr>
        <p:txBody>
          <a:bodyPr/>
          <a:lstStyle/>
          <a:p>
            <a:pPr lvl="1"/>
            <a:r>
              <a:rPr lang="en-US" dirty="0"/>
              <a:t>Azure DNS Zones</a:t>
            </a:r>
          </a:p>
        </p:txBody>
      </p:sp>
      <p:sp>
        <p:nvSpPr>
          <p:cNvPr id="3" name="Text Placeholder 2"/>
          <p:cNvSpPr>
            <a:spLocks noGrp="1"/>
          </p:cNvSpPr>
          <p:nvPr>
            <p:ph type="body" sz="quarter" idx="17"/>
          </p:nvPr>
        </p:nvSpPr>
        <p:spPr>
          <a:xfrm>
            <a:off x="3619500" y="2942818"/>
            <a:ext cx="3330574" cy="675889"/>
          </a:xfrm>
        </p:spPr>
        <p:txBody>
          <a:bodyPr/>
          <a:lstStyle/>
          <a:p>
            <a:pPr lvl="1"/>
            <a:r>
              <a:rPr lang="en-US" dirty="0"/>
              <a:t>DNS Delegation</a:t>
            </a:r>
          </a:p>
        </p:txBody>
      </p:sp>
      <p:sp>
        <p:nvSpPr>
          <p:cNvPr id="4" name="Text Placeholder 3"/>
          <p:cNvSpPr>
            <a:spLocks noGrp="1"/>
          </p:cNvSpPr>
          <p:nvPr>
            <p:ph type="body" sz="quarter" idx="19"/>
          </p:nvPr>
        </p:nvSpPr>
        <p:spPr>
          <a:xfrm>
            <a:off x="3619500" y="3786669"/>
            <a:ext cx="3330574" cy="675889"/>
          </a:xfrm>
        </p:spPr>
        <p:txBody>
          <a:bodyPr/>
          <a:lstStyle/>
          <a:p>
            <a:pPr lvl="1"/>
            <a:r>
              <a:rPr lang="en-US" dirty="0"/>
              <a:t>DNS Record Sets</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a:xfrm>
            <a:off x="8331200" y="1255116"/>
            <a:ext cx="3442157" cy="675889"/>
          </a:xfrm>
        </p:spPr>
        <p:txBody>
          <a:bodyPr/>
          <a:lstStyle/>
          <a:p>
            <a:pPr lvl="1"/>
            <a:r>
              <a:rPr lang="en-US" dirty="0"/>
              <a:t>DNS for Private Domains </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a:xfrm>
            <a:off x="8331200" y="2098967"/>
            <a:ext cx="3442157" cy="675889"/>
          </a:xfrm>
        </p:spPr>
        <p:txBody>
          <a:bodyPr/>
          <a:lstStyle/>
          <a:p>
            <a:pPr lvl="1"/>
            <a:r>
              <a:rPr lang="en-US" dirty="0"/>
              <a:t>Private Zones Scenarios </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a:xfrm>
            <a:off x="8331200" y="3745200"/>
            <a:ext cx="3442157" cy="675889"/>
          </a:xfrm>
        </p:spPr>
        <p:txBody>
          <a:bodyPr/>
          <a:lstStyle/>
          <a:p>
            <a:pPr lvl="1"/>
            <a:r>
              <a:rPr lang="en-US" dirty="0"/>
              <a:t>Demonstration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a:xfrm>
            <a:off x="8331200" y="4589051"/>
            <a:ext cx="3442157" cy="675889"/>
          </a:xfrm>
        </p:spPr>
        <p:txBody>
          <a:bodyPr/>
          <a:lstStyle/>
          <a:p>
            <a:pPr lvl="1"/>
            <a:r>
              <a:rPr lang="en-US" dirty="0"/>
              <a:t>Review</a:t>
            </a:r>
          </a:p>
        </p:txBody>
      </p:sp>
      <p:grpSp>
        <p:nvGrpSpPr>
          <p:cNvPr id="22" name="Group 21">
            <a:extLst>
              <a:ext uri="{FF2B5EF4-FFF2-40B4-BE49-F238E27FC236}">
                <a16:creationId xmlns:a16="http://schemas.microsoft.com/office/drawing/2014/main" id="{204B5399-A43E-4092-B45A-8C78C5FAF293}"/>
              </a:ext>
              <a:ext uri="{C183D7F6-B498-43B3-948B-1728B52AA6E4}">
                <adec:decorative xmlns:adec="http://schemas.microsoft.com/office/drawing/2017/decorative" val="1"/>
              </a:ext>
            </a:extLst>
          </p:cNvPr>
          <p:cNvGrpSpPr/>
          <p:nvPr/>
        </p:nvGrpSpPr>
        <p:grpSpPr>
          <a:xfrm>
            <a:off x="2744702" y="1276787"/>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 uri="{C183D7F6-B498-43B3-948B-1728B52AA6E4}">
                <adec:decorative xmlns:adec="http://schemas.microsoft.com/office/drawing/2017/decorative" val="1"/>
              </a:ext>
            </a:extLst>
          </p:cNvPr>
          <p:cNvGrpSpPr/>
          <p:nvPr/>
        </p:nvGrpSpPr>
        <p:grpSpPr>
          <a:xfrm>
            <a:off x="2744702" y="2119051"/>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 uri="{C183D7F6-B498-43B3-948B-1728B52AA6E4}">
                <adec:decorative xmlns:adec="http://schemas.microsoft.com/office/drawing/2017/decorative" val="1"/>
              </a:ext>
            </a:extLst>
          </p:cNvPr>
          <p:cNvGrpSpPr/>
          <p:nvPr/>
        </p:nvGrpSpPr>
        <p:grpSpPr>
          <a:xfrm>
            <a:off x="2744702" y="2961315"/>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 uri="{C183D7F6-B498-43B3-948B-1728B52AA6E4}">
                <adec:decorative xmlns:adec="http://schemas.microsoft.com/office/drawing/2017/decorative" val="1"/>
              </a:ext>
            </a:extLst>
          </p:cNvPr>
          <p:cNvGrpSpPr/>
          <p:nvPr/>
        </p:nvGrpSpPr>
        <p:grpSpPr>
          <a:xfrm>
            <a:off x="2744702" y="3803579"/>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46" name="Group 45">
            <a:extLst>
              <a:ext uri="{FF2B5EF4-FFF2-40B4-BE49-F238E27FC236}">
                <a16:creationId xmlns:a16="http://schemas.microsoft.com/office/drawing/2014/main" id="{3F9A8503-939D-4DD5-B78C-EC416EEDC730}"/>
              </a:ext>
              <a:ext uri="{C183D7F6-B498-43B3-948B-1728B52AA6E4}">
                <adec:decorative xmlns:adec="http://schemas.microsoft.com/office/drawing/2017/decorative" val="1"/>
              </a:ext>
            </a:extLst>
          </p:cNvPr>
          <p:cNvGrpSpPr/>
          <p:nvPr/>
        </p:nvGrpSpPr>
        <p:grpSpPr>
          <a:xfrm>
            <a:off x="7465384" y="1276787"/>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 uri="{C183D7F6-B498-43B3-948B-1728B52AA6E4}">
                <adec:decorative xmlns:adec="http://schemas.microsoft.com/office/drawing/2017/decorative" val="1"/>
              </a:ext>
            </a:extLst>
          </p:cNvPr>
          <p:cNvGrpSpPr/>
          <p:nvPr/>
        </p:nvGrpSpPr>
        <p:grpSpPr>
          <a:xfrm>
            <a:off x="7465384" y="2119051"/>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 uri="{C183D7F6-B498-43B3-948B-1728B52AA6E4}">
                <adec:decorative xmlns:adec="http://schemas.microsoft.com/office/drawing/2017/decorative" val="1"/>
              </a:ext>
            </a:extLst>
          </p:cNvPr>
          <p:cNvGrpSpPr/>
          <p:nvPr/>
        </p:nvGrpSpPr>
        <p:grpSpPr>
          <a:xfrm>
            <a:off x="7465384" y="3763697"/>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 uri="{C183D7F6-B498-43B3-948B-1728B52AA6E4}">
                <adec:decorative xmlns:adec="http://schemas.microsoft.com/office/drawing/2017/decorative" val="1"/>
              </a:ext>
            </a:extLst>
          </p:cNvPr>
          <p:cNvGrpSpPr/>
          <p:nvPr/>
        </p:nvGrpSpPr>
        <p:grpSpPr>
          <a:xfrm>
            <a:off x="7465384" y="4605961"/>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sp>
        <p:nvSpPr>
          <p:cNvPr id="19" name="Text Placeholder 2">
            <a:extLst>
              <a:ext uri="{FF2B5EF4-FFF2-40B4-BE49-F238E27FC236}">
                <a16:creationId xmlns:a16="http://schemas.microsoft.com/office/drawing/2014/main" id="{31AF1C56-DC46-4FFD-ABEC-E0EA93FDE88F}"/>
              </a:ext>
            </a:extLst>
          </p:cNvPr>
          <p:cNvSpPr txBox="1">
            <a:spLocks/>
          </p:cNvSpPr>
          <p:nvPr/>
        </p:nvSpPr>
        <p:spPr>
          <a:xfrm>
            <a:off x="8331200" y="2901349"/>
            <a:ext cx="3442157" cy="630939"/>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lvl="1"/>
            <a:r>
              <a:rPr lang="en-US" sz="1400" dirty="0"/>
              <a:t>Significance of IP address 168.63.129.16 </a:t>
            </a:r>
          </a:p>
        </p:txBody>
      </p:sp>
      <p:pic>
        <p:nvPicPr>
          <p:cNvPr id="20" name="Picture 19" descr="Icon of a wrench">
            <a:extLst>
              <a:ext uri="{FF2B5EF4-FFF2-40B4-BE49-F238E27FC236}">
                <a16:creationId xmlns:a16="http://schemas.microsoft.com/office/drawing/2014/main" id="{FC9DAF73-4AE8-46D5-AF75-72E6D9457E44}"/>
              </a:ext>
            </a:extLst>
          </p:cNvPr>
          <p:cNvPicPr>
            <a:picLocks noChangeAspect="1"/>
          </p:cNvPicPr>
          <p:nvPr/>
        </p:nvPicPr>
        <p:blipFill>
          <a:blip r:embed="rId7"/>
          <a:stretch>
            <a:fillRect/>
          </a:stretch>
        </p:blipFill>
        <p:spPr>
          <a:xfrm>
            <a:off x="7465384" y="2903347"/>
            <a:ext cx="706389" cy="706389"/>
          </a:xfrm>
          <a:prstGeom prst="rect">
            <a:avLst/>
          </a:prstGeom>
        </p:spPr>
      </p:pic>
    </p:spTree>
    <p:extLst>
      <p:ext uri="{BB962C8B-B14F-4D97-AF65-F5344CB8AC3E}">
        <p14:creationId xmlns:p14="http://schemas.microsoft.com/office/powerpoint/2010/main" val="3127881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C9F729-15BB-4C37-A880-E27BFFB1F5EE}"/>
              </a:ext>
            </a:extLst>
          </p:cNvPr>
          <p:cNvSpPr>
            <a:spLocks noGrp="1"/>
          </p:cNvSpPr>
          <p:nvPr>
            <p:ph type="title"/>
          </p:nvPr>
        </p:nvSpPr>
        <p:spPr/>
        <p:txBody>
          <a:bodyPr/>
          <a:lstStyle/>
          <a:p>
            <a:r>
              <a:rPr lang="en-US" dirty="0"/>
              <a:t>Public DNS</a:t>
            </a:r>
          </a:p>
        </p:txBody>
      </p:sp>
      <p:sp>
        <p:nvSpPr>
          <p:cNvPr id="7" name="Rectangle 6">
            <a:extLst>
              <a:ext uri="{FF2B5EF4-FFF2-40B4-BE49-F238E27FC236}">
                <a16:creationId xmlns:a16="http://schemas.microsoft.com/office/drawing/2014/main" id="{FE78889A-436B-4B42-AAC4-CEC37EFFA9B0}"/>
              </a:ext>
              <a:ext uri="{C183D7F6-B498-43B3-948B-1728B52AA6E4}">
                <adec:decorative xmlns:adec="http://schemas.microsoft.com/office/drawing/2017/decorative" val="1"/>
              </a:ext>
            </a:extLst>
          </p:cNvPr>
          <p:cNvSpPr/>
          <p:nvPr/>
        </p:nvSpPr>
        <p:spPr bwMode="auto">
          <a:xfrm>
            <a:off x="6096000" y="1169263"/>
            <a:ext cx="5677358" cy="473879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9" name="TextBox 1">
            <a:extLst>
              <a:ext uri="{FF2B5EF4-FFF2-40B4-BE49-F238E27FC236}">
                <a16:creationId xmlns:a16="http://schemas.microsoft.com/office/drawing/2014/main" id="{05B97469-2993-45B1-9ED5-C3A22DC8200D}"/>
              </a:ext>
            </a:extLst>
          </p:cNvPr>
          <p:cNvSpPr txBox="1"/>
          <p:nvPr/>
        </p:nvSpPr>
        <p:spPr>
          <a:xfrm>
            <a:off x="630772" y="1272209"/>
            <a:ext cx="5010150" cy="2016124"/>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a:spcBef>
                <a:spcPts val="0"/>
              </a:spcBef>
              <a:spcAft>
                <a:spcPts val="0"/>
              </a:spcAft>
            </a:pPr>
            <a:r>
              <a:rPr lang="en-US" sz="1961">
                <a:latin typeface="+mj-lt"/>
              </a:rPr>
              <a:t>Public DNS services resolve names and IP addresses for resources and services accessible over the internet such as web servers. Azure DNS is a hosting service for DNS domain that provides name resolution by using Microsoft Azure infrastructure</a:t>
            </a:r>
            <a:endParaRPr lang="en-US" sz="1800">
              <a:effectLst/>
              <a:latin typeface="+mj-lt"/>
              <a:ea typeface="Calibri" panose="020F0502020204030204" pitchFamily="34" charset="0"/>
              <a:cs typeface="Times New Roman" panose="02020603050405020304" pitchFamily="18" charset="0"/>
            </a:endParaRPr>
          </a:p>
        </p:txBody>
      </p:sp>
      <p:sp>
        <p:nvSpPr>
          <p:cNvPr id="4" name="TextBox 1">
            <a:extLst>
              <a:ext uri="{FF2B5EF4-FFF2-40B4-BE49-F238E27FC236}">
                <a16:creationId xmlns:a16="http://schemas.microsoft.com/office/drawing/2014/main" id="{04C76FD2-2DD9-47CF-BA83-2BFC11148326}"/>
              </a:ext>
            </a:extLst>
          </p:cNvPr>
          <p:cNvSpPr txBox="1"/>
          <p:nvPr/>
        </p:nvSpPr>
        <p:spPr>
          <a:xfrm>
            <a:off x="630772" y="3610596"/>
            <a:ext cx="5010150" cy="2297458"/>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a:spcBef>
                <a:spcPts val="0"/>
              </a:spcBef>
              <a:spcAft>
                <a:spcPts val="0"/>
              </a:spcAft>
            </a:pPr>
            <a:r>
              <a:rPr lang="en-US" sz="1961">
                <a:latin typeface="+mj-lt"/>
              </a:rPr>
              <a:t>In Azure DNS, you can create address records manually within relevant zones. The records most frequently used will be:</a:t>
            </a:r>
          </a:p>
          <a:p>
            <a:pPr marR="0" lvl="0">
              <a:spcBef>
                <a:spcPts val="0"/>
              </a:spcBef>
              <a:spcAft>
                <a:spcPts val="0"/>
              </a:spcAft>
            </a:pPr>
            <a:endParaRPr lang="en-US" sz="1961">
              <a:latin typeface="+mj-lt"/>
            </a:endParaRPr>
          </a:p>
          <a:p>
            <a:pPr marR="0" lvl="0">
              <a:spcBef>
                <a:spcPts val="0"/>
              </a:spcBef>
              <a:spcAft>
                <a:spcPts val="0"/>
              </a:spcAft>
            </a:pPr>
            <a:r>
              <a:rPr lang="en-US" sz="1961">
                <a:latin typeface="+mj-lt"/>
              </a:rPr>
              <a:t>• Host records: A/AAAA (IPv4/IPv6) </a:t>
            </a:r>
          </a:p>
          <a:p>
            <a:pPr marR="0" lvl="0">
              <a:spcBef>
                <a:spcPts val="0"/>
              </a:spcBef>
              <a:spcAft>
                <a:spcPts val="0"/>
              </a:spcAft>
            </a:pPr>
            <a:r>
              <a:rPr lang="en-US" sz="1961">
                <a:latin typeface="+mj-lt"/>
              </a:rPr>
              <a:t>• Alias records: CNAME </a:t>
            </a:r>
          </a:p>
        </p:txBody>
      </p:sp>
      <p:pic>
        <p:nvPicPr>
          <p:cNvPr id="5" name="Picture 4" descr="Diagram of a DNS query with response 1.2.3.4">
            <a:extLst>
              <a:ext uri="{FF2B5EF4-FFF2-40B4-BE49-F238E27FC236}">
                <a16:creationId xmlns:a16="http://schemas.microsoft.com/office/drawing/2014/main" id="{0A6AE3A1-8164-4138-890D-DF07E41178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6305" y="2280271"/>
            <a:ext cx="5536747" cy="2684057"/>
          </a:xfrm>
          <a:prstGeom prst="rect">
            <a:avLst/>
          </a:prstGeom>
        </p:spPr>
      </p:pic>
    </p:spTree>
    <p:extLst>
      <p:ext uri="{BB962C8B-B14F-4D97-AF65-F5344CB8AC3E}">
        <p14:creationId xmlns:p14="http://schemas.microsoft.com/office/powerpoint/2010/main" val="406261197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Azure DNS Zones</a:t>
            </a:r>
          </a:p>
        </p:txBody>
      </p:sp>
      <p:sp>
        <p:nvSpPr>
          <p:cNvPr id="6" name="Rectangle 5">
            <a:extLst>
              <a:ext uri="{FF2B5EF4-FFF2-40B4-BE49-F238E27FC236}">
                <a16:creationId xmlns:a16="http://schemas.microsoft.com/office/drawing/2014/main" id="{111D40A4-CDCE-4502-83DD-B2A0C6AF0218}"/>
              </a:ext>
            </a:extLst>
          </p:cNvPr>
          <p:cNvSpPr/>
          <p:nvPr/>
        </p:nvSpPr>
        <p:spPr>
          <a:xfrm>
            <a:off x="418644" y="1169264"/>
            <a:ext cx="5941705" cy="109351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A DNS zone hosts the DNS records for a domain</a:t>
            </a:r>
          </a:p>
        </p:txBody>
      </p:sp>
      <p:sp>
        <p:nvSpPr>
          <p:cNvPr id="7" name="Rectangle 6">
            <a:extLst>
              <a:ext uri="{FF2B5EF4-FFF2-40B4-BE49-F238E27FC236}">
                <a16:creationId xmlns:a16="http://schemas.microsoft.com/office/drawing/2014/main" id="{9F2BC21A-F653-455D-A4F8-33F3B5221A0A}"/>
              </a:ext>
            </a:extLst>
          </p:cNvPr>
          <p:cNvSpPr/>
          <p:nvPr/>
        </p:nvSpPr>
        <p:spPr>
          <a:xfrm>
            <a:off x="418644" y="2518532"/>
            <a:ext cx="5941705" cy="109351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lvl="0"/>
            <a:r>
              <a:rPr lang="en-US" sz="1961" dirty="0">
                <a:solidFill>
                  <a:schemeClr val="tx1"/>
                </a:solidFill>
              </a:rPr>
              <a:t>The same zone name can be reused in a different resource group or a different Azure subscription</a:t>
            </a:r>
          </a:p>
        </p:txBody>
      </p:sp>
      <p:sp>
        <p:nvSpPr>
          <p:cNvPr id="8" name="Rectangle 7">
            <a:extLst>
              <a:ext uri="{FF2B5EF4-FFF2-40B4-BE49-F238E27FC236}">
                <a16:creationId xmlns:a16="http://schemas.microsoft.com/office/drawing/2014/main" id="{27CBD683-860D-44E7-8022-C5652E1541E4}"/>
              </a:ext>
            </a:extLst>
          </p:cNvPr>
          <p:cNvSpPr/>
          <p:nvPr/>
        </p:nvSpPr>
        <p:spPr>
          <a:xfrm>
            <a:off x="418644" y="3814548"/>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lvl="0"/>
            <a:r>
              <a:rPr lang="en-US" sz="1961">
                <a:solidFill>
                  <a:schemeClr val="tx1"/>
                </a:solidFill>
              </a:rPr>
              <a:t>Where multiple zones share the same name,</a:t>
            </a:r>
            <a:br>
              <a:rPr lang="en-US" sz="1961">
                <a:solidFill>
                  <a:schemeClr val="tx1"/>
                </a:solidFill>
              </a:rPr>
            </a:br>
            <a:r>
              <a:rPr lang="en-US" sz="1961">
                <a:solidFill>
                  <a:schemeClr val="tx1"/>
                </a:solidFill>
              </a:rPr>
              <a:t>each instance is assigned different name server addresses </a:t>
            </a:r>
          </a:p>
        </p:txBody>
      </p:sp>
      <p:sp>
        <p:nvSpPr>
          <p:cNvPr id="9" name="Rectangle 8">
            <a:extLst>
              <a:ext uri="{FF2B5EF4-FFF2-40B4-BE49-F238E27FC236}">
                <a16:creationId xmlns:a16="http://schemas.microsoft.com/office/drawing/2014/main" id="{D26FFBFD-21F4-4BF6-978E-CF9A4E87B964}"/>
              </a:ext>
            </a:extLst>
          </p:cNvPr>
          <p:cNvSpPr/>
          <p:nvPr/>
        </p:nvSpPr>
        <p:spPr>
          <a:xfrm>
            <a:off x="418644" y="5217067"/>
            <a:ext cx="5941705"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lvl="0"/>
            <a:r>
              <a:rPr lang="en-US" sz="1961">
                <a:solidFill>
                  <a:schemeClr val="tx1"/>
                </a:solidFill>
              </a:rPr>
              <a:t>Root/Parent domain is registered at the registrar and pointed to Azure NS</a:t>
            </a:r>
          </a:p>
        </p:txBody>
      </p:sp>
      <p:sp>
        <p:nvSpPr>
          <p:cNvPr id="10" name="Rectangle 9">
            <a:extLst>
              <a:ext uri="{FF2B5EF4-FFF2-40B4-BE49-F238E27FC236}">
                <a16:creationId xmlns:a16="http://schemas.microsoft.com/office/drawing/2014/main" id="{64B22871-5DBC-4B5D-AD31-23B2FF3275FB}"/>
              </a:ext>
              <a:ext uri="{C183D7F6-B498-43B3-948B-1728B52AA6E4}">
                <adec:decorative xmlns:adec="http://schemas.microsoft.com/office/drawing/2017/decorative" val="1"/>
              </a:ext>
            </a:extLst>
          </p:cNvPr>
          <p:cNvSpPr/>
          <p:nvPr/>
        </p:nvSpPr>
        <p:spPr bwMode="auto">
          <a:xfrm>
            <a:off x="6509601" y="1169264"/>
            <a:ext cx="5263757"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2" name="Picture 2" descr="Screenshot of the create a DNS zone page.">
            <a:extLst>
              <a:ext uri="{FF2B5EF4-FFF2-40B4-BE49-F238E27FC236}">
                <a16:creationId xmlns:a16="http://schemas.microsoft.com/office/drawing/2014/main" id="{C7D027B3-950B-4EA2-BBD2-003C038C3C77}"/>
              </a:ext>
            </a:extLst>
          </p:cNvPr>
          <p:cNvPicPr>
            <a:picLocks noChangeAspect="1"/>
          </p:cNvPicPr>
          <p:nvPr/>
        </p:nvPicPr>
        <p:blipFill>
          <a:blip r:embed="rId3"/>
          <a:stretch>
            <a:fillRect/>
          </a:stretch>
        </p:blipFill>
        <p:spPr>
          <a:xfrm>
            <a:off x="6663861" y="1697171"/>
            <a:ext cx="4955237" cy="4192004"/>
          </a:xfrm>
          <a:prstGeom prst="rect">
            <a:avLst/>
          </a:prstGeom>
          <a:ln>
            <a:noFill/>
          </a:ln>
        </p:spPr>
      </p:pic>
    </p:spTree>
    <p:extLst>
      <p:ext uri="{BB962C8B-B14F-4D97-AF65-F5344CB8AC3E}">
        <p14:creationId xmlns:p14="http://schemas.microsoft.com/office/powerpoint/2010/main" val="1646937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DNS Delegation</a:t>
            </a:r>
          </a:p>
        </p:txBody>
      </p:sp>
      <p:sp>
        <p:nvSpPr>
          <p:cNvPr id="5" name="Rectangle 4">
            <a:extLst>
              <a:ext uri="{FF2B5EF4-FFF2-40B4-BE49-F238E27FC236}">
                <a16:creationId xmlns:a16="http://schemas.microsoft.com/office/drawing/2014/main" id="{58BD298F-AB01-4860-8ED6-178A8E01B02E}"/>
              </a:ext>
            </a:extLst>
          </p:cNvPr>
          <p:cNvSpPr/>
          <p:nvPr/>
        </p:nvSpPr>
        <p:spPr>
          <a:xfrm>
            <a:off x="418643" y="1367513"/>
            <a:ext cx="4387191" cy="202904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rPr>
              <a:t>When delegating a domain to Azure DNS, you must use the name server names provided by Azure DNS – use all four</a:t>
            </a:r>
          </a:p>
        </p:txBody>
      </p:sp>
      <p:sp>
        <p:nvSpPr>
          <p:cNvPr id="6" name="Rectangle 5">
            <a:extLst>
              <a:ext uri="{FF2B5EF4-FFF2-40B4-BE49-F238E27FC236}">
                <a16:creationId xmlns:a16="http://schemas.microsoft.com/office/drawing/2014/main" id="{086212BA-E26A-4439-B1A4-76061171CAEE}"/>
              </a:ext>
            </a:extLst>
          </p:cNvPr>
          <p:cNvSpPr/>
          <p:nvPr/>
        </p:nvSpPr>
        <p:spPr>
          <a:xfrm>
            <a:off x="418643" y="3572187"/>
            <a:ext cx="4387191" cy="116935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rPr>
              <a:t>Once the DNS zone is created, update the parent registrar</a:t>
            </a:r>
          </a:p>
        </p:txBody>
      </p:sp>
      <p:sp>
        <p:nvSpPr>
          <p:cNvPr id="7" name="Rectangle 6">
            <a:extLst>
              <a:ext uri="{FF2B5EF4-FFF2-40B4-BE49-F238E27FC236}">
                <a16:creationId xmlns:a16="http://schemas.microsoft.com/office/drawing/2014/main" id="{0D89C738-007F-489E-9E42-DA98A544923D}"/>
              </a:ext>
            </a:extLst>
          </p:cNvPr>
          <p:cNvSpPr/>
          <p:nvPr/>
        </p:nvSpPr>
        <p:spPr>
          <a:xfrm>
            <a:off x="418642" y="4973002"/>
            <a:ext cx="4387191" cy="116935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rPr>
              <a:t>For child zones, register the NS records in the parent domain</a:t>
            </a:r>
          </a:p>
        </p:txBody>
      </p:sp>
      <p:sp>
        <p:nvSpPr>
          <p:cNvPr id="8" name="Rectangle 7">
            <a:extLst>
              <a:ext uri="{FF2B5EF4-FFF2-40B4-BE49-F238E27FC236}">
                <a16:creationId xmlns:a16="http://schemas.microsoft.com/office/drawing/2014/main" id="{C5FF236C-4008-4406-9E64-4F7F293DE072}"/>
              </a:ext>
              <a:ext uri="{C183D7F6-B498-43B3-948B-1728B52AA6E4}">
                <adec:decorative xmlns:adec="http://schemas.microsoft.com/office/drawing/2017/decorative" val="1"/>
              </a:ext>
            </a:extLst>
          </p:cNvPr>
          <p:cNvSpPr/>
          <p:nvPr/>
        </p:nvSpPr>
        <p:spPr bwMode="auto">
          <a:xfrm>
            <a:off x="4958226" y="1169264"/>
            <a:ext cx="6815131"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5" name="Picture 4" descr="Screenshot of the DNS delegation page ">
            <a:extLst>
              <a:ext uri="{FF2B5EF4-FFF2-40B4-BE49-F238E27FC236}">
                <a16:creationId xmlns:a16="http://schemas.microsoft.com/office/drawing/2014/main" id="{DB447754-CEC0-408A-8C6A-548FE57BCD13}"/>
              </a:ext>
            </a:extLst>
          </p:cNvPr>
          <p:cNvPicPr>
            <a:picLocks noChangeAspect="1"/>
          </p:cNvPicPr>
          <p:nvPr/>
        </p:nvPicPr>
        <p:blipFill rotWithShape="1">
          <a:blip r:embed="rId3"/>
          <a:srcRect l="689"/>
          <a:stretch/>
        </p:blipFill>
        <p:spPr>
          <a:xfrm>
            <a:off x="5101755" y="2095899"/>
            <a:ext cx="6528071" cy="3394549"/>
          </a:xfrm>
          <a:prstGeom prst="rect">
            <a:avLst/>
          </a:prstGeom>
          <a:ln>
            <a:solidFill>
              <a:schemeClr val="accent1"/>
            </a:solidFill>
          </a:ln>
        </p:spPr>
      </p:pic>
    </p:spTree>
    <p:extLst>
      <p:ext uri="{BB962C8B-B14F-4D97-AF65-F5344CB8AC3E}">
        <p14:creationId xmlns:p14="http://schemas.microsoft.com/office/powerpoint/2010/main" val="413857470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645B-1F5B-40E4-9CB7-9CFBFB74CC3E}"/>
              </a:ext>
            </a:extLst>
          </p:cNvPr>
          <p:cNvSpPr>
            <a:spLocks noGrp="1"/>
          </p:cNvSpPr>
          <p:nvPr>
            <p:ph type="title"/>
          </p:nvPr>
        </p:nvSpPr>
        <p:spPr/>
        <p:txBody>
          <a:bodyPr/>
          <a:lstStyle/>
          <a:p>
            <a:r>
              <a:rPr lang="en-US"/>
              <a:t>DNS Record Sets</a:t>
            </a:r>
          </a:p>
        </p:txBody>
      </p:sp>
      <p:sp>
        <p:nvSpPr>
          <p:cNvPr id="6" name="Rectangle 5">
            <a:extLst>
              <a:ext uri="{FF2B5EF4-FFF2-40B4-BE49-F238E27FC236}">
                <a16:creationId xmlns:a16="http://schemas.microsoft.com/office/drawing/2014/main" id="{3B89F5B3-2EAD-4087-A90C-ACBE16507C36}"/>
              </a:ext>
            </a:extLst>
          </p:cNvPr>
          <p:cNvSpPr/>
          <p:nvPr/>
        </p:nvSpPr>
        <p:spPr>
          <a:xfrm>
            <a:off x="418644" y="1243967"/>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A record set is a collection of records in a zone</a:t>
            </a:r>
            <a:br>
              <a:rPr lang="en-US" sz="1961" dirty="0">
                <a:solidFill>
                  <a:schemeClr val="tx1"/>
                </a:solidFill>
              </a:rPr>
            </a:br>
            <a:r>
              <a:rPr lang="en-US" sz="1961" dirty="0">
                <a:solidFill>
                  <a:schemeClr val="tx1"/>
                </a:solidFill>
              </a:rPr>
              <a:t>that have the same name and are the same type</a:t>
            </a:r>
          </a:p>
        </p:txBody>
      </p:sp>
      <p:sp>
        <p:nvSpPr>
          <p:cNvPr id="7" name="Rectangle 6">
            <a:extLst>
              <a:ext uri="{FF2B5EF4-FFF2-40B4-BE49-F238E27FC236}">
                <a16:creationId xmlns:a16="http://schemas.microsoft.com/office/drawing/2014/main" id="{1A8F5EB3-7559-41FD-BE7E-51EAEC5E2347}"/>
              </a:ext>
            </a:extLst>
          </p:cNvPr>
          <p:cNvSpPr/>
          <p:nvPr/>
        </p:nvSpPr>
        <p:spPr>
          <a:xfrm>
            <a:off x="418642" y="2577907"/>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Azure DNS supports all common DNS record types: A, AAAA, CAA, CNAME, MX, NS, PTR, SOA, SRV, and TXT</a:t>
            </a:r>
          </a:p>
        </p:txBody>
      </p:sp>
      <p:sp>
        <p:nvSpPr>
          <p:cNvPr id="8" name="Rectangle 7">
            <a:extLst>
              <a:ext uri="{FF2B5EF4-FFF2-40B4-BE49-F238E27FC236}">
                <a16:creationId xmlns:a16="http://schemas.microsoft.com/office/drawing/2014/main" id="{FBF7CB7B-A00C-4793-9F03-0947683312C7}"/>
              </a:ext>
            </a:extLst>
          </p:cNvPr>
          <p:cNvSpPr/>
          <p:nvPr/>
        </p:nvSpPr>
        <p:spPr>
          <a:xfrm>
            <a:off x="418644" y="3942502"/>
            <a:ext cx="5941705"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A record set cannot contain two identical records</a:t>
            </a:r>
          </a:p>
        </p:txBody>
      </p:sp>
      <p:sp>
        <p:nvSpPr>
          <p:cNvPr id="9" name="Rectangle 8">
            <a:extLst>
              <a:ext uri="{FF2B5EF4-FFF2-40B4-BE49-F238E27FC236}">
                <a16:creationId xmlns:a16="http://schemas.microsoft.com/office/drawing/2014/main" id="{3C547279-6EB0-471D-8394-8DD45F5723F1}"/>
              </a:ext>
            </a:extLst>
          </p:cNvPr>
          <p:cNvSpPr/>
          <p:nvPr/>
        </p:nvSpPr>
        <p:spPr>
          <a:xfrm>
            <a:off x="418643" y="5127190"/>
            <a:ext cx="5941705"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Changing the drop-down Type, changes the information required</a:t>
            </a:r>
          </a:p>
        </p:txBody>
      </p:sp>
      <p:sp>
        <p:nvSpPr>
          <p:cNvPr id="10" name="Rectangle 9">
            <a:extLst>
              <a:ext uri="{FF2B5EF4-FFF2-40B4-BE49-F238E27FC236}">
                <a16:creationId xmlns:a16="http://schemas.microsoft.com/office/drawing/2014/main" id="{8EF1767E-CEE5-4EC7-A214-8898BBE9F7F1}"/>
              </a:ext>
              <a:ext uri="{C183D7F6-B498-43B3-948B-1728B52AA6E4}">
                <adec:decorative xmlns:adec="http://schemas.microsoft.com/office/drawing/2017/decorative" val="1"/>
              </a:ext>
            </a:extLst>
          </p:cNvPr>
          <p:cNvSpPr/>
          <p:nvPr/>
        </p:nvSpPr>
        <p:spPr bwMode="auto">
          <a:xfrm>
            <a:off x="6509601" y="1169264"/>
            <a:ext cx="5263757"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2" name="Picture 5" descr="Screenshot of the DNS add record set page">
            <a:extLst>
              <a:ext uri="{FF2B5EF4-FFF2-40B4-BE49-F238E27FC236}">
                <a16:creationId xmlns:a16="http://schemas.microsoft.com/office/drawing/2014/main" id="{45DA052F-07DE-41A5-80BA-EEE72293D086}"/>
              </a:ext>
            </a:extLst>
          </p:cNvPr>
          <p:cNvPicPr>
            <a:picLocks noChangeAspect="1"/>
          </p:cNvPicPr>
          <p:nvPr/>
        </p:nvPicPr>
        <p:blipFill>
          <a:blip r:embed="rId3"/>
          <a:stretch>
            <a:fillRect/>
          </a:stretch>
        </p:blipFill>
        <p:spPr>
          <a:xfrm>
            <a:off x="6650813" y="1379834"/>
            <a:ext cx="4981334" cy="4646769"/>
          </a:xfrm>
          <a:prstGeom prst="rect">
            <a:avLst/>
          </a:prstGeom>
          <a:ln>
            <a:solidFill>
              <a:schemeClr val="accent1"/>
            </a:solidFill>
          </a:ln>
        </p:spPr>
      </p:pic>
    </p:spTree>
    <p:extLst>
      <p:ext uri="{BB962C8B-B14F-4D97-AF65-F5344CB8AC3E}">
        <p14:creationId xmlns:p14="http://schemas.microsoft.com/office/powerpoint/2010/main" val="83334419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05605-C6B8-454F-991A-3BC0214DCFD8}"/>
              </a:ext>
            </a:extLst>
          </p:cNvPr>
          <p:cNvSpPr>
            <a:spLocks noGrp="1"/>
          </p:cNvSpPr>
          <p:nvPr>
            <p:ph type="title"/>
          </p:nvPr>
        </p:nvSpPr>
        <p:spPr/>
        <p:txBody>
          <a:bodyPr/>
          <a:lstStyle/>
          <a:p>
            <a:r>
              <a:rPr lang="en-US"/>
              <a:t>DNS for Private Domains</a:t>
            </a:r>
          </a:p>
        </p:txBody>
      </p:sp>
      <p:sp>
        <p:nvSpPr>
          <p:cNvPr id="6" name="Rectangle 5">
            <a:extLst>
              <a:ext uri="{FF2B5EF4-FFF2-40B4-BE49-F238E27FC236}">
                <a16:creationId xmlns:a16="http://schemas.microsoft.com/office/drawing/2014/main" id="{67D5AC58-F991-4756-8794-CDE81F028AED}"/>
              </a:ext>
            </a:extLst>
          </p:cNvPr>
          <p:cNvSpPr/>
          <p:nvPr/>
        </p:nvSpPr>
        <p:spPr>
          <a:xfrm>
            <a:off x="418643" y="1234627"/>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Use your own custom domain names</a:t>
            </a:r>
          </a:p>
        </p:txBody>
      </p:sp>
      <p:sp>
        <p:nvSpPr>
          <p:cNvPr id="7" name="Rectangle 6">
            <a:extLst>
              <a:ext uri="{FF2B5EF4-FFF2-40B4-BE49-F238E27FC236}">
                <a16:creationId xmlns:a16="http://schemas.microsoft.com/office/drawing/2014/main" id="{170C0A56-8C2F-4300-B930-33863DBE10F0}"/>
              </a:ext>
            </a:extLst>
          </p:cNvPr>
          <p:cNvSpPr/>
          <p:nvPr/>
        </p:nvSpPr>
        <p:spPr>
          <a:xfrm>
            <a:off x="418643" y="2116402"/>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Provides name resolution for VMs within a VNet and between VNets</a:t>
            </a:r>
          </a:p>
        </p:txBody>
      </p:sp>
      <p:sp>
        <p:nvSpPr>
          <p:cNvPr id="8" name="Rectangle 7">
            <a:extLst>
              <a:ext uri="{FF2B5EF4-FFF2-40B4-BE49-F238E27FC236}">
                <a16:creationId xmlns:a16="http://schemas.microsoft.com/office/drawing/2014/main" id="{E8B17EA4-0C54-4678-B61D-65C317343D2A}"/>
              </a:ext>
            </a:extLst>
          </p:cNvPr>
          <p:cNvSpPr/>
          <p:nvPr/>
        </p:nvSpPr>
        <p:spPr>
          <a:xfrm>
            <a:off x="418642" y="2970864"/>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Automatic hostname record management</a:t>
            </a:r>
          </a:p>
        </p:txBody>
      </p:sp>
      <p:sp>
        <p:nvSpPr>
          <p:cNvPr id="9" name="Rectangle 8">
            <a:extLst>
              <a:ext uri="{FF2B5EF4-FFF2-40B4-BE49-F238E27FC236}">
                <a16:creationId xmlns:a16="http://schemas.microsoft.com/office/drawing/2014/main" id="{FB38BDD8-E9B1-4C07-92CE-3277B448388F}"/>
              </a:ext>
            </a:extLst>
          </p:cNvPr>
          <p:cNvSpPr/>
          <p:nvPr/>
        </p:nvSpPr>
        <p:spPr>
          <a:xfrm>
            <a:off x="418641" y="3871528"/>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Removes the need for custom DNS solutions</a:t>
            </a:r>
          </a:p>
        </p:txBody>
      </p:sp>
      <p:sp>
        <p:nvSpPr>
          <p:cNvPr id="10" name="Rectangle 9">
            <a:extLst>
              <a:ext uri="{FF2B5EF4-FFF2-40B4-BE49-F238E27FC236}">
                <a16:creationId xmlns:a16="http://schemas.microsoft.com/office/drawing/2014/main" id="{5820BD39-A552-4685-BBF0-15F6427064BE}"/>
              </a:ext>
            </a:extLst>
          </p:cNvPr>
          <p:cNvSpPr/>
          <p:nvPr/>
        </p:nvSpPr>
        <p:spPr>
          <a:xfrm>
            <a:off x="418640" y="4762699"/>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Use all common DNS records types</a:t>
            </a:r>
          </a:p>
        </p:txBody>
      </p:sp>
      <p:sp>
        <p:nvSpPr>
          <p:cNvPr id="11" name="Rectangle 10">
            <a:extLst>
              <a:ext uri="{FF2B5EF4-FFF2-40B4-BE49-F238E27FC236}">
                <a16:creationId xmlns:a16="http://schemas.microsoft.com/office/drawing/2014/main" id="{67147CD7-AA56-469B-A01E-4F084552EBED}"/>
              </a:ext>
            </a:extLst>
          </p:cNvPr>
          <p:cNvSpPr/>
          <p:nvPr/>
        </p:nvSpPr>
        <p:spPr>
          <a:xfrm>
            <a:off x="418639" y="5637392"/>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Available in all Azure regions</a:t>
            </a:r>
          </a:p>
        </p:txBody>
      </p:sp>
      <p:sp>
        <p:nvSpPr>
          <p:cNvPr id="12" name="Rectangle 11">
            <a:extLst>
              <a:ext uri="{FF2B5EF4-FFF2-40B4-BE49-F238E27FC236}">
                <a16:creationId xmlns:a16="http://schemas.microsoft.com/office/drawing/2014/main" id="{53CD122C-9FDA-49D1-873B-3E7D0CB6AB2B}"/>
              </a:ext>
              <a:ext uri="{C183D7F6-B498-43B3-948B-1728B52AA6E4}">
                <adec:decorative xmlns:adec="http://schemas.microsoft.com/office/drawing/2017/decorative" val="1"/>
              </a:ext>
            </a:extLst>
          </p:cNvPr>
          <p:cNvSpPr/>
          <p:nvPr/>
        </p:nvSpPr>
        <p:spPr bwMode="auto">
          <a:xfrm>
            <a:off x="5254047" y="1169264"/>
            <a:ext cx="6519311"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4" name="Picture 13" descr="Diagram showing a VM requesting and receiving a local IP address from Azure DNS. The IP address is used to communicate with another VM in the same virtual network">
            <a:extLst>
              <a:ext uri="{FF2B5EF4-FFF2-40B4-BE49-F238E27FC236}">
                <a16:creationId xmlns:a16="http://schemas.microsoft.com/office/drawing/2014/main" id="{89686DF1-29F0-4F33-9E62-1702BDE021FD}"/>
              </a:ext>
            </a:extLst>
          </p:cNvPr>
          <p:cNvPicPr>
            <a:picLocks noChangeAspect="1"/>
          </p:cNvPicPr>
          <p:nvPr/>
        </p:nvPicPr>
        <p:blipFill>
          <a:blip r:embed="rId3"/>
          <a:stretch>
            <a:fillRect/>
          </a:stretch>
        </p:blipFill>
        <p:spPr>
          <a:xfrm>
            <a:off x="5461034" y="1942741"/>
            <a:ext cx="6105337" cy="3700864"/>
          </a:xfrm>
          <a:prstGeom prst="rect">
            <a:avLst/>
          </a:prstGeom>
        </p:spPr>
      </p:pic>
      <p:sp>
        <p:nvSpPr>
          <p:cNvPr id="3" name="TextBox 2">
            <a:extLst>
              <a:ext uri="{FF2B5EF4-FFF2-40B4-BE49-F238E27FC236}">
                <a16:creationId xmlns:a16="http://schemas.microsoft.com/office/drawing/2014/main" id="{4ECCB4F4-ED96-422F-891F-A5BD1F09A920}"/>
              </a:ext>
            </a:extLst>
          </p:cNvPr>
          <p:cNvSpPr txBox="1"/>
          <p:nvPr/>
        </p:nvSpPr>
        <p:spPr>
          <a:xfrm>
            <a:off x="8013822" y="2434849"/>
            <a:ext cx="1836050" cy="389227"/>
          </a:xfrm>
          <a:prstGeom prst="rect">
            <a:avLst/>
          </a:prstGeom>
          <a:solidFill>
            <a:schemeClr val="bg1"/>
          </a:solidFill>
        </p:spPr>
        <p:txBody>
          <a:bodyPr wrap="square" lIns="179285" tIns="143428" rIns="179285" bIns="0" rtlCol="0" anchor="t">
            <a:spAutoFit/>
          </a:bodyPr>
          <a:lstStyle/>
          <a:p>
            <a:pPr>
              <a:lnSpc>
                <a:spcPct val="90000"/>
              </a:lnSpc>
            </a:pPr>
            <a:r>
              <a:rPr lang="en-US" sz="1765">
                <a:gradFill>
                  <a:gsLst>
                    <a:gs pos="2917">
                      <a:schemeClr val="tx1"/>
                    </a:gs>
                    <a:gs pos="30000">
                      <a:schemeClr val="tx1"/>
                    </a:gs>
                  </a:gsLst>
                  <a:lin ang="5400000" scaled="0"/>
                </a:gradFill>
              </a:rPr>
              <a:t>db.contoso.lab</a:t>
            </a:r>
          </a:p>
        </p:txBody>
      </p:sp>
    </p:spTree>
    <p:extLst>
      <p:ext uri="{BB962C8B-B14F-4D97-AF65-F5344CB8AC3E}">
        <p14:creationId xmlns:p14="http://schemas.microsoft.com/office/powerpoint/2010/main" val="84453254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Private Zone Scenarios</a:t>
            </a:r>
          </a:p>
        </p:txBody>
      </p:sp>
      <p:sp>
        <p:nvSpPr>
          <p:cNvPr id="10" name="Rectangle 9">
            <a:extLst>
              <a:ext uri="{FF2B5EF4-FFF2-40B4-BE49-F238E27FC236}">
                <a16:creationId xmlns:a16="http://schemas.microsoft.com/office/drawing/2014/main" id="{BDBC60E2-3A4A-447B-A89E-7071B31A46BF}"/>
              </a:ext>
            </a:extLst>
          </p:cNvPr>
          <p:cNvSpPr/>
          <p:nvPr/>
        </p:nvSpPr>
        <p:spPr>
          <a:xfrm>
            <a:off x="6345448" y="5080227"/>
            <a:ext cx="5347655" cy="11569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400" dirty="0">
                <a:solidFill>
                  <a:schemeClr val="tx1"/>
                </a:solidFill>
              </a:rPr>
              <a:t>DNS resolution in VNet1 is private and not accessible from the Internet</a:t>
            </a:r>
          </a:p>
        </p:txBody>
      </p:sp>
      <p:sp>
        <p:nvSpPr>
          <p:cNvPr id="11" name="Rectangle 10">
            <a:extLst>
              <a:ext uri="{FF2B5EF4-FFF2-40B4-BE49-F238E27FC236}">
                <a16:creationId xmlns:a16="http://schemas.microsoft.com/office/drawing/2014/main" id="{3D61C7A2-DF9B-4989-B89D-E0C693E86E99}"/>
              </a:ext>
            </a:extLst>
          </p:cNvPr>
          <p:cNvSpPr/>
          <p:nvPr/>
        </p:nvSpPr>
        <p:spPr>
          <a:xfrm>
            <a:off x="498897" y="5080227"/>
            <a:ext cx="5347654" cy="11569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400" dirty="0">
                <a:solidFill>
                  <a:schemeClr val="tx1"/>
                </a:solidFill>
              </a:rPr>
              <a:t>DNS queries across the linked virtual networks are resolved</a:t>
            </a:r>
          </a:p>
        </p:txBody>
      </p:sp>
      <p:pic>
        <p:nvPicPr>
          <p:cNvPr id="4" name="Picture 3" descr="Diagram showing VNet1 as the registration VNet and VNet1 as the resolution VNet. Azure DNS is providing private zone records for the two VNets">
            <a:extLst>
              <a:ext uri="{FF2B5EF4-FFF2-40B4-BE49-F238E27FC236}">
                <a16:creationId xmlns:a16="http://schemas.microsoft.com/office/drawing/2014/main" id="{935BAE4E-AA1C-468A-B45C-8A506CCA7A32}"/>
              </a:ext>
            </a:extLst>
          </p:cNvPr>
          <p:cNvPicPr>
            <a:picLocks noChangeAspect="1"/>
          </p:cNvPicPr>
          <p:nvPr/>
        </p:nvPicPr>
        <p:blipFill>
          <a:blip r:embed="rId3"/>
          <a:stretch>
            <a:fillRect/>
          </a:stretch>
        </p:blipFill>
        <p:spPr>
          <a:xfrm>
            <a:off x="1525168" y="1468071"/>
            <a:ext cx="8768155" cy="3324242"/>
          </a:xfrm>
          <a:prstGeom prst="rect">
            <a:avLst/>
          </a:prstGeom>
        </p:spPr>
      </p:pic>
      <p:sp>
        <p:nvSpPr>
          <p:cNvPr id="2" name="TextBox 1">
            <a:extLst>
              <a:ext uri="{FF2B5EF4-FFF2-40B4-BE49-F238E27FC236}">
                <a16:creationId xmlns:a16="http://schemas.microsoft.com/office/drawing/2014/main" id="{670C77B2-7AD0-4541-A19F-454B1D4A828E}"/>
              </a:ext>
              <a:ext uri="{C183D7F6-B498-43B3-948B-1728B52AA6E4}">
                <adec:decorative xmlns:adec="http://schemas.microsoft.com/office/drawing/2017/decorative" val="1"/>
              </a:ext>
            </a:extLst>
          </p:cNvPr>
          <p:cNvSpPr txBox="1"/>
          <p:nvPr/>
        </p:nvSpPr>
        <p:spPr>
          <a:xfrm>
            <a:off x="3693704" y="1813680"/>
            <a:ext cx="2905279" cy="534056"/>
          </a:xfrm>
          <a:prstGeom prst="rect">
            <a:avLst/>
          </a:prstGeom>
          <a:solidFill>
            <a:schemeClr val="bg1"/>
          </a:solidFill>
        </p:spPr>
        <p:txBody>
          <a:bodyPr wrap="square" lIns="179285" tIns="143428" rIns="179285" bIns="143428" rtlCol="0">
            <a:spAutoFit/>
          </a:bodyPr>
          <a:lstStyle/>
          <a:p>
            <a:pPr>
              <a:lnSpc>
                <a:spcPct val="90000"/>
              </a:lnSpc>
              <a:spcAft>
                <a:spcPts val="588"/>
              </a:spcAft>
            </a:pPr>
            <a:r>
              <a:rPr lang="en-US" sz="1765">
                <a:gradFill>
                  <a:gsLst>
                    <a:gs pos="2917">
                      <a:schemeClr val="tx1"/>
                    </a:gs>
                    <a:gs pos="30000">
                      <a:schemeClr val="tx1"/>
                    </a:gs>
                  </a:gsLst>
                  <a:lin ang="5400000" scaled="0"/>
                </a:gradFill>
                <a:latin typeface="+mj-lt"/>
              </a:rPr>
              <a:t>Query:VM2.contoso.lab</a:t>
            </a:r>
          </a:p>
        </p:txBody>
      </p:sp>
      <p:sp>
        <p:nvSpPr>
          <p:cNvPr id="3" name="TextBox 2">
            <a:extLst>
              <a:ext uri="{FF2B5EF4-FFF2-40B4-BE49-F238E27FC236}">
                <a16:creationId xmlns:a16="http://schemas.microsoft.com/office/drawing/2014/main" id="{5B2E5544-067D-4F61-A773-5373CDF13BCA}"/>
              </a:ext>
              <a:ext uri="{C183D7F6-B498-43B3-948B-1728B52AA6E4}">
                <adec:decorative xmlns:adec="http://schemas.microsoft.com/office/drawing/2017/decorative" val="1"/>
              </a:ext>
            </a:extLst>
          </p:cNvPr>
          <p:cNvSpPr txBox="1"/>
          <p:nvPr/>
        </p:nvSpPr>
        <p:spPr>
          <a:xfrm>
            <a:off x="3645103" y="3786788"/>
            <a:ext cx="3002481" cy="534056"/>
          </a:xfrm>
          <a:prstGeom prst="rect">
            <a:avLst/>
          </a:prstGeom>
          <a:solidFill>
            <a:schemeClr val="bg1"/>
          </a:solidFill>
        </p:spPr>
        <p:txBody>
          <a:bodyPr wrap="square" lIns="179285" tIns="143428" rIns="179285" bIns="143428" rtlCol="0">
            <a:spAutoFit/>
          </a:bodyPr>
          <a:lstStyle/>
          <a:p>
            <a:pPr>
              <a:lnSpc>
                <a:spcPct val="90000"/>
              </a:lnSpc>
              <a:spcAft>
                <a:spcPts val="588"/>
              </a:spcAft>
            </a:pPr>
            <a:r>
              <a:rPr lang="en-US" sz="1667" dirty="0">
                <a:gradFill>
                  <a:gsLst>
                    <a:gs pos="2917">
                      <a:schemeClr val="tx1"/>
                    </a:gs>
                    <a:gs pos="30000">
                      <a:schemeClr val="tx1"/>
                    </a:gs>
                  </a:gsLst>
                  <a:lin ang="5400000" scaled="0"/>
                </a:gradFill>
                <a:latin typeface="+mj-lt"/>
              </a:rPr>
              <a:t>Response:VM1.contoso.lab</a:t>
            </a:r>
          </a:p>
        </p:txBody>
      </p:sp>
      <p:sp>
        <p:nvSpPr>
          <p:cNvPr id="9" name="Rectangle 8">
            <a:extLst>
              <a:ext uri="{FF2B5EF4-FFF2-40B4-BE49-F238E27FC236}">
                <a16:creationId xmlns:a16="http://schemas.microsoft.com/office/drawing/2014/main" id="{37BF4DCE-1101-49E3-A95B-2706778F906C}"/>
              </a:ext>
              <a:ext uri="{C183D7F6-B498-43B3-948B-1728B52AA6E4}">
                <adec:decorative xmlns:adec="http://schemas.microsoft.com/office/drawing/2017/decorative" val="1"/>
              </a:ext>
            </a:extLst>
          </p:cNvPr>
          <p:cNvSpPr/>
          <p:nvPr/>
        </p:nvSpPr>
        <p:spPr bwMode="auto">
          <a:xfrm>
            <a:off x="418644" y="1169263"/>
            <a:ext cx="11354714" cy="376867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83589415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FA4BB4-C1F7-40DA-A70A-8531191C3164}"/>
              </a:ext>
            </a:extLst>
          </p:cNvPr>
          <p:cNvSpPr>
            <a:spLocks noGrp="1"/>
          </p:cNvSpPr>
          <p:nvPr>
            <p:ph type="title"/>
          </p:nvPr>
        </p:nvSpPr>
        <p:spPr>
          <a:xfrm>
            <a:off x="424090" y="267324"/>
            <a:ext cx="11343820" cy="795089"/>
          </a:xfrm>
        </p:spPr>
        <p:txBody>
          <a:bodyPr/>
          <a:lstStyle/>
          <a:p>
            <a:r>
              <a:rPr lang="en-US" dirty="0"/>
              <a:t>Significance of IP address 168.63.129.16 </a:t>
            </a:r>
            <a:br>
              <a:rPr lang="en-US" dirty="0"/>
            </a:br>
            <a:endParaRPr lang="en-US" dirty="0"/>
          </a:p>
        </p:txBody>
      </p:sp>
      <p:sp>
        <p:nvSpPr>
          <p:cNvPr id="2" name="Rectangle 1">
            <a:extLst>
              <a:ext uri="{FF2B5EF4-FFF2-40B4-BE49-F238E27FC236}">
                <a16:creationId xmlns:a16="http://schemas.microsoft.com/office/drawing/2014/main" id="{177BB4D8-8AD1-41AC-893D-2FA5D40A8B9B}"/>
              </a:ext>
            </a:extLst>
          </p:cNvPr>
          <p:cNvSpPr/>
          <p:nvPr/>
        </p:nvSpPr>
        <p:spPr>
          <a:xfrm>
            <a:off x="418644" y="1280513"/>
            <a:ext cx="8888194" cy="79508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the VM Agent to communicate with the Azure platform to signal that it is in a "Ready" state</a:t>
            </a:r>
            <a:endParaRPr lang="en-US" sz="1961" dirty="0">
              <a:solidFill>
                <a:schemeClr val="tx1"/>
              </a:solidFill>
            </a:endParaRPr>
          </a:p>
        </p:txBody>
      </p:sp>
      <p:sp>
        <p:nvSpPr>
          <p:cNvPr id="7" name="Rectangle 6">
            <a:extLst>
              <a:ext uri="{FF2B5EF4-FFF2-40B4-BE49-F238E27FC236}">
                <a16:creationId xmlns:a16="http://schemas.microsoft.com/office/drawing/2014/main" id="{4C659329-AFF4-4C79-B408-C7589AD9EEF7}"/>
              </a:ext>
            </a:extLst>
          </p:cNvPr>
          <p:cNvSpPr/>
          <p:nvPr/>
        </p:nvSpPr>
        <p:spPr>
          <a:xfrm>
            <a:off x="418644" y="2259614"/>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communication with the DNS virtual server to provide filtered name resolution to the resources (such as VM) that do not have a custom DNS server. </a:t>
            </a:r>
          </a:p>
        </p:txBody>
      </p:sp>
      <p:sp>
        <p:nvSpPr>
          <p:cNvPr id="9" name="Rectangle 8">
            <a:extLst>
              <a:ext uri="{FF2B5EF4-FFF2-40B4-BE49-F238E27FC236}">
                <a16:creationId xmlns:a16="http://schemas.microsoft.com/office/drawing/2014/main" id="{1547D159-7202-4670-BE4F-0DEE4F046A0E}"/>
              </a:ext>
            </a:extLst>
          </p:cNvPr>
          <p:cNvSpPr/>
          <p:nvPr/>
        </p:nvSpPr>
        <p:spPr>
          <a:xfrm>
            <a:off x="418644" y="3238715"/>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health probes from Azure load balancer to determine the health state of VMs</a:t>
            </a:r>
          </a:p>
        </p:txBody>
      </p:sp>
      <p:sp>
        <p:nvSpPr>
          <p:cNvPr id="11" name="Rectangle 10">
            <a:extLst>
              <a:ext uri="{FF2B5EF4-FFF2-40B4-BE49-F238E27FC236}">
                <a16:creationId xmlns:a16="http://schemas.microsoft.com/office/drawing/2014/main" id="{5BFF8341-045B-438C-BEF6-B2475AC50F48}"/>
              </a:ext>
            </a:extLst>
          </p:cNvPr>
          <p:cNvSpPr/>
          <p:nvPr/>
        </p:nvSpPr>
        <p:spPr>
          <a:xfrm>
            <a:off x="418644" y="4217816"/>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the VM to obtain a dynamic IP address from the DHCP service in Azure</a:t>
            </a:r>
          </a:p>
        </p:txBody>
      </p:sp>
      <p:sp>
        <p:nvSpPr>
          <p:cNvPr id="13" name="Rectangle 12">
            <a:extLst>
              <a:ext uri="{FF2B5EF4-FFF2-40B4-BE49-F238E27FC236}">
                <a16:creationId xmlns:a16="http://schemas.microsoft.com/office/drawing/2014/main" id="{FB267F36-99DB-49FC-B727-0917F2FD0DA2}"/>
              </a:ext>
            </a:extLst>
          </p:cNvPr>
          <p:cNvSpPr/>
          <p:nvPr/>
        </p:nvSpPr>
        <p:spPr>
          <a:xfrm>
            <a:off x="418644" y="5196917"/>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Guest Agent heartbeat messages for the PaaS role</a:t>
            </a:r>
          </a:p>
        </p:txBody>
      </p:sp>
    </p:spTree>
    <p:extLst>
      <p:ext uri="{BB962C8B-B14F-4D97-AF65-F5344CB8AC3E}">
        <p14:creationId xmlns:p14="http://schemas.microsoft.com/office/powerpoint/2010/main" val="95054146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1961-EF07-4B34-A4F5-A97D1136528C}"/>
              </a:ext>
            </a:extLst>
          </p:cNvPr>
          <p:cNvSpPr>
            <a:spLocks noGrp="1"/>
          </p:cNvSpPr>
          <p:nvPr>
            <p:ph type="title"/>
          </p:nvPr>
        </p:nvSpPr>
        <p:spPr/>
        <p:txBody>
          <a:bodyPr/>
          <a:lstStyle/>
          <a:p>
            <a:r>
              <a:rPr lang="en-US" dirty="0"/>
              <a:t>Demonstration – DNS Name Resolution</a:t>
            </a:r>
          </a:p>
        </p:txBody>
      </p:sp>
      <p:pic>
        <p:nvPicPr>
          <p:cNvPr id="81" name="Picture 80" descr="Icon of a screen with dots">
            <a:extLst>
              <a:ext uri="{FF2B5EF4-FFF2-40B4-BE49-F238E27FC236}">
                <a16:creationId xmlns:a16="http://schemas.microsoft.com/office/drawing/2014/main" id="{FEF0B869-33ED-4BAB-AED6-7D74855B8493}"/>
              </a:ext>
            </a:extLst>
          </p:cNvPr>
          <p:cNvPicPr>
            <a:picLocks noChangeAspect="1"/>
          </p:cNvPicPr>
          <p:nvPr/>
        </p:nvPicPr>
        <p:blipFill>
          <a:blip r:embed="rId3"/>
          <a:stretch>
            <a:fillRect/>
          </a:stretch>
        </p:blipFill>
        <p:spPr>
          <a:xfrm>
            <a:off x="440209" y="1169264"/>
            <a:ext cx="742539" cy="742539"/>
          </a:xfrm>
          <a:prstGeom prst="rect">
            <a:avLst/>
          </a:prstGeom>
        </p:spPr>
      </p:pic>
      <p:sp>
        <p:nvSpPr>
          <p:cNvPr id="4" name="Rectangle 3">
            <a:extLst>
              <a:ext uri="{FF2B5EF4-FFF2-40B4-BE49-F238E27FC236}">
                <a16:creationId xmlns:a16="http://schemas.microsoft.com/office/drawing/2014/main" id="{FD8F5AEC-22B3-4DBE-98F3-D9571EB06369}"/>
              </a:ext>
            </a:extLst>
          </p:cNvPr>
          <p:cNvSpPr/>
          <p:nvPr/>
        </p:nvSpPr>
        <p:spPr>
          <a:xfrm>
            <a:off x="1394439" y="1169264"/>
            <a:ext cx="10383587" cy="7497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defTabSz="1002210">
              <a:spcBef>
                <a:spcPct val="0"/>
              </a:spcBef>
              <a:spcAft>
                <a:spcPct val="35000"/>
              </a:spcAft>
            </a:pPr>
            <a:r>
              <a:rPr lang="en-US" sz="2255">
                <a:solidFill>
                  <a:schemeClr val="tx1"/>
                </a:solidFill>
              </a:rPr>
              <a:t>Create a DNS zone</a:t>
            </a:r>
          </a:p>
        </p:txBody>
      </p:sp>
      <p:cxnSp>
        <p:nvCxnSpPr>
          <p:cNvPr id="19" name="Straight Connector 18">
            <a:extLst>
              <a:ext uri="{FF2B5EF4-FFF2-40B4-BE49-F238E27FC236}">
                <a16:creationId xmlns:a16="http://schemas.microsoft.com/office/drawing/2014/main" id="{7109E79C-1E8C-4349-9E98-0FA3E4D3B421}"/>
              </a:ext>
              <a:ext uri="{C183D7F6-B498-43B3-948B-1728B52AA6E4}">
                <adec:decorative xmlns:adec="http://schemas.microsoft.com/office/drawing/2017/decorative" val="1"/>
              </a:ext>
            </a:extLst>
          </p:cNvPr>
          <p:cNvCxnSpPr>
            <a:cxnSpLocks/>
          </p:cNvCxnSpPr>
          <p:nvPr/>
        </p:nvCxnSpPr>
        <p:spPr>
          <a:xfrm>
            <a:off x="1406889" y="1984443"/>
            <a:ext cx="10313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0" name="Picture 79" descr="Icon of three dots and outward pointing chevrons on left and right">
            <a:extLst>
              <a:ext uri="{FF2B5EF4-FFF2-40B4-BE49-F238E27FC236}">
                <a16:creationId xmlns:a16="http://schemas.microsoft.com/office/drawing/2014/main" id="{CD791A94-E914-49F4-8727-EE6E85578DA7}"/>
              </a:ext>
            </a:extLst>
          </p:cNvPr>
          <p:cNvPicPr>
            <a:picLocks noChangeAspect="1"/>
          </p:cNvPicPr>
          <p:nvPr/>
        </p:nvPicPr>
        <p:blipFill>
          <a:blip r:embed="rId4"/>
          <a:stretch>
            <a:fillRect/>
          </a:stretch>
        </p:blipFill>
        <p:spPr>
          <a:xfrm>
            <a:off x="440209" y="2069424"/>
            <a:ext cx="742539" cy="742539"/>
          </a:xfrm>
          <a:prstGeom prst="rect">
            <a:avLst/>
          </a:prstGeom>
        </p:spPr>
      </p:pic>
      <p:sp>
        <p:nvSpPr>
          <p:cNvPr id="5" name="Rectangle 4">
            <a:extLst>
              <a:ext uri="{FF2B5EF4-FFF2-40B4-BE49-F238E27FC236}">
                <a16:creationId xmlns:a16="http://schemas.microsoft.com/office/drawing/2014/main" id="{C9569FD9-77B8-47EB-9311-040EB4C5673C}"/>
              </a:ext>
            </a:extLst>
          </p:cNvPr>
          <p:cNvSpPr/>
          <p:nvPr/>
        </p:nvSpPr>
        <p:spPr>
          <a:xfrm>
            <a:off x="1394372" y="2068870"/>
            <a:ext cx="10378986" cy="7497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defTabSz="1002210">
              <a:spcBef>
                <a:spcPct val="0"/>
              </a:spcBef>
              <a:spcAft>
                <a:spcPct val="35000"/>
              </a:spcAft>
            </a:pPr>
            <a:r>
              <a:rPr lang="en-US" sz="2255">
                <a:solidFill>
                  <a:schemeClr val="tx1"/>
                </a:solidFill>
              </a:rPr>
              <a:t>Add a DNS record set</a:t>
            </a:r>
          </a:p>
        </p:txBody>
      </p:sp>
      <p:cxnSp>
        <p:nvCxnSpPr>
          <p:cNvPr id="36" name="Straight Connector 35">
            <a:extLst>
              <a:ext uri="{FF2B5EF4-FFF2-40B4-BE49-F238E27FC236}">
                <a16:creationId xmlns:a16="http://schemas.microsoft.com/office/drawing/2014/main" id="{5D5D6BCD-5EA2-4FE9-B7C7-EC7B1753B805}"/>
              </a:ext>
              <a:ext uri="{C183D7F6-B498-43B3-948B-1728B52AA6E4}">
                <adec:decorative xmlns:adec="http://schemas.microsoft.com/office/drawing/2017/decorative" val="1"/>
              </a:ext>
            </a:extLst>
          </p:cNvPr>
          <p:cNvCxnSpPr>
            <a:cxnSpLocks/>
          </p:cNvCxnSpPr>
          <p:nvPr/>
        </p:nvCxnSpPr>
        <p:spPr>
          <a:xfrm>
            <a:off x="1406889" y="2887173"/>
            <a:ext cx="10313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9" name="Picture 78" descr="Icon of a closed and open bracket">
            <a:extLst>
              <a:ext uri="{FF2B5EF4-FFF2-40B4-BE49-F238E27FC236}">
                <a16:creationId xmlns:a16="http://schemas.microsoft.com/office/drawing/2014/main" id="{9EF50E9E-11EB-4516-A078-00FD939180DC}"/>
              </a:ext>
            </a:extLst>
          </p:cNvPr>
          <p:cNvPicPr>
            <a:picLocks noChangeAspect="1"/>
          </p:cNvPicPr>
          <p:nvPr/>
        </p:nvPicPr>
        <p:blipFill>
          <a:blip r:embed="rId5"/>
          <a:stretch>
            <a:fillRect/>
          </a:stretch>
        </p:blipFill>
        <p:spPr>
          <a:xfrm>
            <a:off x="440209" y="2969584"/>
            <a:ext cx="742539" cy="742539"/>
          </a:xfrm>
          <a:prstGeom prst="rect">
            <a:avLst/>
          </a:prstGeom>
        </p:spPr>
      </p:pic>
      <p:sp>
        <p:nvSpPr>
          <p:cNvPr id="6" name="Rectangle 5">
            <a:extLst>
              <a:ext uri="{FF2B5EF4-FFF2-40B4-BE49-F238E27FC236}">
                <a16:creationId xmlns:a16="http://schemas.microsoft.com/office/drawing/2014/main" id="{B4F15F1D-AC25-45D7-A5A0-80DB231BCD3E}"/>
              </a:ext>
            </a:extLst>
          </p:cNvPr>
          <p:cNvSpPr/>
          <p:nvPr/>
        </p:nvSpPr>
        <p:spPr>
          <a:xfrm>
            <a:off x="1394372" y="2968476"/>
            <a:ext cx="10378986" cy="7497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defTabSz="1002210">
              <a:spcBef>
                <a:spcPct val="0"/>
              </a:spcBef>
              <a:spcAft>
                <a:spcPct val="35000"/>
              </a:spcAft>
            </a:pPr>
            <a:r>
              <a:rPr lang="en-US" sz="2255">
                <a:solidFill>
                  <a:schemeClr val="tx1"/>
                </a:solidFill>
              </a:rPr>
              <a:t>Use PowerShell to view DNS information</a:t>
            </a:r>
          </a:p>
        </p:txBody>
      </p:sp>
      <p:cxnSp>
        <p:nvCxnSpPr>
          <p:cNvPr id="37" name="Straight Connector 36">
            <a:extLst>
              <a:ext uri="{FF2B5EF4-FFF2-40B4-BE49-F238E27FC236}">
                <a16:creationId xmlns:a16="http://schemas.microsoft.com/office/drawing/2014/main" id="{DF178C6D-8883-407B-8A9D-F72FA9A04114}"/>
              </a:ext>
              <a:ext uri="{C183D7F6-B498-43B3-948B-1728B52AA6E4}">
                <adec:decorative xmlns:adec="http://schemas.microsoft.com/office/drawing/2017/decorative" val="1"/>
              </a:ext>
            </a:extLst>
          </p:cNvPr>
          <p:cNvCxnSpPr>
            <a:cxnSpLocks/>
          </p:cNvCxnSpPr>
          <p:nvPr/>
        </p:nvCxnSpPr>
        <p:spPr>
          <a:xfrm>
            <a:off x="1406889" y="3789902"/>
            <a:ext cx="10313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8" name="Picture 77" descr="Icon of a webpage showing six squares">
            <a:extLst>
              <a:ext uri="{FF2B5EF4-FFF2-40B4-BE49-F238E27FC236}">
                <a16:creationId xmlns:a16="http://schemas.microsoft.com/office/drawing/2014/main" id="{8CEA42BE-7779-4C08-A61E-7F1B6261B45B}"/>
              </a:ext>
            </a:extLst>
          </p:cNvPr>
          <p:cNvPicPr>
            <a:picLocks noChangeAspect="1"/>
          </p:cNvPicPr>
          <p:nvPr/>
        </p:nvPicPr>
        <p:blipFill>
          <a:blip r:embed="rId6"/>
          <a:stretch>
            <a:fillRect/>
          </a:stretch>
        </p:blipFill>
        <p:spPr>
          <a:xfrm>
            <a:off x="440209" y="3869744"/>
            <a:ext cx="742539" cy="742539"/>
          </a:xfrm>
          <a:prstGeom prst="rect">
            <a:avLst/>
          </a:prstGeom>
        </p:spPr>
      </p:pic>
      <p:sp>
        <p:nvSpPr>
          <p:cNvPr id="7" name="Rectangle 6">
            <a:extLst>
              <a:ext uri="{FF2B5EF4-FFF2-40B4-BE49-F238E27FC236}">
                <a16:creationId xmlns:a16="http://schemas.microsoft.com/office/drawing/2014/main" id="{A4CB6DB3-43C7-4BA7-A459-351CDC67E9C8}"/>
              </a:ext>
            </a:extLst>
          </p:cNvPr>
          <p:cNvSpPr/>
          <p:nvPr/>
        </p:nvSpPr>
        <p:spPr>
          <a:xfrm>
            <a:off x="1394372" y="3868082"/>
            <a:ext cx="10378986" cy="7497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defTabSz="1002210">
              <a:spcBef>
                <a:spcPct val="0"/>
              </a:spcBef>
              <a:spcAft>
                <a:spcPct val="35000"/>
              </a:spcAft>
            </a:pPr>
            <a:r>
              <a:rPr lang="en-US" sz="2255">
                <a:solidFill>
                  <a:schemeClr val="tx1"/>
                </a:solidFill>
              </a:rPr>
              <a:t>View your name servers</a:t>
            </a:r>
          </a:p>
        </p:txBody>
      </p:sp>
      <p:cxnSp>
        <p:nvCxnSpPr>
          <p:cNvPr id="39" name="Straight Connector 38">
            <a:extLst>
              <a:ext uri="{FF2B5EF4-FFF2-40B4-BE49-F238E27FC236}">
                <a16:creationId xmlns:a16="http://schemas.microsoft.com/office/drawing/2014/main" id="{C23476E1-9344-415C-9D88-CA28806CBF4A}"/>
              </a:ext>
              <a:ext uri="{C183D7F6-B498-43B3-948B-1728B52AA6E4}">
                <adec:decorative xmlns:adec="http://schemas.microsoft.com/office/drawing/2017/decorative" val="1"/>
              </a:ext>
            </a:extLst>
          </p:cNvPr>
          <p:cNvCxnSpPr>
            <a:cxnSpLocks/>
          </p:cNvCxnSpPr>
          <p:nvPr/>
        </p:nvCxnSpPr>
        <p:spPr>
          <a:xfrm>
            <a:off x="1406889" y="4692632"/>
            <a:ext cx="10313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7" name="Picture 76" descr="Icon of arrow pointing in four opposite directions">
            <a:extLst>
              <a:ext uri="{FF2B5EF4-FFF2-40B4-BE49-F238E27FC236}">
                <a16:creationId xmlns:a16="http://schemas.microsoft.com/office/drawing/2014/main" id="{D5ED346B-152C-4F88-B76F-F189F6D1F6B9}"/>
              </a:ext>
            </a:extLst>
          </p:cNvPr>
          <p:cNvPicPr>
            <a:picLocks noChangeAspect="1"/>
          </p:cNvPicPr>
          <p:nvPr/>
        </p:nvPicPr>
        <p:blipFill>
          <a:blip r:embed="rId7"/>
          <a:stretch>
            <a:fillRect/>
          </a:stretch>
        </p:blipFill>
        <p:spPr>
          <a:xfrm>
            <a:off x="440209" y="4769904"/>
            <a:ext cx="742539" cy="742539"/>
          </a:xfrm>
          <a:prstGeom prst="rect">
            <a:avLst/>
          </a:prstGeom>
        </p:spPr>
      </p:pic>
      <p:sp>
        <p:nvSpPr>
          <p:cNvPr id="8" name="Rectangle 7">
            <a:extLst>
              <a:ext uri="{FF2B5EF4-FFF2-40B4-BE49-F238E27FC236}">
                <a16:creationId xmlns:a16="http://schemas.microsoft.com/office/drawing/2014/main" id="{422E9CF3-50DF-4F5B-997A-0A9E87E85556}"/>
              </a:ext>
            </a:extLst>
          </p:cNvPr>
          <p:cNvSpPr/>
          <p:nvPr/>
        </p:nvSpPr>
        <p:spPr>
          <a:xfrm>
            <a:off x="1394372" y="4767688"/>
            <a:ext cx="10378986" cy="7497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defTabSz="1002210">
              <a:spcBef>
                <a:spcPct val="0"/>
              </a:spcBef>
              <a:spcAft>
                <a:spcPct val="35000"/>
              </a:spcAft>
            </a:pPr>
            <a:r>
              <a:rPr lang="en-US" sz="2255">
                <a:solidFill>
                  <a:schemeClr val="tx1"/>
                </a:solidFill>
              </a:rPr>
              <a:t>Test the resolution</a:t>
            </a:r>
          </a:p>
        </p:txBody>
      </p:sp>
      <p:cxnSp>
        <p:nvCxnSpPr>
          <p:cNvPr id="40" name="Straight Connector 39">
            <a:extLst>
              <a:ext uri="{FF2B5EF4-FFF2-40B4-BE49-F238E27FC236}">
                <a16:creationId xmlns:a16="http://schemas.microsoft.com/office/drawing/2014/main" id="{F4BD5924-F2BE-4531-91C2-302656A7F4DC}"/>
              </a:ext>
              <a:ext uri="{C183D7F6-B498-43B3-948B-1728B52AA6E4}">
                <adec:decorative xmlns:adec="http://schemas.microsoft.com/office/drawing/2017/decorative" val="1"/>
              </a:ext>
            </a:extLst>
          </p:cNvPr>
          <p:cNvCxnSpPr>
            <a:cxnSpLocks/>
          </p:cNvCxnSpPr>
          <p:nvPr/>
        </p:nvCxnSpPr>
        <p:spPr>
          <a:xfrm>
            <a:off x="1406889" y="5595360"/>
            <a:ext cx="10313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6" name="Picture 75" descr="Icon of four circle connect in a branch">
            <a:extLst>
              <a:ext uri="{FF2B5EF4-FFF2-40B4-BE49-F238E27FC236}">
                <a16:creationId xmlns:a16="http://schemas.microsoft.com/office/drawing/2014/main" id="{B317A4E2-AB1F-4B9A-8AE3-998BC45C90D3}"/>
              </a:ext>
            </a:extLst>
          </p:cNvPr>
          <p:cNvPicPr>
            <a:picLocks noChangeAspect="1"/>
          </p:cNvPicPr>
          <p:nvPr/>
        </p:nvPicPr>
        <p:blipFill>
          <a:blip r:embed="rId8"/>
          <a:stretch>
            <a:fillRect/>
          </a:stretch>
        </p:blipFill>
        <p:spPr>
          <a:xfrm>
            <a:off x="440209" y="5670062"/>
            <a:ext cx="742539" cy="742539"/>
          </a:xfrm>
          <a:prstGeom prst="rect">
            <a:avLst/>
          </a:prstGeom>
        </p:spPr>
      </p:pic>
      <p:sp>
        <p:nvSpPr>
          <p:cNvPr id="9" name="Rectangle 8">
            <a:extLst>
              <a:ext uri="{FF2B5EF4-FFF2-40B4-BE49-F238E27FC236}">
                <a16:creationId xmlns:a16="http://schemas.microsoft.com/office/drawing/2014/main" id="{956296C8-0346-4071-B2AD-1A726E2B7D4A}"/>
              </a:ext>
            </a:extLst>
          </p:cNvPr>
          <p:cNvSpPr/>
          <p:nvPr/>
        </p:nvSpPr>
        <p:spPr>
          <a:xfrm>
            <a:off x="1394372" y="5667289"/>
            <a:ext cx="10378986" cy="7497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defTabSz="1002210">
              <a:spcBef>
                <a:spcPct val="0"/>
              </a:spcBef>
              <a:spcAft>
                <a:spcPct val="35000"/>
              </a:spcAft>
            </a:pPr>
            <a:r>
              <a:rPr lang="en-US" sz="2255">
                <a:solidFill>
                  <a:schemeClr val="tx1"/>
                </a:solidFill>
              </a:rPr>
              <a:t>Explore DNS metrics</a:t>
            </a:r>
          </a:p>
        </p:txBody>
      </p:sp>
    </p:spTree>
    <p:extLst>
      <p:ext uri="{BB962C8B-B14F-4D97-AF65-F5344CB8AC3E}">
        <p14:creationId xmlns:p14="http://schemas.microsoft.com/office/powerpoint/2010/main" val="228946496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t>Design N</a:t>
            </a:r>
            <a:r>
              <a:rPr lang="en-US" sz="2800"/>
              <a:t>ame Resolution for Azure Virtual Network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CAC358CA-46B9-4711-B1E2-32C8BA478474}"/>
              </a:ext>
            </a:extLst>
          </p:cNvPr>
          <p:cNvSpPr/>
          <p:nvPr/>
        </p:nvSpPr>
        <p:spPr>
          <a:xfrm>
            <a:off x="4754933" y="216065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765">
                <a:solidFill>
                  <a:schemeClr val="tx1"/>
                </a:solidFill>
              </a:rPr>
              <a:t>Host your domain on Azure DNS</a:t>
            </a:r>
          </a:p>
        </p:txBody>
      </p:sp>
      <p:cxnSp>
        <p:nvCxnSpPr>
          <p:cNvPr id="14" name="Straight Connector 13">
            <a:extLst>
              <a:ext uri="{FF2B5EF4-FFF2-40B4-BE49-F238E27FC236}">
                <a16:creationId xmlns:a16="http://schemas.microsoft.com/office/drawing/2014/main" id="{B8019769-3D92-44B8-B3D0-907648D9CF64}"/>
              </a:ext>
              <a:ext uri="{C183D7F6-B498-43B3-948B-1728B52AA6E4}">
                <adec:decorative xmlns:adec="http://schemas.microsoft.com/office/drawing/2017/decorative" val="1"/>
              </a:ext>
            </a:extLst>
          </p:cNvPr>
          <p:cNvCxnSpPr>
            <a:cxnSpLocks/>
          </p:cNvCxnSpPr>
          <p:nvPr/>
        </p:nvCxnSpPr>
        <p:spPr>
          <a:xfrm>
            <a:off x="4881443" y="2779288"/>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4FB8EB5-9373-4BF7-A4F4-0EBE905EA0D8}"/>
              </a:ext>
            </a:extLst>
          </p:cNvPr>
          <p:cNvSpPr/>
          <p:nvPr/>
        </p:nvSpPr>
        <p:spPr>
          <a:xfrm>
            <a:off x="4754933" y="2817693"/>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765">
                <a:solidFill>
                  <a:schemeClr val="tx1"/>
                </a:solidFill>
              </a:rPr>
              <a:t>Implement DNS for Windows Server IaaS VMs</a:t>
            </a:r>
          </a:p>
        </p:txBody>
      </p:sp>
      <p:cxnSp>
        <p:nvCxnSpPr>
          <p:cNvPr id="16" name="Straight Connector 15">
            <a:extLst>
              <a:ext uri="{FF2B5EF4-FFF2-40B4-BE49-F238E27FC236}">
                <a16:creationId xmlns:a16="http://schemas.microsoft.com/office/drawing/2014/main" id="{D19B7121-8268-444D-A185-D4E92EFF96D7}"/>
              </a:ext>
              <a:ext uri="{C183D7F6-B498-43B3-948B-1728B52AA6E4}">
                <adec:decorative xmlns:adec="http://schemas.microsoft.com/office/drawing/2017/decorative" val="1"/>
              </a:ext>
            </a:extLst>
          </p:cNvPr>
          <p:cNvCxnSpPr>
            <a:cxnSpLocks/>
          </p:cNvCxnSpPr>
          <p:nvPr/>
        </p:nvCxnSpPr>
        <p:spPr>
          <a:xfrm>
            <a:off x="4881443" y="3438228"/>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69F1270-547C-46E5-BE5C-44182EA353A1}"/>
              </a:ext>
            </a:extLst>
          </p:cNvPr>
          <p:cNvSpPr/>
          <p:nvPr/>
        </p:nvSpPr>
        <p:spPr>
          <a:xfrm>
            <a:off x="4754933" y="3474732"/>
            <a:ext cx="6991941" cy="622433"/>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765">
                <a:solidFill>
                  <a:schemeClr val="tx1"/>
                </a:solidFill>
              </a:rPr>
              <a:t>Secure Windows Server DNS</a:t>
            </a: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spTree>
    <p:extLst>
      <p:ext uri="{BB962C8B-B14F-4D97-AF65-F5344CB8AC3E}">
        <p14:creationId xmlns:p14="http://schemas.microsoft.com/office/powerpoint/2010/main" val="254066655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40213"/>
            <a:ext cx="8892608" cy="977575"/>
          </a:xfrm>
        </p:spPr>
        <p:txBody>
          <a:bodyPr/>
          <a:lstStyle/>
          <a:p>
            <a:r>
              <a:rPr lang="en-US" dirty="0"/>
              <a:t>Lesson 05: Exercise: configure DNS settings in Azure </a:t>
            </a:r>
          </a:p>
        </p:txBody>
      </p:sp>
      <p:grpSp>
        <p:nvGrpSpPr>
          <p:cNvPr id="4" name="Group 3">
            <a:extLst>
              <a:ext uri="{FF2B5EF4-FFF2-40B4-BE49-F238E27FC236}">
                <a16:creationId xmlns:a16="http://schemas.microsoft.com/office/drawing/2014/main" id="{A164346E-3497-49CB-8708-BC02A662F372}"/>
              </a:ext>
              <a:ext uri="{C183D7F6-B498-43B3-948B-1728B52AA6E4}">
                <adec:decorative xmlns:adec="http://schemas.microsoft.com/office/drawing/2017/decorative" val="1"/>
              </a:ext>
            </a:extLst>
          </p:cNvPr>
          <p:cNvGrpSpPr/>
          <p:nvPr/>
        </p:nvGrpSpPr>
        <p:grpSpPr>
          <a:xfrm>
            <a:off x="10333823" y="3070379"/>
            <a:ext cx="717140" cy="717242"/>
            <a:chOff x="418643" y="4826259"/>
            <a:chExt cx="717140" cy="717242"/>
          </a:xfrm>
        </p:grpSpPr>
        <p:grpSp>
          <p:nvGrpSpPr>
            <p:cNvPr id="5" name="Group 4">
              <a:extLst>
                <a:ext uri="{FF2B5EF4-FFF2-40B4-BE49-F238E27FC236}">
                  <a16:creationId xmlns:a16="http://schemas.microsoft.com/office/drawing/2014/main" id="{345367C6-1BAF-4B81-B37F-8CA7D2283EC5}"/>
                </a:ext>
              </a:extLst>
            </p:cNvPr>
            <p:cNvGrpSpPr/>
            <p:nvPr/>
          </p:nvGrpSpPr>
          <p:grpSpPr>
            <a:xfrm>
              <a:off x="418643" y="4826259"/>
              <a:ext cx="717140" cy="717242"/>
              <a:chOff x="418643" y="4826259"/>
              <a:chExt cx="717140" cy="717242"/>
            </a:xfrm>
          </p:grpSpPr>
          <p:sp>
            <p:nvSpPr>
              <p:cNvPr id="7" name="Freeform 5">
                <a:extLst>
                  <a:ext uri="{FF2B5EF4-FFF2-40B4-BE49-F238E27FC236}">
                    <a16:creationId xmlns:a16="http://schemas.microsoft.com/office/drawing/2014/main" id="{B37788E5-DBA1-4546-AC47-16223F4D66D3}"/>
                  </a:ext>
                </a:extLst>
              </p:cNvPr>
              <p:cNvSpPr>
                <a:spLocks/>
              </p:cNvSpPr>
              <p:nvPr/>
            </p:nvSpPr>
            <p:spPr bwMode="auto">
              <a:xfrm>
                <a:off x="418643"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6D00D796-C0F4-45DB-972F-0C7C5F3D3751}"/>
                  </a:ext>
                </a:extLst>
              </p:cNvPr>
              <p:cNvSpPr>
                <a:spLocks noEditPoints="1"/>
              </p:cNvSpPr>
              <p:nvPr/>
            </p:nvSpPr>
            <p:spPr bwMode="auto">
              <a:xfrm>
                <a:off x="468541"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coding brackets">
              <a:extLst>
                <a:ext uri="{FF2B5EF4-FFF2-40B4-BE49-F238E27FC236}">
                  <a16:creationId xmlns:a16="http://schemas.microsoft.com/office/drawing/2014/main" id="{EFD577B4-FCFE-4BE4-AB9F-FCA013332885}"/>
                </a:ext>
              </a:extLst>
            </p:cNvPr>
            <p:cNvPicPr>
              <a:picLocks noChangeAspect="1"/>
            </p:cNvPicPr>
            <p:nvPr/>
          </p:nvPicPr>
          <p:blipFill>
            <a:blip r:embed="rId3"/>
            <a:stretch>
              <a:fillRect/>
            </a:stretch>
          </p:blipFill>
          <p:spPr>
            <a:xfrm>
              <a:off x="589184" y="4996851"/>
              <a:ext cx="376058" cy="376058"/>
            </a:xfrm>
            <a:prstGeom prst="rect">
              <a:avLst/>
            </a:prstGeom>
          </p:spPr>
        </p:pic>
      </p:grpSp>
    </p:spTree>
    <p:extLst>
      <p:ext uri="{BB962C8B-B14F-4D97-AF65-F5344CB8AC3E}">
        <p14:creationId xmlns:p14="http://schemas.microsoft.com/office/powerpoint/2010/main" val="153629599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8D1CA954-120E-4018-B506-551D4E77D882}"/>
              </a:ext>
            </a:extLst>
          </p:cNvPr>
          <p:cNvSpPr>
            <a:spLocks noGrp="1"/>
          </p:cNvSpPr>
          <p:nvPr>
            <p:ph type="title"/>
          </p:nvPr>
        </p:nvSpPr>
        <p:spPr/>
        <p:txBody>
          <a:bodyPr/>
          <a:lstStyle/>
          <a:p>
            <a:pPr rtl="0" eaLnBrk="1" latinLnBrk="0" hangingPunct="1"/>
            <a:r>
              <a:rPr lang="en-IN" dirty="0"/>
              <a:t>Exercise – Configure DNS settings in Azure</a:t>
            </a:r>
            <a:endParaRPr lang="en-US" dirty="0"/>
          </a:p>
        </p:txBody>
      </p:sp>
      <p:sp>
        <p:nvSpPr>
          <p:cNvPr id="9" name="Rectangle 8">
            <a:extLst>
              <a:ext uri="{FF2B5EF4-FFF2-40B4-BE49-F238E27FC236}">
                <a16:creationId xmlns:a16="http://schemas.microsoft.com/office/drawing/2014/main" id="{62286C30-A023-4E5F-8D70-839FD86002A7}"/>
              </a:ext>
            </a:extLst>
          </p:cNvPr>
          <p:cNvSpPr/>
          <p:nvPr/>
        </p:nvSpPr>
        <p:spPr bwMode="auto">
          <a:xfrm>
            <a:off x="1668346" y="1690033"/>
            <a:ext cx="999762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it-IT" sz="2400" b="0" i="0" dirty="0">
                <a:solidFill>
                  <a:srgbClr val="24292E"/>
                </a:solidFill>
                <a:effectLst/>
                <a:latin typeface="-apple-system"/>
              </a:rPr>
              <a:t>Create a private DNS Zone</a:t>
            </a:r>
            <a:endParaRPr lang="en-US" sz="2353" dirty="0">
              <a:solidFill>
                <a:schemeClr val="tx1"/>
              </a:solidFill>
            </a:endParaRPr>
          </a:p>
        </p:txBody>
      </p:sp>
      <p:cxnSp>
        <p:nvCxnSpPr>
          <p:cNvPr id="10" name="Straight Connector 9">
            <a:extLst>
              <a:ext uri="{FF2B5EF4-FFF2-40B4-BE49-F238E27FC236}">
                <a16:creationId xmlns:a16="http://schemas.microsoft.com/office/drawing/2014/main" id="{2EE6BE79-4236-46BD-9D30-D2FAC48EAC83}"/>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58F3394-A311-463E-800C-F74A10FE542B}"/>
              </a:ext>
            </a:extLst>
          </p:cNvPr>
          <p:cNvSpPr/>
          <p:nvPr/>
        </p:nvSpPr>
        <p:spPr bwMode="auto">
          <a:xfrm>
            <a:off x="1668346" y="2932266"/>
            <a:ext cx="999762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400" b="0" i="0" dirty="0">
                <a:solidFill>
                  <a:srgbClr val="24292E"/>
                </a:solidFill>
                <a:effectLst/>
                <a:latin typeface="-apple-system"/>
              </a:rPr>
              <a:t> Link subnet for auto registration</a:t>
            </a:r>
            <a:endParaRPr lang="en-US" sz="2353" dirty="0">
              <a:solidFill>
                <a:schemeClr val="tx1"/>
              </a:solidFill>
            </a:endParaRPr>
          </a:p>
        </p:txBody>
      </p:sp>
      <p:cxnSp>
        <p:nvCxnSpPr>
          <p:cNvPr id="13" name="Straight Connector 12">
            <a:extLst>
              <a:ext uri="{FF2B5EF4-FFF2-40B4-BE49-F238E27FC236}">
                <a16:creationId xmlns:a16="http://schemas.microsoft.com/office/drawing/2014/main" id="{C65D8115-C548-4DCB-81AE-B70276649ED6}"/>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89758D1-D92D-42F9-B2C5-03248AE1B455}"/>
              </a:ext>
            </a:extLst>
          </p:cNvPr>
          <p:cNvSpPr/>
          <p:nvPr/>
        </p:nvSpPr>
        <p:spPr bwMode="auto">
          <a:xfrm>
            <a:off x="1668346" y="4174498"/>
            <a:ext cx="999762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400" b="0" i="0" dirty="0">
                <a:solidFill>
                  <a:srgbClr val="24292E"/>
                </a:solidFill>
                <a:effectLst/>
                <a:latin typeface="-apple-system"/>
              </a:rPr>
              <a:t>Create Virtual Machines to test the configuration</a:t>
            </a:r>
            <a:endParaRPr lang="en-US" sz="2353" dirty="0">
              <a:solidFill>
                <a:schemeClr val="tx1"/>
              </a:solidFill>
            </a:endParaRPr>
          </a:p>
        </p:txBody>
      </p:sp>
      <p:cxnSp>
        <p:nvCxnSpPr>
          <p:cNvPr id="16" name="Straight Connector 15">
            <a:extLst>
              <a:ext uri="{FF2B5EF4-FFF2-40B4-BE49-F238E27FC236}">
                <a16:creationId xmlns:a16="http://schemas.microsoft.com/office/drawing/2014/main" id="{494C85AB-130D-489E-BC32-CA01AE858C1B}"/>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CDFE8403-612D-4992-B1D6-6E4D2D2C9E3C}"/>
              </a:ext>
              <a:ext uri="{C183D7F6-B498-43B3-948B-1728B52AA6E4}">
                <adec:decorative xmlns:adec="http://schemas.microsoft.com/office/drawing/2017/decorative" val="1"/>
              </a:ext>
            </a:extLst>
          </p:cNvPr>
          <p:cNvGrpSpPr/>
          <p:nvPr/>
        </p:nvGrpSpPr>
        <p:grpSpPr>
          <a:xfrm>
            <a:off x="455995" y="1362243"/>
            <a:ext cx="1026406" cy="4751611"/>
            <a:chOff x="455995" y="1362243"/>
            <a:chExt cx="1026406" cy="4751611"/>
          </a:xfrm>
        </p:grpSpPr>
        <p:pic>
          <p:nvPicPr>
            <p:cNvPr id="8" name="Picture 7">
              <a:extLst>
                <a:ext uri="{FF2B5EF4-FFF2-40B4-BE49-F238E27FC236}">
                  <a16:creationId xmlns:a16="http://schemas.microsoft.com/office/drawing/2014/main" id="{2BB865D6-8330-4488-93A3-6425A03DFE8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55995" y="1362243"/>
              <a:ext cx="1026406" cy="1026406"/>
            </a:xfrm>
            <a:prstGeom prst="rect">
              <a:avLst/>
            </a:prstGeom>
          </p:spPr>
        </p:pic>
        <p:pic>
          <p:nvPicPr>
            <p:cNvPr id="11" name="Picture 10">
              <a:extLst>
                <a:ext uri="{FF2B5EF4-FFF2-40B4-BE49-F238E27FC236}">
                  <a16:creationId xmlns:a16="http://schemas.microsoft.com/office/drawing/2014/main" id="{04E7FBE6-3919-44AD-B473-4339C75C5B6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55995" y="2604476"/>
              <a:ext cx="1026406" cy="1026406"/>
            </a:xfrm>
            <a:prstGeom prst="rect">
              <a:avLst/>
            </a:prstGeom>
          </p:spPr>
        </p:pic>
        <p:pic>
          <p:nvPicPr>
            <p:cNvPr id="14" name="Picture 13" descr="Icon of a checkmark">
              <a:extLst>
                <a:ext uri="{FF2B5EF4-FFF2-40B4-BE49-F238E27FC236}">
                  <a16:creationId xmlns:a16="http://schemas.microsoft.com/office/drawing/2014/main" id="{307ACDE3-0334-4AED-BE6B-0DB6556729A9}"/>
                </a:ext>
              </a:extLst>
            </p:cNvPr>
            <p:cNvPicPr>
              <a:picLocks noChangeAspect="1"/>
            </p:cNvPicPr>
            <p:nvPr/>
          </p:nvPicPr>
          <p:blipFill>
            <a:blip r:embed="rId5"/>
            <a:stretch>
              <a:fillRect/>
            </a:stretch>
          </p:blipFill>
          <p:spPr>
            <a:xfrm>
              <a:off x="455995" y="3845214"/>
              <a:ext cx="1026406" cy="1026406"/>
            </a:xfrm>
            <a:prstGeom prst="rect">
              <a:avLst/>
            </a:prstGeom>
          </p:spPr>
        </p:pic>
        <p:pic>
          <p:nvPicPr>
            <p:cNvPr id="17" name="Picture 16" descr="Icon of two people">
              <a:extLst>
                <a:ext uri="{FF2B5EF4-FFF2-40B4-BE49-F238E27FC236}">
                  <a16:creationId xmlns:a16="http://schemas.microsoft.com/office/drawing/2014/main" id="{2E0D8C0A-A3FB-47E4-A508-4E183FDFE667}"/>
                </a:ext>
              </a:extLst>
            </p:cNvPr>
            <p:cNvPicPr>
              <a:picLocks noChangeAspect="1"/>
            </p:cNvPicPr>
            <p:nvPr/>
          </p:nvPicPr>
          <p:blipFill>
            <a:blip r:embed="rId6"/>
            <a:stretch>
              <a:fillRect/>
            </a:stretch>
          </p:blipFill>
          <p:spPr>
            <a:xfrm>
              <a:off x="455995" y="5087448"/>
              <a:ext cx="1026406" cy="1026406"/>
            </a:xfrm>
            <a:prstGeom prst="rect">
              <a:avLst/>
            </a:prstGeom>
          </p:spPr>
        </p:pic>
      </p:grpSp>
      <p:sp>
        <p:nvSpPr>
          <p:cNvPr id="18" name="Rectangle 17">
            <a:extLst>
              <a:ext uri="{FF2B5EF4-FFF2-40B4-BE49-F238E27FC236}">
                <a16:creationId xmlns:a16="http://schemas.microsoft.com/office/drawing/2014/main" id="{E6FF0C4B-27C5-4299-BFEC-52747491E0E7}"/>
              </a:ext>
            </a:extLst>
          </p:cNvPr>
          <p:cNvSpPr/>
          <p:nvPr/>
        </p:nvSpPr>
        <p:spPr bwMode="auto">
          <a:xfrm>
            <a:off x="1668346" y="5416733"/>
            <a:ext cx="999762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400" b="0" i="0" dirty="0">
                <a:solidFill>
                  <a:srgbClr val="24292E"/>
                </a:solidFill>
                <a:effectLst/>
                <a:latin typeface="-apple-system"/>
              </a:rPr>
              <a:t>Verify records are present in the DNS zone</a:t>
            </a:r>
            <a:endParaRPr lang="en-US" sz="2353" dirty="0">
              <a:solidFill>
                <a:schemeClr val="tx1"/>
              </a:solidFill>
            </a:endParaRPr>
          </a:p>
        </p:txBody>
      </p:sp>
    </p:spTree>
    <p:extLst>
      <p:ext uri="{BB962C8B-B14F-4D97-AF65-F5344CB8AC3E}">
        <p14:creationId xmlns:p14="http://schemas.microsoft.com/office/powerpoint/2010/main" val="126112666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05C1FE-1B70-48F9-8828-48776C03AF0D}"/>
              </a:ext>
            </a:extLst>
          </p:cNvPr>
          <p:cNvSpPr>
            <a:spLocks noGrp="1"/>
          </p:cNvSpPr>
          <p:nvPr>
            <p:ph type="title"/>
          </p:nvPr>
        </p:nvSpPr>
        <p:spPr>
          <a:xfrm>
            <a:off x="585217" y="2930402"/>
            <a:ext cx="8892608" cy="997196"/>
          </a:xfrm>
        </p:spPr>
        <p:txBody>
          <a:bodyPr/>
          <a:lstStyle/>
          <a:p>
            <a:r>
              <a:rPr lang="en-US" dirty="0"/>
              <a:t>Lesson 06: Enable C</a:t>
            </a:r>
            <a:r>
              <a:rPr lang="en-US" sz="3600" dirty="0"/>
              <a:t>ross-VNet Connectivity with Peering</a:t>
            </a:r>
            <a:endParaRPr lang="en-US" dirty="0"/>
          </a:p>
        </p:txBody>
      </p:sp>
      <p:grpSp>
        <p:nvGrpSpPr>
          <p:cNvPr id="4" name="Group 3">
            <a:extLst>
              <a:ext uri="{FF2B5EF4-FFF2-40B4-BE49-F238E27FC236}">
                <a16:creationId xmlns:a16="http://schemas.microsoft.com/office/drawing/2014/main" id="{7E8B7941-9E76-48EF-9F21-6FD54C36EC47}"/>
              </a:ext>
              <a:ext uri="{C183D7F6-B498-43B3-948B-1728B52AA6E4}">
                <adec:decorative xmlns:adec="http://schemas.microsoft.com/office/drawing/2017/decorative" val="1"/>
              </a:ext>
            </a:extLst>
          </p:cNvPr>
          <p:cNvGrpSpPr/>
          <p:nvPr/>
        </p:nvGrpSpPr>
        <p:grpSpPr>
          <a:xfrm>
            <a:off x="10349658" y="3070379"/>
            <a:ext cx="717140" cy="717242"/>
            <a:chOff x="6229350" y="1441758"/>
            <a:chExt cx="717140" cy="717242"/>
          </a:xfrm>
        </p:grpSpPr>
        <p:grpSp>
          <p:nvGrpSpPr>
            <p:cNvPr id="6" name="Group 5">
              <a:extLst>
                <a:ext uri="{FF2B5EF4-FFF2-40B4-BE49-F238E27FC236}">
                  <a16:creationId xmlns:a16="http://schemas.microsoft.com/office/drawing/2014/main" id="{3B770863-5E79-4114-B8D9-644DAC06D0C3}"/>
                </a:ext>
              </a:extLst>
            </p:cNvPr>
            <p:cNvGrpSpPr/>
            <p:nvPr/>
          </p:nvGrpSpPr>
          <p:grpSpPr>
            <a:xfrm>
              <a:off x="6229350" y="1441758"/>
              <a:ext cx="717140" cy="717242"/>
              <a:chOff x="6229350" y="1441758"/>
              <a:chExt cx="717140" cy="717242"/>
            </a:xfrm>
          </p:grpSpPr>
          <p:sp>
            <p:nvSpPr>
              <p:cNvPr id="8" name="Freeform 5">
                <a:extLst>
                  <a:ext uri="{FF2B5EF4-FFF2-40B4-BE49-F238E27FC236}">
                    <a16:creationId xmlns:a16="http://schemas.microsoft.com/office/drawing/2014/main" id="{30AF56B7-8F3E-476F-B2DE-B623C6D85022}"/>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764C1922-854A-452D-B890-EA9D61D23D28}"/>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4B4A5C92-122B-452C-AFFB-9152FC69699D}"/>
                </a:ext>
              </a:extLst>
            </p:cNvPr>
            <p:cNvPicPr>
              <a:picLocks noChangeAspect="1"/>
            </p:cNvPicPr>
            <p:nvPr/>
          </p:nvPicPr>
          <p:blipFill>
            <a:blip r:embed="rId2"/>
            <a:stretch>
              <a:fillRect/>
            </a:stretch>
          </p:blipFill>
          <p:spPr>
            <a:xfrm>
              <a:off x="6399474" y="1611934"/>
              <a:ext cx="376892" cy="376890"/>
            </a:xfrm>
            <a:prstGeom prst="rect">
              <a:avLst/>
            </a:prstGeom>
          </p:spPr>
        </p:pic>
      </p:grpSp>
    </p:spTree>
    <p:extLst>
      <p:ext uri="{BB962C8B-B14F-4D97-AF65-F5344CB8AC3E}">
        <p14:creationId xmlns:p14="http://schemas.microsoft.com/office/powerpoint/2010/main" val="26725588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Enable Cross-VNet Connectivity with Peering overview</a:t>
            </a:r>
          </a:p>
        </p:txBody>
      </p:sp>
      <p:sp>
        <p:nvSpPr>
          <p:cNvPr id="6" name="Text Placeholder 5"/>
          <p:cNvSpPr>
            <a:spLocks noGrp="1"/>
          </p:cNvSpPr>
          <p:nvPr>
            <p:ph type="body" sz="quarter" idx="11"/>
          </p:nvPr>
        </p:nvSpPr>
        <p:spPr/>
        <p:txBody>
          <a:bodyPr/>
          <a:lstStyle/>
          <a:p>
            <a:pPr lvl="1"/>
            <a:r>
              <a:rPr lang="en-US" dirty="0" err="1"/>
              <a:t>VNet</a:t>
            </a:r>
            <a:r>
              <a:rPr lang="en-US" dirty="0"/>
              <a:t> Peering</a:t>
            </a:r>
          </a:p>
        </p:txBody>
      </p:sp>
      <p:sp>
        <p:nvSpPr>
          <p:cNvPr id="2" name="Text Placeholder 1"/>
          <p:cNvSpPr>
            <a:spLocks noGrp="1"/>
          </p:cNvSpPr>
          <p:nvPr>
            <p:ph type="body" sz="quarter" idx="15"/>
          </p:nvPr>
        </p:nvSpPr>
        <p:spPr/>
        <p:txBody>
          <a:bodyPr/>
          <a:lstStyle/>
          <a:p>
            <a:pPr lvl="1"/>
            <a:r>
              <a:rPr lang="en-US" dirty="0"/>
              <a:t>Gateway Transit and Connectivity</a:t>
            </a:r>
          </a:p>
        </p:txBody>
      </p:sp>
      <p:sp>
        <p:nvSpPr>
          <p:cNvPr id="3" name="Text Placeholder 2"/>
          <p:cNvSpPr>
            <a:spLocks noGrp="1"/>
          </p:cNvSpPr>
          <p:nvPr>
            <p:ph type="body" sz="quarter" idx="17"/>
          </p:nvPr>
        </p:nvSpPr>
        <p:spPr/>
        <p:txBody>
          <a:bodyPr/>
          <a:lstStyle/>
          <a:p>
            <a:pPr lvl="1"/>
            <a:r>
              <a:rPr lang="en-US" dirty="0"/>
              <a:t>Service Chaining</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p:txBody>
          <a:bodyPr/>
          <a:lstStyle/>
          <a:p>
            <a:pPr lvl="1"/>
            <a:r>
              <a:rPr lang="en-US" dirty="0"/>
              <a:t>Configure VNet Peering</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p:txBody>
          <a:bodyPr/>
          <a:lstStyle/>
          <a:p>
            <a:pPr lvl="1"/>
            <a:r>
              <a:rPr lang="en-US" dirty="0"/>
              <a:t>Demonstration </a:t>
            </a:r>
          </a:p>
        </p:txBody>
      </p:sp>
      <p:sp>
        <p:nvSpPr>
          <p:cNvPr id="7" name="Text Placeholder 6">
            <a:extLst>
              <a:ext uri="{FF2B5EF4-FFF2-40B4-BE49-F238E27FC236}">
                <a16:creationId xmlns:a16="http://schemas.microsoft.com/office/drawing/2014/main" id="{A91ECD5A-A06D-4426-B215-D810A663A47E}"/>
              </a:ext>
            </a:extLst>
          </p:cNvPr>
          <p:cNvSpPr>
            <a:spLocks noGrp="1"/>
          </p:cNvSpPr>
          <p:nvPr>
            <p:ph type="body" sz="quarter" idx="22"/>
          </p:nvPr>
        </p:nvSpPr>
        <p:spPr/>
        <p:txBody>
          <a:bodyPr/>
          <a:lstStyle/>
          <a:p>
            <a:pPr lvl="1"/>
            <a:r>
              <a:rPr lang="en-US" dirty="0"/>
              <a:t>Review</a:t>
            </a:r>
          </a:p>
        </p:txBody>
      </p:sp>
      <p:grpSp>
        <p:nvGrpSpPr>
          <p:cNvPr id="22" name="Group 21">
            <a:extLst>
              <a:ext uri="{FF2B5EF4-FFF2-40B4-BE49-F238E27FC236}">
                <a16:creationId xmlns:a16="http://schemas.microsoft.com/office/drawing/2014/main" id="{956A674C-9210-4DA3-8A39-EFF8D9FBC50A}"/>
              </a:ext>
              <a:ext uri="{C183D7F6-B498-43B3-948B-1728B52AA6E4}">
                <adec:decorative xmlns:adec="http://schemas.microsoft.com/office/drawing/2017/decorative" val="1"/>
              </a:ext>
            </a:extLst>
          </p:cNvPr>
          <p:cNvGrpSpPr/>
          <p:nvPr/>
        </p:nvGrpSpPr>
        <p:grpSpPr>
          <a:xfrm>
            <a:off x="3031668" y="462996"/>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 uri="{C183D7F6-B498-43B3-948B-1728B52AA6E4}">
                <adec:decorative xmlns:adec="http://schemas.microsoft.com/office/drawing/2017/decorative" val="1"/>
              </a:ext>
            </a:extLst>
          </p:cNvPr>
          <p:cNvGrpSpPr/>
          <p:nvPr/>
        </p:nvGrpSpPr>
        <p:grpSpPr>
          <a:xfrm>
            <a:off x="3031668" y="1341712"/>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 uri="{C183D7F6-B498-43B3-948B-1728B52AA6E4}">
                <adec:decorative xmlns:adec="http://schemas.microsoft.com/office/drawing/2017/decorative" val="1"/>
              </a:ext>
            </a:extLst>
          </p:cNvPr>
          <p:cNvGrpSpPr/>
          <p:nvPr/>
        </p:nvGrpSpPr>
        <p:grpSpPr>
          <a:xfrm>
            <a:off x="3031668" y="2206225"/>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 uri="{C183D7F6-B498-43B3-948B-1728B52AA6E4}">
                <adec:decorative xmlns:adec="http://schemas.microsoft.com/office/drawing/2017/decorative" val="1"/>
              </a:ext>
            </a:extLst>
          </p:cNvPr>
          <p:cNvGrpSpPr/>
          <p:nvPr/>
        </p:nvGrpSpPr>
        <p:grpSpPr>
          <a:xfrm>
            <a:off x="3031668" y="3070738"/>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 uri="{C183D7F6-B498-43B3-948B-1728B52AA6E4}">
                <adec:decorative xmlns:adec="http://schemas.microsoft.com/office/drawing/2017/decorative" val="1"/>
              </a:ext>
            </a:extLst>
          </p:cNvPr>
          <p:cNvGrpSpPr/>
          <p:nvPr/>
        </p:nvGrpSpPr>
        <p:grpSpPr>
          <a:xfrm>
            <a:off x="3031668" y="3935251"/>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nvGrpSpPr>
          <p:cNvPr id="27" name="Group 26">
            <a:extLst>
              <a:ext uri="{FF2B5EF4-FFF2-40B4-BE49-F238E27FC236}">
                <a16:creationId xmlns:a16="http://schemas.microsoft.com/office/drawing/2014/main" id="{6060DB94-15B8-4E46-BEDD-2C1A83E582C7}"/>
              </a:ext>
              <a:ext uri="{C183D7F6-B498-43B3-948B-1728B52AA6E4}">
                <adec:decorative xmlns:adec="http://schemas.microsoft.com/office/drawing/2017/decorative" val="1"/>
              </a:ext>
            </a:extLst>
          </p:cNvPr>
          <p:cNvGrpSpPr/>
          <p:nvPr/>
        </p:nvGrpSpPr>
        <p:grpSpPr>
          <a:xfrm>
            <a:off x="3031668" y="4799764"/>
            <a:ext cx="702132" cy="702132"/>
            <a:chOff x="3031668" y="4799764"/>
            <a:chExt cx="702132" cy="702132"/>
          </a:xfrm>
        </p:grpSpPr>
        <p:grpSp>
          <p:nvGrpSpPr>
            <p:cNvPr id="21" name="Group 20">
              <a:extLst>
                <a:ext uri="{FF2B5EF4-FFF2-40B4-BE49-F238E27FC236}">
                  <a16:creationId xmlns:a16="http://schemas.microsoft.com/office/drawing/2014/main" id="{EC5A9229-47D5-4B8F-948E-282348F5FB99}"/>
                </a:ext>
              </a:extLst>
            </p:cNvPr>
            <p:cNvGrpSpPr/>
            <p:nvPr/>
          </p:nvGrpSpPr>
          <p:grpSpPr>
            <a:xfrm>
              <a:off x="3031668" y="4799764"/>
              <a:ext cx="702132" cy="702132"/>
              <a:chOff x="3031668" y="4799764"/>
              <a:chExt cx="702132" cy="702132"/>
            </a:xfrm>
          </p:grpSpPr>
          <p:sp>
            <p:nvSpPr>
              <p:cNvPr id="78" name="AutoShape 3">
                <a:extLst>
                  <a:ext uri="{FF2B5EF4-FFF2-40B4-BE49-F238E27FC236}">
                    <a16:creationId xmlns:a16="http://schemas.microsoft.com/office/drawing/2014/main" id="{CF996211-C481-4235-89A0-A32FD402DDE3}"/>
                  </a:ext>
                </a:extLst>
              </p:cNvPr>
              <p:cNvSpPr>
                <a:spLocks noChangeAspect="1" noChangeArrowheads="1" noTextEdit="1"/>
              </p:cNvSpPr>
              <p:nvPr/>
            </p:nvSpPr>
            <p:spPr bwMode="auto">
              <a:xfrm>
                <a:off x="3031668" y="4799764"/>
                <a:ext cx="702132" cy="70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5">
                <a:extLst>
                  <a:ext uri="{FF2B5EF4-FFF2-40B4-BE49-F238E27FC236}">
                    <a16:creationId xmlns:a16="http://schemas.microsoft.com/office/drawing/2014/main" id="{1B80AA19-EBDD-4F58-8B9A-0D60A58F5FD8}"/>
                  </a:ext>
                </a:extLst>
              </p:cNvPr>
              <p:cNvSpPr>
                <a:spLocks/>
              </p:cNvSpPr>
              <p:nvPr/>
            </p:nvSpPr>
            <p:spPr bwMode="auto">
              <a:xfrm>
                <a:off x="3031668" y="4799764"/>
                <a:ext cx="702132" cy="702132"/>
              </a:xfrm>
              <a:custGeom>
                <a:avLst/>
                <a:gdLst>
                  <a:gd name="T0" fmla="*/ 2 w 493"/>
                  <a:gd name="T1" fmla="*/ 221 h 493"/>
                  <a:gd name="T2" fmla="*/ 12 w 493"/>
                  <a:gd name="T3" fmla="*/ 174 h 493"/>
                  <a:gd name="T4" fmla="*/ 31 w 493"/>
                  <a:gd name="T5" fmla="*/ 130 h 493"/>
                  <a:gd name="T6" fmla="*/ 57 w 493"/>
                  <a:gd name="T7" fmla="*/ 90 h 493"/>
                  <a:gd name="T8" fmla="*/ 90 w 493"/>
                  <a:gd name="T9" fmla="*/ 57 h 493"/>
                  <a:gd name="T10" fmla="*/ 130 w 493"/>
                  <a:gd name="T11" fmla="*/ 31 h 493"/>
                  <a:gd name="T12" fmla="*/ 174 w 493"/>
                  <a:gd name="T13" fmla="*/ 12 h 493"/>
                  <a:gd name="T14" fmla="*/ 221 w 493"/>
                  <a:gd name="T15" fmla="*/ 2 h 493"/>
                  <a:gd name="T16" fmla="*/ 272 w 493"/>
                  <a:gd name="T17" fmla="*/ 2 h 493"/>
                  <a:gd name="T18" fmla="*/ 320 w 493"/>
                  <a:gd name="T19" fmla="*/ 12 h 493"/>
                  <a:gd name="T20" fmla="*/ 364 w 493"/>
                  <a:gd name="T21" fmla="*/ 31 h 493"/>
                  <a:gd name="T22" fmla="*/ 403 w 493"/>
                  <a:gd name="T23" fmla="*/ 57 h 493"/>
                  <a:gd name="T24" fmla="*/ 436 w 493"/>
                  <a:gd name="T25" fmla="*/ 90 h 493"/>
                  <a:gd name="T26" fmla="*/ 464 w 493"/>
                  <a:gd name="T27" fmla="*/ 130 h 493"/>
                  <a:gd name="T28" fmla="*/ 481 w 493"/>
                  <a:gd name="T29" fmla="*/ 174 h 493"/>
                  <a:gd name="T30" fmla="*/ 491 w 493"/>
                  <a:gd name="T31" fmla="*/ 221 h 493"/>
                  <a:gd name="T32" fmla="*/ 491 w 493"/>
                  <a:gd name="T33" fmla="*/ 272 h 493"/>
                  <a:gd name="T34" fmla="*/ 481 w 493"/>
                  <a:gd name="T35" fmla="*/ 320 h 493"/>
                  <a:gd name="T36" fmla="*/ 464 w 493"/>
                  <a:gd name="T37" fmla="*/ 364 h 493"/>
                  <a:gd name="T38" fmla="*/ 436 w 493"/>
                  <a:gd name="T39" fmla="*/ 403 h 493"/>
                  <a:gd name="T40" fmla="*/ 403 w 493"/>
                  <a:gd name="T41" fmla="*/ 437 h 493"/>
                  <a:gd name="T42" fmla="*/ 364 w 493"/>
                  <a:gd name="T43" fmla="*/ 464 h 493"/>
                  <a:gd name="T44" fmla="*/ 320 w 493"/>
                  <a:gd name="T45" fmla="*/ 481 h 493"/>
                  <a:gd name="T46" fmla="*/ 272 w 493"/>
                  <a:gd name="T47" fmla="*/ 491 h 493"/>
                  <a:gd name="T48" fmla="*/ 221 w 493"/>
                  <a:gd name="T49" fmla="*/ 491 h 493"/>
                  <a:gd name="T50" fmla="*/ 174 w 493"/>
                  <a:gd name="T51" fmla="*/ 481 h 493"/>
                  <a:gd name="T52" fmla="*/ 130 w 493"/>
                  <a:gd name="T53" fmla="*/ 464 h 493"/>
                  <a:gd name="T54" fmla="*/ 90 w 493"/>
                  <a:gd name="T55" fmla="*/ 437 h 493"/>
                  <a:gd name="T56" fmla="*/ 57 w 493"/>
                  <a:gd name="T57" fmla="*/ 403 h 493"/>
                  <a:gd name="T58" fmla="*/ 31 w 493"/>
                  <a:gd name="T59" fmla="*/ 364 h 493"/>
                  <a:gd name="T60" fmla="*/ 12 w 493"/>
                  <a:gd name="T61" fmla="*/ 320 h 493"/>
                  <a:gd name="T62" fmla="*/ 2 w 493"/>
                  <a:gd name="T63" fmla="*/ 27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3" h="493">
                    <a:moveTo>
                      <a:pt x="0" y="247"/>
                    </a:moveTo>
                    <a:lnTo>
                      <a:pt x="2" y="221"/>
                    </a:lnTo>
                    <a:lnTo>
                      <a:pt x="6" y="197"/>
                    </a:lnTo>
                    <a:lnTo>
                      <a:pt x="12" y="174"/>
                    </a:lnTo>
                    <a:lnTo>
                      <a:pt x="20" y="151"/>
                    </a:lnTo>
                    <a:lnTo>
                      <a:pt x="31" y="130"/>
                    </a:lnTo>
                    <a:lnTo>
                      <a:pt x="42" y="109"/>
                    </a:lnTo>
                    <a:lnTo>
                      <a:pt x="57" y="90"/>
                    </a:lnTo>
                    <a:lnTo>
                      <a:pt x="73" y="73"/>
                    </a:lnTo>
                    <a:lnTo>
                      <a:pt x="90" y="57"/>
                    </a:lnTo>
                    <a:lnTo>
                      <a:pt x="109" y="42"/>
                    </a:lnTo>
                    <a:lnTo>
                      <a:pt x="130" y="31"/>
                    </a:lnTo>
                    <a:lnTo>
                      <a:pt x="151" y="20"/>
                    </a:lnTo>
                    <a:lnTo>
                      <a:pt x="174" y="12"/>
                    </a:lnTo>
                    <a:lnTo>
                      <a:pt x="197" y="6"/>
                    </a:lnTo>
                    <a:lnTo>
                      <a:pt x="221" y="2"/>
                    </a:lnTo>
                    <a:lnTo>
                      <a:pt x="247" y="0"/>
                    </a:lnTo>
                    <a:lnTo>
                      <a:pt x="272" y="2"/>
                    </a:lnTo>
                    <a:lnTo>
                      <a:pt x="296" y="6"/>
                    </a:lnTo>
                    <a:lnTo>
                      <a:pt x="320" y="12"/>
                    </a:lnTo>
                    <a:lnTo>
                      <a:pt x="342" y="20"/>
                    </a:lnTo>
                    <a:lnTo>
                      <a:pt x="364" y="31"/>
                    </a:lnTo>
                    <a:lnTo>
                      <a:pt x="384" y="42"/>
                    </a:lnTo>
                    <a:lnTo>
                      <a:pt x="403" y="57"/>
                    </a:lnTo>
                    <a:lnTo>
                      <a:pt x="420" y="73"/>
                    </a:lnTo>
                    <a:lnTo>
                      <a:pt x="436" y="90"/>
                    </a:lnTo>
                    <a:lnTo>
                      <a:pt x="451" y="109"/>
                    </a:lnTo>
                    <a:lnTo>
                      <a:pt x="464" y="130"/>
                    </a:lnTo>
                    <a:lnTo>
                      <a:pt x="473" y="151"/>
                    </a:lnTo>
                    <a:lnTo>
                      <a:pt x="481" y="174"/>
                    </a:lnTo>
                    <a:lnTo>
                      <a:pt x="487" y="197"/>
                    </a:lnTo>
                    <a:lnTo>
                      <a:pt x="491" y="221"/>
                    </a:lnTo>
                    <a:lnTo>
                      <a:pt x="493" y="247"/>
                    </a:lnTo>
                    <a:lnTo>
                      <a:pt x="491" y="272"/>
                    </a:lnTo>
                    <a:lnTo>
                      <a:pt x="487" y="296"/>
                    </a:lnTo>
                    <a:lnTo>
                      <a:pt x="481" y="320"/>
                    </a:lnTo>
                    <a:lnTo>
                      <a:pt x="473" y="342"/>
                    </a:lnTo>
                    <a:lnTo>
                      <a:pt x="464" y="364"/>
                    </a:lnTo>
                    <a:lnTo>
                      <a:pt x="451" y="384"/>
                    </a:lnTo>
                    <a:lnTo>
                      <a:pt x="436" y="403"/>
                    </a:lnTo>
                    <a:lnTo>
                      <a:pt x="420" y="420"/>
                    </a:lnTo>
                    <a:lnTo>
                      <a:pt x="403" y="437"/>
                    </a:lnTo>
                    <a:lnTo>
                      <a:pt x="384" y="451"/>
                    </a:lnTo>
                    <a:lnTo>
                      <a:pt x="364" y="464"/>
                    </a:lnTo>
                    <a:lnTo>
                      <a:pt x="342" y="473"/>
                    </a:lnTo>
                    <a:lnTo>
                      <a:pt x="320" y="481"/>
                    </a:lnTo>
                    <a:lnTo>
                      <a:pt x="296" y="487"/>
                    </a:lnTo>
                    <a:lnTo>
                      <a:pt x="272" y="491"/>
                    </a:lnTo>
                    <a:lnTo>
                      <a:pt x="247" y="493"/>
                    </a:lnTo>
                    <a:lnTo>
                      <a:pt x="221" y="491"/>
                    </a:lnTo>
                    <a:lnTo>
                      <a:pt x="197" y="487"/>
                    </a:lnTo>
                    <a:lnTo>
                      <a:pt x="174" y="481"/>
                    </a:lnTo>
                    <a:lnTo>
                      <a:pt x="151" y="473"/>
                    </a:lnTo>
                    <a:lnTo>
                      <a:pt x="130" y="464"/>
                    </a:lnTo>
                    <a:lnTo>
                      <a:pt x="109" y="451"/>
                    </a:lnTo>
                    <a:lnTo>
                      <a:pt x="90" y="437"/>
                    </a:lnTo>
                    <a:lnTo>
                      <a:pt x="73" y="420"/>
                    </a:lnTo>
                    <a:lnTo>
                      <a:pt x="57" y="403"/>
                    </a:lnTo>
                    <a:lnTo>
                      <a:pt x="42" y="384"/>
                    </a:lnTo>
                    <a:lnTo>
                      <a:pt x="31" y="364"/>
                    </a:lnTo>
                    <a:lnTo>
                      <a:pt x="20" y="342"/>
                    </a:lnTo>
                    <a:lnTo>
                      <a:pt x="12" y="320"/>
                    </a:lnTo>
                    <a:lnTo>
                      <a:pt x="6" y="296"/>
                    </a:lnTo>
                    <a:lnTo>
                      <a:pt x="2" y="272"/>
                    </a:lnTo>
                    <a:lnTo>
                      <a:pt x="0" y="247"/>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80" name="Freeform 6">
                <a:extLst>
                  <a:ext uri="{FF2B5EF4-FFF2-40B4-BE49-F238E27FC236}">
                    <a16:creationId xmlns:a16="http://schemas.microsoft.com/office/drawing/2014/main" id="{23FC2815-7F4A-4903-9A08-A24F2C74864A}"/>
                  </a:ext>
                </a:extLst>
              </p:cNvPr>
              <p:cNvSpPr>
                <a:spLocks noEditPoints="1"/>
              </p:cNvSpPr>
              <p:nvPr/>
            </p:nvSpPr>
            <p:spPr bwMode="auto">
              <a:xfrm>
                <a:off x="3087212" y="4854596"/>
                <a:ext cx="591044" cy="592469"/>
              </a:xfrm>
              <a:prstGeom prst="ellipse">
                <a:avLst/>
              </a:prstGeom>
              <a:noFill/>
              <a:ln w="28575" cap="flat">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coding brackets">
              <a:extLst>
                <a:ext uri="{FF2B5EF4-FFF2-40B4-BE49-F238E27FC236}">
                  <a16:creationId xmlns:a16="http://schemas.microsoft.com/office/drawing/2014/main" id="{B0C5D0BC-720B-401F-BF64-B19B73B6DE2B}"/>
                </a:ext>
              </a:extLst>
            </p:cNvPr>
            <p:cNvPicPr>
              <a:picLocks noChangeAspect="1"/>
            </p:cNvPicPr>
            <p:nvPr/>
          </p:nvPicPr>
          <p:blipFill>
            <a:blip r:embed="rId8"/>
            <a:stretch>
              <a:fillRect/>
            </a:stretch>
          </p:blipFill>
          <p:spPr>
            <a:xfrm>
              <a:off x="3196983" y="4965079"/>
              <a:ext cx="371503" cy="371503"/>
            </a:xfrm>
            <a:prstGeom prst="rect">
              <a:avLst/>
            </a:prstGeom>
          </p:spPr>
        </p:pic>
      </p:grpSp>
    </p:spTree>
    <p:extLst>
      <p:ext uri="{BB962C8B-B14F-4D97-AF65-F5344CB8AC3E}">
        <p14:creationId xmlns:p14="http://schemas.microsoft.com/office/powerpoint/2010/main" val="28297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VNet Peering</a:t>
            </a:r>
          </a:p>
        </p:txBody>
      </p:sp>
      <p:sp>
        <p:nvSpPr>
          <p:cNvPr id="7" name="Rectangle 6">
            <a:extLst>
              <a:ext uri="{FF2B5EF4-FFF2-40B4-BE49-F238E27FC236}">
                <a16:creationId xmlns:a16="http://schemas.microsoft.com/office/drawing/2014/main" id="{2DD2858B-E0A5-446B-8F75-9679BA896BBA}"/>
              </a:ext>
              <a:ext uri="{C183D7F6-B498-43B3-948B-1728B52AA6E4}">
                <adec:decorative xmlns:adec="http://schemas.microsoft.com/office/drawing/2017/decorative" val="0"/>
              </a:ext>
            </a:extLst>
          </p:cNvPr>
          <p:cNvSpPr/>
          <p:nvPr/>
        </p:nvSpPr>
        <p:spPr bwMode="auto">
          <a:xfrm>
            <a:off x="418644" y="1169264"/>
            <a:ext cx="5164154" cy="81394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VNet peering connects two Azure virtual networks </a:t>
            </a:r>
          </a:p>
        </p:txBody>
      </p:sp>
      <p:sp>
        <p:nvSpPr>
          <p:cNvPr id="8" name="Rectangle 7">
            <a:extLst>
              <a:ext uri="{FF2B5EF4-FFF2-40B4-BE49-F238E27FC236}">
                <a16:creationId xmlns:a16="http://schemas.microsoft.com/office/drawing/2014/main" id="{8C36C860-EBA3-4CED-80B5-0E25FCB0C3C0}"/>
              </a:ext>
              <a:ext uri="{C183D7F6-B498-43B3-948B-1728B52AA6E4}">
                <adec:decorative xmlns:adec="http://schemas.microsoft.com/office/drawing/2017/decorative" val="0"/>
              </a:ext>
            </a:extLst>
          </p:cNvPr>
          <p:cNvSpPr/>
          <p:nvPr/>
        </p:nvSpPr>
        <p:spPr bwMode="auto">
          <a:xfrm>
            <a:off x="418644" y="2137667"/>
            <a:ext cx="5164154" cy="81394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dirty="0">
                <a:solidFill>
                  <a:schemeClr val="tx1"/>
                </a:solidFill>
              </a:rPr>
              <a:t>Two types of peering: Regional and Global</a:t>
            </a:r>
          </a:p>
        </p:txBody>
      </p:sp>
      <p:sp>
        <p:nvSpPr>
          <p:cNvPr id="9" name="Rectangle 8">
            <a:extLst>
              <a:ext uri="{FF2B5EF4-FFF2-40B4-BE49-F238E27FC236}">
                <a16:creationId xmlns:a16="http://schemas.microsoft.com/office/drawing/2014/main" id="{3588408A-3766-48DD-A5AE-B83837AA4569}"/>
              </a:ext>
              <a:ext uri="{C183D7F6-B498-43B3-948B-1728B52AA6E4}">
                <adec:decorative xmlns:adec="http://schemas.microsoft.com/office/drawing/2017/decorative" val="0"/>
              </a:ext>
            </a:extLst>
          </p:cNvPr>
          <p:cNvSpPr/>
          <p:nvPr/>
        </p:nvSpPr>
        <p:spPr bwMode="auto">
          <a:xfrm>
            <a:off x="418644" y="3106071"/>
            <a:ext cx="5164154" cy="81394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Peered networks use the Azure backbone</a:t>
            </a:r>
            <a:br>
              <a:rPr lang="en-US" sz="1765">
                <a:solidFill>
                  <a:schemeClr val="tx1"/>
                </a:solidFill>
              </a:rPr>
            </a:br>
            <a:r>
              <a:rPr lang="en-US" sz="1765">
                <a:solidFill>
                  <a:schemeClr val="tx1"/>
                </a:solidFill>
              </a:rPr>
              <a:t>for privacy and isolation</a:t>
            </a:r>
          </a:p>
        </p:txBody>
      </p:sp>
      <p:sp>
        <p:nvSpPr>
          <p:cNvPr id="10" name="Rectangle 9">
            <a:extLst>
              <a:ext uri="{FF2B5EF4-FFF2-40B4-BE49-F238E27FC236}">
                <a16:creationId xmlns:a16="http://schemas.microsoft.com/office/drawing/2014/main" id="{8CFD6B79-0090-4377-A782-3DD159581156}"/>
              </a:ext>
              <a:ext uri="{C183D7F6-B498-43B3-948B-1728B52AA6E4}">
                <adec:decorative xmlns:adec="http://schemas.microsoft.com/office/drawing/2017/decorative" val="0"/>
              </a:ext>
            </a:extLst>
          </p:cNvPr>
          <p:cNvSpPr/>
          <p:nvPr/>
        </p:nvSpPr>
        <p:spPr bwMode="auto">
          <a:xfrm>
            <a:off x="418644" y="4074474"/>
            <a:ext cx="5164154" cy="81394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You can peer across subscriptions and tenants</a:t>
            </a:r>
          </a:p>
        </p:txBody>
      </p:sp>
      <p:sp>
        <p:nvSpPr>
          <p:cNvPr id="11" name="Rectangle 10">
            <a:extLst>
              <a:ext uri="{FF2B5EF4-FFF2-40B4-BE49-F238E27FC236}">
                <a16:creationId xmlns:a16="http://schemas.microsoft.com/office/drawing/2014/main" id="{B1AAAD77-9AEC-4623-8D34-D61366601D92}"/>
              </a:ext>
              <a:ext uri="{C183D7F6-B498-43B3-948B-1728B52AA6E4}">
                <adec:decorative xmlns:adec="http://schemas.microsoft.com/office/drawing/2017/decorative" val="0"/>
              </a:ext>
            </a:extLst>
          </p:cNvPr>
          <p:cNvSpPr/>
          <p:nvPr/>
        </p:nvSpPr>
        <p:spPr bwMode="auto">
          <a:xfrm>
            <a:off x="418644" y="5042877"/>
            <a:ext cx="5164154" cy="81394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VNet peering is not transitive </a:t>
            </a:r>
          </a:p>
        </p:txBody>
      </p:sp>
      <p:sp>
        <p:nvSpPr>
          <p:cNvPr id="6" name="Rectangle 5">
            <a:extLst>
              <a:ext uri="{FF2B5EF4-FFF2-40B4-BE49-F238E27FC236}">
                <a16:creationId xmlns:a16="http://schemas.microsoft.com/office/drawing/2014/main" id="{1CD046A1-E0F3-49B4-B76B-F112208A1D78}"/>
              </a:ext>
              <a:ext uri="{C183D7F6-B498-43B3-948B-1728B52AA6E4}">
                <adec:decorative xmlns:adec="http://schemas.microsoft.com/office/drawing/2017/decorative" val="1"/>
              </a:ext>
            </a:extLst>
          </p:cNvPr>
          <p:cNvSpPr/>
          <p:nvPr/>
        </p:nvSpPr>
        <p:spPr bwMode="auto">
          <a:xfrm>
            <a:off x="5730311" y="1169263"/>
            <a:ext cx="6043047" cy="468755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ea typeface="Segoe UI" pitchFamily="34" charset="0"/>
              <a:cs typeface="Segoe UI" pitchFamily="34" charset="0"/>
            </a:endParaRPr>
          </a:p>
        </p:txBody>
      </p:sp>
      <p:pic>
        <p:nvPicPr>
          <p:cNvPr id="2" name="Picture 1" descr="Illustration showing VNet1 in Region 1, and VNet2 and VNet3 in Region 2. VNet2 and VNet3 are connected with regional VNet peering. VNet1 and VNet2 are connected with a global VNet peering">
            <a:extLst>
              <a:ext uri="{FF2B5EF4-FFF2-40B4-BE49-F238E27FC236}">
                <a16:creationId xmlns:a16="http://schemas.microsoft.com/office/drawing/2014/main" id="{EE9D4337-6111-4937-BB21-A32D0021C379}"/>
              </a:ext>
            </a:extLst>
          </p:cNvPr>
          <p:cNvPicPr>
            <a:picLocks noChangeAspect="1"/>
          </p:cNvPicPr>
          <p:nvPr/>
        </p:nvPicPr>
        <p:blipFill>
          <a:blip r:embed="rId3"/>
          <a:stretch>
            <a:fillRect/>
          </a:stretch>
        </p:blipFill>
        <p:spPr>
          <a:xfrm>
            <a:off x="5838250" y="2929315"/>
            <a:ext cx="5846871" cy="1167452"/>
          </a:xfrm>
          <a:prstGeom prst="rect">
            <a:avLst/>
          </a:prstGeom>
        </p:spPr>
      </p:pic>
    </p:spTree>
    <p:extLst>
      <p:ext uri="{BB962C8B-B14F-4D97-AF65-F5344CB8AC3E}">
        <p14:creationId xmlns:p14="http://schemas.microsoft.com/office/powerpoint/2010/main" val="292313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Implementing VNet Peering</a:t>
            </a:r>
          </a:p>
        </p:txBody>
      </p:sp>
      <p:sp>
        <p:nvSpPr>
          <p:cNvPr id="6" name="Rectangle 5">
            <a:extLst>
              <a:ext uri="{FF2B5EF4-FFF2-40B4-BE49-F238E27FC236}">
                <a16:creationId xmlns:a16="http://schemas.microsoft.com/office/drawing/2014/main" id="{F7407FBA-8AEB-45D6-BC1E-4BEC995A69C1}"/>
              </a:ext>
            </a:extLst>
          </p:cNvPr>
          <p:cNvSpPr/>
          <p:nvPr/>
        </p:nvSpPr>
        <p:spPr>
          <a:xfrm>
            <a:off x="418644" y="1351605"/>
            <a:ext cx="4290424" cy="112030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cs typeface="Segoe UI Semilight"/>
              </a:rPr>
              <a:t>Gateway transit allows peered virtual networks to share the gateway and get access to resources</a:t>
            </a:r>
          </a:p>
        </p:txBody>
      </p:sp>
      <p:sp>
        <p:nvSpPr>
          <p:cNvPr id="8" name="Rectangle 7">
            <a:extLst>
              <a:ext uri="{FF2B5EF4-FFF2-40B4-BE49-F238E27FC236}">
                <a16:creationId xmlns:a16="http://schemas.microsoft.com/office/drawing/2014/main" id="{3AFC85CE-A9A3-49E5-9E48-E583B7AE6057}"/>
              </a:ext>
            </a:extLst>
          </p:cNvPr>
          <p:cNvSpPr/>
          <p:nvPr/>
        </p:nvSpPr>
        <p:spPr>
          <a:xfrm>
            <a:off x="418644" y="2705571"/>
            <a:ext cx="4290424" cy="112030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cs typeface="Segoe UI Semilight"/>
              </a:rPr>
              <a:t>No VPN gateway is required in</a:t>
            </a:r>
            <a:br>
              <a:rPr lang="en-US" sz="1961">
                <a:solidFill>
                  <a:schemeClr val="tx1"/>
                </a:solidFill>
                <a:cs typeface="Segoe UI Semilight"/>
              </a:rPr>
            </a:br>
            <a:r>
              <a:rPr lang="en-US" sz="1961">
                <a:solidFill>
                  <a:schemeClr val="tx1"/>
                </a:solidFill>
                <a:cs typeface="Segoe UI Semilight"/>
              </a:rPr>
              <a:t>the peered virtual network</a:t>
            </a:r>
          </a:p>
        </p:txBody>
      </p:sp>
      <p:sp>
        <p:nvSpPr>
          <p:cNvPr id="9" name="Rectangle 8">
            <a:extLst>
              <a:ext uri="{FF2B5EF4-FFF2-40B4-BE49-F238E27FC236}">
                <a16:creationId xmlns:a16="http://schemas.microsoft.com/office/drawing/2014/main" id="{2F058A8E-300C-4F83-BBA4-DB16DBB04965}"/>
              </a:ext>
            </a:extLst>
          </p:cNvPr>
          <p:cNvSpPr/>
          <p:nvPr/>
        </p:nvSpPr>
        <p:spPr>
          <a:xfrm>
            <a:off x="418644" y="4059536"/>
            <a:ext cx="4290424" cy="112030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cs typeface="Segoe UI Semilight"/>
              </a:rPr>
              <a:t>Default VNet peering provides</a:t>
            </a:r>
            <a:br>
              <a:rPr lang="en-US" sz="1961">
                <a:solidFill>
                  <a:schemeClr val="tx1"/>
                </a:solidFill>
                <a:cs typeface="Segoe UI Semilight"/>
              </a:rPr>
            </a:br>
            <a:r>
              <a:rPr lang="en-US" sz="1961">
                <a:solidFill>
                  <a:schemeClr val="tx1"/>
                </a:solidFill>
                <a:cs typeface="Segoe UI Semilight"/>
              </a:rPr>
              <a:t>full connectivity</a:t>
            </a:r>
          </a:p>
        </p:txBody>
      </p:sp>
      <p:sp>
        <p:nvSpPr>
          <p:cNvPr id="7" name="Rectangle 6">
            <a:extLst>
              <a:ext uri="{FF2B5EF4-FFF2-40B4-BE49-F238E27FC236}">
                <a16:creationId xmlns:a16="http://schemas.microsoft.com/office/drawing/2014/main" id="{2093BF7E-8014-4D27-9F09-331484BD3499}"/>
              </a:ext>
              <a:ext uri="{C183D7F6-B498-43B3-948B-1728B52AA6E4}">
                <adec:decorative xmlns:adec="http://schemas.microsoft.com/office/drawing/2017/decorative" val="1"/>
              </a:ext>
            </a:extLst>
          </p:cNvPr>
          <p:cNvSpPr/>
          <p:nvPr/>
        </p:nvSpPr>
        <p:spPr bwMode="auto">
          <a:xfrm>
            <a:off x="4861461" y="1169264"/>
            <a:ext cx="6911897" cy="431668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1" descr="Diagram showing three VNets (VNet A, VNet B, and a Hub VNet). VNet A and the Hub VNet are peered. VNet B and the Hub VNet are peered. The Hub VNet has a NVA for VNet A and a VPN Gateway for VNet B">
            <a:extLst>
              <a:ext uri="{FF2B5EF4-FFF2-40B4-BE49-F238E27FC236}">
                <a16:creationId xmlns:a16="http://schemas.microsoft.com/office/drawing/2014/main" id="{676E3145-4E88-4DBF-83DB-D0D73C62F453}"/>
              </a:ext>
            </a:extLst>
          </p:cNvPr>
          <p:cNvPicPr>
            <a:picLocks noChangeAspect="1"/>
          </p:cNvPicPr>
          <p:nvPr/>
        </p:nvPicPr>
        <p:blipFill>
          <a:blip r:embed="rId3"/>
          <a:stretch>
            <a:fillRect/>
          </a:stretch>
        </p:blipFill>
        <p:spPr>
          <a:xfrm>
            <a:off x="4973290" y="1434425"/>
            <a:ext cx="6688237" cy="3745412"/>
          </a:xfrm>
          <a:prstGeom prst="rect">
            <a:avLst/>
          </a:prstGeom>
        </p:spPr>
      </p:pic>
      <p:pic>
        <p:nvPicPr>
          <p:cNvPr id="10" name="Picture 9" descr="Tick mark">
            <a:extLst>
              <a:ext uri="{FF2B5EF4-FFF2-40B4-BE49-F238E27FC236}">
                <a16:creationId xmlns:a16="http://schemas.microsoft.com/office/drawing/2014/main" id="{ED815E37-5BD4-41C3-B3D0-DA2514AA1390}"/>
              </a:ext>
            </a:extLst>
          </p:cNvPr>
          <p:cNvPicPr>
            <a:picLocks noChangeAspect="1"/>
          </p:cNvPicPr>
          <p:nvPr/>
        </p:nvPicPr>
        <p:blipFill>
          <a:blip r:embed="rId4"/>
          <a:stretch>
            <a:fillRect/>
          </a:stretch>
        </p:blipFill>
        <p:spPr>
          <a:xfrm>
            <a:off x="418644" y="5413501"/>
            <a:ext cx="770992" cy="765016"/>
          </a:xfrm>
          <a:prstGeom prst="rect">
            <a:avLst/>
          </a:prstGeom>
        </p:spPr>
      </p:pic>
      <p:sp>
        <p:nvSpPr>
          <p:cNvPr id="11" name="Freeform: Shape 10">
            <a:extLst>
              <a:ext uri="{FF2B5EF4-FFF2-40B4-BE49-F238E27FC236}">
                <a16:creationId xmlns:a16="http://schemas.microsoft.com/office/drawing/2014/main" id="{7B7EE18E-8603-4381-B4DF-85442428F806}"/>
              </a:ext>
            </a:extLst>
          </p:cNvPr>
          <p:cNvSpPr/>
          <p:nvPr/>
        </p:nvSpPr>
        <p:spPr bwMode="auto">
          <a:xfrm>
            <a:off x="1" y="5413501"/>
            <a:ext cx="12192000" cy="767030"/>
          </a:xfrm>
          <a:custGeom>
            <a:avLst/>
            <a:gdLst>
              <a:gd name="connsiteX0" fmla="*/ 1213422 w 12436475"/>
              <a:gd name="connsiteY0" fmla="*/ 0 h 782411"/>
              <a:gd name="connsiteX1" fmla="*/ 12436475 w 12436475"/>
              <a:gd name="connsiteY1" fmla="*/ 0 h 782411"/>
              <a:gd name="connsiteX2" fmla="*/ 12436475 w 12436475"/>
              <a:gd name="connsiteY2" fmla="*/ 782411 h 782411"/>
              <a:gd name="connsiteX3" fmla="*/ 1213422 w 12436475"/>
              <a:gd name="connsiteY3" fmla="*/ 782411 h 782411"/>
              <a:gd name="connsiteX4" fmla="*/ 0 w 12436475"/>
              <a:gd name="connsiteY4" fmla="*/ 0 h 782411"/>
              <a:gd name="connsiteX5" fmla="*/ 427038 w 12436475"/>
              <a:gd name="connsiteY5" fmla="*/ 0 h 782411"/>
              <a:gd name="connsiteX6" fmla="*/ 427038 w 12436475"/>
              <a:gd name="connsiteY6" fmla="*/ 782411 h 782411"/>
              <a:gd name="connsiteX7" fmla="*/ 0 w 12436475"/>
              <a:gd name="connsiteY7" fmla="*/ 782411 h 7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36475" h="782411">
                <a:moveTo>
                  <a:pt x="1213422" y="0"/>
                </a:moveTo>
                <a:lnTo>
                  <a:pt x="12436475" y="0"/>
                </a:lnTo>
                <a:lnTo>
                  <a:pt x="12436475" y="782411"/>
                </a:lnTo>
                <a:lnTo>
                  <a:pt x="1213422" y="782411"/>
                </a:lnTo>
                <a:close/>
                <a:moveTo>
                  <a:pt x="0" y="0"/>
                </a:moveTo>
                <a:lnTo>
                  <a:pt x="427038" y="0"/>
                </a:lnTo>
                <a:lnTo>
                  <a:pt x="427038" y="782411"/>
                </a:lnTo>
                <a:lnTo>
                  <a:pt x="0" y="782411"/>
                </a:lnTo>
                <a:close/>
              </a:path>
            </a:pathLst>
          </a:custGeom>
          <a:solidFill>
            <a:schemeClr val="bg2">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37" tIns="143428" rIns="179285" bIns="143428" numCol="1" spcCol="0" rtlCol="0" fromWordArt="0" anchor="ctr" anchorCtr="0" forceAA="0" compatLnSpc="1">
            <a:prstTxWarp prst="textNoShape">
              <a:avLst/>
            </a:prstTxWarp>
            <a:noAutofit/>
          </a:bodyPr>
          <a:lstStyle/>
          <a:p>
            <a:pPr defTabSz="914102" fontAlgn="base">
              <a:spcBef>
                <a:spcPct val="0"/>
              </a:spcBef>
              <a:spcAft>
                <a:spcPct val="0"/>
              </a:spcAft>
            </a:pPr>
            <a:r>
              <a:rPr lang="en-US" sz="1765">
                <a:solidFill>
                  <a:schemeClr val="tx1"/>
                </a:solidFill>
                <a:latin typeface="+mj-lt"/>
                <a:cs typeface="Segoe UI Semibold" panose="020B0702040204020203" pitchFamily="34" charset="0"/>
              </a:rPr>
              <a:t>IP address spaces of connected networks can't overlap </a:t>
            </a:r>
          </a:p>
        </p:txBody>
      </p:sp>
    </p:spTree>
    <p:extLst>
      <p:ext uri="{BB962C8B-B14F-4D97-AF65-F5344CB8AC3E}">
        <p14:creationId xmlns:p14="http://schemas.microsoft.com/office/powerpoint/2010/main" val="2417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Configure VNet Peering</a:t>
            </a:r>
          </a:p>
        </p:txBody>
      </p:sp>
      <p:sp>
        <p:nvSpPr>
          <p:cNvPr id="14" name="Rectangle 13">
            <a:extLst>
              <a:ext uri="{FF2B5EF4-FFF2-40B4-BE49-F238E27FC236}">
                <a16:creationId xmlns:a16="http://schemas.microsoft.com/office/drawing/2014/main" id="{D7A5AF0E-CC05-4A9D-8E20-C3F177D298E1}"/>
              </a:ext>
            </a:extLst>
          </p:cNvPr>
          <p:cNvSpPr/>
          <p:nvPr/>
        </p:nvSpPr>
        <p:spPr>
          <a:xfrm>
            <a:off x="566717" y="2012423"/>
            <a:ext cx="5889227" cy="121931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latin typeface="+mj-lt"/>
                <a:cs typeface="Segoe UI Semilight"/>
              </a:rPr>
              <a:t>Allow virtual network access settings</a:t>
            </a:r>
            <a:endParaRPr lang="en-US" sz="1961">
              <a:solidFill>
                <a:schemeClr val="tx1"/>
              </a:solidFill>
              <a:cs typeface="Segoe UI Semilight"/>
            </a:endParaRPr>
          </a:p>
        </p:txBody>
      </p:sp>
      <p:sp>
        <p:nvSpPr>
          <p:cNvPr id="15" name="Rectangle 14">
            <a:extLst>
              <a:ext uri="{FF2B5EF4-FFF2-40B4-BE49-F238E27FC236}">
                <a16:creationId xmlns:a16="http://schemas.microsoft.com/office/drawing/2014/main" id="{EDA40E1E-BF5F-4EEC-9E49-3981FAA450EF}"/>
              </a:ext>
            </a:extLst>
          </p:cNvPr>
          <p:cNvSpPr/>
          <p:nvPr/>
        </p:nvSpPr>
        <p:spPr>
          <a:xfrm>
            <a:off x="566717" y="3465399"/>
            <a:ext cx="5889227" cy="121931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latin typeface="+mj-lt"/>
                <a:cs typeface="Segoe UI Semilight"/>
              </a:rPr>
              <a:t>Configure forwarded traffic settings</a:t>
            </a:r>
            <a:endParaRPr lang="en-US" sz="1961">
              <a:solidFill>
                <a:schemeClr val="tx1"/>
              </a:solidFill>
              <a:cs typeface="Segoe UI Semilight"/>
            </a:endParaRPr>
          </a:p>
        </p:txBody>
      </p:sp>
      <p:sp>
        <p:nvSpPr>
          <p:cNvPr id="18" name="Rectangle 17">
            <a:extLst>
              <a:ext uri="{FF2B5EF4-FFF2-40B4-BE49-F238E27FC236}">
                <a16:creationId xmlns:a16="http://schemas.microsoft.com/office/drawing/2014/main" id="{F0059A8A-CF1E-4FAB-B1C2-469E93203736}"/>
              </a:ext>
              <a:ext uri="{C183D7F6-B498-43B3-948B-1728B52AA6E4}">
                <adec:decorative xmlns:adec="http://schemas.microsoft.com/office/drawing/2017/decorative" val="1"/>
              </a:ext>
            </a:extLst>
          </p:cNvPr>
          <p:cNvSpPr/>
          <p:nvPr/>
        </p:nvSpPr>
        <p:spPr bwMode="auto">
          <a:xfrm>
            <a:off x="6538146" y="1169263"/>
            <a:ext cx="5235212" cy="468599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Screenshot of the peering configuration showing the allow forward traffic, allow gateway transit, and configure remote gateway settings">
            <a:extLst>
              <a:ext uri="{FF2B5EF4-FFF2-40B4-BE49-F238E27FC236}">
                <a16:creationId xmlns:a16="http://schemas.microsoft.com/office/drawing/2014/main" id="{013890B6-0EEF-C6AA-B7E3-6CB9577B28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5423" y="1192930"/>
            <a:ext cx="3998578" cy="4549493"/>
          </a:xfrm>
          <a:prstGeom prst="rect">
            <a:avLst/>
          </a:prstGeom>
        </p:spPr>
      </p:pic>
    </p:spTree>
    <p:extLst>
      <p:ext uri="{BB962C8B-B14F-4D97-AF65-F5344CB8AC3E}">
        <p14:creationId xmlns:p14="http://schemas.microsoft.com/office/powerpoint/2010/main" val="14525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3C8CD-A1AB-4795-86FC-E9F06177712B}"/>
              </a:ext>
            </a:extLst>
          </p:cNvPr>
          <p:cNvSpPr>
            <a:spLocks noGrp="1"/>
          </p:cNvSpPr>
          <p:nvPr>
            <p:ph type="title"/>
          </p:nvPr>
        </p:nvSpPr>
        <p:spPr/>
        <p:txBody>
          <a:bodyPr/>
          <a:lstStyle/>
          <a:p>
            <a:r>
              <a:rPr lang="en-US" dirty="0"/>
              <a:t>Configure VNet peering – Gateway Transit </a:t>
            </a:r>
          </a:p>
        </p:txBody>
      </p:sp>
      <p:pic>
        <p:nvPicPr>
          <p:cNvPr id="1026" name="Picture 2" descr="Diagram shows how gateway transit allows the peered virtual networks to use the Azure VPN gateway in Hub-RM">
            <a:extLst>
              <a:ext uri="{FF2B5EF4-FFF2-40B4-BE49-F238E27FC236}">
                <a16:creationId xmlns:a16="http://schemas.microsoft.com/office/drawing/2014/main" id="{BDDF69F3-399D-43A6-8CE9-2FB13BD88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7866" y="2162175"/>
            <a:ext cx="6194337" cy="2746156"/>
          </a:xfrm>
          <a:prstGeom prst="rect">
            <a:avLst/>
          </a:prstGeom>
          <a:noFill/>
        </p:spPr>
      </p:pic>
      <p:sp>
        <p:nvSpPr>
          <p:cNvPr id="3" name="Rectangle 2">
            <a:extLst>
              <a:ext uri="{FF2B5EF4-FFF2-40B4-BE49-F238E27FC236}">
                <a16:creationId xmlns:a16="http://schemas.microsoft.com/office/drawing/2014/main" id="{005324DC-03FC-4F21-B8BA-6CA61084FEDA}"/>
              </a:ext>
              <a:ext uri="{C183D7F6-B498-43B3-948B-1728B52AA6E4}">
                <adec:decorative xmlns:adec="http://schemas.microsoft.com/office/drawing/2017/decorative" val="1"/>
              </a:ext>
            </a:extLst>
          </p:cNvPr>
          <p:cNvSpPr/>
          <p:nvPr/>
        </p:nvSpPr>
        <p:spPr bwMode="auto">
          <a:xfrm>
            <a:off x="4556042" y="1572400"/>
            <a:ext cx="7211868" cy="394927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5" name="Rectangle 4">
            <a:extLst>
              <a:ext uri="{FF2B5EF4-FFF2-40B4-BE49-F238E27FC236}">
                <a16:creationId xmlns:a16="http://schemas.microsoft.com/office/drawing/2014/main" id="{C17ECDC5-7983-43CD-A044-56725CFA2E98}"/>
              </a:ext>
            </a:extLst>
          </p:cNvPr>
          <p:cNvSpPr/>
          <p:nvPr/>
        </p:nvSpPr>
        <p:spPr>
          <a:xfrm>
            <a:off x="539705" y="2687636"/>
            <a:ext cx="3304356" cy="16951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latin typeface="+mj-lt"/>
                <a:cs typeface="Segoe UI Semilight"/>
              </a:rPr>
              <a:t>Gateway transit allows spoke virtual networks to share the VPN gateway in the hub</a:t>
            </a:r>
            <a:endParaRPr lang="en-US" sz="1961" dirty="0">
              <a:solidFill>
                <a:schemeClr val="tx1"/>
              </a:solidFill>
              <a:cs typeface="Segoe UI Semilight"/>
            </a:endParaRPr>
          </a:p>
        </p:txBody>
      </p:sp>
    </p:spTree>
    <p:extLst>
      <p:ext uri="{BB962C8B-B14F-4D97-AF65-F5344CB8AC3E}">
        <p14:creationId xmlns:p14="http://schemas.microsoft.com/office/powerpoint/2010/main" val="33042716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B3BC3-6785-41BD-8F34-1680F2EEED2A}"/>
              </a:ext>
            </a:extLst>
          </p:cNvPr>
          <p:cNvSpPr>
            <a:spLocks noGrp="1"/>
          </p:cNvSpPr>
          <p:nvPr>
            <p:ph type="title"/>
          </p:nvPr>
        </p:nvSpPr>
        <p:spPr/>
        <p:txBody>
          <a:bodyPr/>
          <a:lstStyle/>
          <a:p>
            <a:r>
              <a:rPr lang="en-US"/>
              <a:t>Service Chaining</a:t>
            </a:r>
          </a:p>
        </p:txBody>
      </p:sp>
      <p:sp>
        <p:nvSpPr>
          <p:cNvPr id="5" name="Rectangle 4">
            <a:extLst>
              <a:ext uri="{FF2B5EF4-FFF2-40B4-BE49-F238E27FC236}">
                <a16:creationId xmlns:a16="http://schemas.microsoft.com/office/drawing/2014/main" id="{AC0D6B89-BAF6-4189-BBB4-C6B384C18E1C}"/>
              </a:ext>
              <a:ext uri="{C183D7F6-B498-43B3-948B-1728B52AA6E4}">
                <adec:decorative xmlns:adec="http://schemas.microsoft.com/office/drawing/2017/decorative" val="0"/>
              </a:ext>
            </a:extLst>
          </p:cNvPr>
          <p:cNvSpPr/>
          <p:nvPr/>
        </p:nvSpPr>
        <p:spPr bwMode="auto">
          <a:xfrm>
            <a:off x="418643" y="1169265"/>
            <a:ext cx="5348214" cy="119170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Leverage user-defined routes and service chaining to implement custom routing</a:t>
            </a:r>
          </a:p>
        </p:txBody>
      </p:sp>
      <p:sp>
        <p:nvSpPr>
          <p:cNvPr id="6" name="Rectangle 5">
            <a:extLst>
              <a:ext uri="{FF2B5EF4-FFF2-40B4-BE49-F238E27FC236}">
                <a16:creationId xmlns:a16="http://schemas.microsoft.com/office/drawing/2014/main" id="{B904A581-D9C8-4643-AE10-7C021115F68C}"/>
              </a:ext>
              <a:ext uri="{C183D7F6-B498-43B3-948B-1728B52AA6E4}">
                <adec:decorative xmlns:adec="http://schemas.microsoft.com/office/drawing/2017/decorative" val="0"/>
              </a:ext>
            </a:extLst>
          </p:cNvPr>
          <p:cNvSpPr/>
          <p:nvPr/>
        </p:nvSpPr>
        <p:spPr bwMode="auto">
          <a:xfrm>
            <a:off x="418643" y="2509614"/>
            <a:ext cx="5348214" cy="119170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Implement a VNet hub with a network virtual appliance or a VPN gateway</a:t>
            </a:r>
          </a:p>
        </p:txBody>
      </p:sp>
      <p:sp>
        <p:nvSpPr>
          <p:cNvPr id="7" name="Rectangle 6">
            <a:extLst>
              <a:ext uri="{FF2B5EF4-FFF2-40B4-BE49-F238E27FC236}">
                <a16:creationId xmlns:a16="http://schemas.microsoft.com/office/drawing/2014/main" id="{28DF0634-5B1E-40CB-BCAA-C7A268E6EF5E}"/>
              </a:ext>
              <a:ext uri="{C183D7F6-B498-43B3-948B-1728B52AA6E4}">
                <adec:decorative xmlns:adec="http://schemas.microsoft.com/office/drawing/2017/decorative" val="0"/>
              </a:ext>
            </a:extLst>
          </p:cNvPr>
          <p:cNvSpPr/>
          <p:nvPr/>
        </p:nvSpPr>
        <p:spPr bwMode="auto">
          <a:xfrm>
            <a:off x="418643" y="3849964"/>
            <a:ext cx="5348214" cy="192623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Service chaining enables you to direct traffic from one virtual network to a virtual appliance, or virtual network gateway,</a:t>
            </a:r>
            <a:br>
              <a:rPr lang="en-US" sz="1961">
                <a:solidFill>
                  <a:schemeClr val="tx1"/>
                </a:solidFill>
              </a:rPr>
            </a:br>
            <a:r>
              <a:rPr lang="en-US" sz="1961">
                <a:solidFill>
                  <a:schemeClr val="tx1"/>
                </a:solidFill>
              </a:rPr>
              <a:t>in a peered virtual network, through</a:t>
            </a:r>
            <a:br>
              <a:rPr lang="en-US" sz="1961">
                <a:solidFill>
                  <a:schemeClr val="tx1"/>
                </a:solidFill>
              </a:rPr>
            </a:br>
            <a:r>
              <a:rPr lang="en-US" sz="1961">
                <a:solidFill>
                  <a:schemeClr val="tx1"/>
                </a:solidFill>
              </a:rPr>
              <a:t>user-defined routes</a:t>
            </a:r>
          </a:p>
        </p:txBody>
      </p:sp>
      <p:sp>
        <p:nvSpPr>
          <p:cNvPr id="8" name="Rectangle 7">
            <a:extLst>
              <a:ext uri="{FF2B5EF4-FFF2-40B4-BE49-F238E27FC236}">
                <a16:creationId xmlns:a16="http://schemas.microsoft.com/office/drawing/2014/main" id="{33169B7F-CD0C-4F6E-B2D1-15B502EA6CA3}"/>
              </a:ext>
              <a:ext uri="{C183D7F6-B498-43B3-948B-1728B52AA6E4}">
                <adec:decorative xmlns:adec="http://schemas.microsoft.com/office/drawing/2017/decorative" val="1"/>
              </a:ext>
            </a:extLst>
          </p:cNvPr>
          <p:cNvSpPr/>
          <p:nvPr/>
        </p:nvSpPr>
        <p:spPr bwMode="auto">
          <a:xfrm>
            <a:off x="5919251" y="1169264"/>
            <a:ext cx="5854108" cy="460693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A hub VNet with network appliance or VPN gateway is connecting two VNets">
            <a:extLst>
              <a:ext uri="{FF2B5EF4-FFF2-40B4-BE49-F238E27FC236}">
                <a16:creationId xmlns:a16="http://schemas.microsoft.com/office/drawing/2014/main" id="{77CCC3F5-639C-4A06-AE42-2C3EE1CB1E02}"/>
              </a:ext>
            </a:extLst>
          </p:cNvPr>
          <p:cNvPicPr>
            <a:picLocks noChangeAspect="1"/>
          </p:cNvPicPr>
          <p:nvPr/>
        </p:nvPicPr>
        <p:blipFill>
          <a:blip r:embed="rId3"/>
          <a:stretch>
            <a:fillRect/>
          </a:stretch>
        </p:blipFill>
        <p:spPr>
          <a:xfrm>
            <a:off x="6140023" y="2374137"/>
            <a:ext cx="5412561" cy="2197192"/>
          </a:xfrm>
          <a:prstGeom prst="rect">
            <a:avLst/>
          </a:prstGeom>
        </p:spPr>
      </p:pic>
    </p:spTree>
    <p:extLst>
      <p:ext uri="{BB962C8B-B14F-4D97-AF65-F5344CB8AC3E}">
        <p14:creationId xmlns:p14="http://schemas.microsoft.com/office/powerpoint/2010/main" val="33488696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D0D7F3-F3F2-439B-85F9-4E3BC0A96582}"/>
              </a:ext>
            </a:extLst>
          </p:cNvPr>
          <p:cNvSpPr>
            <a:spLocks noGrp="1"/>
          </p:cNvSpPr>
          <p:nvPr>
            <p:ph type="title"/>
          </p:nvPr>
        </p:nvSpPr>
        <p:spPr/>
        <p:txBody>
          <a:bodyPr/>
          <a:lstStyle/>
          <a:p>
            <a:r>
              <a:rPr lang="en-IN" dirty="0"/>
              <a:t>Demonstration – VNet Peering</a:t>
            </a:r>
          </a:p>
        </p:txBody>
      </p:sp>
      <p:pic>
        <p:nvPicPr>
          <p:cNvPr id="48" name="Picture 47" descr="Icon of two gears">
            <a:extLst>
              <a:ext uri="{FF2B5EF4-FFF2-40B4-BE49-F238E27FC236}">
                <a16:creationId xmlns:a16="http://schemas.microsoft.com/office/drawing/2014/main" id="{65D287DD-EE44-423D-9138-21563B08000A}"/>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4" name="Rectangle 63">
            <a:extLst>
              <a:ext uri="{FF2B5EF4-FFF2-40B4-BE49-F238E27FC236}">
                <a16:creationId xmlns:a16="http://schemas.microsoft.com/office/drawing/2014/main" id="{FB2AE682-1244-43A6-B0F0-01DDDDD1E239}"/>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Configure VNet peering on the first virtual network</a:t>
            </a:r>
          </a:p>
        </p:txBody>
      </p:sp>
      <p:cxnSp>
        <p:nvCxnSpPr>
          <p:cNvPr id="74" name="Straight Connector 73">
            <a:extLst>
              <a:ext uri="{FF2B5EF4-FFF2-40B4-BE49-F238E27FC236}">
                <a16:creationId xmlns:a16="http://schemas.microsoft.com/office/drawing/2014/main" id="{283A71DA-9760-4748-AFD1-5BAFB3723D8B}"/>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8" name="Picture 87" descr="Icon of a wrench">
            <a:extLst>
              <a:ext uri="{FF2B5EF4-FFF2-40B4-BE49-F238E27FC236}">
                <a16:creationId xmlns:a16="http://schemas.microsoft.com/office/drawing/2014/main" id="{1EA3502F-F3C0-48D4-81F6-B210D75CD532}"/>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91" name="Rectangle 90">
            <a:extLst>
              <a:ext uri="{FF2B5EF4-FFF2-40B4-BE49-F238E27FC236}">
                <a16:creationId xmlns:a16="http://schemas.microsoft.com/office/drawing/2014/main" id="{296E6274-0E50-474B-9E2D-23F1DCD9F3C5}"/>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Configure a VPN gateway </a:t>
            </a:r>
          </a:p>
        </p:txBody>
      </p:sp>
      <p:cxnSp>
        <p:nvCxnSpPr>
          <p:cNvPr id="98" name="Straight Connector 97">
            <a:extLst>
              <a:ext uri="{FF2B5EF4-FFF2-40B4-BE49-F238E27FC236}">
                <a16:creationId xmlns:a16="http://schemas.microsoft.com/office/drawing/2014/main" id="{AE9E5744-1F53-4DEE-AB8F-0154F473B39A}"/>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7" name="Picture 106" descr="Icon of a checkmark">
            <a:extLst>
              <a:ext uri="{FF2B5EF4-FFF2-40B4-BE49-F238E27FC236}">
                <a16:creationId xmlns:a16="http://schemas.microsoft.com/office/drawing/2014/main" id="{3EF23BC0-0EC7-4C16-93FA-1B5EF93F7A2D}"/>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09" name="Rectangle 108">
            <a:extLst>
              <a:ext uri="{FF2B5EF4-FFF2-40B4-BE49-F238E27FC236}">
                <a16:creationId xmlns:a16="http://schemas.microsoft.com/office/drawing/2014/main" id="{76354A30-0CCE-43C0-9F85-87DE5CF44524}"/>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Allow gateway transit</a:t>
            </a:r>
          </a:p>
        </p:txBody>
      </p:sp>
      <p:cxnSp>
        <p:nvCxnSpPr>
          <p:cNvPr id="113" name="Straight Connector 112">
            <a:extLst>
              <a:ext uri="{FF2B5EF4-FFF2-40B4-BE49-F238E27FC236}">
                <a16:creationId xmlns:a16="http://schemas.microsoft.com/office/drawing/2014/main" id="{E20C9E5A-9B42-4DAD-B094-886C51B4ACC1}"/>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17" name="Picture 116" descr="Icon of two people">
            <a:extLst>
              <a:ext uri="{FF2B5EF4-FFF2-40B4-BE49-F238E27FC236}">
                <a16:creationId xmlns:a16="http://schemas.microsoft.com/office/drawing/2014/main" id="{4731D98B-7036-4359-B62B-1BB29C177CE3}"/>
              </a:ext>
            </a:extLst>
          </p:cNvPr>
          <p:cNvPicPr>
            <a:picLocks noChangeAspect="1"/>
          </p:cNvPicPr>
          <p:nvPr/>
        </p:nvPicPr>
        <p:blipFill>
          <a:blip r:embed="rId6"/>
          <a:stretch>
            <a:fillRect/>
          </a:stretch>
        </p:blipFill>
        <p:spPr>
          <a:xfrm>
            <a:off x="455995" y="5087448"/>
            <a:ext cx="1026406" cy="1026406"/>
          </a:xfrm>
          <a:prstGeom prst="rect">
            <a:avLst/>
          </a:prstGeom>
        </p:spPr>
      </p:pic>
      <p:sp>
        <p:nvSpPr>
          <p:cNvPr id="118" name="Rectangle 117">
            <a:extLst>
              <a:ext uri="{FF2B5EF4-FFF2-40B4-BE49-F238E27FC236}">
                <a16:creationId xmlns:a16="http://schemas.microsoft.com/office/drawing/2014/main" id="{08FF6D64-1DBF-4778-8DB3-994F4EACA0A9}"/>
              </a:ext>
            </a:extLst>
          </p:cNvPr>
          <p:cNvSpPr/>
          <p:nvPr/>
        </p:nvSpPr>
        <p:spPr bwMode="auto">
          <a:xfrm>
            <a:off x="1668346" y="5420362"/>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Confirm VNet peering on the second virtual network</a:t>
            </a:r>
          </a:p>
        </p:txBody>
      </p:sp>
    </p:spTree>
    <p:extLst>
      <p:ext uri="{BB962C8B-B14F-4D97-AF65-F5344CB8AC3E}">
        <p14:creationId xmlns:p14="http://schemas.microsoft.com/office/powerpoint/2010/main" val="3143149143"/>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VNet Peering Review</a:t>
            </a: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solidFill>
                  <a:schemeClr val="bg1"/>
                </a:solidFill>
                <a:latin typeface="+mj-lt"/>
              </a:rPr>
              <a:t>Knowledge Check Questions</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Lst>
          </p:cNvPr>
          <p:cNvSpPr/>
          <p:nvPr/>
        </p:nvSpPr>
        <p:spPr>
          <a:xfrm>
            <a:off x="4172422" y="2271340"/>
            <a:ext cx="7590042" cy="76196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765">
                <a:solidFill>
                  <a:schemeClr val="tx1"/>
                </a:solidFill>
              </a:rPr>
              <a:t>Distribute your services across Azure virtual networks and integrate them by using virtual network peering</a:t>
            </a:r>
          </a:p>
        </p:txBody>
      </p: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493646" y="2652321"/>
            <a:ext cx="1465263" cy="2130976"/>
          </a:xfrm>
          <a:prstGeom prst="rect">
            <a:avLst/>
          </a:prstGeom>
        </p:spPr>
      </p:pic>
    </p:spTree>
    <p:extLst>
      <p:ext uri="{BB962C8B-B14F-4D97-AF65-F5344CB8AC3E}">
        <p14:creationId xmlns:p14="http://schemas.microsoft.com/office/powerpoint/2010/main" val="137236909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40213"/>
            <a:ext cx="8892608" cy="977575"/>
          </a:xfrm>
        </p:spPr>
        <p:txBody>
          <a:bodyPr/>
          <a:lstStyle/>
          <a:p>
            <a:r>
              <a:rPr lang="en-US" dirty="0"/>
              <a:t>Lesson 07: Exercise: connect two Azure virtual networks using global VNet peering</a:t>
            </a:r>
          </a:p>
        </p:txBody>
      </p:sp>
      <p:grpSp>
        <p:nvGrpSpPr>
          <p:cNvPr id="4" name="Group 3">
            <a:extLst>
              <a:ext uri="{FF2B5EF4-FFF2-40B4-BE49-F238E27FC236}">
                <a16:creationId xmlns:a16="http://schemas.microsoft.com/office/drawing/2014/main" id="{76AAF12D-1E0C-40DA-BF14-C5C50FD11D9C}"/>
              </a:ext>
              <a:ext uri="{C183D7F6-B498-43B3-948B-1728B52AA6E4}">
                <adec:decorative xmlns:adec="http://schemas.microsoft.com/office/drawing/2017/decorative" val="1"/>
              </a:ext>
            </a:extLst>
          </p:cNvPr>
          <p:cNvGrpSpPr/>
          <p:nvPr/>
        </p:nvGrpSpPr>
        <p:grpSpPr>
          <a:xfrm>
            <a:off x="10338641" y="3070379"/>
            <a:ext cx="717140" cy="717242"/>
            <a:chOff x="6229350" y="2287883"/>
            <a:chExt cx="717140" cy="717242"/>
          </a:xfrm>
        </p:grpSpPr>
        <p:grpSp>
          <p:nvGrpSpPr>
            <p:cNvPr id="5" name="Group 4">
              <a:extLst>
                <a:ext uri="{FF2B5EF4-FFF2-40B4-BE49-F238E27FC236}">
                  <a16:creationId xmlns:a16="http://schemas.microsoft.com/office/drawing/2014/main" id="{93648846-2E9D-4236-B0D0-B9FF1AF97D1F}"/>
                </a:ext>
              </a:extLst>
            </p:cNvPr>
            <p:cNvGrpSpPr/>
            <p:nvPr/>
          </p:nvGrpSpPr>
          <p:grpSpPr>
            <a:xfrm>
              <a:off x="6229350" y="2287883"/>
              <a:ext cx="717140" cy="717242"/>
              <a:chOff x="6229350" y="2287883"/>
              <a:chExt cx="717140" cy="717242"/>
            </a:xfrm>
          </p:grpSpPr>
          <p:sp>
            <p:nvSpPr>
              <p:cNvPr id="7" name="Freeform 5">
                <a:extLst>
                  <a:ext uri="{FF2B5EF4-FFF2-40B4-BE49-F238E27FC236}">
                    <a16:creationId xmlns:a16="http://schemas.microsoft.com/office/drawing/2014/main" id="{12547748-6BCB-4F7F-9DAE-138C2003B2B0}"/>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14BE3BE3-4BE4-4031-B279-BACA29865416}"/>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arrow in a circular path with a timer inside the circle">
              <a:extLst>
                <a:ext uri="{FF2B5EF4-FFF2-40B4-BE49-F238E27FC236}">
                  <a16:creationId xmlns:a16="http://schemas.microsoft.com/office/drawing/2014/main" id="{2C9A6504-F47E-4FDC-AACF-3862FB1111EC}"/>
                </a:ext>
              </a:extLst>
            </p:cNvPr>
            <p:cNvPicPr>
              <a:picLocks noChangeAspect="1"/>
            </p:cNvPicPr>
            <p:nvPr/>
          </p:nvPicPr>
          <p:blipFill>
            <a:blip r:embed="rId3"/>
            <a:stretch>
              <a:fillRect/>
            </a:stretch>
          </p:blipFill>
          <p:spPr>
            <a:xfrm>
              <a:off x="6399474" y="2458059"/>
              <a:ext cx="376892" cy="376890"/>
            </a:xfrm>
            <a:prstGeom prst="rect">
              <a:avLst/>
            </a:prstGeom>
          </p:spPr>
        </p:pic>
      </p:grpSp>
    </p:spTree>
    <p:extLst>
      <p:ext uri="{BB962C8B-B14F-4D97-AF65-F5344CB8AC3E}">
        <p14:creationId xmlns:p14="http://schemas.microsoft.com/office/powerpoint/2010/main" val="2603940100"/>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F8F0-B059-45D0-AC33-A5E82FDB6F7B}"/>
              </a:ext>
            </a:extLst>
          </p:cNvPr>
          <p:cNvSpPr>
            <a:spLocks noGrp="1"/>
          </p:cNvSpPr>
          <p:nvPr>
            <p:ph type="title"/>
          </p:nvPr>
        </p:nvSpPr>
        <p:spPr/>
        <p:txBody>
          <a:bodyPr/>
          <a:lstStyle/>
          <a:p>
            <a:r>
              <a:rPr lang="en-US" dirty="0"/>
              <a:t>Exercise: connect two Azure Virtual Networks using global VNet peering</a:t>
            </a:r>
          </a:p>
        </p:txBody>
      </p:sp>
      <p:sp>
        <p:nvSpPr>
          <p:cNvPr id="4" name="Rectangle 3">
            <a:extLst>
              <a:ext uri="{FF2B5EF4-FFF2-40B4-BE49-F238E27FC236}">
                <a16:creationId xmlns:a16="http://schemas.microsoft.com/office/drawing/2014/main" id="{D85B6B05-BA2D-472F-85FB-9814CFFE7AF0}"/>
              </a:ext>
              <a:ext uri="{C183D7F6-B498-43B3-948B-1728B52AA6E4}">
                <adec:decorative xmlns:adec="http://schemas.microsoft.com/office/drawing/2017/decorative" val="1"/>
              </a:ext>
            </a:extLst>
          </p:cNvPr>
          <p:cNvSpPr/>
          <p:nvPr/>
        </p:nvSpPr>
        <p:spPr bwMode="auto">
          <a:xfrm>
            <a:off x="4664990" y="1169262"/>
            <a:ext cx="7108368" cy="501456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0" name="Rectangle 9">
            <a:extLst>
              <a:ext uri="{FF2B5EF4-FFF2-40B4-BE49-F238E27FC236}">
                <a16:creationId xmlns:a16="http://schemas.microsoft.com/office/drawing/2014/main" id="{1503335D-F7AD-4F91-804C-FF2AB38FFA9E}"/>
              </a:ext>
            </a:extLst>
          </p:cNvPr>
          <p:cNvSpPr/>
          <p:nvPr/>
        </p:nvSpPr>
        <p:spPr>
          <a:xfrm>
            <a:off x="594765" y="1169262"/>
            <a:ext cx="3393575" cy="501456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dirty="0">
                <a:solidFill>
                  <a:schemeClr val="tx1"/>
                </a:solidFill>
                <a:latin typeface="+mj-lt"/>
                <a:ea typeface="+mn-lt"/>
                <a:cs typeface="+mn-lt"/>
              </a:rPr>
              <a:t>Task 1: Create a Virtual Machine to test the configuration</a:t>
            </a:r>
          </a:p>
          <a:p>
            <a:endParaRPr lang="en-US" dirty="0">
              <a:solidFill>
                <a:schemeClr val="tx1"/>
              </a:solidFill>
              <a:latin typeface="+mj-lt"/>
              <a:ea typeface="+mn-lt"/>
              <a:cs typeface="+mn-lt"/>
            </a:endParaRPr>
          </a:p>
          <a:p>
            <a:r>
              <a:rPr lang="en-US" dirty="0">
                <a:solidFill>
                  <a:schemeClr val="tx1"/>
                </a:solidFill>
                <a:latin typeface="+mj-lt"/>
                <a:ea typeface="+mn-lt"/>
                <a:cs typeface="+mn-lt"/>
              </a:rPr>
              <a:t>Task 2: Connect to the Test VMs using RDP</a:t>
            </a:r>
          </a:p>
          <a:p>
            <a:endParaRPr lang="en-US" dirty="0">
              <a:solidFill>
                <a:schemeClr val="tx1"/>
              </a:solidFill>
              <a:latin typeface="+mj-lt"/>
              <a:ea typeface="+mn-lt"/>
              <a:cs typeface="+mn-lt"/>
            </a:endParaRPr>
          </a:p>
          <a:p>
            <a:r>
              <a:rPr lang="en-US" dirty="0">
                <a:solidFill>
                  <a:schemeClr val="tx1"/>
                </a:solidFill>
                <a:latin typeface="+mj-lt"/>
                <a:ea typeface="+mn-lt"/>
                <a:cs typeface="+mn-lt"/>
              </a:rPr>
              <a:t>Task 3: Test the connection between the VMs</a:t>
            </a:r>
          </a:p>
          <a:p>
            <a:endParaRPr lang="en-US" dirty="0">
              <a:solidFill>
                <a:schemeClr val="tx1"/>
              </a:solidFill>
              <a:latin typeface="+mj-lt"/>
              <a:ea typeface="+mn-lt"/>
              <a:cs typeface="+mn-lt"/>
            </a:endParaRPr>
          </a:p>
          <a:p>
            <a:r>
              <a:rPr lang="en-US" dirty="0">
                <a:solidFill>
                  <a:schemeClr val="tx1"/>
                </a:solidFill>
                <a:latin typeface="+mj-lt"/>
                <a:ea typeface="+mn-lt"/>
                <a:cs typeface="+mn-lt"/>
              </a:rPr>
              <a:t>Task 4: Create VNet </a:t>
            </a:r>
            <a:r>
              <a:rPr lang="en-US" dirty="0" err="1">
                <a:solidFill>
                  <a:schemeClr val="tx1"/>
                </a:solidFill>
                <a:latin typeface="+mj-lt"/>
                <a:ea typeface="+mn-lt"/>
                <a:cs typeface="+mn-lt"/>
              </a:rPr>
              <a:t>peerings</a:t>
            </a:r>
            <a:r>
              <a:rPr lang="en-US" dirty="0">
                <a:solidFill>
                  <a:schemeClr val="tx1"/>
                </a:solidFill>
                <a:latin typeface="+mj-lt"/>
                <a:ea typeface="+mn-lt"/>
                <a:cs typeface="+mn-lt"/>
              </a:rPr>
              <a:t> between </a:t>
            </a:r>
            <a:r>
              <a:rPr lang="en-US" dirty="0" err="1">
                <a:solidFill>
                  <a:schemeClr val="tx1"/>
                </a:solidFill>
                <a:latin typeface="+mj-lt"/>
                <a:ea typeface="+mn-lt"/>
                <a:cs typeface="+mn-lt"/>
              </a:rPr>
              <a:t>CoreServicesVnet</a:t>
            </a:r>
            <a:r>
              <a:rPr lang="en-US" dirty="0">
                <a:solidFill>
                  <a:schemeClr val="tx1"/>
                </a:solidFill>
                <a:latin typeface="+mj-lt"/>
                <a:ea typeface="+mn-lt"/>
                <a:cs typeface="+mn-lt"/>
              </a:rPr>
              <a:t> and </a:t>
            </a:r>
            <a:r>
              <a:rPr lang="en-US" dirty="0" err="1">
                <a:solidFill>
                  <a:schemeClr val="tx1"/>
                </a:solidFill>
                <a:latin typeface="+mj-lt"/>
                <a:ea typeface="+mn-lt"/>
                <a:cs typeface="+mn-lt"/>
              </a:rPr>
              <a:t>ManufacturingVnet</a:t>
            </a:r>
            <a:endParaRPr lang="en-US" dirty="0">
              <a:solidFill>
                <a:schemeClr val="tx1"/>
              </a:solidFill>
              <a:latin typeface="+mj-lt"/>
              <a:ea typeface="+mn-lt"/>
              <a:cs typeface="+mn-lt"/>
            </a:endParaRPr>
          </a:p>
          <a:p>
            <a:endParaRPr lang="en-US" dirty="0">
              <a:solidFill>
                <a:schemeClr val="tx1"/>
              </a:solidFill>
              <a:latin typeface="+mj-lt"/>
              <a:ea typeface="+mn-lt"/>
              <a:cs typeface="+mn-lt"/>
            </a:endParaRPr>
          </a:p>
          <a:p>
            <a:r>
              <a:rPr lang="en-US" dirty="0">
                <a:solidFill>
                  <a:schemeClr val="tx1"/>
                </a:solidFill>
                <a:latin typeface="+mj-lt"/>
                <a:ea typeface="+mn-lt"/>
                <a:cs typeface="+mn-lt"/>
              </a:rPr>
              <a:t>Task 5: Test the connection between the VMs</a:t>
            </a:r>
          </a:p>
          <a:p>
            <a:endParaRPr lang="en-US" dirty="0">
              <a:solidFill>
                <a:schemeClr val="tx1"/>
              </a:solidFill>
              <a:latin typeface="+mj-lt"/>
              <a:ea typeface="+mn-lt"/>
              <a:cs typeface="+mn-lt"/>
            </a:endParaRPr>
          </a:p>
          <a:p>
            <a:r>
              <a:rPr lang="en-US" dirty="0">
                <a:solidFill>
                  <a:schemeClr val="tx1"/>
                </a:solidFill>
                <a:latin typeface="+mj-lt"/>
                <a:ea typeface="+mn-lt"/>
                <a:cs typeface="+mn-lt"/>
              </a:rPr>
              <a:t>Task 6: Clean up resources</a:t>
            </a:r>
          </a:p>
        </p:txBody>
      </p:sp>
      <p:pic>
        <p:nvPicPr>
          <p:cNvPr id="5" name="Picture 4" descr="Network layout for Contoso. &#10;On-premises 10.10.0.0/16&#10;ResearchVNet 10.40.40.0/24&#10;CoreServicesVNet  10.20.0.0/16&#10;ManufacturingVNet 10.30.0.0/16">
            <a:extLst>
              <a:ext uri="{FF2B5EF4-FFF2-40B4-BE49-F238E27FC236}">
                <a16:creationId xmlns:a16="http://schemas.microsoft.com/office/drawing/2014/main" id="{A76236D2-C27A-4D31-BB00-F7273ECC6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6666" y="1650002"/>
            <a:ext cx="6870569" cy="4172729"/>
          </a:xfrm>
          <a:prstGeom prst="rect">
            <a:avLst/>
          </a:prstGeom>
        </p:spPr>
      </p:pic>
    </p:spTree>
    <p:extLst>
      <p:ext uri="{BB962C8B-B14F-4D97-AF65-F5344CB8AC3E}">
        <p14:creationId xmlns:p14="http://schemas.microsoft.com/office/powerpoint/2010/main" val="339768635"/>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F5167F-2595-41DD-A029-69784E17DE89}"/>
              </a:ext>
            </a:extLst>
          </p:cNvPr>
          <p:cNvSpPr>
            <a:spLocks noGrp="1"/>
          </p:cNvSpPr>
          <p:nvPr>
            <p:ph type="title"/>
          </p:nvPr>
        </p:nvSpPr>
        <p:spPr>
          <a:xfrm>
            <a:off x="585217" y="2930402"/>
            <a:ext cx="8892608" cy="997196"/>
          </a:xfrm>
        </p:spPr>
        <p:txBody>
          <a:bodyPr/>
          <a:lstStyle/>
          <a:p>
            <a:r>
              <a:rPr lang="en-US" dirty="0"/>
              <a:t>Lesson 08: Implement </a:t>
            </a:r>
            <a:r>
              <a:rPr lang="en-US" sz="3600" dirty="0"/>
              <a:t>virtual network traffic routing </a:t>
            </a:r>
            <a:endParaRPr lang="en-US" dirty="0"/>
          </a:p>
        </p:txBody>
      </p:sp>
      <p:grpSp>
        <p:nvGrpSpPr>
          <p:cNvPr id="4" name="Group 3">
            <a:extLst>
              <a:ext uri="{FF2B5EF4-FFF2-40B4-BE49-F238E27FC236}">
                <a16:creationId xmlns:a16="http://schemas.microsoft.com/office/drawing/2014/main" id="{3F89908D-A4F7-4C5F-BD3C-E209852C194D}"/>
              </a:ext>
              <a:ext uri="{C183D7F6-B498-43B3-948B-1728B52AA6E4}">
                <adec:decorative xmlns:adec="http://schemas.microsoft.com/office/drawing/2017/decorative" val="1"/>
              </a:ext>
            </a:extLst>
          </p:cNvPr>
          <p:cNvGrpSpPr/>
          <p:nvPr/>
        </p:nvGrpSpPr>
        <p:grpSpPr>
          <a:xfrm>
            <a:off x="10327625" y="3070379"/>
            <a:ext cx="717140" cy="717242"/>
            <a:chOff x="6229350" y="3134008"/>
            <a:chExt cx="717140" cy="717242"/>
          </a:xfrm>
        </p:grpSpPr>
        <p:grpSp>
          <p:nvGrpSpPr>
            <p:cNvPr id="6" name="Group 5">
              <a:extLst>
                <a:ext uri="{FF2B5EF4-FFF2-40B4-BE49-F238E27FC236}">
                  <a16:creationId xmlns:a16="http://schemas.microsoft.com/office/drawing/2014/main" id="{8EA0D1BA-F2F3-4435-A7B7-4618E6A91A94}"/>
                </a:ext>
              </a:extLst>
            </p:cNvPr>
            <p:cNvGrpSpPr/>
            <p:nvPr/>
          </p:nvGrpSpPr>
          <p:grpSpPr>
            <a:xfrm>
              <a:off x="6229350" y="3134008"/>
              <a:ext cx="717140" cy="717242"/>
              <a:chOff x="6229350" y="3134008"/>
              <a:chExt cx="717140" cy="717242"/>
            </a:xfrm>
          </p:grpSpPr>
          <p:sp>
            <p:nvSpPr>
              <p:cNvPr id="8" name="Freeform 5">
                <a:extLst>
                  <a:ext uri="{FF2B5EF4-FFF2-40B4-BE49-F238E27FC236}">
                    <a16:creationId xmlns:a16="http://schemas.microsoft.com/office/drawing/2014/main" id="{E2F79612-82D1-4A13-8F8A-E92C374A7E22}"/>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2C005B46-53EB-4FAF-BA2E-EF74B5EC7442}"/>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dots and outward pointing chevrons on left and right">
              <a:extLst>
                <a:ext uri="{FF2B5EF4-FFF2-40B4-BE49-F238E27FC236}">
                  <a16:creationId xmlns:a16="http://schemas.microsoft.com/office/drawing/2014/main" id="{751A3BB7-237F-41FA-A300-82517B39D8D9}"/>
                </a:ext>
              </a:extLst>
            </p:cNvPr>
            <p:cNvPicPr>
              <a:picLocks noChangeAspect="1"/>
            </p:cNvPicPr>
            <p:nvPr/>
          </p:nvPicPr>
          <p:blipFill>
            <a:blip r:embed="rId2"/>
            <a:stretch>
              <a:fillRect/>
            </a:stretch>
          </p:blipFill>
          <p:spPr>
            <a:xfrm>
              <a:off x="6337313" y="3382030"/>
              <a:ext cx="501214" cy="221198"/>
            </a:xfrm>
            <a:prstGeom prst="rect">
              <a:avLst/>
            </a:prstGeom>
          </p:spPr>
        </p:pic>
      </p:grpSp>
    </p:spTree>
    <p:extLst>
      <p:ext uri="{BB962C8B-B14F-4D97-AF65-F5344CB8AC3E}">
        <p14:creationId xmlns:p14="http://schemas.microsoft.com/office/powerpoint/2010/main" val="180403732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1424234"/>
            <a:ext cx="2122538" cy="4009533"/>
          </a:xfrm>
        </p:spPr>
        <p:txBody>
          <a:bodyPr/>
          <a:lstStyle/>
          <a:p>
            <a:r>
              <a:rPr lang="en-US" dirty="0"/>
              <a:t>Implement virtual network traffic routing overview</a:t>
            </a:r>
          </a:p>
        </p:txBody>
      </p:sp>
      <p:sp>
        <p:nvSpPr>
          <p:cNvPr id="6" name="Text Placeholder 5"/>
          <p:cNvSpPr>
            <a:spLocks noGrp="1"/>
          </p:cNvSpPr>
          <p:nvPr>
            <p:ph type="body" sz="quarter" idx="11"/>
          </p:nvPr>
        </p:nvSpPr>
        <p:spPr/>
        <p:txBody>
          <a:bodyPr/>
          <a:lstStyle/>
          <a:p>
            <a:pPr lvl="1"/>
            <a:r>
              <a:rPr lang="en-US" dirty="0"/>
              <a:t>Virtual network traffic routing </a:t>
            </a:r>
          </a:p>
        </p:txBody>
      </p:sp>
      <p:sp>
        <p:nvSpPr>
          <p:cNvPr id="2" name="Text Placeholder 1"/>
          <p:cNvSpPr>
            <a:spLocks noGrp="1"/>
          </p:cNvSpPr>
          <p:nvPr>
            <p:ph type="body" sz="quarter" idx="15"/>
          </p:nvPr>
        </p:nvSpPr>
        <p:spPr/>
        <p:txBody>
          <a:bodyPr/>
          <a:lstStyle/>
          <a:p>
            <a:pPr lvl="1"/>
            <a:r>
              <a:rPr lang="en-US" dirty="0"/>
              <a:t>Configure User-defined routes (UDRs) </a:t>
            </a:r>
          </a:p>
        </p:txBody>
      </p:sp>
      <p:sp>
        <p:nvSpPr>
          <p:cNvPr id="3" name="Text Placeholder 2"/>
          <p:cNvSpPr>
            <a:spLocks noGrp="1"/>
          </p:cNvSpPr>
          <p:nvPr>
            <p:ph type="body" sz="quarter" idx="17"/>
          </p:nvPr>
        </p:nvSpPr>
        <p:spPr/>
        <p:txBody>
          <a:bodyPr/>
          <a:lstStyle/>
          <a:p>
            <a:pPr lvl="1"/>
            <a:r>
              <a:rPr lang="en-US" dirty="0"/>
              <a:t>Configure forced tunneling </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a:xfrm>
            <a:off x="4078288" y="3924483"/>
            <a:ext cx="7695070" cy="741783"/>
          </a:xfrm>
        </p:spPr>
        <p:txBody>
          <a:bodyPr/>
          <a:lstStyle/>
          <a:p>
            <a:pPr lvl="1"/>
            <a:r>
              <a:rPr lang="en-US" dirty="0"/>
              <a:t>Diagnose a routing problem </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a:xfrm>
            <a:off x="4078288" y="4789542"/>
            <a:ext cx="7695070" cy="741783"/>
          </a:xfrm>
        </p:spPr>
        <p:txBody>
          <a:bodyPr/>
          <a:lstStyle/>
          <a:p>
            <a:pPr lvl="1"/>
            <a:r>
              <a:rPr lang="en-US" dirty="0"/>
              <a:t>Demonstration </a:t>
            </a:r>
          </a:p>
        </p:txBody>
      </p:sp>
      <p:sp>
        <p:nvSpPr>
          <p:cNvPr id="7" name="Text Placeholder 6">
            <a:extLst>
              <a:ext uri="{FF2B5EF4-FFF2-40B4-BE49-F238E27FC236}">
                <a16:creationId xmlns:a16="http://schemas.microsoft.com/office/drawing/2014/main" id="{A91ECD5A-A06D-4426-B215-D810A663A47E}"/>
              </a:ext>
            </a:extLst>
          </p:cNvPr>
          <p:cNvSpPr>
            <a:spLocks noGrp="1"/>
          </p:cNvSpPr>
          <p:nvPr>
            <p:ph type="body" sz="quarter" idx="22"/>
          </p:nvPr>
        </p:nvSpPr>
        <p:spPr>
          <a:xfrm>
            <a:off x="4078288" y="5654599"/>
            <a:ext cx="7695070" cy="741783"/>
          </a:xfrm>
        </p:spPr>
        <p:txBody>
          <a:bodyPr/>
          <a:lstStyle/>
          <a:p>
            <a:pPr lvl="1"/>
            <a:r>
              <a:rPr lang="en-US" dirty="0"/>
              <a:t>Review</a:t>
            </a:r>
          </a:p>
        </p:txBody>
      </p:sp>
      <p:grpSp>
        <p:nvGrpSpPr>
          <p:cNvPr id="22" name="Group 21">
            <a:extLst>
              <a:ext uri="{FF2B5EF4-FFF2-40B4-BE49-F238E27FC236}">
                <a16:creationId xmlns:a16="http://schemas.microsoft.com/office/drawing/2014/main" id="{956A674C-9210-4DA3-8A39-EFF8D9FBC50A}"/>
              </a:ext>
            </a:extLst>
          </p:cNvPr>
          <p:cNvGrpSpPr/>
          <p:nvPr/>
        </p:nvGrpSpPr>
        <p:grpSpPr>
          <a:xfrm>
            <a:off x="3031668" y="462996"/>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1341712"/>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206225"/>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942620"/>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4807133"/>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nvGrpSpPr>
          <p:cNvPr id="27" name="Group 26">
            <a:extLst>
              <a:ext uri="{FF2B5EF4-FFF2-40B4-BE49-F238E27FC236}">
                <a16:creationId xmlns:a16="http://schemas.microsoft.com/office/drawing/2014/main" id="{6060DB94-15B8-4E46-BEDD-2C1A83E582C7}"/>
              </a:ext>
            </a:extLst>
          </p:cNvPr>
          <p:cNvGrpSpPr/>
          <p:nvPr/>
        </p:nvGrpSpPr>
        <p:grpSpPr>
          <a:xfrm>
            <a:off x="3031668" y="5671646"/>
            <a:ext cx="702132" cy="702132"/>
            <a:chOff x="3031668" y="4799764"/>
            <a:chExt cx="702132" cy="702132"/>
          </a:xfrm>
        </p:grpSpPr>
        <p:grpSp>
          <p:nvGrpSpPr>
            <p:cNvPr id="21" name="Group 20">
              <a:extLst>
                <a:ext uri="{FF2B5EF4-FFF2-40B4-BE49-F238E27FC236}">
                  <a16:creationId xmlns:a16="http://schemas.microsoft.com/office/drawing/2014/main" id="{EC5A9229-47D5-4B8F-948E-282348F5FB99}"/>
                </a:ext>
              </a:extLst>
            </p:cNvPr>
            <p:cNvGrpSpPr/>
            <p:nvPr/>
          </p:nvGrpSpPr>
          <p:grpSpPr>
            <a:xfrm>
              <a:off x="3031668" y="4799764"/>
              <a:ext cx="702132" cy="702132"/>
              <a:chOff x="3031668" y="4799764"/>
              <a:chExt cx="702132" cy="702132"/>
            </a:xfrm>
          </p:grpSpPr>
          <p:sp>
            <p:nvSpPr>
              <p:cNvPr id="78" name="AutoShape 3">
                <a:extLst>
                  <a:ext uri="{FF2B5EF4-FFF2-40B4-BE49-F238E27FC236}">
                    <a16:creationId xmlns:a16="http://schemas.microsoft.com/office/drawing/2014/main" id="{CF996211-C481-4235-89A0-A32FD402DDE3}"/>
                  </a:ext>
                </a:extLst>
              </p:cNvPr>
              <p:cNvSpPr>
                <a:spLocks noChangeAspect="1" noChangeArrowheads="1" noTextEdit="1"/>
              </p:cNvSpPr>
              <p:nvPr/>
            </p:nvSpPr>
            <p:spPr bwMode="auto">
              <a:xfrm>
                <a:off x="3031668" y="4799764"/>
                <a:ext cx="702132" cy="70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5">
                <a:extLst>
                  <a:ext uri="{FF2B5EF4-FFF2-40B4-BE49-F238E27FC236}">
                    <a16:creationId xmlns:a16="http://schemas.microsoft.com/office/drawing/2014/main" id="{1B80AA19-EBDD-4F58-8B9A-0D60A58F5FD8}"/>
                  </a:ext>
                </a:extLst>
              </p:cNvPr>
              <p:cNvSpPr>
                <a:spLocks/>
              </p:cNvSpPr>
              <p:nvPr/>
            </p:nvSpPr>
            <p:spPr bwMode="auto">
              <a:xfrm>
                <a:off x="3031668" y="4799764"/>
                <a:ext cx="702132" cy="702132"/>
              </a:xfrm>
              <a:custGeom>
                <a:avLst/>
                <a:gdLst>
                  <a:gd name="T0" fmla="*/ 2 w 493"/>
                  <a:gd name="T1" fmla="*/ 221 h 493"/>
                  <a:gd name="T2" fmla="*/ 12 w 493"/>
                  <a:gd name="T3" fmla="*/ 174 h 493"/>
                  <a:gd name="T4" fmla="*/ 31 w 493"/>
                  <a:gd name="T5" fmla="*/ 130 h 493"/>
                  <a:gd name="T6" fmla="*/ 57 w 493"/>
                  <a:gd name="T7" fmla="*/ 90 h 493"/>
                  <a:gd name="T8" fmla="*/ 90 w 493"/>
                  <a:gd name="T9" fmla="*/ 57 h 493"/>
                  <a:gd name="T10" fmla="*/ 130 w 493"/>
                  <a:gd name="T11" fmla="*/ 31 h 493"/>
                  <a:gd name="T12" fmla="*/ 174 w 493"/>
                  <a:gd name="T13" fmla="*/ 12 h 493"/>
                  <a:gd name="T14" fmla="*/ 221 w 493"/>
                  <a:gd name="T15" fmla="*/ 2 h 493"/>
                  <a:gd name="T16" fmla="*/ 272 w 493"/>
                  <a:gd name="T17" fmla="*/ 2 h 493"/>
                  <a:gd name="T18" fmla="*/ 320 w 493"/>
                  <a:gd name="T19" fmla="*/ 12 h 493"/>
                  <a:gd name="T20" fmla="*/ 364 w 493"/>
                  <a:gd name="T21" fmla="*/ 31 h 493"/>
                  <a:gd name="T22" fmla="*/ 403 w 493"/>
                  <a:gd name="T23" fmla="*/ 57 h 493"/>
                  <a:gd name="T24" fmla="*/ 436 w 493"/>
                  <a:gd name="T25" fmla="*/ 90 h 493"/>
                  <a:gd name="T26" fmla="*/ 464 w 493"/>
                  <a:gd name="T27" fmla="*/ 130 h 493"/>
                  <a:gd name="T28" fmla="*/ 481 w 493"/>
                  <a:gd name="T29" fmla="*/ 174 h 493"/>
                  <a:gd name="T30" fmla="*/ 491 w 493"/>
                  <a:gd name="T31" fmla="*/ 221 h 493"/>
                  <a:gd name="T32" fmla="*/ 491 w 493"/>
                  <a:gd name="T33" fmla="*/ 272 h 493"/>
                  <a:gd name="T34" fmla="*/ 481 w 493"/>
                  <a:gd name="T35" fmla="*/ 320 h 493"/>
                  <a:gd name="T36" fmla="*/ 464 w 493"/>
                  <a:gd name="T37" fmla="*/ 364 h 493"/>
                  <a:gd name="T38" fmla="*/ 436 w 493"/>
                  <a:gd name="T39" fmla="*/ 403 h 493"/>
                  <a:gd name="T40" fmla="*/ 403 w 493"/>
                  <a:gd name="T41" fmla="*/ 437 h 493"/>
                  <a:gd name="T42" fmla="*/ 364 w 493"/>
                  <a:gd name="T43" fmla="*/ 464 h 493"/>
                  <a:gd name="T44" fmla="*/ 320 w 493"/>
                  <a:gd name="T45" fmla="*/ 481 h 493"/>
                  <a:gd name="T46" fmla="*/ 272 w 493"/>
                  <a:gd name="T47" fmla="*/ 491 h 493"/>
                  <a:gd name="T48" fmla="*/ 221 w 493"/>
                  <a:gd name="T49" fmla="*/ 491 h 493"/>
                  <a:gd name="T50" fmla="*/ 174 w 493"/>
                  <a:gd name="T51" fmla="*/ 481 h 493"/>
                  <a:gd name="T52" fmla="*/ 130 w 493"/>
                  <a:gd name="T53" fmla="*/ 464 h 493"/>
                  <a:gd name="T54" fmla="*/ 90 w 493"/>
                  <a:gd name="T55" fmla="*/ 437 h 493"/>
                  <a:gd name="T56" fmla="*/ 57 w 493"/>
                  <a:gd name="T57" fmla="*/ 403 h 493"/>
                  <a:gd name="T58" fmla="*/ 31 w 493"/>
                  <a:gd name="T59" fmla="*/ 364 h 493"/>
                  <a:gd name="T60" fmla="*/ 12 w 493"/>
                  <a:gd name="T61" fmla="*/ 320 h 493"/>
                  <a:gd name="T62" fmla="*/ 2 w 493"/>
                  <a:gd name="T63" fmla="*/ 27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3" h="493">
                    <a:moveTo>
                      <a:pt x="0" y="247"/>
                    </a:moveTo>
                    <a:lnTo>
                      <a:pt x="2" y="221"/>
                    </a:lnTo>
                    <a:lnTo>
                      <a:pt x="6" y="197"/>
                    </a:lnTo>
                    <a:lnTo>
                      <a:pt x="12" y="174"/>
                    </a:lnTo>
                    <a:lnTo>
                      <a:pt x="20" y="151"/>
                    </a:lnTo>
                    <a:lnTo>
                      <a:pt x="31" y="130"/>
                    </a:lnTo>
                    <a:lnTo>
                      <a:pt x="42" y="109"/>
                    </a:lnTo>
                    <a:lnTo>
                      <a:pt x="57" y="90"/>
                    </a:lnTo>
                    <a:lnTo>
                      <a:pt x="73" y="73"/>
                    </a:lnTo>
                    <a:lnTo>
                      <a:pt x="90" y="57"/>
                    </a:lnTo>
                    <a:lnTo>
                      <a:pt x="109" y="42"/>
                    </a:lnTo>
                    <a:lnTo>
                      <a:pt x="130" y="31"/>
                    </a:lnTo>
                    <a:lnTo>
                      <a:pt x="151" y="20"/>
                    </a:lnTo>
                    <a:lnTo>
                      <a:pt x="174" y="12"/>
                    </a:lnTo>
                    <a:lnTo>
                      <a:pt x="197" y="6"/>
                    </a:lnTo>
                    <a:lnTo>
                      <a:pt x="221" y="2"/>
                    </a:lnTo>
                    <a:lnTo>
                      <a:pt x="247" y="0"/>
                    </a:lnTo>
                    <a:lnTo>
                      <a:pt x="272" y="2"/>
                    </a:lnTo>
                    <a:lnTo>
                      <a:pt x="296" y="6"/>
                    </a:lnTo>
                    <a:lnTo>
                      <a:pt x="320" y="12"/>
                    </a:lnTo>
                    <a:lnTo>
                      <a:pt x="342" y="20"/>
                    </a:lnTo>
                    <a:lnTo>
                      <a:pt x="364" y="31"/>
                    </a:lnTo>
                    <a:lnTo>
                      <a:pt x="384" y="42"/>
                    </a:lnTo>
                    <a:lnTo>
                      <a:pt x="403" y="57"/>
                    </a:lnTo>
                    <a:lnTo>
                      <a:pt x="420" y="73"/>
                    </a:lnTo>
                    <a:lnTo>
                      <a:pt x="436" y="90"/>
                    </a:lnTo>
                    <a:lnTo>
                      <a:pt x="451" y="109"/>
                    </a:lnTo>
                    <a:lnTo>
                      <a:pt x="464" y="130"/>
                    </a:lnTo>
                    <a:lnTo>
                      <a:pt x="473" y="151"/>
                    </a:lnTo>
                    <a:lnTo>
                      <a:pt x="481" y="174"/>
                    </a:lnTo>
                    <a:lnTo>
                      <a:pt x="487" y="197"/>
                    </a:lnTo>
                    <a:lnTo>
                      <a:pt x="491" y="221"/>
                    </a:lnTo>
                    <a:lnTo>
                      <a:pt x="493" y="247"/>
                    </a:lnTo>
                    <a:lnTo>
                      <a:pt x="491" y="272"/>
                    </a:lnTo>
                    <a:lnTo>
                      <a:pt x="487" y="296"/>
                    </a:lnTo>
                    <a:lnTo>
                      <a:pt x="481" y="320"/>
                    </a:lnTo>
                    <a:lnTo>
                      <a:pt x="473" y="342"/>
                    </a:lnTo>
                    <a:lnTo>
                      <a:pt x="464" y="364"/>
                    </a:lnTo>
                    <a:lnTo>
                      <a:pt x="451" y="384"/>
                    </a:lnTo>
                    <a:lnTo>
                      <a:pt x="436" y="403"/>
                    </a:lnTo>
                    <a:lnTo>
                      <a:pt x="420" y="420"/>
                    </a:lnTo>
                    <a:lnTo>
                      <a:pt x="403" y="437"/>
                    </a:lnTo>
                    <a:lnTo>
                      <a:pt x="384" y="451"/>
                    </a:lnTo>
                    <a:lnTo>
                      <a:pt x="364" y="464"/>
                    </a:lnTo>
                    <a:lnTo>
                      <a:pt x="342" y="473"/>
                    </a:lnTo>
                    <a:lnTo>
                      <a:pt x="320" y="481"/>
                    </a:lnTo>
                    <a:lnTo>
                      <a:pt x="296" y="487"/>
                    </a:lnTo>
                    <a:lnTo>
                      <a:pt x="272" y="491"/>
                    </a:lnTo>
                    <a:lnTo>
                      <a:pt x="247" y="493"/>
                    </a:lnTo>
                    <a:lnTo>
                      <a:pt x="221" y="491"/>
                    </a:lnTo>
                    <a:lnTo>
                      <a:pt x="197" y="487"/>
                    </a:lnTo>
                    <a:lnTo>
                      <a:pt x="174" y="481"/>
                    </a:lnTo>
                    <a:lnTo>
                      <a:pt x="151" y="473"/>
                    </a:lnTo>
                    <a:lnTo>
                      <a:pt x="130" y="464"/>
                    </a:lnTo>
                    <a:lnTo>
                      <a:pt x="109" y="451"/>
                    </a:lnTo>
                    <a:lnTo>
                      <a:pt x="90" y="437"/>
                    </a:lnTo>
                    <a:lnTo>
                      <a:pt x="73" y="420"/>
                    </a:lnTo>
                    <a:lnTo>
                      <a:pt x="57" y="403"/>
                    </a:lnTo>
                    <a:lnTo>
                      <a:pt x="42" y="384"/>
                    </a:lnTo>
                    <a:lnTo>
                      <a:pt x="31" y="364"/>
                    </a:lnTo>
                    <a:lnTo>
                      <a:pt x="20" y="342"/>
                    </a:lnTo>
                    <a:lnTo>
                      <a:pt x="12" y="320"/>
                    </a:lnTo>
                    <a:lnTo>
                      <a:pt x="6" y="296"/>
                    </a:lnTo>
                    <a:lnTo>
                      <a:pt x="2" y="272"/>
                    </a:lnTo>
                    <a:lnTo>
                      <a:pt x="0" y="247"/>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80" name="Freeform 6">
                <a:extLst>
                  <a:ext uri="{FF2B5EF4-FFF2-40B4-BE49-F238E27FC236}">
                    <a16:creationId xmlns:a16="http://schemas.microsoft.com/office/drawing/2014/main" id="{23FC2815-7F4A-4903-9A08-A24F2C74864A}"/>
                  </a:ext>
                </a:extLst>
              </p:cNvPr>
              <p:cNvSpPr>
                <a:spLocks noEditPoints="1"/>
              </p:cNvSpPr>
              <p:nvPr/>
            </p:nvSpPr>
            <p:spPr bwMode="auto">
              <a:xfrm>
                <a:off x="3087212" y="4854596"/>
                <a:ext cx="591044" cy="592469"/>
              </a:xfrm>
              <a:prstGeom prst="ellipse">
                <a:avLst/>
              </a:prstGeom>
              <a:noFill/>
              <a:ln w="28575" cap="flat">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coding brackets">
              <a:extLst>
                <a:ext uri="{FF2B5EF4-FFF2-40B4-BE49-F238E27FC236}">
                  <a16:creationId xmlns:a16="http://schemas.microsoft.com/office/drawing/2014/main" id="{B0C5D0BC-720B-401F-BF64-B19B73B6DE2B}"/>
                </a:ext>
              </a:extLst>
            </p:cNvPr>
            <p:cNvPicPr>
              <a:picLocks noChangeAspect="1"/>
            </p:cNvPicPr>
            <p:nvPr/>
          </p:nvPicPr>
          <p:blipFill>
            <a:blip r:embed="rId8"/>
            <a:stretch>
              <a:fillRect/>
            </a:stretch>
          </p:blipFill>
          <p:spPr>
            <a:xfrm>
              <a:off x="3196983" y="4965079"/>
              <a:ext cx="371503" cy="371503"/>
            </a:xfrm>
            <a:prstGeom prst="rect">
              <a:avLst/>
            </a:prstGeom>
          </p:spPr>
        </p:pic>
      </p:grpSp>
      <p:sp>
        <p:nvSpPr>
          <p:cNvPr id="41" name="Text Placeholder 2">
            <a:extLst>
              <a:ext uri="{FF2B5EF4-FFF2-40B4-BE49-F238E27FC236}">
                <a16:creationId xmlns:a16="http://schemas.microsoft.com/office/drawing/2014/main" id="{28ECC8AD-5F84-4D0C-8D13-A0F1E2B59444}"/>
              </a:ext>
            </a:extLst>
          </p:cNvPr>
          <p:cNvSpPr txBox="1">
            <a:spLocks/>
          </p:cNvSpPr>
          <p:nvPr/>
        </p:nvSpPr>
        <p:spPr>
          <a:xfrm>
            <a:off x="4078288" y="3089218"/>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lvl="1"/>
            <a:r>
              <a:rPr lang="en-US" dirty="0"/>
              <a:t>Configure Azure Route Server </a:t>
            </a:r>
          </a:p>
        </p:txBody>
      </p:sp>
      <p:pic>
        <p:nvPicPr>
          <p:cNvPr id="28" name="Picture 27" descr="Icon of a wrench">
            <a:extLst>
              <a:ext uri="{FF2B5EF4-FFF2-40B4-BE49-F238E27FC236}">
                <a16:creationId xmlns:a16="http://schemas.microsoft.com/office/drawing/2014/main" id="{AEECE6DF-75C0-4BFF-A337-BA2A9E65283E}"/>
              </a:ext>
            </a:extLst>
          </p:cNvPr>
          <p:cNvPicPr>
            <a:picLocks noChangeAspect="1"/>
          </p:cNvPicPr>
          <p:nvPr/>
        </p:nvPicPr>
        <p:blipFill>
          <a:blip r:embed="rId9"/>
          <a:stretch>
            <a:fillRect/>
          </a:stretch>
        </p:blipFill>
        <p:spPr>
          <a:xfrm>
            <a:off x="2986599" y="3044902"/>
            <a:ext cx="830488" cy="830488"/>
          </a:xfrm>
          <a:prstGeom prst="rect">
            <a:avLst/>
          </a:prstGeom>
        </p:spPr>
      </p:pic>
    </p:spTree>
    <p:extLst>
      <p:ext uri="{BB962C8B-B14F-4D97-AF65-F5344CB8AC3E}">
        <p14:creationId xmlns:p14="http://schemas.microsoft.com/office/powerpoint/2010/main" val="186755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2DCD6D-80D8-493D-8D42-8BD9B7BD8F36}"/>
              </a:ext>
            </a:extLst>
          </p:cNvPr>
          <p:cNvSpPr>
            <a:spLocks noGrp="1"/>
          </p:cNvSpPr>
          <p:nvPr>
            <p:ph type="title"/>
          </p:nvPr>
        </p:nvSpPr>
        <p:spPr/>
        <p:txBody>
          <a:bodyPr/>
          <a:lstStyle/>
          <a:p>
            <a:r>
              <a:rPr lang="en-US" dirty="0"/>
              <a:t>Virtual network traffic routing </a:t>
            </a:r>
          </a:p>
        </p:txBody>
      </p:sp>
      <p:sp>
        <p:nvSpPr>
          <p:cNvPr id="5" name="Rectangle 4">
            <a:extLst>
              <a:ext uri="{FF2B5EF4-FFF2-40B4-BE49-F238E27FC236}">
                <a16:creationId xmlns:a16="http://schemas.microsoft.com/office/drawing/2014/main" id="{747C9A98-B88D-4E2B-8C83-B0BCFACF98F0}"/>
              </a:ext>
            </a:extLst>
          </p:cNvPr>
          <p:cNvSpPr/>
          <p:nvPr/>
        </p:nvSpPr>
        <p:spPr>
          <a:xfrm>
            <a:off x="424090" y="2134345"/>
            <a:ext cx="2572531" cy="7663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a:solidFill>
                  <a:schemeClr val="tx1"/>
                </a:solidFill>
                <a:latin typeface="+mj-lt"/>
                <a:ea typeface="+mn-lt"/>
                <a:cs typeface="+mn-lt"/>
              </a:rPr>
              <a:t>System routes</a:t>
            </a:r>
          </a:p>
        </p:txBody>
      </p:sp>
      <p:sp>
        <p:nvSpPr>
          <p:cNvPr id="7" name="Rectangle 6">
            <a:extLst>
              <a:ext uri="{FF2B5EF4-FFF2-40B4-BE49-F238E27FC236}">
                <a16:creationId xmlns:a16="http://schemas.microsoft.com/office/drawing/2014/main" id="{485978CD-0E3A-42D9-B778-A76EF5B22648}"/>
              </a:ext>
            </a:extLst>
          </p:cNvPr>
          <p:cNvSpPr/>
          <p:nvPr/>
        </p:nvSpPr>
        <p:spPr>
          <a:xfrm>
            <a:off x="424090" y="3220069"/>
            <a:ext cx="2572531" cy="7663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a:solidFill>
                  <a:schemeClr val="tx1"/>
                </a:solidFill>
                <a:latin typeface="+mj-lt"/>
                <a:cs typeface="Segoe UI Semilight"/>
              </a:rPr>
              <a:t>Default routes</a:t>
            </a:r>
          </a:p>
        </p:txBody>
      </p:sp>
      <p:sp>
        <p:nvSpPr>
          <p:cNvPr id="9" name="Rectangle 8">
            <a:extLst>
              <a:ext uri="{FF2B5EF4-FFF2-40B4-BE49-F238E27FC236}">
                <a16:creationId xmlns:a16="http://schemas.microsoft.com/office/drawing/2014/main" id="{6596AE29-AC8D-4F16-B5BA-E4F06C2DB4D3}"/>
              </a:ext>
            </a:extLst>
          </p:cNvPr>
          <p:cNvSpPr/>
          <p:nvPr/>
        </p:nvSpPr>
        <p:spPr>
          <a:xfrm>
            <a:off x="424090" y="4305793"/>
            <a:ext cx="2572531" cy="7663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a:solidFill>
                  <a:schemeClr val="tx1"/>
                </a:solidFill>
                <a:latin typeface="+mj-lt"/>
                <a:ea typeface="+mn-lt"/>
                <a:cs typeface="+mn-lt"/>
              </a:rPr>
              <a:t>Custom routes</a:t>
            </a:r>
            <a:endParaRPr lang="en-US" sz="2157">
              <a:solidFill>
                <a:schemeClr val="tx1"/>
              </a:solidFill>
            </a:endParaRPr>
          </a:p>
        </p:txBody>
      </p:sp>
      <p:pic>
        <p:nvPicPr>
          <p:cNvPr id="4" name="Picture 3" descr="Azure portal screenshot of NIC effective routes ">
            <a:extLst>
              <a:ext uri="{FF2B5EF4-FFF2-40B4-BE49-F238E27FC236}">
                <a16:creationId xmlns:a16="http://schemas.microsoft.com/office/drawing/2014/main" id="{D19AB64E-4284-45E7-B7A0-3258FEC7FA27}"/>
              </a:ext>
            </a:extLst>
          </p:cNvPr>
          <p:cNvPicPr>
            <a:picLocks noChangeAspect="1"/>
          </p:cNvPicPr>
          <p:nvPr/>
        </p:nvPicPr>
        <p:blipFill>
          <a:blip r:embed="rId3"/>
          <a:stretch>
            <a:fillRect/>
          </a:stretch>
        </p:blipFill>
        <p:spPr>
          <a:xfrm>
            <a:off x="3286539" y="1901904"/>
            <a:ext cx="8605990" cy="3902869"/>
          </a:xfrm>
          <a:prstGeom prst="rect">
            <a:avLst/>
          </a:prstGeom>
        </p:spPr>
      </p:pic>
      <p:sp>
        <p:nvSpPr>
          <p:cNvPr id="6" name="Rectangle 5">
            <a:extLst>
              <a:ext uri="{FF2B5EF4-FFF2-40B4-BE49-F238E27FC236}">
                <a16:creationId xmlns:a16="http://schemas.microsoft.com/office/drawing/2014/main" id="{48D75E50-2589-47C0-83C2-9FDAEABAC34D}"/>
              </a:ext>
              <a:ext uri="{C183D7F6-B498-43B3-948B-1728B52AA6E4}">
                <adec:decorative xmlns:adec="http://schemas.microsoft.com/office/drawing/2017/decorative" val="1"/>
              </a:ext>
            </a:extLst>
          </p:cNvPr>
          <p:cNvSpPr/>
          <p:nvPr/>
        </p:nvSpPr>
        <p:spPr bwMode="auto">
          <a:xfrm>
            <a:off x="3167366" y="1169262"/>
            <a:ext cx="8874817" cy="507655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39067598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22F73-E866-4678-9751-4AA81EB149DC}"/>
              </a:ext>
            </a:extLst>
          </p:cNvPr>
          <p:cNvSpPr>
            <a:spLocks noGrp="1"/>
          </p:cNvSpPr>
          <p:nvPr>
            <p:ph type="title"/>
          </p:nvPr>
        </p:nvSpPr>
        <p:spPr/>
        <p:txBody>
          <a:bodyPr/>
          <a:lstStyle/>
          <a:p>
            <a:r>
              <a:rPr lang="en-US" dirty="0"/>
              <a:t>Configure User-defined routes</a:t>
            </a:r>
          </a:p>
        </p:txBody>
      </p:sp>
      <p:sp>
        <p:nvSpPr>
          <p:cNvPr id="3" name="Rectangle 2">
            <a:extLst>
              <a:ext uri="{FF2B5EF4-FFF2-40B4-BE49-F238E27FC236}">
                <a16:creationId xmlns:a16="http://schemas.microsoft.com/office/drawing/2014/main" id="{DF02584E-B1BD-457A-84CF-8DE283440389}"/>
              </a:ext>
              <a:ext uri="{C183D7F6-B498-43B3-948B-1728B52AA6E4}">
                <adec:decorative xmlns:adec="http://schemas.microsoft.com/office/drawing/2017/decorative" val="1"/>
              </a:ext>
            </a:extLst>
          </p:cNvPr>
          <p:cNvSpPr/>
          <p:nvPr/>
        </p:nvSpPr>
        <p:spPr bwMode="auto">
          <a:xfrm>
            <a:off x="7189077" y="620110"/>
            <a:ext cx="4578834" cy="537145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D09B44CE-B6B2-4E6B-A731-A706F2085D55}"/>
              </a:ext>
              <a:ext uri="{C183D7F6-B498-43B3-948B-1728B52AA6E4}">
                <adec:decorative xmlns:adec="http://schemas.microsoft.com/office/drawing/2017/decorative" val="1"/>
              </a:ext>
            </a:extLst>
          </p:cNvPr>
          <p:cNvSpPr/>
          <p:nvPr/>
        </p:nvSpPr>
        <p:spPr bwMode="auto">
          <a:xfrm>
            <a:off x="315311" y="2060027"/>
            <a:ext cx="6621518" cy="331075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5" name="Picture 4" descr="Azure portal screenshot creating a route table with virtual network gateway route propagation ">
            <a:extLst>
              <a:ext uri="{FF2B5EF4-FFF2-40B4-BE49-F238E27FC236}">
                <a16:creationId xmlns:a16="http://schemas.microsoft.com/office/drawing/2014/main" id="{3D237E5B-F457-4651-8468-73D5F9D8727E}"/>
              </a:ext>
            </a:extLst>
          </p:cNvPr>
          <p:cNvPicPr>
            <a:picLocks noChangeAspect="1"/>
          </p:cNvPicPr>
          <p:nvPr/>
        </p:nvPicPr>
        <p:blipFill>
          <a:blip r:embed="rId3"/>
          <a:stretch>
            <a:fillRect/>
          </a:stretch>
        </p:blipFill>
        <p:spPr>
          <a:xfrm>
            <a:off x="7276503" y="1294172"/>
            <a:ext cx="4403981" cy="4269655"/>
          </a:xfrm>
          <a:prstGeom prst="rect">
            <a:avLst/>
          </a:prstGeom>
        </p:spPr>
      </p:pic>
      <p:pic>
        <p:nvPicPr>
          <p:cNvPr id="9" name="Picture 8" descr="virtual network diagram showing traffic flow from routing table to public subnet to DMZ subnet to private subnet ">
            <a:extLst>
              <a:ext uri="{FF2B5EF4-FFF2-40B4-BE49-F238E27FC236}">
                <a16:creationId xmlns:a16="http://schemas.microsoft.com/office/drawing/2014/main" id="{720B71CA-05BD-4781-8129-1964B0FA6AB2}"/>
              </a:ext>
            </a:extLst>
          </p:cNvPr>
          <p:cNvPicPr>
            <a:picLocks noChangeAspect="1"/>
          </p:cNvPicPr>
          <p:nvPr/>
        </p:nvPicPr>
        <p:blipFill>
          <a:blip r:embed="rId4"/>
          <a:stretch>
            <a:fillRect/>
          </a:stretch>
        </p:blipFill>
        <p:spPr>
          <a:xfrm>
            <a:off x="511516" y="2334281"/>
            <a:ext cx="6181725" cy="2762250"/>
          </a:xfrm>
          <a:prstGeom prst="rect">
            <a:avLst/>
          </a:prstGeom>
        </p:spPr>
      </p:pic>
    </p:spTree>
    <p:extLst>
      <p:ext uri="{BB962C8B-B14F-4D97-AF65-F5344CB8AC3E}">
        <p14:creationId xmlns:p14="http://schemas.microsoft.com/office/powerpoint/2010/main" val="423332464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971B0-6DDB-4CE1-A1A0-43BEF106406B}"/>
              </a:ext>
            </a:extLst>
          </p:cNvPr>
          <p:cNvSpPr>
            <a:spLocks noGrp="1"/>
          </p:cNvSpPr>
          <p:nvPr>
            <p:ph type="title"/>
          </p:nvPr>
        </p:nvSpPr>
        <p:spPr/>
        <p:txBody>
          <a:bodyPr/>
          <a:lstStyle/>
          <a:p>
            <a:r>
              <a:rPr lang="en-US" dirty="0"/>
              <a:t>Create a Custom Route and associate route table to subnet</a:t>
            </a:r>
          </a:p>
        </p:txBody>
      </p:sp>
      <p:pic>
        <p:nvPicPr>
          <p:cNvPr id="4" name="Picture 3" descr="Azure portal screenshot adding a route to a route table with next hop type virtual appliance ">
            <a:extLst>
              <a:ext uri="{FF2B5EF4-FFF2-40B4-BE49-F238E27FC236}">
                <a16:creationId xmlns:a16="http://schemas.microsoft.com/office/drawing/2014/main" id="{D9B36CEA-2856-4C1C-A897-2FDB91A62AE7}"/>
              </a:ext>
            </a:extLst>
          </p:cNvPr>
          <p:cNvPicPr>
            <a:picLocks noChangeAspect="1"/>
          </p:cNvPicPr>
          <p:nvPr/>
        </p:nvPicPr>
        <p:blipFill>
          <a:blip r:embed="rId3"/>
          <a:stretch>
            <a:fillRect/>
          </a:stretch>
        </p:blipFill>
        <p:spPr>
          <a:xfrm>
            <a:off x="1524916" y="1266825"/>
            <a:ext cx="3162300" cy="4324350"/>
          </a:xfrm>
          <a:prstGeom prst="rect">
            <a:avLst/>
          </a:prstGeom>
        </p:spPr>
      </p:pic>
      <p:pic>
        <p:nvPicPr>
          <p:cNvPr id="6" name="Picture 5" descr="Azure screenshot adding a route table to a subnet ">
            <a:extLst>
              <a:ext uri="{FF2B5EF4-FFF2-40B4-BE49-F238E27FC236}">
                <a16:creationId xmlns:a16="http://schemas.microsoft.com/office/drawing/2014/main" id="{20048D01-664A-4622-BDDB-3C52DD02BE1E}"/>
              </a:ext>
            </a:extLst>
          </p:cNvPr>
          <p:cNvPicPr>
            <a:picLocks noChangeAspect="1"/>
          </p:cNvPicPr>
          <p:nvPr/>
        </p:nvPicPr>
        <p:blipFill>
          <a:blip r:embed="rId4"/>
          <a:stretch>
            <a:fillRect/>
          </a:stretch>
        </p:blipFill>
        <p:spPr>
          <a:xfrm>
            <a:off x="7086756" y="1201711"/>
            <a:ext cx="3714750" cy="4524375"/>
          </a:xfrm>
          <a:prstGeom prst="rect">
            <a:avLst/>
          </a:prstGeom>
        </p:spPr>
      </p:pic>
      <p:sp>
        <p:nvSpPr>
          <p:cNvPr id="3" name="Rectangle 2">
            <a:extLst>
              <a:ext uri="{FF2B5EF4-FFF2-40B4-BE49-F238E27FC236}">
                <a16:creationId xmlns:a16="http://schemas.microsoft.com/office/drawing/2014/main" id="{5AC8E5A0-9D73-4A33-A27A-ED4FD21C96A5}"/>
              </a:ext>
              <a:ext uri="{C183D7F6-B498-43B3-948B-1728B52AA6E4}">
                <adec:decorative xmlns:adec="http://schemas.microsoft.com/office/drawing/2017/decorative" val="1"/>
              </a:ext>
            </a:extLst>
          </p:cNvPr>
          <p:cNvSpPr/>
          <p:nvPr/>
        </p:nvSpPr>
        <p:spPr bwMode="auto">
          <a:xfrm>
            <a:off x="6558454" y="1030014"/>
            <a:ext cx="4708635" cy="506598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51F9B34D-BC60-4678-AEFA-C7B8DA976A26}"/>
              </a:ext>
              <a:ext uri="{C183D7F6-B498-43B3-948B-1728B52AA6E4}">
                <adec:decorative xmlns:adec="http://schemas.microsoft.com/office/drawing/2017/decorative" val="1"/>
              </a:ext>
            </a:extLst>
          </p:cNvPr>
          <p:cNvSpPr/>
          <p:nvPr/>
        </p:nvSpPr>
        <p:spPr bwMode="auto">
          <a:xfrm>
            <a:off x="788276" y="1030014"/>
            <a:ext cx="4477407" cy="506598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63616400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C7EB-B90B-44B2-AF13-E8D67F844A65}"/>
              </a:ext>
            </a:extLst>
          </p:cNvPr>
          <p:cNvSpPr>
            <a:spLocks noGrp="1"/>
          </p:cNvSpPr>
          <p:nvPr>
            <p:ph type="title"/>
          </p:nvPr>
        </p:nvSpPr>
        <p:spPr/>
        <p:txBody>
          <a:bodyPr/>
          <a:lstStyle/>
          <a:p>
            <a:r>
              <a:rPr lang="en-US" dirty="0"/>
              <a:t>Configure forced tunneling </a:t>
            </a:r>
          </a:p>
        </p:txBody>
      </p:sp>
      <p:pic>
        <p:nvPicPr>
          <p:cNvPr id="3" name="Picture 2" descr="Backend and Mid-tier subnets Forced Tunneled via S2S VPN.&#10;&#10;Frontend subnets routed directly to Internet.">
            <a:extLst>
              <a:ext uri="{FF2B5EF4-FFF2-40B4-BE49-F238E27FC236}">
                <a16:creationId xmlns:a16="http://schemas.microsoft.com/office/drawing/2014/main" id="{F53E62D0-7F8D-4273-A9F4-EC83881821CB}"/>
              </a:ext>
            </a:extLst>
          </p:cNvPr>
          <p:cNvPicPr/>
          <p:nvPr/>
        </p:nvPicPr>
        <p:blipFill>
          <a:blip r:embed="rId3"/>
          <a:stretch>
            <a:fillRect/>
          </a:stretch>
        </p:blipFill>
        <p:spPr bwMode="auto">
          <a:xfrm>
            <a:off x="6785113" y="866436"/>
            <a:ext cx="4838742" cy="4036867"/>
          </a:xfrm>
          <a:prstGeom prst="rect">
            <a:avLst/>
          </a:prstGeom>
          <a:noFill/>
          <a:ln>
            <a:noFill/>
          </a:ln>
        </p:spPr>
      </p:pic>
      <p:sp>
        <p:nvSpPr>
          <p:cNvPr id="5" name="TextBox 1">
            <a:extLst>
              <a:ext uri="{FF2B5EF4-FFF2-40B4-BE49-F238E27FC236}">
                <a16:creationId xmlns:a16="http://schemas.microsoft.com/office/drawing/2014/main" id="{808B76F6-1446-4705-AB5A-A6B69A73B10E}"/>
              </a:ext>
            </a:extLst>
          </p:cNvPr>
          <p:cNvSpPr txBox="1"/>
          <p:nvPr/>
        </p:nvSpPr>
        <p:spPr>
          <a:xfrm>
            <a:off x="630772" y="1272208"/>
            <a:ext cx="5495999" cy="45359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a:spcBef>
                <a:spcPts val="0"/>
              </a:spcBef>
            </a:pPr>
            <a:r>
              <a:rPr lang="en-US" sz="1400">
                <a:effectLst/>
                <a:latin typeface="Calibri" panose="020F0502020204030204" pitchFamily="34" charset="0"/>
                <a:ea typeface="Calibri" panose="020F0502020204030204" pitchFamily="34" charset="0"/>
                <a:cs typeface="Times New Roman" panose="02020603050405020304" pitchFamily="18" charset="0"/>
              </a:rPr>
              <a:t>Each virtual network subnet has a built-in, system routing table. The system routing table has the following three groups of routes:</a:t>
            </a:r>
          </a:p>
          <a:p>
            <a:pPr marL="285750" indent="-285750">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Local VNet routes: Route directly to the destination VMs in the same virtual network.</a:t>
            </a:r>
          </a:p>
          <a:p>
            <a:pPr marL="285750" indent="-285750">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On-premises routes: Route to the Azure VPN gateway.</a:t>
            </a:r>
          </a:p>
          <a:p>
            <a:pPr marL="285750" indent="-285750">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Default route: Route directly to the Internet. Packets destined to the private IP addresses not covered by the previous two routes are dropped.</a:t>
            </a:r>
          </a:p>
          <a:p>
            <a:endParaRPr lang="en-US" sz="1400">
              <a:effectLst/>
              <a:latin typeface="Calibri" panose="020F0502020204030204" pitchFamily="34" charset="0"/>
              <a:ea typeface="Calibri" panose="020F0502020204030204" pitchFamily="34" charset="0"/>
              <a:cs typeface="Times New Roman" panose="02020603050405020304" pitchFamily="18" charset="0"/>
            </a:endParaRPr>
          </a:p>
          <a:p>
            <a:pPr marR="0" lvl="0">
              <a:spcBef>
                <a:spcPts val="0"/>
              </a:spcBef>
              <a:spcAft>
                <a:spcPts val="100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To configure forced tunnelling, you must:</a:t>
            </a:r>
          </a:p>
          <a:p>
            <a:pPr marL="285750" marR="0" lvl="0" indent="-285750">
              <a:spcBef>
                <a:spcPts val="0"/>
              </a:spcBef>
              <a:spcAft>
                <a:spcPts val="0"/>
              </a:spcAft>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Create a routing table.</a:t>
            </a:r>
          </a:p>
          <a:p>
            <a:pPr marL="285750" marR="0" lvl="0" indent="-285750">
              <a:spcBef>
                <a:spcPts val="0"/>
              </a:spcBef>
              <a:spcAft>
                <a:spcPts val="0"/>
              </a:spcAft>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Add a user-defined default route to the VPN Gateway.</a:t>
            </a:r>
          </a:p>
          <a:p>
            <a:pPr marL="285750" marR="0" lvl="0" indent="-285750">
              <a:spcBef>
                <a:spcPts val="0"/>
              </a:spcBef>
              <a:spcAft>
                <a:spcPts val="1000"/>
              </a:spcAft>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Associate the routing table to the appropriate VNet subnet(s).</a:t>
            </a:r>
          </a:p>
          <a:p>
            <a:pPr marR="0" lvl="0">
              <a:spcBef>
                <a:spcPts val="0"/>
              </a:spcBef>
              <a:spcAft>
                <a:spcPts val="1000"/>
              </a:spcAft>
            </a:pPr>
            <a:r>
              <a:rPr lang="en-US" sz="1400">
                <a:effectLst/>
                <a:latin typeface="Calibri" panose="020F0502020204030204" pitchFamily="34" charset="0"/>
                <a:ea typeface="Calibri" panose="020F0502020204030204" pitchFamily="34" charset="0"/>
                <a:cs typeface="Times New Roman" panose="02020603050405020304" pitchFamily="18" charset="0"/>
              </a:rPr>
              <a:t>Forced tunneling must be associated with a VNet that has a route-based VPN gateway. </a:t>
            </a:r>
          </a:p>
          <a:p>
            <a:pPr marL="285750" marR="0" lvl="0" indent="-285750">
              <a:spcBef>
                <a:spcPts val="0"/>
              </a:spcBef>
              <a:spcAft>
                <a:spcPts val="0"/>
              </a:spcAft>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You must set a default site connection among the cross-premises local sites connected to the virtual network. </a:t>
            </a:r>
          </a:p>
          <a:p>
            <a:pPr marL="285750" marR="0" lvl="0" indent="-285750">
              <a:spcBef>
                <a:spcPts val="0"/>
              </a:spcBef>
              <a:spcAft>
                <a:spcPts val="1000"/>
              </a:spcAft>
              <a:buFont typeface="Arial" panose="020B0604020202020204" pitchFamily="34" charset="0"/>
              <a:buChar char="•"/>
            </a:pPr>
            <a:r>
              <a:rPr lang="en-US" sz="1400">
                <a:effectLst/>
                <a:latin typeface="Calibri" panose="020F0502020204030204" pitchFamily="34" charset="0"/>
                <a:ea typeface="Calibri" panose="020F0502020204030204" pitchFamily="34" charset="0"/>
                <a:cs typeface="Times New Roman" panose="02020603050405020304" pitchFamily="18" charset="0"/>
              </a:rPr>
              <a:t>The on-premises VPN device must be configured using 0.0.0.0/0 as traffic selectors.</a:t>
            </a:r>
          </a:p>
        </p:txBody>
      </p:sp>
      <p:sp>
        <p:nvSpPr>
          <p:cNvPr id="4" name="Rectangle 3">
            <a:extLst>
              <a:ext uri="{FF2B5EF4-FFF2-40B4-BE49-F238E27FC236}">
                <a16:creationId xmlns:a16="http://schemas.microsoft.com/office/drawing/2014/main" id="{CA9B0476-9C10-456D-81DF-3E89294A256B}"/>
              </a:ext>
              <a:ext uri="{C183D7F6-B498-43B3-948B-1728B52AA6E4}">
                <adec:decorative xmlns:adec="http://schemas.microsoft.com/office/drawing/2017/decorative" val="1"/>
              </a:ext>
            </a:extLst>
          </p:cNvPr>
          <p:cNvSpPr/>
          <p:nvPr/>
        </p:nvSpPr>
        <p:spPr bwMode="auto">
          <a:xfrm>
            <a:off x="6478291" y="866435"/>
            <a:ext cx="5495999" cy="494169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45679741"/>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C62AA-FE88-4951-AB00-10E2532C65F5}"/>
              </a:ext>
            </a:extLst>
          </p:cNvPr>
          <p:cNvSpPr>
            <a:spLocks noGrp="1"/>
          </p:cNvSpPr>
          <p:nvPr>
            <p:ph type="title"/>
          </p:nvPr>
        </p:nvSpPr>
        <p:spPr/>
        <p:txBody>
          <a:bodyPr/>
          <a:lstStyle/>
          <a:p>
            <a:r>
              <a:rPr lang="de-DE" dirty="0"/>
              <a:t>Configure Azure Route Server</a:t>
            </a:r>
          </a:p>
        </p:txBody>
      </p:sp>
      <p:pic>
        <p:nvPicPr>
          <p:cNvPr id="3" name="Picture 2">
            <a:extLst>
              <a:ext uri="{FF2B5EF4-FFF2-40B4-BE49-F238E27FC236}">
                <a16:creationId xmlns:a16="http://schemas.microsoft.com/office/drawing/2014/main" id="{DDE5F15C-5477-4D75-B9B1-A5FD5E914F53}"/>
              </a:ext>
            </a:extLst>
          </p:cNvPr>
          <p:cNvPicPr>
            <a:picLocks noChangeAspect="1"/>
          </p:cNvPicPr>
          <p:nvPr/>
        </p:nvPicPr>
        <p:blipFill>
          <a:blip r:embed="rId3"/>
          <a:stretch>
            <a:fillRect/>
          </a:stretch>
        </p:blipFill>
        <p:spPr>
          <a:xfrm>
            <a:off x="6748615" y="1480278"/>
            <a:ext cx="4235891" cy="3897443"/>
          </a:xfrm>
          <a:prstGeom prst="rect">
            <a:avLst/>
          </a:prstGeom>
        </p:spPr>
      </p:pic>
      <p:sp>
        <p:nvSpPr>
          <p:cNvPr id="5" name="TextBox 1">
            <a:extLst>
              <a:ext uri="{FF2B5EF4-FFF2-40B4-BE49-F238E27FC236}">
                <a16:creationId xmlns:a16="http://schemas.microsoft.com/office/drawing/2014/main" id="{E5F889A7-48D6-4BEC-A3BB-6B59810786AE}"/>
              </a:ext>
            </a:extLst>
          </p:cNvPr>
          <p:cNvSpPr txBox="1"/>
          <p:nvPr/>
        </p:nvSpPr>
        <p:spPr>
          <a:xfrm>
            <a:off x="630772" y="1272208"/>
            <a:ext cx="5495999" cy="45359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Calibri" panose="020F0502020204030204" pitchFamily="34" charset="0"/>
                <a:cs typeface="Times New Roman" panose="02020603050405020304" pitchFamily="18" charset="0"/>
              </a:rPr>
              <a:t>Fully managed service</a:t>
            </a: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Calibri" panose="020F0502020204030204" pitchFamily="34" charset="0"/>
                <a:cs typeface="Times New Roman" panose="02020603050405020304" pitchFamily="18" charset="0"/>
              </a:rPr>
              <a:t>Simplifies dynamic routing between NVA and the VNet</a:t>
            </a: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prstClr val="black"/>
                </a:solidFill>
                <a:latin typeface="+mj-lt"/>
                <a:ea typeface="Calibri" panose="020F0502020204030204" pitchFamily="34" charset="0"/>
                <a:cs typeface="Times New Roman" panose="02020603050405020304" pitchFamily="18" charset="0"/>
              </a:rPr>
              <a:t>NVA needs to support BGP</a:t>
            </a:r>
          </a:p>
          <a:p>
            <a:pPr marL="285750" indent="-285750">
              <a:buFont typeface="Arial" panose="020B0604020202020204" pitchFamily="34" charset="0"/>
              <a:buChar char="•"/>
              <a:defRPr/>
            </a:pPr>
            <a:r>
              <a:rPr lang="en-US" b="0" i="0" dirty="0">
                <a:solidFill>
                  <a:srgbClr val="171717"/>
                </a:solidFill>
                <a:effectLst/>
                <a:latin typeface="+mj-lt"/>
              </a:rPr>
              <a:t>You no longer need to manually update the routing table on your NVA whenever your virtual network addresses are updated.</a:t>
            </a:r>
          </a:p>
          <a:p>
            <a:pPr marL="285750" indent="-285750">
              <a:buFont typeface="Arial" panose="020B0604020202020204" pitchFamily="34" charset="0"/>
              <a:buChar char="•"/>
              <a:defRPr/>
            </a:pPr>
            <a:r>
              <a:rPr lang="en-US" b="0" i="0" dirty="0">
                <a:solidFill>
                  <a:srgbClr val="171717"/>
                </a:solidFill>
                <a:effectLst/>
                <a:latin typeface="+mj-lt"/>
              </a:rPr>
              <a:t>You no longer need to update </a:t>
            </a:r>
            <a:r>
              <a:rPr lang="en-US" b="0" i="0" u="none" strike="noStrike" dirty="0">
                <a:solidFill>
                  <a:srgbClr val="171717"/>
                </a:solidFill>
                <a:effectLst/>
                <a:latin typeface="+mj-lt"/>
              </a:rPr>
              <a:t>User-Defined Routes</a:t>
            </a:r>
            <a:r>
              <a:rPr lang="en-US" b="0" i="0" dirty="0">
                <a:solidFill>
                  <a:srgbClr val="171717"/>
                </a:solidFill>
                <a:effectLst/>
                <a:latin typeface="+mj-lt"/>
              </a:rPr>
              <a:t> manually whenever your NVA announces new routes or withdraw old ones.</a:t>
            </a:r>
            <a:endParaRPr lang="en-US" dirty="0">
              <a:solidFill>
                <a:prstClr val="black"/>
              </a:solidFill>
              <a:latin typeface="+mj-lt"/>
              <a:ea typeface="Calibri" panose="020F0502020204030204" pitchFamily="34" charset="0"/>
              <a:cs typeface="Times New Roman" panose="02020603050405020304" pitchFamily="18" charset="0"/>
            </a:endParaRP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0" i="0" dirty="0">
                <a:solidFill>
                  <a:srgbClr val="171717"/>
                </a:solidFill>
                <a:effectLst/>
                <a:latin typeface="+mj-lt"/>
              </a:rPr>
              <a:t>Needs a </a:t>
            </a:r>
            <a:r>
              <a:rPr lang="de-DE" b="0" i="0" dirty="0" err="1">
                <a:solidFill>
                  <a:srgbClr val="171717"/>
                </a:solidFill>
                <a:effectLst/>
                <a:latin typeface="+mj-lt"/>
              </a:rPr>
              <a:t>RouteServerSubnet</a:t>
            </a:r>
            <a:endParaRPr lang="en-US" dirty="0">
              <a:solidFill>
                <a:prstClr val="black"/>
              </a:solidFill>
              <a:latin typeface="+mj-lt"/>
              <a:ea typeface="Calibri" panose="020F0502020204030204" pitchFamily="34" charset="0"/>
              <a:cs typeface="Times New Roman" panose="02020603050405020304" pitchFamily="18" charset="0"/>
            </a:endParaRP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prstClr val="black"/>
              </a:solidFill>
              <a:latin typeface="+mj-lt"/>
              <a:ea typeface="Calibri" panose="020F0502020204030204" pitchFamily="34" charset="0"/>
              <a:cs typeface="Times New Roman" panose="02020603050405020304" pitchFamily="18" charset="0"/>
            </a:endParaRP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prstClr val="black"/>
              </a:solidFill>
              <a:effectLst/>
              <a:uLnTx/>
              <a:uFillTx/>
              <a:latin typeface="+mj-lt"/>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3D65E411-A1B4-4885-8D3E-BE2B4382649F}"/>
              </a:ext>
              <a:ext uri="{C183D7F6-B498-43B3-948B-1728B52AA6E4}">
                <adec:decorative xmlns:adec="http://schemas.microsoft.com/office/drawing/2017/decorative" val="1"/>
              </a:ext>
            </a:extLst>
          </p:cNvPr>
          <p:cNvSpPr/>
          <p:nvPr/>
        </p:nvSpPr>
        <p:spPr bwMode="auto">
          <a:xfrm>
            <a:off x="6478291" y="1101777"/>
            <a:ext cx="4741847" cy="470635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IN" sz="2353" b="0" i="0" u="none" strike="noStrike" kern="1200" cap="none" spc="0" normalizeH="0" baseline="0" noProof="0">
              <a:ln>
                <a:noFill/>
              </a:ln>
              <a:gradFill>
                <a:gsLst>
                  <a:gs pos="0">
                    <a:srgbClr val="FFFFFF"/>
                  </a:gs>
                  <a:gs pos="100000">
                    <a:srgbClr val="FFFFFF"/>
                  </a:gs>
                </a:gsLst>
                <a:lin ang="5400000" scaled="0"/>
              </a:gradFill>
              <a:effectLst/>
              <a:uLnTx/>
              <a:uFillTx/>
              <a:latin typeface="Calibri" panose="020F0502020204030204"/>
              <a:ea typeface="+mn-ea"/>
              <a:cs typeface="Segoe UI" pitchFamily="34" charset="0"/>
            </a:endParaRPr>
          </a:p>
        </p:txBody>
      </p:sp>
    </p:spTree>
    <p:extLst>
      <p:ext uri="{BB962C8B-B14F-4D97-AF65-F5344CB8AC3E}">
        <p14:creationId xmlns:p14="http://schemas.microsoft.com/office/powerpoint/2010/main" val="236100139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F04F-568E-44CF-8BD6-3F38C64F88B1}"/>
              </a:ext>
            </a:extLst>
          </p:cNvPr>
          <p:cNvSpPr>
            <a:spLocks noGrp="1"/>
          </p:cNvSpPr>
          <p:nvPr>
            <p:ph type="title"/>
          </p:nvPr>
        </p:nvSpPr>
        <p:spPr/>
        <p:txBody>
          <a:bodyPr/>
          <a:lstStyle/>
          <a:p>
            <a:r>
              <a:rPr lang="en-US"/>
              <a:t>Diagnose a routing problem </a:t>
            </a:r>
          </a:p>
        </p:txBody>
      </p:sp>
      <p:sp>
        <p:nvSpPr>
          <p:cNvPr id="4" name="Rectangle 3">
            <a:extLst>
              <a:ext uri="{FF2B5EF4-FFF2-40B4-BE49-F238E27FC236}">
                <a16:creationId xmlns:a16="http://schemas.microsoft.com/office/drawing/2014/main" id="{0553826A-B8CB-46D1-98E3-D0116E6E4ADC}"/>
              </a:ext>
            </a:extLst>
          </p:cNvPr>
          <p:cNvSpPr/>
          <p:nvPr/>
        </p:nvSpPr>
        <p:spPr>
          <a:xfrm>
            <a:off x="418642" y="1169264"/>
            <a:ext cx="10911966"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dirty="0">
                <a:solidFill>
                  <a:schemeClr val="tx1"/>
                </a:solidFill>
                <a:latin typeface="+mj-lt"/>
                <a:ea typeface="+mn-lt"/>
                <a:cs typeface="+mn-lt"/>
              </a:rPr>
              <a:t>View effective routes in the Azure portal, </a:t>
            </a:r>
            <a:r>
              <a:rPr lang="en-US" sz="2353" dirty="0">
                <a:solidFill>
                  <a:schemeClr val="tx1"/>
                </a:solidFill>
                <a:latin typeface="+mj-lt"/>
                <a:cs typeface="Segoe UI Semilight"/>
              </a:rPr>
              <a:t>PowerShell or CLI</a:t>
            </a:r>
            <a:r>
              <a:rPr lang="en-US" sz="2353" dirty="0">
                <a:solidFill>
                  <a:schemeClr val="tx1"/>
                </a:solidFill>
                <a:latin typeface="+mj-lt"/>
                <a:ea typeface="+mn-lt"/>
                <a:cs typeface="+mn-lt"/>
              </a:rPr>
              <a:t> </a:t>
            </a:r>
          </a:p>
        </p:txBody>
      </p:sp>
      <p:sp>
        <p:nvSpPr>
          <p:cNvPr id="6" name="Rectangle 5">
            <a:extLst>
              <a:ext uri="{FF2B5EF4-FFF2-40B4-BE49-F238E27FC236}">
                <a16:creationId xmlns:a16="http://schemas.microsoft.com/office/drawing/2014/main" id="{0F7A7444-3276-4C88-82C4-F1A1FF9DE029}"/>
              </a:ext>
            </a:extLst>
          </p:cNvPr>
          <p:cNvSpPr/>
          <p:nvPr/>
        </p:nvSpPr>
        <p:spPr>
          <a:xfrm>
            <a:off x="418641" y="2254988"/>
            <a:ext cx="10911965" cy="749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dirty="0">
                <a:solidFill>
                  <a:schemeClr val="tx1"/>
                </a:solidFill>
                <a:latin typeface="+mj-lt"/>
                <a:cs typeface="Segoe UI Semilight"/>
              </a:rPr>
              <a:t>Use Azure Network Watcher to troubleshoot </a:t>
            </a:r>
          </a:p>
        </p:txBody>
      </p:sp>
      <p:sp>
        <p:nvSpPr>
          <p:cNvPr id="8" name="Rectangle 7">
            <a:extLst>
              <a:ext uri="{FF2B5EF4-FFF2-40B4-BE49-F238E27FC236}">
                <a16:creationId xmlns:a16="http://schemas.microsoft.com/office/drawing/2014/main" id="{6F3233E6-0C8D-40BE-83C7-D723CC75E639}"/>
              </a:ext>
            </a:extLst>
          </p:cNvPr>
          <p:cNvSpPr/>
          <p:nvPr/>
        </p:nvSpPr>
        <p:spPr>
          <a:xfrm>
            <a:off x="418642" y="3207026"/>
            <a:ext cx="10911967" cy="31876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r>
              <a:rPr lang="en-US" sz="2353" b="1" dirty="0">
                <a:solidFill>
                  <a:schemeClr val="tx1"/>
                </a:solidFill>
                <a:latin typeface="+mj-lt"/>
                <a:cs typeface="Segoe UI Semilight"/>
              </a:rPr>
              <a:t>Resolve Issues: </a:t>
            </a:r>
          </a:p>
          <a:p>
            <a:pPr marL="285750" indent="-285750">
              <a:buFont typeface="Arial" panose="020B0604020202020204" pitchFamily="34" charset="0"/>
              <a:buChar char="•"/>
            </a:pPr>
            <a:r>
              <a:rPr lang="en-US" sz="2353" dirty="0">
                <a:solidFill>
                  <a:schemeClr val="tx1"/>
                </a:solidFill>
                <a:latin typeface="+mj-lt"/>
                <a:cs typeface="Segoe UI Semilight"/>
              </a:rPr>
              <a:t>Add a custom route to override a default route. </a:t>
            </a:r>
          </a:p>
          <a:p>
            <a:pPr marL="285750" indent="-285750">
              <a:buFont typeface="Arial" panose="020B0604020202020204" pitchFamily="34" charset="0"/>
              <a:buChar char="•"/>
            </a:pPr>
            <a:r>
              <a:rPr lang="en-US" sz="2353" dirty="0">
                <a:solidFill>
                  <a:schemeClr val="tx1"/>
                </a:solidFill>
                <a:latin typeface="+mj-lt"/>
                <a:cs typeface="Segoe UI Semilight"/>
              </a:rPr>
              <a:t>Change or remove a custom route that causes traffic to be routed to an undesired location. </a:t>
            </a:r>
          </a:p>
          <a:p>
            <a:pPr marL="285750" indent="-285750">
              <a:buFont typeface="Arial" panose="020B0604020202020204" pitchFamily="34" charset="0"/>
              <a:buChar char="•"/>
            </a:pPr>
            <a:r>
              <a:rPr lang="en-US" sz="2353" dirty="0">
                <a:solidFill>
                  <a:schemeClr val="tx1"/>
                </a:solidFill>
                <a:latin typeface="+mj-lt"/>
                <a:cs typeface="Segoe UI Semilight"/>
              </a:rPr>
              <a:t>Ensure that the route table is associated to the correct subnet (the one that contains the network interface). </a:t>
            </a:r>
          </a:p>
          <a:p>
            <a:pPr marL="285750" indent="-285750">
              <a:buFont typeface="Arial" panose="020B0604020202020204" pitchFamily="34" charset="0"/>
              <a:buChar char="•"/>
            </a:pPr>
            <a:r>
              <a:rPr lang="en-US" sz="2353" dirty="0">
                <a:solidFill>
                  <a:schemeClr val="tx1"/>
                </a:solidFill>
                <a:latin typeface="+mj-lt"/>
                <a:cs typeface="Segoe UI Semilight"/>
              </a:rPr>
              <a:t>Ensure that devices such as Azure VPN gateway or network virtual appliances you've deployed are operating as intended. </a:t>
            </a:r>
          </a:p>
          <a:p>
            <a:endParaRPr lang="en-US" sz="2157" dirty="0">
              <a:solidFill>
                <a:schemeClr val="tx1"/>
              </a:solidFill>
            </a:endParaRPr>
          </a:p>
        </p:txBody>
      </p:sp>
    </p:spTree>
    <p:extLst>
      <p:ext uri="{BB962C8B-B14F-4D97-AF65-F5344CB8AC3E}">
        <p14:creationId xmlns:p14="http://schemas.microsoft.com/office/powerpoint/2010/main" val="3539183299"/>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AD121-6B8C-4559-B2CA-F9501BD6C7E7}"/>
              </a:ext>
            </a:extLst>
          </p:cNvPr>
          <p:cNvSpPr>
            <a:spLocks noGrp="1"/>
          </p:cNvSpPr>
          <p:nvPr>
            <p:ph type="title"/>
          </p:nvPr>
        </p:nvSpPr>
        <p:spPr/>
        <p:txBody>
          <a:bodyPr/>
          <a:lstStyle/>
          <a:p>
            <a:r>
              <a:rPr lang="en-US" dirty="0"/>
              <a:t>Demonstration – Custom Routing Tables</a:t>
            </a:r>
          </a:p>
        </p:txBody>
      </p:sp>
      <p:pic>
        <p:nvPicPr>
          <p:cNvPr id="11" name="Picture 10" descr="Icon of a calendar">
            <a:extLst>
              <a:ext uri="{FF2B5EF4-FFF2-40B4-BE49-F238E27FC236}">
                <a16:creationId xmlns:a16="http://schemas.microsoft.com/office/drawing/2014/main" id="{877B623F-1696-4A59-B33B-3C6AE65BA5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420" y="1493486"/>
            <a:ext cx="1015948" cy="1015948"/>
          </a:xfrm>
          <a:prstGeom prst="rect">
            <a:avLst/>
          </a:prstGeom>
        </p:spPr>
      </p:pic>
      <p:sp>
        <p:nvSpPr>
          <p:cNvPr id="28" name="Rectangle 27">
            <a:extLst>
              <a:ext uri="{FF2B5EF4-FFF2-40B4-BE49-F238E27FC236}">
                <a16:creationId xmlns:a16="http://schemas.microsoft.com/office/drawing/2014/main" id="{7780BB41-9EBA-4199-AA35-BA037D867A42}"/>
              </a:ext>
            </a:extLst>
          </p:cNvPr>
          <p:cNvSpPr/>
          <p:nvPr/>
        </p:nvSpPr>
        <p:spPr bwMode="auto">
          <a:xfrm>
            <a:off x="1775731" y="1492801"/>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a:solidFill>
                  <a:schemeClr val="tx1"/>
                </a:solidFill>
              </a:rPr>
              <a:t>Create a route table</a:t>
            </a:r>
          </a:p>
        </p:txBody>
      </p:sp>
      <p:cxnSp>
        <p:nvCxnSpPr>
          <p:cNvPr id="15" name="Straight Connector 14">
            <a:extLst>
              <a:ext uri="{FF2B5EF4-FFF2-40B4-BE49-F238E27FC236}">
                <a16:creationId xmlns:a16="http://schemas.microsoft.com/office/drawing/2014/main" id="{62366217-AD42-4EFE-84A2-BEC14E50B225}"/>
              </a:ext>
              <a:ext uri="{C183D7F6-B498-43B3-948B-1728B52AA6E4}">
                <adec:decorative xmlns:adec="http://schemas.microsoft.com/office/drawing/2017/decorative" val="1"/>
              </a:ext>
            </a:extLst>
          </p:cNvPr>
          <p:cNvCxnSpPr>
            <a:cxnSpLocks/>
          </p:cNvCxnSpPr>
          <p:nvPr/>
        </p:nvCxnSpPr>
        <p:spPr>
          <a:xfrm>
            <a:off x="1770157" y="2622854"/>
            <a:ext cx="99787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three concentric arcs">
            <a:extLst>
              <a:ext uri="{FF2B5EF4-FFF2-40B4-BE49-F238E27FC236}">
                <a16:creationId xmlns:a16="http://schemas.microsoft.com/office/drawing/2014/main" id="{706B993F-40EF-41ED-A2F9-840FB25D43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8420" y="2736274"/>
            <a:ext cx="1015948" cy="1015948"/>
          </a:xfrm>
          <a:prstGeom prst="rect">
            <a:avLst/>
          </a:prstGeom>
        </p:spPr>
      </p:pic>
      <p:sp>
        <p:nvSpPr>
          <p:cNvPr id="30" name="Rectangle 29">
            <a:extLst>
              <a:ext uri="{FF2B5EF4-FFF2-40B4-BE49-F238E27FC236}">
                <a16:creationId xmlns:a16="http://schemas.microsoft.com/office/drawing/2014/main" id="{C841565D-F957-4882-BC6C-559BEAD6B635}"/>
              </a:ext>
            </a:extLst>
          </p:cNvPr>
          <p:cNvSpPr/>
          <p:nvPr/>
        </p:nvSpPr>
        <p:spPr bwMode="auto">
          <a:xfrm>
            <a:off x="1775731" y="2736047"/>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a:solidFill>
                  <a:schemeClr val="tx1"/>
                </a:solidFill>
              </a:rPr>
              <a:t>Add a route</a:t>
            </a:r>
          </a:p>
        </p:txBody>
      </p:sp>
      <p:cxnSp>
        <p:nvCxnSpPr>
          <p:cNvPr id="27" name="Straight Connector 26">
            <a:extLst>
              <a:ext uri="{FF2B5EF4-FFF2-40B4-BE49-F238E27FC236}">
                <a16:creationId xmlns:a16="http://schemas.microsoft.com/office/drawing/2014/main" id="{ED9004E9-98F3-46C1-AE60-E5B8A9CEAA42}"/>
              </a:ext>
              <a:ext uri="{C183D7F6-B498-43B3-948B-1728B52AA6E4}">
                <adec:decorative xmlns:adec="http://schemas.microsoft.com/office/drawing/2017/decorative" val="1"/>
              </a:ext>
            </a:extLst>
          </p:cNvPr>
          <p:cNvCxnSpPr>
            <a:cxnSpLocks/>
          </p:cNvCxnSpPr>
          <p:nvPr/>
        </p:nvCxnSpPr>
        <p:spPr>
          <a:xfrm>
            <a:off x="1770157" y="3865641"/>
            <a:ext cx="99787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 name="Picture 8" descr="Icon of a magnifying glass">
            <a:extLst>
              <a:ext uri="{FF2B5EF4-FFF2-40B4-BE49-F238E27FC236}">
                <a16:creationId xmlns:a16="http://schemas.microsoft.com/office/drawing/2014/main" id="{DD435638-4F82-4BE3-BA0F-A2A5C1EF504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8420" y="3979061"/>
            <a:ext cx="1015948" cy="1015948"/>
          </a:xfrm>
          <a:prstGeom prst="rect">
            <a:avLst/>
          </a:prstGeom>
        </p:spPr>
      </p:pic>
      <p:sp>
        <p:nvSpPr>
          <p:cNvPr id="32" name="Rectangle 31">
            <a:extLst>
              <a:ext uri="{FF2B5EF4-FFF2-40B4-BE49-F238E27FC236}">
                <a16:creationId xmlns:a16="http://schemas.microsoft.com/office/drawing/2014/main" id="{2A810D1D-95AD-4B25-BAC3-5F8EDE96E8E6}"/>
              </a:ext>
            </a:extLst>
          </p:cNvPr>
          <p:cNvSpPr/>
          <p:nvPr/>
        </p:nvSpPr>
        <p:spPr bwMode="auto">
          <a:xfrm>
            <a:off x="1775731" y="3979294"/>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a:solidFill>
                  <a:schemeClr val="tx1"/>
                </a:solidFill>
              </a:rPr>
              <a:t>Associate a route table to a subnet</a:t>
            </a:r>
          </a:p>
        </p:txBody>
      </p:sp>
      <p:cxnSp>
        <p:nvCxnSpPr>
          <p:cNvPr id="29" name="Straight Connector 28">
            <a:extLst>
              <a:ext uri="{FF2B5EF4-FFF2-40B4-BE49-F238E27FC236}">
                <a16:creationId xmlns:a16="http://schemas.microsoft.com/office/drawing/2014/main" id="{E1F98DE4-38CA-4E1E-AEA3-CCB75331059A}"/>
              </a:ext>
              <a:ext uri="{C183D7F6-B498-43B3-948B-1728B52AA6E4}">
                <adec:decorative xmlns:adec="http://schemas.microsoft.com/office/drawing/2017/decorative" val="1"/>
              </a:ext>
            </a:extLst>
          </p:cNvPr>
          <p:cNvCxnSpPr>
            <a:cxnSpLocks/>
          </p:cNvCxnSpPr>
          <p:nvPr/>
        </p:nvCxnSpPr>
        <p:spPr>
          <a:xfrm>
            <a:off x="1770157" y="5108429"/>
            <a:ext cx="99787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 name="Picture 7" descr="Icon of a screen with three circles enclosed by outward pointing chevrons on left and right">
            <a:extLst>
              <a:ext uri="{FF2B5EF4-FFF2-40B4-BE49-F238E27FC236}">
                <a16:creationId xmlns:a16="http://schemas.microsoft.com/office/drawing/2014/main" id="{6A4459F6-6758-4255-9178-5037BAF09E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8420" y="5221850"/>
            <a:ext cx="1015948" cy="1015948"/>
          </a:xfrm>
          <a:prstGeom prst="rect">
            <a:avLst/>
          </a:prstGeom>
        </p:spPr>
      </p:pic>
      <p:sp>
        <p:nvSpPr>
          <p:cNvPr id="38" name="Rectangle 37">
            <a:extLst>
              <a:ext uri="{FF2B5EF4-FFF2-40B4-BE49-F238E27FC236}">
                <a16:creationId xmlns:a16="http://schemas.microsoft.com/office/drawing/2014/main" id="{236DC8FF-47CB-4537-B0E5-4983F23D9054}"/>
              </a:ext>
            </a:extLst>
          </p:cNvPr>
          <p:cNvSpPr/>
          <p:nvPr/>
        </p:nvSpPr>
        <p:spPr bwMode="auto">
          <a:xfrm>
            <a:off x="1775731" y="5222539"/>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a:solidFill>
                  <a:schemeClr val="tx1"/>
                </a:solidFill>
              </a:rPr>
              <a:t>Use PowerShell to view your routing information</a:t>
            </a:r>
          </a:p>
        </p:txBody>
      </p:sp>
    </p:spTree>
    <p:extLst>
      <p:ext uri="{BB962C8B-B14F-4D97-AF65-F5344CB8AC3E}">
        <p14:creationId xmlns:p14="http://schemas.microsoft.com/office/powerpoint/2010/main" val="316312945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t>Implement virtual network traffic routing </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0" name="TextBox 9">
            <a:extLst>
              <a:ext uri="{FF2B5EF4-FFF2-40B4-BE49-F238E27FC236}">
                <a16:creationId xmlns:a16="http://schemas.microsoft.com/office/drawing/2014/main" id="{0A46463C-2D6F-45D9-9E31-14854BE6589B}"/>
              </a:ext>
            </a:extLst>
          </p:cNvPr>
          <p:cNvSpPr txBox="1"/>
          <p:nvPr/>
        </p:nvSpPr>
        <p:spPr>
          <a:xfrm>
            <a:off x="4172422" y="2319514"/>
            <a:ext cx="6093994" cy="369332"/>
          </a:xfrm>
          <a:prstGeom prst="rect">
            <a:avLst/>
          </a:prstGeom>
          <a:noFill/>
        </p:spPr>
        <p:txBody>
          <a:bodyPr wrap="square">
            <a:spAutoFit/>
          </a:bodyPr>
          <a:lstStyle/>
          <a:p>
            <a:r>
              <a:rPr lang="en-US" dirty="0">
                <a:hlinkClick r:id="rId4"/>
              </a:rPr>
              <a:t>Azure virtual network traffic routing | Microsoft Docs</a:t>
            </a:r>
            <a:endParaRPr lang="en-US" dirty="0"/>
          </a:p>
        </p:txBody>
      </p:sp>
    </p:spTree>
    <p:extLst>
      <p:ext uri="{BB962C8B-B14F-4D97-AF65-F5344CB8AC3E}">
        <p14:creationId xmlns:p14="http://schemas.microsoft.com/office/powerpoint/2010/main" val="9064065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30402"/>
            <a:ext cx="8892608" cy="997196"/>
          </a:xfrm>
        </p:spPr>
        <p:txBody>
          <a:bodyPr/>
          <a:lstStyle/>
          <a:p>
            <a:r>
              <a:rPr lang="en-US" dirty="0"/>
              <a:t>Lesson 09: </a:t>
            </a:r>
            <a:r>
              <a:rPr lang="en-US" sz="3600" dirty="0"/>
              <a:t>Configure internet access with Azure Virtual NAT</a:t>
            </a:r>
            <a:endParaRPr lang="en-US" dirty="0"/>
          </a:p>
        </p:txBody>
      </p:sp>
      <p:grpSp>
        <p:nvGrpSpPr>
          <p:cNvPr id="5" name="Group 4">
            <a:extLst>
              <a:ext uri="{FF2B5EF4-FFF2-40B4-BE49-F238E27FC236}">
                <a16:creationId xmlns:a16="http://schemas.microsoft.com/office/drawing/2014/main" id="{87F34C47-07A9-4156-9BE3-40D7B199FFCB}"/>
              </a:ext>
              <a:ext uri="{C183D7F6-B498-43B3-948B-1728B52AA6E4}">
                <adec:decorative xmlns:adec="http://schemas.microsoft.com/office/drawing/2017/decorative" val="1"/>
              </a:ext>
            </a:extLst>
          </p:cNvPr>
          <p:cNvGrpSpPr/>
          <p:nvPr/>
        </p:nvGrpSpPr>
        <p:grpSpPr>
          <a:xfrm>
            <a:off x="10327625" y="3070379"/>
            <a:ext cx="717140" cy="717242"/>
            <a:chOff x="6229350" y="3980133"/>
            <a:chExt cx="717140" cy="717242"/>
          </a:xfrm>
        </p:grpSpPr>
        <p:grpSp>
          <p:nvGrpSpPr>
            <p:cNvPr id="6" name="Group 5">
              <a:extLst>
                <a:ext uri="{FF2B5EF4-FFF2-40B4-BE49-F238E27FC236}">
                  <a16:creationId xmlns:a16="http://schemas.microsoft.com/office/drawing/2014/main" id="{9DF93A08-FE7A-4595-AF09-8A0009D55B78}"/>
                </a:ext>
              </a:extLst>
            </p:cNvPr>
            <p:cNvGrpSpPr/>
            <p:nvPr/>
          </p:nvGrpSpPr>
          <p:grpSpPr>
            <a:xfrm>
              <a:off x="6229350" y="3980133"/>
              <a:ext cx="717140" cy="717242"/>
              <a:chOff x="6229350" y="3980133"/>
              <a:chExt cx="717140" cy="717242"/>
            </a:xfrm>
          </p:grpSpPr>
          <p:sp>
            <p:nvSpPr>
              <p:cNvPr id="8" name="Freeform 5">
                <a:extLst>
                  <a:ext uri="{FF2B5EF4-FFF2-40B4-BE49-F238E27FC236}">
                    <a16:creationId xmlns:a16="http://schemas.microsoft.com/office/drawing/2014/main" id="{CC92EC90-2399-4DE5-8894-D66E48991F3F}"/>
                  </a:ext>
                </a:extLst>
              </p:cNvPr>
              <p:cNvSpPr>
                <a:spLocks/>
              </p:cNvSpPr>
              <p:nvPr/>
            </p:nvSpPr>
            <p:spPr bwMode="auto">
              <a:xfrm>
                <a:off x="6229350"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F04EDE54-8CF3-4458-A60A-26C564815712}"/>
                  </a:ext>
                </a:extLst>
              </p:cNvPr>
              <p:cNvSpPr>
                <a:spLocks noEditPoints="1"/>
              </p:cNvSpPr>
              <p:nvPr/>
            </p:nvSpPr>
            <p:spPr bwMode="auto">
              <a:xfrm>
                <a:off x="6279248"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a bulb">
              <a:extLst>
                <a:ext uri="{FF2B5EF4-FFF2-40B4-BE49-F238E27FC236}">
                  <a16:creationId xmlns:a16="http://schemas.microsoft.com/office/drawing/2014/main" id="{AC6C6E89-1577-432B-93DD-277CC6AC62BC}"/>
                </a:ext>
              </a:extLst>
            </p:cNvPr>
            <p:cNvPicPr>
              <a:picLocks noChangeAspect="1"/>
            </p:cNvPicPr>
            <p:nvPr/>
          </p:nvPicPr>
          <p:blipFill>
            <a:blip r:embed="rId2"/>
            <a:stretch>
              <a:fillRect/>
            </a:stretch>
          </p:blipFill>
          <p:spPr>
            <a:xfrm>
              <a:off x="6452426" y="4150309"/>
              <a:ext cx="270988" cy="376890"/>
            </a:xfrm>
            <a:prstGeom prst="rect">
              <a:avLst/>
            </a:prstGeom>
          </p:spPr>
        </p:pic>
      </p:grpSp>
    </p:spTree>
    <p:extLst>
      <p:ext uri="{BB962C8B-B14F-4D97-AF65-F5344CB8AC3E}">
        <p14:creationId xmlns:p14="http://schemas.microsoft.com/office/powerpoint/2010/main" val="2367546424"/>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Configure internet access with Azure Virtual NAT overview</a:t>
            </a:r>
          </a:p>
        </p:txBody>
      </p:sp>
      <p:sp>
        <p:nvSpPr>
          <p:cNvPr id="6" name="Text Placeholder 5"/>
          <p:cNvSpPr>
            <a:spLocks noGrp="1"/>
          </p:cNvSpPr>
          <p:nvPr>
            <p:ph type="body" sz="quarter" idx="11"/>
          </p:nvPr>
        </p:nvSpPr>
        <p:spPr/>
        <p:txBody>
          <a:bodyPr/>
          <a:lstStyle/>
          <a:p>
            <a:pPr lvl="1"/>
            <a:r>
              <a:rPr lang="en-US" dirty="0"/>
              <a:t>Azure Virtual Network NAT</a:t>
            </a:r>
          </a:p>
        </p:txBody>
      </p:sp>
      <p:sp>
        <p:nvSpPr>
          <p:cNvPr id="2" name="Text Placeholder 1"/>
          <p:cNvSpPr>
            <a:spLocks noGrp="1"/>
          </p:cNvSpPr>
          <p:nvPr>
            <p:ph type="body" sz="quarter" idx="15"/>
          </p:nvPr>
        </p:nvSpPr>
        <p:spPr/>
        <p:txBody>
          <a:bodyPr/>
          <a:lstStyle/>
          <a:p>
            <a:pPr lvl="1"/>
            <a:r>
              <a:rPr lang="en-US" dirty="0"/>
              <a:t>Choose when to use a Virtual Network NAT</a:t>
            </a:r>
          </a:p>
        </p:txBody>
      </p:sp>
      <p:sp>
        <p:nvSpPr>
          <p:cNvPr id="3" name="Text Placeholder 2"/>
          <p:cNvSpPr>
            <a:spLocks noGrp="1"/>
          </p:cNvSpPr>
          <p:nvPr>
            <p:ph type="body" sz="quarter" idx="17"/>
          </p:nvPr>
        </p:nvSpPr>
        <p:spPr/>
        <p:txBody>
          <a:bodyPr/>
          <a:lstStyle/>
          <a:p>
            <a:pPr lvl="1"/>
            <a:endParaRPr lang="en-US" dirty="0"/>
          </a:p>
          <a:p>
            <a:pPr lvl="1"/>
            <a:r>
              <a:rPr lang="en-US" dirty="0"/>
              <a:t>Coexistence of inbound and outbound </a:t>
            </a:r>
          </a:p>
          <a:p>
            <a:pPr lvl="1"/>
            <a:endParaRPr lang="en-US" dirty="0"/>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p:txBody>
          <a:bodyPr/>
          <a:lstStyle/>
          <a:p>
            <a:pPr lvl="1"/>
            <a:r>
              <a:rPr lang="en-US" dirty="0"/>
              <a:t>How to deploy NAT</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p:txBody>
          <a:bodyPr/>
          <a:lstStyle/>
          <a:p>
            <a:pPr lvl="1"/>
            <a:r>
              <a:rPr lang="en-US" dirty="0"/>
              <a:t>Demonstration </a:t>
            </a:r>
          </a:p>
        </p:txBody>
      </p:sp>
      <p:sp>
        <p:nvSpPr>
          <p:cNvPr id="7" name="Text Placeholder 6">
            <a:extLst>
              <a:ext uri="{FF2B5EF4-FFF2-40B4-BE49-F238E27FC236}">
                <a16:creationId xmlns:a16="http://schemas.microsoft.com/office/drawing/2014/main" id="{A91ECD5A-A06D-4426-B215-D810A663A47E}"/>
              </a:ext>
            </a:extLst>
          </p:cNvPr>
          <p:cNvSpPr>
            <a:spLocks noGrp="1"/>
          </p:cNvSpPr>
          <p:nvPr>
            <p:ph type="body" sz="quarter" idx="22"/>
          </p:nvPr>
        </p:nvSpPr>
        <p:spPr/>
        <p:txBody>
          <a:bodyPr/>
          <a:lstStyle/>
          <a:p>
            <a:pPr lvl="1"/>
            <a:r>
              <a:rPr lang="en-US" dirty="0"/>
              <a:t>Review</a:t>
            </a:r>
          </a:p>
        </p:txBody>
      </p:sp>
      <p:grpSp>
        <p:nvGrpSpPr>
          <p:cNvPr id="13" name="Group 12">
            <a:extLst>
              <a:ext uri="{FF2B5EF4-FFF2-40B4-BE49-F238E27FC236}">
                <a16:creationId xmlns:a16="http://schemas.microsoft.com/office/drawing/2014/main" id="{8353D2DA-D485-4577-93B5-9F941F446355}"/>
              </a:ext>
              <a:ext uri="{C183D7F6-B498-43B3-948B-1728B52AA6E4}">
                <adec:decorative xmlns:adec="http://schemas.microsoft.com/office/drawing/2017/decorative" val="1"/>
              </a:ext>
            </a:extLst>
          </p:cNvPr>
          <p:cNvGrpSpPr/>
          <p:nvPr/>
        </p:nvGrpSpPr>
        <p:grpSpPr>
          <a:xfrm>
            <a:off x="3031668" y="462996"/>
            <a:ext cx="702132" cy="5038900"/>
            <a:chOff x="3031668" y="462996"/>
            <a:chExt cx="702132" cy="5038900"/>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462996"/>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1341712"/>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206225"/>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070738"/>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3935251"/>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nvGrpSpPr>
            <p:cNvPr id="27" name="Group 26">
              <a:extLst>
                <a:ext uri="{FF2B5EF4-FFF2-40B4-BE49-F238E27FC236}">
                  <a16:creationId xmlns:a16="http://schemas.microsoft.com/office/drawing/2014/main" id="{6060DB94-15B8-4E46-BEDD-2C1A83E582C7}"/>
                </a:ext>
              </a:extLst>
            </p:cNvPr>
            <p:cNvGrpSpPr/>
            <p:nvPr/>
          </p:nvGrpSpPr>
          <p:grpSpPr>
            <a:xfrm>
              <a:off x="3031668" y="4799764"/>
              <a:ext cx="702132" cy="702132"/>
              <a:chOff x="3031668" y="4799764"/>
              <a:chExt cx="702132" cy="702132"/>
            </a:xfrm>
          </p:grpSpPr>
          <p:grpSp>
            <p:nvGrpSpPr>
              <p:cNvPr id="21" name="Group 20">
                <a:extLst>
                  <a:ext uri="{FF2B5EF4-FFF2-40B4-BE49-F238E27FC236}">
                    <a16:creationId xmlns:a16="http://schemas.microsoft.com/office/drawing/2014/main" id="{EC5A9229-47D5-4B8F-948E-282348F5FB99}"/>
                  </a:ext>
                </a:extLst>
              </p:cNvPr>
              <p:cNvGrpSpPr/>
              <p:nvPr/>
            </p:nvGrpSpPr>
            <p:grpSpPr>
              <a:xfrm>
                <a:off x="3031668" y="4799764"/>
                <a:ext cx="702132" cy="702132"/>
                <a:chOff x="3031668" y="4799764"/>
                <a:chExt cx="702132" cy="702132"/>
              </a:xfrm>
            </p:grpSpPr>
            <p:sp>
              <p:nvSpPr>
                <p:cNvPr id="78" name="AutoShape 3">
                  <a:extLst>
                    <a:ext uri="{FF2B5EF4-FFF2-40B4-BE49-F238E27FC236}">
                      <a16:creationId xmlns:a16="http://schemas.microsoft.com/office/drawing/2014/main" id="{CF996211-C481-4235-89A0-A32FD402DDE3}"/>
                    </a:ext>
                  </a:extLst>
                </p:cNvPr>
                <p:cNvSpPr>
                  <a:spLocks noChangeAspect="1" noChangeArrowheads="1" noTextEdit="1"/>
                </p:cNvSpPr>
                <p:nvPr/>
              </p:nvSpPr>
              <p:spPr bwMode="auto">
                <a:xfrm>
                  <a:off x="3031668" y="4799764"/>
                  <a:ext cx="702132" cy="70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5">
                  <a:extLst>
                    <a:ext uri="{FF2B5EF4-FFF2-40B4-BE49-F238E27FC236}">
                      <a16:creationId xmlns:a16="http://schemas.microsoft.com/office/drawing/2014/main" id="{1B80AA19-EBDD-4F58-8B9A-0D60A58F5FD8}"/>
                    </a:ext>
                  </a:extLst>
                </p:cNvPr>
                <p:cNvSpPr>
                  <a:spLocks/>
                </p:cNvSpPr>
                <p:nvPr/>
              </p:nvSpPr>
              <p:spPr bwMode="auto">
                <a:xfrm>
                  <a:off x="3031668" y="4799764"/>
                  <a:ext cx="702132" cy="702132"/>
                </a:xfrm>
                <a:custGeom>
                  <a:avLst/>
                  <a:gdLst>
                    <a:gd name="T0" fmla="*/ 2 w 493"/>
                    <a:gd name="T1" fmla="*/ 221 h 493"/>
                    <a:gd name="T2" fmla="*/ 12 w 493"/>
                    <a:gd name="T3" fmla="*/ 174 h 493"/>
                    <a:gd name="T4" fmla="*/ 31 w 493"/>
                    <a:gd name="T5" fmla="*/ 130 h 493"/>
                    <a:gd name="T6" fmla="*/ 57 w 493"/>
                    <a:gd name="T7" fmla="*/ 90 h 493"/>
                    <a:gd name="T8" fmla="*/ 90 w 493"/>
                    <a:gd name="T9" fmla="*/ 57 h 493"/>
                    <a:gd name="T10" fmla="*/ 130 w 493"/>
                    <a:gd name="T11" fmla="*/ 31 h 493"/>
                    <a:gd name="T12" fmla="*/ 174 w 493"/>
                    <a:gd name="T13" fmla="*/ 12 h 493"/>
                    <a:gd name="T14" fmla="*/ 221 w 493"/>
                    <a:gd name="T15" fmla="*/ 2 h 493"/>
                    <a:gd name="T16" fmla="*/ 272 w 493"/>
                    <a:gd name="T17" fmla="*/ 2 h 493"/>
                    <a:gd name="T18" fmla="*/ 320 w 493"/>
                    <a:gd name="T19" fmla="*/ 12 h 493"/>
                    <a:gd name="T20" fmla="*/ 364 w 493"/>
                    <a:gd name="T21" fmla="*/ 31 h 493"/>
                    <a:gd name="T22" fmla="*/ 403 w 493"/>
                    <a:gd name="T23" fmla="*/ 57 h 493"/>
                    <a:gd name="T24" fmla="*/ 436 w 493"/>
                    <a:gd name="T25" fmla="*/ 90 h 493"/>
                    <a:gd name="T26" fmla="*/ 464 w 493"/>
                    <a:gd name="T27" fmla="*/ 130 h 493"/>
                    <a:gd name="T28" fmla="*/ 481 w 493"/>
                    <a:gd name="T29" fmla="*/ 174 h 493"/>
                    <a:gd name="T30" fmla="*/ 491 w 493"/>
                    <a:gd name="T31" fmla="*/ 221 h 493"/>
                    <a:gd name="T32" fmla="*/ 491 w 493"/>
                    <a:gd name="T33" fmla="*/ 272 h 493"/>
                    <a:gd name="T34" fmla="*/ 481 w 493"/>
                    <a:gd name="T35" fmla="*/ 320 h 493"/>
                    <a:gd name="T36" fmla="*/ 464 w 493"/>
                    <a:gd name="T37" fmla="*/ 364 h 493"/>
                    <a:gd name="T38" fmla="*/ 436 w 493"/>
                    <a:gd name="T39" fmla="*/ 403 h 493"/>
                    <a:gd name="T40" fmla="*/ 403 w 493"/>
                    <a:gd name="T41" fmla="*/ 437 h 493"/>
                    <a:gd name="T42" fmla="*/ 364 w 493"/>
                    <a:gd name="T43" fmla="*/ 464 h 493"/>
                    <a:gd name="T44" fmla="*/ 320 w 493"/>
                    <a:gd name="T45" fmla="*/ 481 h 493"/>
                    <a:gd name="T46" fmla="*/ 272 w 493"/>
                    <a:gd name="T47" fmla="*/ 491 h 493"/>
                    <a:gd name="T48" fmla="*/ 221 w 493"/>
                    <a:gd name="T49" fmla="*/ 491 h 493"/>
                    <a:gd name="T50" fmla="*/ 174 w 493"/>
                    <a:gd name="T51" fmla="*/ 481 h 493"/>
                    <a:gd name="T52" fmla="*/ 130 w 493"/>
                    <a:gd name="T53" fmla="*/ 464 h 493"/>
                    <a:gd name="T54" fmla="*/ 90 w 493"/>
                    <a:gd name="T55" fmla="*/ 437 h 493"/>
                    <a:gd name="T56" fmla="*/ 57 w 493"/>
                    <a:gd name="T57" fmla="*/ 403 h 493"/>
                    <a:gd name="T58" fmla="*/ 31 w 493"/>
                    <a:gd name="T59" fmla="*/ 364 h 493"/>
                    <a:gd name="T60" fmla="*/ 12 w 493"/>
                    <a:gd name="T61" fmla="*/ 320 h 493"/>
                    <a:gd name="T62" fmla="*/ 2 w 493"/>
                    <a:gd name="T63" fmla="*/ 27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3" h="493">
                      <a:moveTo>
                        <a:pt x="0" y="247"/>
                      </a:moveTo>
                      <a:lnTo>
                        <a:pt x="2" y="221"/>
                      </a:lnTo>
                      <a:lnTo>
                        <a:pt x="6" y="197"/>
                      </a:lnTo>
                      <a:lnTo>
                        <a:pt x="12" y="174"/>
                      </a:lnTo>
                      <a:lnTo>
                        <a:pt x="20" y="151"/>
                      </a:lnTo>
                      <a:lnTo>
                        <a:pt x="31" y="130"/>
                      </a:lnTo>
                      <a:lnTo>
                        <a:pt x="42" y="109"/>
                      </a:lnTo>
                      <a:lnTo>
                        <a:pt x="57" y="90"/>
                      </a:lnTo>
                      <a:lnTo>
                        <a:pt x="73" y="73"/>
                      </a:lnTo>
                      <a:lnTo>
                        <a:pt x="90" y="57"/>
                      </a:lnTo>
                      <a:lnTo>
                        <a:pt x="109" y="42"/>
                      </a:lnTo>
                      <a:lnTo>
                        <a:pt x="130" y="31"/>
                      </a:lnTo>
                      <a:lnTo>
                        <a:pt x="151" y="20"/>
                      </a:lnTo>
                      <a:lnTo>
                        <a:pt x="174" y="12"/>
                      </a:lnTo>
                      <a:lnTo>
                        <a:pt x="197" y="6"/>
                      </a:lnTo>
                      <a:lnTo>
                        <a:pt x="221" y="2"/>
                      </a:lnTo>
                      <a:lnTo>
                        <a:pt x="247" y="0"/>
                      </a:lnTo>
                      <a:lnTo>
                        <a:pt x="272" y="2"/>
                      </a:lnTo>
                      <a:lnTo>
                        <a:pt x="296" y="6"/>
                      </a:lnTo>
                      <a:lnTo>
                        <a:pt x="320" y="12"/>
                      </a:lnTo>
                      <a:lnTo>
                        <a:pt x="342" y="20"/>
                      </a:lnTo>
                      <a:lnTo>
                        <a:pt x="364" y="31"/>
                      </a:lnTo>
                      <a:lnTo>
                        <a:pt x="384" y="42"/>
                      </a:lnTo>
                      <a:lnTo>
                        <a:pt x="403" y="57"/>
                      </a:lnTo>
                      <a:lnTo>
                        <a:pt x="420" y="73"/>
                      </a:lnTo>
                      <a:lnTo>
                        <a:pt x="436" y="90"/>
                      </a:lnTo>
                      <a:lnTo>
                        <a:pt x="451" y="109"/>
                      </a:lnTo>
                      <a:lnTo>
                        <a:pt x="464" y="130"/>
                      </a:lnTo>
                      <a:lnTo>
                        <a:pt x="473" y="151"/>
                      </a:lnTo>
                      <a:lnTo>
                        <a:pt x="481" y="174"/>
                      </a:lnTo>
                      <a:lnTo>
                        <a:pt x="487" y="197"/>
                      </a:lnTo>
                      <a:lnTo>
                        <a:pt x="491" y="221"/>
                      </a:lnTo>
                      <a:lnTo>
                        <a:pt x="493" y="247"/>
                      </a:lnTo>
                      <a:lnTo>
                        <a:pt x="491" y="272"/>
                      </a:lnTo>
                      <a:lnTo>
                        <a:pt x="487" y="296"/>
                      </a:lnTo>
                      <a:lnTo>
                        <a:pt x="481" y="320"/>
                      </a:lnTo>
                      <a:lnTo>
                        <a:pt x="473" y="342"/>
                      </a:lnTo>
                      <a:lnTo>
                        <a:pt x="464" y="364"/>
                      </a:lnTo>
                      <a:lnTo>
                        <a:pt x="451" y="384"/>
                      </a:lnTo>
                      <a:lnTo>
                        <a:pt x="436" y="403"/>
                      </a:lnTo>
                      <a:lnTo>
                        <a:pt x="420" y="420"/>
                      </a:lnTo>
                      <a:lnTo>
                        <a:pt x="403" y="437"/>
                      </a:lnTo>
                      <a:lnTo>
                        <a:pt x="384" y="451"/>
                      </a:lnTo>
                      <a:lnTo>
                        <a:pt x="364" y="464"/>
                      </a:lnTo>
                      <a:lnTo>
                        <a:pt x="342" y="473"/>
                      </a:lnTo>
                      <a:lnTo>
                        <a:pt x="320" y="481"/>
                      </a:lnTo>
                      <a:lnTo>
                        <a:pt x="296" y="487"/>
                      </a:lnTo>
                      <a:lnTo>
                        <a:pt x="272" y="491"/>
                      </a:lnTo>
                      <a:lnTo>
                        <a:pt x="247" y="493"/>
                      </a:lnTo>
                      <a:lnTo>
                        <a:pt x="221" y="491"/>
                      </a:lnTo>
                      <a:lnTo>
                        <a:pt x="197" y="487"/>
                      </a:lnTo>
                      <a:lnTo>
                        <a:pt x="174" y="481"/>
                      </a:lnTo>
                      <a:lnTo>
                        <a:pt x="151" y="473"/>
                      </a:lnTo>
                      <a:lnTo>
                        <a:pt x="130" y="464"/>
                      </a:lnTo>
                      <a:lnTo>
                        <a:pt x="109" y="451"/>
                      </a:lnTo>
                      <a:lnTo>
                        <a:pt x="90" y="437"/>
                      </a:lnTo>
                      <a:lnTo>
                        <a:pt x="73" y="420"/>
                      </a:lnTo>
                      <a:lnTo>
                        <a:pt x="57" y="403"/>
                      </a:lnTo>
                      <a:lnTo>
                        <a:pt x="42" y="384"/>
                      </a:lnTo>
                      <a:lnTo>
                        <a:pt x="31" y="364"/>
                      </a:lnTo>
                      <a:lnTo>
                        <a:pt x="20" y="342"/>
                      </a:lnTo>
                      <a:lnTo>
                        <a:pt x="12" y="320"/>
                      </a:lnTo>
                      <a:lnTo>
                        <a:pt x="6" y="296"/>
                      </a:lnTo>
                      <a:lnTo>
                        <a:pt x="2" y="272"/>
                      </a:lnTo>
                      <a:lnTo>
                        <a:pt x="0" y="247"/>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80" name="Freeform 6">
                  <a:extLst>
                    <a:ext uri="{FF2B5EF4-FFF2-40B4-BE49-F238E27FC236}">
                      <a16:creationId xmlns:a16="http://schemas.microsoft.com/office/drawing/2014/main" id="{23FC2815-7F4A-4903-9A08-A24F2C74864A}"/>
                    </a:ext>
                  </a:extLst>
                </p:cNvPr>
                <p:cNvSpPr>
                  <a:spLocks noEditPoints="1"/>
                </p:cNvSpPr>
                <p:nvPr/>
              </p:nvSpPr>
              <p:spPr bwMode="auto">
                <a:xfrm>
                  <a:off x="3087212" y="4854596"/>
                  <a:ext cx="591044" cy="592469"/>
                </a:xfrm>
                <a:prstGeom prst="ellipse">
                  <a:avLst/>
                </a:prstGeom>
                <a:noFill/>
                <a:ln w="28575" cap="flat">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coding brackets">
                <a:extLst>
                  <a:ext uri="{FF2B5EF4-FFF2-40B4-BE49-F238E27FC236}">
                    <a16:creationId xmlns:a16="http://schemas.microsoft.com/office/drawing/2014/main" id="{B0C5D0BC-720B-401F-BF64-B19B73B6DE2B}"/>
                  </a:ext>
                </a:extLst>
              </p:cNvPr>
              <p:cNvPicPr>
                <a:picLocks noChangeAspect="1"/>
              </p:cNvPicPr>
              <p:nvPr/>
            </p:nvPicPr>
            <p:blipFill>
              <a:blip r:embed="rId8"/>
              <a:stretch>
                <a:fillRect/>
              </a:stretch>
            </p:blipFill>
            <p:spPr>
              <a:xfrm>
                <a:off x="3196983" y="4965079"/>
                <a:ext cx="371503" cy="371503"/>
              </a:xfrm>
              <a:prstGeom prst="rect">
                <a:avLst/>
              </a:prstGeom>
            </p:spPr>
          </p:pic>
        </p:grpSp>
      </p:grpSp>
    </p:spTree>
    <p:extLst>
      <p:ext uri="{BB962C8B-B14F-4D97-AF65-F5344CB8AC3E}">
        <p14:creationId xmlns:p14="http://schemas.microsoft.com/office/powerpoint/2010/main" val="132300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5B857B-94C9-4634-A8F7-8F133E7448BD}"/>
              </a:ext>
            </a:extLst>
          </p:cNvPr>
          <p:cNvSpPr>
            <a:spLocks noGrp="1"/>
          </p:cNvSpPr>
          <p:nvPr>
            <p:ph type="title"/>
          </p:nvPr>
        </p:nvSpPr>
        <p:spPr/>
        <p:txBody>
          <a:bodyPr/>
          <a:lstStyle/>
          <a:p>
            <a:r>
              <a:rPr lang="en-US" dirty="0"/>
              <a:t>Azure Virtual NAT</a:t>
            </a:r>
          </a:p>
        </p:txBody>
      </p:sp>
      <p:pic>
        <p:nvPicPr>
          <p:cNvPr id="4" name="Picture 3" descr="NAT service provides internet connectivity for internal resources.&#10;">
            <a:extLst>
              <a:ext uri="{FF2B5EF4-FFF2-40B4-BE49-F238E27FC236}">
                <a16:creationId xmlns:a16="http://schemas.microsoft.com/office/drawing/2014/main" id="{90F5C845-2BFB-466D-ADF3-E858E37F7D7C}"/>
              </a:ext>
            </a:extLst>
          </p:cNvPr>
          <p:cNvPicPr/>
          <p:nvPr/>
        </p:nvPicPr>
        <p:blipFill>
          <a:blip r:embed="rId3"/>
          <a:stretch>
            <a:fillRect/>
          </a:stretch>
        </p:blipFill>
        <p:spPr bwMode="auto">
          <a:xfrm>
            <a:off x="7842976" y="1658574"/>
            <a:ext cx="3233420" cy="3834765"/>
          </a:xfrm>
          <a:prstGeom prst="rect">
            <a:avLst/>
          </a:prstGeom>
          <a:noFill/>
          <a:ln>
            <a:noFill/>
          </a:ln>
        </p:spPr>
      </p:pic>
      <p:sp>
        <p:nvSpPr>
          <p:cNvPr id="5" name="Rectangle 4">
            <a:extLst>
              <a:ext uri="{FF2B5EF4-FFF2-40B4-BE49-F238E27FC236}">
                <a16:creationId xmlns:a16="http://schemas.microsoft.com/office/drawing/2014/main" id="{40319E94-DF68-4354-A5F8-2095252405AF}"/>
              </a:ext>
            </a:extLst>
          </p:cNvPr>
          <p:cNvSpPr/>
          <p:nvPr/>
        </p:nvSpPr>
        <p:spPr>
          <a:xfrm>
            <a:off x="418642" y="1155912"/>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dirty="0">
                <a:solidFill>
                  <a:schemeClr val="tx1"/>
                </a:solidFill>
              </a:rPr>
              <a:t>Virtual Network NAT (network address translation) simplifies outbound-only Internet connectivity for virtual networks</a:t>
            </a:r>
          </a:p>
        </p:txBody>
      </p:sp>
      <p:sp>
        <p:nvSpPr>
          <p:cNvPr id="6" name="Rectangle 5">
            <a:extLst>
              <a:ext uri="{FF2B5EF4-FFF2-40B4-BE49-F238E27FC236}">
                <a16:creationId xmlns:a16="http://schemas.microsoft.com/office/drawing/2014/main" id="{280AF6DD-4101-456B-A44C-7DD68BF5E91E}"/>
              </a:ext>
            </a:extLst>
          </p:cNvPr>
          <p:cNvSpPr/>
          <p:nvPr/>
        </p:nvSpPr>
        <p:spPr>
          <a:xfrm>
            <a:off x="418643" y="2496151"/>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a:solidFill>
                  <a:schemeClr val="tx1"/>
                </a:solidFill>
              </a:rPr>
              <a:t>NAT is fully managed and highly resilient. Support dynamic workloads by scaling NAT</a:t>
            </a:r>
          </a:p>
        </p:txBody>
      </p:sp>
      <p:sp>
        <p:nvSpPr>
          <p:cNvPr id="8" name="Rectangle 7">
            <a:extLst>
              <a:ext uri="{FF2B5EF4-FFF2-40B4-BE49-F238E27FC236}">
                <a16:creationId xmlns:a16="http://schemas.microsoft.com/office/drawing/2014/main" id="{288A1045-BCD2-4879-A52B-40D409CDF77B}"/>
              </a:ext>
            </a:extLst>
          </p:cNvPr>
          <p:cNvSpPr/>
          <p:nvPr/>
        </p:nvSpPr>
        <p:spPr>
          <a:xfrm>
            <a:off x="418643" y="3845418"/>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a:solidFill>
                  <a:schemeClr val="tx1"/>
                </a:solidFill>
              </a:rPr>
              <a:t>When configured on a subnet, all outbound connectivity uses your specified static public IP addresses</a:t>
            </a:r>
          </a:p>
        </p:txBody>
      </p:sp>
      <p:sp>
        <p:nvSpPr>
          <p:cNvPr id="10" name="Rectangle 9">
            <a:extLst>
              <a:ext uri="{FF2B5EF4-FFF2-40B4-BE49-F238E27FC236}">
                <a16:creationId xmlns:a16="http://schemas.microsoft.com/office/drawing/2014/main" id="{DA93CC21-4CA3-49C3-B538-F0470DC5F6BD}"/>
              </a:ext>
            </a:extLst>
          </p:cNvPr>
          <p:cNvSpPr/>
          <p:nvPr/>
        </p:nvSpPr>
        <p:spPr>
          <a:xfrm>
            <a:off x="418643" y="5194685"/>
            <a:ext cx="5941705" cy="120001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a:solidFill>
                  <a:schemeClr val="tx1"/>
                </a:solidFill>
              </a:rPr>
              <a:t>Outbound connectivity is possible without load balancer or public IP addresses directly attached to virtual machines</a:t>
            </a:r>
          </a:p>
        </p:txBody>
      </p:sp>
      <p:sp>
        <p:nvSpPr>
          <p:cNvPr id="2" name="Rectangle 1">
            <a:extLst>
              <a:ext uri="{FF2B5EF4-FFF2-40B4-BE49-F238E27FC236}">
                <a16:creationId xmlns:a16="http://schemas.microsoft.com/office/drawing/2014/main" id="{741C36E1-9152-4E19-AA51-9289606A2EA6}"/>
              </a:ext>
              <a:ext uri="{C183D7F6-B498-43B3-948B-1728B52AA6E4}">
                <adec:decorative xmlns:adec="http://schemas.microsoft.com/office/drawing/2017/decorative" val="1"/>
              </a:ext>
            </a:extLst>
          </p:cNvPr>
          <p:cNvSpPr/>
          <p:nvPr/>
        </p:nvSpPr>
        <p:spPr bwMode="auto">
          <a:xfrm>
            <a:off x="6865748" y="1169263"/>
            <a:ext cx="4907609" cy="496806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12054008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1B94-7184-4E26-8213-436B9E75585D}"/>
              </a:ext>
            </a:extLst>
          </p:cNvPr>
          <p:cNvSpPr>
            <a:spLocks noGrp="1"/>
          </p:cNvSpPr>
          <p:nvPr>
            <p:ph type="title"/>
          </p:nvPr>
        </p:nvSpPr>
        <p:spPr>
          <a:xfrm>
            <a:off x="424090" y="466096"/>
            <a:ext cx="11343820" cy="397545"/>
          </a:xfrm>
        </p:spPr>
        <p:txBody>
          <a:bodyPr/>
          <a:lstStyle/>
          <a:p>
            <a:r>
              <a:rPr lang="en-US" sz="2800" dirty="0">
                <a:solidFill>
                  <a:schemeClr val="tx1"/>
                </a:solidFill>
              </a:rPr>
              <a:t>Coexistence of inbound and outbound </a:t>
            </a:r>
            <a:endParaRPr lang="en-US" dirty="0"/>
          </a:p>
        </p:txBody>
      </p:sp>
      <p:pic>
        <p:nvPicPr>
          <p:cNvPr id="3" name="Picture 2" descr="diagram of coexistence inbound and outbound traffic ">
            <a:extLst>
              <a:ext uri="{FF2B5EF4-FFF2-40B4-BE49-F238E27FC236}">
                <a16:creationId xmlns:a16="http://schemas.microsoft.com/office/drawing/2014/main" id="{24BD955F-2E76-4AA5-9F6F-6DAC82E7EBA8}"/>
              </a:ext>
            </a:extLst>
          </p:cNvPr>
          <p:cNvPicPr/>
          <p:nvPr/>
        </p:nvPicPr>
        <p:blipFill>
          <a:blip r:embed="rId3"/>
          <a:stretch>
            <a:fillRect/>
          </a:stretch>
        </p:blipFill>
        <p:spPr bwMode="auto">
          <a:xfrm>
            <a:off x="5384800" y="1693333"/>
            <a:ext cx="5740400" cy="4543531"/>
          </a:xfrm>
          <a:prstGeom prst="rect">
            <a:avLst/>
          </a:prstGeom>
          <a:noFill/>
          <a:ln>
            <a:noFill/>
          </a:ln>
        </p:spPr>
      </p:pic>
      <p:sp>
        <p:nvSpPr>
          <p:cNvPr id="9" name="Rectangle 8">
            <a:extLst>
              <a:ext uri="{FF2B5EF4-FFF2-40B4-BE49-F238E27FC236}">
                <a16:creationId xmlns:a16="http://schemas.microsoft.com/office/drawing/2014/main" id="{0D05DCC3-0480-47EF-AAD1-96AEA2C44F2D}"/>
              </a:ext>
            </a:extLst>
          </p:cNvPr>
          <p:cNvSpPr/>
          <p:nvPr/>
        </p:nvSpPr>
        <p:spPr>
          <a:xfrm>
            <a:off x="418645" y="1169265"/>
            <a:ext cx="4447824" cy="52226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400" b="0" i="0">
                <a:solidFill>
                  <a:srgbClr val="171717"/>
                </a:solidFill>
                <a:effectLst/>
                <a:latin typeface="+mj-lt"/>
              </a:rPr>
              <a:t>NAT and compatible Standard SKU features are aware of the direction the flow was started.</a:t>
            </a:r>
          </a:p>
          <a:p>
            <a:endParaRPr lang="en-US" sz="2400">
              <a:solidFill>
                <a:srgbClr val="171717"/>
              </a:solidFill>
              <a:latin typeface="+mj-lt"/>
            </a:endParaRPr>
          </a:p>
          <a:p>
            <a:r>
              <a:rPr lang="en-US" sz="2400" b="0" i="0">
                <a:solidFill>
                  <a:srgbClr val="171717"/>
                </a:solidFill>
                <a:effectLst/>
                <a:latin typeface="+mj-lt"/>
              </a:rPr>
              <a:t>Inbound and outbound scenarios can coexist. </a:t>
            </a:r>
          </a:p>
          <a:p>
            <a:endParaRPr lang="en-US" sz="2400">
              <a:solidFill>
                <a:srgbClr val="171717"/>
              </a:solidFill>
              <a:latin typeface="+mj-lt"/>
            </a:endParaRPr>
          </a:p>
          <a:p>
            <a:r>
              <a:rPr lang="en-US" sz="2400" b="0" i="0">
                <a:solidFill>
                  <a:srgbClr val="171717"/>
                </a:solidFill>
                <a:effectLst/>
                <a:latin typeface="+mj-lt"/>
              </a:rPr>
              <a:t>These scenarios will receive the correct network address translations because these features are aware of the flow direction.</a:t>
            </a:r>
            <a:endParaRPr lang="en-US" sz="2157">
              <a:solidFill>
                <a:schemeClr val="tx1"/>
              </a:solidFill>
              <a:latin typeface="+mj-lt"/>
            </a:endParaRPr>
          </a:p>
        </p:txBody>
      </p:sp>
      <p:sp>
        <p:nvSpPr>
          <p:cNvPr id="5" name="Rectangle 4">
            <a:extLst>
              <a:ext uri="{FF2B5EF4-FFF2-40B4-BE49-F238E27FC236}">
                <a16:creationId xmlns:a16="http://schemas.microsoft.com/office/drawing/2014/main" id="{8BB99129-AC9F-4D7C-B189-F6BE57CC7897}"/>
              </a:ext>
              <a:ext uri="{C183D7F6-B498-43B3-948B-1728B52AA6E4}">
                <adec:decorative xmlns:adec="http://schemas.microsoft.com/office/drawing/2017/decorative" val="1"/>
              </a:ext>
            </a:extLst>
          </p:cNvPr>
          <p:cNvSpPr/>
          <p:nvPr/>
        </p:nvSpPr>
        <p:spPr bwMode="auto">
          <a:xfrm>
            <a:off x="5145436" y="1169262"/>
            <a:ext cx="6627921" cy="522264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32197335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291FD-C5C2-4E9D-A7E7-540D9E601DFF}"/>
              </a:ext>
            </a:extLst>
          </p:cNvPr>
          <p:cNvSpPr>
            <a:spLocks noGrp="1"/>
          </p:cNvSpPr>
          <p:nvPr>
            <p:ph type="title"/>
          </p:nvPr>
        </p:nvSpPr>
        <p:spPr>
          <a:xfrm>
            <a:off x="424090" y="466096"/>
            <a:ext cx="11343820" cy="397545"/>
          </a:xfrm>
        </p:spPr>
        <p:txBody>
          <a:bodyPr/>
          <a:lstStyle/>
          <a:p>
            <a:r>
              <a:rPr lang="en-US" sz="2800" dirty="0">
                <a:solidFill>
                  <a:schemeClr val="tx1"/>
                </a:solidFill>
              </a:rPr>
              <a:t>How to deploy NAT</a:t>
            </a:r>
            <a:endParaRPr lang="en-US" dirty="0"/>
          </a:p>
        </p:txBody>
      </p:sp>
      <p:sp>
        <p:nvSpPr>
          <p:cNvPr id="4" name="Rectangle 3">
            <a:extLst>
              <a:ext uri="{FF2B5EF4-FFF2-40B4-BE49-F238E27FC236}">
                <a16:creationId xmlns:a16="http://schemas.microsoft.com/office/drawing/2014/main" id="{9767C423-2746-4251-BECF-4F3AFC90735C}"/>
              </a:ext>
            </a:extLst>
          </p:cNvPr>
          <p:cNvSpPr/>
          <p:nvPr/>
        </p:nvSpPr>
        <p:spPr>
          <a:xfrm>
            <a:off x="418644" y="1169265"/>
            <a:ext cx="5501709" cy="225973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dirty="0">
                <a:solidFill>
                  <a:schemeClr val="tx1"/>
                </a:solidFill>
              </a:rPr>
              <a:t>NAT gateway resource:</a:t>
            </a:r>
          </a:p>
          <a:p>
            <a:endParaRPr lang="en-US" sz="2157" dirty="0">
              <a:solidFill>
                <a:schemeClr val="tx1"/>
              </a:solidFill>
            </a:endParaRPr>
          </a:p>
          <a:p>
            <a:pPr marL="457200" indent="-457200">
              <a:buFont typeface="+mj-lt"/>
              <a:buAutoNum type="arabicPeriod"/>
            </a:pPr>
            <a:r>
              <a:rPr lang="en-US" sz="2157" dirty="0">
                <a:solidFill>
                  <a:schemeClr val="tx1"/>
                </a:solidFill>
              </a:rPr>
              <a:t>Create regional or zonal (zone-isolated) NAT gateway resource</a:t>
            </a:r>
          </a:p>
          <a:p>
            <a:pPr marL="457200" indent="-457200">
              <a:buFont typeface="+mj-lt"/>
              <a:buAutoNum type="arabicPeriod"/>
            </a:pPr>
            <a:r>
              <a:rPr lang="en-US" sz="2157" dirty="0">
                <a:solidFill>
                  <a:schemeClr val="tx1"/>
                </a:solidFill>
              </a:rPr>
              <a:t>Assign IP addresses</a:t>
            </a:r>
          </a:p>
          <a:p>
            <a:pPr marL="457200" indent="-457200">
              <a:buFont typeface="+mj-lt"/>
              <a:buAutoNum type="arabicPeriod"/>
            </a:pPr>
            <a:r>
              <a:rPr lang="en-US" sz="2157" dirty="0">
                <a:solidFill>
                  <a:schemeClr val="tx1"/>
                </a:solidFill>
              </a:rPr>
              <a:t>If necessary, modify TCP idle timeout</a:t>
            </a:r>
          </a:p>
        </p:txBody>
      </p:sp>
      <p:sp>
        <p:nvSpPr>
          <p:cNvPr id="8" name="Rectangle 7">
            <a:extLst>
              <a:ext uri="{FF2B5EF4-FFF2-40B4-BE49-F238E27FC236}">
                <a16:creationId xmlns:a16="http://schemas.microsoft.com/office/drawing/2014/main" id="{1B1EA611-5978-4283-97B2-6D83D2B5E2FA}"/>
              </a:ext>
            </a:extLst>
          </p:cNvPr>
          <p:cNvSpPr/>
          <p:nvPr/>
        </p:nvSpPr>
        <p:spPr>
          <a:xfrm>
            <a:off x="418644" y="3867799"/>
            <a:ext cx="5501709" cy="225973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157" dirty="0">
                <a:solidFill>
                  <a:schemeClr val="tx1"/>
                </a:solidFill>
              </a:rPr>
              <a:t>Virtual network:</a:t>
            </a:r>
          </a:p>
          <a:p>
            <a:endParaRPr lang="en-US" sz="2157" dirty="0">
              <a:solidFill>
                <a:schemeClr val="tx1"/>
              </a:solidFill>
            </a:endParaRPr>
          </a:p>
          <a:p>
            <a:pPr marL="342900" indent="-342900">
              <a:buFont typeface="Arial" panose="020B0604020202020204" pitchFamily="34" charset="0"/>
              <a:buChar char="•"/>
            </a:pPr>
            <a:r>
              <a:rPr lang="en-US" sz="2157" dirty="0">
                <a:solidFill>
                  <a:schemeClr val="tx1"/>
                </a:solidFill>
              </a:rPr>
              <a:t>Configure virtual network subnet to use a NAT gateway.</a:t>
            </a:r>
          </a:p>
          <a:p>
            <a:pPr marL="342900" indent="-342900">
              <a:buFont typeface="Arial" panose="020B0604020202020204" pitchFamily="34" charset="0"/>
              <a:buChar char="•"/>
            </a:pPr>
            <a:r>
              <a:rPr lang="en-US" sz="2157" dirty="0">
                <a:solidFill>
                  <a:schemeClr val="tx1"/>
                </a:solidFill>
              </a:rPr>
              <a:t>User-defined routes are not necessary.</a:t>
            </a:r>
          </a:p>
        </p:txBody>
      </p:sp>
      <p:pic>
        <p:nvPicPr>
          <p:cNvPr id="10" name="Picture 9" descr="Azure portal screenshot of creating a NAT gateway ">
            <a:extLst>
              <a:ext uri="{FF2B5EF4-FFF2-40B4-BE49-F238E27FC236}">
                <a16:creationId xmlns:a16="http://schemas.microsoft.com/office/drawing/2014/main" id="{2A10FC84-29DA-47C0-8749-77FBA9CF1C53}"/>
              </a:ext>
            </a:extLst>
          </p:cNvPr>
          <p:cNvPicPr>
            <a:picLocks noChangeAspect="1"/>
          </p:cNvPicPr>
          <p:nvPr/>
        </p:nvPicPr>
        <p:blipFill rotWithShape="1">
          <a:blip r:embed="rId2"/>
          <a:srcRect r="8641" b="1524"/>
          <a:stretch/>
        </p:blipFill>
        <p:spPr>
          <a:xfrm>
            <a:off x="6096000" y="1425561"/>
            <a:ext cx="5760744" cy="4006878"/>
          </a:xfrm>
          <a:prstGeom prst="rect">
            <a:avLst/>
          </a:prstGeom>
        </p:spPr>
      </p:pic>
      <p:sp>
        <p:nvSpPr>
          <p:cNvPr id="12" name="Rectangle 11">
            <a:extLst>
              <a:ext uri="{FF2B5EF4-FFF2-40B4-BE49-F238E27FC236}">
                <a16:creationId xmlns:a16="http://schemas.microsoft.com/office/drawing/2014/main" id="{2C174D62-6324-429F-8243-C8518114567E}"/>
              </a:ext>
              <a:ext uri="{C183D7F6-B498-43B3-948B-1728B52AA6E4}">
                <adec:decorative xmlns:adec="http://schemas.microsoft.com/office/drawing/2017/decorative" val="1"/>
              </a:ext>
            </a:extLst>
          </p:cNvPr>
          <p:cNvSpPr/>
          <p:nvPr/>
        </p:nvSpPr>
        <p:spPr bwMode="auto">
          <a:xfrm>
            <a:off x="6012612" y="1038387"/>
            <a:ext cx="5967578" cy="508914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88161328"/>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611CB2-2CD1-4774-82B3-38DBC18E8241}"/>
              </a:ext>
            </a:extLst>
          </p:cNvPr>
          <p:cNvSpPr txBox="1">
            <a:spLocks/>
          </p:cNvSpPr>
          <p:nvPr/>
        </p:nvSpPr>
        <p:spPr>
          <a:xfrm>
            <a:off x="594212" y="750259"/>
            <a:ext cx="11343820" cy="403137"/>
          </a:xfrm>
          <a:prstGeom prst="rect">
            <a:avLst/>
          </a:prstGeom>
        </p:spPr>
        <p:txBody>
          <a:bodyPr vert="horz" wrap="square" lIns="0" tIns="0" rIns="0" bIns="0" rtlCol="0" anchor="ctr">
            <a:spAutoFit/>
          </a:bodyPr>
          <a:lstStyle>
            <a:lvl1pPr algn="l" defTabSz="914400" rtl="0" eaLnBrk="1" latinLnBrk="0" hangingPunct="1">
              <a:lnSpc>
                <a:spcPts val="3137"/>
              </a:lnSpc>
              <a:spcBef>
                <a:spcPct val="0"/>
              </a:spcBef>
              <a:buNone/>
              <a:defRPr sz="2745" strike="noStrike" kern="1200">
                <a:solidFill>
                  <a:srgbClr val="000000"/>
                </a:solidFill>
                <a:latin typeface="+mj-lt"/>
                <a:ea typeface="+mj-ea"/>
                <a:cs typeface="+mj-cs"/>
              </a:defRPr>
            </a:lvl1pPr>
          </a:lstStyle>
          <a:p>
            <a:r>
              <a:rPr lang="en-US" dirty="0"/>
              <a:t>Demonstration – NAT Gateway </a:t>
            </a:r>
          </a:p>
        </p:txBody>
      </p:sp>
      <p:pic>
        <p:nvPicPr>
          <p:cNvPr id="4" name="Picture 3" descr="Icon of a calendar">
            <a:extLst>
              <a:ext uri="{FF2B5EF4-FFF2-40B4-BE49-F238E27FC236}">
                <a16:creationId xmlns:a16="http://schemas.microsoft.com/office/drawing/2014/main" id="{1A2E3DF0-576E-454D-A180-42D1F571D7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420" y="1493486"/>
            <a:ext cx="1015948" cy="1015948"/>
          </a:xfrm>
          <a:prstGeom prst="rect">
            <a:avLst/>
          </a:prstGeom>
        </p:spPr>
      </p:pic>
      <p:sp>
        <p:nvSpPr>
          <p:cNvPr id="5" name="Rectangle 4">
            <a:extLst>
              <a:ext uri="{FF2B5EF4-FFF2-40B4-BE49-F238E27FC236}">
                <a16:creationId xmlns:a16="http://schemas.microsoft.com/office/drawing/2014/main" id="{70A58722-C9C0-4799-AD67-A3D17413A743}"/>
              </a:ext>
            </a:extLst>
          </p:cNvPr>
          <p:cNvSpPr/>
          <p:nvPr/>
        </p:nvSpPr>
        <p:spPr bwMode="auto">
          <a:xfrm>
            <a:off x="1775731" y="1492801"/>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dirty="0">
                <a:solidFill>
                  <a:schemeClr val="tx1"/>
                </a:solidFill>
              </a:rPr>
              <a:t>Create a virtual network</a:t>
            </a:r>
          </a:p>
        </p:txBody>
      </p:sp>
      <p:cxnSp>
        <p:nvCxnSpPr>
          <p:cNvPr id="6" name="Straight Connector 5">
            <a:extLst>
              <a:ext uri="{FF2B5EF4-FFF2-40B4-BE49-F238E27FC236}">
                <a16:creationId xmlns:a16="http://schemas.microsoft.com/office/drawing/2014/main" id="{63D964C5-5CB6-4247-BDB7-1F7F2AA988F6}"/>
              </a:ext>
              <a:ext uri="{C183D7F6-B498-43B3-948B-1728B52AA6E4}">
                <adec:decorative xmlns:adec="http://schemas.microsoft.com/office/drawing/2017/decorative" val="1"/>
              </a:ext>
            </a:extLst>
          </p:cNvPr>
          <p:cNvCxnSpPr>
            <a:cxnSpLocks/>
          </p:cNvCxnSpPr>
          <p:nvPr/>
        </p:nvCxnSpPr>
        <p:spPr>
          <a:xfrm>
            <a:off x="1770157" y="2622854"/>
            <a:ext cx="99787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descr="Icon of three concentric arcs">
            <a:extLst>
              <a:ext uri="{FF2B5EF4-FFF2-40B4-BE49-F238E27FC236}">
                <a16:creationId xmlns:a16="http://schemas.microsoft.com/office/drawing/2014/main" id="{1B6F0103-F9AD-4D4F-AD44-4D94E2A1C4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8420" y="2736274"/>
            <a:ext cx="1015948" cy="1015948"/>
          </a:xfrm>
          <a:prstGeom prst="rect">
            <a:avLst/>
          </a:prstGeom>
        </p:spPr>
      </p:pic>
      <p:sp>
        <p:nvSpPr>
          <p:cNvPr id="8" name="Rectangle 7">
            <a:extLst>
              <a:ext uri="{FF2B5EF4-FFF2-40B4-BE49-F238E27FC236}">
                <a16:creationId xmlns:a16="http://schemas.microsoft.com/office/drawing/2014/main" id="{BE34112D-535C-454C-9BA3-9FF5E958843A}"/>
              </a:ext>
            </a:extLst>
          </p:cNvPr>
          <p:cNvSpPr/>
          <p:nvPr/>
        </p:nvSpPr>
        <p:spPr bwMode="auto">
          <a:xfrm>
            <a:off x="1775731" y="2736047"/>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dirty="0">
                <a:solidFill>
                  <a:schemeClr val="tx1"/>
                </a:solidFill>
              </a:rPr>
              <a:t>Create a virtual machine</a:t>
            </a:r>
          </a:p>
        </p:txBody>
      </p:sp>
      <p:cxnSp>
        <p:nvCxnSpPr>
          <p:cNvPr id="9" name="Straight Connector 8">
            <a:extLst>
              <a:ext uri="{FF2B5EF4-FFF2-40B4-BE49-F238E27FC236}">
                <a16:creationId xmlns:a16="http://schemas.microsoft.com/office/drawing/2014/main" id="{06C3FDB5-AA4C-4164-AA0F-66D4E7626DD8}"/>
              </a:ext>
              <a:ext uri="{C183D7F6-B498-43B3-948B-1728B52AA6E4}">
                <adec:decorative xmlns:adec="http://schemas.microsoft.com/office/drawing/2017/decorative" val="1"/>
              </a:ext>
            </a:extLst>
          </p:cNvPr>
          <p:cNvCxnSpPr>
            <a:cxnSpLocks/>
          </p:cNvCxnSpPr>
          <p:nvPr/>
        </p:nvCxnSpPr>
        <p:spPr>
          <a:xfrm>
            <a:off x="1770157" y="3865641"/>
            <a:ext cx="99787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magnifying glass">
            <a:extLst>
              <a:ext uri="{FF2B5EF4-FFF2-40B4-BE49-F238E27FC236}">
                <a16:creationId xmlns:a16="http://schemas.microsoft.com/office/drawing/2014/main" id="{6B4C8161-A63A-49E7-9F38-803DEBC6E15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8420" y="3979061"/>
            <a:ext cx="1015948" cy="1015948"/>
          </a:xfrm>
          <a:prstGeom prst="rect">
            <a:avLst/>
          </a:prstGeom>
        </p:spPr>
      </p:pic>
      <p:sp>
        <p:nvSpPr>
          <p:cNvPr id="11" name="Rectangle 10">
            <a:extLst>
              <a:ext uri="{FF2B5EF4-FFF2-40B4-BE49-F238E27FC236}">
                <a16:creationId xmlns:a16="http://schemas.microsoft.com/office/drawing/2014/main" id="{370BAEC4-BD72-477B-86B8-0A884D893B50}"/>
              </a:ext>
            </a:extLst>
          </p:cNvPr>
          <p:cNvSpPr/>
          <p:nvPr/>
        </p:nvSpPr>
        <p:spPr bwMode="auto">
          <a:xfrm>
            <a:off x="1775731" y="3979294"/>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dirty="0">
                <a:solidFill>
                  <a:schemeClr val="tx1"/>
                </a:solidFill>
              </a:rPr>
              <a:t>Create a NAT gateway and associate with the virtual network</a:t>
            </a:r>
          </a:p>
        </p:txBody>
      </p:sp>
      <p:cxnSp>
        <p:nvCxnSpPr>
          <p:cNvPr id="12" name="Straight Connector 11">
            <a:extLst>
              <a:ext uri="{FF2B5EF4-FFF2-40B4-BE49-F238E27FC236}">
                <a16:creationId xmlns:a16="http://schemas.microsoft.com/office/drawing/2014/main" id="{0A2208FA-1D8F-4E99-BF48-E25B5B3F5966}"/>
              </a:ext>
              <a:ext uri="{C183D7F6-B498-43B3-948B-1728B52AA6E4}">
                <adec:decorative xmlns:adec="http://schemas.microsoft.com/office/drawing/2017/decorative" val="1"/>
              </a:ext>
            </a:extLst>
          </p:cNvPr>
          <p:cNvCxnSpPr>
            <a:cxnSpLocks/>
          </p:cNvCxnSpPr>
          <p:nvPr/>
        </p:nvCxnSpPr>
        <p:spPr>
          <a:xfrm>
            <a:off x="1770157" y="5108429"/>
            <a:ext cx="99787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3" name="Picture 12" descr="Icon of a screen with three circles enclosed by outward pointing chevrons on left and right">
            <a:extLst>
              <a:ext uri="{FF2B5EF4-FFF2-40B4-BE49-F238E27FC236}">
                <a16:creationId xmlns:a16="http://schemas.microsoft.com/office/drawing/2014/main" id="{A31311CE-563A-4CC7-9512-F657B81C58F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8420" y="5221850"/>
            <a:ext cx="1015948" cy="1015948"/>
          </a:xfrm>
          <a:prstGeom prst="rect">
            <a:avLst/>
          </a:prstGeom>
        </p:spPr>
      </p:pic>
      <p:sp>
        <p:nvSpPr>
          <p:cNvPr id="14" name="Rectangle 13">
            <a:extLst>
              <a:ext uri="{FF2B5EF4-FFF2-40B4-BE49-F238E27FC236}">
                <a16:creationId xmlns:a16="http://schemas.microsoft.com/office/drawing/2014/main" id="{AF7DC766-7111-4AD3-A16D-AD42A2D55ADB}"/>
              </a:ext>
            </a:extLst>
          </p:cNvPr>
          <p:cNvSpPr/>
          <p:nvPr/>
        </p:nvSpPr>
        <p:spPr bwMode="auto">
          <a:xfrm>
            <a:off x="1775731" y="5222539"/>
            <a:ext cx="9997628" cy="102192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353" dirty="0">
                <a:solidFill>
                  <a:schemeClr val="tx1"/>
                </a:solidFill>
              </a:rPr>
              <a:t>Connect to virtual machine and verify NAT IP address</a:t>
            </a:r>
          </a:p>
        </p:txBody>
      </p:sp>
    </p:spTree>
    <p:extLst>
      <p:ext uri="{BB962C8B-B14F-4D97-AF65-F5344CB8AC3E}">
        <p14:creationId xmlns:p14="http://schemas.microsoft.com/office/powerpoint/2010/main" val="347156884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t>Azure virtual Network NAT</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600" dirty="0">
                <a:hlinkClick r:id="rId3"/>
              </a:rPr>
              <a:t>Designing Virtual networks with NAT gateway resources - Azure Virtual Network NAT | Microsoft Docs</a:t>
            </a:r>
            <a:endParaRPr lang="en-US" sz="1765" dirty="0">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5" name="TextBox 14">
            <a:extLst>
              <a:ext uri="{FF2B5EF4-FFF2-40B4-BE49-F238E27FC236}">
                <a16:creationId xmlns:a16="http://schemas.microsoft.com/office/drawing/2014/main" id="{CB7CF74F-F095-431A-84E7-052AC0FF4AFA}"/>
              </a:ext>
            </a:extLst>
          </p:cNvPr>
          <p:cNvSpPr txBox="1"/>
          <p:nvPr/>
        </p:nvSpPr>
        <p:spPr>
          <a:xfrm>
            <a:off x="4128320" y="2278214"/>
            <a:ext cx="6096000" cy="369332"/>
          </a:xfrm>
          <a:prstGeom prst="rect">
            <a:avLst/>
          </a:prstGeom>
          <a:noFill/>
        </p:spPr>
        <p:txBody>
          <a:bodyPr wrap="square">
            <a:spAutoFit/>
          </a:bodyPr>
          <a:lstStyle/>
          <a:p>
            <a:r>
              <a:rPr lang="en-US" dirty="0">
                <a:hlinkClick r:id="rId5"/>
              </a:rPr>
              <a:t>What is Azure Virtual Network NAT? | Microsoft Docs</a:t>
            </a:r>
            <a:endParaRPr lang="en-US" dirty="0"/>
          </a:p>
        </p:txBody>
      </p:sp>
    </p:spTree>
    <p:extLst>
      <p:ext uri="{BB962C8B-B14F-4D97-AF65-F5344CB8AC3E}">
        <p14:creationId xmlns:p14="http://schemas.microsoft.com/office/powerpoint/2010/main" val="219489075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a:t>End of presentation</a:t>
            </a:r>
          </a:p>
        </p:txBody>
      </p:sp>
      <p:grpSp>
        <p:nvGrpSpPr>
          <p:cNvPr id="5" name="Group 4">
            <a:extLst>
              <a:ext uri="{FF2B5EF4-FFF2-40B4-BE49-F238E27FC236}">
                <a16:creationId xmlns:a16="http://schemas.microsoft.com/office/drawing/2014/main" id="{D45CC28F-632F-4706-A6C8-17D40FD92B16}"/>
              </a:ext>
              <a:ext uri="{C183D7F6-B498-43B3-948B-1728B52AA6E4}">
                <adec:decorative xmlns:adec="http://schemas.microsoft.com/office/drawing/2017/decorative" val="1"/>
              </a:ext>
            </a:extLst>
          </p:cNvPr>
          <p:cNvGrpSpPr/>
          <p:nvPr/>
        </p:nvGrpSpPr>
        <p:grpSpPr>
          <a:xfrm>
            <a:off x="10305591" y="3070379"/>
            <a:ext cx="717140" cy="717242"/>
            <a:chOff x="6229350" y="4826259"/>
            <a:chExt cx="717140" cy="717242"/>
          </a:xfrm>
        </p:grpSpPr>
        <p:grpSp>
          <p:nvGrpSpPr>
            <p:cNvPr id="6" name="Group 5">
              <a:extLst>
                <a:ext uri="{FF2B5EF4-FFF2-40B4-BE49-F238E27FC236}">
                  <a16:creationId xmlns:a16="http://schemas.microsoft.com/office/drawing/2014/main" id="{0B55BF72-A38F-4C10-9B14-88B75A4E35AF}"/>
                </a:ext>
              </a:extLst>
            </p:cNvPr>
            <p:cNvGrpSpPr/>
            <p:nvPr/>
          </p:nvGrpSpPr>
          <p:grpSpPr>
            <a:xfrm>
              <a:off x="6229350" y="4826259"/>
              <a:ext cx="717140" cy="717242"/>
              <a:chOff x="6229350" y="4826259"/>
              <a:chExt cx="717140" cy="717242"/>
            </a:xfrm>
          </p:grpSpPr>
          <p:sp>
            <p:nvSpPr>
              <p:cNvPr id="8" name="Freeform 5">
                <a:extLst>
                  <a:ext uri="{FF2B5EF4-FFF2-40B4-BE49-F238E27FC236}">
                    <a16:creationId xmlns:a16="http://schemas.microsoft.com/office/drawing/2014/main" id="{7DD44C99-609C-4D30-9D3A-B9E2357102AE}"/>
                  </a:ext>
                </a:extLst>
              </p:cNvPr>
              <p:cNvSpPr>
                <a:spLocks/>
              </p:cNvSpPr>
              <p:nvPr/>
            </p:nvSpPr>
            <p:spPr bwMode="auto">
              <a:xfrm>
                <a:off x="6229350"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FD82734-D944-49DC-8E57-A8B804134238}"/>
                  </a:ext>
                </a:extLst>
              </p:cNvPr>
              <p:cNvSpPr>
                <a:spLocks noEditPoints="1"/>
              </p:cNvSpPr>
              <p:nvPr/>
            </p:nvSpPr>
            <p:spPr bwMode="auto">
              <a:xfrm>
                <a:off x="6279248"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coding brackets">
              <a:extLst>
                <a:ext uri="{FF2B5EF4-FFF2-40B4-BE49-F238E27FC236}">
                  <a16:creationId xmlns:a16="http://schemas.microsoft.com/office/drawing/2014/main" id="{2DA6A36E-C2D8-4132-B283-1A771B4F2F75}"/>
                </a:ext>
              </a:extLst>
            </p:cNvPr>
            <p:cNvPicPr>
              <a:picLocks noChangeAspect="1"/>
            </p:cNvPicPr>
            <p:nvPr/>
          </p:nvPicPr>
          <p:blipFill>
            <a:blip r:embed="rId2"/>
            <a:stretch>
              <a:fillRect/>
            </a:stretch>
          </p:blipFill>
          <p:spPr>
            <a:xfrm>
              <a:off x="6399891" y="4996851"/>
              <a:ext cx="376058" cy="376058"/>
            </a:xfrm>
            <a:prstGeom prst="rect">
              <a:avLst/>
            </a:prstGeom>
          </p:spPr>
        </p:pic>
      </p:grpSp>
    </p:spTree>
    <p:extLst>
      <p:ext uri="{BB962C8B-B14F-4D97-AF65-F5344CB8AC3E}">
        <p14:creationId xmlns:p14="http://schemas.microsoft.com/office/powerpoint/2010/main" val="1050875259"/>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C1824F-17D3-46E9-954F-03127C6111DB}">
  <ds:schemaRefs>
    <ds:schemaRef ds:uri="1d16016b-1e11-4dbd-8bd0-b44cb6539c58"/>
    <ds:schemaRef ds:uri="e8bab37c-6053-4066-b569-fd9fbae908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1589B34-8B61-4432-95AD-633C498B1F77}">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C27DE65-CEBA-4E59-9341-77F6399D1EB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4015</TotalTime>
  <Words>9331</Words>
  <Application>Microsoft Office PowerPoint</Application>
  <PresentationFormat>Widescreen</PresentationFormat>
  <Paragraphs>842</Paragraphs>
  <Slides>63</Slides>
  <Notes>58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63</vt:i4>
      </vt:variant>
    </vt:vector>
  </HeadingPairs>
  <TitlesOfParts>
    <vt:vector size="77" baseType="lpstr">
      <vt:lpstr>-apple-system</vt:lpstr>
      <vt:lpstr>Arial</vt:lpstr>
      <vt:lpstr>Calibri</vt:lpstr>
      <vt:lpstr>Calibri Light</vt:lpstr>
      <vt:lpstr>Consolas</vt:lpstr>
      <vt:lpstr>Courier New</vt:lpstr>
      <vt:lpstr>Roboto</vt:lpstr>
      <vt:lpstr>Segoe UI</vt:lpstr>
      <vt:lpstr>Segoe UI Semibold</vt:lpstr>
      <vt:lpstr>Segoe UI VSS (Regular)</vt:lpstr>
      <vt:lpstr>Symbol</vt:lpstr>
      <vt:lpstr>Wingdings</vt:lpstr>
      <vt:lpstr>Office Theme</vt:lpstr>
      <vt:lpstr>Microsoft Azure Template</vt:lpstr>
      <vt:lpstr>AZ-700T00A Module 01: Introduction to Azure Virtual Networks</vt:lpstr>
      <vt:lpstr>Module Overview</vt:lpstr>
      <vt:lpstr>Lesson 01: Explore Azure Virtual Networks</vt:lpstr>
      <vt:lpstr>Explore Azure Virtual Networks overview</vt:lpstr>
      <vt:lpstr>Capabilities of Azure Virtual Networks </vt:lpstr>
      <vt:lpstr>Virtual Network address space</vt:lpstr>
      <vt:lpstr>Subnets</vt:lpstr>
      <vt:lpstr>Private IP Addresses allocation</vt:lpstr>
      <vt:lpstr>Understand Regions and Subscriptions </vt:lpstr>
      <vt:lpstr>Create a Virtual Network</vt:lpstr>
      <vt:lpstr>Demonstration – Creating Virtual Networks</vt:lpstr>
      <vt:lpstr>Explore Azure Virtual Networks - Review</vt:lpstr>
      <vt:lpstr>Lesson 02: Configure Public IP services </vt:lpstr>
      <vt:lpstr>Configure public IP services overview</vt:lpstr>
      <vt:lpstr>Public IP Addresses</vt:lpstr>
      <vt:lpstr>Choose the appropriate SKU for a public IP</vt:lpstr>
      <vt:lpstr>Creating Public IP Addresses</vt:lpstr>
      <vt:lpstr>Configure Public IP services - Review</vt:lpstr>
      <vt:lpstr>Lesson 03: Exercise: design and implement a Virtual Network in Azure </vt:lpstr>
      <vt:lpstr>Design and implement a Virtual Network in Azure</vt:lpstr>
      <vt:lpstr>Summary – Exercise: design and implement a Virtual Network in Azure </vt:lpstr>
      <vt:lpstr>Lesson 04: Design Name Resolution for Azure Virtual Network</vt:lpstr>
      <vt:lpstr>Design Name Resolution for Azure Virtual Network overview</vt:lpstr>
      <vt:lpstr>Public DNS</vt:lpstr>
      <vt:lpstr>Azure DNS Zones</vt:lpstr>
      <vt:lpstr>DNS Delegation</vt:lpstr>
      <vt:lpstr>DNS Record Sets</vt:lpstr>
      <vt:lpstr>DNS for Private Domains</vt:lpstr>
      <vt:lpstr>Private Zone Scenarios</vt:lpstr>
      <vt:lpstr>Significance of IP address 168.63.129.16  </vt:lpstr>
      <vt:lpstr>Demonstration – DNS Name Resolution</vt:lpstr>
      <vt:lpstr>Design Name Resolution for Azure Virtual Network - Review</vt:lpstr>
      <vt:lpstr>Lesson 05: Exercise: configure DNS settings in Azure </vt:lpstr>
      <vt:lpstr>Exercise – Configure DNS settings in Azure</vt:lpstr>
      <vt:lpstr>Lesson 06: Enable Cross-VNet Connectivity with Peering</vt:lpstr>
      <vt:lpstr>Enable Cross-VNet Connectivity with Peering overview</vt:lpstr>
      <vt:lpstr>VNet Peering</vt:lpstr>
      <vt:lpstr>Implementing VNet Peering</vt:lpstr>
      <vt:lpstr>Configure VNet Peering</vt:lpstr>
      <vt:lpstr>Configure VNet peering – Gateway Transit </vt:lpstr>
      <vt:lpstr>Service Chaining</vt:lpstr>
      <vt:lpstr>Demonstration – VNet Peering</vt:lpstr>
      <vt:lpstr>VNet Peering Review</vt:lpstr>
      <vt:lpstr>Lesson 07: Exercise: connect two Azure virtual networks using global VNet peering</vt:lpstr>
      <vt:lpstr>Exercise: connect two Azure Virtual Networks using global VNet peering</vt:lpstr>
      <vt:lpstr>Lesson 08: Implement virtual network traffic routing </vt:lpstr>
      <vt:lpstr>Implement virtual network traffic routing overview</vt:lpstr>
      <vt:lpstr>Virtual network traffic routing </vt:lpstr>
      <vt:lpstr>Configure User-defined routes</vt:lpstr>
      <vt:lpstr>Create a Custom Route and associate route table to subnet</vt:lpstr>
      <vt:lpstr>Configure forced tunneling </vt:lpstr>
      <vt:lpstr>Configure Azure Route Server</vt:lpstr>
      <vt:lpstr>Diagnose a routing problem </vt:lpstr>
      <vt:lpstr>Demonstration – Custom Routing Tables</vt:lpstr>
      <vt:lpstr>Summary – Implement virtual network traffic routing </vt:lpstr>
      <vt:lpstr>Lesson 09: Configure internet access with Azure Virtual NAT</vt:lpstr>
      <vt:lpstr>Configure internet access with Azure Virtual NAT overview</vt:lpstr>
      <vt:lpstr>Azure Virtual NAT</vt:lpstr>
      <vt:lpstr>Coexistence of inbound and outbound </vt:lpstr>
      <vt:lpstr>How to deploy NAT</vt:lpstr>
      <vt:lpstr>PowerPoint Presentation</vt:lpstr>
      <vt:lpstr>Summary – Azure virtual Network NAT</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28</cp:revision>
  <dcterms:created xsi:type="dcterms:W3CDTF">2021-03-31T15:31:10Z</dcterms:created>
  <dcterms:modified xsi:type="dcterms:W3CDTF">2022-04-06T17:35:20Z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
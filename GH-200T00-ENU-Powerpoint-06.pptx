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61"/>
  </p:notesMasterIdLst>
  <p:sldIdLst>
    <p:sldId id="2076138181" r:id="rId2"/>
    <p:sldId id="1684" r:id="rId3"/>
    <p:sldId id="2147479969" r:id="rId4"/>
    <p:sldId id="2147479970" r:id="rId5"/>
    <p:sldId id="2147479971" r:id="rId6"/>
    <p:sldId id="2147479972" r:id="rId7"/>
    <p:sldId id="2147479973" r:id="rId8"/>
    <p:sldId id="2147479974" r:id="rId9"/>
    <p:sldId id="2147479921" r:id="rId10"/>
    <p:sldId id="2147479975" r:id="rId11"/>
    <p:sldId id="2147479976" r:id="rId12"/>
    <p:sldId id="2147479977" r:id="rId13"/>
    <p:sldId id="2147479978" r:id="rId14"/>
    <p:sldId id="2147479979" r:id="rId15"/>
    <p:sldId id="2147479980" r:id="rId16"/>
    <p:sldId id="2147479981" r:id="rId17"/>
    <p:sldId id="2147479982" r:id="rId18"/>
    <p:sldId id="2147479983" r:id="rId19"/>
    <p:sldId id="2147479984" r:id="rId20"/>
    <p:sldId id="2147479985" r:id="rId21"/>
    <p:sldId id="2147479986" r:id="rId22"/>
    <p:sldId id="2147479987" r:id="rId23"/>
    <p:sldId id="2147479988" r:id="rId24"/>
    <p:sldId id="2147479989" r:id="rId25"/>
    <p:sldId id="2147479990" r:id="rId26"/>
    <p:sldId id="2147479991" r:id="rId27"/>
    <p:sldId id="2147479992" r:id="rId28"/>
    <p:sldId id="2147479993" r:id="rId29"/>
    <p:sldId id="2147479994" r:id="rId30"/>
    <p:sldId id="2147479995" r:id="rId31"/>
    <p:sldId id="2147479996" r:id="rId32"/>
    <p:sldId id="2147479997" r:id="rId33"/>
    <p:sldId id="2147479998" r:id="rId34"/>
    <p:sldId id="2147479999" r:id="rId35"/>
    <p:sldId id="2147480000" r:id="rId36"/>
    <p:sldId id="2147480001" r:id="rId37"/>
    <p:sldId id="2147480002" r:id="rId38"/>
    <p:sldId id="2147480003" r:id="rId39"/>
    <p:sldId id="2147480004" r:id="rId40"/>
    <p:sldId id="2147480005" r:id="rId41"/>
    <p:sldId id="2147480006" r:id="rId42"/>
    <p:sldId id="2147480007" r:id="rId43"/>
    <p:sldId id="2147480008" r:id="rId44"/>
    <p:sldId id="2147480009" r:id="rId45"/>
    <p:sldId id="2147480010" r:id="rId46"/>
    <p:sldId id="2147480011" r:id="rId47"/>
    <p:sldId id="2147480012" r:id="rId48"/>
    <p:sldId id="2147480013" r:id="rId49"/>
    <p:sldId id="2147480014" r:id="rId50"/>
    <p:sldId id="2147480015" r:id="rId51"/>
    <p:sldId id="2147480016" r:id="rId52"/>
    <p:sldId id="2147480017" r:id="rId53"/>
    <p:sldId id="2147480141" r:id="rId54"/>
    <p:sldId id="2147480142" r:id="rId55"/>
    <p:sldId id="2147480143" r:id="rId56"/>
    <p:sldId id="2147480144" r:id="rId57"/>
    <p:sldId id="2147480145" r:id="rId58"/>
    <p:sldId id="2147480146" r:id="rId59"/>
    <p:sldId id="2147479832"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AFE4"/>
    <a:srgbClr val="D7E0FF"/>
    <a:srgbClr val="AE6AD0"/>
    <a:srgbClr val="FC595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3D046F-3547-4F42-97DC-A491A00B6064}" v="323" dt="2025-06-11T02:40:06.8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93"/>
    <p:restoredTop sz="57007"/>
  </p:normalViewPr>
  <p:slideViewPr>
    <p:cSldViewPr snapToGrid="0">
      <p:cViewPr varScale="1">
        <p:scale>
          <a:sx n="53" d="100"/>
          <a:sy n="53" d="100"/>
        </p:scale>
        <p:origin x="2073" y="2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A3D6EF-BACE-1D49-A32B-F7C83F5C526D}" type="datetimeFigureOut">
              <a:rPr lang="en-US" smtClean="0"/>
              <a:t>6/12/2025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E0A1D2-EE54-8C48-A0A0-D9F8ED70567E}" type="slidenum">
              <a:rPr lang="en-US" smtClean="0"/>
              <a:t>‹#›</a:t>
            </a:fld>
            <a:endParaRPr lang="en-US"/>
          </a:p>
        </p:txBody>
      </p:sp>
    </p:spTree>
    <p:extLst>
      <p:ext uri="{BB962C8B-B14F-4D97-AF65-F5344CB8AC3E}">
        <p14:creationId xmlns:p14="http://schemas.microsoft.com/office/powerpoint/2010/main" val="3794094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1373201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mj-lt"/>
              <a:buNone/>
            </a:pP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2209868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1518081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28788434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2087505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22054378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None/>
            </a:pP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2588338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7552340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33238089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39632713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4247987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7922715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2828935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2085673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6950428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20025084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13351612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42703346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pPr marL="228600" indent="-228600">
              <a:buFont typeface="+mj-lt"/>
              <a:buAutoNum type="arabicPeriod"/>
            </a:pPr>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9975759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pPr marL="228600" indent="-228600">
              <a:buFont typeface="+mj-lt"/>
              <a:buAutoNum type="arabicPeriod" startAt="3"/>
            </a:pPr>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20</a:t>
            </a:fld>
            <a:endParaRPr lang="en-US" dirty="0"/>
          </a:p>
        </p:txBody>
      </p:sp>
    </p:spTree>
    <p:extLst>
      <p:ext uri="{BB962C8B-B14F-4D97-AF65-F5344CB8AC3E}">
        <p14:creationId xmlns:p14="http://schemas.microsoft.com/office/powerpoint/2010/main" val="34899386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21</a:t>
            </a:fld>
            <a:endParaRPr lang="en-US" dirty="0"/>
          </a:p>
        </p:txBody>
      </p:sp>
    </p:spTree>
    <p:extLst>
      <p:ext uri="{BB962C8B-B14F-4D97-AF65-F5344CB8AC3E}">
        <p14:creationId xmlns:p14="http://schemas.microsoft.com/office/powerpoint/2010/main" val="3808065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22</a:t>
            </a:fld>
            <a:endParaRPr lang="en-US" dirty="0"/>
          </a:p>
        </p:txBody>
      </p:sp>
    </p:spTree>
    <p:extLst>
      <p:ext uri="{BB962C8B-B14F-4D97-AF65-F5344CB8AC3E}">
        <p14:creationId xmlns:p14="http://schemas.microsoft.com/office/powerpoint/2010/main" val="15528165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23</a:t>
            </a:fld>
            <a:endParaRPr lang="en-US" dirty="0"/>
          </a:p>
        </p:txBody>
      </p:sp>
    </p:spTree>
    <p:extLst>
      <p:ext uri="{BB962C8B-B14F-4D97-AF65-F5344CB8AC3E}">
        <p14:creationId xmlns:p14="http://schemas.microsoft.com/office/powerpoint/2010/main" val="28321888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24</a:t>
            </a:fld>
            <a:endParaRPr lang="en-US" dirty="0"/>
          </a:p>
        </p:txBody>
      </p:sp>
    </p:spTree>
    <p:extLst>
      <p:ext uri="{BB962C8B-B14F-4D97-AF65-F5344CB8AC3E}">
        <p14:creationId xmlns:p14="http://schemas.microsoft.com/office/powerpoint/2010/main" val="30840760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25</a:t>
            </a:fld>
            <a:endParaRPr lang="en-US" dirty="0"/>
          </a:p>
        </p:txBody>
      </p:sp>
    </p:spTree>
    <p:extLst>
      <p:ext uri="{BB962C8B-B14F-4D97-AF65-F5344CB8AC3E}">
        <p14:creationId xmlns:p14="http://schemas.microsoft.com/office/powerpoint/2010/main" val="32460590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26</a:t>
            </a:fld>
            <a:endParaRPr lang="en-US" dirty="0"/>
          </a:p>
        </p:txBody>
      </p:sp>
    </p:spTree>
    <p:extLst>
      <p:ext uri="{BB962C8B-B14F-4D97-AF65-F5344CB8AC3E}">
        <p14:creationId xmlns:p14="http://schemas.microsoft.com/office/powerpoint/2010/main" val="21014542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27</a:t>
            </a:fld>
            <a:endParaRPr lang="en-US" dirty="0"/>
          </a:p>
        </p:txBody>
      </p:sp>
    </p:spTree>
    <p:extLst>
      <p:ext uri="{BB962C8B-B14F-4D97-AF65-F5344CB8AC3E}">
        <p14:creationId xmlns:p14="http://schemas.microsoft.com/office/powerpoint/2010/main" val="11416169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28</a:t>
            </a:fld>
            <a:endParaRPr lang="en-US" dirty="0"/>
          </a:p>
        </p:txBody>
      </p:sp>
    </p:spTree>
    <p:extLst>
      <p:ext uri="{BB962C8B-B14F-4D97-AF65-F5344CB8AC3E}">
        <p14:creationId xmlns:p14="http://schemas.microsoft.com/office/powerpoint/2010/main" val="20521532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29</a:t>
            </a:fld>
            <a:endParaRPr lang="en-US" dirty="0"/>
          </a:p>
        </p:txBody>
      </p:sp>
    </p:spTree>
    <p:extLst>
      <p:ext uri="{BB962C8B-B14F-4D97-AF65-F5344CB8AC3E}">
        <p14:creationId xmlns:p14="http://schemas.microsoft.com/office/powerpoint/2010/main" val="39683519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30</a:t>
            </a:fld>
            <a:endParaRPr lang="en-US" dirty="0"/>
          </a:p>
        </p:txBody>
      </p:sp>
    </p:spTree>
    <p:extLst>
      <p:ext uri="{BB962C8B-B14F-4D97-AF65-F5344CB8AC3E}">
        <p14:creationId xmlns:p14="http://schemas.microsoft.com/office/powerpoint/2010/main" val="41695200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31</a:t>
            </a:fld>
            <a:endParaRPr lang="en-US" dirty="0"/>
          </a:p>
        </p:txBody>
      </p:sp>
    </p:spTree>
    <p:extLst>
      <p:ext uri="{BB962C8B-B14F-4D97-AF65-F5344CB8AC3E}">
        <p14:creationId xmlns:p14="http://schemas.microsoft.com/office/powerpoint/2010/main" val="9759840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32</a:t>
            </a:fld>
            <a:endParaRPr lang="en-US" dirty="0"/>
          </a:p>
        </p:txBody>
      </p:sp>
    </p:spTree>
    <p:extLst>
      <p:ext uri="{BB962C8B-B14F-4D97-AF65-F5344CB8AC3E}">
        <p14:creationId xmlns:p14="http://schemas.microsoft.com/office/powerpoint/2010/main" val="20506332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33</a:t>
            </a:fld>
            <a:endParaRPr lang="en-US" dirty="0"/>
          </a:p>
        </p:txBody>
      </p:sp>
    </p:spTree>
    <p:extLst>
      <p:ext uri="{BB962C8B-B14F-4D97-AF65-F5344CB8AC3E}">
        <p14:creationId xmlns:p14="http://schemas.microsoft.com/office/powerpoint/2010/main" val="32656026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34</a:t>
            </a:fld>
            <a:endParaRPr lang="en-US" dirty="0"/>
          </a:p>
        </p:txBody>
      </p:sp>
    </p:spTree>
    <p:extLst>
      <p:ext uri="{BB962C8B-B14F-4D97-AF65-F5344CB8AC3E}">
        <p14:creationId xmlns:p14="http://schemas.microsoft.com/office/powerpoint/2010/main" val="16632712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35</a:t>
            </a:fld>
            <a:endParaRPr lang="en-US" dirty="0"/>
          </a:p>
        </p:txBody>
      </p:sp>
    </p:spTree>
    <p:extLst>
      <p:ext uri="{BB962C8B-B14F-4D97-AF65-F5344CB8AC3E}">
        <p14:creationId xmlns:p14="http://schemas.microsoft.com/office/powerpoint/2010/main" val="31870684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36</a:t>
            </a:fld>
            <a:endParaRPr lang="en-US" dirty="0"/>
          </a:p>
        </p:txBody>
      </p:sp>
    </p:spTree>
    <p:extLst>
      <p:ext uri="{BB962C8B-B14F-4D97-AF65-F5344CB8AC3E}">
        <p14:creationId xmlns:p14="http://schemas.microsoft.com/office/powerpoint/2010/main" val="14810397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37</a:t>
            </a:fld>
            <a:endParaRPr lang="en-US" dirty="0"/>
          </a:p>
        </p:txBody>
      </p:sp>
    </p:spTree>
    <p:extLst>
      <p:ext uri="{BB962C8B-B14F-4D97-AF65-F5344CB8AC3E}">
        <p14:creationId xmlns:p14="http://schemas.microsoft.com/office/powerpoint/2010/main" val="7303603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38</a:t>
            </a:fld>
            <a:endParaRPr lang="en-US" dirty="0"/>
          </a:p>
        </p:txBody>
      </p:sp>
    </p:spTree>
    <p:extLst>
      <p:ext uri="{BB962C8B-B14F-4D97-AF65-F5344CB8AC3E}">
        <p14:creationId xmlns:p14="http://schemas.microsoft.com/office/powerpoint/2010/main" val="38432606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39</a:t>
            </a:fld>
            <a:endParaRPr lang="en-US" dirty="0"/>
          </a:p>
        </p:txBody>
      </p:sp>
    </p:spTree>
    <p:extLst>
      <p:ext uri="{BB962C8B-B14F-4D97-AF65-F5344CB8AC3E}">
        <p14:creationId xmlns:p14="http://schemas.microsoft.com/office/powerpoint/2010/main" val="21219604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40</a:t>
            </a:fld>
            <a:endParaRPr lang="en-US" dirty="0"/>
          </a:p>
        </p:txBody>
      </p:sp>
    </p:spTree>
    <p:extLst>
      <p:ext uri="{BB962C8B-B14F-4D97-AF65-F5344CB8AC3E}">
        <p14:creationId xmlns:p14="http://schemas.microsoft.com/office/powerpoint/2010/main" val="32321528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41</a:t>
            </a:fld>
            <a:endParaRPr lang="en-US" dirty="0"/>
          </a:p>
        </p:txBody>
      </p:sp>
    </p:spTree>
    <p:extLst>
      <p:ext uri="{BB962C8B-B14F-4D97-AF65-F5344CB8AC3E}">
        <p14:creationId xmlns:p14="http://schemas.microsoft.com/office/powerpoint/2010/main" val="225576751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42</a:t>
            </a:fld>
            <a:endParaRPr lang="en-US" dirty="0"/>
          </a:p>
        </p:txBody>
      </p:sp>
    </p:spTree>
    <p:extLst>
      <p:ext uri="{BB962C8B-B14F-4D97-AF65-F5344CB8AC3E}">
        <p14:creationId xmlns:p14="http://schemas.microsoft.com/office/powerpoint/2010/main" val="15707718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43</a:t>
            </a:fld>
            <a:endParaRPr lang="en-US" dirty="0"/>
          </a:p>
        </p:txBody>
      </p:sp>
    </p:spTree>
    <p:extLst>
      <p:ext uri="{BB962C8B-B14F-4D97-AF65-F5344CB8AC3E}">
        <p14:creationId xmlns:p14="http://schemas.microsoft.com/office/powerpoint/2010/main" val="10168884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44</a:t>
            </a:fld>
            <a:endParaRPr lang="en-US" dirty="0"/>
          </a:p>
        </p:txBody>
      </p:sp>
    </p:spTree>
    <p:extLst>
      <p:ext uri="{BB962C8B-B14F-4D97-AF65-F5344CB8AC3E}">
        <p14:creationId xmlns:p14="http://schemas.microsoft.com/office/powerpoint/2010/main" val="16285617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45</a:t>
            </a:fld>
            <a:endParaRPr lang="en-US" dirty="0"/>
          </a:p>
        </p:txBody>
      </p:sp>
    </p:spTree>
    <p:extLst>
      <p:ext uri="{BB962C8B-B14F-4D97-AF65-F5344CB8AC3E}">
        <p14:creationId xmlns:p14="http://schemas.microsoft.com/office/powerpoint/2010/main" val="38323053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46</a:t>
            </a:fld>
            <a:endParaRPr lang="en-US" dirty="0"/>
          </a:p>
        </p:txBody>
      </p:sp>
    </p:spTree>
    <p:extLst>
      <p:ext uri="{BB962C8B-B14F-4D97-AF65-F5344CB8AC3E}">
        <p14:creationId xmlns:p14="http://schemas.microsoft.com/office/powerpoint/2010/main" val="26772266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47</a:t>
            </a:fld>
            <a:endParaRPr lang="en-US" dirty="0"/>
          </a:p>
        </p:txBody>
      </p:sp>
    </p:spTree>
    <p:extLst>
      <p:ext uri="{BB962C8B-B14F-4D97-AF65-F5344CB8AC3E}">
        <p14:creationId xmlns:p14="http://schemas.microsoft.com/office/powerpoint/2010/main" val="84705012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48</a:t>
            </a:fld>
            <a:endParaRPr lang="en-US" dirty="0"/>
          </a:p>
        </p:txBody>
      </p:sp>
    </p:spTree>
    <p:extLst>
      <p:ext uri="{BB962C8B-B14F-4D97-AF65-F5344CB8AC3E}">
        <p14:creationId xmlns:p14="http://schemas.microsoft.com/office/powerpoint/2010/main" val="3959848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49</a:t>
            </a:fld>
            <a:endParaRPr lang="en-US" dirty="0"/>
          </a:p>
        </p:txBody>
      </p:sp>
    </p:spTree>
    <p:extLst>
      <p:ext uri="{BB962C8B-B14F-4D97-AF65-F5344CB8AC3E}">
        <p14:creationId xmlns:p14="http://schemas.microsoft.com/office/powerpoint/2010/main" val="35080835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50</a:t>
            </a:fld>
            <a:endParaRPr lang="en-US" dirty="0"/>
          </a:p>
        </p:txBody>
      </p:sp>
    </p:spTree>
    <p:extLst>
      <p:ext uri="{BB962C8B-B14F-4D97-AF65-F5344CB8AC3E}">
        <p14:creationId xmlns:p14="http://schemas.microsoft.com/office/powerpoint/2010/main" val="26840607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51</a:t>
            </a:fld>
            <a:endParaRPr lang="en-US" dirty="0"/>
          </a:p>
        </p:txBody>
      </p:sp>
    </p:spTree>
    <p:extLst>
      <p:ext uri="{BB962C8B-B14F-4D97-AF65-F5344CB8AC3E}">
        <p14:creationId xmlns:p14="http://schemas.microsoft.com/office/powerpoint/2010/main" val="361001305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52</a:t>
            </a:fld>
            <a:endParaRPr lang="en-US" dirty="0"/>
          </a:p>
        </p:txBody>
      </p:sp>
    </p:spTree>
    <p:extLst>
      <p:ext uri="{BB962C8B-B14F-4D97-AF65-F5344CB8AC3E}">
        <p14:creationId xmlns:p14="http://schemas.microsoft.com/office/powerpoint/2010/main" val="172312324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Aft>
                <a:spcPts val="1200"/>
              </a:spcAft>
            </a:pP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6/12/2025 6:48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53</a:t>
            </a:fld>
            <a:endParaRPr lang="en-US" dirty="0"/>
          </a:p>
        </p:txBody>
      </p:sp>
    </p:spTree>
    <p:extLst>
      <p:ext uri="{BB962C8B-B14F-4D97-AF65-F5344CB8AC3E}">
        <p14:creationId xmlns:p14="http://schemas.microsoft.com/office/powerpoint/2010/main" val="22480132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mj-lt"/>
              <a:buNone/>
            </a:pP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54</a:t>
            </a:fld>
            <a:endParaRPr lang="en-US" dirty="0"/>
          </a:p>
        </p:txBody>
      </p:sp>
    </p:spTree>
    <p:extLst>
      <p:ext uri="{BB962C8B-B14F-4D97-AF65-F5344CB8AC3E}">
        <p14:creationId xmlns:p14="http://schemas.microsoft.com/office/powerpoint/2010/main" val="1991924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C5746-B942-A847-454D-2942E8021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3B24C-79BA-0546-A136-5A578257D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08716-1DAB-8B55-8E2A-C09313907012}"/>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2022B298-2B69-AE91-F745-B661A2FF3A7F}"/>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ACB22FA2-7FB6-F1E5-6CD0-3003B3A0E013}"/>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B4A9D1F-654F-5833-1CA9-F6B5EF2AB48B}"/>
              </a:ext>
            </a:extLst>
          </p:cNvPr>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a:extLst>
              <a:ext uri="{FF2B5EF4-FFF2-40B4-BE49-F238E27FC236}">
                <a16:creationId xmlns:a16="http://schemas.microsoft.com/office/drawing/2014/main" id="{127D4B0B-92D4-172A-6F39-ABB1E6B9C75C}"/>
              </a:ext>
            </a:extLst>
          </p:cNvPr>
          <p:cNvSpPr>
            <a:spLocks noGrp="1"/>
          </p:cNvSpPr>
          <p:nvPr>
            <p:ph type="sldNum" sz="quarter" idx="13"/>
          </p:nvPr>
        </p:nvSpPr>
        <p:spPr/>
        <p:txBody>
          <a:bodyPr/>
          <a:lstStyle/>
          <a:p>
            <a:fld id="{B4008EB6-D09E-4580-8CD6-DDB14511944F}" type="slidenum">
              <a:rPr lang="en-US" smtClean="0"/>
              <a:pPr/>
              <a:t>55</a:t>
            </a:fld>
            <a:endParaRPr lang="en-US" dirty="0"/>
          </a:p>
        </p:txBody>
      </p:sp>
    </p:spTree>
    <p:extLst>
      <p:ext uri="{BB962C8B-B14F-4D97-AF65-F5344CB8AC3E}">
        <p14:creationId xmlns:p14="http://schemas.microsoft.com/office/powerpoint/2010/main" val="151042912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C5746-B942-A847-454D-2942E8021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3B24C-79BA-0546-A136-5A578257D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08716-1DAB-8B55-8E2A-C09313907012}"/>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2022B298-2B69-AE91-F745-B661A2FF3A7F}"/>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ACB22FA2-7FB6-F1E5-6CD0-3003B3A0E013}"/>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B4A9D1F-654F-5833-1CA9-F6B5EF2AB48B}"/>
              </a:ext>
            </a:extLst>
          </p:cNvPr>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a:extLst>
              <a:ext uri="{FF2B5EF4-FFF2-40B4-BE49-F238E27FC236}">
                <a16:creationId xmlns:a16="http://schemas.microsoft.com/office/drawing/2014/main" id="{127D4B0B-92D4-172A-6F39-ABB1E6B9C75C}"/>
              </a:ext>
            </a:extLst>
          </p:cNvPr>
          <p:cNvSpPr>
            <a:spLocks noGrp="1"/>
          </p:cNvSpPr>
          <p:nvPr>
            <p:ph type="sldNum" sz="quarter" idx="13"/>
          </p:nvPr>
        </p:nvSpPr>
        <p:spPr/>
        <p:txBody>
          <a:bodyPr/>
          <a:lstStyle/>
          <a:p>
            <a:fld id="{B4008EB6-D09E-4580-8CD6-DDB14511944F}" type="slidenum">
              <a:rPr lang="en-US" smtClean="0"/>
              <a:pPr/>
              <a:t>56</a:t>
            </a:fld>
            <a:endParaRPr lang="en-US" dirty="0"/>
          </a:p>
        </p:txBody>
      </p:sp>
    </p:spTree>
    <p:extLst>
      <p:ext uri="{BB962C8B-B14F-4D97-AF65-F5344CB8AC3E}">
        <p14:creationId xmlns:p14="http://schemas.microsoft.com/office/powerpoint/2010/main" val="26649928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C5746-B942-A847-454D-2942E8021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3B24C-79BA-0546-A136-5A578257D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08716-1DAB-8B55-8E2A-C09313907012}"/>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2022B298-2B69-AE91-F745-B661A2FF3A7F}"/>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ACB22FA2-7FB6-F1E5-6CD0-3003B3A0E013}"/>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B4A9D1F-654F-5833-1CA9-F6B5EF2AB48B}"/>
              </a:ext>
            </a:extLst>
          </p:cNvPr>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a:extLst>
              <a:ext uri="{FF2B5EF4-FFF2-40B4-BE49-F238E27FC236}">
                <a16:creationId xmlns:a16="http://schemas.microsoft.com/office/drawing/2014/main" id="{127D4B0B-92D4-172A-6F39-ABB1E6B9C75C}"/>
              </a:ext>
            </a:extLst>
          </p:cNvPr>
          <p:cNvSpPr>
            <a:spLocks noGrp="1"/>
          </p:cNvSpPr>
          <p:nvPr>
            <p:ph type="sldNum" sz="quarter" idx="13"/>
          </p:nvPr>
        </p:nvSpPr>
        <p:spPr/>
        <p:txBody>
          <a:bodyPr/>
          <a:lstStyle/>
          <a:p>
            <a:fld id="{B4008EB6-D09E-4580-8CD6-DDB14511944F}" type="slidenum">
              <a:rPr lang="en-US" smtClean="0"/>
              <a:pPr/>
              <a:t>57</a:t>
            </a:fld>
            <a:endParaRPr lang="en-US" dirty="0"/>
          </a:p>
        </p:txBody>
      </p:sp>
    </p:spTree>
    <p:extLst>
      <p:ext uri="{BB962C8B-B14F-4D97-AF65-F5344CB8AC3E}">
        <p14:creationId xmlns:p14="http://schemas.microsoft.com/office/powerpoint/2010/main" val="49389756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C5746-B942-A847-454D-2942E8021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3B24C-79BA-0546-A136-5A578257D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08716-1DAB-8B55-8E2A-C09313907012}"/>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2022B298-2B69-AE91-F745-B661A2FF3A7F}"/>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ACB22FA2-7FB6-F1E5-6CD0-3003B3A0E013}"/>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B4A9D1F-654F-5833-1CA9-F6B5EF2AB48B}"/>
              </a:ext>
            </a:extLst>
          </p:cNvPr>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a:extLst>
              <a:ext uri="{FF2B5EF4-FFF2-40B4-BE49-F238E27FC236}">
                <a16:creationId xmlns:a16="http://schemas.microsoft.com/office/drawing/2014/main" id="{127D4B0B-92D4-172A-6F39-ABB1E6B9C75C}"/>
              </a:ext>
            </a:extLst>
          </p:cNvPr>
          <p:cNvSpPr>
            <a:spLocks noGrp="1"/>
          </p:cNvSpPr>
          <p:nvPr>
            <p:ph type="sldNum" sz="quarter" idx="13"/>
          </p:nvPr>
        </p:nvSpPr>
        <p:spPr/>
        <p:txBody>
          <a:bodyPr/>
          <a:lstStyle/>
          <a:p>
            <a:fld id="{B4008EB6-D09E-4580-8CD6-DDB14511944F}" type="slidenum">
              <a:rPr lang="en-US" smtClean="0"/>
              <a:pPr/>
              <a:t>58</a:t>
            </a:fld>
            <a:endParaRPr lang="en-US" dirty="0"/>
          </a:p>
        </p:txBody>
      </p:sp>
    </p:spTree>
    <p:extLst>
      <p:ext uri="{BB962C8B-B14F-4D97-AF65-F5344CB8AC3E}">
        <p14:creationId xmlns:p14="http://schemas.microsoft.com/office/powerpoint/2010/main" val="100638156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319AD-6128-488E-45F4-0B4C569DD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2F98D2-6844-54A6-5319-F8433A9D29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B4409B-9BAB-046B-0894-60247B59902D}"/>
              </a:ext>
            </a:extLst>
          </p:cNvPr>
          <p:cNvSpPr>
            <a:spLocks noGrp="1"/>
          </p:cNvSpPr>
          <p:nvPr>
            <p:ph type="body" idx="1"/>
          </p:nvPr>
        </p:nvSpPr>
        <p:spPr/>
        <p:txBody>
          <a:bodyPr/>
          <a:lstStyle/>
          <a:p>
            <a:pPr marL="0" indent="0">
              <a:buNone/>
            </a:pPr>
            <a:endParaRPr lang="en-US" dirty="0"/>
          </a:p>
        </p:txBody>
      </p:sp>
      <p:sp>
        <p:nvSpPr>
          <p:cNvPr id="4" name="Header Placeholder 3">
            <a:extLst>
              <a:ext uri="{FF2B5EF4-FFF2-40B4-BE49-F238E27FC236}">
                <a16:creationId xmlns:a16="http://schemas.microsoft.com/office/drawing/2014/main" id="{76CE4D83-7232-2EA7-A68E-962BBC5B171A}"/>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E13100AD-4ADC-4F9F-913D-B9020847E11C}"/>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37279995-C4F4-293A-9CFC-AD663F4AE390}"/>
              </a:ext>
            </a:extLst>
          </p:cNvPr>
          <p:cNvSpPr>
            <a:spLocks noGrp="1"/>
          </p:cNvSpPr>
          <p:nvPr>
            <p:ph type="dt" idx="12"/>
          </p:nvPr>
        </p:nvSpPr>
        <p:spPr/>
        <p:txBody>
          <a:bodyPr/>
          <a:lstStyle/>
          <a:p>
            <a:fld id="{C9F26854-F9AE-4E32-B2A5-59EE421C280D}" type="datetime8">
              <a:rPr lang="en-US" smtClean="0"/>
              <a:t>6/12/2025 6:48 AM</a:t>
            </a:fld>
            <a:endParaRPr lang="en-US" dirty="0"/>
          </a:p>
        </p:txBody>
      </p:sp>
      <p:sp>
        <p:nvSpPr>
          <p:cNvPr id="7" name="Slide Number Placeholder 6">
            <a:extLst>
              <a:ext uri="{FF2B5EF4-FFF2-40B4-BE49-F238E27FC236}">
                <a16:creationId xmlns:a16="http://schemas.microsoft.com/office/drawing/2014/main" id="{1401B23B-D90F-7C7D-D96B-9C157228C999}"/>
              </a:ext>
            </a:extLst>
          </p:cNvPr>
          <p:cNvSpPr>
            <a:spLocks noGrp="1"/>
          </p:cNvSpPr>
          <p:nvPr>
            <p:ph type="sldNum" sz="quarter" idx="13"/>
          </p:nvPr>
        </p:nvSpPr>
        <p:spPr/>
        <p:txBody>
          <a:bodyPr/>
          <a:lstStyle/>
          <a:p>
            <a:fld id="{B4008EB6-D09E-4580-8CD6-DDB14511944F}" type="slidenum">
              <a:rPr lang="en-US" smtClean="0"/>
              <a:pPr/>
              <a:t>59</a:t>
            </a:fld>
            <a:endParaRPr lang="en-US" dirty="0"/>
          </a:p>
        </p:txBody>
      </p:sp>
    </p:spTree>
    <p:extLst>
      <p:ext uri="{BB962C8B-B14F-4D97-AF65-F5344CB8AC3E}">
        <p14:creationId xmlns:p14="http://schemas.microsoft.com/office/powerpoint/2010/main" val="1799716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74E1A-23A9-04D1-BCDF-5D6FE143560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F3905B-0723-4513-3E2B-48DFB60BB3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84CB32E-DF73-E5C0-D24C-6599E8C917F9}"/>
              </a:ext>
            </a:extLst>
          </p:cNvPr>
          <p:cNvSpPr>
            <a:spLocks noGrp="1"/>
          </p:cNvSpPr>
          <p:nvPr>
            <p:ph type="dt" sz="half" idx="10"/>
          </p:nvPr>
        </p:nvSpPr>
        <p:spPr/>
        <p:txBody>
          <a:bodyPr/>
          <a:lstStyle/>
          <a:p>
            <a:fld id="{31B89A1E-20C2-1748-9297-107330645FED}" type="datetimeFigureOut">
              <a:rPr lang="en-US" smtClean="0"/>
              <a:t>6/12/2025</a:t>
            </a:fld>
            <a:endParaRPr lang="en-US"/>
          </a:p>
        </p:txBody>
      </p:sp>
      <p:sp>
        <p:nvSpPr>
          <p:cNvPr id="5" name="Footer Placeholder 4">
            <a:extLst>
              <a:ext uri="{FF2B5EF4-FFF2-40B4-BE49-F238E27FC236}">
                <a16:creationId xmlns:a16="http://schemas.microsoft.com/office/drawing/2014/main" id="{46F163F3-3ECE-DB8C-6591-7BD0592E5A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67A142-E568-122F-E279-8DADF8F6980B}"/>
              </a:ext>
            </a:extLst>
          </p:cNvPr>
          <p:cNvSpPr>
            <a:spLocks noGrp="1"/>
          </p:cNvSpPr>
          <p:nvPr>
            <p:ph type="sldNum" sz="quarter" idx="12"/>
          </p:nvPr>
        </p:nvSpPr>
        <p:spPr/>
        <p:txBody>
          <a:bodyPr/>
          <a:lstStyle/>
          <a:p>
            <a:fld id="{A3E68A92-29D9-5C46-AF1D-38E30418D380}" type="slidenum">
              <a:rPr lang="en-US" smtClean="0"/>
              <a:t>‹#›</a:t>
            </a:fld>
            <a:endParaRPr lang="en-US"/>
          </a:p>
        </p:txBody>
      </p:sp>
    </p:spTree>
    <p:extLst>
      <p:ext uri="{BB962C8B-B14F-4D97-AF65-F5344CB8AC3E}">
        <p14:creationId xmlns:p14="http://schemas.microsoft.com/office/powerpoint/2010/main" val="3190182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C5C09-5AEF-2FD4-5EC9-DF2DD092C0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39D285-CBE9-6A52-2777-5E3D72A6FD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A8486A-253C-6219-9799-328B227A83CD}"/>
              </a:ext>
            </a:extLst>
          </p:cNvPr>
          <p:cNvSpPr>
            <a:spLocks noGrp="1"/>
          </p:cNvSpPr>
          <p:nvPr>
            <p:ph type="dt" sz="half" idx="10"/>
          </p:nvPr>
        </p:nvSpPr>
        <p:spPr/>
        <p:txBody>
          <a:bodyPr/>
          <a:lstStyle/>
          <a:p>
            <a:fld id="{31B89A1E-20C2-1748-9297-107330645FED}" type="datetimeFigureOut">
              <a:rPr lang="en-US" smtClean="0"/>
              <a:t>6/12/2025</a:t>
            </a:fld>
            <a:endParaRPr lang="en-US"/>
          </a:p>
        </p:txBody>
      </p:sp>
      <p:sp>
        <p:nvSpPr>
          <p:cNvPr id="5" name="Footer Placeholder 4">
            <a:extLst>
              <a:ext uri="{FF2B5EF4-FFF2-40B4-BE49-F238E27FC236}">
                <a16:creationId xmlns:a16="http://schemas.microsoft.com/office/drawing/2014/main" id="{CFAC8ADC-074C-F5F5-D66A-10C30436BB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86F9E5-103B-C916-516A-7DB9CC3D859D}"/>
              </a:ext>
            </a:extLst>
          </p:cNvPr>
          <p:cNvSpPr>
            <a:spLocks noGrp="1"/>
          </p:cNvSpPr>
          <p:nvPr>
            <p:ph type="sldNum" sz="quarter" idx="12"/>
          </p:nvPr>
        </p:nvSpPr>
        <p:spPr/>
        <p:txBody>
          <a:bodyPr/>
          <a:lstStyle/>
          <a:p>
            <a:fld id="{A3E68A92-29D9-5C46-AF1D-38E30418D380}" type="slidenum">
              <a:rPr lang="en-US" smtClean="0"/>
              <a:t>‹#›</a:t>
            </a:fld>
            <a:endParaRPr lang="en-US"/>
          </a:p>
        </p:txBody>
      </p:sp>
    </p:spTree>
    <p:extLst>
      <p:ext uri="{BB962C8B-B14F-4D97-AF65-F5344CB8AC3E}">
        <p14:creationId xmlns:p14="http://schemas.microsoft.com/office/powerpoint/2010/main" val="627567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2D2D3-67A7-9761-9089-E66752AC7E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E01D9CF-C0F2-CCF1-5409-17F488A6F4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7D91B2-E91D-0F7C-B03E-40DB5541330F}"/>
              </a:ext>
            </a:extLst>
          </p:cNvPr>
          <p:cNvSpPr>
            <a:spLocks noGrp="1"/>
          </p:cNvSpPr>
          <p:nvPr>
            <p:ph type="dt" sz="half" idx="10"/>
          </p:nvPr>
        </p:nvSpPr>
        <p:spPr/>
        <p:txBody>
          <a:bodyPr/>
          <a:lstStyle/>
          <a:p>
            <a:fld id="{31B89A1E-20C2-1748-9297-107330645FED}" type="datetimeFigureOut">
              <a:rPr lang="en-US" smtClean="0"/>
              <a:t>6/12/2025</a:t>
            </a:fld>
            <a:endParaRPr lang="en-US"/>
          </a:p>
        </p:txBody>
      </p:sp>
      <p:sp>
        <p:nvSpPr>
          <p:cNvPr id="5" name="Footer Placeholder 4">
            <a:extLst>
              <a:ext uri="{FF2B5EF4-FFF2-40B4-BE49-F238E27FC236}">
                <a16:creationId xmlns:a16="http://schemas.microsoft.com/office/drawing/2014/main" id="{B715BA75-CACB-CAA3-2DA5-D807C9D55D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E8727D-CF2E-34BF-69F3-125FED619590}"/>
              </a:ext>
            </a:extLst>
          </p:cNvPr>
          <p:cNvSpPr>
            <a:spLocks noGrp="1"/>
          </p:cNvSpPr>
          <p:nvPr>
            <p:ph type="sldNum" sz="quarter" idx="12"/>
          </p:nvPr>
        </p:nvSpPr>
        <p:spPr/>
        <p:txBody>
          <a:bodyPr/>
          <a:lstStyle/>
          <a:p>
            <a:fld id="{A3E68A92-29D9-5C46-AF1D-38E30418D380}" type="slidenum">
              <a:rPr lang="en-US" smtClean="0"/>
              <a:t>‹#›</a:t>
            </a:fld>
            <a:endParaRPr lang="en-US"/>
          </a:p>
        </p:txBody>
      </p:sp>
    </p:spTree>
    <p:extLst>
      <p:ext uri="{BB962C8B-B14F-4D97-AF65-F5344CB8AC3E}">
        <p14:creationId xmlns:p14="http://schemas.microsoft.com/office/powerpoint/2010/main" val="1015087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0022C-1642-96F4-5FC6-32966B5FC0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7842C8-4F3C-ADC0-20C5-92B0A2CB91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E456C7F-95F6-CDEE-EBCA-FAB6E77AB1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98A232-9795-5F66-2250-6D6DA3940486}"/>
              </a:ext>
            </a:extLst>
          </p:cNvPr>
          <p:cNvSpPr>
            <a:spLocks noGrp="1"/>
          </p:cNvSpPr>
          <p:nvPr>
            <p:ph type="dt" sz="half" idx="10"/>
          </p:nvPr>
        </p:nvSpPr>
        <p:spPr/>
        <p:txBody>
          <a:bodyPr/>
          <a:lstStyle/>
          <a:p>
            <a:fld id="{31B89A1E-20C2-1748-9297-107330645FED}" type="datetimeFigureOut">
              <a:rPr lang="en-US" smtClean="0"/>
              <a:t>6/12/2025</a:t>
            </a:fld>
            <a:endParaRPr lang="en-US"/>
          </a:p>
        </p:txBody>
      </p:sp>
      <p:sp>
        <p:nvSpPr>
          <p:cNvPr id="6" name="Footer Placeholder 5">
            <a:extLst>
              <a:ext uri="{FF2B5EF4-FFF2-40B4-BE49-F238E27FC236}">
                <a16:creationId xmlns:a16="http://schemas.microsoft.com/office/drawing/2014/main" id="{AF0995DE-19A8-FEF6-6EA3-A460414A20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498EB5-3F1E-4C0C-AD4D-926EC4903B92}"/>
              </a:ext>
            </a:extLst>
          </p:cNvPr>
          <p:cNvSpPr>
            <a:spLocks noGrp="1"/>
          </p:cNvSpPr>
          <p:nvPr>
            <p:ph type="sldNum" sz="quarter" idx="12"/>
          </p:nvPr>
        </p:nvSpPr>
        <p:spPr/>
        <p:txBody>
          <a:bodyPr/>
          <a:lstStyle/>
          <a:p>
            <a:fld id="{A3E68A92-29D9-5C46-AF1D-38E30418D380}" type="slidenum">
              <a:rPr lang="en-US" smtClean="0"/>
              <a:t>‹#›</a:t>
            </a:fld>
            <a:endParaRPr lang="en-US"/>
          </a:p>
        </p:txBody>
      </p:sp>
    </p:spTree>
    <p:extLst>
      <p:ext uri="{BB962C8B-B14F-4D97-AF65-F5344CB8AC3E}">
        <p14:creationId xmlns:p14="http://schemas.microsoft.com/office/powerpoint/2010/main" val="1844642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D401A-8D78-B466-F2E5-6C11C30F08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EA36A0-46AE-D3C3-4889-F905991FFB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4DCA35-810D-D9A5-EC60-94BEF8EA96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1722C4-3596-A522-D6D4-C8FFE3E063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FEB236-C52F-0D7A-724D-35A67D86EB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A42631-210B-A3BD-D6E1-BE7A58F66E2D}"/>
              </a:ext>
            </a:extLst>
          </p:cNvPr>
          <p:cNvSpPr>
            <a:spLocks noGrp="1"/>
          </p:cNvSpPr>
          <p:nvPr>
            <p:ph type="dt" sz="half" idx="10"/>
          </p:nvPr>
        </p:nvSpPr>
        <p:spPr/>
        <p:txBody>
          <a:bodyPr/>
          <a:lstStyle/>
          <a:p>
            <a:fld id="{31B89A1E-20C2-1748-9297-107330645FED}" type="datetimeFigureOut">
              <a:rPr lang="en-US" smtClean="0"/>
              <a:t>6/12/2025</a:t>
            </a:fld>
            <a:endParaRPr lang="en-US"/>
          </a:p>
        </p:txBody>
      </p:sp>
      <p:sp>
        <p:nvSpPr>
          <p:cNvPr id="8" name="Footer Placeholder 7">
            <a:extLst>
              <a:ext uri="{FF2B5EF4-FFF2-40B4-BE49-F238E27FC236}">
                <a16:creationId xmlns:a16="http://schemas.microsoft.com/office/drawing/2014/main" id="{A17638A2-A1C2-E022-19E6-2DD9B3FBD1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37D82F-245A-046A-1511-AB8BC4A7EEA2}"/>
              </a:ext>
            </a:extLst>
          </p:cNvPr>
          <p:cNvSpPr>
            <a:spLocks noGrp="1"/>
          </p:cNvSpPr>
          <p:nvPr>
            <p:ph type="sldNum" sz="quarter" idx="12"/>
          </p:nvPr>
        </p:nvSpPr>
        <p:spPr/>
        <p:txBody>
          <a:bodyPr/>
          <a:lstStyle/>
          <a:p>
            <a:fld id="{A3E68A92-29D9-5C46-AF1D-38E30418D380}" type="slidenum">
              <a:rPr lang="en-US" smtClean="0"/>
              <a:t>‹#›</a:t>
            </a:fld>
            <a:endParaRPr lang="en-US"/>
          </a:p>
        </p:txBody>
      </p:sp>
    </p:spTree>
    <p:extLst>
      <p:ext uri="{BB962C8B-B14F-4D97-AF65-F5344CB8AC3E}">
        <p14:creationId xmlns:p14="http://schemas.microsoft.com/office/powerpoint/2010/main" val="3956657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C64BE-377A-CC1A-49C0-678757FDC2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CE8732-535B-91DF-04EB-630651B04568}"/>
              </a:ext>
            </a:extLst>
          </p:cNvPr>
          <p:cNvSpPr>
            <a:spLocks noGrp="1"/>
          </p:cNvSpPr>
          <p:nvPr>
            <p:ph type="dt" sz="half" idx="10"/>
          </p:nvPr>
        </p:nvSpPr>
        <p:spPr/>
        <p:txBody>
          <a:bodyPr/>
          <a:lstStyle/>
          <a:p>
            <a:fld id="{31B89A1E-20C2-1748-9297-107330645FED}" type="datetimeFigureOut">
              <a:rPr lang="en-US" smtClean="0"/>
              <a:t>6/12/2025</a:t>
            </a:fld>
            <a:endParaRPr lang="en-US"/>
          </a:p>
        </p:txBody>
      </p:sp>
      <p:sp>
        <p:nvSpPr>
          <p:cNvPr id="4" name="Footer Placeholder 3">
            <a:extLst>
              <a:ext uri="{FF2B5EF4-FFF2-40B4-BE49-F238E27FC236}">
                <a16:creationId xmlns:a16="http://schemas.microsoft.com/office/drawing/2014/main" id="{2F9210F3-75ED-BAC0-6960-46B8025027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B6AFB5-5612-C4F5-C1A5-4381CE69DCB7}"/>
              </a:ext>
            </a:extLst>
          </p:cNvPr>
          <p:cNvSpPr>
            <a:spLocks noGrp="1"/>
          </p:cNvSpPr>
          <p:nvPr>
            <p:ph type="sldNum" sz="quarter" idx="12"/>
          </p:nvPr>
        </p:nvSpPr>
        <p:spPr/>
        <p:txBody>
          <a:bodyPr/>
          <a:lstStyle/>
          <a:p>
            <a:fld id="{A3E68A92-29D9-5C46-AF1D-38E30418D380}" type="slidenum">
              <a:rPr lang="en-US" smtClean="0"/>
              <a:t>‹#›</a:t>
            </a:fld>
            <a:endParaRPr lang="en-US"/>
          </a:p>
        </p:txBody>
      </p:sp>
    </p:spTree>
    <p:extLst>
      <p:ext uri="{BB962C8B-B14F-4D97-AF65-F5344CB8AC3E}">
        <p14:creationId xmlns:p14="http://schemas.microsoft.com/office/powerpoint/2010/main" val="1288026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39331C-7A88-7DD0-0961-738C8ABDF1CF}"/>
              </a:ext>
            </a:extLst>
          </p:cNvPr>
          <p:cNvSpPr>
            <a:spLocks noGrp="1"/>
          </p:cNvSpPr>
          <p:nvPr>
            <p:ph type="dt" sz="half" idx="10"/>
          </p:nvPr>
        </p:nvSpPr>
        <p:spPr/>
        <p:txBody>
          <a:bodyPr/>
          <a:lstStyle/>
          <a:p>
            <a:fld id="{31B89A1E-20C2-1748-9297-107330645FED}" type="datetimeFigureOut">
              <a:rPr lang="en-US" smtClean="0"/>
              <a:t>6/12/2025</a:t>
            </a:fld>
            <a:endParaRPr lang="en-US"/>
          </a:p>
        </p:txBody>
      </p:sp>
      <p:sp>
        <p:nvSpPr>
          <p:cNvPr id="3" name="Footer Placeholder 2">
            <a:extLst>
              <a:ext uri="{FF2B5EF4-FFF2-40B4-BE49-F238E27FC236}">
                <a16:creationId xmlns:a16="http://schemas.microsoft.com/office/drawing/2014/main" id="{B2D9BF5A-46A7-D4B3-BF21-735D496BE6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DD24AE-37C8-EDBB-25D1-BE6B84558A12}"/>
              </a:ext>
            </a:extLst>
          </p:cNvPr>
          <p:cNvSpPr>
            <a:spLocks noGrp="1"/>
          </p:cNvSpPr>
          <p:nvPr>
            <p:ph type="sldNum" sz="quarter" idx="12"/>
          </p:nvPr>
        </p:nvSpPr>
        <p:spPr/>
        <p:txBody>
          <a:bodyPr/>
          <a:lstStyle/>
          <a:p>
            <a:fld id="{A3E68A92-29D9-5C46-AF1D-38E30418D380}" type="slidenum">
              <a:rPr lang="en-US" smtClean="0"/>
              <a:t>‹#›</a:t>
            </a:fld>
            <a:endParaRPr lang="en-US"/>
          </a:p>
        </p:txBody>
      </p:sp>
    </p:spTree>
    <p:extLst>
      <p:ext uri="{BB962C8B-B14F-4D97-AF65-F5344CB8AC3E}">
        <p14:creationId xmlns:p14="http://schemas.microsoft.com/office/powerpoint/2010/main" val="625056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B697F-8164-0E65-682E-FF35071DF2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80FA409-1929-7626-7446-B4672FBE2B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F175C6E-0675-DA87-E06E-DC1CC867B4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3D6B43-A607-2183-3E17-47D7ED95586C}"/>
              </a:ext>
            </a:extLst>
          </p:cNvPr>
          <p:cNvSpPr>
            <a:spLocks noGrp="1"/>
          </p:cNvSpPr>
          <p:nvPr>
            <p:ph type="dt" sz="half" idx="10"/>
          </p:nvPr>
        </p:nvSpPr>
        <p:spPr/>
        <p:txBody>
          <a:bodyPr/>
          <a:lstStyle/>
          <a:p>
            <a:fld id="{31B89A1E-20C2-1748-9297-107330645FED}" type="datetimeFigureOut">
              <a:rPr lang="en-US" smtClean="0"/>
              <a:t>6/12/2025</a:t>
            </a:fld>
            <a:endParaRPr lang="en-US"/>
          </a:p>
        </p:txBody>
      </p:sp>
      <p:sp>
        <p:nvSpPr>
          <p:cNvPr id="6" name="Footer Placeholder 5">
            <a:extLst>
              <a:ext uri="{FF2B5EF4-FFF2-40B4-BE49-F238E27FC236}">
                <a16:creationId xmlns:a16="http://schemas.microsoft.com/office/drawing/2014/main" id="{8837C4E9-BA06-0762-3411-05799F0D56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D35F3B-E28D-D832-1865-BAB8ADFC3449}"/>
              </a:ext>
            </a:extLst>
          </p:cNvPr>
          <p:cNvSpPr>
            <a:spLocks noGrp="1"/>
          </p:cNvSpPr>
          <p:nvPr>
            <p:ph type="sldNum" sz="quarter" idx="12"/>
          </p:nvPr>
        </p:nvSpPr>
        <p:spPr/>
        <p:txBody>
          <a:bodyPr/>
          <a:lstStyle/>
          <a:p>
            <a:fld id="{A3E68A92-29D9-5C46-AF1D-38E30418D380}" type="slidenum">
              <a:rPr lang="en-US" smtClean="0"/>
              <a:t>‹#›</a:t>
            </a:fld>
            <a:endParaRPr lang="en-US"/>
          </a:p>
        </p:txBody>
      </p:sp>
    </p:spTree>
    <p:extLst>
      <p:ext uri="{BB962C8B-B14F-4D97-AF65-F5344CB8AC3E}">
        <p14:creationId xmlns:p14="http://schemas.microsoft.com/office/powerpoint/2010/main" val="872710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51DD1-1C09-E84D-DC1A-3AF57ECAFE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A7E57D-40F4-C6F2-94DA-80A6D8728B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7CCC30E-52E3-68CF-957E-F241F51E2A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8FA89D-7FEF-C546-6033-E3AE314D9358}"/>
              </a:ext>
            </a:extLst>
          </p:cNvPr>
          <p:cNvSpPr>
            <a:spLocks noGrp="1"/>
          </p:cNvSpPr>
          <p:nvPr>
            <p:ph type="dt" sz="half" idx="10"/>
          </p:nvPr>
        </p:nvSpPr>
        <p:spPr/>
        <p:txBody>
          <a:bodyPr/>
          <a:lstStyle/>
          <a:p>
            <a:fld id="{31B89A1E-20C2-1748-9297-107330645FED}" type="datetimeFigureOut">
              <a:rPr lang="en-US" smtClean="0"/>
              <a:t>6/12/2025</a:t>
            </a:fld>
            <a:endParaRPr lang="en-US"/>
          </a:p>
        </p:txBody>
      </p:sp>
      <p:sp>
        <p:nvSpPr>
          <p:cNvPr id="6" name="Footer Placeholder 5">
            <a:extLst>
              <a:ext uri="{FF2B5EF4-FFF2-40B4-BE49-F238E27FC236}">
                <a16:creationId xmlns:a16="http://schemas.microsoft.com/office/drawing/2014/main" id="{AAB46541-0375-361F-4264-C8244612DF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04E58B-2087-EAF5-042C-E547A71A4FFC}"/>
              </a:ext>
            </a:extLst>
          </p:cNvPr>
          <p:cNvSpPr>
            <a:spLocks noGrp="1"/>
          </p:cNvSpPr>
          <p:nvPr>
            <p:ph type="sldNum" sz="quarter" idx="12"/>
          </p:nvPr>
        </p:nvSpPr>
        <p:spPr/>
        <p:txBody>
          <a:bodyPr/>
          <a:lstStyle/>
          <a:p>
            <a:fld id="{A3E68A92-29D9-5C46-AF1D-38E30418D380}" type="slidenum">
              <a:rPr lang="en-US" smtClean="0"/>
              <a:t>‹#›</a:t>
            </a:fld>
            <a:endParaRPr lang="en-US"/>
          </a:p>
        </p:txBody>
      </p:sp>
    </p:spTree>
    <p:extLst>
      <p:ext uri="{BB962C8B-B14F-4D97-AF65-F5344CB8AC3E}">
        <p14:creationId xmlns:p14="http://schemas.microsoft.com/office/powerpoint/2010/main" val="926589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D4DB4-FCCE-069A-90B2-E042271269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CD3B915-ADFC-1687-6E61-D4A2E7342C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890460-0934-F9C7-9D1A-8D871300304B}"/>
              </a:ext>
            </a:extLst>
          </p:cNvPr>
          <p:cNvSpPr>
            <a:spLocks noGrp="1"/>
          </p:cNvSpPr>
          <p:nvPr>
            <p:ph type="dt" sz="half" idx="10"/>
          </p:nvPr>
        </p:nvSpPr>
        <p:spPr/>
        <p:txBody>
          <a:bodyPr/>
          <a:lstStyle/>
          <a:p>
            <a:fld id="{31B89A1E-20C2-1748-9297-107330645FED}" type="datetimeFigureOut">
              <a:rPr lang="en-US" smtClean="0"/>
              <a:t>6/12/2025</a:t>
            </a:fld>
            <a:endParaRPr lang="en-US"/>
          </a:p>
        </p:txBody>
      </p:sp>
      <p:sp>
        <p:nvSpPr>
          <p:cNvPr id="5" name="Footer Placeholder 4">
            <a:extLst>
              <a:ext uri="{FF2B5EF4-FFF2-40B4-BE49-F238E27FC236}">
                <a16:creationId xmlns:a16="http://schemas.microsoft.com/office/drawing/2014/main" id="{D974EC01-7674-6196-95D6-CD75C72189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9F4BAB-106A-39D8-DAA1-9FD121155292}"/>
              </a:ext>
            </a:extLst>
          </p:cNvPr>
          <p:cNvSpPr>
            <a:spLocks noGrp="1"/>
          </p:cNvSpPr>
          <p:nvPr>
            <p:ph type="sldNum" sz="quarter" idx="12"/>
          </p:nvPr>
        </p:nvSpPr>
        <p:spPr/>
        <p:txBody>
          <a:bodyPr/>
          <a:lstStyle/>
          <a:p>
            <a:fld id="{A3E68A92-29D9-5C46-AF1D-38E30418D380}" type="slidenum">
              <a:rPr lang="en-US" smtClean="0"/>
              <a:t>‹#›</a:t>
            </a:fld>
            <a:endParaRPr lang="en-US"/>
          </a:p>
        </p:txBody>
      </p:sp>
    </p:spTree>
    <p:extLst>
      <p:ext uri="{BB962C8B-B14F-4D97-AF65-F5344CB8AC3E}">
        <p14:creationId xmlns:p14="http://schemas.microsoft.com/office/powerpoint/2010/main" val="1978506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BBC503-B91E-DBED-7E18-EA2EFBB039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FF6ADE-AD2F-9E3B-F22C-D85A19FFF5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4E2EC9-F3AD-D6C2-7528-733FD8359485}"/>
              </a:ext>
            </a:extLst>
          </p:cNvPr>
          <p:cNvSpPr>
            <a:spLocks noGrp="1"/>
          </p:cNvSpPr>
          <p:nvPr>
            <p:ph type="dt" sz="half" idx="10"/>
          </p:nvPr>
        </p:nvSpPr>
        <p:spPr/>
        <p:txBody>
          <a:bodyPr/>
          <a:lstStyle/>
          <a:p>
            <a:fld id="{31B89A1E-20C2-1748-9297-107330645FED}" type="datetimeFigureOut">
              <a:rPr lang="en-US" smtClean="0"/>
              <a:t>6/12/2025</a:t>
            </a:fld>
            <a:endParaRPr lang="en-US"/>
          </a:p>
        </p:txBody>
      </p:sp>
      <p:sp>
        <p:nvSpPr>
          <p:cNvPr id="5" name="Footer Placeholder 4">
            <a:extLst>
              <a:ext uri="{FF2B5EF4-FFF2-40B4-BE49-F238E27FC236}">
                <a16:creationId xmlns:a16="http://schemas.microsoft.com/office/drawing/2014/main" id="{10D8942C-4C04-0865-144D-C815CB9108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38EB4D-6AFF-DAF2-412F-71E54A4F7E92}"/>
              </a:ext>
            </a:extLst>
          </p:cNvPr>
          <p:cNvSpPr>
            <a:spLocks noGrp="1"/>
          </p:cNvSpPr>
          <p:nvPr>
            <p:ph type="sldNum" sz="quarter" idx="12"/>
          </p:nvPr>
        </p:nvSpPr>
        <p:spPr/>
        <p:txBody>
          <a:bodyPr/>
          <a:lstStyle/>
          <a:p>
            <a:fld id="{A3E68A92-29D9-5C46-AF1D-38E30418D380}" type="slidenum">
              <a:rPr lang="en-US" smtClean="0"/>
              <a:t>‹#›</a:t>
            </a:fld>
            <a:endParaRPr lang="en-US"/>
          </a:p>
        </p:txBody>
      </p:sp>
    </p:spTree>
    <p:extLst>
      <p:ext uri="{BB962C8B-B14F-4D97-AF65-F5344CB8AC3E}">
        <p14:creationId xmlns:p14="http://schemas.microsoft.com/office/powerpoint/2010/main" val="17498618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7040679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a:srcRect r="19824"/>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1982849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130969559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40944830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94598571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375562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AFE977-B421-04D3-8A41-1604339B91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2FFD0E-45CB-98E0-C835-F38C0FE277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DFCF50-92D9-0BD0-F431-4029B9ECEF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1B89A1E-20C2-1748-9297-107330645FED}" type="datetimeFigureOut">
              <a:rPr lang="en-US" smtClean="0"/>
              <a:t>6/12/2025</a:t>
            </a:fld>
            <a:endParaRPr lang="en-US"/>
          </a:p>
        </p:txBody>
      </p:sp>
      <p:sp>
        <p:nvSpPr>
          <p:cNvPr id="5" name="Footer Placeholder 4">
            <a:extLst>
              <a:ext uri="{FF2B5EF4-FFF2-40B4-BE49-F238E27FC236}">
                <a16:creationId xmlns:a16="http://schemas.microsoft.com/office/drawing/2014/main" id="{21FBC61F-FFE5-09B1-32A6-B6AE5D5545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4988BF2-B9FF-2A97-AD23-7BA9C8BAF5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3E68A92-29D9-5C46-AF1D-38E30418D380}" type="slidenum">
              <a:rPr lang="en-US" smtClean="0"/>
              <a:t>‹#›</a:t>
            </a:fld>
            <a:endParaRPr lang="en-US"/>
          </a:p>
        </p:txBody>
      </p:sp>
    </p:spTree>
    <p:extLst>
      <p:ext uri="{BB962C8B-B14F-4D97-AF65-F5344CB8AC3E}">
        <p14:creationId xmlns:p14="http://schemas.microsoft.com/office/powerpoint/2010/main" val="7647551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learn.microsoft.com/en-us/training/paths/github-actions-2/"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https://learn.microsoft.com/en-us/training/paths/github-administration-products/"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hyperlink" Target="https://learn.microsoft.com/en-us/training/modules/create-custom-github-actions/"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svg"/><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notesSlide" Target="../notesSlides/notesSlide20.xml"/><Relationship Id="rId1" Type="http://schemas.openxmlformats.org/officeDocument/2006/relationships/slideLayout" Target="../slideLayouts/slideLayout15.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25.png"/><Relationship Id="rId7"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5.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27.png"/><Relationship Id="rId7"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5.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hyperlink" Target="https://github.com/nektos/act" TargetMode="External"/><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15.xml"/><Relationship Id="rId5" Type="http://schemas.openxmlformats.org/officeDocument/2006/relationships/image" Target="../media/image31.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14.xml"/><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3.png"/><Relationship Id="rId7"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15.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36.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20.png"/><Relationship Id="rId7"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15.xml"/><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21.svg"/></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15.xml"/><Relationship Id="rId4" Type="http://schemas.openxmlformats.org/officeDocument/2006/relationships/image" Target="../media/image40.svg"/></Relationships>
</file>

<file path=ppt/slides/_rels/slide38.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3.png"/><Relationship Id="rId7"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15.xml"/><Relationship Id="rId6" Type="http://schemas.openxmlformats.org/officeDocument/2006/relationships/image" Target="../media/image16.svg"/><Relationship Id="rId11" Type="http://schemas.openxmlformats.org/officeDocument/2006/relationships/image" Target="../media/image43.png"/><Relationship Id="rId5" Type="http://schemas.openxmlformats.org/officeDocument/2006/relationships/image" Target="../media/image15.png"/><Relationship Id="rId10" Type="http://schemas.openxmlformats.org/officeDocument/2006/relationships/image" Target="../media/image42.png"/><Relationship Id="rId4" Type="http://schemas.openxmlformats.org/officeDocument/2006/relationships/image" Target="../media/image14.svg"/><Relationship Id="rId9"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44.png"/><Relationship Id="rId2" Type="http://schemas.openxmlformats.org/officeDocument/2006/relationships/notesSlide" Target="../notesSlides/notesSlide39.xml"/><Relationship Id="rId1" Type="http://schemas.openxmlformats.org/officeDocument/2006/relationships/slideLayout" Target="../slideLayouts/slideLayout15.xml"/><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21.svg"/></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3.xml"/><Relationship Id="rId1" Type="http://schemas.openxmlformats.org/officeDocument/2006/relationships/slideLayout" Target="../slideLayouts/slideLayout16.xml"/><Relationship Id="rId6" Type="http://schemas.openxmlformats.org/officeDocument/2006/relationships/hyperlink" Target="https://github.com/skills/write-javascript-actions" TargetMode="External"/><Relationship Id="rId5" Type="http://schemas.openxmlformats.org/officeDocument/2006/relationships/image" Target="../media/image54.png"/><Relationship Id="rId4" Type="http://schemas.openxmlformats.org/officeDocument/2006/relationships/image" Target="../media/image53.sv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1CB59B-EF9E-4E47-BF33-B8075EB6C7A1}"/>
              </a:ext>
            </a:extLst>
          </p:cNvPr>
          <p:cNvSpPr>
            <a:spLocks noGrp="1"/>
          </p:cNvSpPr>
          <p:nvPr>
            <p:ph type="title"/>
          </p:nvPr>
        </p:nvSpPr>
        <p:spPr>
          <a:xfrm>
            <a:off x="569911" y="2992149"/>
            <a:ext cx="5748827" cy="1667957"/>
          </a:xfrm>
        </p:spPr>
        <p:txBody>
          <a:bodyPr/>
          <a:lstStyle/>
          <a:p>
            <a:r>
              <a:rPr lang="en-US" dirty="0">
                <a:latin typeface="Quattrocento Sans" panose="020B0502050000020003" pitchFamily="34" charset="0"/>
              </a:rPr>
              <a:t>GH-200: Automate your workflow with GitHub Actions Part 2 of 2</a:t>
            </a:r>
            <a:endParaRPr lang="en-US" sz="3600" dirty="0">
              <a:latin typeface="Quattrocento Sans" panose="020B0502050000020003" pitchFamily="34" charset="0"/>
            </a:endParaRPr>
          </a:p>
        </p:txBody>
      </p:sp>
      <p:sp>
        <p:nvSpPr>
          <p:cNvPr id="6" name="Text Placeholder 5">
            <a:extLst>
              <a:ext uri="{FF2B5EF4-FFF2-40B4-BE49-F238E27FC236}">
                <a16:creationId xmlns:a16="http://schemas.microsoft.com/office/drawing/2014/main" id="{A885462E-AC6B-3006-FA4D-1CE744FBA46E}"/>
              </a:ext>
            </a:extLst>
          </p:cNvPr>
          <p:cNvSpPr>
            <a:spLocks noGrp="1"/>
          </p:cNvSpPr>
          <p:nvPr>
            <p:ph type="body" sz="quarter" idx="13"/>
          </p:nvPr>
        </p:nvSpPr>
        <p:spPr>
          <a:xfrm>
            <a:off x="569911" y="5681324"/>
            <a:ext cx="7434032" cy="250903"/>
          </a:xfrm>
        </p:spPr>
        <p:txBody>
          <a:bodyPr/>
          <a:lstStyle/>
          <a:p>
            <a:r>
              <a:rPr lang="en-US" sz="1800" dirty="0">
                <a:hlinkClick r:id="rId3">
                  <a:extLst>
                    <a:ext uri="{A12FA001-AC4F-418D-AE19-62706E023703}">
                      <ahyp:hlinkClr xmlns:ahyp="http://schemas.microsoft.com/office/drawing/2018/hyperlinkcolor" val="tx"/>
                    </a:ext>
                  </a:extLst>
                </a:hlinkClick>
              </a:rPr>
              <a:t>GH-200: Automate your workflow with GitHub Actions Part 2 of 2</a:t>
            </a:r>
            <a:endParaRPr lang="en-US" sz="1800" dirty="0"/>
          </a:p>
        </p:txBody>
      </p:sp>
      <p:sp>
        <p:nvSpPr>
          <p:cNvPr id="2" name="Footer Placeholder 1">
            <a:extLst>
              <a:ext uri="{FF2B5EF4-FFF2-40B4-BE49-F238E27FC236}">
                <a16:creationId xmlns:a16="http://schemas.microsoft.com/office/drawing/2014/main" id="{B4842410-2607-E871-3A7B-A6BFCD364DDB}"/>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4046885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569911" y="2886204"/>
            <a:ext cx="6345239" cy="1113959"/>
          </a:xfrm>
        </p:spPr>
        <p:txBody>
          <a:bodyPr/>
          <a:lstStyle/>
          <a:p>
            <a:r>
              <a:rPr lang="en-US" dirty="0">
                <a:latin typeface="Quattrocento Sans" panose="020B0502050000020003" pitchFamily="34" charset="0"/>
              </a:rPr>
              <a:t>Module 6: Create and publish custom GitHub actions</a:t>
            </a:r>
          </a:p>
        </p:txBody>
      </p:sp>
      <p:sp>
        <p:nvSpPr>
          <p:cNvPr id="2" name="Rectangle 1">
            <a:extLst>
              <a:ext uri="{FF2B5EF4-FFF2-40B4-BE49-F238E27FC236}">
                <a16:creationId xmlns:a16="http://schemas.microsoft.com/office/drawing/2014/main" id="{AAB7FFCE-6487-F91B-58CE-9BC1E7AA76E9}"/>
              </a:ext>
            </a:extLst>
          </p:cNvPr>
          <p:cNvSpPr/>
          <p:nvPr/>
        </p:nvSpPr>
        <p:spPr bwMode="auto">
          <a:xfrm>
            <a:off x="2888243" y="1229710"/>
            <a:ext cx="914400" cy="914400"/>
          </a:xfrm>
          <a:prstGeom prst="rect">
            <a:avLst/>
          </a:prstGeom>
          <a:solidFill>
            <a:srgbClr val="E8E6D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Footer Placeholder 2">
            <a:extLst>
              <a:ext uri="{FF2B5EF4-FFF2-40B4-BE49-F238E27FC236}">
                <a16:creationId xmlns:a16="http://schemas.microsoft.com/office/drawing/2014/main" id="{D2B19A9A-3D8F-0FA5-9D68-D7FBEDB29414}"/>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4" name="Text Placeholder 5">
            <a:extLst>
              <a:ext uri="{FF2B5EF4-FFF2-40B4-BE49-F238E27FC236}">
                <a16:creationId xmlns:a16="http://schemas.microsoft.com/office/drawing/2014/main" id="{069BC8C8-2CF6-9B7C-E605-EA01F8A1CB3B}"/>
              </a:ext>
            </a:extLst>
          </p:cNvPr>
          <p:cNvSpPr txBox="1">
            <a:spLocks/>
          </p:cNvSpPr>
          <p:nvPr/>
        </p:nvSpPr>
        <p:spPr>
          <a:xfrm>
            <a:off x="569911" y="5570675"/>
            <a:ext cx="7434032" cy="5010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dirty="0">
              <a:latin typeface="Quattrocento Sans" panose="020B0502050000020003" pitchFamily="34" charset="0"/>
              <a:hlinkClick r:id="rId3">
                <a:extLst>
                  <a:ext uri="{A12FA001-AC4F-418D-AE19-62706E023703}">
                    <ahyp:hlinkClr xmlns:ahyp="http://schemas.microsoft.com/office/drawing/2018/hyperlinkcolor" val="tx"/>
                  </a:ext>
                </a:extLst>
              </a:hlinkClick>
            </a:endParaRPr>
          </a:p>
        </p:txBody>
      </p:sp>
      <p:sp>
        <p:nvSpPr>
          <p:cNvPr id="6" name="Text Placeholder 5">
            <a:extLst>
              <a:ext uri="{FF2B5EF4-FFF2-40B4-BE49-F238E27FC236}">
                <a16:creationId xmlns:a16="http://schemas.microsoft.com/office/drawing/2014/main" id="{EF7C51BB-3258-4B78-DAC5-65709610A1D2}"/>
              </a:ext>
            </a:extLst>
          </p:cNvPr>
          <p:cNvSpPr txBox="1">
            <a:spLocks/>
          </p:cNvSpPr>
          <p:nvPr/>
        </p:nvSpPr>
        <p:spPr>
          <a:xfrm>
            <a:off x="569911" y="5681324"/>
            <a:ext cx="6582729" cy="5010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hlinkClick r:id="rId4">
                  <a:extLst>
                    <a:ext uri="{A12FA001-AC4F-418D-AE19-62706E023703}">
                      <ahyp:hlinkClr xmlns:ahyp="http://schemas.microsoft.com/office/drawing/2018/hyperlinkcolor" val="tx"/>
                    </a:ext>
                  </a:extLst>
                </a:hlinkClick>
              </a:rPr>
              <a:t>GH-200: Create and publish custom GitHub actions</a:t>
            </a:r>
            <a:endParaRPr lang="en-US" sz="2400" dirty="0"/>
          </a:p>
        </p:txBody>
      </p:sp>
    </p:spTree>
    <p:extLst>
      <p:ext uri="{BB962C8B-B14F-4D97-AF65-F5344CB8AC3E}">
        <p14:creationId xmlns:p14="http://schemas.microsoft.com/office/powerpoint/2010/main" val="2281750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Introduction</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52657" y="1643896"/>
            <a:ext cx="10384538"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dirty="0">
                <a:latin typeface="Quattrocento Sans" panose="020B0502050000020003" pitchFamily="34" charset="0"/>
              </a:rPr>
              <a:t>In this module, you will learn how to create custom GitHub Actions from scratch, define the necessary metadata and syntax, and publish them to the GitHub Marketplace. You’ll explore both JavaScript-based and container-based action formats, as well as best practices for sharing or consuming actions in your workflows. By the end, you'll be able to build, test, and distribute Actions securely and effectively.</a:t>
            </a:r>
          </a:p>
        </p:txBody>
      </p:sp>
      <p:sp>
        <p:nvSpPr>
          <p:cNvPr id="7" name="TextBox 6">
            <a:extLst>
              <a:ext uri="{FF2B5EF4-FFF2-40B4-BE49-F238E27FC236}">
                <a16:creationId xmlns:a16="http://schemas.microsoft.com/office/drawing/2014/main" id="{6AF3F449-AFE6-897F-FE61-E28EC8F3FEFB}"/>
              </a:ext>
            </a:extLst>
          </p:cNvPr>
          <p:cNvSpPr txBox="1"/>
          <p:nvPr/>
        </p:nvSpPr>
        <p:spPr>
          <a:xfrm>
            <a:off x="652657" y="3214490"/>
            <a:ext cx="10049856" cy="369332"/>
          </a:xfrm>
          <a:prstGeom prst="rect">
            <a:avLst/>
          </a:prstGeom>
          <a:noFill/>
        </p:spPr>
        <p:txBody>
          <a:bodyPr wrap="square" lIns="0" tIns="0" rIns="0" bIns="0" rtlCol="0">
            <a:spAutoFit/>
          </a:bodyPr>
          <a:lstStyle/>
          <a:p>
            <a:pPr algn="l"/>
            <a:r>
              <a:rPr lang="en-US" sz="2400" dirty="0">
                <a:latin typeface="Quattrocento Sans" panose="020B0502050000020003" pitchFamily="34" charset="0"/>
                <a:cs typeface="Segoe UI" panose="020B0502040204020203" pitchFamily="34" charset="0"/>
              </a:rPr>
              <a:t>By the end of this unit, you'll be able to:</a:t>
            </a:r>
          </a:p>
        </p:txBody>
      </p:sp>
      <p:sp>
        <p:nvSpPr>
          <p:cNvPr id="9" name="TextBox 8">
            <a:extLst>
              <a:ext uri="{FF2B5EF4-FFF2-40B4-BE49-F238E27FC236}">
                <a16:creationId xmlns:a16="http://schemas.microsoft.com/office/drawing/2014/main" id="{9BE325B2-D04E-CD42-D966-4B58FFB3A17E}"/>
              </a:ext>
            </a:extLst>
          </p:cNvPr>
          <p:cNvSpPr txBox="1"/>
          <p:nvPr/>
        </p:nvSpPr>
        <p:spPr>
          <a:xfrm>
            <a:off x="652657" y="3640653"/>
            <a:ext cx="9858608" cy="2246769"/>
          </a:xfrm>
          <a:prstGeom prst="rect">
            <a:avLst/>
          </a:prstGeom>
          <a:noFill/>
        </p:spPr>
        <p:txBody>
          <a:bodyPr wrap="square">
            <a:spAutoFit/>
          </a:bodyPr>
          <a:lstStyle/>
          <a:p>
            <a:pPr marL="342900" indent="-342900" algn="l">
              <a:spcAft>
                <a:spcPts val="1200"/>
              </a:spcAft>
              <a:buFont typeface="Arial" panose="020B0604020202020204" pitchFamily="34" charset="0"/>
              <a:buChar char="•"/>
            </a:pPr>
            <a:r>
              <a:rPr lang="en-US" sz="2000" dirty="0">
                <a:latin typeface="Quattrocento Sans" panose="020B0502050000020003" pitchFamily="34" charset="0"/>
                <a:cs typeface="Segoe UI" panose="020B0502040204020203" pitchFamily="34" charset="0"/>
              </a:rPr>
              <a:t>Define and implement the metadata and syntax required for custom GitHub Actions, including JavaScript-based formats.</a:t>
            </a:r>
          </a:p>
          <a:p>
            <a:pPr marL="342900" indent="-342900" algn="l">
              <a:spcAft>
                <a:spcPts val="1200"/>
              </a:spcAft>
              <a:buFont typeface="Arial" panose="020B0604020202020204" pitchFamily="34" charset="0"/>
              <a:buChar char="•"/>
            </a:pPr>
            <a:r>
              <a:rPr lang="en-US" sz="2000" dirty="0">
                <a:latin typeface="Quattrocento Sans" panose="020B0502050000020003" pitchFamily="34" charset="0"/>
                <a:cs typeface="Segoe UI" panose="020B0502040204020203" pitchFamily="34" charset="0"/>
              </a:rPr>
              <a:t>Integrate and test custom Actions within workflow files, ensuring correct inputs, outputs, and environment handling.</a:t>
            </a:r>
          </a:p>
          <a:p>
            <a:pPr marL="342900" indent="-342900" algn="l">
              <a:spcAft>
                <a:spcPts val="1200"/>
              </a:spcAft>
              <a:buFont typeface="Arial" panose="020B0604020202020204" pitchFamily="34" charset="0"/>
              <a:buChar char="•"/>
            </a:pPr>
            <a:r>
              <a:rPr lang="en-US" sz="2000" dirty="0">
                <a:latin typeface="Quattrocento Sans" panose="020B0502050000020003" pitchFamily="34" charset="0"/>
                <a:cs typeface="Segoe UI" panose="020B0502040204020203" pitchFamily="34" charset="0"/>
              </a:rPr>
              <a:t>Publish Actions to the GitHub Marketplace (publicly or privately) following best practices for versioning, documentation, and security.</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209470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Types of GitHub actions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546427" y="1215824"/>
            <a:ext cx="5071237" cy="277720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b="0" i="0" dirty="0">
                <a:solidFill>
                  <a:srgbClr val="161616"/>
                </a:solidFill>
                <a:effectLst/>
                <a:latin typeface="Quattrocento Sans" panose="020B0502050000020003" pitchFamily="34" charset="0"/>
              </a:rPr>
              <a:t>Actions are individual tasks that you can use to customize your development workflows. You can create your own actions by writing custom code that interacts with your repository to perform custom tasks, or by using actions the GitHub community shares.</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pic>
        <p:nvPicPr>
          <p:cNvPr id="1026" name="Picture 2" descr="Diagram of the three types of GitHub Actions; Docker, JavaScript, and composite run steps actions.">
            <a:extLst>
              <a:ext uri="{FF2B5EF4-FFF2-40B4-BE49-F238E27FC236}">
                <a16:creationId xmlns:a16="http://schemas.microsoft.com/office/drawing/2014/main" id="{357F4DBD-83FC-0F88-E45E-25BE43FEA3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1170" y="1215824"/>
            <a:ext cx="5516562" cy="2758281"/>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5C4E4F94-3CDE-6E6D-75DB-2256ADC83895}"/>
              </a:ext>
            </a:extLst>
          </p:cNvPr>
          <p:cNvSpPr txBox="1">
            <a:spLocks/>
          </p:cNvSpPr>
          <p:nvPr/>
        </p:nvSpPr>
        <p:spPr>
          <a:xfrm>
            <a:off x="579438" y="3974105"/>
            <a:ext cx="10918294" cy="1410695"/>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b="0" i="0" dirty="0">
                <a:solidFill>
                  <a:srgbClr val="161616"/>
                </a:solidFill>
                <a:effectLst/>
                <a:latin typeface="Quattrocento Sans" panose="020B0502050000020003" pitchFamily="34" charset="0"/>
              </a:rPr>
              <a:t>Navigating through various actions, you'll notice that there are three different types of actions: </a:t>
            </a:r>
            <a:r>
              <a:rPr lang="en-US" sz="2400" b="0" i="1" dirty="0">
                <a:solidFill>
                  <a:srgbClr val="161616"/>
                </a:solidFill>
                <a:effectLst/>
                <a:latin typeface="Quattrocento Sans" panose="020B0502050000020003" pitchFamily="34" charset="0"/>
              </a:rPr>
              <a:t>Docker container actions</a:t>
            </a:r>
            <a:r>
              <a:rPr lang="en-US" sz="2400" b="0" i="0" dirty="0">
                <a:solidFill>
                  <a:srgbClr val="161616"/>
                </a:solidFill>
                <a:effectLst/>
                <a:latin typeface="Quattrocento Sans" panose="020B0502050000020003" pitchFamily="34" charset="0"/>
              </a:rPr>
              <a:t>, </a:t>
            </a:r>
            <a:r>
              <a:rPr lang="en-US" sz="2400" b="0" i="1" dirty="0">
                <a:solidFill>
                  <a:srgbClr val="161616"/>
                </a:solidFill>
                <a:effectLst/>
                <a:latin typeface="Quattrocento Sans" panose="020B0502050000020003" pitchFamily="34" charset="0"/>
              </a:rPr>
              <a:t>JavaScript actions</a:t>
            </a:r>
            <a:r>
              <a:rPr lang="en-US" sz="2400" b="0" i="0" dirty="0">
                <a:solidFill>
                  <a:srgbClr val="161616"/>
                </a:solidFill>
                <a:effectLst/>
                <a:latin typeface="Quattrocento Sans" panose="020B0502050000020003" pitchFamily="34" charset="0"/>
              </a:rPr>
              <a:t>, and </a:t>
            </a:r>
            <a:r>
              <a:rPr lang="en-US" sz="2400" b="0" i="1" dirty="0">
                <a:solidFill>
                  <a:srgbClr val="161616"/>
                </a:solidFill>
                <a:effectLst/>
                <a:latin typeface="Quattrocento Sans" panose="020B0502050000020003" pitchFamily="34" charset="0"/>
              </a:rPr>
              <a:t>composite run steps actions</a:t>
            </a:r>
            <a:r>
              <a:rPr lang="en-US" sz="2400" b="0" i="0" dirty="0">
                <a:solidFill>
                  <a:srgbClr val="161616"/>
                </a:solidFill>
                <a:effectLst/>
                <a:latin typeface="Quattrocento Sans" panose="020B0502050000020003" pitchFamily="34" charset="0"/>
              </a:rPr>
              <a:t>. Let's take a closer look at each action type.</a:t>
            </a:r>
          </a:p>
        </p:txBody>
      </p:sp>
    </p:spTree>
    <p:extLst>
      <p:ext uri="{BB962C8B-B14F-4D97-AF65-F5344CB8AC3E}">
        <p14:creationId xmlns:p14="http://schemas.microsoft.com/office/powerpoint/2010/main" val="1606172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46427" y="560582"/>
            <a:ext cx="8193024" cy="492443"/>
          </a:xfrm>
        </p:spPr>
        <p:txBody>
          <a:bodyPr>
            <a:normAutofit fontScale="90000"/>
          </a:bodyPr>
          <a:lstStyle/>
          <a:p>
            <a:r>
              <a:rPr lang="en-US" sz="3200" dirty="0">
                <a:latin typeface="Quattrocento Sans" panose="020B0502050000020003" pitchFamily="34" charset="0"/>
              </a:rPr>
              <a:t>Docker container actions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36853" y="1245142"/>
            <a:ext cx="10918294" cy="158591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rPr>
              <a:t>Docker containers package the environment with the GitHub Actions code. This means that the action runs in a consistent and reliable environment because all of its dependencies are within that container. If the action needs to run in a specific environment configuration, Docker containers are a good way to go because you can customize the operating system and tools. The downside is that because the job has to build and retrieve the container, Docker container actions are often slower than JavaScript actions.</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pic>
        <p:nvPicPr>
          <p:cNvPr id="1026" name="Picture 2" descr="Diagram of the three types of GitHub Actions; Docker, JavaScript, and composite run steps actions.">
            <a:extLst>
              <a:ext uri="{FF2B5EF4-FFF2-40B4-BE49-F238E27FC236}">
                <a16:creationId xmlns:a16="http://schemas.microsoft.com/office/drawing/2014/main" id="{357F4DBD-83FC-0F88-E45E-25BE43FEA33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11116740" y="5893849"/>
            <a:ext cx="761983" cy="729139"/>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5C4E4F94-3CDE-6E6D-75DB-2256ADC83895}"/>
              </a:ext>
            </a:extLst>
          </p:cNvPr>
          <p:cNvSpPr txBox="1">
            <a:spLocks/>
          </p:cNvSpPr>
          <p:nvPr/>
        </p:nvSpPr>
        <p:spPr>
          <a:xfrm>
            <a:off x="637957" y="3871610"/>
            <a:ext cx="10918294" cy="1410695"/>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Before building a Docker container action, you should have some basic understanding of how to use environment variables and the Docker container filesystem. The steps to take to build a Docker container action are then minimal and straightforward:</a:t>
            </a:r>
            <a:endParaRPr lang="en-US" sz="1800" b="0" i="0" dirty="0">
              <a:solidFill>
                <a:srgbClr val="161616"/>
              </a:solidFill>
              <a:effectLst/>
              <a:latin typeface="Quattrocento Sans" panose="020B0502050000020003" pitchFamily="34" charset="0"/>
            </a:endParaRPr>
          </a:p>
          <a:p>
            <a:pPr marL="457200" indent="-457200" algn="just">
              <a:buFont typeface="+mj-lt"/>
              <a:buAutoNum type="arabicPeriod"/>
            </a:pPr>
            <a:r>
              <a:rPr lang="en-US" sz="1800" b="0" i="0" dirty="0">
                <a:solidFill>
                  <a:srgbClr val="161616"/>
                </a:solidFill>
                <a:effectLst/>
                <a:latin typeface="Quattrocento Sans" panose="020B0502050000020003" pitchFamily="34" charset="0"/>
              </a:rPr>
              <a:t>Create a </a:t>
            </a:r>
            <a:r>
              <a:rPr lang="en-US" b="0" i="0" dirty="0" err="1">
                <a:solidFill>
                  <a:srgbClr val="161616"/>
                </a:solidFill>
                <a:effectLst/>
                <a:highlight>
                  <a:srgbClr val="C0C0C0"/>
                </a:highlight>
                <a:latin typeface="Roboto Mono" pitchFamily="49" charset="0"/>
                <a:ea typeface="Roboto Mono" pitchFamily="49" charset="0"/>
              </a:rPr>
              <a:t>Dockerfile</a:t>
            </a:r>
            <a:r>
              <a:rPr lang="en-US" sz="1800" b="0" i="0" dirty="0">
                <a:solidFill>
                  <a:srgbClr val="161616"/>
                </a:solidFill>
                <a:effectLst/>
                <a:latin typeface="Quattrocento Sans" panose="020B0502050000020003" pitchFamily="34" charset="0"/>
              </a:rPr>
              <a:t> to define the commands to assemble the Docker image.</a:t>
            </a:r>
          </a:p>
          <a:p>
            <a:pPr marL="457200" indent="-457200" algn="just">
              <a:buFont typeface="+mj-lt"/>
              <a:buAutoNum type="arabicPeriod"/>
            </a:pPr>
            <a:r>
              <a:rPr lang="en-US" sz="1800" b="0" i="0" dirty="0">
                <a:solidFill>
                  <a:srgbClr val="161616"/>
                </a:solidFill>
                <a:effectLst/>
                <a:latin typeface="Quattrocento Sans" panose="020B0502050000020003" pitchFamily="34" charset="0"/>
              </a:rPr>
              <a:t>Create an </a:t>
            </a:r>
            <a:r>
              <a:rPr lang="en-US" b="0" i="0" dirty="0" err="1">
                <a:solidFill>
                  <a:srgbClr val="161616"/>
                </a:solidFill>
                <a:effectLst/>
                <a:highlight>
                  <a:srgbClr val="C0C0C0"/>
                </a:highlight>
                <a:latin typeface="Roboto Mono" pitchFamily="49" charset="0"/>
                <a:ea typeface="Roboto Mono" pitchFamily="49" charset="0"/>
              </a:rPr>
              <a:t>action.yml</a:t>
            </a:r>
            <a:r>
              <a:rPr lang="en-US" b="0" i="0" dirty="0">
                <a:solidFill>
                  <a:srgbClr val="161616"/>
                </a:solidFill>
                <a:effectLst/>
                <a:latin typeface="Roboto Mono" pitchFamily="49" charset="0"/>
                <a:ea typeface="Roboto Mono" pitchFamily="49" charset="0"/>
              </a:rPr>
              <a:t> </a:t>
            </a:r>
            <a:r>
              <a:rPr lang="en-US" sz="1800" b="0" i="0" dirty="0">
                <a:solidFill>
                  <a:srgbClr val="161616"/>
                </a:solidFill>
                <a:effectLst/>
                <a:latin typeface="Quattrocento Sans" panose="020B0502050000020003" pitchFamily="34" charset="0"/>
              </a:rPr>
              <a:t>metadata file to define the inputs and outputs of the action. Set the runs: using: value to </a:t>
            </a:r>
            <a:r>
              <a:rPr lang="en-US" b="0" i="0" dirty="0">
                <a:solidFill>
                  <a:srgbClr val="161616"/>
                </a:solidFill>
                <a:effectLst/>
                <a:highlight>
                  <a:srgbClr val="C0C0C0"/>
                </a:highlight>
                <a:latin typeface="Roboto Mono" pitchFamily="49" charset="0"/>
                <a:ea typeface="Roboto Mono" pitchFamily="49" charset="0"/>
              </a:rPr>
              <a:t>docker</a:t>
            </a:r>
            <a:r>
              <a:rPr lang="en-US" sz="1800" b="0" i="0" dirty="0">
                <a:solidFill>
                  <a:srgbClr val="161616"/>
                </a:solidFill>
                <a:effectLst/>
                <a:latin typeface="Quattrocento Sans" panose="020B0502050000020003" pitchFamily="34" charset="0"/>
              </a:rPr>
              <a:t> and the </a:t>
            </a:r>
            <a:r>
              <a:rPr lang="en-US" b="0" i="0" dirty="0">
                <a:solidFill>
                  <a:srgbClr val="161616"/>
                </a:solidFill>
                <a:effectLst/>
                <a:highlight>
                  <a:srgbClr val="C0C0C0"/>
                </a:highlight>
                <a:latin typeface="Roboto Mono" pitchFamily="49" charset="0"/>
                <a:ea typeface="Roboto Mono" pitchFamily="49" charset="0"/>
              </a:rPr>
              <a:t>runs: image:</a:t>
            </a:r>
            <a:r>
              <a:rPr lang="en-US" sz="1800" b="0" i="0" dirty="0">
                <a:solidFill>
                  <a:srgbClr val="161616"/>
                </a:solidFill>
                <a:effectLst/>
                <a:latin typeface="Quattrocento Sans" panose="020B0502050000020003" pitchFamily="34" charset="0"/>
              </a:rPr>
              <a:t> value to </a:t>
            </a:r>
            <a:r>
              <a:rPr lang="en-US" b="0" i="0" dirty="0" err="1">
                <a:solidFill>
                  <a:srgbClr val="161616"/>
                </a:solidFill>
                <a:effectLst/>
                <a:highlight>
                  <a:srgbClr val="C0C0C0"/>
                </a:highlight>
                <a:latin typeface="Roboto Mono" pitchFamily="49" charset="0"/>
                <a:ea typeface="Roboto Mono" pitchFamily="49" charset="0"/>
              </a:rPr>
              <a:t>Dockerfile</a:t>
            </a:r>
            <a:r>
              <a:rPr lang="en-US" sz="1800" b="0" i="0" dirty="0">
                <a:solidFill>
                  <a:srgbClr val="161616"/>
                </a:solidFill>
                <a:effectLst/>
                <a:latin typeface="Quattrocento Sans" panose="020B0502050000020003" pitchFamily="34" charset="0"/>
              </a:rPr>
              <a:t> in the file.</a:t>
            </a:r>
          </a:p>
          <a:p>
            <a:pPr marL="457200" indent="-457200" algn="just">
              <a:buFont typeface="+mj-lt"/>
              <a:buAutoNum type="arabicPeriod"/>
            </a:pPr>
            <a:r>
              <a:rPr lang="en-US" sz="1800" b="0" i="0" dirty="0">
                <a:solidFill>
                  <a:srgbClr val="161616"/>
                </a:solidFill>
                <a:effectLst/>
                <a:latin typeface="Quattrocento Sans" panose="020B0502050000020003" pitchFamily="34" charset="0"/>
              </a:rPr>
              <a:t>Create an </a:t>
            </a:r>
            <a:r>
              <a:rPr lang="en-US" b="0" i="0" dirty="0" err="1">
                <a:solidFill>
                  <a:srgbClr val="161616"/>
                </a:solidFill>
                <a:effectLst/>
                <a:highlight>
                  <a:srgbClr val="C0C0C0"/>
                </a:highlight>
                <a:latin typeface="Roboto Mono" pitchFamily="49" charset="0"/>
                <a:ea typeface="Roboto Mono" pitchFamily="49" charset="0"/>
              </a:rPr>
              <a:t>entrypoint.sh</a:t>
            </a:r>
            <a:r>
              <a:rPr lang="en-US" sz="1800" b="0" i="0" dirty="0">
                <a:solidFill>
                  <a:srgbClr val="161616"/>
                </a:solidFill>
                <a:effectLst/>
                <a:latin typeface="Quattrocento Sans" panose="020B0502050000020003" pitchFamily="34" charset="0"/>
              </a:rPr>
              <a:t> file to describe the docker image.</a:t>
            </a:r>
          </a:p>
          <a:p>
            <a:pPr marL="457200" indent="-457200" algn="just">
              <a:buFont typeface="+mj-lt"/>
              <a:buAutoNum type="arabicPeriod"/>
            </a:pPr>
            <a:r>
              <a:rPr lang="en-US" sz="1800" b="0" i="0" dirty="0">
                <a:solidFill>
                  <a:srgbClr val="161616"/>
                </a:solidFill>
                <a:effectLst/>
                <a:latin typeface="Quattrocento Sans" panose="020B0502050000020003" pitchFamily="34" charset="0"/>
              </a:rPr>
              <a:t>Commit and push your action to GitHub with the following files: </a:t>
            </a:r>
            <a:r>
              <a:rPr lang="en-US" b="0" i="0" dirty="0" err="1">
                <a:solidFill>
                  <a:srgbClr val="161616"/>
                </a:solidFill>
                <a:effectLst/>
                <a:highlight>
                  <a:srgbClr val="C0C0C0"/>
                </a:highlight>
                <a:latin typeface="Roboto Mono" pitchFamily="49" charset="0"/>
                <a:ea typeface="Roboto Mono" pitchFamily="49" charset="0"/>
              </a:rPr>
              <a:t>action.yml</a:t>
            </a:r>
            <a:r>
              <a:rPr lang="en-US" sz="1800" b="0" i="0" dirty="0">
                <a:solidFill>
                  <a:srgbClr val="161616"/>
                </a:solidFill>
                <a:effectLst/>
                <a:latin typeface="Quattrocento Sans" panose="020B0502050000020003" pitchFamily="34" charset="0"/>
              </a:rPr>
              <a:t>, </a:t>
            </a:r>
            <a:r>
              <a:rPr lang="en-US" b="0" i="0" dirty="0" err="1">
                <a:solidFill>
                  <a:srgbClr val="161616"/>
                </a:solidFill>
                <a:effectLst/>
                <a:highlight>
                  <a:srgbClr val="C0C0C0"/>
                </a:highlight>
                <a:latin typeface="Roboto Mono" pitchFamily="49" charset="0"/>
                <a:ea typeface="Roboto Mono" pitchFamily="49" charset="0"/>
              </a:rPr>
              <a:t>entrypoint.sh</a:t>
            </a:r>
            <a:r>
              <a:rPr lang="en-US" sz="1800" b="0" i="0" dirty="0">
                <a:solidFill>
                  <a:srgbClr val="161616"/>
                </a:solidFill>
                <a:effectLst/>
                <a:latin typeface="Quattrocento Sans" panose="020B0502050000020003" pitchFamily="34" charset="0"/>
              </a:rPr>
              <a:t>, </a:t>
            </a:r>
            <a:r>
              <a:rPr lang="en-US" b="0" i="0" dirty="0" err="1">
                <a:solidFill>
                  <a:srgbClr val="161616"/>
                </a:solidFill>
                <a:effectLst/>
                <a:highlight>
                  <a:srgbClr val="C0C0C0"/>
                </a:highlight>
                <a:latin typeface="Roboto Mono" pitchFamily="49" charset="0"/>
                <a:ea typeface="Roboto Mono" pitchFamily="49" charset="0"/>
              </a:rPr>
              <a:t>Dockerfile</a:t>
            </a:r>
            <a:r>
              <a:rPr lang="en-US" sz="1800" b="0" i="0" dirty="0">
                <a:solidFill>
                  <a:srgbClr val="161616"/>
                </a:solidFill>
                <a:effectLst/>
                <a:latin typeface="Quattrocento Sans" panose="020B0502050000020003" pitchFamily="34" charset="0"/>
              </a:rPr>
              <a:t>, and </a:t>
            </a:r>
            <a:r>
              <a:rPr lang="en-US" b="0" i="0" dirty="0" err="1">
                <a:solidFill>
                  <a:srgbClr val="161616"/>
                </a:solidFill>
                <a:effectLst/>
                <a:highlight>
                  <a:srgbClr val="C0C0C0"/>
                </a:highlight>
                <a:latin typeface="Roboto Mono" pitchFamily="49" charset="0"/>
                <a:ea typeface="Roboto Mono" pitchFamily="49" charset="0"/>
              </a:rPr>
              <a:t>README.md</a:t>
            </a:r>
            <a:r>
              <a:rPr lang="en-US" sz="1800" b="0" i="0" dirty="0">
                <a:solidFill>
                  <a:srgbClr val="161616"/>
                </a:solidFill>
                <a:effectLst/>
                <a:latin typeface="Quattrocento Sans" panose="020B0502050000020003" pitchFamily="34" charset="0"/>
              </a:rPr>
              <a:t>.</a:t>
            </a:r>
          </a:p>
        </p:txBody>
      </p:sp>
    </p:spTree>
    <p:extLst>
      <p:ext uri="{BB962C8B-B14F-4D97-AF65-F5344CB8AC3E}">
        <p14:creationId xmlns:p14="http://schemas.microsoft.com/office/powerpoint/2010/main" val="3556647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 name="Picture 2" descr="Diagram of the three types of GitHub Actions; Docker, JavaScript, and composite run steps actions.">
            <a:extLst>
              <a:ext uri="{FF2B5EF4-FFF2-40B4-BE49-F238E27FC236}">
                <a16:creationId xmlns:a16="http://schemas.microsoft.com/office/drawing/2014/main" id="{3B0EF057-43B6-AFFE-DA4C-2E589DC6B7F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11083225" y="5876775"/>
            <a:ext cx="829011" cy="763285"/>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7" name="Title 16"/>
          <p:cNvSpPr>
            <a:spLocks noGrp="1"/>
          </p:cNvSpPr>
          <p:nvPr>
            <p:ph type="title"/>
          </p:nvPr>
        </p:nvSpPr>
        <p:spPr>
          <a:xfrm>
            <a:off x="546427" y="560582"/>
            <a:ext cx="8193024" cy="492443"/>
          </a:xfrm>
        </p:spPr>
        <p:txBody>
          <a:bodyPr>
            <a:normAutofit fontScale="90000"/>
          </a:bodyPr>
          <a:lstStyle/>
          <a:p>
            <a:r>
              <a:rPr lang="en-US" sz="3200" dirty="0">
                <a:latin typeface="Quattrocento Sans" panose="020B0502050000020003" pitchFamily="34" charset="0"/>
              </a:rPr>
              <a:t>JavaScript actions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37957" y="1623906"/>
            <a:ext cx="10918294" cy="158591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JavaScript actions can run directly on the runner machine, and separate the action code from the environment that's used to run the action. Because of this, the action code is simplified and can execute faster than actions within a Docker container.</a:t>
            </a:r>
          </a:p>
          <a:p>
            <a:pPr marL="0" indent="0" algn="just">
              <a:buNone/>
            </a:pPr>
            <a:r>
              <a:rPr lang="en-US" sz="2000" b="0" i="0" dirty="0">
                <a:solidFill>
                  <a:srgbClr val="161616"/>
                </a:solidFill>
                <a:effectLst/>
                <a:latin typeface="Quattrocento Sans" panose="020B0502050000020003" pitchFamily="34" charset="0"/>
              </a:rPr>
              <a:t>As a prerequisite for creating and using packaged JavaScript actions, you need to download Node.js, which includes </a:t>
            </a:r>
            <a:r>
              <a:rPr lang="en-US" sz="2000" b="0" i="0" dirty="0" err="1">
                <a:solidFill>
                  <a:srgbClr val="161616"/>
                </a:solidFill>
                <a:effectLst/>
                <a:latin typeface="Quattrocento Sans" panose="020B0502050000020003" pitchFamily="34" charset="0"/>
              </a:rPr>
              <a:t>npm</a:t>
            </a:r>
            <a:r>
              <a:rPr lang="en-US" sz="2000" b="0" i="0" dirty="0">
                <a:solidFill>
                  <a:srgbClr val="161616"/>
                </a:solidFill>
                <a:effectLst/>
                <a:latin typeface="Quattrocento Sans" panose="020B0502050000020003" pitchFamily="34" charset="0"/>
              </a:rPr>
              <a:t>. As an optional step (but one that we recommend) is to use GitHub Actions Toolkit Node.js, which is a collection of Node.js packages that allows you to quickly build JavaScript actions with more consistency.</a:t>
            </a:r>
          </a:p>
          <a:p>
            <a:pPr marL="0" indent="0" algn="just">
              <a:buNone/>
            </a:pPr>
            <a:endParaRPr lang="en-US" sz="2000" b="0" i="0" dirty="0">
              <a:solidFill>
                <a:srgbClr val="161616"/>
              </a:solidFill>
              <a:effectLst/>
              <a:latin typeface="Quattrocento Sans" panose="020B0502050000020003" pitchFamily="34" charset="0"/>
            </a:endParaRP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Text Placeholder 2">
            <a:extLst>
              <a:ext uri="{FF2B5EF4-FFF2-40B4-BE49-F238E27FC236}">
                <a16:creationId xmlns:a16="http://schemas.microsoft.com/office/drawing/2014/main" id="{5C4E4F94-3CDE-6E6D-75DB-2256ADC83895}"/>
              </a:ext>
            </a:extLst>
          </p:cNvPr>
          <p:cNvSpPr txBox="1">
            <a:spLocks/>
          </p:cNvSpPr>
          <p:nvPr/>
        </p:nvSpPr>
        <p:spPr>
          <a:xfrm>
            <a:off x="637957" y="4078839"/>
            <a:ext cx="10918294" cy="1410695"/>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The steps to build a JavaScript action are minimal and straightforward:</a:t>
            </a:r>
          </a:p>
          <a:p>
            <a:pPr marL="457200" indent="-457200" algn="just">
              <a:buFont typeface="+mj-lt"/>
              <a:buAutoNum type="arabicPeriod"/>
            </a:pPr>
            <a:r>
              <a:rPr lang="en-US" sz="1800" b="0" i="0" dirty="0">
                <a:solidFill>
                  <a:srgbClr val="161616"/>
                </a:solidFill>
                <a:effectLst/>
                <a:latin typeface="Quattrocento Sans" panose="020B0502050000020003" pitchFamily="34" charset="0"/>
              </a:rPr>
              <a:t>Create an </a:t>
            </a:r>
            <a:r>
              <a:rPr lang="en-US" b="0" i="0" dirty="0" err="1">
                <a:solidFill>
                  <a:srgbClr val="161616"/>
                </a:solidFill>
                <a:effectLst/>
                <a:highlight>
                  <a:srgbClr val="C0C0C0"/>
                </a:highlight>
                <a:latin typeface="Roboto Mono" pitchFamily="49" charset="0"/>
                <a:ea typeface="Roboto Mono" pitchFamily="49" charset="0"/>
              </a:rPr>
              <a:t>action.yml</a:t>
            </a:r>
            <a:r>
              <a:rPr lang="en-US" sz="1800" b="0" i="0" dirty="0">
                <a:solidFill>
                  <a:srgbClr val="161616"/>
                </a:solidFill>
                <a:effectLst/>
                <a:latin typeface="Quattrocento Sans" panose="020B0502050000020003" pitchFamily="34" charset="0"/>
              </a:rPr>
              <a:t> metadata file to define the inputs and outputs of the action, as well as tell the action runner how to start running this JavaScript action.</a:t>
            </a:r>
          </a:p>
          <a:p>
            <a:pPr marL="457200" indent="-457200" algn="just">
              <a:buFont typeface="+mj-lt"/>
              <a:buAutoNum type="arabicPeriod"/>
            </a:pPr>
            <a:r>
              <a:rPr lang="en-US" sz="1800" b="0" i="0" dirty="0">
                <a:solidFill>
                  <a:srgbClr val="161616"/>
                </a:solidFill>
                <a:effectLst/>
                <a:latin typeface="Quattrocento Sans" panose="020B0502050000020003" pitchFamily="34" charset="0"/>
              </a:rPr>
              <a:t>Create an </a:t>
            </a:r>
            <a:r>
              <a:rPr lang="en-US" b="0" i="0" dirty="0" err="1">
                <a:solidFill>
                  <a:srgbClr val="161616"/>
                </a:solidFill>
                <a:effectLst/>
                <a:highlight>
                  <a:srgbClr val="C0C0C0"/>
                </a:highlight>
                <a:latin typeface="Roboto Mono" pitchFamily="49" charset="0"/>
                <a:ea typeface="Roboto Mono" pitchFamily="49" charset="0"/>
              </a:rPr>
              <a:t>index.js</a:t>
            </a:r>
            <a:r>
              <a:rPr lang="en-US" b="0" i="0" dirty="0">
                <a:solidFill>
                  <a:srgbClr val="161616"/>
                </a:solidFill>
                <a:effectLst/>
                <a:latin typeface="Roboto Mono" pitchFamily="49" charset="0"/>
                <a:ea typeface="Roboto Mono" pitchFamily="49" charset="0"/>
              </a:rPr>
              <a:t> </a:t>
            </a:r>
            <a:r>
              <a:rPr lang="en-US" sz="1800" b="0" i="0" dirty="0">
                <a:solidFill>
                  <a:srgbClr val="161616"/>
                </a:solidFill>
                <a:effectLst/>
                <a:latin typeface="Quattrocento Sans" panose="020B0502050000020003" pitchFamily="34" charset="0"/>
              </a:rPr>
              <a:t>file with context information about the Toolkit packages, routing, and other functions of the action.</a:t>
            </a:r>
          </a:p>
          <a:p>
            <a:pPr marL="457200" indent="-457200" algn="just">
              <a:buFont typeface="+mj-lt"/>
              <a:buAutoNum type="arabicPeriod"/>
            </a:pPr>
            <a:r>
              <a:rPr lang="en-US" sz="1800" b="0" i="0" dirty="0">
                <a:solidFill>
                  <a:srgbClr val="161616"/>
                </a:solidFill>
                <a:effectLst/>
                <a:latin typeface="Quattrocento Sans" panose="020B0502050000020003" pitchFamily="34" charset="0"/>
              </a:rPr>
              <a:t>Commit and push your action to GitHub with the following files: </a:t>
            </a:r>
            <a:r>
              <a:rPr lang="en-US" b="0" i="0" dirty="0" err="1">
                <a:solidFill>
                  <a:srgbClr val="161616"/>
                </a:solidFill>
                <a:effectLst/>
                <a:highlight>
                  <a:srgbClr val="C0C0C0"/>
                </a:highlight>
                <a:latin typeface="Roboto Mono" pitchFamily="49" charset="0"/>
                <a:ea typeface="Roboto Mono" pitchFamily="49" charset="0"/>
              </a:rPr>
              <a:t>action.yml</a:t>
            </a:r>
            <a:r>
              <a:rPr lang="en-US" sz="1800" b="0" i="0" dirty="0">
                <a:solidFill>
                  <a:srgbClr val="161616"/>
                </a:solidFill>
                <a:effectLst/>
                <a:latin typeface="Quattrocento Sans" panose="020B0502050000020003" pitchFamily="34" charset="0"/>
              </a:rPr>
              <a:t>, </a:t>
            </a:r>
            <a:r>
              <a:rPr lang="en-US" b="0" i="0" dirty="0" err="1">
                <a:solidFill>
                  <a:srgbClr val="161616"/>
                </a:solidFill>
                <a:effectLst/>
                <a:highlight>
                  <a:srgbClr val="C0C0C0"/>
                </a:highlight>
                <a:latin typeface="Roboto Mono" pitchFamily="49" charset="0"/>
                <a:ea typeface="Roboto Mono" pitchFamily="49" charset="0"/>
              </a:rPr>
              <a:t>index.js</a:t>
            </a:r>
            <a:r>
              <a:rPr lang="en-US" sz="1800" b="0" i="0" dirty="0">
                <a:solidFill>
                  <a:srgbClr val="161616"/>
                </a:solidFill>
                <a:effectLst/>
                <a:latin typeface="Quattrocento Sans" panose="020B0502050000020003" pitchFamily="34" charset="0"/>
              </a:rPr>
              <a:t>, </a:t>
            </a:r>
            <a:r>
              <a:rPr lang="en-US" b="0" i="0" dirty="0" err="1">
                <a:solidFill>
                  <a:srgbClr val="161616"/>
                </a:solidFill>
                <a:effectLst/>
                <a:highlight>
                  <a:srgbClr val="C0C0C0"/>
                </a:highlight>
                <a:latin typeface="Roboto Mono" pitchFamily="49" charset="0"/>
                <a:ea typeface="Roboto Mono" pitchFamily="49" charset="0"/>
              </a:rPr>
              <a:t>node_modules</a:t>
            </a:r>
            <a:r>
              <a:rPr lang="en-US" sz="1800" b="0" i="0" dirty="0">
                <a:solidFill>
                  <a:srgbClr val="161616"/>
                </a:solidFill>
                <a:effectLst/>
                <a:latin typeface="Quattrocento Sans" panose="020B0502050000020003" pitchFamily="34" charset="0"/>
              </a:rPr>
              <a:t>, </a:t>
            </a:r>
            <a:r>
              <a:rPr lang="en-US" b="0" i="0" dirty="0" err="1">
                <a:solidFill>
                  <a:srgbClr val="161616"/>
                </a:solidFill>
                <a:effectLst/>
                <a:highlight>
                  <a:srgbClr val="C0C0C0"/>
                </a:highlight>
                <a:latin typeface="Roboto Mono" pitchFamily="49" charset="0"/>
                <a:ea typeface="Roboto Mono" pitchFamily="49" charset="0"/>
              </a:rPr>
              <a:t>package.json</a:t>
            </a:r>
            <a:r>
              <a:rPr lang="en-US" sz="1800" b="0" i="0" dirty="0">
                <a:solidFill>
                  <a:srgbClr val="161616"/>
                </a:solidFill>
                <a:effectLst/>
                <a:latin typeface="Quattrocento Sans" panose="020B0502050000020003" pitchFamily="34" charset="0"/>
              </a:rPr>
              <a:t>, </a:t>
            </a:r>
            <a:r>
              <a:rPr lang="en-US" b="0" i="0" dirty="0">
                <a:solidFill>
                  <a:srgbClr val="161616"/>
                </a:solidFill>
                <a:effectLst/>
                <a:highlight>
                  <a:srgbClr val="C0C0C0"/>
                </a:highlight>
                <a:latin typeface="Roboto Mono" pitchFamily="49" charset="0"/>
                <a:ea typeface="Roboto Mono" pitchFamily="49" charset="0"/>
              </a:rPr>
              <a:t>package-</a:t>
            </a:r>
            <a:r>
              <a:rPr lang="en-US" b="0" i="0" dirty="0" err="1">
                <a:solidFill>
                  <a:srgbClr val="161616"/>
                </a:solidFill>
                <a:effectLst/>
                <a:highlight>
                  <a:srgbClr val="C0C0C0"/>
                </a:highlight>
                <a:latin typeface="Roboto Mono" pitchFamily="49" charset="0"/>
                <a:ea typeface="Roboto Mono" pitchFamily="49" charset="0"/>
              </a:rPr>
              <a:t>lock.json</a:t>
            </a:r>
            <a:r>
              <a:rPr lang="en-US" sz="1800" b="0" i="0" dirty="0">
                <a:solidFill>
                  <a:srgbClr val="161616"/>
                </a:solidFill>
                <a:effectLst/>
                <a:latin typeface="Quattrocento Sans" panose="020B0502050000020003" pitchFamily="34" charset="0"/>
              </a:rPr>
              <a:t>, and </a:t>
            </a:r>
            <a:r>
              <a:rPr lang="en-US" b="0" i="0" dirty="0" err="1">
                <a:solidFill>
                  <a:srgbClr val="161616"/>
                </a:solidFill>
                <a:effectLst/>
                <a:highlight>
                  <a:srgbClr val="C0C0C0"/>
                </a:highlight>
                <a:latin typeface="Roboto Mono" pitchFamily="49" charset="0"/>
                <a:ea typeface="Roboto Mono" pitchFamily="49" charset="0"/>
              </a:rPr>
              <a:t>README.md</a:t>
            </a:r>
            <a:r>
              <a:rPr lang="en-US" sz="1800" b="0" i="0" dirty="0">
                <a:solidFill>
                  <a:srgbClr val="161616"/>
                </a:solidFill>
                <a:effectLst/>
                <a:latin typeface="Quattrocento Sans" panose="020B0502050000020003" pitchFamily="34" charset="0"/>
              </a:rPr>
              <a:t>.</a:t>
            </a:r>
          </a:p>
        </p:txBody>
      </p:sp>
    </p:spTree>
    <p:extLst>
      <p:ext uri="{BB962C8B-B14F-4D97-AF65-F5344CB8AC3E}">
        <p14:creationId xmlns:p14="http://schemas.microsoft.com/office/powerpoint/2010/main" val="2138371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 name="Picture 2" descr="Diagram of the three types of GitHub Actions; Docker, JavaScript, and composite run steps actions.">
            <a:extLst>
              <a:ext uri="{FF2B5EF4-FFF2-40B4-BE49-F238E27FC236}">
                <a16:creationId xmlns:a16="http://schemas.microsoft.com/office/drawing/2014/main" id="{9118C7CE-A60B-BB1D-9671-1B3ABA2938E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11083224" y="5850321"/>
            <a:ext cx="829012" cy="816191"/>
          </a:xfrm>
          <a:prstGeom prst="ellipse">
            <a:avLst/>
          </a:prstGeom>
          <a:noFill/>
          <a:extLst>
            <a:ext uri="{909E8E84-426E-40DD-AFC4-6F175D3DCCD1}">
              <a14:hiddenFill xmlns:a14="http://schemas.microsoft.com/office/drawing/2010/main">
                <a:solidFill>
                  <a:srgbClr val="FFFFFF"/>
                </a:solidFill>
              </a14:hiddenFill>
            </a:ext>
          </a:extLst>
        </p:spPr>
      </p:pic>
      <p:sp>
        <p:nvSpPr>
          <p:cNvPr id="17" name="Title 16"/>
          <p:cNvSpPr>
            <a:spLocks noGrp="1"/>
          </p:cNvSpPr>
          <p:nvPr>
            <p:ph type="title"/>
          </p:nvPr>
        </p:nvSpPr>
        <p:spPr>
          <a:xfrm>
            <a:off x="546427" y="560582"/>
            <a:ext cx="8193024" cy="492443"/>
          </a:xfrm>
        </p:spPr>
        <p:txBody>
          <a:bodyPr>
            <a:normAutofit fontScale="90000"/>
          </a:bodyPr>
          <a:lstStyle/>
          <a:p>
            <a:r>
              <a:rPr lang="en-US" sz="3200" dirty="0">
                <a:latin typeface="Quattrocento Sans" panose="020B0502050000020003" pitchFamily="34" charset="0"/>
              </a:rPr>
              <a:t>Composite run steps actions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37957" y="1191617"/>
            <a:ext cx="10918294" cy="158591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Composite run steps actions allow you to reuse actions by using shell scripts. You can even mix multiple shell languages within the same action. If you have many shell scripts to automate several tasks, you can now easily turn them into an action and reuse them for different workflows. Sometimes it's easier to just write a shell script than using JavaScript or wrapping your code in a Docker container.</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4003259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Packaged composite action</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34019" y="1255921"/>
            <a:ext cx="10837333" cy="277720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400" b="0" i="0" dirty="0">
                <a:solidFill>
                  <a:srgbClr val="161616"/>
                </a:solidFill>
                <a:effectLst/>
                <a:latin typeface="Quattrocento Sans" panose="020B0502050000020003" pitchFamily="34" charset="0"/>
              </a:rPr>
              <a:t>Packaged composite actions bundle multiple steps into a reusable unit. These actions are defined in a repository and can be referenced in workflows across different repositories. Packaging a composite action simplifies workflows, reduces duplication, and improves maintainability.</a:t>
            </a:r>
          </a:p>
          <a:p>
            <a:pPr marL="0" indent="0" algn="just">
              <a:buNone/>
            </a:pPr>
            <a:r>
              <a:rPr lang="en-US" sz="2400" b="0" i="0" dirty="0">
                <a:solidFill>
                  <a:srgbClr val="161616"/>
                </a:solidFill>
                <a:effectLst/>
                <a:latin typeface="Quattrocento Sans" panose="020B0502050000020003" pitchFamily="34" charset="0"/>
              </a:rPr>
              <a:t>When creating a packaged composite action, the steps are defined in a single </a:t>
            </a:r>
            <a:r>
              <a:rPr lang="en-US" sz="2000" b="0" i="0" dirty="0" err="1">
                <a:solidFill>
                  <a:srgbClr val="161616"/>
                </a:solidFill>
                <a:effectLst/>
                <a:highlight>
                  <a:srgbClr val="C0C0C0"/>
                </a:highlight>
                <a:latin typeface="Roboto Mono" pitchFamily="49" charset="0"/>
                <a:ea typeface="Roboto Mono" pitchFamily="49" charset="0"/>
              </a:rPr>
              <a:t>action.yml</a:t>
            </a:r>
            <a:r>
              <a:rPr lang="en-US" sz="2400" b="0" i="0" dirty="0">
                <a:solidFill>
                  <a:srgbClr val="161616"/>
                </a:solidFill>
                <a:effectLst/>
                <a:latin typeface="Quattrocento Sans" panose="020B0502050000020003" pitchFamily="34" charset="0"/>
              </a:rPr>
              <a:t> file. This file specifies the inputs, outputs, and the sequence of commands or actions to execute. Packaged composite actions are particularly useful for automating repetitive tasks or combining multiple shell commands into a single reusable action.</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2067656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Create a composite action</a:t>
            </a: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5499" y="1171976"/>
            <a:ext cx="1073550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b="1" i="0" dirty="0">
                <a:effectLst/>
                <a:latin typeface="Quattrocento Sans" panose="020B0502050000020003" pitchFamily="34" charset="0"/>
              </a:rPr>
              <a:t>1. Set Up a directory for the composite action</a:t>
            </a:r>
          </a:p>
          <a:p>
            <a:pPr marL="0" indent="0" algn="just">
              <a:buNone/>
            </a:pPr>
            <a:r>
              <a:rPr lang="en-US" sz="1800" b="0" i="0" dirty="0">
                <a:effectLst/>
                <a:latin typeface="Quattrocento Sans" panose="020B0502050000020003" pitchFamily="34" charset="0"/>
              </a:rPr>
              <a:t>You must place your composite action in its own directory inside the repository.</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5" name="Rectangle 4">
            <a:extLst>
              <a:ext uri="{FF2B5EF4-FFF2-40B4-BE49-F238E27FC236}">
                <a16:creationId xmlns:a16="http://schemas.microsoft.com/office/drawing/2014/main" id="{9CF0D869-0D35-6213-A19D-220F363577CE}"/>
              </a:ext>
            </a:extLst>
          </p:cNvPr>
          <p:cNvSpPr>
            <a:spLocks/>
          </p:cNvSpPr>
          <p:nvPr/>
        </p:nvSpPr>
        <p:spPr>
          <a:xfrm>
            <a:off x="878652" y="2399823"/>
            <a:ext cx="8041413" cy="3286201"/>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6" name="TextBox 5">
            <a:extLst>
              <a:ext uri="{FF2B5EF4-FFF2-40B4-BE49-F238E27FC236}">
                <a16:creationId xmlns:a16="http://schemas.microsoft.com/office/drawing/2014/main" id="{00770E4C-777D-82BA-CDC6-91727AF50FE5}"/>
              </a:ext>
            </a:extLst>
          </p:cNvPr>
          <p:cNvSpPr txBox="1"/>
          <p:nvPr/>
        </p:nvSpPr>
        <p:spPr>
          <a:xfrm>
            <a:off x="1148393" y="2613325"/>
            <a:ext cx="4458479" cy="369332"/>
          </a:xfrm>
          <a:prstGeom prst="rect">
            <a:avLst/>
          </a:prstGeom>
          <a:noFill/>
        </p:spPr>
        <p:txBody>
          <a:bodyPr wrap="square" rtlCol="0">
            <a:spAutoFit/>
          </a:bodyPr>
          <a:lstStyle/>
          <a:p>
            <a:r>
              <a:rPr lang="en-US" b="1" dirty="0">
                <a:latin typeface="Quattrocento Sans" panose="020B0502050000020003" pitchFamily="34" charset="0"/>
                <a:cs typeface="Segoe UI"/>
              </a:rPr>
              <a:t>Example directory structure:</a:t>
            </a:r>
          </a:p>
        </p:txBody>
      </p:sp>
      <p:sp>
        <p:nvSpPr>
          <p:cNvPr id="8" name="Rectangle 7">
            <a:extLst>
              <a:ext uri="{FF2B5EF4-FFF2-40B4-BE49-F238E27FC236}">
                <a16:creationId xmlns:a16="http://schemas.microsoft.com/office/drawing/2014/main" id="{B2ACEAA0-05A7-B4F9-531F-E2DDBD0BAEA1}"/>
              </a:ext>
            </a:extLst>
          </p:cNvPr>
          <p:cNvSpPr/>
          <p:nvPr/>
        </p:nvSpPr>
        <p:spPr>
          <a:xfrm>
            <a:off x="1306286" y="3209731"/>
            <a:ext cx="7184571" cy="2164702"/>
          </a:xfrm>
          <a:prstGeom prst="rect">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Roboto Mono" pitchFamily="49" charset="0"/>
                <a:ea typeface="Roboto Mono" pitchFamily="49" charset="0"/>
                <a:cs typeface="Segoe UI"/>
              </a:rPr>
              <a:t>.</a:t>
            </a:r>
            <a:r>
              <a:rPr lang="en-US" dirty="0" err="1">
                <a:latin typeface="Roboto Mono" pitchFamily="49" charset="0"/>
                <a:ea typeface="Roboto Mono" pitchFamily="49" charset="0"/>
                <a:cs typeface="Segoe UI"/>
              </a:rPr>
              <a:t>github</a:t>
            </a:r>
            <a:r>
              <a:rPr lang="en-US" dirty="0">
                <a:latin typeface="Roboto Mono" pitchFamily="49" charset="0"/>
                <a:ea typeface="Roboto Mono" pitchFamily="49" charset="0"/>
                <a:cs typeface="Segoe UI"/>
              </a:rPr>
              <a:t>/actions/my-composite-action/</a:t>
            </a:r>
          </a:p>
          <a:p>
            <a:r>
              <a:rPr lang="en-US" dirty="0">
                <a:latin typeface="Roboto Mono" pitchFamily="49" charset="0"/>
                <a:ea typeface="Roboto Mono" pitchFamily="49" charset="0"/>
                <a:cs typeface="Segoe UI"/>
              </a:rPr>
              <a:t>├── </a:t>
            </a:r>
            <a:r>
              <a:rPr lang="en-US" dirty="0" err="1">
                <a:latin typeface="Roboto Mono" pitchFamily="49" charset="0"/>
                <a:ea typeface="Roboto Mono" pitchFamily="49" charset="0"/>
                <a:cs typeface="Segoe UI"/>
              </a:rPr>
              <a:t>action.yml</a:t>
            </a:r>
            <a:endParaRPr lang="en-US" dirty="0">
              <a:latin typeface="Roboto Mono" pitchFamily="49" charset="0"/>
              <a:ea typeface="Roboto Mono" pitchFamily="49" charset="0"/>
              <a:cs typeface="Segoe UI"/>
            </a:endParaRPr>
          </a:p>
          <a:p>
            <a:r>
              <a:rPr lang="en-US" dirty="0">
                <a:latin typeface="Roboto Mono" pitchFamily="49" charset="0"/>
                <a:ea typeface="Roboto Mono" pitchFamily="49" charset="0"/>
                <a:cs typeface="Segoe UI"/>
              </a:rPr>
              <a:t>└── scripts/</a:t>
            </a:r>
          </a:p>
          <a:p>
            <a:r>
              <a:rPr lang="en-US" dirty="0">
                <a:latin typeface="Roboto Mono" pitchFamily="49" charset="0"/>
                <a:ea typeface="Roboto Mono" pitchFamily="49" charset="0"/>
                <a:cs typeface="Segoe UI"/>
              </a:rPr>
              <a:t>    └── my-</a:t>
            </a:r>
            <a:r>
              <a:rPr lang="en-US" dirty="0" err="1">
                <a:latin typeface="Roboto Mono" pitchFamily="49" charset="0"/>
                <a:ea typeface="Roboto Mono" pitchFamily="49" charset="0"/>
                <a:cs typeface="Segoe UI"/>
              </a:rPr>
              <a:t>script.sh</a:t>
            </a:r>
            <a:endParaRPr lang="en-US" dirty="0">
              <a:latin typeface="Roboto Mono" pitchFamily="49" charset="0"/>
              <a:ea typeface="Roboto Mono" pitchFamily="49" charset="0"/>
              <a:cs typeface="Segoe UI"/>
            </a:endParaRPr>
          </a:p>
          <a:p>
            <a:pPr algn="ctr"/>
            <a:endParaRPr lang="en-US" dirty="0"/>
          </a:p>
        </p:txBody>
      </p:sp>
    </p:spTree>
    <p:extLst>
      <p:ext uri="{BB962C8B-B14F-4D97-AF65-F5344CB8AC3E}">
        <p14:creationId xmlns:p14="http://schemas.microsoft.com/office/powerpoint/2010/main" val="80721952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Create a composite action</a:t>
            </a: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5499" y="1171976"/>
            <a:ext cx="1073550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b="1" i="0" dirty="0">
                <a:effectLst/>
                <a:latin typeface="Quattrocento Sans" panose="020B0502050000020003" pitchFamily="34" charset="0"/>
              </a:rPr>
              <a:t>2. Define the </a:t>
            </a:r>
            <a:r>
              <a:rPr lang="en-US" sz="2400" b="1" i="0" dirty="0" err="1">
                <a:effectLst/>
                <a:latin typeface="Quattrocento Sans" panose="020B0502050000020003" pitchFamily="34" charset="0"/>
              </a:rPr>
              <a:t>action.yml</a:t>
            </a:r>
            <a:r>
              <a:rPr lang="en-US" sz="2400" b="1" i="0" dirty="0">
                <a:effectLst/>
                <a:latin typeface="Quattrocento Sans" panose="020B0502050000020003" pitchFamily="34" charset="0"/>
              </a:rPr>
              <a:t> file</a:t>
            </a:r>
          </a:p>
          <a:p>
            <a:pPr marL="0" indent="0" algn="just">
              <a:buNone/>
            </a:pPr>
            <a:r>
              <a:rPr lang="en-US" sz="1800" i="0" dirty="0">
                <a:effectLst/>
                <a:latin typeface="Quattrocento Sans" panose="020B0502050000020003" pitchFamily="34" charset="0"/>
              </a:rPr>
              <a:t>Inside the my-composite-action directory, create an </a:t>
            </a:r>
            <a:r>
              <a:rPr lang="en-US" i="0" dirty="0" err="1">
                <a:effectLst/>
                <a:highlight>
                  <a:srgbClr val="C0C0C0"/>
                </a:highlight>
                <a:latin typeface="Roboto Mono" pitchFamily="49" charset="0"/>
                <a:ea typeface="Roboto Mono" pitchFamily="49" charset="0"/>
              </a:rPr>
              <a:t>action.yml</a:t>
            </a:r>
            <a:r>
              <a:rPr lang="en-US" i="0" dirty="0">
                <a:effectLst/>
                <a:latin typeface="Roboto Mono" pitchFamily="49" charset="0"/>
                <a:ea typeface="Roboto Mono" pitchFamily="49" charset="0"/>
              </a:rPr>
              <a:t> </a:t>
            </a:r>
            <a:r>
              <a:rPr lang="en-US" sz="1800" i="0" dirty="0">
                <a:effectLst/>
                <a:latin typeface="Quattrocento Sans" panose="020B0502050000020003" pitchFamily="34" charset="0"/>
              </a:rPr>
              <a:t>file. </a:t>
            </a:r>
            <a:r>
              <a:rPr lang="en-US" sz="1800" b="1" i="0" dirty="0">
                <a:effectLst/>
                <a:latin typeface="Quattrocento Sans" panose="020B0502050000020003" pitchFamily="34" charset="0"/>
              </a:rPr>
              <a:t>Note:</a:t>
            </a:r>
            <a:r>
              <a:rPr lang="en-US" sz="1800" i="0" dirty="0">
                <a:effectLst/>
                <a:latin typeface="Quattrocento Sans" panose="020B0502050000020003" pitchFamily="34" charset="0"/>
              </a:rPr>
              <a:t> The using: "composite" field indicates that this action is a composite action.</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5" name="Rectangle 4">
            <a:extLst>
              <a:ext uri="{FF2B5EF4-FFF2-40B4-BE49-F238E27FC236}">
                <a16:creationId xmlns:a16="http://schemas.microsoft.com/office/drawing/2014/main" id="{9CF0D869-0D35-6213-A19D-220F363577CE}"/>
              </a:ext>
            </a:extLst>
          </p:cNvPr>
          <p:cNvSpPr>
            <a:spLocks/>
          </p:cNvSpPr>
          <p:nvPr/>
        </p:nvSpPr>
        <p:spPr>
          <a:xfrm>
            <a:off x="575499" y="2175889"/>
            <a:ext cx="11349023" cy="4090339"/>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8" name="Rectangle 7">
            <a:extLst>
              <a:ext uri="{FF2B5EF4-FFF2-40B4-BE49-F238E27FC236}">
                <a16:creationId xmlns:a16="http://schemas.microsoft.com/office/drawing/2014/main" id="{B2ACEAA0-05A7-B4F9-531F-E2DDBD0BAEA1}"/>
              </a:ext>
            </a:extLst>
          </p:cNvPr>
          <p:cNvSpPr/>
          <p:nvPr/>
        </p:nvSpPr>
        <p:spPr>
          <a:xfrm>
            <a:off x="687465" y="2274768"/>
            <a:ext cx="11125089" cy="3892580"/>
          </a:xfrm>
          <a:prstGeom prst="rect">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2">
                    <a:lumMod val="25000"/>
                    <a:lumOff val="75000"/>
                  </a:schemeClr>
                </a:solidFill>
                <a:latin typeface="Roboto Mono" pitchFamily="49" charset="0"/>
                <a:ea typeface="Roboto Mono" pitchFamily="49" charset="0"/>
                <a:cs typeface="Segoe UI"/>
              </a:rPr>
              <a:t>name: </a:t>
            </a:r>
            <a:r>
              <a:rPr lang="en-US" sz="1400" dirty="0">
                <a:solidFill>
                  <a:srgbClr val="FC595F"/>
                </a:solidFill>
                <a:latin typeface="Roboto Mono" pitchFamily="49" charset="0"/>
                <a:ea typeface="Roboto Mono" pitchFamily="49" charset="0"/>
                <a:cs typeface="Segoe UI"/>
              </a:rPr>
              <a:t>"My Composite Action"</a:t>
            </a:r>
          </a:p>
          <a:p>
            <a:r>
              <a:rPr lang="en-US" sz="1400" dirty="0">
                <a:solidFill>
                  <a:schemeClr val="tx2">
                    <a:lumMod val="25000"/>
                    <a:lumOff val="75000"/>
                  </a:schemeClr>
                </a:solidFill>
                <a:latin typeface="Roboto Mono" pitchFamily="49" charset="0"/>
                <a:ea typeface="Roboto Mono" pitchFamily="49" charset="0"/>
                <a:cs typeface="Segoe UI"/>
              </a:rPr>
              <a:t>description: </a:t>
            </a:r>
            <a:r>
              <a:rPr lang="en-US" sz="1400" dirty="0">
                <a:solidFill>
                  <a:srgbClr val="FC595F"/>
                </a:solidFill>
                <a:latin typeface="Roboto Mono" pitchFamily="49" charset="0"/>
                <a:ea typeface="Roboto Mono" pitchFamily="49" charset="0"/>
                <a:cs typeface="Segoe UI"/>
              </a:rPr>
              <a:t>"A reusable composite action that checks out code and sets up Node.js"</a:t>
            </a:r>
          </a:p>
          <a:p>
            <a:endParaRPr lang="en-US" sz="1400" dirty="0">
              <a:solidFill>
                <a:srgbClr val="FC595F"/>
              </a:solidFill>
              <a:latin typeface="Roboto Mono" pitchFamily="49" charset="0"/>
              <a:ea typeface="Roboto Mono" pitchFamily="49" charset="0"/>
              <a:cs typeface="Segoe UI"/>
            </a:endParaRPr>
          </a:p>
          <a:p>
            <a:r>
              <a:rPr lang="en-US" sz="1400" dirty="0">
                <a:solidFill>
                  <a:schemeClr val="tx2">
                    <a:lumMod val="25000"/>
                    <a:lumOff val="75000"/>
                  </a:schemeClr>
                </a:solidFill>
                <a:latin typeface="Roboto Mono" pitchFamily="49" charset="0"/>
                <a:ea typeface="Roboto Mono" pitchFamily="49" charset="0"/>
                <a:cs typeface="Segoe UI"/>
              </a:rPr>
              <a:t>inputs:</a:t>
            </a:r>
          </a:p>
          <a:p>
            <a:r>
              <a:rPr lang="en-US" sz="1400" dirty="0">
                <a:solidFill>
                  <a:schemeClr val="tx2">
                    <a:lumMod val="25000"/>
                    <a:lumOff val="75000"/>
                  </a:schemeClr>
                </a:solidFill>
                <a:latin typeface="Roboto Mono" pitchFamily="49" charset="0"/>
                <a:ea typeface="Roboto Mono" pitchFamily="49" charset="0"/>
                <a:cs typeface="Segoe UI"/>
              </a:rPr>
              <a:t>  node-version:</a:t>
            </a:r>
          </a:p>
          <a:p>
            <a:r>
              <a:rPr lang="en-US" sz="1400" dirty="0">
                <a:solidFill>
                  <a:schemeClr val="tx2">
                    <a:lumMod val="25000"/>
                    <a:lumOff val="75000"/>
                  </a:schemeClr>
                </a:solidFill>
                <a:latin typeface="Roboto Mono" pitchFamily="49" charset="0"/>
                <a:ea typeface="Roboto Mono" pitchFamily="49" charset="0"/>
                <a:cs typeface="Segoe UI"/>
              </a:rPr>
              <a:t>    description: </a:t>
            </a:r>
            <a:r>
              <a:rPr lang="en-US" sz="1400" dirty="0">
                <a:solidFill>
                  <a:srgbClr val="FC595F"/>
                </a:solidFill>
                <a:latin typeface="Roboto Mono" pitchFamily="49" charset="0"/>
                <a:ea typeface="Roboto Mono" pitchFamily="49" charset="0"/>
                <a:cs typeface="Segoe UI"/>
              </a:rPr>
              <a:t>"The Node.js version to use"</a:t>
            </a:r>
          </a:p>
          <a:p>
            <a:r>
              <a:rPr lang="en-US" sz="1400" dirty="0">
                <a:solidFill>
                  <a:schemeClr val="tx2">
                    <a:lumMod val="25000"/>
                    <a:lumOff val="75000"/>
                  </a:schemeClr>
                </a:solidFill>
                <a:latin typeface="Roboto Mono" pitchFamily="49" charset="0"/>
                <a:ea typeface="Roboto Mono" pitchFamily="49" charset="0"/>
                <a:cs typeface="Segoe UI"/>
              </a:rPr>
              <a:t>    required: true</a:t>
            </a:r>
          </a:p>
          <a:p>
            <a:endParaRPr lang="en-US" sz="1400" dirty="0">
              <a:solidFill>
                <a:schemeClr val="tx2">
                  <a:lumMod val="25000"/>
                  <a:lumOff val="75000"/>
                </a:schemeClr>
              </a:solidFill>
              <a:latin typeface="Roboto Mono" pitchFamily="49" charset="0"/>
              <a:ea typeface="Roboto Mono" pitchFamily="49" charset="0"/>
              <a:cs typeface="Segoe UI"/>
            </a:endParaRPr>
          </a:p>
          <a:p>
            <a:r>
              <a:rPr lang="en-US" sz="1400" dirty="0">
                <a:solidFill>
                  <a:schemeClr val="tx2">
                    <a:lumMod val="25000"/>
                    <a:lumOff val="75000"/>
                  </a:schemeClr>
                </a:solidFill>
                <a:latin typeface="Roboto Mono" pitchFamily="49" charset="0"/>
                <a:ea typeface="Roboto Mono" pitchFamily="49" charset="0"/>
                <a:cs typeface="Segoe UI"/>
              </a:rPr>
              <a:t>runs:</a:t>
            </a:r>
          </a:p>
          <a:p>
            <a:r>
              <a:rPr lang="en-US" sz="1400" dirty="0">
                <a:solidFill>
                  <a:schemeClr val="tx2">
                    <a:lumMod val="25000"/>
                    <a:lumOff val="75000"/>
                  </a:schemeClr>
                </a:solidFill>
                <a:latin typeface="Roboto Mono" pitchFamily="49" charset="0"/>
                <a:ea typeface="Roboto Mono" pitchFamily="49" charset="0"/>
                <a:cs typeface="Segoe UI"/>
              </a:rPr>
              <a:t>  using: </a:t>
            </a:r>
            <a:r>
              <a:rPr lang="en-US" sz="1400" dirty="0">
                <a:solidFill>
                  <a:srgbClr val="FC595F"/>
                </a:solidFill>
                <a:latin typeface="Roboto Mono" pitchFamily="49" charset="0"/>
                <a:ea typeface="Roboto Mono" pitchFamily="49" charset="0"/>
                <a:cs typeface="Segoe UI"/>
              </a:rPr>
              <a:t>"composite"</a:t>
            </a:r>
          </a:p>
          <a:p>
            <a:r>
              <a:rPr lang="en-US" sz="1400" dirty="0">
                <a:solidFill>
                  <a:schemeClr val="tx2">
                    <a:lumMod val="25000"/>
                    <a:lumOff val="75000"/>
                  </a:schemeClr>
                </a:solidFill>
                <a:latin typeface="Roboto Mono" pitchFamily="49" charset="0"/>
                <a:ea typeface="Roboto Mono" pitchFamily="49" charset="0"/>
                <a:cs typeface="Segoe UI"/>
              </a:rPr>
              <a:t>  steps:</a:t>
            </a:r>
          </a:p>
          <a:p>
            <a:r>
              <a:rPr lang="en-US" sz="1400" dirty="0">
                <a:solidFill>
                  <a:schemeClr val="tx2">
                    <a:lumMod val="25000"/>
                    <a:lumOff val="75000"/>
                  </a:schemeClr>
                </a:solidFill>
                <a:latin typeface="Roboto Mono" pitchFamily="49" charset="0"/>
                <a:ea typeface="Roboto Mono" pitchFamily="49" charset="0"/>
                <a:cs typeface="Segoe UI"/>
              </a:rPr>
              <a:t>    - name: </a:t>
            </a:r>
            <a:r>
              <a:rPr lang="en-US" sz="1400" dirty="0">
                <a:solidFill>
                  <a:srgbClr val="FC595F"/>
                </a:solidFill>
                <a:latin typeface="Roboto Mono" pitchFamily="49" charset="0"/>
                <a:ea typeface="Roboto Mono" pitchFamily="49" charset="0"/>
                <a:cs typeface="Segoe UI"/>
              </a:rPr>
              <a:t>Checkout repository</a:t>
            </a:r>
          </a:p>
          <a:p>
            <a:r>
              <a:rPr lang="en-US" sz="1400" dirty="0">
                <a:solidFill>
                  <a:schemeClr val="tx2">
                    <a:lumMod val="25000"/>
                    <a:lumOff val="75000"/>
                  </a:schemeClr>
                </a:solidFill>
                <a:latin typeface="Roboto Mono" pitchFamily="49" charset="0"/>
                <a:ea typeface="Roboto Mono" pitchFamily="49" charset="0"/>
                <a:cs typeface="Segoe UI"/>
              </a:rPr>
              <a:t>      uses: </a:t>
            </a:r>
            <a:r>
              <a:rPr lang="en-US" sz="1400" dirty="0">
                <a:solidFill>
                  <a:srgbClr val="FC595F"/>
                </a:solidFill>
                <a:latin typeface="Roboto Mono" pitchFamily="49" charset="0"/>
                <a:ea typeface="Roboto Mono" pitchFamily="49" charset="0"/>
                <a:cs typeface="Segoe UI"/>
              </a:rPr>
              <a:t>actions/checkout@v4</a:t>
            </a:r>
          </a:p>
          <a:p>
            <a:endParaRPr lang="en-US" sz="1400" dirty="0">
              <a:solidFill>
                <a:schemeClr val="tx2">
                  <a:lumMod val="25000"/>
                  <a:lumOff val="75000"/>
                </a:schemeClr>
              </a:solidFill>
              <a:latin typeface="Roboto Mono" pitchFamily="49" charset="0"/>
              <a:ea typeface="Roboto Mono" pitchFamily="49" charset="0"/>
              <a:cs typeface="Segoe UI"/>
            </a:endParaRPr>
          </a:p>
          <a:p>
            <a:r>
              <a:rPr lang="en-US" sz="1400" dirty="0">
                <a:solidFill>
                  <a:schemeClr val="tx2">
                    <a:lumMod val="25000"/>
                    <a:lumOff val="75000"/>
                  </a:schemeClr>
                </a:solidFill>
                <a:latin typeface="Roboto Mono" pitchFamily="49" charset="0"/>
                <a:ea typeface="Roboto Mono" pitchFamily="49" charset="0"/>
                <a:cs typeface="Segoe UI"/>
              </a:rPr>
              <a:t>    - name: </a:t>
            </a:r>
            <a:r>
              <a:rPr lang="en-US" sz="1400" dirty="0">
                <a:solidFill>
                  <a:srgbClr val="FC595F"/>
                </a:solidFill>
                <a:latin typeface="Roboto Mono" pitchFamily="49" charset="0"/>
                <a:ea typeface="Roboto Mono" pitchFamily="49" charset="0"/>
                <a:cs typeface="Segoe UI"/>
              </a:rPr>
              <a:t>Set up Node.js</a:t>
            </a:r>
          </a:p>
          <a:p>
            <a:r>
              <a:rPr lang="en-US" sz="1400" dirty="0">
                <a:solidFill>
                  <a:schemeClr val="tx2">
                    <a:lumMod val="25000"/>
                    <a:lumOff val="75000"/>
                  </a:schemeClr>
                </a:solidFill>
                <a:latin typeface="Roboto Mono" pitchFamily="49" charset="0"/>
                <a:ea typeface="Roboto Mono" pitchFamily="49" charset="0"/>
                <a:cs typeface="Segoe UI"/>
              </a:rPr>
              <a:t>      uses: </a:t>
            </a:r>
            <a:r>
              <a:rPr lang="en-US" sz="1400" dirty="0">
                <a:solidFill>
                  <a:srgbClr val="FC595F"/>
                </a:solidFill>
                <a:latin typeface="Roboto Mono" pitchFamily="49" charset="0"/>
                <a:ea typeface="Roboto Mono" pitchFamily="49" charset="0"/>
                <a:cs typeface="Segoe UI"/>
              </a:rPr>
              <a:t>actions/setup-node@v4</a:t>
            </a:r>
          </a:p>
          <a:p>
            <a:r>
              <a:rPr lang="en-US" sz="1400" dirty="0">
                <a:solidFill>
                  <a:schemeClr val="tx2">
                    <a:lumMod val="25000"/>
                    <a:lumOff val="75000"/>
                  </a:schemeClr>
                </a:solidFill>
                <a:latin typeface="Roboto Mono" pitchFamily="49" charset="0"/>
                <a:ea typeface="Roboto Mono" pitchFamily="49" charset="0"/>
                <a:cs typeface="Segoe UI"/>
              </a:rPr>
              <a:t>      with:</a:t>
            </a:r>
          </a:p>
          <a:p>
            <a:r>
              <a:rPr lang="en-US" sz="1400" dirty="0">
                <a:solidFill>
                  <a:schemeClr val="tx2">
                    <a:lumMod val="25000"/>
                    <a:lumOff val="75000"/>
                  </a:schemeClr>
                </a:solidFill>
                <a:latin typeface="Roboto Mono" pitchFamily="49" charset="0"/>
                <a:ea typeface="Roboto Mono" pitchFamily="49" charset="0"/>
                <a:cs typeface="Segoe UI"/>
              </a:rPr>
              <a:t>        node-version: </a:t>
            </a:r>
            <a:r>
              <a:rPr lang="en-US" sz="1400" dirty="0">
                <a:solidFill>
                  <a:srgbClr val="FC595F"/>
                </a:solidFill>
                <a:latin typeface="Roboto Mono" pitchFamily="49" charset="0"/>
                <a:ea typeface="Roboto Mono" pitchFamily="49" charset="0"/>
                <a:cs typeface="Segoe UI"/>
              </a:rPr>
              <a:t>${{ </a:t>
            </a:r>
            <a:r>
              <a:rPr lang="en-US" sz="1400" dirty="0" err="1">
                <a:solidFill>
                  <a:srgbClr val="FC595F"/>
                </a:solidFill>
                <a:latin typeface="Roboto Mono" pitchFamily="49" charset="0"/>
                <a:ea typeface="Roboto Mono" pitchFamily="49" charset="0"/>
                <a:cs typeface="Segoe UI"/>
              </a:rPr>
              <a:t>inputs.node</a:t>
            </a:r>
            <a:r>
              <a:rPr lang="en-US" sz="1400" dirty="0">
                <a:solidFill>
                  <a:srgbClr val="FC595F"/>
                </a:solidFill>
                <a:latin typeface="Roboto Mono" pitchFamily="49" charset="0"/>
                <a:ea typeface="Roboto Mono" pitchFamily="49" charset="0"/>
                <a:cs typeface="Segoe UI"/>
              </a:rPr>
              <a:t>-version }}</a:t>
            </a:r>
            <a:endParaRPr lang="en-US" sz="1600" dirty="0">
              <a:solidFill>
                <a:srgbClr val="FC595F"/>
              </a:solidFill>
            </a:endParaRPr>
          </a:p>
        </p:txBody>
      </p:sp>
    </p:spTree>
    <p:extLst>
      <p:ext uri="{BB962C8B-B14F-4D97-AF65-F5344CB8AC3E}">
        <p14:creationId xmlns:p14="http://schemas.microsoft.com/office/powerpoint/2010/main" val="309660689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Create a composite action</a:t>
            </a: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5499" y="1171976"/>
            <a:ext cx="1073550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b="1" i="0" dirty="0">
                <a:effectLst/>
                <a:latin typeface="Quattrocento Sans" panose="020B0502050000020003" pitchFamily="34" charset="0"/>
              </a:rPr>
              <a:t>3. Use the composite action in a workflow</a:t>
            </a:r>
          </a:p>
          <a:p>
            <a:pPr marL="0" indent="0" algn="just">
              <a:buNone/>
            </a:pPr>
            <a:r>
              <a:rPr lang="en-US" sz="1800" i="0" dirty="0">
                <a:effectLst/>
                <a:latin typeface="Quattrocento Sans" panose="020B0502050000020003" pitchFamily="34" charset="0"/>
              </a:rPr>
              <a:t>Once the composite action is created, it can be referenced in a GitHub Actions workflow.</a:t>
            </a:r>
            <a:endParaRPr lang="en-US" sz="1100" i="0" dirty="0">
              <a:effectLst/>
              <a:latin typeface="Quattrocento Sans" panose="020B0502050000020003" pitchFamily="34" charset="0"/>
            </a:endParaRP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5" name="Rectangle 4">
            <a:extLst>
              <a:ext uri="{FF2B5EF4-FFF2-40B4-BE49-F238E27FC236}">
                <a16:creationId xmlns:a16="http://schemas.microsoft.com/office/drawing/2014/main" id="{9CF0D869-0D35-6213-A19D-220F363577CE}"/>
              </a:ext>
            </a:extLst>
          </p:cNvPr>
          <p:cNvSpPr>
            <a:spLocks/>
          </p:cNvSpPr>
          <p:nvPr/>
        </p:nvSpPr>
        <p:spPr>
          <a:xfrm>
            <a:off x="575500" y="2175889"/>
            <a:ext cx="6385138" cy="2358789"/>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8" name="Rectangle 7">
            <a:extLst>
              <a:ext uri="{FF2B5EF4-FFF2-40B4-BE49-F238E27FC236}">
                <a16:creationId xmlns:a16="http://schemas.microsoft.com/office/drawing/2014/main" id="{B2ACEAA0-05A7-B4F9-531F-E2DDBD0BAEA1}"/>
              </a:ext>
            </a:extLst>
          </p:cNvPr>
          <p:cNvSpPr/>
          <p:nvPr/>
        </p:nvSpPr>
        <p:spPr>
          <a:xfrm>
            <a:off x="687465" y="2274768"/>
            <a:ext cx="6105221" cy="2091959"/>
          </a:xfrm>
          <a:prstGeom prst="rect">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2">
                    <a:lumMod val="25000"/>
                    <a:lumOff val="75000"/>
                  </a:schemeClr>
                </a:solidFill>
                <a:latin typeface="Roboto Mono" pitchFamily="49" charset="0"/>
                <a:ea typeface="Roboto Mono" pitchFamily="49" charset="0"/>
                <a:cs typeface="Segoe UI"/>
              </a:rPr>
              <a:t>jobs:</a:t>
            </a:r>
          </a:p>
          <a:p>
            <a:r>
              <a:rPr lang="en-US" sz="1400" dirty="0">
                <a:solidFill>
                  <a:schemeClr val="tx2">
                    <a:lumMod val="25000"/>
                    <a:lumOff val="75000"/>
                  </a:schemeClr>
                </a:solidFill>
                <a:latin typeface="Roboto Mono" pitchFamily="49" charset="0"/>
                <a:ea typeface="Roboto Mono" pitchFamily="49" charset="0"/>
                <a:cs typeface="Segoe UI"/>
              </a:rPr>
              <a:t>  build:</a:t>
            </a:r>
          </a:p>
          <a:p>
            <a:r>
              <a:rPr lang="en-US" sz="1400" dirty="0">
                <a:solidFill>
                  <a:schemeClr val="tx2">
                    <a:lumMod val="25000"/>
                    <a:lumOff val="75000"/>
                  </a:schemeClr>
                </a:solidFill>
                <a:latin typeface="Roboto Mono" pitchFamily="49" charset="0"/>
                <a:ea typeface="Roboto Mono" pitchFamily="49" charset="0"/>
                <a:cs typeface="Segoe UI"/>
              </a:rPr>
              <a:t>    runs-on: </a:t>
            </a:r>
            <a:r>
              <a:rPr lang="en-US" sz="1400" dirty="0">
                <a:solidFill>
                  <a:srgbClr val="FC595F"/>
                </a:solidFill>
                <a:latin typeface="Roboto Mono" pitchFamily="49" charset="0"/>
                <a:ea typeface="Roboto Mono" pitchFamily="49" charset="0"/>
                <a:cs typeface="Segoe UI"/>
              </a:rPr>
              <a:t>ubuntu-latest</a:t>
            </a:r>
          </a:p>
          <a:p>
            <a:r>
              <a:rPr lang="en-US" sz="1400" dirty="0">
                <a:solidFill>
                  <a:schemeClr val="tx2">
                    <a:lumMod val="25000"/>
                    <a:lumOff val="75000"/>
                  </a:schemeClr>
                </a:solidFill>
                <a:latin typeface="Roboto Mono" pitchFamily="49" charset="0"/>
                <a:ea typeface="Roboto Mono" pitchFamily="49" charset="0"/>
                <a:cs typeface="Segoe UI"/>
              </a:rPr>
              <a:t>    steps:</a:t>
            </a:r>
          </a:p>
          <a:p>
            <a:r>
              <a:rPr lang="en-US" sz="1400" dirty="0">
                <a:solidFill>
                  <a:schemeClr val="tx2">
                    <a:lumMod val="25000"/>
                    <a:lumOff val="75000"/>
                  </a:schemeClr>
                </a:solidFill>
                <a:latin typeface="Roboto Mono" pitchFamily="49" charset="0"/>
                <a:ea typeface="Roboto Mono" pitchFamily="49" charset="0"/>
                <a:cs typeface="Segoe UI"/>
              </a:rPr>
              <a:t>      - name: </a:t>
            </a:r>
            <a:r>
              <a:rPr lang="en-US" sz="1400" dirty="0">
                <a:solidFill>
                  <a:srgbClr val="FC595F"/>
                </a:solidFill>
                <a:latin typeface="Roboto Mono" pitchFamily="49" charset="0"/>
                <a:ea typeface="Roboto Mono" pitchFamily="49" charset="0"/>
                <a:cs typeface="Segoe UI"/>
              </a:rPr>
              <a:t>Use my composite action</a:t>
            </a:r>
          </a:p>
          <a:p>
            <a:r>
              <a:rPr lang="en-US" sz="1400" dirty="0">
                <a:solidFill>
                  <a:schemeClr val="tx2">
                    <a:lumMod val="25000"/>
                    <a:lumOff val="75000"/>
                  </a:schemeClr>
                </a:solidFill>
                <a:latin typeface="Roboto Mono" pitchFamily="49" charset="0"/>
                <a:ea typeface="Roboto Mono" pitchFamily="49" charset="0"/>
                <a:cs typeface="Segoe UI"/>
              </a:rPr>
              <a:t>        uses: </a:t>
            </a:r>
            <a:r>
              <a:rPr lang="en-US" sz="1400" dirty="0">
                <a:solidFill>
                  <a:srgbClr val="FC595F"/>
                </a:solidFill>
                <a:latin typeface="Roboto Mono" pitchFamily="49" charset="0"/>
                <a:ea typeface="Roboto Mono" pitchFamily="49" charset="0"/>
                <a:cs typeface="Segoe UI"/>
              </a:rPr>
              <a:t>./.</a:t>
            </a:r>
            <a:r>
              <a:rPr lang="en-US" sz="1400" dirty="0" err="1">
                <a:solidFill>
                  <a:srgbClr val="FC595F"/>
                </a:solidFill>
                <a:latin typeface="Roboto Mono" pitchFamily="49" charset="0"/>
                <a:ea typeface="Roboto Mono" pitchFamily="49" charset="0"/>
                <a:cs typeface="Segoe UI"/>
              </a:rPr>
              <a:t>github</a:t>
            </a:r>
            <a:r>
              <a:rPr lang="en-US" sz="1400" dirty="0">
                <a:solidFill>
                  <a:srgbClr val="FC595F"/>
                </a:solidFill>
                <a:latin typeface="Roboto Mono" pitchFamily="49" charset="0"/>
                <a:ea typeface="Roboto Mono" pitchFamily="49" charset="0"/>
                <a:cs typeface="Segoe UI"/>
              </a:rPr>
              <a:t>/actions/my-composite-action</a:t>
            </a:r>
          </a:p>
          <a:p>
            <a:r>
              <a:rPr lang="en-US" sz="1400" dirty="0">
                <a:solidFill>
                  <a:schemeClr val="tx2">
                    <a:lumMod val="25000"/>
                    <a:lumOff val="75000"/>
                  </a:schemeClr>
                </a:solidFill>
                <a:latin typeface="Roboto Mono" pitchFamily="49" charset="0"/>
                <a:ea typeface="Roboto Mono" pitchFamily="49" charset="0"/>
                <a:cs typeface="Segoe UI"/>
              </a:rPr>
              <a:t>        with:</a:t>
            </a:r>
          </a:p>
          <a:p>
            <a:r>
              <a:rPr lang="en-US" sz="1400" dirty="0">
                <a:solidFill>
                  <a:schemeClr val="tx2">
                    <a:lumMod val="25000"/>
                    <a:lumOff val="75000"/>
                  </a:schemeClr>
                </a:solidFill>
                <a:latin typeface="Roboto Mono" pitchFamily="49" charset="0"/>
                <a:ea typeface="Roboto Mono" pitchFamily="49" charset="0"/>
                <a:cs typeface="Segoe UI"/>
              </a:rPr>
              <a:t>          node-version: </a:t>
            </a:r>
            <a:r>
              <a:rPr lang="en-US" sz="1400" dirty="0">
                <a:solidFill>
                  <a:srgbClr val="FC595F"/>
                </a:solidFill>
                <a:latin typeface="Roboto Mono" pitchFamily="49" charset="0"/>
                <a:ea typeface="Roboto Mono" pitchFamily="49" charset="0"/>
                <a:cs typeface="Segoe UI"/>
              </a:rPr>
              <a:t>'18’</a:t>
            </a:r>
            <a:endParaRPr lang="en-US" sz="1600" dirty="0">
              <a:solidFill>
                <a:srgbClr val="FC595F"/>
              </a:solidFill>
            </a:endParaRPr>
          </a:p>
        </p:txBody>
      </p:sp>
      <p:sp>
        <p:nvSpPr>
          <p:cNvPr id="6" name="Text Placeholder 2">
            <a:extLst>
              <a:ext uri="{FF2B5EF4-FFF2-40B4-BE49-F238E27FC236}">
                <a16:creationId xmlns:a16="http://schemas.microsoft.com/office/drawing/2014/main" id="{056CB93E-D89B-37E8-643F-0A5C0D46B7A3}"/>
              </a:ext>
            </a:extLst>
          </p:cNvPr>
          <p:cNvSpPr txBox="1">
            <a:spLocks/>
          </p:cNvSpPr>
          <p:nvPr/>
        </p:nvSpPr>
        <p:spPr>
          <a:xfrm>
            <a:off x="575499" y="4739217"/>
            <a:ext cx="7952681"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i="0" dirty="0">
                <a:effectLst/>
                <a:latin typeface="Quattrocento Sans" panose="020B0502050000020003" pitchFamily="34" charset="0"/>
              </a:rPr>
              <a:t>If your composite action is shared from </a:t>
            </a:r>
            <a:r>
              <a:rPr lang="en-US" sz="1800" b="1" i="0" dirty="0">
                <a:effectLst/>
                <a:latin typeface="Quattrocento Sans" panose="020B0502050000020003" pitchFamily="34" charset="0"/>
              </a:rPr>
              <a:t>another repository</a:t>
            </a:r>
            <a:r>
              <a:rPr lang="en-US" sz="1800" i="0" dirty="0">
                <a:effectLst/>
                <a:latin typeface="Quattrocento Sans" panose="020B0502050000020003" pitchFamily="34" charset="0"/>
              </a:rPr>
              <a:t>, reference it like this:</a:t>
            </a:r>
          </a:p>
        </p:txBody>
      </p:sp>
      <p:sp>
        <p:nvSpPr>
          <p:cNvPr id="7" name="Rectangle 6">
            <a:extLst>
              <a:ext uri="{FF2B5EF4-FFF2-40B4-BE49-F238E27FC236}">
                <a16:creationId xmlns:a16="http://schemas.microsoft.com/office/drawing/2014/main" id="{8C167A86-8AE6-B98B-BCDE-1F528D3F4012}"/>
              </a:ext>
            </a:extLst>
          </p:cNvPr>
          <p:cNvSpPr/>
          <p:nvPr/>
        </p:nvSpPr>
        <p:spPr>
          <a:xfrm>
            <a:off x="687465" y="5276132"/>
            <a:ext cx="7318200" cy="658138"/>
          </a:xfrm>
          <a:prstGeom prst="rect">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Roboto Mono" pitchFamily="49" charset="0"/>
                <a:ea typeface="Roboto Mono" pitchFamily="49" charset="0"/>
                <a:cs typeface="Segoe UI"/>
              </a:rPr>
              <a:t>uses: owner/repository/.</a:t>
            </a:r>
            <a:r>
              <a:rPr lang="en-US" sz="1400" dirty="0" err="1">
                <a:solidFill>
                  <a:schemeClr val="bg1"/>
                </a:solidFill>
                <a:latin typeface="Roboto Mono" pitchFamily="49" charset="0"/>
                <a:ea typeface="Roboto Mono" pitchFamily="49" charset="0"/>
                <a:cs typeface="Segoe UI"/>
              </a:rPr>
              <a:t>github</a:t>
            </a:r>
            <a:r>
              <a:rPr lang="en-US" sz="1400" dirty="0">
                <a:solidFill>
                  <a:schemeClr val="bg1"/>
                </a:solidFill>
                <a:latin typeface="Roboto Mono" pitchFamily="49" charset="0"/>
                <a:ea typeface="Roboto Mono" pitchFamily="49" charset="0"/>
                <a:cs typeface="Segoe UI"/>
              </a:rPr>
              <a:t>/actions/my-composite-action@v1</a:t>
            </a:r>
          </a:p>
        </p:txBody>
      </p:sp>
    </p:spTree>
    <p:extLst>
      <p:ext uri="{BB962C8B-B14F-4D97-AF65-F5344CB8AC3E}">
        <p14:creationId xmlns:p14="http://schemas.microsoft.com/office/powerpoint/2010/main" val="154433339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Create a composite action</a:t>
            </a: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606601" y="1134468"/>
            <a:ext cx="1073550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i="0" dirty="0">
                <a:effectLst/>
                <a:latin typeface="Quattrocento Sans" panose="020B0502050000020003" pitchFamily="34" charset="0"/>
              </a:rPr>
              <a:t>Check out this example image</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pic>
        <p:nvPicPr>
          <p:cNvPr id="9218" name="Picture 2" descr="Screenshot of a composite action used in a workflow.">
            <a:extLst>
              <a:ext uri="{FF2B5EF4-FFF2-40B4-BE49-F238E27FC236}">
                <a16:creationId xmlns:a16="http://schemas.microsoft.com/office/drawing/2014/main" id="{9B665B16-854D-F70E-B65E-B2E7D7B1D5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601" y="2296512"/>
            <a:ext cx="10454357" cy="4124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984632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Define an output in </a:t>
            </a:r>
            <a:r>
              <a:rPr lang="en-US" sz="3100" dirty="0" err="1">
                <a:highlight>
                  <a:srgbClr val="C0C0C0"/>
                </a:highlight>
                <a:latin typeface="Roboto Mono" pitchFamily="49" charset="0"/>
                <a:ea typeface="Roboto Mono" pitchFamily="49" charset="0"/>
              </a:rPr>
              <a:t>action.yml</a:t>
            </a:r>
            <a:endParaRPr lang="en-US" sz="3200" dirty="0">
              <a:highlight>
                <a:srgbClr val="C0C0C0"/>
              </a:highlight>
              <a:latin typeface="Roboto Mono" pitchFamily="49" charset="0"/>
              <a:ea typeface="Roboto Mono" pitchFamily="49" charset="0"/>
            </a:endParaRP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37958" y="1541291"/>
            <a:ext cx="5237910" cy="74083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rPr>
              <a:t>The </a:t>
            </a:r>
            <a:r>
              <a:rPr lang="en-US" sz="1800" b="0" i="0" dirty="0" err="1">
                <a:solidFill>
                  <a:srgbClr val="161616"/>
                </a:solidFill>
                <a:effectLst/>
                <a:highlight>
                  <a:srgbClr val="C0C0C0"/>
                </a:highlight>
                <a:latin typeface="Roboto Mono" pitchFamily="49" charset="0"/>
                <a:ea typeface="Roboto Mono" pitchFamily="49" charset="0"/>
              </a:rPr>
              <a:t>action.yml</a:t>
            </a:r>
            <a:r>
              <a:rPr lang="en-US" sz="2000" b="0" i="0" dirty="0">
                <a:solidFill>
                  <a:srgbClr val="161616"/>
                </a:solidFill>
                <a:effectLst/>
                <a:latin typeface="Quattrocento Sans" panose="020B0502050000020003" pitchFamily="34" charset="0"/>
              </a:rPr>
              <a:t> file specifies an output named </a:t>
            </a:r>
            <a:r>
              <a:rPr lang="en-US" sz="1800" b="0" i="0" dirty="0">
                <a:solidFill>
                  <a:srgbClr val="161616"/>
                </a:solidFill>
                <a:effectLst/>
                <a:highlight>
                  <a:srgbClr val="C0C0C0"/>
                </a:highlight>
                <a:latin typeface="Roboto Mono" pitchFamily="49" charset="0"/>
                <a:ea typeface="Roboto Mono" pitchFamily="49" charset="0"/>
              </a:rPr>
              <a:t>script-result</a:t>
            </a:r>
            <a:r>
              <a:rPr lang="en-US" sz="2000" b="0" i="0" dirty="0">
                <a:solidFill>
                  <a:srgbClr val="161616"/>
                </a:solidFill>
                <a:effectLst/>
                <a:latin typeface="Quattrocento Sans" panose="020B0502050000020003" pitchFamily="34" charset="0"/>
              </a:rPr>
              <a:t>. This output retrieves its value from the </a:t>
            </a:r>
            <a:r>
              <a:rPr lang="en-US" sz="1800" b="0" i="0" dirty="0">
                <a:solidFill>
                  <a:srgbClr val="161616"/>
                </a:solidFill>
                <a:effectLst/>
                <a:highlight>
                  <a:srgbClr val="C0C0C0"/>
                </a:highlight>
                <a:latin typeface="Roboto Mono" pitchFamily="49" charset="0"/>
                <a:ea typeface="Roboto Mono" pitchFamily="49" charset="0"/>
              </a:rPr>
              <a:t>result</a:t>
            </a:r>
            <a:r>
              <a:rPr lang="en-US" sz="2000" b="0" i="0" dirty="0">
                <a:solidFill>
                  <a:srgbClr val="161616"/>
                </a:solidFill>
                <a:effectLst/>
                <a:latin typeface="Quattrocento Sans" panose="020B0502050000020003" pitchFamily="34" charset="0"/>
              </a:rPr>
              <a:t> output of the </a:t>
            </a:r>
            <a:r>
              <a:rPr lang="en-US" sz="1800" b="0" i="0" dirty="0">
                <a:solidFill>
                  <a:srgbClr val="161616"/>
                </a:solidFill>
                <a:effectLst/>
                <a:highlight>
                  <a:srgbClr val="C0C0C0"/>
                </a:highlight>
                <a:latin typeface="Roboto Mono" pitchFamily="49" charset="0"/>
                <a:ea typeface="Roboto Mono" pitchFamily="49" charset="0"/>
              </a:rPr>
              <a:t>run-script</a:t>
            </a:r>
            <a:r>
              <a:rPr lang="en-US" sz="2000" b="0" i="0" dirty="0">
                <a:solidFill>
                  <a:srgbClr val="161616"/>
                </a:solidFill>
                <a:effectLst/>
                <a:latin typeface="Quattrocento Sans" panose="020B0502050000020003" pitchFamily="34" charset="0"/>
              </a:rPr>
              <a:t> step. The </a:t>
            </a:r>
            <a:r>
              <a:rPr lang="en-US" sz="1800" b="0" i="0" dirty="0">
                <a:solidFill>
                  <a:srgbClr val="161616"/>
                </a:solidFill>
                <a:effectLst/>
                <a:highlight>
                  <a:srgbClr val="C0C0C0"/>
                </a:highlight>
                <a:latin typeface="Roboto Mono" pitchFamily="49" charset="0"/>
                <a:ea typeface="Roboto Mono" pitchFamily="49" charset="0"/>
              </a:rPr>
              <a:t>run-script</a:t>
            </a:r>
            <a:r>
              <a:rPr lang="en-US" sz="1800" b="0" i="0" dirty="0">
                <a:solidFill>
                  <a:srgbClr val="161616"/>
                </a:solidFill>
                <a:effectLst/>
                <a:latin typeface="Roboto Mono" pitchFamily="49" charset="0"/>
                <a:ea typeface="Roboto Mono" pitchFamily="49" charset="0"/>
              </a:rPr>
              <a:t> </a:t>
            </a:r>
            <a:r>
              <a:rPr lang="en-US" sz="2000" b="0" i="0" dirty="0">
                <a:solidFill>
                  <a:srgbClr val="161616"/>
                </a:solidFill>
                <a:effectLst/>
                <a:latin typeface="Quattrocento Sans" panose="020B0502050000020003" pitchFamily="34" charset="0"/>
              </a:rPr>
              <a:t>step runs a Bash command to set the output value.</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1D92C709-DA36-D154-3461-065ADA105E8A}"/>
              </a:ext>
            </a:extLst>
          </p:cNvPr>
          <p:cNvSpPr>
            <a:spLocks/>
          </p:cNvSpPr>
          <p:nvPr/>
        </p:nvSpPr>
        <p:spPr>
          <a:xfrm>
            <a:off x="525993" y="2803778"/>
            <a:ext cx="6385138" cy="2358789"/>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4" name="Rectangle 3">
            <a:extLst>
              <a:ext uri="{FF2B5EF4-FFF2-40B4-BE49-F238E27FC236}">
                <a16:creationId xmlns:a16="http://schemas.microsoft.com/office/drawing/2014/main" id="{1CFBF4B9-283A-57C2-3A0E-590F5181788F}"/>
              </a:ext>
            </a:extLst>
          </p:cNvPr>
          <p:cNvSpPr/>
          <p:nvPr/>
        </p:nvSpPr>
        <p:spPr>
          <a:xfrm>
            <a:off x="637958" y="2902657"/>
            <a:ext cx="5048997" cy="2096529"/>
          </a:xfrm>
          <a:prstGeom prst="rect">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2">
                    <a:lumMod val="25000"/>
                    <a:lumOff val="75000"/>
                  </a:schemeClr>
                </a:solidFill>
                <a:latin typeface="Roboto Mono" pitchFamily="49" charset="0"/>
                <a:ea typeface="Roboto Mono" pitchFamily="49" charset="0"/>
                <a:cs typeface="Segoe UI"/>
              </a:rPr>
              <a:t>outputs:</a:t>
            </a:r>
          </a:p>
          <a:p>
            <a:r>
              <a:rPr lang="en-US" sz="1200" dirty="0">
                <a:solidFill>
                  <a:schemeClr val="tx2">
                    <a:lumMod val="25000"/>
                    <a:lumOff val="75000"/>
                  </a:schemeClr>
                </a:solidFill>
                <a:latin typeface="Roboto Mono" pitchFamily="49" charset="0"/>
                <a:ea typeface="Roboto Mono" pitchFamily="49" charset="0"/>
                <a:cs typeface="Segoe UI"/>
              </a:rPr>
              <a:t>  script-result:</a:t>
            </a:r>
          </a:p>
          <a:p>
            <a:r>
              <a:rPr lang="en-US" sz="1200" dirty="0">
                <a:solidFill>
                  <a:schemeClr val="tx2">
                    <a:lumMod val="25000"/>
                    <a:lumOff val="75000"/>
                  </a:schemeClr>
                </a:solidFill>
                <a:latin typeface="Roboto Mono" pitchFamily="49" charset="0"/>
                <a:ea typeface="Roboto Mono" pitchFamily="49" charset="0"/>
                <a:cs typeface="Segoe UI"/>
              </a:rPr>
              <a:t>    description: </a:t>
            </a:r>
            <a:r>
              <a:rPr lang="en-US" sz="1200" dirty="0">
                <a:solidFill>
                  <a:srgbClr val="FC595F"/>
                </a:solidFill>
                <a:latin typeface="Roboto Mono" pitchFamily="49" charset="0"/>
                <a:ea typeface="Roboto Mono" pitchFamily="49" charset="0"/>
                <a:cs typeface="Segoe UI"/>
              </a:rPr>
              <a:t>"Result from the script"</a:t>
            </a:r>
          </a:p>
          <a:p>
            <a:r>
              <a:rPr lang="en-US" sz="1200" dirty="0">
                <a:solidFill>
                  <a:schemeClr val="tx2">
                    <a:lumMod val="25000"/>
                    <a:lumOff val="75000"/>
                  </a:schemeClr>
                </a:solidFill>
                <a:latin typeface="Roboto Mono" pitchFamily="49" charset="0"/>
                <a:ea typeface="Roboto Mono" pitchFamily="49" charset="0"/>
                <a:cs typeface="Segoe UI"/>
              </a:rPr>
              <a:t>    value: </a:t>
            </a:r>
            <a:r>
              <a:rPr lang="en-US" sz="1200" dirty="0">
                <a:solidFill>
                  <a:srgbClr val="FC595F"/>
                </a:solidFill>
                <a:latin typeface="Roboto Mono" pitchFamily="49" charset="0"/>
                <a:ea typeface="Roboto Mono" pitchFamily="49" charset="0"/>
                <a:cs typeface="Segoe UI"/>
              </a:rPr>
              <a:t>${{ </a:t>
            </a:r>
            <a:r>
              <a:rPr lang="en-US" sz="1200" dirty="0" err="1">
                <a:solidFill>
                  <a:srgbClr val="FC595F"/>
                </a:solidFill>
                <a:latin typeface="Roboto Mono" pitchFamily="49" charset="0"/>
                <a:ea typeface="Roboto Mono" pitchFamily="49" charset="0"/>
                <a:cs typeface="Segoe UI"/>
              </a:rPr>
              <a:t>steps.run-script.outputs.result</a:t>
            </a:r>
            <a:r>
              <a:rPr lang="en-US" sz="1200" dirty="0">
                <a:solidFill>
                  <a:srgbClr val="FC595F"/>
                </a:solidFill>
                <a:latin typeface="Roboto Mono" pitchFamily="49" charset="0"/>
                <a:ea typeface="Roboto Mono" pitchFamily="49" charset="0"/>
                <a:cs typeface="Segoe UI"/>
              </a:rPr>
              <a:t> }}</a:t>
            </a:r>
          </a:p>
          <a:p>
            <a:endParaRPr lang="en-US" sz="1200" dirty="0">
              <a:solidFill>
                <a:schemeClr val="tx2">
                  <a:lumMod val="25000"/>
                  <a:lumOff val="75000"/>
                </a:schemeClr>
              </a:solidFill>
              <a:latin typeface="Roboto Mono" pitchFamily="49" charset="0"/>
              <a:ea typeface="Roboto Mono" pitchFamily="49" charset="0"/>
              <a:cs typeface="Segoe UI"/>
            </a:endParaRPr>
          </a:p>
          <a:p>
            <a:r>
              <a:rPr lang="en-US" sz="1200" dirty="0">
                <a:solidFill>
                  <a:schemeClr val="tx2">
                    <a:lumMod val="25000"/>
                    <a:lumOff val="75000"/>
                  </a:schemeClr>
                </a:solidFill>
                <a:latin typeface="Roboto Mono" pitchFamily="49" charset="0"/>
                <a:ea typeface="Roboto Mono" pitchFamily="49" charset="0"/>
                <a:cs typeface="Segoe UI"/>
              </a:rPr>
              <a:t>runs:</a:t>
            </a:r>
          </a:p>
          <a:p>
            <a:r>
              <a:rPr lang="en-US" sz="1200" dirty="0">
                <a:solidFill>
                  <a:schemeClr val="tx2">
                    <a:lumMod val="25000"/>
                    <a:lumOff val="75000"/>
                  </a:schemeClr>
                </a:solidFill>
                <a:latin typeface="Roboto Mono" pitchFamily="49" charset="0"/>
                <a:ea typeface="Roboto Mono" pitchFamily="49" charset="0"/>
                <a:cs typeface="Segoe UI"/>
              </a:rPr>
              <a:t>  using: </a:t>
            </a:r>
            <a:r>
              <a:rPr lang="en-US" sz="1200" dirty="0">
                <a:solidFill>
                  <a:srgbClr val="FC595F"/>
                </a:solidFill>
                <a:latin typeface="Roboto Mono" pitchFamily="49" charset="0"/>
                <a:ea typeface="Roboto Mono" pitchFamily="49" charset="0"/>
                <a:cs typeface="Segoe UI"/>
              </a:rPr>
              <a:t>"composite"</a:t>
            </a:r>
          </a:p>
          <a:p>
            <a:r>
              <a:rPr lang="en-US" sz="1200" dirty="0">
                <a:solidFill>
                  <a:schemeClr val="tx2">
                    <a:lumMod val="25000"/>
                    <a:lumOff val="75000"/>
                  </a:schemeClr>
                </a:solidFill>
                <a:latin typeface="Roboto Mono" pitchFamily="49" charset="0"/>
                <a:ea typeface="Roboto Mono" pitchFamily="49" charset="0"/>
                <a:cs typeface="Segoe UI"/>
              </a:rPr>
              <a:t>  steps:</a:t>
            </a:r>
          </a:p>
          <a:p>
            <a:r>
              <a:rPr lang="en-US" sz="1200" dirty="0">
                <a:solidFill>
                  <a:schemeClr val="tx2">
                    <a:lumMod val="25000"/>
                    <a:lumOff val="75000"/>
                  </a:schemeClr>
                </a:solidFill>
                <a:latin typeface="Roboto Mono" pitchFamily="49" charset="0"/>
                <a:ea typeface="Roboto Mono" pitchFamily="49" charset="0"/>
                <a:cs typeface="Segoe UI"/>
              </a:rPr>
              <a:t>    - id: </a:t>
            </a:r>
            <a:r>
              <a:rPr lang="en-US" sz="1200" dirty="0">
                <a:solidFill>
                  <a:srgbClr val="FC595F"/>
                </a:solidFill>
                <a:latin typeface="Roboto Mono" pitchFamily="49" charset="0"/>
                <a:ea typeface="Roboto Mono" pitchFamily="49" charset="0"/>
                <a:cs typeface="Segoe UI"/>
              </a:rPr>
              <a:t>run-script</a:t>
            </a:r>
          </a:p>
          <a:p>
            <a:r>
              <a:rPr lang="en-US" sz="1200" dirty="0">
                <a:solidFill>
                  <a:schemeClr val="tx2">
                    <a:lumMod val="25000"/>
                    <a:lumOff val="75000"/>
                  </a:schemeClr>
                </a:solidFill>
                <a:latin typeface="Roboto Mono" pitchFamily="49" charset="0"/>
                <a:ea typeface="Roboto Mono" pitchFamily="49" charset="0"/>
                <a:cs typeface="Segoe UI"/>
              </a:rPr>
              <a:t>      run: </a:t>
            </a:r>
            <a:r>
              <a:rPr lang="en-US" sz="1200" dirty="0">
                <a:solidFill>
                  <a:srgbClr val="FC595F"/>
                </a:solidFill>
                <a:latin typeface="Roboto Mono" pitchFamily="49" charset="0"/>
                <a:ea typeface="Roboto Mono" pitchFamily="49" charset="0"/>
                <a:cs typeface="Segoe UI"/>
              </a:rPr>
              <a:t>echo "result=Success" &gt;&gt; $GITHUB_OUTPUT</a:t>
            </a:r>
          </a:p>
          <a:p>
            <a:r>
              <a:rPr lang="en-US" sz="1200" dirty="0">
                <a:solidFill>
                  <a:schemeClr val="tx2">
                    <a:lumMod val="25000"/>
                    <a:lumOff val="75000"/>
                  </a:schemeClr>
                </a:solidFill>
                <a:latin typeface="Roboto Mono" pitchFamily="49" charset="0"/>
                <a:ea typeface="Roboto Mono" pitchFamily="49" charset="0"/>
                <a:cs typeface="Segoe UI"/>
              </a:rPr>
              <a:t>      shell: </a:t>
            </a:r>
            <a:r>
              <a:rPr lang="en-US" sz="1200" dirty="0">
                <a:solidFill>
                  <a:srgbClr val="FC595F"/>
                </a:solidFill>
                <a:latin typeface="Roboto Mono" pitchFamily="49" charset="0"/>
                <a:ea typeface="Roboto Mono" pitchFamily="49" charset="0"/>
                <a:cs typeface="Segoe UI"/>
              </a:rPr>
              <a:t>bash</a:t>
            </a:r>
            <a:endParaRPr lang="en-US" sz="1400" dirty="0">
              <a:solidFill>
                <a:srgbClr val="FC595F"/>
              </a:solidFill>
            </a:endParaRPr>
          </a:p>
        </p:txBody>
      </p:sp>
      <p:pic>
        <p:nvPicPr>
          <p:cNvPr id="10242" name="Picture 2" descr="Screenshot of defining an output in a composite action.">
            <a:extLst>
              <a:ext uri="{FF2B5EF4-FFF2-40B4-BE49-F238E27FC236}">
                <a16:creationId xmlns:a16="http://schemas.microsoft.com/office/drawing/2014/main" id="{2B0FAE31-B3CE-F327-98DD-A2C7952755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1" y="1721644"/>
            <a:ext cx="6095999" cy="3414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2653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Use the output in a workflow</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37958" y="980814"/>
            <a:ext cx="11316975" cy="74083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rPr>
              <a:t>Once the composite action is created, its output can be accessed in a workflow. Here's an example:</a:t>
            </a:r>
          </a:p>
          <a:p>
            <a:pPr marL="0" indent="0" algn="just">
              <a:spcAft>
                <a:spcPts val="600"/>
              </a:spcAft>
              <a:buNone/>
            </a:pPr>
            <a:endParaRPr lang="en-US" sz="2000" b="0" i="0" dirty="0">
              <a:solidFill>
                <a:srgbClr val="161616"/>
              </a:solidFill>
              <a:effectLst/>
              <a:latin typeface="Quattrocento Sans" panose="020B0502050000020003" pitchFamily="34" charset="0"/>
            </a:endParaRP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1D92C709-DA36-D154-3461-065ADA105E8A}"/>
              </a:ext>
            </a:extLst>
          </p:cNvPr>
          <p:cNvSpPr>
            <a:spLocks/>
          </p:cNvSpPr>
          <p:nvPr/>
        </p:nvSpPr>
        <p:spPr>
          <a:xfrm>
            <a:off x="525993" y="2803778"/>
            <a:ext cx="6385138" cy="2358789"/>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4" name="Rectangle 3">
            <a:extLst>
              <a:ext uri="{FF2B5EF4-FFF2-40B4-BE49-F238E27FC236}">
                <a16:creationId xmlns:a16="http://schemas.microsoft.com/office/drawing/2014/main" id="{1CFBF4B9-283A-57C2-3A0E-590F5181788F}"/>
              </a:ext>
            </a:extLst>
          </p:cNvPr>
          <p:cNvSpPr/>
          <p:nvPr/>
        </p:nvSpPr>
        <p:spPr>
          <a:xfrm>
            <a:off x="637958" y="1545262"/>
            <a:ext cx="7676309" cy="2358788"/>
          </a:xfrm>
          <a:prstGeom prst="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2">
                    <a:lumMod val="25000"/>
                    <a:lumOff val="75000"/>
                  </a:schemeClr>
                </a:solidFill>
                <a:latin typeface="Roboto Mono" pitchFamily="49" charset="0"/>
                <a:ea typeface="Roboto Mono" pitchFamily="49" charset="0"/>
                <a:cs typeface="Segoe UI"/>
              </a:rPr>
              <a:t>jobs:</a:t>
            </a:r>
          </a:p>
          <a:p>
            <a:r>
              <a:rPr lang="en-US" sz="1200" dirty="0">
                <a:solidFill>
                  <a:schemeClr val="tx2">
                    <a:lumMod val="25000"/>
                    <a:lumOff val="75000"/>
                  </a:schemeClr>
                </a:solidFill>
                <a:latin typeface="Roboto Mono" pitchFamily="49" charset="0"/>
                <a:ea typeface="Roboto Mono" pitchFamily="49" charset="0"/>
                <a:cs typeface="Segoe UI"/>
              </a:rPr>
              <a:t>  test:</a:t>
            </a:r>
          </a:p>
          <a:p>
            <a:r>
              <a:rPr lang="en-US" sz="1200" dirty="0">
                <a:solidFill>
                  <a:schemeClr val="tx2">
                    <a:lumMod val="25000"/>
                    <a:lumOff val="75000"/>
                  </a:schemeClr>
                </a:solidFill>
                <a:latin typeface="Roboto Mono" pitchFamily="49" charset="0"/>
                <a:ea typeface="Roboto Mono" pitchFamily="49" charset="0"/>
                <a:cs typeface="Segoe UI"/>
              </a:rPr>
              <a:t>    runs-on: </a:t>
            </a:r>
            <a:r>
              <a:rPr lang="en-US" sz="1200" dirty="0">
                <a:solidFill>
                  <a:srgbClr val="FC595F"/>
                </a:solidFill>
                <a:latin typeface="Roboto Mono" pitchFamily="49" charset="0"/>
                <a:ea typeface="Roboto Mono" pitchFamily="49" charset="0"/>
                <a:cs typeface="Segoe UI"/>
              </a:rPr>
              <a:t>ubuntu-latest</a:t>
            </a:r>
          </a:p>
          <a:p>
            <a:r>
              <a:rPr lang="en-US" sz="1200" dirty="0">
                <a:solidFill>
                  <a:schemeClr val="tx2">
                    <a:lumMod val="25000"/>
                    <a:lumOff val="75000"/>
                  </a:schemeClr>
                </a:solidFill>
                <a:latin typeface="Roboto Mono" pitchFamily="49" charset="0"/>
                <a:ea typeface="Roboto Mono" pitchFamily="49" charset="0"/>
                <a:cs typeface="Segoe UI"/>
              </a:rPr>
              <a:t>    steps:</a:t>
            </a:r>
          </a:p>
          <a:p>
            <a:r>
              <a:rPr lang="en-US" sz="1200" dirty="0">
                <a:solidFill>
                  <a:schemeClr val="tx2">
                    <a:lumMod val="25000"/>
                    <a:lumOff val="75000"/>
                  </a:schemeClr>
                </a:solidFill>
                <a:latin typeface="Roboto Mono" pitchFamily="49" charset="0"/>
                <a:ea typeface="Roboto Mono" pitchFamily="49" charset="0"/>
                <a:cs typeface="Segoe UI"/>
              </a:rPr>
              <a:t>      - name: </a:t>
            </a:r>
            <a:r>
              <a:rPr lang="en-US" sz="1200" dirty="0">
                <a:solidFill>
                  <a:srgbClr val="FC595F"/>
                </a:solidFill>
                <a:latin typeface="Roboto Mono" pitchFamily="49" charset="0"/>
                <a:ea typeface="Roboto Mono" pitchFamily="49" charset="0"/>
                <a:cs typeface="Segoe UI"/>
              </a:rPr>
              <a:t>Run composite action</a:t>
            </a:r>
          </a:p>
          <a:p>
            <a:r>
              <a:rPr lang="en-US" sz="1200" dirty="0">
                <a:solidFill>
                  <a:schemeClr val="tx2">
                    <a:lumMod val="25000"/>
                    <a:lumOff val="75000"/>
                  </a:schemeClr>
                </a:solidFill>
                <a:latin typeface="Roboto Mono" pitchFamily="49" charset="0"/>
                <a:ea typeface="Roboto Mono" pitchFamily="49" charset="0"/>
                <a:cs typeface="Segoe UI"/>
              </a:rPr>
              <a:t>        id: </a:t>
            </a:r>
            <a:r>
              <a:rPr lang="en-US" sz="1200" dirty="0">
                <a:solidFill>
                  <a:srgbClr val="FC595F"/>
                </a:solidFill>
                <a:latin typeface="Roboto Mono" pitchFamily="49" charset="0"/>
                <a:ea typeface="Roboto Mono" pitchFamily="49" charset="0"/>
                <a:cs typeface="Segoe UI"/>
              </a:rPr>
              <a:t>my-action</a:t>
            </a:r>
          </a:p>
          <a:p>
            <a:r>
              <a:rPr lang="en-US" sz="1200" dirty="0">
                <a:solidFill>
                  <a:schemeClr val="tx2">
                    <a:lumMod val="25000"/>
                    <a:lumOff val="75000"/>
                  </a:schemeClr>
                </a:solidFill>
                <a:latin typeface="Roboto Mono" pitchFamily="49" charset="0"/>
                <a:ea typeface="Roboto Mono" pitchFamily="49" charset="0"/>
                <a:cs typeface="Segoe UI"/>
              </a:rPr>
              <a:t>        uses: </a:t>
            </a:r>
            <a:r>
              <a:rPr lang="en-US" sz="1200" dirty="0">
                <a:solidFill>
                  <a:srgbClr val="FC595F"/>
                </a:solidFill>
                <a:latin typeface="Roboto Mono" pitchFamily="49" charset="0"/>
                <a:ea typeface="Roboto Mono" pitchFamily="49" charset="0"/>
                <a:cs typeface="Segoe UI"/>
              </a:rPr>
              <a:t>./.</a:t>
            </a:r>
            <a:r>
              <a:rPr lang="en-US" sz="1200" dirty="0" err="1">
                <a:solidFill>
                  <a:srgbClr val="FC595F"/>
                </a:solidFill>
                <a:latin typeface="Roboto Mono" pitchFamily="49" charset="0"/>
                <a:ea typeface="Roboto Mono" pitchFamily="49" charset="0"/>
                <a:cs typeface="Segoe UI"/>
              </a:rPr>
              <a:t>github</a:t>
            </a:r>
            <a:r>
              <a:rPr lang="en-US" sz="1200" dirty="0">
                <a:solidFill>
                  <a:srgbClr val="FC595F"/>
                </a:solidFill>
                <a:latin typeface="Roboto Mono" pitchFamily="49" charset="0"/>
                <a:ea typeface="Roboto Mono" pitchFamily="49" charset="0"/>
                <a:cs typeface="Segoe UI"/>
              </a:rPr>
              <a:t>/actions/my-composite-action</a:t>
            </a:r>
          </a:p>
          <a:p>
            <a:endParaRPr lang="en-US" sz="1200" dirty="0">
              <a:solidFill>
                <a:schemeClr val="tx2">
                  <a:lumMod val="25000"/>
                  <a:lumOff val="75000"/>
                </a:schemeClr>
              </a:solidFill>
              <a:latin typeface="Roboto Mono" pitchFamily="49" charset="0"/>
              <a:ea typeface="Roboto Mono" pitchFamily="49" charset="0"/>
              <a:cs typeface="Segoe UI"/>
            </a:endParaRPr>
          </a:p>
          <a:p>
            <a:r>
              <a:rPr lang="en-US" sz="1200" dirty="0">
                <a:solidFill>
                  <a:schemeClr val="tx2">
                    <a:lumMod val="25000"/>
                    <a:lumOff val="75000"/>
                  </a:schemeClr>
                </a:solidFill>
                <a:latin typeface="Roboto Mono" pitchFamily="49" charset="0"/>
                <a:ea typeface="Roboto Mono" pitchFamily="49" charset="0"/>
                <a:cs typeface="Segoe UI"/>
              </a:rPr>
              <a:t>      - name: </a:t>
            </a:r>
            <a:r>
              <a:rPr lang="en-US" sz="1200" dirty="0">
                <a:solidFill>
                  <a:srgbClr val="FC595F"/>
                </a:solidFill>
                <a:latin typeface="Roboto Mono" pitchFamily="49" charset="0"/>
                <a:ea typeface="Roboto Mono" pitchFamily="49" charset="0"/>
                <a:cs typeface="Segoe UI"/>
              </a:rPr>
              <a:t>Display result</a:t>
            </a:r>
          </a:p>
          <a:p>
            <a:r>
              <a:rPr lang="en-US" sz="1200" dirty="0">
                <a:solidFill>
                  <a:schemeClr val="tx2">
                    <a:lumMod val="25000"/>
                    <a:lumOff val="75000"/>
                  </a:schemeClr>
                </a:solidFill>
                <a:latin typeface="Roboto Mono" pitchFamily="49" charset="0"/>
                <a:ea typeface="Roboto Mono" pitchFamily="49" charset="0"/>
                <a:cs typeface="Segoe UI"/>
              </a:rPr>
              <a:t>        run: </a:t>
            </a:r>
            <a:r>
              <a:rPr lang="en-US" sz="1200" dirty="0">
                <a:solidFill>
                  <a:srgbClr val="FC595F"/>
                </a:solidFill>
                <a:latin typeface="Roboto Mono" pitchFamily="49" charset="0"/>
                <a:ea typeface="Roboto Mono" pitchFamily="49" charset="0"/>
                <a:cs typeface="Segoe UI"/>
              </a:rPr>
              <a:t>echo "Script Result: ${{ </a:t>
            </a:r>
            <a:r>
              <a:rPr lang="en-US" sz="1200" dirty="0" err="1">
                <a:solidFill>
                  <a:srgbClr val="FC595F"/>
                </a:solidFill>
                <a:latin typeface="Roboto Mono" pitchFamily="49" charset="0"/>
                <a:ea typeface="Roboto Mono" pitchFamily="49" charset="0"/>
                <a:cs typeface="Segoe UI"/>
              </a:rPr>
              <a:t>steps.my</a:t>
            </a:r>
            <a:r>
              <a:rPr lang="en-US" sz="1200" dirty="0">
                <a:solidFill>
                  <a:srgbClr val="FC595F"/>
                </a:solidFill>
                <a:latin typeface="Roboto Mono" pitchFamily="49" charset="0"/>
                <a:ea typeface="Roboto Mono" pitchFamily="49" charset="0"/>
                <a:cs typeface="Segoe UI"/>
              </a:rPr>
              <a:t>-</a:t>
            </a:r>
            <a:r>
              <a:rPr lang="en-US" sz="1200" dirty="0" err="1">
                <a:solidFill>
                  <a:srgbClr val="FC595F"/>
                </a:solidFill>
                <a:latin typeface="Roboto Mono" pitchFamily="49" charset="0"/>
                <a:ea typeface="Roboto Mono" pitchFamily="49" charset="0"/>
                <a:cs typeface="Segoe UI"/>
              </a:rPr>
              <a:t>action.outputs.script</a:t>
            </a:r>
            <a:r>
              <a:rPr lang="en-US" sz="1200" dirty="0">
                <a:solidFill>
                  <a:srgbClr val="FC595F"/>
                </a:solidFill>
                <a:latin typeface="Roboto Mono" pitchFamily="49" charset="0"/>
                <a:ea typeface="Roboto Mono" pitchFamily="49" charset="0"/>
                <a:cs typeface="Segoe UI"/>
              </a:rPr>
              <a:t>-result }}"</a:t>
            </a:r>
            <a:endParaRPr lang="en-US" sz="1400" dirty="0">
              <a:solidFill>
                <a:srgbClr val="FC595F"/>
              </a:solidFill>
            </a:endParaRPr>
          </a:p>
        </p:txBody>
      </p:sp>
      <p:sp>
        <p:nvSpPr>
          <p:cNvPr id="5" name="Text Placeholder 2">
            <a:extLst>
              <a:ext uri="{FF2B5EF4-FFF2-40B4-BE49-F238E27FC236}">
                <a16:creationId xmlns:a16="http://schemas.microsoft.com/office/drawing/2014/main" id="{D67291C9-92C3-6B21-423D-44B79F07729A}"/>
              </a:ext>
            </a:extLst>
          </p:cNvPr>
          <p:cNvSpPr txBox="1">
            <a:spLocks/>
          </p:cNvSpPr>
          <p:nvPr/>
        </p:nvSpPr>
        <p:spPr>
          <a:xfrm>
            <a:off x="637958" y="4765942"/>
            <a:ext cx="11028049" cy="74083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rPr>
              <a:t>In this example:</a:t>
            </a:r>
          </a:p>
          <a:p>
            <a:pPr algn="just">
              <a:spcAft>
                <a:spcPts val="600"/>
              </a:spcAft>
            </a:pPr>
            <a:r>
              <a:rPr lang="en-US" sz="1800" b="0" i="0" dirty="0">
                <a:solidFill>
                  <a:srgbClr val="161616"/>
                </a:solidFill>
                <a:effectLst/>
                <a:latin typeface="Quattrocento Sans" panose="020B0502050000020003" pitchFamily="34" charset="0"/>
              </a:rPr>
              <a:t>The composite action is invoked using the </a:t>
            </a:r>
            <a:r>
              <a:rPr lang="en-US" b="0" i="0" dirty="0">
                <a:solidFill>
                  <a:srgbClr val="161616"/>
                </a:solidFill>
                <a:effectLst/>
                <a:highlight>
                  <a:srgbClr val="C0C0C0"/>
                </a:highlight>
                <a:latin typeface="Roboto Mono" pitchFamily="49" charset="0"/>
                <a:ea typeface="Roboto Mono" pitchFamily="49" charset="0"/>
              </a:rPr>
              <a:t>uses</a:t>
            </a:r>
            <a:r>
              <a:rPr lang="en-US" sz="1800" b="0" i="0" dirty="0">
                <a:solidFill>
                  <a:srgbClr val="161616"/>
                </a:solidFill>
                <a:effectLst/>
                <a:latin typeface="Quattrocento Sans" panose="020B0502050000020003" pitchFamily="34" charset="0"/>
              </a:rPr>
              <a:t> keyword.</a:t>
            </a:r>
          </a:p>
          <a:p>
            <a:pPr algn="just">
              <a:spcAft>
                <a:spcPts val="600"/>
              </a:spcAft>
            </a:pPr>
            <a:r>
              <a:rPr lang="en-US" sz="1800" b="0" i="0" dirty="0">
                <a:solidFill>
                  <a:srgbClr val="161616"/>
                </a:solidFill>
                <a:effectLst/>
                <a:latin typeface="Quattrocento Sans" panose="020B0502050000020003" pitchFamily="34" charset="0"/>
              </a:rPr>
              <a:t>Access the output </a:t>
            </a:r>
            <a:r>
              <a:rPr lang="en-US" b="0" i="0" dirty="0">
                <a:solidFill>
                  <a:srgbClr val="161616"/>
                </a:solidFill>
                <a:effectLst/>
                <a:highlight>
                  <a:srgbClr val="C0C0C0"/>
                </a:highlight>
                <a:latin typeface="Roboto Mono" pitchFamily="49" charset="0"/>
                <a:ea typeface="Roboto Mono" pitchFamily="49" charset="0"/>
              </a:rPr>
              <a:t>script-result</a:t>
            </a:r>
            <a:r>
              <a:rPr lang="en-US" sz="1800" b="0" i="0" dirty="0">
                <a:solidFill>
                  <a:srgbClr val="161616"/>
                </a:solidFill>
                <a:effectLst/>
                <a:latin typeface="Quattrocento Sans" panose="020B0502050000020003" pitchFamily="34" charset="0"/>
              </a:rPr>
              <a:t> using the </a:t>
            </a:r>
            <a:r>
              <a:rPr lang="en-US" b="0" i="0" dirty="0">
                <a:solidFill>
                  <a:srgbClr val="161616"/>
                </a:solidFill>
                <a:effectLst/>
                <a:highlight>
                  <a:srgbClr val="C0C0C0"/>
                </a:highlight>
                <a:latin typeface="Roboto Mono" pitchFamily="49" charset="0"/>
                <a:ea typeface="Roboto Mono" pitchFamily="49" charset="0"/>
              </a:rPr>
              <a:t>steps.&lt;step-id&gt;.outputs.&lt;output-name&gt;</a:t>
            </a:r>
            <a:r>
              <a:rPr lang="en-US" sz="1800" b="0" i="0" dirty="0">
                <a:solidFill>
                  <a:srgbClr val="161616"/>
                </a:solidFill>
                <a:effectLst/>
                <a:latin typeface="Quattrocento Sans" panose="020B0502050000020003" pitchFamily="34" charset="0"/>
              </a:rPr>
              <a:t> syntax.</a:t>
            </a:r>
          </a:p>
          <a:p>
            <a:pPr algn="just">
              <a:spcAft>
                <a:spcPts val="600"/>
              </a:spcAft>
            </a:pPr>
            <a:r>
              <a:rPr lang="en-US" sz="1800" b="0" i="0" dirty="0">
                <a:solidFill>
                  <a:srgbClr val="161616"/>
                </a:solidFill>
                <a:effectLst/>
                <a:latin typeface="Quattrocento Sans" panose="020B0502050000020003" pitchFamily="34" charset="0"/>
              </a:rPr>
              <a:t>Display the result in the workflow logs.</a:t>
            </a:r>
          </a:p>
          <a:p>
            <a:pPr marL="0" indent="0" algn="just">
              <a:spcAft>
                <a:spcPts val="600"/>
              </a:spcAft>
              <a:buNone/>
            </a:pPr>
            <a:r>
              <a:rPr lang="en-US" sz="2000" b="0" i="0" dirty="0">
                <a:solidFill>
                  <a:srgbClr val="161616"/>
                </a:solidFill>
                <a:effectLst/>
                <a:latin typeface="Quattrocento Sans" panose="020B0502050000020003" pitchFamily="34" charset="0"/>
              </a:rPr>
              <a:t>Define outputs in composite actions to create reusable and modular workflows. This approach simplifies data sharing and improves maintainability.</a:t>
            </a:r>
          </a:p>
        </p:txBody>
      </p:sp>
    </p:spTree>
    <p:extLst>
      <p:ext uri="{BB962C8B-B14F-4D97-AF65-F5344CB8AC3E}">
        <p14:creationId xmlns:p14="http://schemas.microsoft.com/office/powerpoint/2010/main" val="4249333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Best practices for composite actions</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aphicFrame>
        <p:nvGraphicFramePr>
          <p:cNvPr id="7" name="Table 6">
            <a:extLst>
              <a:ext uri="{FF2B5EF4-FFF2-40B4-BE49-F238E27FC236}">
                <a16:creationId xmlns:a16="http://schemas.microsoft.com/office/drawing/2014/main" id="{D081472B-27F0-5887-6CA9-36411521B549}"/>
              </a:ext>
            </a:extLst>
          </p:cNvPr>
          <p:cNvGraphicFramePr>
            <a:graphicFrameLocks noGrp="1"/>
          </p:cNvGraphicFramePr>
          <p:nvPr>
            <p:extLst>
              <p:ext uri="{D42A27DB-BD31-4B8C-83A1-F6EECF244321}">
                <p14:modId xmlns:p14="http://schemas.microsoft.com/office/powerpoint/2010/main" val="1696403034"/>
              </p:ext>
            </p:extLst>
          </p:nvPr>
        </p:nvGraphicFramePr>
        <p:xfrm>
          <a:off x="579438" y="2362198"/>
          <a:ext cx="10850562" cy="3175000"/>
        </p:xfrm>
        <a:graphic>
          <a:graphicData uri="http://schemas.openxmlformats.org/drawingml/2006/table">
            <a:tbl>
              <a:tblPr firstRow="1" bandRow="1">
                <a:tableStyleId>{5C22544A-7EE6-4342-B048-85BDC9FD1C3A}</a:tableStyleId>
              </a:tblPr>
              <a:tblGrid>
                <a:gridCol w="3857095">
                  <a:extLst>
                    <a:ext uri="{9D8B030D-6E8A-4147-A177-3AD203B41FA5}">
                      <a16:colId xmlns:a16="http://schemas.microsoft.com/office/drawing/2014/main" val="3881546690"/>
                    </a:ext>
                  </a:extLst>
                </a:gridCol>
                <a:gridCol w="6993467">
                  <a:extLst>
                    <a:ext uri="{9D8B030D-6E8A-4147-A177-3AD203B41FA5}">
                      <a16:colId xmlns:a16="http://schemas.microsoft.com/office/drawing/2014/main" val="3871292476"/>
                    </a:ext>
                  </a:extLst>
                </a:gridCol>
              </a:tblGrid>
              <a:tr h="635000">
                <a:tc>
                  <a:txBody>
                    <a:bodyPr/>
                    <a:lstStyle/>
                    <a:p>
                      <a:pPr algn="l" fontAlgn="t"/>
                      <a:r>
                        <a:rPr lang="en-US" sz="2400" b="1" dirty="0">
                          <a:solidFill>
                            <a:schemeClr val="tx1"/>
                          </a:solidFill>
                          <a:effectLst/>
                          <a:latin typeface="Quattrocento Sans" panose="020B0502050000020003" pitchFamily="34" charset="0"/>
                        </a:rPr>
                        <a:t>Best Practice</a:t>
                      </a:r>
                      <a:endParaRPr lang="en-US" sz="2400" dirty="0">
                        <a:solidFill>
                          <a:schemeClr val="tx1"/>
                        </a:solidFill>
                        <a:effectLst/>
                        <a:latin typeface="Quattrocento Sans" panose="020B0502050000020003" pitchFamily="34" charset="0"/>
                      </a:endParaRPr>
                    </a:p>
                  </a:txBody>
                  <a:tcPr anchor="b">
                    <a:lnR w="28575" cap="flat" cmpd="sng" algn="ctr">
                      <a:solidFill>
                        <a:schemeClr val="bg1">
                          <a:lumMod val="50000"/>
                        </a:schemeClr>
                      </a:solidFill>
                      <a:prstDash val="solid"/>
                      <a:round/>
                      <a:headEnd type="none" w="med" len="med"/>
                      <a:tailEnd type="none" w="med" len="med"/>
                    </a:lnR>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sz="2400" b="1" dirty="0">
                          <a:solidFill>
                            <a:schemeClr val="tx1"/>
                          </a:solidFill>
                          <a:effectLst/>
                          <a:latin typeface="Quattrocento Sans" panose="020B0502050000020003" pitchFamily="34" charset="0"/>
                        </a:rPr>
                        <a:t>Description</a:t>
                      </a:r>
                      <a:endParaRPr lang="en-US" sz="2400" dirty="0">
                        <a:solidFill>
                          <a:schemeClr val="tx1"/>
                        </a:solidFill>
                        <a:effectLst/>
                        <a:latin typeface="Quattrocento Sans" panose="020B0502050000020003" pitchFamily="34" charset="0"/>
                      </a:endParaRPr>
                    </a:p>
                  </a:txBody>
                  <a:tcPr anchor="b">
                    <a:lnL w="28575" cap="flat" cmpd="sng" algn="ctr">
                      <a:solidFill>
                        <a:schemeClr val="bg1">
                          <a:lumMod val="50000"/>
                        </a:schemeClr>
                      </a:solidFill>
                      <a:prstDash val="solid"/>
                      <a:round/>
                      <a:headEnd type="none" w="med" len="med"/>
                      <a:tailEnd type="none" w="med" len="med"/>
                    </a:lnL>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331340377"/>
                  </a:ext>
                </a:extLst>
              </a:tr>
              <a:tr h="635000">
                <a:tc>
                  <a:txBody>
                    <a:bodyPr/>
                    <a:lstStyle/>
                    <a:p>
                      <a:pPr algn="l" fontAlgn="t"/>
                      <a:r>
                        <a:rPr lang="en-US" b="1">
                          <a:solidFill>
                            <a:schemeClr val="tx1"/>
                          </a:solidFill>
                          <a:effectLst/>
                          <a:latin typeface="Quattrocento Sans" panose="020B0502050000020003" pitchFamily="34" charset="0"/>
                        </a:rPr>
                        <a:t>Use Versioning</a:t>
                      </a:r>
                      <a:endParaRPr lang="en-US">
                        <a:solidFill>
                          <a:schemeClr val="tx1"/>
                        </a:solidFill>
                        <a:effectLst/>
                        <a:latin typeface="Quattrocento Sans" panose="020B0502050000020003" pitchFamily="34" charset="0"/>
                      </a:endParaRP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dirty="0">
                          <a:solidFill>
                            <a:schemeClr val="tx1"/>
                          </a:solidFill>
                          <a:effectLst/>
                          <a:latin typeface="Quattrocento Sans" panose="020B0502050000020003" pitchFamily="34" charset="0"/>
                        </a:rPr>
                        <a:t>Use a </a:t>
                      </a:r>
                      <a:r>
                        <a:rPr lang="en-US" sz="1600" dirty="0">
                          <a:solidFill>
                            <a:schemeClr val="tx1"/>
                          </a:solidFill>
                          <a:effectLst/>
                          <a:highlight>
                            <a:srgbClr val="C0C0C0"/>
                          </a:highlight>
                          <a:latin typeface="Roboto Mono" pitchFamily="49" charset="0"/>
                          <a:ea typeface="Roboto Mono" pitchFamily="49" charset="0"/>
                        </a:rPr>
                        <a:t>v1</a:t>
                      </a:r>
                      <a:r>
                        <a:rPr lang="en-US" dirty="0">
                          <a:solidFill>
                            <a:schemeClr val="tx1"/>
                          </a:solidFill>
                          <a:effectLst/>
                          <a:latin typeface="Quattrocento Sans" panose="020B0502050000020003" pitchFamily="34" charset="0"/>
                        </a:rPr>
                        <a:t> tag to reference stable version 1.</a:t>
                      </a:r>
                    </a:p>
                  </a:txBody>
                  <a:tcPr anchor="b">
                    <a:lnL w="28575" cap="flat" cmpd="sng" algn="ctr">
                      <a:solidFill>
                        <a:schemeClr val="bg1">
                          <a:lumMod val="50000"/>
                        </a:schemeClr>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987365753"/>
                  </a:ext>
                </a:extLst>
              </a:tr>
              <a:tr h="635000">
                <a:tc>
                  <a:txBody>
                    <a:bodyPr/>
                    <a:lstStyle/>
                    <a:p>
                      <a:pPr algn="l" fontAlgn="t"/>
                      <a:r>
                        <a:rPr lang="en-US" b="1">
                          <a:solidFill>
                            <a:schemeClr val="tx1"/>
                          </a:solidFill>
                          <a:effectLst/>
                          <a:latin typeface="Quattrocento Sans" panose="020B0502050000020003" pitchFamily="34" charset="0"/>
                        </a:rPr>
                        <a:t>Keep Actions Modular</a:t>
                      </a:r>
                      <a:endParaRPr lang="en-US">
                        <a:solidFill>
                          <a:schemeClr val="tx1"/>
                        </a:solidFill>
                        <a:effectLst/>
                        <a:latin typeface="Quattrocento Sans" panose="020B0502050000020003" pitchFamily="34" charset="0"/>
                      </a:endParaRP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dirty="0">
                          <a:solidFill>
                            <a:schemeClr val="tx1"/>
                          </a:solidFill>
                          <a:effectLst/>
                          <a:latin typeface="Quattrocento Sans" panose="020B0502050000020003" pitchFamily="34" charset="0"/>
                        </a:rPr>
                        <a:t>Group related steps inside a composite action.</a:t>
                      </a:r>
                    </a:p>
                  </a:txBody>
                  <a:tcPr anchor="b">
                    <a:lnL w="28575" cap="flat" cmpd="sng" algn="ctr">
                      <a:solidFill>
                        <a:schemeClr val="bg1">
                          <a:lumMod val="50000"/>
                        </a:schemeClr>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86461986"/>
                  </a:ext>
                </a:extLst>
              </a:tr>
              <a:tr h="635000">
                <a:tc>
                  <a:txBody>
                    <a:bodyPr/>
                    <a:lstStyle/>
                    <a:p>
                      <a:pPr algn="l" fontAlgn="t"/>
                      <a:r>
                        <a:rPr lang="en-US" b="1">
                          <a:solidFill>
                            <a:schemeClr val="tx1"/>
                          </a:solidFill>
                          <a:effectLst/>
                          <a:latin typeface="Quattrocento Sans" panose="020B0502050000020003" pitchFamily="34" charset="0"/>
                        </a:rPr>
                        <a:t>Document Inputs &amp; Outputs</a:t>
                      </a:r>
                      <a:endParaRPr lang="en-US">
                        <a:solidFill>
                          <a:schemeClr val="tx1"/>
                        </a:solidFill>
                        <a:effectLst/>
                        <a:latin typeface="Quattrocento Sans" panose="020B0502050000020003" pitchFamily="34" charset="0"/>
                      </a:endParaRP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dirty="0">
                          <a:solidFill>
                            <a:schemeClr val="tx1"/>
                          </a:solidFill>
                          <a:effectLst/>
                          <a:latin typeface="Quattrocento Sans" panose="020B0502050000020003" pitchFamily="34" charset="0"/>
                        </a:rPr>
                        <a:t>Add descriptions for inputs/outputs in </a:t>
                      </a:r>
                      <a:r>
                        <a:rPr lang="en-US" sz="1600" dirty="0" err="1">
                          <a:solidFill>
                            <a:schemeClr val="tx1"/>
                          </a:solidFill>
                          <a:effectLst/>
                          <a:highlight>
                            <a:srgbClr val="C0C0C0"/>
                          </a:highlight>
                          <a:latin typeface="Roboto Mono" pitchFamily="49" charset="0"/>
                          <a:ea typeface="Roboto Mono" pitchFamily="49" charset="0"/>
                        </a:rPr>
                        <a:t>action.yml</a:t>
                      </a:r>
                      <a:r>
                        <a:rPr lang="en-US" dirty="0">
                          <a:solidFill>
                            <a:schemeClr val="tx1"/>
                          </a:solidFill>
                          <a:effectLst/>
                          <a:latin typeface="Quattrocento Sans" panose="020B0502050000020003" pitchFamily="34" charset="0"/>
                        </a:rPr>
                        <a:t>.</a:t>
                      </a:r>
                    </a:p>
                  </a:txBody>
                  <a:tcPr anchor="b">
                    <a:lnL w="28575" cap="flat" cmpd="sng" algn="ctr">
                      <a:solidFill>
                        <a:schemeClr val="bg1">
                          <a:lumMod val="50000"/>
                        </a:schemeClr>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19159582"/>
                  </a:ext>
                </a:extLst>
              </a:tr>
              <a:tr h="635000">
                <a:tc>
                  <a:txBody>
                    <a:bodyPr/>
                    <a:lstStyle/>
                    <a:p>
                      <a:pPr algn="l" fontAlgn="t"/>
                      <a:r>
                        <a:rPr lang="en-US" b="1">
                          <a:solidFill>
                            <a:schemeClr val="tx1"/>
                          </a:solidFill>
                          <a:effectLst/>
                          <a:latin typeface="Quattrocento Sans" panose="020B0502050000020003" pitchFamily="34" charset="0"/>
                        </a:rPr>
                        <a:t>Test Before Publishing</a:t>
                      </a:r>
                      <a:endParaRPr lang="en-US">
                        <a:solidFill>
                          <a:schemeClr val="tx1"/>
                        </a:solidFill>
                        <a:effectLst/>
                        <a:latin typeface="Quattrocento Sans" panose="020B0502050000020003" pitchFamily="34" charset="0"/>
                      </a:endParaRP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noFill/>
                  </a:tcPr>
                </a:tc>
                <a:tc>
                  <a:txBody>
                    <a:bodyPr/>
                    <a:lstStyle/>
                    <a:p>
                      <a:pPr algn="l" fontAlgn="t"/>
                      <a:r>
                        <a:rPr lang="en-US" dirty="0">
                          <a:solidFill>
                            <a:schemeClr val="tx1"/>
                          </a:solidFill>
                          <a:effectLst/>
                          <a:latin typeface="Quattrocento Sans" panose="020B0502050000020003" pitchFamily="34" charset="0"/>
                        </a:rPr>
                        <a:t>Validate the composite action in a test repository.</a:t>
                      </a:r>
                    </a:p>
                  </a:txBody>
                  <a:tcPr anchor="b">
                    <a:lnL w="28575" cap="flat" cmpd="sng" algn="ctr">
                      <a:solidFill>
                        <a:schemeClr val="bg1">
                          <a:lumMod val="50000"/>
                        </a:schemeClr>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noFill/>
                  </a:tcPr>
                </a:tc>
                <a:extLst>
                  <a:ext uri="{0D108BD9-81ED-4DB2-BD59-A6C34878D82A}">
                    <a16:rowId xmlns:a16="http://schemas.microsoft.com/office/drawing/2014/main" val="1061785231"/>
                  </a:ext>
                </a:extLst>
              </a:tr>
            </a:tbl>
          </a:graphicData>
        </a:graphic>
      </p:graphicFrame>
    </p:spTree>
    <p:extLst>
      <p:ext uri="{BB962C8B-B14F-4D97-AF65-F5344CB8AC3E}">
        <p14:creationId xmlns:p14="http://schemas.microsoft.com/office/powerpoint/2010/main" val="74133576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Composite action in a workflow</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37959" y="980814"/>
            <a:ext cx="10893642" cy="74083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rPr>
              <a:t>Composite actions are a powerful way to simplify workflows by bundling multiple steps into a reusable unit. These actions allow you to define a sequence of commands or actions in a single </a:t>
            </a:r>
            <a:r>
              <a:rPr lang="en-US" sz="1800" b="0" i="0" dirty="0" err="1">
                <a:solidFill>
                  <a:srgbClr val="161616"/>
                </a:solidFill>
                <a:effectLst/>
                <a:highlight>
                  <a:srgbClr val="C0C0C0"/>
                </a:highlight>
                <a:latin typeface="Roboto Mono" pitchFamily="49" charset="0"/>
                <a:ea typeface="Roboto Mono" pitchFamily="49" charset="0"/>
              </a:rPr>
              <a:t>action.yml</a:t>
            </a:r>
            <a:r>
              <a:rPr lang="en-US" sz="2000" b="0" i="0" dirty="0">
                <a:solidFill>
                  <a:srgbClr val="161616"/>
                </a:solidFill>
                <a:effectLst/>
                <a:latin typeface="Quattrocento Sans" panose="020B0502050000020003" pitchFamily="34" charset="0"/>
              </a:rPr>
              <a:t> file, making it easier to maintain and reuse logic across workflows.</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6" name="Title 16">
            <a:extLst>
              <a:ext uri="{FF2B5EF4-FFF2-40B4-BE49-F238E27FC236}">
                <a16:creationId xmlns:a16="http://schemas.microsoft.com/office/drawing/2014/main" id="{B3AE6A43-7F74-203D-A662-9315AD20B8C0}"/>
              </a:ext>
            </a:extLst>
          </p:cNvPr>
          <p:cNvSpPr txBox="1">
            <a:spLocks/>
          </p:cNvSpPr>
          <p:nvPr/>
        </p:nvSpPr>
        <p:spPr>
          <a:xfrm>
            <a:off x="546427" y="2213351"/>
            <a:ext cx="8193024" cy="49244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2400" b="0" i="0" kern="1200">
                <a:solidFill>
                  <a:schemeClr val="tx1"/>
                </a:solidFill>
                <a:latin typeface="+mj-lt"/>
                <a:ea typeface="+mj-ea"/>
                <a:cs typeface="Segoe UI Semibold" panose="020B0502040204020203" pitchFamily="34" charset="0"/>
              </a:defRPr>
            </a:lvl1pPr>
          </a:lstStyle>
          <a:p>
            <a:r>
              <a:rPr lang="en-US" sz="3200" dirty="0">
                <a:latin typeface="Quattrocento Sans" panose="020B0502050000020003" pitchFamily="34" charset="0"/>
              </a:rPr>
              <a:t>Benefits of composite actions:</a:t>
            </a:r>
          </a:p>
        </p:txBody>
      </p:sp>
      <p:sp>
        <p:nvSpPr>
          <p:cNvPr id="7" name="Text Placeholder 2">
            <a:extLst>
              <a:ext uri="{FF2B5EF4-FFF2-40B4-BE49-F238E27FC236}">
                <a16:creationId xmlns:a16="http://schemas.microsoft.com/office/drawing/2014/main" id="{37770C92-F5F4-6DDA-31F0-AB1D7AB9D136}"/>
              </a:ext>
            </a:extLst>
          </p:cNvPr>
          <p:cNvSpPr txBox="1">
            <a:spLocks/>
          </p:cNvSpPr>
          <p:nvPr/>
        </p:nvSpPr>
        <p:spPr>
          <a:xfrm>
            <a:off x="649179" y="2980160"/>
            <a:ext cx="10893642" cy="74083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Aft>
                <a:spcPts val="600"/>
              </a:spcAft>
            </a:pPr>
            <a:r>
              <a:rPr lang="en-US" sz="2000" b="1" i="0" dirty="0">
                <a:solidFill>
                  <a:srgbClr val="161616"/>
                </a:solidFill>
                <a:effectLst/>
                <a:latin typeface="Quattrocento Sans" panose="020B0502050000020003" pitchFamily="34" charset="0"/>
              </a:rPr>
              <a:t>Reusability</a:t>
            </a:r>
            <a:r>
              <a:rPr lang="en-US" sz="2000" b="0" i="0" dirty="0">
                <a:solidFill>
                  <a:srgbClr val="161616"/>
                </a:solidFill>
                <a:effectLst/>
                <a:latin typeface="Quattrocento Sans" panose="020B0502050000020003" pitchFamily="34" charset="0"/>
              </a:rPr>
              <a:t> - Define actions once and use them in multiple workflows.</a:t>
            </a:r>
          </a:p>
          <a:p>
            <a:pPr algn="just">
              <a:spcAft>
                <a:spcPts val="600"/>
              </a:spcAft>
            </a:pPr>
            <a:r>
              <a:rPr lang="en-US" sz="2000" b="1" i="0" dirty="0">
                <a:solidFill>
                  <a:srgbClr val="161616"/>
                </a:solidFill>
                <a:effectLst/>
                <a:latin typeface="Quattrocento Sans" panose="020B0502050000020003" pitchFamily="34" charset="0"/>
              </a:rPr>
              <a:t>Maintainability</a:t>
            </a:r>
            <a:r>
              <a:rPr lang="en-US" sz="2000" b="0" i="0" dirty="0">
                <a:solidFill>
                  <a:srgbClr val="161616"/>
                </a:solidFill>
                <a:effectLst/>
                <a:latin typeface="Quattrocento Sans" panose="020B0502050000020003" pitchFamily="34" charset="0"/>
              </a:rPr>
              <a:t> - Reduce duplication by centralizing logic in a single action.</a:t>
            </a:r>
          </a:p>
          <a:p>
            <a:pPr algn="just">
              <a:spcAft>
                <a:spcPts val="600"/>
              </a:spcAft>
            </a:pPr>
            <a:r>
              <a:rPr lang="en-US" sz="2000" b="1" i="0" dirty="0">
                <a:solidFill>
                  <a:srgbClr val="161616"/>
                </a:solidFill>
                <a:effectLst/>
                <a:latin typeface="Quattrocento Sans" panose="020B0502050000020003" pitchFamily="34" charset="0"/>
              </a:rPr>
              <a:t>Modularity</a:t>
            </a:r>
            <a:r>
              <a:rPr lang="en-US" sz="2000" b="0" i="0" dirty="0">
                <a:solidFill>
                  <a:srgbClr val="161616"/>
                </a:solidFill>
                <a:effectLst/>
                <a:latin typeface="Quattrocento Sans" panose="020B0502050000020003" pitchFamily="34" charset="0"/>
              </a:rPr>
              <a:t> - Combine multiple shell commands or other actions into a single unit.</a:t>
            </a:r>
          </a:p>
        </p:txBody>
      </p:sp>
    </p:spTree>
    <p:extLst>
      <p:ext uri="{BB962C8B-B14F-4D97-AF65-F5344CB8AC3E}">
        <p14:creationId xmlns:p14="http://schemas.microsoft.com/office/powerpoint/2010/main" val="1390489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6" y="367781"/>
            <a:ext cx="10172373" cy="492443"/>
          </a:xfrm>
        </p:spPr>
        <p:txBody>
          <a:bodyPr>
            <a:normAutofit fontScale="90000"/>
          </a:bodyPr>
          <a:lstStyle/>
          <a:p>
            <a:r>
              <a:rPr lang="en-US" sz="3200" dirty="0">
                <a:latin typeface="Quattrocento Sans" panose="020B0502050000020003" pitchFamily="34" charset="0"/>
              </a:rPr>
              <a:t>Develop an action to set up a CLI on GitHub Actions runners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49179" y="2284680"/>
            <a:ext cx="10696154" cy="74083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rPr>
              <a:t>Many CI/CD workflows require a </a:t>
            </a:r>
            <a:r>
              <a:rPr lang="en-US" sz="2000" b="1" i="0" dirty="0">
                <a:solidFill>
                  <a:srgbClr val="161616"/>
                </a:solidFill>
                <a:effectLst/>
                <a:latin typeface="Quattrocento Sans" panose="020B0502050000020003" pitchFamily="34" charset="0"/>
              </a:rPr>
              <a:t>specific version of a CLI tool </a:t>
            </a:r>
            <a:r>
              <a:rPr lang="en-US" sz="2000" b="0" i="0" dirty="0">
                <a:solidFill>
                  <a:srgbClr val="161616"/>
                </a:solidFill>
                <a:effectLst/>
                <a:latin typeface="Quattrocento Sans" panose="020B0502050000020003" pitchFamily="34" charset="0"/>
              </a:rPr>
              <a:t>to interact with cloud services, manage infrastructure, or execute scripts. While GitHub-hosted runners come preinstalled with many tools, they may not include the exact version your workflow needs, especially if it's an older or unsupported version. Instead of installing the required CLI version in every workflow, you can create a </a:t>
            </a:r>
            <a:r>
              <a:rPr lang="en-US" sz="2000" b="1" i="0" dirty="0">
                <a:solidFill>
                  <a:srgbClr val="161616"/>
                </a:solidFill>
                <a:effectLst/>
                <a:latin typeface="Quattrocento Sans" panose="020B0502050000020003" pitchFamily="34" charset="0"/>
              </a:rPr>
              <a:t>reusable GitHub Action </a:t>
            </a:r>
            <a:r>
              <a:rPr lang="en-US" sz="2000" b="0" i="0" dirty="0">
                <a:solidFill>
                  <a:srgbClr val="161616"/>
                </a:solidFill>
                <a:effectLst/>
                <a:latin typeface="Quattrocento Sans" panose="020B0502050000020003" pitchFamily="34" charset="0"/>
              </a:rPr>
              <a:t>that:</a:t>
            </a:r>
          </a:p>
          <a:p>
            <a:pPr algn="just">
              <a:spcAft>
                <a:spcPts val="600"/>
              </a:spcAft>
            </a:pPr>
            <a:endParaRPr lang="en-US" sz="2000" b="0" i="0" dirty="0">
              <a:solidFill>
                <a:srgbClr val="161616"/>
              </a:solidFill>
              <a:effectLst/>
              <a:latin typeface="Quattrocento Sans" panose="020B0502050000020003" pitchFamily="34" charset="0"/>
            </a:endParaRPr>
          </a:p>
          <a:p>
            <a:pPr algn="just">
              <a:spcAft>
                <a:spcPts val="600"/>
              </a:spcAft>
            </a:pPr>
            <a:r>
              <a:rPr lang="en-US" sz="2000" b="0" i="0" dirty="0">
                <a:solidFill>
                  <a:srgbClr val="161616"/>
                </a:solidFill>
                <a:effectLst/>
                <a:latin typeface="Quattrocento Sans" panose="020B0502050000020003" pitchFamily="34" charset="0"/>
              </a:rPr>
              <a:t>Ensures consistent installation of the required CLI version across jobs.</a:t>
            </a:r>
          </a:p>
          <a:p>
            <a:pPr algn="just">
              <a:spcAft>
                <a:spcPts val="600"/>
              </a:spcAft>
            </a:pPr>
            <a:r>
              <a:rPr lang="en-US" sz="2000" b="0" i="0" dirty="0">
                <a:solidFill>
                  <a:srgbClr val="161616"/>
                </a:solidFill>
                <a:effectLst/>
                <a:latin typeface="Quattrocento Sans" panose="020B0502050000020003" pitchFamily="34" charset="0"/>
              </a:rPr>
              <a:t>Simplifies workflows by centralizing the installation logic.</a:t>
            </a:r>
          </a:p>
          <a:p>
            <a:pPr algn="just">
              <a:spcAft>
                <a:spcPts val="600"/>
              </a:spcAft>
            </a:pPr>
            <a:r>
              <a:rPr lang="en-US" sz="2000" b="0" i="0" dirty="0">
                <a:solidFill>
                  <a:srgbClr val="161616"/>
                </a:solidFill>
                <a:effectLst/>
                <a:latin typeface="Quattrocento Sans" panose="020B0502050000020003" pitchFamily="34" charset="0"/>
              </a:rPr>
              <a:t>Optimizes caching for faster workflow execution.</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845475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6" y="367781"/>
            <a:ext cx="10172373" cy="492443"/>
          </a:xfrm>
        </p:spPr>
        <p:txBody>
          <a:bodyPr>
            <a:normAutofit fontScale="90000"/>
          </a:bodyPr>
          <a:lstStyle/>
          <a:p>
            <a:r>
              <a:rPr lang="en-US" sz="3200" dirty="0">
                <a:latin typeface="Quattrocento Sans" panose="020B0502050000020003" pitchFamily="34" charset="0"/>
              </a:rPr>
              <a:t>How to develop a CLI setup action</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56483" y="3058585"/>
            <a:ext cx="10696154" cy="74083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rPr>
              <a:t>A </a:t>
            </a:r>
            <a:r>
              <a:rPr lang="en-US" sz="2000" b="1" i="0" dirty="0">
                <a:solidFill>
                  <a:srgbClr val="161616"/>
                </a:solidFill>
                <a:effectLst/>
                <a:latin typeface="Quattrocento Sans" panose="020B0502050000020003" pitchFamily="34" charset="0"/>
              </a:rPr>
              <a:t>CLI setup action </a:t>
            </a:r>
            <a:r>
              <a:rPr lang="en-US" sz="2000" b="0" i="0" dirty="0">
                <a:solidFill>
                  <a:srgbClr val="161616"/>
                </a:solidFill>
                <a:effectLst/>
                <a:latin typeface="Quattrocento Sans" panose="020B0502050000020003" pitchFamily="34" charset="0"/>
              </a:rPr>
              <a:t>is a </a:t>
            </a:r>
            <a:r>
              <a:rPr lang="en-US" sz="2000" b="1" i="0" dirty="0">
                <a:solidFill>
                  <a:srgbClr val="161616"/>
                </a:solidFill>
                <a:effectLst/>
                <a:latin typeface="Quattrocento Sans" panose="020B0502050000020003" pitchFamily="34" charset="0"/>
              </a:rPr>
              <a:t>JavaScript-based action </a:t>
            </a:r>
            <a:r>
              <a:rPr lang="en-US" sz="2000" b="0" i="0" dirty="0">
                <a:solidFill>
                  <a:srgbClr val="161616"/>
                </a:solidFill>
                <a:effectLst/>
                <a:latin typeface="Quattrocento Sans" panose="020B0502050000020003" pitchFamily="34" charset="0"/>
              </a:rPr>
              <a:t>that installs and configures a CLI on a GitHub runner.</a:t>
            </a:r>
          </a:p>
          <a:p>
            <a:pPr marL="0" indent="0" algn="just">
              <a:buNone/>
            </a:pPr>
            <a:endParaRPr lang="en-US" sz="2000" dirty="0">
              <a:solidFill>
                <a:srgbClr val="161616"/>
              </a:solidFill>
              <a:latin typeface="Quattrocento Sans" panose="020B0502050000020003" pitchFamily="34" charset="0"/>
            </a:endParaRPr>
          </a:p>
          <a:p>
            <a:pPr marL="0" indent="0" algn="just">
              <a:buNone/>
            </a:pPr>
            <a:r>
              <a:rPr lang="en-US" sz="2000" b="0" i="0" dirty="0">
                <a:solidFill>
                  <a:srgbClr val="161616"/>
                </a:solidFill>
                <a:effectLst/>
                <a:latin typeface="Quattrocento Sans" panose="020B0502050000020003" pitchFamily="34" charset="0"/>
              </a:rPr>
              <a:t>In this process, you will create a CLI setup action in four concise steps. You’ll organize the action directory, define its metadata, implement the installation script, and validate the action in a workflow.</a:t>
            </a:r>
          </a:p>
          <a:p>
            <a:pPr marL="0" indent="0" algn="just">
              <a:buNone/>
            </a:pPr>
            <a:endParaRPr lang="en-US" sz="2000" b="0" i="0" dirty="0">
              <a:solidFill>
                <a:srgbClr val="161616"/>
              </a:solidFill>
              <a:effectLst/>
              <a:latin typeface="Quattrocento Sans" panose="020B0502050000020003" pitchFamily="34" charset="0"/>
            </a:endParaRPr>
          </a:p>
          <a:p>
            <a:pPr marL="0" indent="0" algn="just">
              <a:buNone/>
            </a:pPr>
            <a:r>
              <a:rPr lang="en-US" sz="2000" b="1" i="0" dirty="0">
                <a:solidFill>
                  <a:srgbClr val="161616"/>
                </a:solidFill>
                <a:effectLst/>
                <a:latin typeface="Quattrocento Sans" panose="020B0502050000020003" pitchFamily="34" charset="0"/>
              </a:rPr>
              <a:t>Steps</a:t>
            </a:r>
          </a:p>
          <a:p>
            <a:pPr marL="457200" indent="-457200" algn="just">
              <a:buFont typeface="+mj-lt"/>
              <a:buAutoNum type="arabicPeriod"/>
            </a:pPr>
            <a:r>
              <a:rPr lang="en-US" sz="2000" b="0" i="0" dirty="0">
                <a:solidFill>
                  <a:srgbClr val="161616"/>
                </a:solidFill>
                <a:effectLst/>
                <a:latin typeface="Quattrocento Sans" panose="020B0502050000020003" pitchFamily="34" charset="0"/>
              </a:rPr>
              <a:t>Set Up the Action Directory: Create </a:t>
            </a:r>
            <a:r>
              <a:rPr lang="en-US" sz="1800" b="0" i="0" dirty="0">
                <a:solidFill>
                  <a:srgbClr val="161616"/>
                </a:solidFill>
                <a:effectLst/>
                <a:highlight>
                  <a:srgbClr val="C0C0C0"/>
                </a:highlight>
                <a:latin typeface="Roboto Mono" pitchFamily="49" charset="0"/>
                <a:ea typeface="Roboto Mono" pitchFamily="49" charset="0"/>
              </a:rPr>
              <a:t>.</a:t>
            </a:r>
            <a:r>
              <a:rPr lang="en-US" sz="1800" b="0" i="0" dirty="0" err="1">
                <a:solidFill>
                  <a:srgbClr val="161616"/>
                </a:solidFill>
                <a:effectLst/>
                <a:highlight>
                  <a:srgbClr val="C0C0C0"/>
                </a:highlight>
                <a:latin typeface="Roboto Mono" pitchFamily="49" charset="0"/>
                <a:ea typeface="Roboto Mono" pitchFamily="49" charset="0"/>
              </a:rPr>
              <a:t>github</a:t>
            </a:r>
            <a:r>
              <a:rPr lang="en-US" sz="1800" b="0" i="0" dirty="0">
                <a:solidFill>
                  <a:srgbClr val="161616"/>
                </a:solidFill>
                <a:effectLst/>
                <a:highlight>
                  <a:srgbClr val="C0C0C0"/>
                </a:highlight>
                <a:latin typeface="Roboto Mono" pitchFamily="49" charset="0"/>
                <a:ea typeface="Roboto Mono" pitchFamily="49" charset="0"/>
              </a:rPr>
              <a:t>/actions/my-cli-action</a:t>
            </a:r>
            <a:r>
              <a:rPr lang="en-US" sz="2000" b="0" i="0" dirty="0">
                <a:solidFill>
                  <a:srgbClr val="161616"/>
                </a:solidFill>
                <a:effectLst/>
                <a:latin typeface="Quattrocento Sans" panose="020B0502050000020003" pitchFamily="34" charset="0"/>
              </a:rPr>
              <a:t> in your repo.</a:t>
            </a:r>
          </a:p>
          <a:p>
            <a:pPr marL="457200" indent="-457200" algn="just">
              <a:buFont typeface="+mj-lt"/>
              <a:buAutoNum type="arabicPeriod"/>
            </a:pPr>
            <a:r>
              <a:rPr lang="en-US" sz="2000" b="0" i="0" dirty="0">
                <a:solidFill>
                  <a:srgbClr val="161616"/>
                </a:solidFill>
                <a:effectLst/>
                <a:latin typeface="Quattrocento Sans" panose="020B0502050000020003" pitchFamily="34" charset="0"/>
              </a:rPr>
              <a:t>Define </a:t>
            </a:r>
            <a:r>
              <a:rPr lang="en-US" sz="1800" b="0" i="0" dirty="0" err="1">
                <a:solidFill>
                  <a:srgbClr val="161616"/>
                </a:solidFill>
                <a:effectLst/>
                <a:highlight>
                  <a:srgbClr val="C0C0C0"/>
                </a:highlight>
                <a:latin typeface="Roboto Mono" pitchFamily="49" charset="0"/>
                <a:ea typeface="Roboto Mono" pitchFamily="49" charset="0"/>
              </a:rPr>
              <a:t>action.yml</a:t>
            </a:r>
            <a:r>
              <a:rPr lang="en-US" sz="2000" b="0" i="0" dirty="0">
                <a:solidFill>
                  <a:srgbClr val="161616"/>
                </a:solidFill>
                <a:effectLst/>
                <a:latin typeface="Quattrocento Sans" panose="020B0502050000020003" pitchFamily="34" charset="0"/>
              </a:rPr>
              <a:t> Metadata: Specify name, description, inputs, and runtime (e.g., </a:t>
            </a:r>
            <a:r>
              <a:rPr lang="en-US" sz="1800" b="0" i="0" dirty="0">
                <a:solidFill>
                  <a:srgbClr val="161616"/>
                </a:solidFill>
                <a:effectLst/>
                <a:highlight>
                  <a:srgbClr val="C0C0C0"/>
                </a:highlight>
                <a:latin typeface="Roboto Mono" pitchFamily="49" charset="0"/>
                <a:ea typeface="Roboto Mono" pitchFamily="49" charset="0"/>
              </a:rPr>
              <a:t>node16</a:t>
            </a:r>
            <a:r>
              <a:rPr lang="en-US" sz="2000" b="0" i="0" dirty="0">
                <a:solidFill>
                  <a:srgbClr val="161616"/>
                </a:solidFill>
                <a:effectLst/>
                <a:latin typeface="Quattrocento Sans" panose="020B0502050000020003" pitchFamily="34" charset="0"/>
              </a:rPr>
              <a:t>).</a:t>
            </a:r>
          </a:p>
          <a:p>
            <a:pPr marL="457200" indent="-457200" algn="just">
              <a:buFont typeface="+mj-lt"/>
              <a:buAutoNum type="arabicPeriod"/>
            </a:pPr>
            <a:r>
              <a:rPr lang="en-US" sz="2000" b="0" i="0" dirty="0">
                <a:solidFill>
                  <a:srgbClr val="161616"/>
                </a:solidFill>
                <a:effectLst/>
                <a:latin typeface="Quattrocento Sans" panose="020B0502050000020003" pitchFamily="34" charset="0"/>
              </a:rPr>
              <a:t>Implement the Install Script: Write </a:t>
            </a:r>
            <a:r>
              <a:rPr lang="en-US" sz="1800" b="0" i="0" dirty="0" err="1">
                <a:solidFill>
                  <a:srgbClr val="161616"/>
                </a:solidFill>
                <a:effectLst/>
                <a:highlight>
                  <a:srgbClr val="C0C0C0"/>
                </a:highlight>
                <a:latin typeface="Roboto Mono" pitchFamily="49" charset="0"/>
                <a:ea typeface="Roboto Mono" pitchFamily="49" charset="0"/>
              </a:rPr>
              <a:t>index.js</a:t>
            </a:r>
            <a:r>
              <a:rPr lang="en-US" sz="2000" b="0" i="0" dirty="0">
                <a:solidFill>
                  <a:srgbClr val="161616"/>
                </a:solidFill>
                <a:effectLst/>
                <a:latin typeface="Quattrocento Sans" panose="020B0502050000020003" pitchFamily="34" charset="0"/>
              </a:rPr>
              <a:t> to fetch and install the CLI using </a:t>
            </a:r>
            <a:r>
              <a:rPr lang="en-US" sz="2000" b="0" i="0" dirty="0" err="1">
                <a:solidFill>
                  <a:srgbClr val="161616"/>
                </a:solidFill>
                <a:effectLst/>
                <a:latin typeface="Quattrocento Sans" panose="020B0502050000020003" pitchFamily="34" charset="0"/>
              </a:rPr>
              <a:t>Octokit</a:t>
            </a:r>
            <a:r>
              <a:rPr lang="en-US" sz="2000" b="0" i="0" dirty="0">
                <a:solidFill>
                  <a:srgbClr val="161616"/>
                </a:solidFill>
                <a:effectLst/>
                <a:latin typeface="Quattrocento Sans" panose="020B0502050000020003" pitchFamily="34" charset="0"/>
              </a:rPr>
              <a:t> or shell commands.</a:t>
            </a:r>
          </a:p>
          <a:p>
            <a:pPr marL="457200" indent="-457200" algn="just">
              <a:buFont typeface="+mj-lt"/>
              <a:buAutoNum type="arabicPeriod"/>
            </a:pPr>
            <a:r>
              <a:rPr lang="en-US" sz="2000" b="0" i="0" dirty="0">
                <a:solidFill>
                  <a:srgbClr val="161616"/>
                </a:solidFill>
                <a:effectLst/>
                <a:latin typeface="Quattrocento Sans" panose="020B0502050000020003" pitchFamily="34" charset="0"/>
              </a:rPr>
              <a:t>Test the Action Locally: Add a workflow under </a:t>
            </a:r>
            <a:r>
              <a:rPr lang="en-US" sz="1800" b="0" i="0" dirty="0">
                <a:solidFill>
                  <a:srgbClr val="161616"/>
                </a:solidFill>
                <a:effectLst/>
                <a:highlight>
                  <a:srgbClr val="C0C0C0"/>
                </a:highlight>
                <a:latin typeface="Roboto Mono" pitchFamily="49" charset="0"/>
                <a:ea typeface="Roboto Mono" pitchFamily="49" charset="0"/>
              </a:rPr>
              <a:t>.</a:t>
            </a:r>
            <a:r>
              <a:rPr lang="en-US" sz="1800" b="0" i="0" dirty="0" err="1">
                <a:solidFill>
                  <a:srgbClr val="161616"/>
                </a:solidFill>
                <a:effectLst/>
                <a:highlight>
                  <a:srgbClr val="C0C0C0"/>
                </a:highlight>
                <a:latin typeface="Roboto Mono" pitchFamily="49" charset="0"/>
                <a:ea typeface="Roboto Mono" pitchFamily="49" charset="0"/>
              </a:rPr>
              <a:t>github</a:t>
            </a:r>
            <a:r>
              <a:rPr lang="en-US" sz="1800" b="0" i="0" dirty="0">
                <a:solidFill>
                  <a:srgbClr val="161616"/>
                </a:solidFill>
                <a:effectLst/>
                <a:highlight>
                  <a:srgbClr val="C0C0C0"/>
                </a:highlight>
                <a:latin typeface="Roboto Mono" pitchFamily="49" charset="0"/>
                <a:ea typeface="Roboto Mono" pitchFamily="49" charset="0"/>
              </a:rPr>
              <a:t>/workflows/</a:t>
            </a:r>
            <a:r>
              <a:rPr lang="en-US" sz="1800" b="0" i="0" dirty="0">
                <a:solidFill>
                  <a:srgbClr val="161616"/>
                </a:solidFill>
                <a:effectLst/>
                <a:latin typeface="Roboto Mono" pitchFamily="49" charset="0"/>
                <a:ea typeface="Roboto Mono" pitchFamily="49" charset="0"/>
              </a:rPr>
              <a:t> </a:t>
            </a:r>
            <a:r>
              <a:rPr lang="en-US" sz="2000" b="0" i="0" dirty="0">
                <a:solidFill>
                  <a:srgbClr val="161616"/>
                </a:solidFill>
                <a:effectLst/>
                <a:latin typeface="Quattrocento Sans" panose="020B0502050000020003" pitchFamily="34" charset="0"/>
              </a:rPr>
              <a:t>that uses your action and verifies the CLI installation.`</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1463180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15" name="Oval 14">
            <a:extLst>
              <a:ext uri="{FF2B5EF4-FFF2-40B4-BE49-F238E27FC236}">
                <a16:creationId xmlns:a16="http://schemas.microsoft.com/office/drawing/2014/main" id="{662757C2-CED1-BD7A-3FFD-B9A8F71550E1}"/>
              </a:ext>
            </a:extLst>
          </p:cNvPr>
          <p:cNvSpPr/>
          <p:nvPr/>
        </p:nvSpPr>
        <p:spPr>
          <a:xfrm>
            <a:off x="8337858" y="1411011"/>
            <a:ext cx="1199048" cy="109716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6A5F841-A6E5-4E5C-A513-8845909A773D}"/>
              </a:ext>
            </a:extLst>
          </p:cNvPr>
          <p:cNvSpPr/>
          <p:nvPr/>
        </p:nvSpPr>
        <p:spPr>
          <a:xfrm>
            <a:off x="6387951" y="2077156"/>
            <a:ext cx="5035550" cy="23642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2AF94BC8-1A97-4649-7CFD-C2B6CBA50EE9}"/>
              </a:ext>
            </a:extLst>
          </p:cNvPr>
          <p:cNvSpPr/>
          <p:nvPr/>
        </p:nvSpPr>
        <p:spPr>
          <a:xfrm>
            <a:off x="2512770" y="1409452"/>
            <a:ext cx="1199048" cy="109716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E195A23-47BE-8EC0-C7A4-BBFDBDFC445F}"/>
              </a:ext>
            </a:extLst>
          </p:cNvPr>
          <p:cNvSpPr/>
          <p:nvPr/>
        </p:nvSpPr>
        <p:spPr>
          <a:xfrm>
            <a:off x="765110" y="2077156"/>
            <a:ext cx="5035550" cy="434392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Step 1: Set Up the Action Directory</a:t>
            </a: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9438" y="983784"/>
            <a:ext cx="1073550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i="0" dirty="0">
                <a:effectLst/>
                <a:latin typeface="Quattrocento Sans" panose="020B0502050000020003" pitchFamily="34" charset="0"/>
              </a:rPr>
              <a:t>To manually create the directory for your CLI setup action, follow these steps:</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6" name="Text Placeholder 2">
            <a:extLst>
              <a:ext uri="{FF2B5EF4-FFF2-40B4-BE49-F238E27FC236}">
                <a16:creationId xmlns:a16="http://schemas.microsoft.com/office/drawing/2014/main" id="{056CB93E-D89B-37E8-643F-0A5C0D46B7A3}"/>
              </a:ext>
            </a:extLst>
          </p:cNvPr>
          <p:cNvSpPr txBox="1">
            <a:spLocks/>
          </p:cNvSpPr>
          <p:nvPr/>
        </p:nvSpPr>
        <p:spPr>
          <a:xfrm>
            <a:off x="1087640" y="2249815"/>
            <a:ext cx="3366979"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1" i="0" dirty="0">
                <a:effectLst/>
                <a:latin typeface="Quattrocento Sans" panose="020B0502050000020003" pitchFamily="34" charset="0"/>
              </a:rPr>
              <a:t>Navigate to your repository</a:t>
            </a:r>
          </a:p>
        </p:txBody>
      </p:sp>
      <p:pic>
        <p:nvPicPr>
          <p:cNvPr id="12290" name="Picture 2" descr="Screenshot of the root repository structure showing for a JavaScript action.">
            <a:extLst>
              <a:ext uri="{FF2B5EF4-FFF2-40B4-BE49-F238E27FC236}">
                <a16:creationId xmlns:a16="http://schemas.microsoft.com/office/drawing/2014/main" id="{29A5EA1D-B535-E295-A7F7-A178A18650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110" y="2756915"/>
            <a:ext cx="5035550" cy="3238500"/>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2">
            <a:extLst>
              <a:ext uri="{FF2B5EF4-FFF2-40B4-BE49-F238E27FC236}">
                <a16:creationId xmlns:a16="http://schemas.microsoft.com/office/drawing/2014/main" id="{3FA1A896-7CA7-0AEB-3D0F-FF0C5CF23D26}"/>
              </a:ext>
            </a:extLst>
          </p:cNvPr>
          <p:cNvSpPr txBox="1">
            <a:spLocks/>
          </p:cNvSpPr>
          <p:nvPr/>
        </p:nvSpPr>
        <p:spPr>
          <a:xfrm>
            <a:off x="6565297" y="2249815"/>
            <a:ext cx="4680857"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1" i="0" dirty="0">
                <a:effectLst/>
                <a:latin typeface="Quattrocento Sans" panose="020B0502050000020003" pitchFamily="34" charset="0"/>
              </a:rPr>
              <a:t>Create a new directory for the action</a:t>
            </a:r>
          </a:p>
        </p:txBody>
      </p:sp>
      <p:sp>
        <p:nvSpPr>
          <p:cNvPr id="10" name="Text Placeholder 2">
            <a:extLst>
              <a:ext uri="{FF2B5EF4-FFF2-40B4-BE49-F238E27FC236}">
                <a16:creationId xmlns:a16="http://schemas.microsoft.com/office/drawing/2014/main" id="{67FFFECE-3017-A1AB-E9EE-1E3EA4382082}"/>
              </a:ext>
            </a:extLst>
          </p:cNvPr>
          <p:cNvSpPr txBox="1">
            <a:spLocks/>
          </p:cNvSpPr>
          <p:nvPr/>
        </p:nvSpPr>
        <p:spPr>
          <a:xfrm>
            <a:off x="6565297" y="3182779"/>
            <a:ext cx="4680857"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i="0" dirty="0">
                <a:effectLst/>
                <a:latin typeface="Quattrocento Sans" panose="020B0502050000020003" pitchFamily="34" charset="0"/>
              </a:rPr>
              <a:t>Create a new directory named </a:t>
            </a:r>
            <a:r>
              <a:rPr lang="en-US" i="0" dirty="0">
                <a:effectLst/>
                <a:highlight>
                  <a:srgbClr val="C0C0C0"/>
                </a:highlight>
                <a:latin typeface="Roboto Mono" pitchFamily="49" charset="0"/>
                <a:ea typeface="Roboto Mono" pitchFamily="49" charset="0"/>
              </a:rPr>
              <a:t>my-cli-action</a:t>
            </a:r>
            <a:r>
              <a:rPr lang="en-US" sz="1800" i="0" dirty="0">
                <a:effectLst/>
                <a:latin typeface="Quattrocento Sans" panose="020B0502050000020003" pitchFamily="34" charset="0"/>
              </a:rPr>
              <a:t> inside the </a:t>
            </a:r>
            <a:r>
              <a:rPr lang="en-US" i="0" dirty="0">
                <a:effectLst/>
                <a:highlight>
                  <a:srgbClr val="C0C0C0"/>
                </a:highlight>
                <a:latin typeface="Roboto Mono" pitchFamily="49" charset="0"/>
                <a:ea typeface="Roboto Mono" pitchFamily="49" charset="0"/>
              </a:rPr>
              <a:t>.</a:t>
            </a:r>
            <a:r>
              <a:rPr lang="en-US" i="0" dirty="0" err="1">
                <a:effectLst/>
                <a:highlight>
                  <a:srgbClr val="C0C0C0"/>
                </a:highlight>
                <a:latin typeface="Roboto Mono" pitchFamily="49" charset="0"/>
                <a:ea typeface="Roboto Mono" pitchFamily="49" charset="0"/>
              </a:rPr>
              <a:t>github</a:t>
            </a:r>
            <a:r>
              <a:rPr lang="en-US" i="0" dirty="0">
                <a:effectLst/>
                <a:highlight>
                  <a:srgbClr val="C0C0C0"/>
                </a:highlight>
                <a:latin typeface="Roboto Mono" pitchFamily="49" charset="0"/>
                <a:ea typeface="Roboto Mono" pitchFamily="49" charset="0"/>
              </a:rPr>
              <a:t>/actions</a:t>
            </a:r>
            <a:r>
              <a:rPr lang="en-US" sz="1800" i="0" dirty="0">
                <a:effectLst/>
                <a:latin typeface="Quattrocento Sans" panose="020B0502050000020003" pitchFamily="34" charset="0"/>
              </a:rPr>
              <a:t> folder. This ensures your action is organized and follows GitHub's recommended structure for custom actions.</a:t>
            </a:r>
          </a:p>
        </p:txBody>
      </p:sp>
      <p:pic>
        <p:nvPicPr>
          <p:cNvPr id="13" name="Graphic 12" descr="Badge 1 with solid fill">
            <a:extLst>
              <a:ext uri="{FF2B5EF4-FFF2-40B4-BE49-F238E27FC236}">
                <a16:creationId xmlns:a16="http://schemas.microsoft.com/office/drawing/2014/main" id="{811B5438-AF6F-7E1B-11BE-0D4AFC870A9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55094" y="1451546"/>
            <a:ext cx="914400" cy="914400"/>
          </a:xfrm>
          <a:prstGeom prst="rect">
            <a:avLst/>
          </a:prstGeom>
        </p:spPr>
      </p:pic>
      <p:pic>
        <p:nvPicPr>
          <p:cNvPr id="16" name="Graphic 15" descr="Badge with solid fill">
            <a:extLst>
              <a:ext uri="{FF2B5EF4-FFF2-40B4-BE49-F238E27FC236}">
                <a16:creationId xmlns:a16="http://schemas.microsoft.com/office/drawing/2014/main" id="{804351CD-0C4F-874E-70C3-CEDE3F2FD0BE}"/>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8480182" y="1453105"/>
            <a:ext cx="914400" cy="914400"/>
          </a:xfrm>
          <a:prstGeom prst="rect">
            <a:avLst/>
          </a:prstGeom>
        </p:spPr>
      </p:pic>
    </p:spTree>
    <p:extLst>
      <p:ext uri="{BB962C8B-B14F-4D97-AF65-F5344CB8AC3E}">
        <p14:creationId xmlns:p14="http://schemas.microsoft.com/office/powerpoint/2010/main" val="266485443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19" name="Oval 18">
            <a:extLst>
              <a:ext uri="{FF2B5EF4-FFF2-40B4-BE49-F238E27FC236}">
                <a16:creationId xmlns:a16="http://schemas.microsoft.com/office/drawing/2014/main" id="{DD0E0B73-BFAD-3917-FB9E-E44DE6CD68E7}"/>
              </a:ext>
            </a:extLst>
          </p:cNvPr>
          <p:cNvSpPr/>
          <p:nvPr/>
        </p:nvSpPr>
        <p:spPr>
          <a:xfrm>
            <a:off x="8160517" y="1435421"/>
            <a:ext cx="1199048" cy="109716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23156919-9278-B6DD-B484-E94CC521CC77}"/>
              </a:ext>
            </a:extLst>
          </p:cNvPr>
          <p:cNvSpPr/>
          <p:nvPr/>
        </p:nvSpPr>
        <p:spPr>
          <a:xfrm>
            <a:off x="6451076" y="2077156"/>
            <a:ext cx="4472738" cy="325193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797C755-0021-D7A4-7EFE-AA308236F61D}"/>
              </a:ext>
            </a:extLst>
          </p:cNvPr>
          <p:cNvSpPr/>
          <p:nvPr/>
        </p:nvSpPr>
        <p:spPr>
          <a:xfrm>
            <a:off x="2390319" y="1407475"/>
            <a:ext cx="1199048" cy="109716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3665BA2-9E41-A694-B8C7-10BF0F505F9B}"/>
              </a:ext>
            </a:extLst>
          </p:cNvPr>
          <p:cNvSpPr/>
          <p:nvPr/>
        </p:nvSpPr>
        <p:spPr>
          <a:xfrm>
            <a:off x="916737" y="2077156"/>
            <a:ext cx="4146215" cy="234301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2"/>
            <a:ext cx="6187002" cy="398781"/>
          </a:xfrm>
        </p:spPr>
        <p:txBody>
          <a:bodyPr>
            <a:normAutofit fontScale="90000"/>
          </a:bodyPr>
          <a:lstStyle/>
          <a:p>
            <a:r>
              <a:rPr lang="en-US" sz="3200" dirty="0">
                <a:latin typeface="Quattrocento Sans" panose="020B0502050000020003" pitchFamily="34" charset="0"/>
              </a:rPr>
              <a:t>Step 1: Set Up the Action Directory</a:t>
            </a: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9438" y="990553"/>
            <a:ext cx="1073550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i="0" dirty="0">
                <a:effectLst/>
                <a:latin typeface="Quattrocento Sans" panose="020B0502050000020003" pitchFamily="34" charset="0"/>
              </a:rPr>
              <a:t>To manually create the directory for your CLI setup action, follow these steps:</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6" name="Text Placeholder 2">
            <a:extLst>
              <a:ext uri="{FF2B5EF4-FFF2-40B4-BE49-F238E27FC236}">
                <a16:creationId xmlns:a16="http://schemas.microsoft.com/office/drawing/2014/main" id="{056CB93E-D89B-37E8-643F-0A5C0D46B7A3}"/>
              </a:ext>
            </a:extLst>
          </p:cNvPr>
          <p:cNvSpPr txBox="1">
            <a:spLocks/>
          </p:cNvSpPr>
          <p:nvPr/>
        </p:nvSpPr>
        <p:spPr>
          <a:xfrm>
            <a:off x="1133786" y="2258422"/>
            <a:ext cx="4146215"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1" i="0" dirty="0">
                <a:effectLst/>
                <a:latin typeface="Quattrocento Sans" panose="020B0502050000020003" pitchFamily="34" charset="0"/>
              </a:rPr>
              <a:t>Navigate to the new directory</a:t>
            </a:r>
          </a:p>
        </p:txBody>
      </p:sp>
      <p:sp>
        <p:nvSpPr>
          <p:cNvPr id="9" name="Text Placeholder 2">
            <a:extLst>
              <a:ext uri="{FF2B5EF4-FFF2-40B4-BE49-F238E27FC236}">
                <a16:creationId xmlns:a16="http://schemas.microsoft.com/office/drawing/2014/main" id="{3FA1A896-7CA7-0AEB-3D0F-FF0C5CF23D26}"/>
              </a:ext>
            </a:extLst>
          </p:cNvPr>
          <p:cNvSpPr txBox="1">
            <a:spLocks/>
          </p:cNvSpPr>
          <p:nvPr/>
        </p:nvSpPr>
        <p:spPr>
          <a:xfrm>
            <a:off x="6668125" y="2258836"/>
            <a:ext cx="4680857"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1" i="0" dirty="0">
                <a:effectLst/>
                <a:latin typeface="Quattrocento Sans" panose="020B0502050000020003" pitchFamily="34" charset="0"/>
              </a:rPr>
              <a:t>Verify the directory structure</a:t>
            </a:r>
          </a:p>
        </p:txBody>
      </p:sp>
      <p:sp>
        <p:nvSpPr>
          <p:cNvPr id="10" name="Text Placeholder 2">
            <a:extLst>
              <a:ext uri="{FF2B5EF4-FFF2-40B4-BE49-F238E27FC236}">
                <a16:creationId xmlns:a16="http://schemas.microsoft.com/office/drawing/2014/main" id="{67FFFECE-3017-A1AB-E9EE-1E3EA4382082}"/>
              </a:ext>
            </a:extLst>
          </p:cNvPr>
          <p:cNvSpPr txBox="1">
            <a:spLocks/>
          </p:cNvSpPr>
          <p:nvPr/>
        </p:nvSpPr>
        <p:spPr>
          <a:xfrm>
            <a:off x="1143540" y="2953416"/>
            <a:ext cx="3692607"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i="0" dirty="0">
                <a:effectLst/>
                <a:latin typeface="Quattrocento Sans" panose="020B0502050000020003" pitchFamily="34" charset="0"/>
              </a:rPr>
              <a:t>Change into the newly created directory to start adding files for your action:</a:t>
            </a:r>
          </a:p>
        </p:txBody>
      </p:sp>
      <p:sp>
        <p:nvSpPr>
          <p:cNvPr id="5" name="Text Placeholder 2">
            <a:extLst>
              <a:ext uri="{FF2B5EF4-FFF2-40B4-BE49-F238E27FC236}">
                <a16:creationId xmlns:a16="http://schemas.microsoft.com/office/drawing/2014/main" id="{5C1C7BF5-E137-A46D-4BE4-45E5B6EEEB41}"/>
              </a:ext>
            </a:extLst>
          </p:cNvPr>
          <p:cNvSpPr txBox="1">
            <a:spLocks/>
          </p:cNvSpPr>
          <p:nvPr/>
        </p:nvSpPr>
        <p:spPr>
          <a:xfrm>
            <a:off x="6668124" y="2792468"/>
            <a:ext cx="3996768"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i="0" dirty="0">
                <a:effectLst/>
                <a:latin typeface="Quattrocento Sans" panose="020B0502050000020003" pitchFamily="34" charset="0"/>
              </a:rPr>
              <a:t>After creating the directory, your repository structure should look like this:</a:t>
            </a:r>
          </a:p>
        </p:txBody>
      </p:sp>
      <p:sp>
        <p:nvSpPr>
          <p:cNvPr id="8" name="Rectangle 7">
            <a:extLst>
              <a:ext uri="{FF2B5EF4-FFF2-40B4-BE49-F238E27FC236}">
                <a16:creationId xmlns:a16="http://schemas.microsoft.com/office/drawing/2014/main" id="{B8C46A65-F23B-CF77-2CCF-1277DF47190B}"/>
              </a:ext>
            </a:extLst>
          </p:cNvPr>
          <p:cNvSpPr/>
          <p:nvPr/>
        </p:nvSpPr>
        <p:spPr>
          <a:xfrm>
            <a:off x="6590124" y="3533991"/>
            <a:ext cx="4074768" cy="1017519"/>
          </a:xfrm>
          <a:prstGeom prst="rect">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2">
                    <a:lumMod val="25000"/>
                    <a:lumOff val="75000"/>
                  </a:schemeClr>
                </a:solidFill>
                <a:latin typeface="Roboto Mono" pitchFamily="49" charset="0"/>
                <a:ea typeface="Roboto Mono" pitchFamily="49" charset="0"/>
                <a:cs typeface="Segoe UI"/>
              </a:rPr>
              <a:t>your-repository/</a:t>
            </a:r>
          </a:p>
          <a:p>
            <a:r>
              <a:rPr lang="en-US" sz="1400" dirty="0">
                <a:solidFill>
                  <a:schemeClr val="tx2">
                    <a:lumMod val="25000"/>
                    <a:lumOff val="75000"/>
                  </a:schemeClr>
                </a:solidFill>
                <a:latin typeface="Roboto Mono" pitchFamily="49" charset="0"/>
                <a:ea typeface="Roboto Mono" pitchFamily="49" charset="0"/>
                <a:cs typeface="Segoe UI"/>
              </a:rPr>
              <a:t>├── .</a:t>
            </a:r>
            <a:r>
              <a:rPr lang="en-US" sz="1400" dirty="0" err="1">
                <a:solidFill>
                  <a:schemeClr val="tx2">
                    <a:lumMod val="25000"/>
                    <a:lumOff val="75000"/>
                  </a:schemeClr>
                </a:solidFill>
                <a:latin typeface="Roboto Mono" pitchFamily="49" charset="0"/>
                <a:ea typeface="Roboto Mono" pitchFamily="49" charset="0"/>
                <a:cs typeface="Segoe UI"/>
              </a:rPr>
              <a:t>github</a:t>
            </a:r>
            <a:r>
              <a:rPr lang="en-US" sz="1400" dirty="0">
                <a:solidFill>
                  <a:schemeClr val="tx2">
                    <a:lumMod val="25000"/>
                    <a:lumOff val="75000"/>
                  </a:schemeClr>
                </a:solidFill>
                <a:latin typeface="Roboto Mono" pitchFamily="49" charset="0"/>
                <a:ea typeface="Roboto Mono" pitchFamily="49" charset="0"/>
                <a:cs typeface="Segoe UI"/>
              </a:rPr>
              <a:t>/</a:t>
            </a:r>
          </a:p>
          <a:p>
            <a:r>
              <a:rPr lang="en-US" sz="1400" dirty="0">
                <a:solidFill>
                  <a:schemeClr val="tx2">
                    <a:lumMod val="25000"/>
                    <a:lumOff val="75000"/>
                  </a:schemeClr>
                </a:solidFill>
                <a:latin typeface="Roboto Mono" pitchFamily="49" charset="0"/>
                <a:ea typeface="Roboto Mono" pitchFamily="49" charset="0"/>
                <a:cs typeface="Segoe UI"/>
              </a:rPr>
              <a:t>│   ├── actions/</a:t>
            </a:r>
          </a:p>
          <a:p>
            <a:r>
              <a:rPr lang="en-US" sz="1400" dirty="0">
                <a:solidFill>
                  <a:schemeClr val="tx2">
                    <a:lumMod val="25000"/>
                    <a:lumOff val="75000"/>
                  </a:schemeClr>
                </a:solidFill>
                <a:latin typeface="Roboto Mono" pitchFamily="49" charset="0"/>
                <a:ea typeface="Roboto Mono" pitchFamily="49" charset="0"/>
                <a:cs typeface="Segoe UI"/>
              </a:rPr>
              <a:t>│   │   ├── my-cli-action/</a:t>
            </a:r>
            <a:endParaRPr lang="en-US" sz="1600" dirty="0">
              <a:solidFill>
                <a:srgbClr val="FC595F"/>
              </a:solidFill>
            </a:endParaRPr>
          </a:p>
        </p:txBody>
      </p:sp>
      <p:pic>
        <p:nvPicPr>
          <p:cNvPr id="12" name="Picture 11" descr="A blue text on a white background&#10;&#10;Description automatically generated">
            <a:extLst>
              <a:ext uri="{FF2B5EF4-FFF2-40B4-BE49-F238E27FC236}">
                <a16:creationId xmlns:a16="http://schemas.microsoft.com/office/drawing/2014/main" id="{41EB23A1-E62F-995C-25FE-3D21C8EDC3FA}"/>
              </a:ext>
            </a:extLst>
          </p:cNvPr>
          <p:cNvPicPr>
            <a:picLocks noChangeAspect="1"/>
          </p:cNvPicPr>
          <p:nvPr/>
        </p:nvPicPr>
        <p:blipFill>
          <a:blip r:embed="rId3"/>
          <a:stretch>
            <a:fillRect/>
          </a:stretch>
        </p:blipFill>
        <p:spPr>
          <a:xfrm>
            <a:off x="6406243" y="4666395"/>
            <a:ext cx="4517571" cy="600822"/>
          </a:xfrm>
          <a:prstGeom prst="rect">
            <a:avLst/>
          </a:prstGeom>
        </p:spPr>
      </p:pic>
      <p:sp>
        <p:nvSpPr>
          <p:cNvPr id="13" name="Text Placeholder 2">
            <a:extLst>
              <a:ext uri="{FF2B5EF4-FFF2-40B4-BE49-F238E27FC236}">
                <a16:creationId xmlns:a16="http://schemas.microsoft.com/office/drawing/2014/main" id="{21F114AE-CD73-274A-E999-D951C5877696}"/>
              </a:ext>
            </a:extLst>
          </p:cNvPr>
          <p:cNvSpPr txBox="1">
            <a:spLocks/>
          </p:cNvSpPr>
          <p:nvPr/>
        </p:nvSpPr>
        <p:spPr>
          <a:xfrm>
            <a:off x="584535" y="5469769"/>
            <a:ext cx="1073550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1" i="0" dirty="0">
                <a:effectLst/>
                <a:latin typeface="Quattrocento Sans" panose="020B0502050000020003" pitchFamily="34" charset="0"/>
              </a:rPr>
              <a:t>Next: </a:t>
            </a:r>
            <a:r>
              <a:rPr lang="en-US" sz="2000" i="0" dirty="0">
                <a:effectLst/>
                <a:latin typeface="Quattrocento Sans" panose="020B0502050000020003" pitchFamily="34" charset="0"/>
              </a:rPr>
              <a:t>You are now ready to proceed with creating the </a:t>
            </a:r>
            <a:r>
              <a:rPr lang="en-US" sz="1800" i="0" dirty="0" err="1">
                <a:effectLst/>
                <a:highlight>
                  <a:srgbClr val="C0C0C0"/>
                </a:highlight>
                <a:latin typeface="Roboto Mono" pitchFamily="49" charset="0"/>
                <a:ea typeface="Roboto Mono" pitchFamily="49" charset="0"/>
              </a:rPr>
              <a:t>action.yml</a:t>
            </a:r>
            <a:r>
              <a:rPr lang="en-US" sz="2000" i="0" dirty="0">
                <a:effectLst/>
                <a:latin typeface="Quattrocento Sans" panose="020B0502050000020003" pitchFamily="34" charset="0"/>
              </a:rPr>
              <a:t> file and other necessary files for your CLI setup action. </a:t>
            </a:r>
          </a:p>
        </p:txBody>
      </p:sp>
      <p:cxnSp>
        <p:nvCxnSpPr>
          <p:cNvPr id="15" name="Straight Connector 14">
            <a:extLst>
              <a:ext uri="{FF2B5EF4-FFF2-40B4-BE49-F238E27FC236}">
                <a16:creationId xmlns:a16="http://schemas.microsoft.com/office/drawing/2014/main" id="{FD3A2281-3F4A-D205-4641-D21EF9F7156E}"/>
              </a:ext>
            </a:extLst>
          </p:cNvPr>
          <p:cNvCxnSpPr/>
          <p:nvPr/>
        </p:nvCxnSpPr>
        <p:spPr>
          <a:xfrm>
            <a:off x="481121" y="5469769"/>
            <a:ext cx="0" cy="492442"/>
          </a:xfrm>
          <a:prstGeom prst="line">
            <a:avLst/>
          </a:prstGeom>
          <a:ln w="38100">
            <a:solidFill>
              <a:srgbClr val="AE6AD0"/>
            </a:solidFill>
          </a:ln>
        </p:spPr>
        <p:style>
          <a:lnRef idx="2">
            <a:schemeClr val="accent1"/>
          </a:lnRef>
          <a:fillRef idx="0">
            <a:schemeClr val="accent1"/>
          </a:fillRef>
          <a:effectRef idx="1">
            <a:schemeClr val="accent1"/>
          </a:effectRef>
          <a:fontRef idx="minor">
            <a:schemeClr val="tx1"/>
          </a:fontRef>
        </p:style>
      </p:cxnSp>
      <p:pic>
        <p:nvPicPr>
          <p:cNvPr id="18" name="Graphic 17" descr="Badge 3 with solid fill">
            <a:extLst>
              <a:ext uri="{FF2B5EF4-FFF2-40B4-BE49-F238E27FC236}">
                <a16:creationId xmlns:a16="http://schemas.microsoft.com/office/drawing/2014/main" id="{2B381E5B-9507-A8FF-6223-12D24824BC2E}"/>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532643" y="1449569"/>
            <a:ext cx="914400" cy="914400"/>
          </a:xfrm>
          <a:prstGeom prst="rect">
            <a:avLst/>
          </a:prstGeom>
        </p:spPr>
      </p:pic>
      <p:pic>
        <p:nvPicPr>
          <p:cNvPr id="20" name="Graphic 19" descr="Badge 4 with solid fill">
            <a:extLst>
              <a:ext uri="{FF2B5EF4-FFF2-40B4-BE49-F238E27FC236}">
                <a16:creationId xmlns:a16="http://schemas.microsoft.com/office/drawing/2014/main" id="{4444E3C9-FE54-BAF1-8C58-EB3C0A1157AF}"/>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8302841" y="1477515"/>
            <a:ext cx="914400" cy="914400"/>
          </a:xfrm>
          <a:prstGeom prst="rect">
            <a:avLst/>
          </a:prstGeom>
        </p:spPr>
      </p:pic>
    </p:spTree>
    <p:extLst>
      <p:ext uri="{BB962C8B-B14F-4D97-AF65-F5344CB8AC3E}">
        <p14:creationId xmlns:p14="http://schemas.microsoft.com/office/powerpoint/2010/main" val="390520724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Step 2: Define the </a:t>
            </a:r>
            <a:r>
              <a:rPr lang="en-US" sz="3200" dirty="0" err="1">
                <a:latin typeface="Quattrocento Sans" panose="020B0502050000020003" pitchFamily="34" charset="0"/>
              </a:rPr>
              <a:t>action.yml</a:t>
            </a:r>
            <a:r>
              <a:rPr lang="en-US" sz="3200" dirty="0">
                <a:latin typeface="Quattrocento Sans" panose="020B0502050000020003" pitchFamily="34" charset="0"/>
              </a:rPr>
              <a:t> metadata file</a:t>
            </a: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5499" y="1171976"/>
            <a:ext cx="1073550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i="0" dirty="0">
                <a:effectLst/>
                <a:latin typeface="Quattrocento Sans" panose="020B0502050000020003" pitchFamily="34" charset="0"/>
              </a:rPr>
              <a:t>Create an </a:t>
            </a:r>
            <a:r>
              <a:rPr lang="en-US" sz="2000" i="0" dirty="0" err="1">
                <a:effectLst/>
                <a:latin typeface="Quattrocento Sans" panose="020B0502050000020003" pitchFamily="34" charset="0"/>
              </a:rPr>
              <a:t>action.yml</a:t>
            </a:r>
            <a:r>
              <a:rPr lang="en-US" sz="2000" i="0" dirty="0">
                <a:effectLst/>
                <a:latin typeface="Quattrocento Sans" panose="020B0502050000020003" pitchFamily="34" charset="0"/>
              </a:rPr>
              <a:t> file to describe the action.</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5" name="Rectangle 4">
            <a:extLst>
              <a:ext uri="{FF2B5EF4-FFF2-40B4-BE49-F238E27FC236}">
                <a16:creationId xmlns:a16="http://schemas.microsoft.com/office/drawing/2014/main" id="{79578093-62B3-571A-10D0-90ED77EC9662}"/>
              </a:ext>
            </a:extLst>
          </p:cNvPr>
          <p:cNvSpPr/>
          <p:nvPr/>
        </p:nvSpPr>
        <p:spPr>
          <a:xfrm>
            <a:off x="575498" y="2346167"/>
            <a:ext cx="5140945" cy="3025933"/>
          </a:xfrm>
          <a:prstGeom prst="rect">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2">
                    <a:lumMod val="25000"/>
                    <a:lumOff val="75000"/>
                  </a:schemeClr>
                </a:solidFill>
                <a:latin typeface="Roboto Mono" pitchFamily="49" charset="0"/>
                <a:ea typeface="Roboto Mono" pitchFamily="49" charset="0"/>
                <a:cs typeface="Segoe UI"/>
              </a:rPr>
              <a:t>name: </a:t>
            </a:r>
            <a:r>
              <a:rPr lang="en-US" sz="1400" dirty="0">
                <a:solidFill>
                  <a:srgbClr val="FC595F"/>
                </a:solidFill>
                <a:latin typeface="Roboto Mono" pitchFamily="49" charset="0"/>
                <a:ea typeface="Roboto Mono" pitchFamily="49" charset="0"/>
                <a:cs typeface="Segoe UI"/>
              </a:rPr>
              <a:t>"Setup </a:t>
            </a:r>
            <a:r>
              <a:rPr lang="en-US" sz="1400" dirty="0" err="1">
                <a:solidFill>
                  <a:srgbClr val="FC595F"/>
                </a:solidFill>
                <a:latin typeface="Roboto Mono" pitchFamily="49" charset="0"/>
                <a:ea typeface="Roboto Mono" pitchFamily="49" charset="0"/>
                <a:cs typeface="Segoe UI"/>
              </a:rPr>
              <a:t>MyCLI</a:t>
            </a:r>
            <a:r>
              <a:rPr lang="en-US" sz="1400" dirty="0">
                <a:solidFill>
                  <a:srgbClr val="FC595F"/>
                </a:solidFill>
                <a:latin typeface="Roboto Mono" pitchFamily="49" charset="0"/>
                <a:ea typeface="Roboto Mono" pitchFamily="49" charset="0"/>
                <a:cs typeface="Segoe UI"/>
              </a:rPr>
              <a:t>"</a:t>
            </a:r>
          </a:p>
          <a:p>
            <a:r>
              <a:rPr lang="en-US" sz="1400" dirty="0">
                <a:solidFill>
                  <a:schemeClr val="tx2">
                    <a:lumMod val="25000"/>
                    <a:lumOff val="75000"/>
                  </a:schemeClr>
                </a:solidFill>
                <a:latin typeface="Roboto Mono" pitchFamily="49" charset="0"/>
                <a:ea typeface="Roboto Mono" pitchFamily="49" charset="0"/>
                <a:cs typeface="Segoe UI"/>
              </a:rPr>
              <a:t>description: </a:t>
            </a:r>
            <a:r>
              <a:rPr lang="en-US" sz="1400" dirty="0">
                <a:solidFill>
                  <a:srgbClr val="FC595F"/>
                </a:solidFill>
                <a:latin typeface="Roboto Mono" pitchFamily="49" charset="0"/>
                <a:ea typeface="Roboto Mono" pitchFamily="49" charset="0"/>
                <a:cs typeface="Segoe UI"/>
              </a:rPr>
              <a:t>"Installs </a:t>
            </a:r>
            <a:r>
              <a:rPr lang="en-US" sz="1400" dirty="0" err="1">
                <a:solidFill>
                  <a:srgbClr val="FC595F"/>
                </a:solidFill>
                <a:latin typeface="Roboto Mono" pitchFamily="49" charset="0"/>
                <a:ea typeface="Roboto Mono" pitchFamily="49" charset="0"/>
                <a:cs typeface="Segoe UI"/>
              </a:rPr>
              <a:t>MyCLI</a:t>
            </a:r>
            <a:r>
              <a:rPr lang="en-US" sz="1400" dirty="0">
                <a:solidFill>
                  <a:srgbClr val="FC595F"/>
                </a:solidFill>
                <a:latin typeface="Roboto Mono" pitchFamily="49" charset="0"/>
                <a:ea typeface="Roboto Mono" pitchFamily="49" charset="0"/>
                <a:cs typeface="Segoe UI"/>
              </a:rPr>
              <a:t> and adds it to the PATH"</a:t>
            </a:r>
          </a:p>
          <a:p>
            <a:r>
              <a:rPr lang="en-US" sz="1400" dirty="0">
                <a:solidFill>
                  <a:schemeClr val="tx2">
                    <a:lumMod val="25000"/>
                    <a:lumOff val="75000"/>
                  </a:schemeClr>
                </a:solidFill>
                <a:latin typeface="Roboto Mono" pitchFamily="49" charset="0"/>
                <a:ea typeface="Roboto Mono" pitchFamily="49" charset="0"/>
                <a:cs typeface="Segoe UI"/>
              </a:rPr>
              <a:t>author: </a:t>
            </a:r>
            <a:r>
              <a:rPr lang="en-US" sz="1400" dirty="0">
                <a:solidFill>
                  <a:srgbClr val="FC595F"/>
                </a:solidFill>
                <a:latin typeface="Roboto Mono" pitchFamily="49" charset="0"/>
                <a:ea typeface="Roboto Mono" pitchFamily="49" charset="0"/>
                <a:cs typeface="Segoe UI"/>
              </a:rPr>
              <a:t>"Your Name"</a:t>
            </a:r>
          </a:p>
          <a:p>
            <a:endParaRPr lang="en-US" sz="1400" dirty="0">
              <a:solidFill>
                <a:schemeClr val="tx2">
                  <a:lumMod val="25000"/>
                  <a:lumOff val="75000"/>
                </a:schemeClr>
              </a:solidFill>
              <a:latin typeface="Roboto Mono" pitchFamily="49" charset="0"/>
              <a:ea typeface="Roboto Mono" pitchFamily="49" charset="0"/>
              <a:cs typeface="Segoe UI"/>
            </a:endParaRPr>
          </a:p>
          <a:p>
            <a:r>
              <a:rPr lang="en-US" sz="1400" dirty="0">
                <a:solidFill>
                  <a:schemeClr val="tx2">
                    <a:lumMod val="25000"/>
                    <a:lumOff val="75000"/>
                  </a:schemeClr>
                </a:solidFill>
                <a:latin typeface="Roboto Mono" pitchFamily="49" charset="0"/>
                <a:ea typeface="Roboto Mono" pitchFamily="49" charset="0"/>
                <a:cs typeface="Segoe UI"/>
              </a:rPr>
              <a:t>inputs:</a:t>
            </a:r>
          </a:p>
          <a:p>
            <a:r>
              <a:rPr lang="en-US" sz="1400" dirty="0">
                <a:solidFill>
                  <a:schemeClr val="tx2">
                    <a:lumMod val="25000"/>
                    <a:lumOff val="75000"/>
                  </a:schemeClr>
                </a:solidFill>
                <a:latin typeface="Roboto Mono" pitchFamily="49" charset="0"/>
                <a:ea typeface="Roboto Mono" pitchFamily="49" charset="0"/>
                <a:cs typeface="Segoe UI"/>
              </a:rPr>
              <a:t>  version:</a:t>
            </a:r>
          </a:p>
          <a:p>
            <a:r>
              <a:rPr lang="en-US" sz="1400" dirty="0">
                <a:solidFill>
                  <a:schemeClr val="tx2">
                    <a:lumMod val="25000"/>
                    <a:lumOff val="75000"/>
                  </a:schemeClr>
                </a:solidFill>
                <a:latin typeface="Roboto Mono" pitchFamily="49" charset="0"/>
                <a:ea typeface="Roboto Mono" pitchFamily="49" charset="0"/>
                <a:cs typeface="Segoe UI"/>
              </a:rPr>
              <a:t>    description: </a:t>
            </a:r>
            <a:r>
              <a:rPr lang="en-US" sz="1400" dirty="0">
                <a:solidFill>
                  <a:srgbClr val="FC595F"/>
                </a:solidFill>
                <a:latin typeface="Roboto Mono" pitchFamily="49" charset="0"/>
                <a:ea typeface="Roboto Mono" pitchFamily="49" charset="0"/>
                <a:cs typeface="Segoe UI"/>
              </a:rPr>
              <a:t>"The CLI version to install"</a:t>
            </a:r>
          </a:p>
          <a:p>
            <a:r>
              <a:rPr lang="en-US" sz="1400" dirty="0">
                <a:solidFill>
                  <a:schemeClr val="tx2">
                    <a:lumMod val="25000"/>
                    <a:lumOff val="75000"/>
                  </a:schemeClr>
                </a:solidFill>
                <a:latin typeface="Roboto Mono" pitchFamily="49" charset="0"/>
                <a:ea typeface="Roboto Mono" pitchFamily="49" charset="0"/>
                <a:cs typeface="Segoe UI"/>
              </a:rPr>
              <a:t>    required: false</a:t>
            </a:r>
          </a:p>
          <a:p>
            <a:r>
              <a:rPr lang="en-US" sz="1400" dirty="0">
                <a:solidFill>
                  <a:schemeClr val="tx2">
                    <a:lumMod val="25000"/>
                    <a:lumOff val="75000"/>
                  </a:schemeClr>
                </a:solidFill>
                <a:latin typeface="Roboto Mono" pitchFamily="49" charset="0"/>
                <a:ea typeface="Roboto Mono" pitchFamily="49" charset="0"/>
                <a:cs typeface="Segoe UI"/>
              </a:rPr>
              <a:t>    default: </a:t>
            </a:r>
            <a:r>
              <a:rPr lang="en-US" sz="1400" dirty="0">
                <a:solidFill>
                  <a:srgbClr val="FC595F"/>
                </a:solidFill>
                <a:latin typeface="Roboto Mono" pitchFamily="49" charset="0"/>
                <a:ea typeface="Roboto Mono" pitchFamily="49" charset="0"/>
                <a:cs typeface="Segoe UI"/>
              </a:rPr>
              <a:t>"latest"</a:t>
            </a:r>
          </a:p>
          <a:p>
            <a:endParaRPr lang="en-US" sz="1400" dirty="0">
              <a:solidFill>
                <a:schemeClr val="tx2">
                  <a:lumMod val="25000"/>
                  <a:lumOff val="75000"/>
                </a:schemeClr>
              </a:solidFill>
              <a:latin typeface="Roboto Mono" pitchFamily="49" charset="0"/>
              <a:ea typeface="Roboto Mono" pitchFamily="49" charset="0"/>
              <a:cs typeface="Segoe UI"/>
            </a:endParaRPr>
          </a:p>
          <a:p>
            <a:r>
              <a:rPr lang="en-US" sz="1400" dirty="0">
                <a:solidFill>
                  <a:schemeClr val="tx2">
                    <a:lumMod val="25000"/>
                    <a:lumOff val="75000"/>
                  </a:schemeClr>
                </a:solidFill>
                <a:latin typeface="Roboto Mono" pitchFamily="49" charset="0"/>
                <a:ea typeface="Roboto Mono" pitchFamily="49" charset="0"/>
                <a:cs typeface="Segoe UI"/>
              </a:rPr>
              <a:t>runs:</a:t>
            </a:r>
          </a:p>
          <a:p>
            <a:r>
              <a:rPr lang="en-US" sz="1400" dirty="0">
                <a:solidFill>
                  <a:schemeClr val="tx2">
                    <a:lumMod val="25000"/>
                    <a:lumOff val="75000"/>
                  </a:schemeClr>
                </a:solidFill>
                <a:latin typeface="Roboto Mono" pitchFamily="49" charset="0"/>
                <a:ea typeface="Roboto Mono" pitchFamily="49" charset="0"/>
                <a:cs typeface="Segoe UI"/>
              </a:rPr>
              <a:t>  using: </a:t>
            </a:r>
            <a:r>
              <a:rPr lang="en-US" sz="1400" dirty="0">
                <a:solidFill>
                  <a:srgbClr val="FC595F"/>
                </a:solidFill>
                <a:latin typeface="Roboto Mono" pitchFamily="49" charset="0"/>
                <a:ea typeface="Roboto Mono" pitchFamily="49" charset="0"/>
                <a:cs typeface="Segoe UI"/>
              </a:rPr>
              <a:t>"node16"</a:t>
            </a:r>
          </a:p>
          <a:p>
            <a:r>
              <a:rPr lang="en-US" sz="1400" dirty="0">
                <a:solidFill>
                  <a:schemeClr val="tx2">
                    <a:lumMod val="25000"/>
                    <a:lumOff val="75000"/>
                  </a:schemeClr>
                </a:solidFill>
                <a:latin typeface="Roboto Mono" pitchFamily="49" charset="0"/>
                <a:ea typeface="Roboto Mono" pitchFamily="49" charset="0"/>
                <a:cs typeface="Segoe UI"/>
              </a:rPr>
              <a:t>  main: </a:t>
            </a:r>
            <a:r>
              <a:rPr lang="en-US" sz="1400" dirty="0">
                <a:solidFill>
                  <a:srgbClr val="FC595F"/>
                </a:solidFill>
                <a:latin typeface="Roboto Mono" pitchFamily="49" charset="0"/>
                <a:ea typeface="Roboto Mono" pitchFamily="49" charset="0"/>
                <a:cs typeface="Segoe UI"/>
              </a:rPr>
              <a:t>"</a:t>
            </a:r>
            <a:r>
              <a:rPr lang="en-US" sz="1400" dirty="0" err="1">
                <a:solidFill>
                  <a:srgbClr val="FC595F"/>
                </a:solidFill>
                <a:latin typeface="Roboto Mono" pitchFamily="49" charset="0"/>
                <a:ea typeface="Roboto Mono" pitchFamily="49" charset="0"/>
                <a:cs typeface="Segoe UI"/>
              </a:rPr>
              <a:t>index.js</a:t>
            </a:r>
            <a:r>
              <a:rPr lang="en-US" sz="1400" dirty="0">
                <a:solidFill>
                  <a:srgbClr val="FC595F"/>
                </a:solidFill>
                <a:latin typeface="Roboto Mono" pitchFamily="49" charset="0"/>
                <a:ea typeface="Roboto Mono" pitchFamily="49" charset="0"/>
                <a:cs typeface="Segoe UI"/>
              </a:rPr>
              <a:t>"</a:t>
            </a:r>
            <a:endParaRPr lang="en-US" sz="1600" dirty="0">
              <a:solidFill>
                <a:srgbClr val="FC595F"/>
              </a:solidFill>
            </a:endParaRPr>
          </a:p>
        </p:txBody>
      </p:sp>
      <p:sp>
        <p:nvSpPr>
          <p:cNvPr id="7" name="Text Placeholder 2">
            <a:extLst>
              <a:ext uri="{FF2B5EF4-FFF2-40B4-BE49-F238E27FC236}">
                <a16:creationId xmlns:a16="http://schemas.microsoft.com/office/drawing/2014/main" id="{249F66C5-1800-6CC8-CF2C-46BD23695C30}"/>
              </a:ext>
            </a:extLst>
          </p:cNvPr>
          <p:cNvSpPr txBox="1">
            <a:spLocks/>
          </p:cNvSpPr>
          <p:nvPr/>
        </p:nvSpPr>
        <p:spPr>
          <a:xfrm>
            <a:off x="575498" y="5558822"/>
            <a:ext cx="5140945"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i="0" dirty="0">
                <a:effectLst/>
                <a:latin typeface="Quattrocento Sans" panose="020B0502050000020003" pitchFamily="34" charset="0"/>
              </a:rPr>
              <a:t>Why </a:t>
            </a:r>
            <a:r>
              <a:rPr lang="en-US" sz="1800" i="1" dirty="0">
                <a:effectLst/>
                <a:latin typeface="Quattrocento Sans" panose="020B0502050000020003" pitchFamily="34" charset="0"/>
              </a:rPr>
              <a:t>use using: node16</a:t>
            </a:r>
            <a:r>
              <a:rPr lang="en-US" sz="1800" i="0" dirty="0">
                <a:effectLst/>
                <a:latin typeface="Quattrocento Sans" panose="020B0502050000020003" pitchFamily="34" charset="0"/>
              </a:rPr>
              <a:t>? This action runs JavaScript code using Node.js 16.</a:t>
            </a:r>
          </a:p>
        </p:txBody>
      </p:sp>
      <p:pic>
        <p:nvPicPr>
          <p:cNvPr id="11" name="Picture 10" descr="A screenshot of a computer program&#10;&#10;Description automatically generated">
            <a:extLst>
              <a:ext uri="{FF2B5EF4-FFF2-40B4-BE49-F238E27FC236}">
                <a16:creationId xmlns:a16="http://schemas.microsoft.com/office/drawing/2014/main" id="{2E2C4FF2-7903-15D6-B2DD-85E6454DE331}"/>
              </a:ext>
            </a:extLst>
          </p:cNvPr>
          <p:cNvPicPr>
            <a:picLocks noChangeAspect="1"/>
          </p:cNvPicPr>
          <p:nvPr/>
        </p:nvPicPr>
        <p:blipFill>
          <a:blip r:embed="rId3"/>
          <a:stretch>
            <a:fillRect/>
          </a:stretch>
        </p:blipFill>
        <p:spPr>
          <a:xfrm>
            <a:off x="6736382" y="2312919"/>
            <a:ext cx="4574621" cy="4140821"/>
          </a:xfrm>
          <a:prstGeom prst="rect">
            <a:avLst/>
          </a:prstGeom>
        </p:spPr>
      </p:pic>
    </p:spTree>
    <p:extLst>
      <p:ext uri="{BB962C8B-B14F-4D97-AF65-F5344CB8AC3E}">
        <p14:creationId xmlns:p14="http://schemas.microsoft.com/office/powerpoint/2010/main" val="428707958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Step 3: Create a JavaScript script to install the CLI</a:t>
            </a: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5499" y="1171976"/>
            <a:ext cx="1073550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i="0" dirty="0">
                <a:effectLst/>
                <a:latin typeface="Quattrocento Sans" panose="020B0502050000020003" pitchFamily="34" charset="0"/>
              </a:rPr>
              <a:t>In the same directory, create a file named </a:t>
            </a:r>
            <a:r>
              <a:rPr lang="en-US" sz="2000" i="0" dirty="0" err="1">
                <a:effectLst/>
                <a:latin typeface="Quattrocento Sans" panose="020B0502050000020003" pitchFamily="34" charset="0"/>
              </a:rPr>
              <a:t>index.js</a:t>
            </a:r>
            <a:r>
              <a:rPr lang="en-US" sz="2000" i="0" dirty="0">
                <a:effectLst/>
                <a:latin typeface="Quattrocento Sans" panose="020B0502050000020003" pitchFamily="34" charset="0"/>
              </a:rPr>
              <a:t> and add the following code:</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7" name="Text Placeholder 2">
            <a:extLst>
              <a:ext uri="{FF2B5EF4-FFF2-40B4-BE49-F238E27FC236}">
                <a16:creationId xmlns:a16="http://schemas.microsoft.com/office/drawing/2014/main" id="{249F66C5-1800-6CC8-CF2C-46BD23695C30}"/>
              </a:ext>
            </a:extLst>
          </p:cNvPr>
          <p:cNvSpPr txBox="1">
            <a:spLocks/>
          </p:cNvSpPr>
          <p:nvPr/>
        </p:nvSpPr>
        <p:spPr>
          <a:xfrm>
            <a:off x="7629440" y="3167874"/>
            <a:ext cx="3987061"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i="0" dirty="0">
                <a:effectLst/>
                <a:latin typeface="Quattrocento Sans" panose="020B0502050000020003" pitchFamily="34" charset="0"/>
              </a:rPr>
              <a:t>The JavaScript code uses </a:t>
            </a:r>
            <a:r>
              <a:rPr lang="en-US" sz="1800" i="0" dirty="0" err="1">
                <a:effectLst/>
                <a:latin typeface="Quattrocento Sans" panose="020B0502050000020003" pitchFamily="34" charset="0"/>
              </a:rPr>
              <a:t>core.getInput</a:t>
            </a:r>
            <a:r>
              <a:rPr lang="en-US" sz="1800" i="0" dirty="0">
                <a:effectLst/>
                <a:latin typeface="Quattrocento Sans" panose="020B0502050000020003" pitchFamily="34" charset="0"/>
              </a:rPr>
              <a:t>() to retrieve the CLI version specified as input. It then executes a curl command to download and install the CLI. If the installation process fails, the action uses </a:t>
            </a:r>
            <a:r>
              <a:rPr lang="en-US" sz="1800" i="0" dirty="0" err="1">
                <a:effectLst/>
                <a:latin typeface="Quattrocento Sans" panose="020B0502050000020003" pitchFamily="34" charset="0"/>
              </a:rPr>
              <a:t>core.setFailed</a:t>
            </a:r>
            <a:r>
              <a:rPr lang="en-US" sz="1800" i="0" dirty="0">
                <a:effectLst/>
                <a:latin typeface="Quattrocento Sans" panose="020B0502050000020003" pitchFamily="34" charset="0"/>
              </a:rPr>
              <a:t>() to mark the workflow as failed.</a:t>
            </a:r>
          </a:p>
        </p:txBody>
      </p:sp>
      <p:pic>
        <p:nvPicPr>
          <p:cNvPr id="8" name="Picture 7" descr="A screenshot of a computer program&#10;&#10;Description automatically generated">
            <a:extLst>
              <a:ext uri="{FF2B5EF4-FFF2-40B4-BE49-F238E27FC236}">
                <a16:creationId xmlns:a16="http://schemas.microsoft.com/office/drawing/2014/main" id="{E8CF733D-28F5-1805-D096-ED013E121D13}"/>
              </a:ext>
            </a:extLst>
          </p:cNvPr>
          <p:cNvPicPr>
            <a:picLocks noChangeAspect="1"/>
          </p:cNvPicPr>
          <p:nvPr/>
        </p:nvPicPr>
        <p:blipFill>
          <a:blip r:embed="rId3"/>
          <a:stretch>
            <a:fillRect/>
          </a:stretch>
        </p:blipFill>
        <p:spPr>
          <a:xfrm>
            <a:off x="481121" y="2080141"/>
            <a:ext cx="6968982" cy="357607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56289254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Step 3: Create a JavaScript script to install the CLI</a:t>
            </a: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5499" y="1171976"/>
            <a:ext cx="1073550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i="0" dirty="0">
                <a:effectLst/>
                <a:latin typeface="Quattrocento Sans" panose="020B0502050000020003" pitchFamily="34" charset="0"/>
              </a:rPr>
              <a:t>Example:</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pic>
        <p:nvPicPr>
          <p:cNvPr id="6" name="Picture 5" descr="A screenshot of a computer program&#10;&#10;Description automatically generated">
            <a:extLst>
              <a:ext uri="{FF2B5EF4-FFF2-40B4-BE49-F238E27FC236}">
                <a16:creationId xmlns:a16="http://schemas.microsoft.com/office/drawing/2014/main" id="{1FF302F7-CAF1-6BAC-A806-3B3E8CCC8661}"/>
              </a:ext>
            </a:extLst>
          </p:cNvPr>
          <p:cNvPicPr>
            <a:picLocks noChangeAspect="1"/>
          </p:cNvPicPr>
          <p:nvPr/>
        </p:nvPicPr>
        <p:blipFill>
          <a:blip r:embed="rId3"/>
          <a:stretch>
            <a:fillRect/>
          </a:stretch>
        </p:blipFill>
        <p:spPr>
          <a:xfrm>
            <a:off x="481121" y="2253343"/>
            <a:ext cx="5348179" cy="4022184"/>
          </a:xfrm>
          <a:prstGeom prst="rect">
            <a:avLst/>
          </a:prstGeom>
        </p:spPr>
      </p:pic>
    </p:spTree>
    <p:extLst>
      <p:ext uri="{BB962C8B-B14F-4D97-AF65-F5344CB8AC3E}">
        <p14:creationId xmlns:p14="http://schemas.microsoft.com/office/powerpoint/2010/main" val="131206158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Step 4: Test the action locally</a:t>
            </a: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5499" y="1171976"/>
            <a:ext cx="1073550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i="0" dirty="0">
                <a:effectLst/>
                <a:latin typeface="Quattrocento Sans" panose="020B0502050000020003" pitchFamily="34" charset="0"/>
              </a:rPr>
              <a:t>Before using the action in a workflow, test it on a GitHub-hosted runner.</a:t>
            </a:r>
          </a:p>
          <a:p>
            <a:pPr marL="0" indent="0" algn="just">
              <a:buNone/>
            </a:pPr>
            <a:r>
              <a:rPr lang="en-US" sz="2000" i="0" dirty="0">
                <a:effectLst/>
                <a:latin typeface="Quattrocento Sans" panose="020B0502050000020003" pitchFamily="34" charset="0"/>
              </a:rPr>
              <a:t>Create a workflow file (.</a:t>
            </a:r>
            <a:r>
              <a:rPr lang="en-US" sz="2000" i="0" dirty="0" err="1">
                <a:effectLst/>
                <a:latin typeface="Quattrocento Sans" panose="020B0502050000020003" pitchFamily="34" charset="0"/>
              </a:rPr>
              <a:t>github</a:t>
            </a:r>
            <a:r>
              <a:rPr lang="en-US" sz="2000" i="0" dirty="0">
                <a:effectLst/>
                <a:latin typeface="Quattrocento Sans" panose="020B0502050000020003" pitchFamily="34" charset="0"/>
              </a:rPr>
              <a:t>/workflows/</a:t>
            </a:r>
            <a:r>
              <a:rPr lang="en-US" sz="2000" i="0" dirty="0" err="1">
                <a:effectLst/>
                <a:latin typeface="Quattrocento Sans" panose="020B0502050000020003" pitchFamily="34" charset="0"/>
              </a:rPr>
              <a:t>test.yml</a:t>
            </a:r>
            <a:r>
              <a:rPr lang="en-US" sz="2000" i="0" dirty="0">
                <a:effectLst/>
                <a:latin typeface="Quattrocento Sans" panose="020B0502050000020003" pitchFamily="34" charset="0"/>
              </a:rPr>
              <a:t>) in your repository:</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5" name="Rectangle 4">
            <a:extLst>
              <a:ext uri="{FF2B5EF4-FFF2-40B4-BE49-F238E27FC236}">
                <a16:creationId xmlns:a16="http://schemas.microsoft.com/office/drawing/2014/main" id="{79578093-62B3-571A-10D0-90ED77EC9662}"/>
              </a:ext>
            </a:extLst>
          </p:cNvPr>
          <p:cNvSpPr/>
          <p:nvPr/>
        </p:nvSpPr>
        <p:spPr>
          <a:xfrm>
            <a:off x="575498" y="2346167"/>
            <a:ext cx="5140945" cy="1833947"/>
          </a:xfrm>
          <a:prstGeom prst="rect">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2">
                    <a:lumMod val="25000"/>
                    <a:lumOff val="75000"/>
                  </a:schemeClr>
                </a:solidFill>
                <a:latin typeface="Roboto Mono" pitchFamily="49" charset="0"/>
                <a:ea typeface="Roboto Mono" pitchFamily="49" charset="0"/>
                <a:cs typeface="Segoe UI"/>
              </a:rPr>
              <a:t>name: </a:t>
            </a:r>
            <a:r>
              <a:rPr lang="en-US" sz="1400" dirty="0">
                <a:solidFill>
                  <a:srgbClr val="FC595F"/>
                </a:solidFill>
                <a:latin typeface="Roboto Mono" pitchFamily="49" charset="0"/>
                <a:ea typeface="Roboto Mono" pitchFamily="49" charset="0"/>
                <a:cs typeface="Segoe UI"/>
              </a:rPr>
              <a:t>Test </a:t>
            </a:r>
            <a:r>
              <a:rPr lang="en-US" sz="1400" dirty="0" err="1">
                <a:solidFill>
                  <a:srgbClr val="FC595F"/>
                </a:solidFill>
                <a:latin typeface="Roboto Mono" pitchFamily="49" charset="0"/>
                <a:ea typeface="Roboto Mono" pitchFamily="49" charset="0"/>
                <a:cs typeface="Segoe UI"/>
              </a:rPr>
              <a:t>MyCLI</a:t>
            </a:r>
            <a:r>
              <a:rPr lang="en-US" sz="1400" dirty="0">
                <a:solidFill>
                  <a:srgbClr val="FC595F"/>
                </a:solidFill>
                <a:latin typeface="Roboto Mono" pitchFamily="49" charset="0"/>
                <a:ea typeface="Roboto Mono" pitchFamily="49" charset="0"/>
                <a:cs typeface="Segoe UI"/>
              </a:rPr>
              <a:t> Setup</a:t>
            </a:r>
          </a:p>
          <a:p>
            <a:endParaRPr lang="en-US" sz="1400" dirty="0">
              <a:solidFill>
                <a:schemeClr val="tx2">
                  <a:lumMod val="25000"/>
                  <a:lumOff val="75000"/>
                </a:schemeClr>
              </a:solidFill>
              <a:latin typeface="Roboto Mono" pitchFamily="49" charset="0"/>
              <a:ea typeface="Roboto Mono" pitchFamily="49" charset="0"/>
              <a:cs typeface="Segoe UI"/>
            </a:endParaRPr>
          </a:p>
          <a:p>
            <a:r>
              <a:rPr lang="en-US" sz="1400" dirty="0">
                <a:solidFill>
                  <a:schemeClr val="tx2">
                    <a:lumMod val="25000"/>
                    <a:lumOff val="75000"/>
                  </a:schemeClr>
                </a:solidFill>
                <a:latin typeface="Roboto Mono" pitchFamily="49" charset="0"/>
                <a:ea typeface="Roboto Mono" pitchFamily="49" charset="0"/>
                <a:cs typeface="Segoe UI"/>
              </a:rPr>
              <a:t>on:</a:t>
            </a:r>
          </a:p>
          <a:p>
            <a:r>
              <a:rPr lang="en-US" sz="1400" dirty="0">
                <a:solidFill>
                  <a:schemeClr val="tx2">
                    <a:lumMod val="25000"/>
                    <a:lumOff val="75000"/>
                  </a:schemeClr>
                </a:solidFill>
                <a:latin typeface="Roboto Mono" pitchFamily="49" charset="0"/>
                <a:ea typeface="Roboto Mono" pitchFamily="49" charset="0"/>
                <a:cs typeface="Segoe UI"/>
              </a:rPr>
              <a:t>  push:</a:t>
            </a:r>
          </a:p>
          <a:p>
            <a:r>
              <a:rPr lang="en-US" sz="1400" dirty="0">
                <a:solidFill>
                  <a:schemeClr val="tx2">
                    <a:lumMod val="25000"/>
                    <a:lumOff val="75000"/>
                  </a:schemeClr>
                </a:solidFill>
                <a:latin typeface="Roboto Mono" pitchFamily="49" charset="0"/>
                <a:ea typeface="Roboto Mono" pitchFamily="49" charset="0"/>
                <a:cs typeface="Segoe UI"/>
              </a:rPr>
              <a:t>    branches:</a:t>
            </a:r>
          </a:p>
          <a:p>
            <a:r>
              <a:rPr lang="en-US" sz="1400" dirty="0">
                <a:solidFill>
                  <a:schemeClr val="tx2">
                    <a:lumMod val="25000"/>
                    <a:lumOff val="75000"/>
                  </a:schemeClr>
                </a:solidFill>
                <a:latin typeface="Roboto Mono" pitchFamily="49" charset="0"/>
                <a:ea typeface="Roboto Mono" pitchFamily="49" charset="0"/>
                <a:cs typeface="Segoe UI"/>
              </a:rPr>
              <a:t>      - </a:t>
            </a:r>
            <a:r>
              <a:rPr lang="en-US" sz="1400" dirty="0">
                <a:solidFill>
                  <a:srgbClr val="FC595F"/>
                </a:solidFill>
                <a:latin typeface="Roboto Mono" pitchFamily="49" charset="0"/>
                <a:ea typeface="Roboto Mono" pitchFamily="49" charset="0"/>
                <a:cs typeface="Segoe UI"/>
              </a:rPr>
              <a:t>main</a:t>
            </a:r>
          </a:p>
          <a:p>
            <a:r>
              <a:rPr lang="en-US" sz="1400" dirty="0">
                <a:solidFill>
                  <a:schemeClr val="tx2">
                    <a:lumMod val="25000"/>
                    <a:lumOff val="75000"/>
                  </a:schemeClr>
                </a:solidFill>
                <a:latin typeface="Roboto Mono" pitchFamily="49" charset="0"/>
                <a:ea typeface="Roboto Mono" pitchFamily="49" charset="0"/>
                <a:cs typeface="Segoe UI"/>
              </a:rPr>
              <a:t>      - </a:t>
            </a:r>
            <a:r>
              <a:rPr lang="en-US" sz="1400" dirty="0">
                <a:solidFill>
                  <a:srgbClr val="FC595F"/>
                </a:solidFill>
                <a:latin typeface="Roboto Mono" pitchFamily="49" charset="0"/>
                <a:ea typeface="Roboto Mono" pitchFamily="49" charset="0"/>
                <a:cs typeface="Segoe UI"/>
              </a:rPr>
              <a:t>feature/*</a:t>
            </a:r>
            <a:endParaRPr lang="en-US" sz="1600" dirty="0">
              <a:solidFill>
                <a:srgbClr val="FC595F"/>
              </a:solidFill>
            </a:endParaRPr>
          </a:p>
        </p:txBody>
      </p:sp>
    </p:spTree>
    <p:extLst>
      <p:ext uri="{BB962C8B-B14F-4D97-AF65-F5344CB8AC3E}">
        <p14:creationId xmlns:p14="http://schemas.microsoft.com/office/powerpoint/2010/main" val="55373600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0DAFA497-7EC6-4F5F-B60A-BAC007884CB0}"/>
              </a:ext>
            </a:extLst>
          </p:cNvPr>
          <p:cNvSpPr/>
          <p:nvPr/>
        </p:nvSpPr>
        <p:spPr>
          <a:xfrm>
            <a:off x="6413432" y="2077157"/>
            <a:ext cx="5013458" cy="434741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B35A915-B54D-1255-0571-88621B7C29A7}"/>
              </a:ext>
            </a:extLst>
          </p:cNvPr>
          <p:cNvSpPr/>
          <p:nvPr/>
        </p:nvSpPr>
        <p:spPr>
          <a:xfrm>
            <a:off x="2267217" y="1377225"/>
            <a:ext cx="1199048" cy="109716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43A1DAE-EED0-801B-27D9-08AF4DCFC184}"/>
              </a:ext>
            </a:extLst>
          </p:cNvPr>
          <p:cNvSpPr/>
          <p:nvPr/>
        </p:nvSpPr>
        <p:spPr>
          <a:xfrm>
            <a:off x="765110" y="2077156"/>
            <a:ext cx="4310743" cy="434392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3"/>
            <a:ext cx="5614879" cy="285630"/>
          </a:xfrm>
        </p:spPr>
        <p:txBody>
          <a:bodyPr>
            <a:normAutofit fontScale="90000"/>
          </a:bodyPr>
          <a:lstStyle/>
          <a:p>
            <a:r>
              <a:rPr lang="en-US" sz="3200" dirty="0">
                <a:latin typeface="Quattrocento Sans" panose="020B0502050000020003" pitchFamily="34" charset="0"/>
              </a:rPr>
              <a:t>Step 4: Test the action locally</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6" name="Text Placeholder 2">
            <a:extLst>
              <a:ext uri="{FF2B5EF4-FFF2-40B4-BE49-F238E27FC236}">
                <a16:creationId xmlns:a16="http://schemas.microsoft.com/office/drawing/2014/main" id="{056CB93E-D89B-37E8-643F-0A5C0D46B7A3}"/>
              </a:ext>
            </a:extLst>
          </p:cNvPr>
          <p:cNvSpPr txBox="1">
            <a:spLocks/>
          </p:cNvSpPr>
          <p:nvPr/>
        </p:nvSpPr>
        <p:spPr>
          <a:xfrm>
            <a:off x="1056216" y="2270266"/>
            <a:ext cx="4146215"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1" i="0" dirty="0">
                <a:effectLst/>
                <a:latin typeface="Quattrocento Sans" panose="020B0502050000020003" pitchFamily="34" charset="0"/>
              </a:rPr>
              <a:t>Triggering the workflow</a:t>
            </a:r>
          </a:p>
        </p:txBody>
      </p:sp>
      <p:sp>
        <p:nvSpPr>
          <p:cNvPr id="9" name="Text Placeholder 2">
            <a:extLst>
              <a:ext uri="{FF2B5EF4-FFF2-40B4-BE49-F238E27FC236}">
                <a16:creationId xmlns:a16="http://schemas.microsoft.com/office/drawing/2014/main" id="{3FA1A896-7CA7-0AEB-3D0F-FF0C5CF23D26}"/>
              </a:ext>
            </a:extLst>
          </p:cNvPr>
          <p:cNvSpPr txBox="1">
            <a:spLocks/>
          </p:cNvSpPr>
          <p:nvPr/>
        </p:nvSpPr>
        <p:spPr>
          <a:xfrm>
            <a:off x="6660307" y="2300389"/>
            <a:ext cx="4680857"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1" i="0" dirty="0">
                <a:effectLst/>
                <a:latin typeface="Quattrocento Sans" panose="020B0502050000020003" pitchFamily="34" charset="0"/>
              </a:rPr>
              <a:t>Clone the repository</a:t>
            </a:r>
          </a:p>
        </p:txBody>
      </p:sp>
      <p:sp>
        <p:nvSpPr>
          <p:cNvPr id="10" name="Text Placeholder 2">
            <a:extLst>
              <a:ext uri="{FF2B5EF4-FFF2-40B4-BE49-F238E27FC236}">
                <a16:creationId xmlns:a16="http://schemas.microsoft.com/office/drawing/2014/main" id="{67FFFECE-3017-A1AB-E9EE-1E3EA4382082}"/>
              </a:ext>
            </a:extLst>
          </p:cNvPr>
          <p:cNvSpPr txBox="1">
            <a:spLocks/>
          </p:cNvSpPr>
          <p:nvPr/>
        </p:nvSpPr>
        <p:spPr>
          <a:xfrm>
            <a:off x="1038143" y="3167874"/>
            <a:ext cx="3692607"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i="0" dirty="0">
                <a:effectLst/>
                <a:latin typeface="Quattrocento Sans" panose="020B0502050000020003" pitchFamily="34" charset="0"/>
              </a:rPr>
              <a:t>The workflow is triggered on pushes to the main branch and any branch matching the feature/* pattern. You can adjust this to match your repository's branching strategy.</a:t>
            </a:r>
          </a:p>
        </p:txBody>
      </p:sp>
      <p:sp>
        <p:nvSpPr>
          <p:cNvPr id="5" name="Text Placeholder 2">
            <a:extLst>
              <a:ext uri="{FF2B5EF4-FFF2-40B4-BE49-F238E27FC236}">
                <a16:creationId xmlns:a16="http://schemas.microsoft.com/office/drawing/2014/main" id="{5C1C7BF5-E137-A46D-4BE4-45E5B6EEEB41}"/>
              </a:ext>
            </a:extLst>
          </p:cNvPr>
          <p:cNvSpPr txBox="1">
            <a:spLocks/>
          </p:cNvSpPr>
          <p:nvPr/>
        </p:nvSpPr>
        <p:spPr>
          <a:xfrm>
            <a:off x="6688885" y="3192801"/>
            <a:ext cx="400689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i="0" dirty="0">
                <a:effectLst/>
                <a:latin typeface="Quattrocento Sans" panose="020B0502050000020003" pitchFamily="34" charset="0"/>
              </a:rPr>
              <a:t>The </a:t>
            </a:r>
            <a:r>
              <a:rPr lang="en-US" sz="1800" i="1" dirty="0">
                <a:effectLst/>
                <a:latin typeface="Quattrocento Sans" panose="020B0502050000020003" pitchFamily="34" charset="0"/>
              </a:rPr>
              <a:t>actions/checkout@v4 </a:t>
            </a:r>
            <a:r>
              <a:rPr lang="en-US" sz="1800" i="0" dirty="0">
                <a:effectLst/>
                <a:latin typeface="Quattrocento Sans" panose="020B0502050000020003" pitchFamily="34" charset="0"/>
              </a:rPr>
              <a:t>action is used to clone the repository onto the runner. This ensures that the workflow has access to the repository's files.</a:t>
            </a:r>
          </a:p>
          <a:p>
            <a:pPr marL="0" indent="0" algn="just">
              <a:buNone/>
            </a:pPr>
            <a:endParaRPr lang="en-US" sz="1800" i="0" dirty="0">
              <a:effectLst/>
              <a:latin typeface="Quattrocento Sans" panose="020B0502050000020003" pitchFamily="34" charset="0"/>
            </a:endParaRPr>
          </a:p>
        </p:txBody>
      </p:sp>
      <p:pic>
        <p:nvPicPr>
          <p:cNvPr id="11" name="Picture 10" descr="A screenshot of a computer&#10;&#10;Description automatically generated">
            <a:extLst>
              <a:ext uri="{FF2B5EF4-FFF2-40B4-BE49-F238E27FC236}">
                <a16:creationId xmlns:a16="http://schemas.microsoft.com/office/drawing/2014/main" id="{69DBDFD1-0F3E-5A0A-8ACD-68F2B3CE8A75}"/>
              </a:ext>
            </a:extLst>
          </p:cNvPr>
          <p:cNvPicPr>
            <a:picLocks noChangeAspect="1"/>
          </p:cNvPicPr>
          <p:nvPr/>
        </p:nvPicPr>
        <p:blipFill>
          <a:blip r:embed="rId3"/>
          <a:stretch>
            <a:fillRect/>
          </a:stretch>
        </p:blipFill>
        <p:spPr>
          <a:xfrm>
            <a:off x="1038143" y="4155572"/>
            <a:ext cx="3692607" cy="2082124"/>
          </a:xfrm>
          <a:prstGeom prst="rect">
            <a:avLst/>
          </a:prstGeom>
          <a:effectLst>
            <a:outerShdw blurRad="63500" sx="102000" sy="102000" algn="ctr" rotWithShape="0">
              <a:prstClr val="black">
                <a:alpha val="40000"/>
              </a:prstClr>
            </a:outerShdw>
          </a:effectLst>
        </p:spPr>
      </p:pic>
      <p:pic>
        <p:nvPicPr>
          <p:cNvPr id="16" name="Picture 15" descr="A screenshot of a computer&#10;&#10;Description automatically generated">
            <a:extLst>
              <a:ext uri="{FF2B5EF4-FFF2-40B4-BE49-F238E27FC236}">
                <a16:creationId xmlns:a16="http://schemas.microsoft.com/office/drawing/2014/main" id="{CC093220-9B81-C04E-A4DA-A8F0233C729D}"/>
              </a:ext>
            </a:extLst>
          </p:cNvPr>
          <p:cNvPicPr>
            <a:picLocks noChangeAspect="1"/>
          </p:cNvPicPr>
          <p:nvPr/>
        </p:nvPicPr>
        <p:blipFill>
          <a:blip r:embed="rId4"/>
          <a:stretch>
            <a:fillRect/>
          </a:stretch>
        </p:blipFill>
        <p:spPr>
          <a:xfrm>
            <a:off x="6629014" y="4046057"/>
            <a:ext cx="4651766" cy="1613651"/>
          </a:xfrm>
          <a:prstGeom prst="rect">
            <a:avLst/>
          </a:prstGeom>
          <a:effectLst>
            <a:outerShdw blurRad="63500" sx="102000" sy="102000" algn="ctr" rotWithShape="0">
              <a:prstClr val="black">
                <a:alpha val="40000"/>
              </a:prstClr>
            </a:outerShdw>
          </a:effectLst>
        </p:spPr>
      </p:pic>
      <p:pic>
        <p:nvPicPr>
          <p:cNvPr id="21" name="Graphic 20" descr="Badge 1 with solid fill">
            <a:extLst>
              <a:ext uri="{FF2B5EF4-FFF2-40B4-BE49-F238E27FC236}">
                <a16:creationId xmlns:a16="http://schemas.microsoft.com/office/drawing/2014/main" id="{D47F2715-7F47-B051-E2FA-48A8499F695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09541" y="1419319"/>
            <a:ext cx="914400" cy="914400"/>
          </a:xfrm>
          <a:prstGeom prst="rect">
            <a:avLst/>
          </a:prstGeom>
        </p:spPr>
      </p:pic>
      <p:sp>
        <p:nvSpPr>
          <p:cNvPr id="23" name="Oval 22">
            <a:extLst>
              <a:ext uri="{FF2B5EF4-FFF2-40B4-BE49-F238E27FC236}">
                <a16:creationId xmlns:a16="http://schemas.microsoft.com/office/drawing/2014/main" id="{6BB40EBF-AD01-1088-1F97-3BC1B91404BD}"/>
              </a:ext>
            </a:extLst>
          </p:cNvPr>
          <p:cNvSpPr/>
          <p:nvPr/>
        </p:nvSpPr>
        <p:spPr>
          <a:xfrm>
            <a:off x="8391036" y="1416795"/>
            <a:ext cx="1199048" cy="109716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Badge with solid fill">
            <a:extLst>
              <a:ext uri="{FF2B5EF4-FFF2-40B4-BE49-F238E27FC236}">
                <a16:creationId xmlns:a16="http://schemas.microsoft.com/office/drawing/2014/main" id="{0562D014-E6FC-0348-56EB-2B5E9EFC5EB1}"/>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8533360" y="1458889"/>
            <a:ext cx="914400" cy="914400"/>
          </a:xfrm>
          <a:prstGeom prst="rect">
            <a:avLst/>
          </a:prstGeom>
        </p:spPr>
      </p:pic>
    </p:spTree>
    <p:extLst>
      <p:ext uri="{BB962C8B-B14F-4D97-AF65-F5344CB8AC3E}">
        <p14:creationId xmlns:p14="http://schemas.microsoft.com/office/powerpoint/2010/main" val="139925296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17" name="Oval 16">
            <a:extLst>
              <a:ext uri="{FF2B5EF4-FFF2-40B4-BE49-F238E27FC236}">
                <a16:creationId xmlns:a16="http://schemas.microsoft.com/office/drawing/2014/main" id="{B8F58136-42A4-70DC-1201-2396344A15EA}"/>
              </a:ext>
            </a:extLst>
          </p:cNvPr>
          <p:cNvSpPr/>
          <p:nvPr/>
        </p:nvSpPr>
        <p:spPr>
          <a:xfrm>
            <a:off x="8524602" y="1456044"/>
            <a:ext cx="1199048" cy="109716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47A1CBB4-69CB-492D-2F68-49C44AC2A614}"/>
              </a:ext>
            </a:extLst>
          </p:cNvPr>
          <p:cNvSpPr>
            <a:spLocks/>
          </p:cNvSpPr>
          <p:nvPr/>
        </p:nvSpPr>
        <p:spPr>
          <a:xfrm>
            <a:off x="6467236" y="2077158"/>
            <a:ext cx="5401303" cy="43530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506A4FE-5C96-BF8B-287B-5D9BDDE239B6}"/>
              </a:ext>
            </a:extLst>
          </p:cNvPr>
          <p:cNvSpPr/>
          <p:nvPr/>
        </p:nvSpPr>
        <p:spPr>
          <a:xfrm>
            <a:off x="2557597" y="1451416"/>
            <a:ext cx="1199048" cy="109716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A3954AB-5934-F7F9-12B9-C756A55E4264}"/>
              </a:ext>
            </a:extLst>
          </p:cNvPr>
          <p:cNvSpPr/>
          <p:nvPr/>
        </p:nvSpPr>
        <p:spPr>
          <a:xfrm>
            <a:off x="855570" y="2077157"/>
            <a:ext cx="4680857" cy="43525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Step 4: Test the action locally</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6" name="Text Placeholder 2">
            <a:extLst>
              <a:ext uri="{FF2B5EF4-FFF2-40B4-BE49-F238E27FC236}">
                <a16:creationId xmlns:a16="http://schemas.microsoft.com/office/drawing/2014/main" id="{056CB93E-D89B-37E8-643F-0A5C0D46B7A3}"/>
              </a:ext>
            </a:extLst>
          </p:cNvPr>
          <p:cNvSpPr txBox="1">
            <a:spLocks/>
          </p:cNvSpPr>
          <p:nvPr/>
        </p:nvSpPr>
        <p:spPr>
          <a:xfrm>
            <a:off x="1133628" y="2308466"/>
            <a:ext cx="2718502"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1" i="0" dirty="0">
                <a:effectLst/>
                <a:latin typeface="Quattrocento Sans" panose="020B0502050000020003" pitchFamily="34" charset="0"/>
              </a:rPr>
              <a:t>Run the custom action</a:t>
            </a:r>
          </a:p>
        </p:txBody>
      </p:sp>
      <p:sp>
        <p:nvSpPr>
          <p:cNvPr id="9" name="Text Placeholder 2">
            <a:extLst>
              <a:ext uri="{FF2B5EF4-FFF2-40B4-BE49-F238E27FC236}">
                <a16:creationId xmlns:a16="http://schemas.microsoft.com/office/drawing/2014/main" id="{3FA1A896-7CA7-0AEB-3D0F-FF0C5CF23D26}"/>
              </a:ext>
            </a:extLst>
          </p:cNvPr>
          <p:cNvSpPr txBox="1">
            <a:spLocks/>
          </p:cNvSpPr>
          <p:nvPr/>
        </p:nvSpPr>
        <p:spPr>
          <a:xfrm>
            <a:off x="6675650" y="2256537"/>
            <a:ext cx="3048000"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1" i="0" dirty="0">
                <a:effectLst/>
                <a:latin typeface="Quattrocento Sans" panose="020B0502050000020003" pitchFamily="34" charset="0"/>
              </a:rPr>
              <a:t>Verify the CLI installation</a:t>
            </a:r>
          </a:p>
        </p:txBody>
      </p:sp>
      <p:sp>
        <p:nvSpPr>
          <p:cNvPr id="10" name="Text Placeholder 2">
            <a:extLst>
              <a:ext uri="{FF2B5EF4-FFF2-40B4-BE49-F238E27FC236}">
                <a16:creationId xmlns:a16="http://schemas.microsoft.com/office/drawing/2014/main" id="{67FFFECE-3017-A1AB-E9EE-1E3EA4382082}"/>
              </a:ext>
            </a:extLst>
          </p:cNvPr>
          <p:cNvSpPr txBox="1">
            <a:spLocks/>
          </p:cNvSpPr>
          <p:nvPr/>
        </p:nvSpPr>
        <p:spPr>
          <a:xfrm>
            <a:off x="1133628" y="3483711"/>
            <a:ext cx="3692607"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i="0" dirty="0">
                <a:effectLst/>
                <a:latin typeface="Quattrocento Sans" panose="020B0502050000020003" pitchFamily="34" charset="0"/>
              </a:rPr>
              <a:t>The uses: </a:t>
            </a:r>
            <a:r>
              <a:rPr lang="en-US" sz="1800" i="1" dirty="0">
                <a:effectLst/>
                <a:latin typeface="Quattrocento Sans" panose="020B0502050000020003" pitchFamily="34" charset="0"/>
              </a:rPr>
              <a:t>./.</a:t>
            </a:r>
            <a:r>
              <a:rPr lang="en-US" sz="1800" i="1" dirty="0" err="1">
                <a:effectLst/>
                <a:latin typeface="Quattrocento Sans" panose="020B0502050000020003" pitchFamily="34" charset="0"/>
              </a:rPr>
              <a:t>github</a:t>
            </a:r>
            <a:r>
              <a:rPr lang="en-US" sz="1800" i="1" dirty="0">
                <a:effectLst/>
                <a:latin typeface="Quattrocento Sans" panose="020B0502050000020003" pitchFamily="34" charset="0"/>
              </a:rPr>
              <a:t>/actions/my-cli-action</a:t>
            </a:r>
            <a:r>
              <a:rPr lang="en-US" sz="1800" i="0" dirty="0">
                <a:effectLst/>
                <a:latin typeface="Quattrocento Sans" panose="020B0502050000020003" pitchFamily="34" charset="0"/>
              </a:rPr>
              <a:t> line references the custom action locally. Ensure that the action directory and </a:t>
            </a:r>
            <a:r>
              <a:rPr lang="en-US" sz="1800" i="0" dirty="0" err="1">
                <a:effectLst/>
                <a:latin typeface="Quattrocento Sans" panose="020B0502050000020003" pitchFamily="34" charset="0"/>
              </a:rPr>
              <a:t>action.yml</a:t>
            </a:r>
            <a:r>
              <a:rPr lang="en-US" sz="1800" i="0" dirty="0">
                <a:effectLst/>
                <a:latin typeface="Quattrocento Sans" panose="020B0502050000020003" pitchFamily="34" charset="0"/>
              </a:rPr>
              <a:t> file are correctly set up. The version input specifies the CLI version to install—in this case, version 1.2.3.</a:t>
            </a:r>
          </a:p>
        </p:txBody>
      </p:sp>
      <p:sp>
        <p:nvSpPr>
          <p:cNvPr id="5" name="Text Placeholder 2">
            <a:extLst>
              <a:ext uri="{FF2B5EF4-FFF2-40B4-BE49-F238E27FC236}">
                <a16:creationId xmlns:a16="http://schemas.microsoft.com/office/drawing/2014/main" id="{5C1C7BF5-E137-A46D-4BE4-45E5B6EEEB41}"/>
              </a:ext>
            </a:extLst>
          </p:cNvPr>
          <p:cNvSpPr txBox="1">
            <a:spLocks/>
          </p:cNvSpPr>
          <p:nvPr/>
        </p:nvSpPr>
        <p:spPr>
          <a:xfrm>
            <a:off x="6679371" y="2762668"/>
            <a:ext cx="400689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i="0" dirty="0">
                <a:effectLst/>
                <a:latin typeface="Quattrocento Sans" panose="020B0502050000020003" pitchFamily="34" charset="0"/>
              </a:rPr>
              <a:t>This step runs a shell command to verify that the CLI was installed successfully. It</a:t>
            </a:r>
          </a:p>
        </p:txBody>
      </p:sp>
      <p:pic>
        <p:nvPicPr>
          <p:cNvPr id="7" name="Picture 6" descr="A screenshot of a computer error&#10;&#10;Description automatically generated">
            <a:extLst>
              <a:ext uri="{FF2B5EF4-FFF2-40B4-BE49-F238E27FC236}">
                <a16:creationId xmlns:a16="http://schemas.microsoft.com/office/drawing/2014/main" id="{A846D7A4-1956-FFC9-37A6-5E41754E08A2}"/>
              </a:ext>
            </a:extLst>
          </p:cNvPr>
          <p:cNvPicPr>
            <a:picLocks noChangeAspect="1"/>
          </p:cNvPicPr>
          <p:nvPr/>
        </p:nvPicPr>
        <p:blipFill>
          <a:blip r:embed="rId3"/>
          <a:stretch>
            <a:fillRect/>
          </a:stretch>
        </p:blipFill>
        <p:spPr>
          <a:xfrm>
            <a:off x="1105466" y="4845386"/>
            <a:ext cx="4146215" cy="1465732"/>
          </a:xfrm>
          <a:prstGeom prst="rect">
            <a:avLst/>
          </a:prstGeom>
          <a:effectLst>
            <a:outerShdw blurRad="63500" sx="102000" sy="102000" algn="ctr" rotWithShape="0">
              <a:prstClr val="black">
                <a:alpha val="40000"/>
              </a:prstClr>
            </a:outerShdw>
          </a:effectLst>
        </p:spPr>
      </p:pic>
      <p:pic>
        <p:nvPicPr>
          <p:cNvPr id="20482" name="Picture 2" descr="Screenshot of the test results of a JavaScript GitHub Action.">
            <a:extLst>
              <a:ext uri="{FF2B5EF4-FFF2-40B4-BE49-F238E27FC236}">
                <a16:creationId xmlns:a16="http://schemas.microsoft.com/office/drawing/2014/main" id="{9D9E1A91-3855-105B-A7AE-1864F29E40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51504" y="3302525"/>
            <a:ext cx="3255815" cy="3066301"/>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Text Placeholder 2">
            <a:extLst>
              <a:ext uri="{FF2B5EF4-FFF2-40B4-BE49-F238E27FC236}">
                <a16:creationId xmlns:a16="http://schemas.microsoft.com/office/drawing/2014/main" id="{3FCBB444-9963-84BD-D97B-D393FAB1CED3}"/>
              </a:ext>
            </a:extLst>
          </p:cNvPr>
          <p:cNvSpPr txBox="1">
            <a:spLocks/>
          </p:cNvSpPr>
          <p:nvPr/>
        </p:nvSpPr>
        <p:spPr>
          <a:xfrm>
            <a:off x="6679371" y="3937913"/>
            <a:ext cx="1557833"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i="0" dirty="0">
                <a:effectLst/>
                <a:latin typeface="Quattrocento Sans" panose="020B0502050000020003" pitchFamily="34" charset="0"/>
              </a:rPr>
              <a:t>It checks the version of the installed CLI by running </a:t>
            </a:r>
            <a:r>
              <a:rPr lang="en-US" sz="1800" i="0" dirty="0" err="1">
                <a:effectLst/>
                <a:latin typeface="Quattrocento Sans" panose="020B0502050000020003" pitchFamily="34" charset="0"/>
              </a:rPr>
              <a:t>mycli</a:t>
            </a:r>
            <a:r>
              <a:rPr lang="en-US" sz="1800" i="0" dirty="0">
                <a:effectLst/>
                <a:latin typeface="Quattrocento Sans" panose="020B0502050000020003" pitchFamily="34" charset="0"/>
              </a:rPr>
              <a:t> --version.</a:t>
            </a:r>
          </a:p>
          <a:p>
            <a:pPr marL="0" indent="0" algn="just">
              <a:buNone/>
            </a:pPr>
            <a:endParaRPr lang="en-US" sz="1800" i="0" dirty="0">
              <a:effectLst/>
              <a:latin typeface="Quattrocento Sans" panose="020B0502050000020003" pitchFamily="34" charset="0"/>
            </a:endParaRPr>
          </a:p>
        </p:txBody>
      </p:sp>
      <p:pic>
        <p:nvPicPr>
          <p:cNvPr id="14" name="Graphic 13" descr="Badge 3 with solid fill">
            <a:extLst>
              <a:ext uri="{FF2B5EF4-FFF2-40B4-BE49-F238E27FC236}">
                <a16:creationId xmlns:a16="http://schemas.microsoft.com/office/drawing/2014/main" id="{59D29205-9D0E-1E55-63B7-1CB1BEC2DC6B}"/>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2699921" y="1493510"/>
            <a:ext cx="914400" cy="914400"/>
          </a:xfrm>
          <a:prstGeom prst="rect">
            <a:avLst/>
          </a:prstGeom>
        </p:spPr>
      </p:pic>
      <p:pic>
        <p:nvPicPr>
          <p:cNvPr id="18" name="Graphic 17" descr="Badge 4 with solid fill">
            <a:extLst>
              <a:ext uri="{FF2B5EF4-FFF2-40B4-BE49-F238E27FC236}">
                <a16:creationId xmlns:a16="http://schemas.microsoft.com/office/drawing/2014/main" id="{6D86D5D4-39E5-3941-D21B-EC283BD52D5E}"/>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8666926" y="1498138"/>
            <a:ext cx="914400" cy="914400"/>
          </a:xfrm>
          <a:prstGeom prst="rect">
            <a:avLst/>
          </a:prstGeom>
        </p:spPr>
      </p:pic>
    </p:spTree>
    <p:extLst>
      <p:ext uri="{BB962C8B-B14F-4D97-AF65-F5344CB8AC3E}">
        <p14:creationId xmlns:p14="http://schemas.microsoft.com/office/powerpoint/2010/main" val="45106190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Test locally</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37959" y="860224"/>
            <a:ext cx="10893642" cy="74083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sz="2000" b="0" i="0" dirty="0">
                <a:solidFill>
                  <a:srgbClr val="161616"/>
                </a:solidFill>
                <a:effectLst/>
                <a:latin typeface="Quattrocento Sans" panose="020B0502050000020003" pitchFamily="34" charset="0"/>
              </a:rPr>
              <a:t>To test this workflow locally, use the </a:t>
            </a:r>
            <a:r>
              <a:rPr lang="en-US" sz="2000" b="0" i="0" u="none" strike="noStrike" dirty="0">
                <a:solidFill>
                  <a:srgbClr val="00B0F0"/>
                </a:solidFill>
                <a:effectLst/>
                <a:latin typeface="Quattrocento Sans" panose="020B0502050000020003" pitchFamily="34" charset="0"/>
                <a:hlinkClick r:id="rId3">
                  <a:extLst>
                    <a:ext uri="{A12FA001-AC4F-418D-AE19-62706E023703}">
                      <ahyp:hlinkClr xmlns:ahyp="http://schemas.microsoft.com/office/drawing/2018/hyperlinkcolor" val="tx"/>
                    </a:ext>
                  </a:extLst>
                </a:hlinkClick>
              </a:rPr>
              <a:t>act</a:t>
            </a:r>
            <a:r>
              <a:rPr lang="en-US" sz="2000" b="0" i="0" dirty="0">
                <a:solidFill>
                  <a:srgbClr val="00B0F0"/>
                </a:solidFill>
                <a:effectLst/>
                <a:latin typeface="Quattrocento Sans" panose="020B0502050000020003" pitchFamily="34" charset="0"/>
              </a:rPr>
              <a:t> </a:t>
            </a:r>
            <a:r>
              <a:rPr lang="en-US" sz="2000" b="0" i="0" dirty="0">
                <a:solidFill>
                  <a:srgbClr val="161616"/>
                </a:solidFill>
                <a:effectLst/>
                <a:latin typeface="Quattrocento Sans" panose="020B0502050000020003" pitchFamily="34" charset="0"/>
              </a:rPr>
              <a:t>CLI tool:</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6" name="Title 16">
            <a:extLst>
              <a:ext uri="{FF2B5EF4-FFF2-40B4-BE49-F238E27FC236}">
                <a16:creationId xmlns:a16="http://schemas.microsoft.com/office/drawing/2014/main" id="{B3AE6A43-7F74-203D-A662-9315AD20B8C0}"/>
              </a:ext>
            </a:extLst>
          </p:cNvPr>
          <p:cNvSpPr txBox="1">
            <a:spLocks/>
          </p:cNvSpPr>
          <p:nvPr/>
        </p:nvSpPr>
        <p:spPr>
          <a:xfrm>
            <a:off x="546427" y="3196954"/>
            <a:ext cx="8193024" cy="49244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2400" b="0" i="0" kern="1200">
                <a:solidFill>
                  <a:schemeClr val="tx1"/>
                </a:solidFill>
                <a:latin typeface="+mj-lt"/>
                <a:ea typeface="+mj-ea"/>
                <a:cs typeface="Segoe UI Semibold" panose="020B0502040204020203" pitchFamily="34" charset="0"/>
              </a:defRPr>
            </a:lvl1pPr>
          </a:lstStyle>
          <a:p>
            <a:r>
              <a:rPr lang="en-US" sz="3200" dirty="0">
                <a:latin typeface="Quattrocento Sans" panose="020B0502050000020003" pitchFamily="34" charset="0"/>
              </a:rPr>
              <a:t>Optimization tip: Caching</a:t>
            </a:r>
          </a:p>
        </p:txBody>
      </p:sp>
      <p:sp>
        <p:nvSpPr>
          <p:cNvPr id="7" name="Text Placeholder 2">
            <a:extLst>
              <a:ext uri="{FF2B5EF4-FFF2-40B4-BE49-F238E27FC236}">
                <a16:creationId xmlns:a16="http://schemas.microsoft.com/office/drawing/2014/main" id="{37770C92-F5F4-6DDA-31F0-AB1D7AB9D136}"/>
              </a:ext>
            </a:extLst>
          </p:cNvPr>
          <p:cNvSpPr txBox="1">
            <a:spLocks/>
          </p:cNvSpPr>
          <p:nvPr/>
        </p:nvSpPr>
        <p:spPr>
          <a:xfrm>
            <a:off x="660399" y="5372007"/>
            <a:ext cx="10601207" cy="74083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i="0" dirty="0">
                <a:solidFill>
                  <a:srgbClr val="161616"/>
                </a:solidFill>
                <a:effectLst/>
                <a:latin typeface="Quattrocento Sans" panose="020B0502050000020003" pitchFamily="34" charset="0"/>
              </a:rPr>
              <a:t>This ensures that subsequent runs reuse the cached CLI installation, reducing setup time.</a:t>
            </a:r>
          </a:p>
        </p:txBody>
      </p:sp>
      <p:sp>
        <p:nvSpPr>
          <p:cNvPr id="3" name="Rectangle 2">
            <a:extLst>
              <a:ext uri="{FF2B5EF4-FFF2-40B4-BE49-F238E27FC236}">
                <a16:creationId xmlns:a16="http://schemas.microsoft.com/office/drawing/2014/main" id="{5AF0EFCA-E51A-F180-C046-092828BBDD9E}"/>
              </a:ext>
            </a:extLst>
          </p:cNvPr>
          <p:cNvSpPr/>
          <p:nvPr/>
        </p:nvSpPr>
        <p:spPr>
          <a:xfrm>
            <a:off x="660399" y="1559521"/>
            <a:ext cx="5140945" cy="612744"/>
          </a:xfrm>
          <a:prstGeom prst="rect">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Roboto Mono" pitchFamily="49" charset="0"/>
                <a:ea typeface="Roboto Mono" pitchFamily="49" charset="0"/>
                <a:cs typeface="Segoe UI"/>
              </a:rPr>
              <a:t>act -j </a:t>
            </a:r>
            <a:r>
              <a:rPr lang="en-US" sz="1400" dirty="0">
                <a:solidFill>
                  <a:schemeClr val="tx2">
                    <a:lumMod val="50000"/>
                    <a:lumOff val="50000"/>
                  </a:schemeClr>
                </a:solidFill>
                <a:latin typeface="Roboto Mono" pitchFamily="49" charset="0"/>
                <a:ea typeface="Roboto Mono" pitchFamily="49" charset="0"/>
                <a:cs typeface="Segoe UI"/>
              </a:rPr>
              <a:t>test</a:t>
            </a:r>
          </a:p>
        </p:txBody>
      </p:sp>
      <p:sp>
        <p:nvSpPr>
          <p:cNvPr id="4" name="Text Placeholder 2">
            <a:extLst>
              <a:ext uri="{FF2B5EF4-FFF2-40B4-BE49-F238E27FC236}">
                <a16:creationId xmlns:a16="http://schemas.microsoft.com/office/drawing/2014/main" id="{1BE39763-6CF0-2C00-5C7E-5794047F8C8A}"/>
              </a:ext>
            </a:extLst>
          </p:cNvPr>
          <p:cNvSpPr txBox="1">
            <a:spLocks/>
          </p:cNvSpPr>
          <p:nvPr/>
        </p:nvSpPr>
        <p:spPr>
          <a:xfrm>
            <a:off x="660399" y="2306287"/>
            <a:ext cx="10601207" cy="74083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i="0" dirty="0">
                <a:solidFill>
                  <a:srgbClr val="161616"/>
                </a:solidFill>
                <a:effectLst/>
                <a:latin typeface="Quattrocento Sans" panose="020B0502050000020003" pitchFamily="34" charset="0"/>
              </a:rPr>
              <a:t>This simulates the GitHub Actions environment on your local machine, allowing you to debug and validate the workflow before pushing changes.</a:t>
            </a:r>
          </a:p>
        </p:txBody>
      </p:sp>
      <p:sp>
        <p:nvSpPr>
          <p:cNvPr id="5" name="Rectangle 4">
            <a:extLst>
              <a:ext uri="{FF2B5EF4-FFF2-40B4-BE49-F238E27FC236}">
                <a16:creationId xmlns:a16="http://schemas.microsoft.com/office/drawing/2014/main" id="{AEDD8F29-187B-7FF5-E07D-45CBD5685898}"/>
              </a:ext>
            </a:extLst>
          </p:cNvPr>
          <p:cNvSpPr/>
          <p:nvPr/>
        </p:nvSpPr>
        <p:spPr>
          <a:xfrm>
            <a:off x="660399" y="4332740"/>
            <a:ext cx="6785430" cy="1099543"/>
          </a:xfrm>
          <a:prstGeom prst="rect">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2">
                    <a:lumMod val="25000"/>
                    <a:lumOff val="75000"/>
                  </a:schemeClr>
                </a:solidFill>
                <a:latin typeface="Roboto Mono" pitchFamily="49" charset="0"/>
                <a:ea typeface="Roboto Mono" pitchFamily="49" charset="0"/>
                <a:cs typeface="Segoe UI"/>
              </a:rPr>
              <a:t> - name: </a:t>
            </a:r>
            <a:r>
              <a:rPr lang="en-US" sz="1400" dirty="0">
                <a:solidFill>
                  <a:srgbClr val="FC595F"/>
                </a:solidFill>
                <a:latin typeface="Roboto Mono" pitchFamily="49" charset="0"/>
                <a:ea typeface="Roboto Mono" pitchFamily="49" charset="0"/>
                <a:cs typeface="Segoe UI"/>
              </a:rPr>
              <a:t>Cache </a:t>
            </a:r>
            <a:r>
              <a:rPr lang="en-US" sz="1400" dirty="0" err="1">
                <a:solidFill>
                  <a:srgbClr val="FC595F"/>
                </a:solidFill>
                <a:latin typeface="Roboto Mono" pitchFamily="49" charset="0"/>
                <a:ea typeface="Roboto Mono" pitchFamily="49" charset="0"/>
                <a:cs typeface="Segoe UI"/>
              </a:rPr>
              <a:t>MyCLI</a:t>
            </a:r>
            <a:endParaRPr lang="en-US" sz="1400" dirty="0">
              <a:solidFill>
                <a:srgbClr val="FC595F"/>
              </a:solidFill>
              <a:latin typeface="Roboto Mono" pitchFamily="49" charset="0"/>
              <a:ea typeface="Roboto Mono" pitchFamily="49" charset="0"/>
              <a:cs typeface="Segoe UI"/>
            </a:endParaRPr>
          </a:p>
          <a:p>
            <a:r>
              <a:rPr lang="en-US" sz="1400" dirty="0">
                <a:solidFill>
                  <a:schemeClr val="tx2">
                    <a:lumMod val="25000"/>
                    <a:lumOff val="75000"/>
                  </a:schemeClr>
                </a:solidFill>
                <a:latin typeface="Roboto Mono" pitchFamily="49" charset="0"/>
                <a:ea typeface="Roboto Mono" pitchFamily="49" charset="0"/>
                <a:cs typeface="Segoe UI"/>
              </a:rPr>
              <a:t>        uses: </a:t>
            </a:r>
            <a:r>
              <a:rPr lang="en-US" sz="1400" dirty="0">
                <a:solidFill>
                  <a:srgbClr val="FC595F"/>
                </a:solidFill>
                <a:latin typeface="Roboto Mono" pitchFamily="49" charset="0"/>
                <a:ea typeface="Roboto Mono" pitchFamily="49" charset="0"/>
                <a:cs typeface="Segoe UI"/>
              </a:rPr>
              <a:t>actions/cache@v4</a:t>
            </a:r>
          </a:p>
          <a:p>
            <a:r>
              <a:rPr lang="en-US" sz="1400" dirty="0">
                <a:solidFill>
                  <a:schemeClr val="tx2">
                    <a:lumMod val="25000"/>
                    <a:lumOff val="75000"/>
                  </a:schemeClr>
                </a:solidFill>
                <a:latin typeface="Roboto Mono" pitchFamily="49" charset="0"/>
                <a:ea typeface="Roboto Mono" pitchFamily="49" charset="0"/>
                <a:cs typeface="Segoe UI"/>
              </a:rPr>
              <a:t>        with:</a:t>
            </a:r>
          </a:p>
          <a:p>
            <a:r>
              <a:rPr lang="en-US" sz="1400" dirty="0">
                <a:solidFill>
                  <a:schemeClr val="tx2">
                    <a:lumMod val="25000"/>
                    <a:lumOff val="75000"/>
                  </a:schemeClr>
                </a:solidFill>
                <a:latin typeface="Roboto Mono" pitchFamily="49" charset="0"/>
                <a:ea typeface="Roboto Mono" pitchFamily="49" charset="0"/>
                <a:cs typeface="Segoe UI"/>
              </a:rPr>
              <a:t>          path: </a:t>
            </a:r>
            <a:r>
              <a:rPr lang="en-US" sz="1400" dirty="0">
                <a:solidFill>
                  <a:srgbClr val="FC595F"/>
                </a:solidFill>
                <a:latin typeface="Roboto Mono" pitchFamily="49" charset="0"/>
                <a:ea typeface="Roboto Mono" pitchFamily="49" charset="0"/>
                <a:cs typeface="Segoe UI"/>
              </a:rPr>
              <a:t>~/.</a:t>
            </a:r>
            <a:r>
              <a:rPr lang="en-US" sz="1400" dirty="0" err="1">
                <a:solidFill>
                  <a:srgbClr val="FC595F"/>
                </a:solidFill>
                <a:latin typeface="Roboto Mono" pitchFamily="49" charset="0"/>
                <a:ea typeface="Roboto Mono" pitchFamily="49" charset="0"/>
                <a:cs typeface="Segoe UI"/>
              </a:rPr>
              <a:t>mycli</a:t>
            </a:r>
            <a:endParaRPr lang="en-US" sz="1400" dirty="0">
              <a:solidFill>
                <a:srgbClr val="FC595F"/>
              </a:solidFill>
              <a:latin typeface="Roboto Mono" pitchFamily="49" charset="0"/>
              <a:ea typeface="Roboto Mono" pitchFamily="49" charset="0"/>
              <a:cs typeface="Segoe UI"/>
            </a:endParaRPr>
          </a:p>
          <a:p>
            <a:r>
              <a:rPr lang="en-US" sz="1400" dirty="0">
                <a:solidFill>
                  <a:schemeClr val="tx2">
                    <a:lumMod val="25000"/>
                    <a:lumOff val="75000"/>
                  </a:schemeClr>
                </a:solidFill>
                <a:latin typeface="Roboto Mono" pitchFamily="49" charset="0"/>
                <a:ea typeface="Roboto Mono" pitchFamily="49" charset="0"/>
                <a:cs typeface="Segoe UI"/>
              </a:rPr>
              <a:t>          key: </a:t>
            </a:r>
            <a:r>
              <a:rPr lang="en-US" sz="1400" dirty="0" err="1">
                <a:solidFill>
                  <a:srgbClr val="FC595F"/>
                </a:solidFill>
                <a:latin typeface="Roboto Mono" pitchFamily="49" charset="0"/>
                <a:ea typeface="Roboto Mono" pitchFamily="49" charset="0"/>
                <a:cs typeface="Segoe UI"/>
              </a:rPr>
              <a:t>mycli</a:t>
            </a:r>
            <a:r>
              <a:rPr lang="en-US" sz="1400" dirty="0">
                <a:solidFill>
                  <a:srgbClr val="FC595F"/>
                </a:solidFill>
                <a:latin typeface="Roboto Mono" pitchFamily="49" charset="0"/>
                <a:ea typeface="Roboto Mono" pitchFamily="49" charset="0"/>
                <a:cs typeface="Segoe UI"/>
              </a:rPr>
              <a:t>-${{ </a:t>
            </a:r>
            <a:r>
              <a:rPr lang="en-US" sz="1400" dirty="0" err="1">
                <a:solidFill>
                  <a:srgbClr val="FC595F"/>
                </a:solidFill>
                <a:latin typeface="Roboto Mono" pitchFamily="49" charset="0"/>
                <a:ea typeface="Roboto Mono" pitchFamily="49" charset="0"/>
                <a:cs typeface="Segoe UI"/>
              </a:rPr>
              <a:t>runner.os</a:t>
            </a:r>
            <a:r>
              <a:rPr lang="en-US" sz="1400" dirty="0">
                <a:solidFill>
                  <a:srgbClr val="FC595F"/>
                </a:solidFill>
                <a:latin typeface="Roboto Mono" pitchFamily="49" charset="0"/>
                <a:ea typeface="Roboto Mono" pitchFamily="49" charset="0"/>
                <a:cs typeface="Segoe UI"/>
              </a:rPr>
              <a:t> }}-${{ </a:t>
            </a:r>
            <a:r>
              <a:rPr lang="en-US" sz="1400" dirty="0" err="1">
                <a:solidFill>
                  <a:srgbClr val="FC595F"/>
                </a:solidFill>
                <a:latin typeface="Roboto Mono" pitchFamily="49" charset="0"/>
                <a:ea typeface="Roboto Mono" pitchFamily="49" charset="0"/>
                <a:cs typeface="Segoe UI"/>
              </a:rPr>
              <a:t>inputs.version</a:t>
            </a:r>
            <a:r>
              <a:rPr lang="en-US" sz="1400" dirty="0">
                <a:solidFill>
                  <a:srgbClr val="FC595F"/>
                </a:solidFill>
                <a:latin typeface="Roboto Mono" pitchFamily="49" charset="0"/>
                <a:ea typeface="Roboto Mono" pitchFamily="49" charset="0"/>
                <a:cs typeface="Segoe UI"/>
              </a:rPr>
              <a:t> }}</a:t>
            </a:r>
          </a:p>
        </p:txBody>
      </p:sp>
      <p:sp>
        <p:nvSpPr>
          <p:cNvPr id="8" name="Text Placeholder 2">
            <a:extLst>
              <a:ext uri="{FF2B5EF4-FFF2-40B4-BE49-F238E27FC236}">
                <a16:creationId xmlns:a16="http://schemas.microsoft.com/office/drawing/2014/main" id="{2B477112-02D8-BD30-CE90-C1D9D166D299}"/>
              </a:ext>
            </a:extLst>
          </p:cNvPr>
          <p:cNvSpPr txBox="1">
            <a:spLocks/>
          </p:cNvSpPr>
          <p:nvPr/>
        </p:nvSpPr>
        <p:spPr>
          <a:xfrm>
            <a:off x="660398" y="3605017"/>
            <a:ext cx="10601207" cy="74083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i="0" dirty="0">
                <a:solidFill>
                  <a:srgbClr val="161616"/>
                </a:solidFill>
                <a:effectLst/>
                <a:latin typeface="Quattrocento Sans" panose="020B0502050000020003" pitchFamily="34" charset="0"/>
              </a:rPr>
              <a:t>To improve workflow performance, cache the CLI installation directory using the </a:t>
            </a:r>
            <a:r>
              <a:rPr lang="en-US" sz="1800" i="0" dirty="0">
                <a:solidFill>
                  <a:srgbClr val="161616"/>
                </a:solidFill>
                <a:effectLst/>
                <a:highlight>
                  <a:srgbClr val="C0C0C0"/>
                </a:highlight>
                <a:latin typeface="Roboto Mono" pitchFamily="49" charset="0"/>
                <a:ea typeface="Roboto Mono" pitchFamily="49" charset="0"/>
              </a:rPr>
              <a:t>actions/cache</a:t>
            </a:r>
            <a:r>
              <a:rPr lang="en-US" sz="2000" i="0" dirty="0">
                <a:solidFill>
                  <a:srgbClr val="161616"/>
                </a:solidFill>
                <a:effectLst/>
                <a:latin typeface="Quattrocento Sans" panose="020B0502050000020003" pitchFamily="34" charset="0"/>
              </a:rPr>
              <a:t> action:</a:t>
            </a:r>
          </a:p>
        </p:txBody>
      </p:sp>
    </p:spTree>
    <p:extLst>
      <p:ext uri="{BB962C8B-B14F-4D97-AF65-F5344CB8AC3E}">
        <p14:creationId xmlns:p14="http://schemas.microsoft.com/office/powerpoint/2010/main" val="3818884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Best practices for CLI setup actions</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aphicFrame>
        <p:nvGraphicFramePr>
          <p:cNvPr id="7" name="Table 6">
            <a:extLst>
              <a:ext uri="{FF2B5EF4-FFF2-40B4-BE49-F238E27FC236}">
                <a16:creationId xmlns:a16="http://schemas.microsoft.com/office/drawing/2014/main" id="{D081472B-27F0-5887-6CA9-36411521B549}"/>
              </a:ext>
            </a:extLst>
          </p:cNvPr>
          <p:cNvGraphicFramePr>
            <a:graphicFrameLocks noGrp="1"/>
          </p:cNvGraphicFramePr>
          <p:nvPr>
            <p:extLst>
              <p:ext uri="{D42A27DB-BD31-4B8C-83A1-F6EECF244321}">
                <p14:modId xmlns:p14="http://schemas.microsoft.com/office/powerpoint/2010/main" val="211639622"/>
              </p:ext>
            </p:extLst>
          </p:nvPr>
        </p:nvGraphicFramePr>
        <p:xfrm>
          <a:off x="579438" y="2362198"/>
          <a:ext cx="10850562" cy="3175000"/>
        </p:xfrm>
        <a:graphic>
          <a:graphicData uri="http://schemas.openxmlformats.org/drawingml/2006/table">
            <a:tbl>
              <a:tblPr firstRow="1" bandRow="1">
                <a:tableStyleId>{5C22544A-7EE6-4342-B048-85BDC9FD1C3A}</a:tableStyleId>
              </a:tblPr>
              <a:tblGrid>
                <a:gridCol w="3857095">
                  <a:extLst>
                    <a:ext uri="{9D8B030D-6E8A-4147-A177-3AD203B41FA5}">
                      <a16:colId xmlns:a16="http://schemas.microsoft.com/office/drawing/2014/main" val="3881546690"/>
                    </a:ext>
                  </a:extLst>
                </a:gridCol>
                <a:gridCol w="6993467">
                  <a:extLst>
                    <a:ext uri="{9D8B030D-6E8A-4147-A177-3AD203B41FA5}">
                      <a16:colId xmlns:a16="http://schemas.microsoft.com/office/drawing/2014/main" val="3871292476"/>
                    </a:ext>
                  </a:extLst>
                </a:gridCol>
              </a:tblGrid>
              <a:tr h="635000">
                <a:tc>
                  <a:txBody>
                    <a:bodyPr/>
                    <a:lstStyle/>
                    <a:p>
                      <a:pPr algn="l" fontAlgn="t"/>
                      <a:r>
                        <a:rPr lang="en-US" sz="2400" b="1">
                          <a:solidFill>
                            <a:schemeClr val="tx1"/>
                          </a:solidFill>
                          <a:effectLst/>
                          <a:latin typeface="Quattrocento Sans" panose="020B0502050000020003" pitchFamily="34" charset="0"/>
                        </a:rPr>
                        <a:t>Best practice</a:t>
                      </a:r>
                      <a:endParaRPr lang="en-US" sz="2400">
                        <a:solidFill>
                          <a:schemeClr val="tx1"/>
                        </a:solidFill>
                        <a:effectLst/>
                        <a:latin typeface="Quattrocento Sans" panose="020B0502050000020003" pitchFamily="34" charset="0"/>
                      </a:endParaRPr>
                    </a:p>
                  </a:txBody>
                  <a:tcPr anchor="b">
                    <a:lnR w="28575" cap="flat" cmpd="sng" algn="ctr">
                      <a:solidFill>
                        <a:schemeClr val="bg1">
                          <a:lumMod val="50000"/>
                        </a:schemeClr>
                      </a:solidFill>
                      <a:prstDash val="solid"/>
                      <a:round/>
                      <a:headEnd type="none" w="med" len="med"/>
                      <a:tailEnd type="none" w="med" len="med"/>
                    </a:lnR>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sz="2400" b="1" dirty="0">
                          <a:solidFill>
                            <a:schemeClr val="tx1"/>
                          </a:solidFill>
                          <a:effectLst/>
                          <a:latin typeface="Quattrocento Sans" panose="020B0502050000020003" pitchFamily="34" charset="0"/>
                        </a:rPr>
                        <a:t>Description</a:t>
                      </a:r>
                      <a:endParaRPr lang="en-US" sz="2400" dirty="0">
                        <a:solidFill>
                          <a:schemeClr val="tx1"/>
                        </a:solidFill>
                        <a:effectLst/>
                        <a:latin typeface="Quattrocento Sans" panose="020B0502050000020003" pitchFamily="34" charset="0"/>
                      </a:endParaRPr>
                    </a:p>
                  </a:txBody>
                  <a:tcPr anchor="b">
                    <a:lnL w="28575" cap="flat" cmpd="sng" algn="ctr">
                      <a:solidFill>
                        <a:schemeClr val="bg1">
                          <a:lumMod val="50000"/>
                        </a:schemeClr>
                      </a:solidFill>
                      <a:prstDash val="solid"/>
                      <a:round/>
                      <a:headEnd type="none" w="med" len="med"/>
                      <a:tailEnd type="none" w="med" len="med"/>
                    </a:lnL>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331340377"/>
                  </a:ext>
                </a:extLst>
              </a:tr>
              <a:tr h="635000">
                <a:tc>
                  <a:txBody>
                    <a:bodyPr/>
                    <a:lstStyle/>
                    <a:p>
                      <a:pPr algn="l" fontAlgn="t"/>
                      <a:r>
                        <a:rPr lang="en-US" b="1">
                          <a:solidFill>
                            <a:schemeClr val="tx1"/>
                          </a:solidFill>
                          <a:effectLst/>
                          <a:latin typeface="Quattrocento Sans" panose="020B0502050000020003" pitchFamily="34" charset="0"/>
                        </a:rPr>
                        <a:t>Use Versioning</a:t>
                      </a:r>
                      <a:endParaRPr lang="en-US">
                        <a:solidFill>
                          <a:schemeClr val="tx1"/>
                        </a:solidFill>
                        <a:effectLst/>
                        <a:latin typeface="Quattrocento Sans" panose="020B0502050000020003" pitchFamily="34" charset="0"/>
                      </a:endParaRP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dirty="0">
                          <a:solidFill>
                            <a:schemeClr val="tx1"/>
                          </a:solidFill>
                          <a:effectLst/>
                          <a:latin typeface="Quattrocento Sans" panose="020B0502050000020003" pitchFamily="34" charset="0"/>
                        </a:rPr>
                        <a:t>Allow users to specify a CLI version via </a:t>
                      </a:r>
                      <a:r>
                        <a:rPr lang="en-US" sz="1600" dirty="0" err="1">
                          <a:solidFill>
                            <a:schemeClr val="tx1"/>
                          </a:solidFill>
                          <a:effectLst/>
                          <a:highlight>
                            <a:srgbClr val="C0C0C0"/>
                          </a:highlight>
                          <a:latin typeface="Roboto Mono" pitchFamily="49" charset="0"/>
                          <a:ea typeface="Roboto Mono" pitchFamily="49" charset="0"/>
                        </a:rPr>
                        <a:t>inputs.version</a:t>
                      </a:r>
                      <a:r>
                        <a:rPr lang="en-US" dirty="0">
                          <a:solidFill>
                            <a:schemeClr val="tx1"/>
                          </a:solidFill>
                          <a:effectLst/>
                          <a:latin typeface="Quattrocento Sans" panose="020B0502050000020003" pitchFamily="34" charset="0"/>
                        </a:rPr>
                        <a:t>.</a:t>
                      </a:r>
                    </a:p>
                  </a:txBody>
                  <a:tcPr anchor="b">
                    <a:lnL w="28575" cap="flat" cmpd="sng" algn="ctr">
                      <a:solidFill>
                        <a:schemeClr val="bg1">
                          <a:lumMod val="50000"/>
                        </a:schemeClr>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987365753"/>
                  </a:ext>
                </a:extLst>
              </a:tr>
              <a:tr h="635000">
                <a:tc>
                  <a:txBody>
                    <a:bodyPr/>
                    <a:lstStyle/>
                    <a:p>
                      <a:pPr algn="l" fontAlgn="t"/>
                      <a:r>
                        <a:rPr lang="en-US" b="1">
                          <a:solidFill>
                            <a:schemeClr val="tx1"/>
                          </a:solidFill>
                          <a:effectLst/>
                          <a:latin typeface="Quattrocento Sans" panose="020B0502050000020003" pitchFamily="34" charset="0"/>
                        </a:rPr>
                        <a:t>Handle Errors Properly</a:t>
                      </a:r>
                      <a:endParaRPr lang="en-US">
                        <a:solidFill>
                          <a:schemeClr val="tx1"/>
                        </a:solidFill>
                        <a:effectLst/>
                        <a:latin typeface="Quattrocento Sans" panose="020B0502050000020003" pitchFamily="34" charset="0"/>
                      </a:endParaRP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dirty="0">
                          <a:solidFill>
                            <a:schemeClr val="tx1"/>
                          </a:solidFill>
                          <a:effectLst/>
                          <a:latin typeface="Quattrocento Sans" panose="020B0502050000020003" pitchFamily="34" charset="0"/>
                        </a:rPr>
                        <a:t>Use </a:t>
                      </a:r>
                      <a:r>
                        <a:rPr lang="en-US" sz="1600" dirty="0" err="1">
                          <a:solidFill>
                            <a:schemeClr val="tx1"/>
                          </a:solidFill>
                          <a:effectLst/>
                          <a:highlight>
                            <a:srgbClr val="C0C0C0"/>
                          </a:highlight>
                          <a:latin typeface="Roboto Mono" pitchFamily="49" charset="0"/>
                          <a:ea typeface="Roboto Mono" pitchFamily="49" charset="0"/>
                        </a:rPr>
                        <a:t>core.setFailed</a:t>
                      </a:r>
                      <a:r>
                        <a:rPr lang="en-US" sz="1600" dirty="0">
                          <a:solidFill>
                            <a:schemeClr val="tx1"/>
                          </a:solidFill>
                          <a:effectLst/>
                          <a:highlight>
                            <a:srgbClr val="C0C0C0"/>
                          </a:highlight>
                          <a:latin typeface="Roboto Mono" pitchFamily="49" charset="0"/>
                          <a:ea typeface="Roboto Mono" pitchFamily="49" charset="0"/>
                        </a:rPr>
                        <a:t>()</a:t>
                      </a:r>
                      <a:r>
                        <a:rPr lang="en-US" sz="1600" dirty="0">
                          <a:solidFill>
                            <a:schemeClr val="tx1"/>
                          </a:solidFill>
                          <a:effectLst/>
                          <a:latin typeface="Roboto Mono" pitchFamily="49" charset="0"/>
                          <a:ea typeface="Roboto Mono" pitchFamily="49" charset="0"/>
                        </a:rPr>
                        <a:t> </a:t>
                      </a:r>
                      <a:r>
                        <a:rPr lang="en-US" dirty="0">
                          <a:solidFill>
                            <a:schemeClr val="tx1"/>
                          </a:solidFill>
                          <a:effectLst/>
                          <a:latin typeface="Quattrocento Sans" panose="020B0502050000020003" pitchFamily="34" charset="0"/>
                        </a:rPr>
                        <a:t>to exit on errors.</a:t>
                      </a:r>
                    </a:p>
                  </a:txBody>
                  <a:tcPr anchor="b">
                    <a:lnL w="28575" cap="flat" cmpd="sng" algn="ctr">
                      <a:solidFill>
                        <a:schemeClr val="bg1">
                          <a:lumMod val="50000"/>
                        </a:schemeClr>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86461986"/>
                  </a:ext>
                </a:extLst>
              </a:tr>
              <a:tr h="635000">
                <a:tc>
                  <a:txBody>
                    <a:bodyPr/>
                    <a:lstStyle/>
                    <a:p>
                      <a:pPr algn="l" fontAlgn="t"/>
                      <a:r>
                        <a:rPr lang="en-US" b="1">
                          <a:solidFill>
                            <a:schemeClr val="tx1"/>
                          </a:solidFill>
                          <a:effectLst/>
                          <a:latin typeface="Quattrocento Sans" panose="020B0502050000020003" pitchFamily="34" charset="0"/>
                        </a:rPr>
                        <a:t>Cache CLI Installation</a:t>
                      </a:r>
                      <a:endParaRPr lang="en-US">
                        <a:solidFill>
                          <a:schemeClr val="tx1"/>
                        </a:solidFill>
                        <a:effectLst/>
                        <a:latin typeface="Quattrocento Sans" panose="020B0502050000020003" pitchFamily="34" charset="0"/>
                      </a:endParaRP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dirty="0">
                          <a:solidFill>
                            <a:schemeClr val="tx1"/>
                          </a:solidFill>
                          <a:effectLst/>
                          <a:latin typeface="Quattrocento Sans" panose="020B0502050000020003" pitchFamily="34" charset="0"/>
                        </a:rPr>
                        <a:t>Optimize workflow performance using </a:t>
                      </a:r>
                      <a:r>
                        <a:rPr lang="en-US" sz="1600" dirty="0">
                          <a:solidFill>
                            <a:schemeClr val="tx1"/>
                          </a:solidFill>
                          <a:effectLst/>
                          <a:highlight>
                            <a:srgbClr val="C0C0C0"/>
                          </a:highlight>
                          <a:latin typeface="Roboto Mono" pitchFamily="49" charset="0"/>
                          <a:ea typeface="Roboto Mono" pitchFamily="49" charset="0"/>
                        </a:rPr>
                        <a:t>actions/cache</a:t>
                      </a:r>
                      <a:r>
                        <a:rPr lang="en-US" dirty="0">
                          <a:solidFill>
                            <a:schemeClr val="tx1"/>
                          </a:solidFill>
                          <a:effectLst/>
                          <a:latin typeface="Quattrocento Sans" panose="020B0502050000020003" pitchFamily="34" charset="0"/>
                        </a:rPr>
                        <a:t>.</a:t>
                      </a:r>
                    </a:p>
                  </a:txBody>
                  <a:tcPr anchor="b">
                    <a:lnL w="28575" cap="flat" cmpd="sng" algn="ctr">
                      <a:solidFill>
                        <a:schemeClr val="bg1">
                          <a:lumMod val="50000"/>
                        </a:schemeClr>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19159582"/>
                  </a:ext>
                </a:extLst>
              </a:tr>
              <a:tr h="635000">
                <a:tc>
                  <a:txBody>
                    <a:bodyPr/>
                    <a:lstStyle/>
                    <a:p>
                      <a:pPr algn="l" fontAlgn="t"/>
                      <a:r>
                        <a:rPr lang="en-US" b="1">
                          <a:solidFill>
                            <a:schemeClr val="tx1"/>
                          </a:solidFill>
                          <a:effectLst/>
                          <a:latin typeface="Quattrocento Sans" panose="020B0502050000020003" pitchFamily="34" charset="0"/>
                        </a:rPr>
                        <a:t>Provide Documentation</a:t>
                      </a:r>
                      <a:endParaRPr lang="en-US">
                        <a:solidFill>
                          <a:schemeClr val="tx1"/>
                        </a:solidFill>
                        <a:effectLst/>
                        <a:latin typeface="Quattrocento Sans" panose="020B0502050000020003" pitchFamily="34" charset="0"/>
                      </a:endParaRP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noFill/>
                  </a:tcPr>
                </a:tc>
                <a:tc>
                  <a:txBody>
                    <a:bodyPr/>
                    <a:lstStyle/>
                    <a:p>
                      <a:pPr algn="l" fontAlgn="t"/>
                      <a:r>
                        <a:rPr lang="en-US" dirty="0">
                          <a:solidFill>
                            <a:schemeClr val="tx1"/>
                          </a:solidFill>
                          <a:effectLst/>
                          <a:latin typeface="Quattrocento Sans" panose="020B0502050000020003" pitchFamily="34" charset="0"/>
                        </a:rPr>
                        <a:t>Explain usage and inputs in </a:t>
                      </a:r>
                      <a:r>
                        <a:rPr lang="en-US" sz="1600" dirty="0" err="1">
                          <a:solidFill>
                            <a:schemeClr val="tx1"/>
                          </a:solidFill>
                          <a:effectLst/>
                          <a:highlight>
                            <a:srgbClr val="C0C0C0"/>
                          </a:highlight>
                          <a:latin typeface="Roboto Mono" pitchFamily="49" charset="0"/>
                          <a:ea typeface="Roboto Mono" pitchFamily="49" charset="0"/>
                        </a:rPr>
                        <a:t>README.md</a:t>
                      </a:r>
                      <a:r>
                        <a:rPr lang="en-US" dirty="0">
                          <a:solidFill>
                            <a:schemeClr val="tx1"/>
                          </a:solidFill>
                          <a:effectLst/>
                          <a:latin typeface="Quattrocento Sans" panose="020B0502050000020003" pitchFamily="34" charset="0"/>
                        </a:rPr>
                        <a:t>.</a:t>
                      </a:r>
                    </a:p>
                  </a:txBody>
                  <a:tcPr anchor="b">
                    <a:lnL w="28575" cap="flat" cmpd="sng" algn="ctr">
                      <a:solidFill>
                        <a:schemeClr val="bg1">
                          <a:lumMod val="50000"/>
                        </a:schemeClr>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noFill/>
                  </a:tcPr>
                </a:tc>
                <a:extLst>
                  <a:ext uri="{0D108BD9-81ED-4DB2-BD59-A6C34878D82A}">
                    <a16:rowId xmlns:a16="http://schemas.microsoft.com/office/drawing/2014/main" val="1061785231"/>
                  </a:ext>
                </a:extLst>
              </a:tr>
            </a:tbl>
          </a:graphicData>
        </a:graphic>
      </p:graphicFrame>
    </p:spTree>
    <p:extLst>
      <p:ext uri="{BB962C8B-B14F-4D97-AF65-F5344CB8AC3E}">
        <p14:creationId xmlns:p14="http://schemas.microsoft.com/office/powerpoint/2010/main" val="375111545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Troubleshoot JavaScript actions</a:t>
            </a: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5499" y="1171976"/>
            <a:ext cx="1073550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i="0" dirty="0">
                <a:effectLst/>
                <a:latin typeface="Quattrocento Sans" panose="020B0502050000020003" pitchFamily="34" charset="0"/>
              </a:rPr>
              <a:t>When working with JavaScript-based GitHub Actions, you may encounter unexpected behavior, errors, or failures during workflow execution. This unit provides techniques and tools to help you identify and resolve issues in your JavaScript actions.</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7" name="Text Placeholder 2">
            <a:extLst>
              <a:ext uri="{FF2B5EF4-FFF2-40B4-BE49-F238E27FC236}">
                <a16:creationId xmlns:a16="http://schemas.microsoft.com/office/drawing/2014/main" id="{249F66C5-1800-6CC8-CF2C-46BD23695C30}"/>
              </a:ext>
            </a:extLst>
          </p:cNvPr>
          <p:cNvSpPr txBox="1">
            <a:spLocks/>
          </p:cNvSpPr>
          <p:nvPr/>
        </p:nvSpPr>
        <p:spPr>
          <a:xfrm>
            <a:off x="575499" y="2241044"/>
            <a:ext cx="5140945"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i="0" dirty="0">
                <a:effectLst/>
                <a:latin typeface="Quattrocento Sans" panose="020B0502050000020003" pitchFamily="34" charset="0"/>
              </a:rPr>
              <a:t>Common troubleshooting scenarios</a:t>
            </a:r>
          </a:p>
        </p:txBody>
      </p:sp>
      <p:graphicFrame>
        <p:nvGraphicFramePr>
          <p:cNvPr id="6" name="Table 5">
            <a:extLst>
              <a:ext uri="{FF2B5EF4-FFF2-40B4-BE49-F238E27FC236}">
                <a16:creationId xmlns:a16="http://schemas.microsoft.com/office/drawing/2014/main" id="{F4A0B513-D9DB-2258-7D85-9B21F04EB3D9}"/>
              </a:ext>
            </a:extLst>
          </p:cNvPr>
          <p:cNvGraphicFramePr>
            <a:graphicFrameLocks noGrp="1"/>
          </p:cNvGraphicFramePr>
          <p:nvPr>
            <p:extLst>
              <p:ext uri="{D42A27DB-BD31-4B8C-83A1-F6EECF244321}">
                <p14:modId xmlns:p14="http://schemas.microsoft.com/office/powerpoint/2010/main" val="454912871"/>
              </p:ext>
            </p:extLst>
          </p:nvPr>
        </p:nvGraphicFramePr>
        <p:xfrm>
          <a:off x="575499" y="2733486"/>
          <a:ext cx="10850563" cy="3351324"/>
        </p:xfrm>
        <a:graphic>
          <a:graphicData uri="http://schemas.openxmlformats.org/drawingml/2006/table">
            <a:tbl>
              <a:tblPr firstRow="1" bandRow="1">
                <a:tableStyleId>{5C22544A-7EE6-4342-B048-85BDC9FD1C3A}</a:tableStyleId>
              </a:tblPr>
              <a:tblGrid>
                <a:gridCol w="2823684">
                  <a:extLst>
                    <a:ext uri="{9D8B030D-6E8A-4147-A177-3AD203B41FA5}">
                      <a16:colId xmlns:a16="http://schemas.microsoft.com/office/drawing/2014/main" val="3881546690"/>
                    </a:ext>
                  </a:extLst>
                </a:gridCol>
                <a:gridCol w="4015408">
                  <a:extLst>
                    <a:ext uri="{9D8B030D-6E8A-4147-A177-3AD203B41FA5}">
                      <a16:colId xmlns:a16="http://schemas.microsoft.com/office/drawing/2014/main" val="3871292476"/>
                    </a:ext>
                  </a:extLst>
                </a:gridCol>
                <a:gridCol w="4011471">
                  <a:extLst>
                    <a:ext uri="{9D8B030D-6E8A-4147-A177-3AD203B41FA5}">
                      <a16:colId xmlns:a16="http://schemas.microsoft.com/office/drawing/2014/main" val="3169169894"/>
                    </a:ext>
                  </a:extLst>
                </a:gridCol>
              </a:tblGrid>
              <a:tr h="548271">
                <a:tc>
                  <a:txBody>
                    <a:bodyPr/>
                    <a:lstStyle/>
                    <a:p>
                      <a:pPr algn="l" fontAlgn="t"/>
                      <a:r>
                        <a:rPr lang="en-US" sz="2000" dirty="0">
                          <a:solidFill>
                            <a:schemeClr val="tx1"/>
                          </a:solidFill>
                          <a:effectLst/>
                          <a:latin typeface="Quattrocento Sans" panose="020B0502050000020003" pitchFamily="34" charset="0"/>
                        </a:rPr>
                        <a:t>Problem</a:t>
                      </a:r>
                    </a:p>
                  </a:txBody>
                  <a:tcPr anchor="b">
                    <a:lnR w="28575" cap="flat" cmpd="sng" algn="ctr">
                      <a:solidFill>
                        <a:schemeClr val="bg1">
                          <a:lumMod val="50000"/>
                        </a:schemeClr>
                      </a:solidFill>
                      <a:prstDash val="solid"/>
                      <a:round/>
                      <a:headEnd type="none" w="med" len="med"/>
                      <a:tailEnd type="none" w="med" len="med"/>
                    </a:lnR>
                    <a:lnB w="285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l" fontAlgn="t"/>
                      <a:r>
                        <a:rPr lang="en-US" sz="2000">
                          <a:solidFill>
                            <a:schemeClr val="tx1"/>
                          </a:solidFill>
                          <a:effectLst/>
                          <a:latin typeface="Quattrocento Sans" panose="020B0502050000020003" pitchFamily="34" charset="0"/>
                        </a:rPr>
                        <a:t>Possible cause</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B w="285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l" fontAlgn="t"/>
                      <a:r>
                        <a:rPr lang="en-US" sz="2000" dirty="0">
                          <a:solidFill>
                            <a:schemeClr val="tx1"/>
                          </a:solidFill>
                          <a:effectLst/>
                          <a:latin typeface="Quattrocento Sans" panose="020B0502050000020003" pitchFamily="34" charset="0"/>
                        </a:rPr>
                        <a:t>Suggested fix</a:t>
                      </a:r>
                    </a:p>
                  </a:txBody>
                  <a:tcPr anchor="b">
                    <a:lnL w="28575" cap="flat" cmpd="sng" algn="ctr">
                      <a:solidFill>
                        <a:schemeClr val="bg1">
                          <a:lumMod val="50000"/>
                        </a:schemeClr>
                      </a:solidFill>
                      <a:prstDash val="solid"/>
                      <a:round/>
                      <a:headEnd type="none" w="med" len="med"/>
                      <a:tailEnd type="none" w="med" len="med"/>
                    </a:lnL>
                    <a:lnB w="28575"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340377"/>
                  </a:ext>
                </a:extLst>
              </a:tr>
              <a:tr h="548271">
                <a:tc>
                  <a:txBody>
                    <a:bodyPr/>
                    <a:lstStyle/>
                    <a:p>
                      <a:pPr algn="l" fontAlgn="t"/>
                      <a:r>
                        <a:rPr lang="en-US" sz="1600">
                          <a:solidFill>
                            <a:schemeClr val="tx1"/>
                          </a:solidFill>
                          <a:effectLst/>
                          <a:latin typeface="Quattrocento Sans" panose="020B0502050000020003" pitchFamily="34" charset="0"/>
                        </a:rPr>
                        <a:t>Action fails with a stack trace</a:t>
                      </a: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sz="1600" dirty="0">
                          <a:solidFill>
                            <a:schemeClr val="tx1"/>
                          </a:solidFill>
                          <a:effectLst/>
                          <a:latin typeface="Quattrocento Sans" panose="020B0502050000020003" pitchFamily="34" charset="0"/>
                        </a:rPr>
                        <a:t>Syntax or runtime error in </a:t>
                      </a:r>
                      <a:r>
                        <a:rPr lang="en-US" sz="1400" dirty="0" err="1">
                          <a:solidFill>
                            <a:schemeClr val="tx1"/>
                          </a:solidFill>
                          <a:effectLst/>
                          <a:highlight>
                            <a:srgbClr val="C0C0C0"/>
                          </a:highlight>
                          <a:latin typeface="Roboto Mono" pitchFamily="49" charset="0"/>
                          <a:ea typeface="Roboto Mono" pitchFamily="49" charset="0"/>
                        </a:rPr>
                        <a:t>index.js</a:t>
                      </a:r>
                      <a:endParaRPr lang="en-US" sz="1600" dirty="0">
                        <a:solidFill>
                          <a:schemeClr val="tx1"/>
                        </a:solidFill>
                        <a:effectLst/>
                        <a:highlight>
                          <a:srgbClr val="C0C0C0"/>
                        </a:highlight>
                        <a:latin typeface="Roboto Mono" pitchFamily="49" charset="0"/>
                        <a:ea typeface="Roboto Mono" pitchFamily="49" charset="0"/>
                      </a:endParaRP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sz="1600" dirty="0">
                          <a:solidFill>
                            <a:schemeClr val="tx1"/>
                          </a:solidFill>
                          <a:effectLst/>
                          <a:latin typeface="Quattrocento Sans" panose="020B0502050000020003" pitchFamily="34" charset="0"/>
                        </a:rPr>
                        <a:t>Use </a:t>
                      </a:r>
                      <a:r>
                        <a:rPr lang="en-US" sz="1400" dirty="0" err="1">
                          <a:solidFill>
                            <a:schemeClr val="tx1"/>
                          </a:solidFill>
                          <a:effectLst/>
                          <a:highlight>
                            <a:srgbClr val="C0C0C0"/>
                          </a:highlight>
                          <a:latin typeface="Roboto Mono" pitchFamily="49" charset="0"/>
                          <a:ea typeface="Roboto Mono" pitchFamily="49" charset="0"/>
                        </a:rPr>
                        <a:t>console.log</a:t>
                      </a:r>
                      <a:r>
                        <a:rPr lang="en-US" sz="1400" dirty="0">
                          <a:solidFill>
                            <a:schemeClr val="tx1"/>
                          </a:solidFill>
                          <a:effectLst/>
                          <a:highlight>
                            <a:srgbClr val="C0C0C0"/>
                          </a:highlight>
                          <a:latin typeface="Roboto Mono" pitchFamily="49" charset="0"/>
                          <a:ea typeface="Roboto Mono" pitchFamily="49" charset="0"/>
                        </a:rPr>
                        <a:t>()</a:t>
                      </a:r>
                      <a:r>
                        <a:rPr lang="en-US" sz="1600" dirty="0">
                          <a:solidFill>
                            <a:schemeClr val="tx1"/>
                          </a:solidFill>
                          <a:effectLst/>
                          <a:latin typeface="Quattrocento Sans" panose="020B0502050000020003" pitchFamily="34" charset="0"/>
                        </a:rPr>
                        <a:t> and check logs</a:t>
                      </a:r>
                    </a:p>
                  </a:txBody>
                  <a:tcPr anchor="b">
                    <a:lnL w="28575" cap="flat" cmpd="sng" algn="ctr">
                      <a:solidFill>
                        <a:schemeClr val="bg1">
                          <a:lumMod val="50000"/>
                        </a:schemeClr>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987365753"/>
                  </a:ext>
                </a:extLst>
              </a:tr>
              <a:tr h="548271">
                <a:tc>
                  <a:txBody>
                    <a:bodyPr/>
                    <a:lstStyle/>
                    <a:p>
                      <a:pPr algn="l" fontAlgn="t"/>
                      <a:r>
                        <a:rPr lang="en-US" sz="1600" dirty="0">
                          <a:solidFill>
                            <a:schemeClr val="tx1"/>
                          </a:solidFill>
                          <a:effectLst/>
                          <a:latin typeface="Quattrocento Sans" panose="020B0502050000020003" pitchFamily="34" charset="0"/>
                        </a:rPr>
                        <a:t>Inputs are </a:t>
                      </a:r>
                      <a:r>
                        <a:rPr lang="en-US" sz="1400" dirty="0">
                          <a:solidFill>
                            <a:schemeClr val="tx1"/>
                          </a:solidFill>
                          <a:effectLst/>
                          <a:highlight>
                            <a:srgbClr val="C0C0C0"/>
                          </a:highlight>
                          <a:latin typeface="Roboto Mono" pitchFamily="49" charset="0"/>
                          <a:ea typeface="Roboto Mono" pitchFamily="49" charset="0"/>
                        </a:rPr>
                        <a:t>undefined</a:t>
                      </a:r>
                      <a:endParaRPr lang="en-US" sz="1600" dirty="0">
                        <a:solidFill>
                          <a:schemeClr val="tx1"/>
                        </a:solidFill>
                        <a:effectLst/>
                        <a:highlight>
                          <a:srgbClr val="C0C0C0"/>
                        </a:highlight>
                        <a:latin typeface="Roboto Mono" pitchFamily="49" charset="0"/>
                        <a:ea typeface="Roboto Mono" pitchFamily="49" charset="0"/>
                      </a:endParaRP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sz="1600">
                          <a:solidFill>
                            <a:schemeClr val="tx1"/>
                          </a:solidFill>
                          <a:effectLst/>
                          <a:latin typeface="Quattrocento Sans" panose="020B0502050000020003" pitchFamily="34" charset="0"/>
                        </a:rPr>
                        <a:t>Incorrect input name or missing input</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sz="1600" dirty="0">
                          <a:solidFill>
                            <a:schemeClr val="tx1"/>
                          </a:solidFill>
                          <a:effectLst/>
                          <a:latin typeface="Quattrocento Sans" panose="020B0502050000020003" pitchFamily="34" charset="0"/>
                        </a:rPr>
                        <a:t>Verify </a:t>
                      </a:r>
                      <a:r>
                        <a:rPr lang="en-US" sz="1400" dirty="0" err="1">
                          <a:solidFill>
                            <a:schemeClr val="tx1"/>
                          </a:solidFill>
                          <a:effectLst/>
                          <a:highlight>
                            <a:srgbClr val="C0C0C0"/>
                          </a:highlight>
                          <a:latin typeface="Roboto Mono" pitchFamily="49" charset="0"/>
                          <a:ea typeface="Roboto Mono" pitchFamily="49" charset="0"/>
                        </a:rPr>
                        <a:t>action.yml</a:t>
                      </a:r>
                      <a:r>
                        <a:rPr lang="en-US" sz="1600" dirty="0">
                          <a:solidFill>
                            <a:schemeClr val="tx1"/>
                          </a:solidFill>
                          <a:effectLst/>
                          <a:latin typeface="Quattrocento Sans" panose="020B0502050000020003" pitchFamily="34" charset="0"/>
                        </a:rPr>
                        <a:t> and how inputs are passed</a:t>
                      </a:r>
                    </a:p>
                  </a:txBody>
                  <a:tcPr anchor="b">
                    <a:lnL w="28575" cap="flat" cmpd="sng" algn="ctr">
                      <a:solidFill>
                        <a:schemeClr val="bg1">
                          <a:lumMod val="50000"/>
                        </a:schemeClr>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86461986"/>
                  </a:ext>
                </a:extLst>
              </a:tr>
              <a:tr h="548271">
                <a:tc>
                  <a:txBody>
                    <a:bodyPr/>
                    <a:lstStyle/>
                    <a:p>
                      <a:pPr algn="l" fontAlgn="t"/>
                      <a:r>
                        <a:rPr lang="en-US" sz="1600">
                          <a:solidFill>
                            <a:schemeClr val="tx1"/>
                          </a:solidFill>
                          <a:effectLst/>
                          <a:latin typeface="Quattrocento Sans" panose="020B0502050000020003" pitchFamily="34" charset="0"/>
                        </a:rPr>
                        <a:t>Environment variables not set</a:t>
                      </a: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sz="1400" dirty="0" err="1">
                          <a:solidFill>
                            <a:schemeClr val="tx1"/>
                          </a:solidFill>
                          <a:effectLst/>
                          <a:highlight>
                            <a:srgbClr val="C0C0C0"/>
                          </a:highlight>
                          <a:latin typeface="Roboto Mono" pitchFamily="49" charset="0"/>
                          <a:ea typeface="Roboto Mono" pitchFamily="49" charset="0"/>
                        </a:rPr>
                        <a:t>core.exportVariable</a:t>
                      </a:r>
                      <a:r>
                        <a:rPr lang="en-US" sz="1600" dirty="0">
                          <a:solidFill>
                            <a:schemeClr val="tx1"/>
                          </a:solidFill>
                          <a:effectLst/>
                          <a:latin typeface="Quattrocento Sans" panose="020B0502050000020003" pitchFamily="34" charset="0"/>
                        </a:rPr>
                        <a:t> or </a:t>
                      </a:r>
                      <a:r>
                        <a:rPr lang="en-US" sz="1400" dirty="0" err="1">
                          <a:solidFill>
                            <a:schemeClr val="tx1"/>
                          </a:solidFill>
                          <a:effectLst/>
                          <a:highlight>
                            <a:srgbClr val="C0C0C0"/>
                          </a:highlight>
                          <a:latin typeface="Roboto Mono" pitchFamily="49" charset="0"/>
                          <a:ea typeface="Roboto Mono" pitchFamily="49" charset="0"/>
                        </a:rPr>
                        <a:t>process.env</a:t>
                      </a:r>
                      <a:r>
                        <a:rPr lang="en-US" sz="1600" dirty="0">
                          <a:solidFill>
                            <a:schemeClr val="tx1"/>
                          </a:solidFill>
                          <a:effectLst/>
                          <a:latin typeface="Quattrocento Sans" panose="020B0502050000020003" pitchFamily="34" charset="0"/>
                        </a:rPr>
                        <a:t> not used properly</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sz="1600">
                          <a:solidFill>
                            <a:schemeClr val="tx1"/>
                          </a:solidFill>
                          <a:effectLst/>
                          <a:latin typeface="Quattrocento Sans" panose="020B0502050000020003" pitchFamily="34" charset="0"/>
                        </a:rPr>
                        <a:t>Review the code setting the variables</a:t>
                      </a:r>
                    </a:p>
                  </a:txBody>
                  <a:tcPr anchor="b">
                    <a:lnL w="28575" cap="flat" cmpd="sng" algn="ctr">
                      <a:solidFill>
                        <a:schemeClr val="bg1">
                          <a:lumMod val="50000"/>
                        </a:schemeClr>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19159582"/>
                  </a:ext>
                </a:extLst>
              </a:tr>
              <a:tr h="548271">
                <a:tc>
                  <a:txBody>
                    <a:bodyPr/>
                    <a:lstStyle/>
                    <a:p>
                      <a:pPr algn="l" fontAlgn="t"/>
                      <a:r>
                        <a:rPr lang="en-US" sz="1600">
                          <a:solidFill>
                            <a:schemeClr val="tx1"/>
                          </a:solidFill>
                          <a:effectLst/>
                          <a:latin typeface="Quattrocento Sans" panose="020B0502050000020003" pitchFamily="34" charset="0"/>
                        </a:rPr>
                        <a:t>File not found</a:t>
                      </a: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sz="1600">
                          <a:solidFill>
                            <a:schemeClr val="tx1"/>
                          </a:solidFill>
                          <a:effectLst/>
                          <a:latin typeface="Quattrocento Sans" panose="020B0502050000020003" pitchFamily="34" charset="0"/>
                        </a:rPr>
                        <a:t>Missing relative paths</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sz="1600" dirty="0">
                          <a:solidFill>
                            <a:schemeClr val="tx1"/>
                          </a:solidFill>
                          <a:effectLst/>
                          <a:latin typeface="Quattrocento Sans" panose="020B0502050000020003" pitchFamily="34" charset="0"/>
                        </a:rPr>
                        <a:t>Use </a:t>
                      </a:r>
                      <a:r>
                        <a:rPr lang="en-US" sz="1400" dirty="0">
                          <a:solidFill>
                            <a:schemeClr val="tx1"/>
                          </a:solidFill>
                          <a:effectLst/>
                          <a:highlight>
                            <a:srgbClr val="C0C0C0"/>
                          </a:highlight>
                          <a:latin typeface="Roboto Mono" pitchFamily="49" charset="0"/>
                          <a:ea typeface="Roboto Mono" pitchFamily="49" charset="0"/>
                        </a:rPr>
                        <a:t>__</a:t>
                      </a:r>
                      <a:r>
                        <a:rPr lang="en-US" sz="1400" dirty="0" err="1">
                          <a:solidFill>
                            <a:schemeClr val="tx1"/>
                          </a:solidFill>
                          <a:effectLst/>
                          <a:highlight>
                            <a:srgbClr val="C0C0C0"/>
                          </a:highlight>
                          <a:latin typeface="Roboto Mono" pitchFamily="49" charset="0"/>
                          <a:ea typeface="Roboto Mono" pitchFamily="49" charset="0"/>
                        </a:rPr>
                        <a:t>dirname</a:t>
                      </a:r>
                      <a:r>
                        <a:rPr lang="en-US" sz="1600" dirty="0">
                          <a:solidFill>
                            <a:schemeClr val="tx1"/>
                          </a:solidFill>
                          <a:effectLst/>
                          <a:latin typeface="Quattrocento Sans" panose="020B0502050000020003" pitchFamily="34" charset="0"/>
                        </a:rPr>
                        <a:t> or full paths to files</a:t>
                      </a:r>
                    </a:p>
                  </a:txBody>
                  <a:tcPr anchor="b">
                    <a:lnL w="28575" cap="flat" cmpd="sng" algn="ctr">
                      <a:solidFill>
                        <a:schemeClr val="bg1">
                          <a:lumMod val="50000"/>
                        </a:schemeClr>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61785231"/>
                  </a:ext>
                </a:extLst>
              </a:tr>
              <a:tr h="548271">
                <a:tc>
                  <a:txBody>
                    <a:bodyPr/>
                    <a:lstStyle/>
                    <a:p>
                      <a:pPr algn="l" fontAlgn="t"/>
                      <a:r>
                        <a:rPr lang="en-US" sz="1600">
                          <a:solidFill>
                            <a:schemeClr val="tx1"/>
                          </a:solidFill>
                          <a:effectLst/>
                          <a:latin typeface="Quattrocento Sans" panose="020B0502050000020003" pitchFamily="34" charset="0"/>
                        </a:rPr>
                        <a:t>Cache is not restored</a:t>
                      </a: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noFill/>
                  </a:tcPr>
                </a:tc>
                <a:tc>
                  <a:txBody>
                    <a:bodyPr/>
                    <a:lstStyle/>
                    <a:p>
                      <a:pPr algn="l" fontAlgn="t"/>
                      <a:r>
                        <a:rPr lang="en-US" sz="1600" dirty="0">
                          <a:solidFill>
                            <a:schemeClr val="tx1"/>
                          </a:solidFill>
                          <a:effectLst/>
                          <a:latin typeface="Quattrocento Sans" panose="020B0502050000020003" pitchFamily="34" charset="0"/>
                        </a:rPr>
                        <a:t>Wrong </a:t>
                      </a:r>
                      <a:r>
                        <a:rPr lang="en-US" sz="1400" dirty="0">
                          <a:solidFill>
                            <a:schemeClr val="tx1"/>
                          </a:solidFill>
                          <a:effectLst/>
                          <a:highlight>
                            <a:srgbClr val="C0C0C0"/>
                          </a:highlight>
                          <a:latin typeface="Roboto Mono" pitchFamily="49" charset="0"/>
                          <a:ea typeface="Roboto Mono" pitchFamily="49" charset="0"/>
                        </a:rPr>
                        <a:t>key</a:t>
                      </a:r>
                      <a:r>
                        <a:rPr lang="en-US" sz="1600" dirty="0">
                          <a:solidFill>
                            <a:schemeClr val="tx1"/>
                          </a:solidFill>
                          <a:effectLst/>
                          <a:latin typeface="Quattrocento Sans" panose="020B0502050000020003" pitchFamily="34" charset="0"/>
                        </a:rPr>
                        <a:t> or </a:t>
                      </a:r>
                      <a:r>
                        <a:rPr lang="en-US" sz="1400" dirty="0">
                          <a:solidFill>
                            <a:schemeClr val="tx1"/>
                          </a:solidFill>
                          <a:effectLst/>
                          <a:highlight>
                            <a:srgbClr val="C0C0C0"/>
                          </a:highlight>
                          <a:latin typeface="Roboto Mono" pitchFamily="49" charset="0"/>
                          <a:ea typeface="Roboto Mono" pitchFamily="49" charset="0"/>
                        </a:rPr>
                        <a:t>path</a:t>
                      </a:r>
                      <a:r>
                        <a:rPr lang="en-US" sz="1600" dirty="0">
                          <a:solidFill>
                            <a:schemeClr val="tx1"/>
                          </a:solidFill>
                          <a:effectLst/>
                          <a:latin typeface="Quattrocento Sans" panose="020B0502050000020003" pitchFamily="34" charset="0"/>
                        </a:rPr>
                        <a:t> values</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noFill/>
                  </a:tcPr>
                </a:tc>
                <a:tc>
                  <a:txBody>
                    <a:bodyPr/>
                    <a:lstStyle/>
                    <a:p>
                      <a:pPr algn="l" fontAlgn="t"/>
                      <a:r>
                        <a:rPr lang="en-US" sz="1600" dirty="0">
                          <a:solidFill>
                            <a:schemeClr val="tx1"/>
                          </a:solidFill>
                          <a:effectLst/>
                          <a:latin typeface="Quattrocento Sans" panose="020B0502050000020003" pitchFamily="34" charset="0"/>
                        </a:rPr>
                        <a:t>Check cache configuration and keys</a:t>
                      </a:r>
                    </a:p>
                  </a:txBody>
                  <a:tcPr anchor="b">
                    <a:lnL w="28575" cap="flat" cmpd="sng" algn="ctr">
                      <a:solidFill>
                        <a:schemeClr val="bg1">
                          <a:lumMod val="50000"/>
                        </a:schemeClr>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noFill/>
                  </a:tcPr>
                </a:tc>
                <a:extLst>
                  <a:ext uri="{0D108BD9-81ED-4DB2-BD59-A6C34878D82A}">
                    <a16:rowId xmlns:a16="http://schemas.microsoft.com/office/drawing/2014/main" val="3770676371"/>
                  </a:ext>
                </a:extLst>
              </a:tr>
            </a:tbl>
          </a:graphicData>
        </a:graphic>
      </p:graphicFrame>
    </p:spTree>
    <p:extLst>
      <p:ext uri="{BB962C8B-B14F-4D97-AF65-F5344CB8AC3E}">
        <p14:creationId xmlns:p14="http://schemas.microsoft.com/office/powerpoint/2010/main" val="3239287260"/>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Use Logging for Debugging</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Title 1">
            <a:extLst>
              <a:ext uri="{FF2B5EF4-FFF2-40B4-BE49-F238E27FC236}">
                <a16:creationId xmlns:a16="http://schemas.microsoft.com/office/drawing/2014/main" id="{7AF223A5-95FD-0585-689D-549DC7AD1424}"/>
              </a:ext>
            </a:extLst>
          </p:cNvPr>
          <p:cNvSpPr txBox="1">
            <a:spLocks/>
          </p:cNvSpPr>
          <p:nvPr/>
        </p:nvSpPr>
        <p:spPr>
          <a:xfrm>
            <a:off x="660960" y="2218062"/>
            <a:ext cx="5103736" cy="1210938"/>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000" b="0" i="0" kern="1200">
                <a:solidFill>
                  <a:schemeClr val="tx1"/>
                </a:solidFill>
                <a:latin typeface="+mj-lt"/>
                <a:ea typeface="+mj-ea"/>
                <a:cs typeface="Segoe UI Semibold" panose="020B0502040204020203" pitchFamily="34" charset="0"/>
              </a:defRPr>
            </a:lvl1pPr>
          </a:lstStyle>
          <a:p>
            <a:pPr>
              <a:lnSpc>
                <a:spcPct val="100000"/>
              </a:lnSpc>
            </a:pPr>
            <a:r>
              <a:rPr lang="en-US" b="1" dirty="0">
                <a:latin typeface="Quattrocento Sans" panose="020B0502050000020003" pitchFamily="34" charset="0"/>
              </a:rPr>
              <a:t>Log messages with </a:t>
            </a:r>
            <a:r>
              <a:rPr lang="en-US" sz="1800" dirty="0" err="1">
                <a:highlight>
                  <a:srgbClr val="C0C0C0"/>
                </a:highlight>
                <a:latin typeface="Roboto Mono" pitchFamily="49" charset="0"/>
                <a:ea typeface="Roboto Mono" pitchFamily="49" charset="0"/>
              </a:rPr>
              <a:t>core.info</a:t>
            </a:r>
            <a:r>
              <a:rPr lang="en-US" dirty="0">
                <a:latin typeface="Quattrocento Sans" panose="020B0502050000020003" pitchFamily="34" charset="0"/>
              </a:rPr>
              <a:t>, </a:t>
            </a:r>
            <a:r>
              <a:rPr lang="en-US" sz="1800" dirty="0" err="1">
                <a:highlight>
                  <a:srgbClr val="C0C0C0"/>
                </a:highlight>
                <a:latin typeface="Roboto Mono" pitchFamily="49" charset="0"/>
                <a:ea typeface="Roboto Mono" pitchFamily="49" charset="0"/>
              </a:rPr>
              <a:t>core.debug</a:t>
            </a:r>
            <a:r>
              <a:rPr lang="en-US" dirty="0">
                <a:latin typeface="Quattrocento Sans" panose="020B0502050000020003" pitchFamily="34" charset="0"/>
              </a:rPr>
              <a:t>, </a:t>
            </a:r>
            <a:r>
              <a:rPr lang="en-US" b="1" dirty="0">
                <a:latin typeface="Quattrocento Sans" panose="020B0502050000020003" pitchFamily="34" charset="0"/>
              </a:rPr>
              <a:t>and</a:t>
            </a:r>
            <a:r>
              <a:rPr lang="en-US" dirty="0">
                <a:latin typeface="Quattrocento Sans" panose="020B0502050000020003" pitchFamily="34" charset="0"/>
              </a:rPr>
              <a:t> </a:t>
            </a:r>
            <a:r>
              <a:rPr lang="en-US" sz="1800" dirty="0" err="1">
                <a:highlight>
                  <a:srgbClr val="C0C0C0"/>
                </a:highlight>
                <a:latin typeface="Roboto Mono" pitchFamily="49" charset="0"/>
                <a:ea typeface="Roboto Mono" pitchFamily="49" charset="0"/>
              </a:rPr>
              <a:t>console.log</a:t>
            </a:r>
            <a:endParaRPr lang="en-US" dirty="0">
              <a:highlight>
                <a:srgbClr val="C0C0C0"/>
              </a:highlight>
              <a:latin typeface="Roboto Mono" pitchFamily="49" charset="0"/>
              <a:ea typeface="Roboto Mono" pitchFamily="49" charset="0"/>
            </a:endParaRPr>
          </a:p>
        </p:txBody>
      </p:sp>
      <p:pic>
        <p:nvPicPr>
          <p:cNvPr id="12" name="Picture 11" descr="A screenshot of a computer code&#10;&#10;Description automatically generated">
            <a:extLst>
              <a:ext uri="{FF2B5EF4-FFF2-40B4-BE49-F238E27FC236}">
                <a16:creationId xmlns:a16="http://schemas.microsoft.com/office/drawing/2014/main" id="{9DDE065F-CCEA-30C2-E5C7-FEE434EB1FAE}"/>
              </a:ext>
            </a:extLst>
          </p:cNvPr>
          <p:cNvPicPr>
            <a:picLocks noChangeAspect="1"/>
          </p:cNvPicPr>
          <p:nvPr/>
        </p:nvPicPr>
        <p:blipFill>
          <a:blip r:embed="rId3"/>
          <a:stretch>
            <a:fillRect/>
          </a:stretch>
        </p:blipFill>
        <p:spPr>
          <a:xfrm>
            <a:off x="654681" y="3334384"/>
            <a:ext cx="5003800" cy="2159000"/>
          </a:xfrm>
          <a:prstGeom prst="rect">
            <a:avLst/>
          </a:prstGeom>
          <a:effectLst>
            <a:outerShdw blurRad="63500" sx="102000" sy="102000" algn="ctr" rotWithShape="0">
              <a:prstClr val="black">
                <a:alpha val="40000"/>
              </a:prstClr>
            </a:outerShdw>
          </a:effectLst>
        </p:spPr>
      </p:pic>
      <p:sp>
        <p:nvSpPr>
          <p:cNvPr id="13" name="Text Placeholder 2">
            <a:extLst>
              <a:ext uri="{FF2B5EF4-FFF2-40B4-BE49-F238E27FC236}">
                <a16:creationId xmlns:a16="http://schemas.microsoft.com/office/drawing/2014/main" id="{FE0E8EFB-0071-3A06-9C01-A026E3711877}"/>
              </a:ext>
            </a:extLst>
          </p:cNvPr>
          <p:cNvSpPr txBox="1">
            <a:spLocks/>
          </p:cNvSpPr>
          <p:nvPr/>
        </p:nvSpPr>
        <p:spPr>
          <a:xfrm>
            <a:off x="760898" y="5767506"/>
            <a:ext cx="489758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b="0" i="0" dirty="0">
                <a:solidFill>
                  <a:srgbClr val="161616"/>
                </a:solidFill>
                <a:effectLst/>
                <a:latin typeface="Quattrocento Sans" panose="020B0502050000020003" pitchFamily="34" charset="0"/>
                <a:ea typeface="Roboto Mono" pitchFamily="49" charset="0"/>
              </a:rPr>
              <a:t>✅ Use </a:t>
            </a:r>
            <a:r>
              <a:rPr lang="en-US" sz="1800" b="0" i="0" dirty="0" err="1">
                <a:solidFill>
                  <a:srgbClr val="161616"/>
                </a:solidFill>
                <a:effectLst/>
                <a:latin typeface="Quattrocento Sans" panose="020B0502050000020003" pitchFamily="34" charset="0"/>
                <a:ea typeface="Roboto Mono" pitchFamily="49" charset="0"/>
              </a:rPr>
              <a:t>core.debug</a:t>
            </a:r>
            <a:r>
              <a:rPr lang="en-US" sz="1800" b="0" i="0" dirty="0">
                <a:solidFill>
                  <a:srgbClr val="161616"/>
                </a:solidFill>
                <a:effectLst/>
                <a:latin typeface="Quattrocento Sans" panose="020B0502050000020003" pitchFamily="34" charset="0"/>
                <a:ea typeface="Roboto Mono" pitchFamily="49" charset="0"/>
              </a:rPr>
              <a:t> for debug logs — these only appear when ACTIONS_STEP_DEBUG is set to true.</a:t>
            </a:r>
          </a:p>
        </p:txBody>
      </p:sp>
      <p:sp>
        <p:nvSpPr>
          <p:cNvPr id="14" name="Title 1">
            <a:extLst>
              <a:ext uri="{FF2B5EF4-FFF2-40B4-BE49-F238E27FC236}">
                <a16:creationId xmlns:a16="http://schemas.microsoft.com/office/drawing/2014/main" id="{1970EB67-413D-C5E5-AA74-665106F46DC4}"/>
              </a:ext>
            </a:extLst>
          </p:cNvPr>
          <p:cNvSpPr txBox="1">
            <a:spLocks/>
          </p:cNvSpPr>
          <p:nvPr/>
        </p:nvSpPr>
        <p:spPr>
          <a:xfrm>
            <a:off x="6096000" y="2218062"/>
            <a:ext cx="5103736" cy="92270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000" b="0" i="0" kern="1200">
                <a:solidFill>
                  <a:schemeClr val="tx1"/>
                </a:solidFill>
                <a:latin typeface="+mj-lt"/>
                <a:ea typeface="+mj-ea"/>
                <a:cs typeface="Segoe UI Semibold" panose="020B0502040204020203" pitchFamily="34" charset="0"/>
              </a:defRPr>
            </a:lvl1pPr>
          </a:lstStyle>
          <a:p>
            <a:pPr>
              <a:lnSpc>
                <a:spcPct val="100000"/>
              </a:lnSpc>
            </a:pPr>
            <a:r>
              <a:rPr lang="en-US" b="1" dirty="0">
                <a:latin typeface="Quattrocento Sans" panose="020B0502050000020003" pitchFamily="34" charset="0"/>
              </a:rPr>
              <a:t>Enable debug logging</a:t>
            </a:r>
          </a:p>
        </p:txBody>
      </p:sp>
      <p:sp>
        <p:nvSpPr>
          <p:cNvPr id="15" name="Text Placeholder 2">
            <a:extLst>
              <a:ext uri="{FF2B5EF4-FFF2-40B4-BE49-F238E27FC236}">
                <a16:creationId xmlns:a16="http://schemas.microsoft.com/office/drawing/2014/main" id="{38DFD40F-467E-275A-0B0B-B1389EF85494}"/>
              </a:ext>
            </a:extLst>
          </p:cNvPr>
          <p:cNvSpPr txBox="1">
            <a:spLocks/>
          </p:cNvSpPr>
          <p:nvPr/>
        </p:nvSpPr>
        <p:spPr>
          <a:xfrm>
            <a:off x="6199076" y="3030785"/>
            <a:ext cx="489758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b="0" i="0" dirty="0">
                <a:solidFill>
                  <a:srgbClr val="161616"/>
                </a:solidFill>
                <a:effectLst/>
                <a:latin typeface="Quattrocento Sans" panose="020B0502050000020003" pitchFamily="34" charset="0"/>
                <a:ea typeface="Roboto Mono" pitchFamily="49" charset="0"/>
              </a:rPr>
              <a:t>You can enable </a:t>
            </a:r>
            <a:r>
              <a:rPr lang="en-US" sz="1800" b="1" i="0" dirty="0">
                <a:solidFill>
                  <a:srgbClr val="161616"/>
                </a:solidFill>
                <a:effectLst/>
                <a:latin typeface="Quattrocento Sans" panose="020B0502050000020003" pitchFamily="34" charset="0"/>
                <a:ea typeface="Roboto Mono" pitchFamily="49" charset="0"/>
              </a:rPr>
              <a:t>step-level debug logs </a:t>
            </a:r>
            <a:r>
              <a:rPr lang="en-US" sz="1800" b="0" i="0" dirty="0">
                <a:solidFill>
                  <a:srgbClr val="161616"/>
                </a:solidFill>
                <a:effectLst/>
                <a:latin typeface="Quattrocento Sans" panose="020B0502050000020003" pitchFamily="34" charset="0"/>
                <a:ea typeface="Roboto Mono" pitchFamily="49" charset="0"/>
              </a:rPr>
              <a:t>by setting the following </a:t>
            </a:r>
            <a:r>
              <a:rPr lang="en-US" sz="1800" b="1" i="0" dirty="0">
                <a:solidFill>
                  <a:srgbClr val="161616"/>
                </a:solidFill>
                <a:effectLst/>
                <a:latin typeface="Quattrocento Sans" panose="020B0502050000020003" pitchFamily="34" charset="0"/>
                <a:ea typeface="Roboto Mono" pitchFamily="49" charset="0"/>
              </a:rPr>
              <a:t>secret</a:t>
            </a:r>
            <a:r>
              <a:rPr lang="en-US" sz="1800" b="0" i="0" dirty="0">
                <a:solidFill>
                  <a:srgbClr val="161616"/>
                </a:solidFill>
                <a:effectLst/>
                <a:latin typeface="Quattrocento Sans" panose="020B0502050000020003" pitchFamily="34" charset="0"/>
                <a:ea typeface="Roboto Mono" pitchFamily="49" charset="0"/>
              </a:rPr>
              <a:t>:</a:t>
            </a:r>
          </a:p>
        </p:txBody>
      </p:sp>
      <p:pic>
        <p:nvPicPr>
          <p:cNvPr id="17" name="Picture 16" descr="A close-up of a sign&#10;&#10;Description automatically generated">
            <a:extLst>
              <a:ext uri="{FF2B5EF4-FFF2-40B4-BE49-F238E27FC236}">
                <a16:creationId xmlns:a16="http://schemas.microsoft.com/office/drawing/2014/main" id="{34A62202-8EE5-E7F9-804B-52306F38B61B}"/>
              </a:ext>
            </a:extLst>
          </p:cNvPr>
          <p:cNvPicPr>
            <a:picLocks noChangeAspect="1"/>
          </p:cNvPicPr>
          <p:nvPr/>
        </p:nvPicPr>
        <p:blipFill>
          <a:blip r:embed="rId4"/>
          <a:stretch>
            <a:fillRect/>
          </a:stretch>
        </p:blipFill>
        <p:spPr>
          <a:xfrm>
            <a:off x="6199076" y="3567758"/>
            <a:ext cx="3352800" cy="1079500"/>
          </a:xfrm>
          <a:prstGeom prst="rect">
            <a:avLst/>
          </a:prstGeom>
          <a:effectLst>
            <a:outerShdw blurRad="63500" sx="102000" sy="102000" algn="ctr" rotWithShape="0">
              <a:prstClr val="black">
                <a:alpha val="40000"/>
              </a:prstClr>
            </a:outerShdw>
          </a:effectLst>
        </p:spPr>
      </p:pic>
      <p:sp>
        <p:nvSpPr>
          <p:cNvPr id="18" name="Text Placeholder 2">
            <a:extLst>
              <a:ext uri="{FF2B5EF4-FFF2-40B4-BE49-F238E27FC236}">
                <a16:creationId xmlns:a16="http://schemas.microsoft.com/office/drawing/2014/main" id="{409E4866-EB14-F657-019E-9C14C6E70F12}"/>
              </a:ext>
            </a:extLst>
          </p:cNvPr>
          <p:cNvSpPr txBox="1">
            <a:spLocks/>
          </p:cNvSpPr>
          <p:nvPr/>
        </p:nvSpPr>
        <p:spPr>
          <a:xfrm>
            <a:off x="6199076" y="4841916"/>
            <a:ext cx="489758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b="0" i="0" dirty="0">
                <a:solidFill>
                  <a:srgbClr val="161616"/>
                </a:solidFill>
                <a:effectLst/>
                <a:latin typeface="Quattrocento Sans" panose="020B0502050000020003" pitchFamily="34" charset="0"/>
                <a:ea typeface="Roboto Mono" pitchFamily="49" charset="0"/>
              </a:rPr>
              <a:t>To enable </a:t>
            </a:r>
            <a:r>
              <a:rPr lang="en-US" sz="1800" b="1" i="0" dirty="0">
                <a:solidFill>
                  <a:srgbClr val="161616"/>
                </a:solidFill>
                <a:effectLst/>
                <a:latin typeface="Quattrocento Sans" panose="020B0502050000020003" pitchFamily="34" charset="0"/>
                <a:ea typeface="Roboto Mono" pitchFamily="49" charset="0"/>
              </a:rPr>
              <a:t>runner diagnostic logs</a:t>
            </a:r>
            <a:r>
              <a:rPr lang="en-US" sz="1800" b="0" i="0" dirty="0">
                <a:solidFill>
                  <a:srgbClr val="161616"/>
                </a:solidFill>
                <a:effectLst/>
                <a:latin typeface="Quattrocento Sans" panose="020B0502050000020003" pitchFamily="34" charset="0"/>
                <a:ea typeface="Roboto Mono" pitchFamily="49" charset="0"/>
              </a:rPr>
              <a:t>, set:</a:t>
            </a:r>
          </a:p>
        </p:txBody>
      </p:sp>
      <p:pic>
        <p:nvPicPr>
          <p:cNvPr id="20" name="Picture 19" descr="A close-up of a person's face&#10;&#10;Description automatically generated">
            <a:extLst>
              <a:ext uri="{FF2B5EF4-FFF2-40B4-BE49-F238E27FC236}">
                <a16:creationId xmlns:a16="http://schemas.microsoft.com/office/drawing/2014/main" id="{3A3A790C-9BC4-D708-B138-4C14E7E3B037}"/>
              </a:ext>
            </a:extLst>
          </p:cNvPr>
          <p:cNvPicPr>
            <a:picLocks noChangeAspect="1"/>
          </p:cNvPicPr>
          <p:nvPr/>
        </p:nvPicPr>
        <p:blipFill>
          <a:blip r:embed="rId5"/>
          <a:stretch>
            <a:fillRect/>
          </a:stretch>
        </p:blipFill>
        <p:spPr>
          <a:xfrm>
            <a:off x="6196135" y="5359153"/>
            <a:ext cx="3086100" cy="10541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716123578"/>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A640AD3-C31B-B432-B512-B9E01E6F90A1}"/>
              </a:ext>
            </a:extLst>
          </p:cNvPr>
          <p:cNvSpPr/>
          <p:nvPr/>
        </p:nvSpPr>
        <p:spPr>
          <a:xfrm>
            <a:off x="579438" y="964095"/>
            <a:ext cx="4790005" cy="40184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p:cNvSpPr>
            <a:spLocks noGrp="1"/>
          </p:cNvSpPr>
          <p:nvPr>
            <p:ph type="title"/>
          </p:nvPr>
        </p:nvSpPr>
        <p:spPr>
          <a:xfrm>
            <a:off x="810157" y="1262498"/>
            <a:ext cx="4790004" cy="492443"/>
          </a:xfrm>
        </p:spPr>
        <p:txBody>
          <a:bodyPr>
            <a:normAutofit fontScale="90000"/>
          </a:bodyPr>
          <a:lstStyle/>
          <a:p>
            <a:r>
              <a:rPr lang="en-US" sz="3200" dirty="0">
                <a:latin typeface="Quattrocento Sans" panose="020B0502050000020003" pitchFamily="34" charset="0"/>
              </a:rPr>
              <a:t>Set secrets for debugging</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810156" y="2688168"/>
            <a:ext cx="4296772" cy="74083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spcAft>
                <a:spcPts val="300"/>
              </a:spcAft>
              <a:buFont typeface="+mj-lt"/>
              <a:buAutoNum type="arabicPeriod"/>
            </a:pPr>
            <a:r>
              <a:rPr lang="en-US" sz="2000" b="0" i="0" dirty="0">
                <a:solidFill>
                  <a:srgbClr val="161616"/>
                </a:solidFill>
                <a:effectLst/>
                <a:latin typeface="Quattrocento Sans" panose="020B0502050000020003" pitchFamily="34" charset="0"/>
              </a:rPr>
              <a:t>Go to your GitHub repository.</a:t>
            </a:r>
          </a:p>
          <a:p>
            <a:pPr marL="457200" indent="-457200" algn="just">
              <a:spcAft>
                <a:spcPts val="300"/>
              </a:spcAft>
              <a:buFont typeface="+mj-lt"/>
              <a:buAutoNum type="arabicPeriod"/>
            </a:pPr>
            <a:r>
              <a:rPr lang="en-US" sz="2000" b="0" i="0" dirty="0">
                <a:solidFill>
                  <a:srgbClr val="161616"/>
                </a:solidFill>
                <a:effectLst/>
                <a:latin typeface="Quattrocento Sans" panose="020B0502050000020003" pitchFamily="34" charset="0"/>
              </a:rPr>
              <a:t>Navigate to </a:t>
            </a:r>
            <a:r>
              <a:rPr lang="en-US" sz="2000" b="1" i="0" dirty="0">
                <a:solidFill>
                  <a:srgbClr val="161616"/>
                </a:solidFill>
                <a:effectLst/>
                <a:latin typeface="Quattrocento Sans" panose="020B0502050000020003" pitchFamily="34" charset="0"/>
              </a:rPr>
              <a:t>Settings &gt; Secrets and variables &gt; Actions</a:t>
            </a:r>
            <a:r>
              <a:rPr lang="en-US" sz="2000" b="0" i="0" dirty="0">
                <a:solidFill>
                  <a:srgbClr val="161616"/>
                </a:solidFill>
                <a:effectLst/>
                <a:latin typeface="Quattrocento Sans" panose="020B0502050000020003" pitchFamily="34" charset="0"/>
              </a:rPr>
              <a:t>.</a:t>
            </a:r>
          </a:p>
          <a:p>
            <a:pPr marL="457200" indent="-457200" algn="just">
              <a:spcAft>
                <a:spcPts val="300"/>
              </a:spcAft>
              <a:buFont typeface="+mj-lt"/>
              <a:buAutoNum type="arabicPeriod"/>
            </a:pPr>
            <a:r>
              <a:rPr lang="en-US" sz="2000" b="0" i="0" dirty="0">
                <a:solidFill>
                  <a:srgbClr val="161616"/>
                </a:solidFill>
                <a:effectLst/>
                <a:latin typeface="Quattrocento Sans" panose="020B0502050000020003" pitchFamily="34" charset="0"/>
              </a:rPr>
              <a:t>Add new secrets with the following names and values:</a:t>
            </a:r>
          </a:p>
          <a:p>
            <a:pPr lvl="3" algn="just">
              <a:spcAft>
                <a:spcPts val="300"/>
              </a:spcAft>
            </a:pPr>
            <a:r>
              <a:rPr lang="en-US" sz="1800" b="1" i="0" dirty="0">
                <a:solidFill>
                  <a:srgbClr val="161616"/>
                </a:solidFill>
                <a:effectLst/>
                <a:latin typeface="Quattrocento Sans" panose="020B0502050000020003" pitchFamily="34" charset="0"/>
              </a:rPr>
              <a:t>ACTIONS_STEP_DEBUG:</a:t>
            </a:r>
            <a:r>
              <a:rPr lang="en-US" sz="1800" b="0" i="0" dirty="0">
                <a:solidFill>
                  <a:srgbClr val="161616"/>
                </a:solidFill>
                <a:effectLst/>
                <a:latin typeface="Quattrocento Sans" panose="020B0502050000020003" pitchFamily="34" charset="0"/>
              </a:rPr>
              <a:t> </a:t>
            </a:r>
            <a:r>
              <a:rPr lang="en-US" sz="1600" b="0" i="0" dirty="0">
                <a:solidFill>
                  <a:srgbClr val="161616"/>
                </a:solidFill>
                <a:effectLst/>
                <a:highlight>
                  <a:srgbClr val="C0C0C0"/>
                </a:highlight>
                <a:latin typeface="Roboto Mono" pitchFamily="49" charset="0"/>
                <a:ea typeface="Roboto Mono" pitchFamily="49" charset="0"/>
              </a:rPr>
              <a:t>true</a:t>
            </a:r>
          </a:p>
          <a:p>
            <a:pPr lvl="3" algn="just">
              <a:spcAft>
                <a:spcPts val="300"/>
              </a:spcAft>
            </a:pPr>
            <a:r>
              <a:rPr lang="en-US" sz="1800" b="1" i="0" dirty="0">
                <a:solidFill>
                  <a:srgbClr val="161616"/>
                </a:solidFill>
                <a:effectLst/>
                <a:latin typeface="Quattrocento Sans" panose="020B0502050000020003" pitchFamily="34" charset="0"/>
              </a:rPr>
              <a:t>ACTIONS_RUNNER_DEBUG</a:t>
            </a:r>
            <a:r>
              <a:rPr lang="en-US" sz="1800" b="0" i="0" dirty="0">
                <a:solidFill>
                  <a:srgbClr val="161616"/>
                </a:solidFill>
                <a:effectLst/>
                <a:latin typeface="Quattrocento Sans" panose="020B0502050000020003" pitchFamily="34" charset="0"/>
              </a:rPr>
              <a:t>: </a:t>
            </a:r>
            <a:r>
              <a:rPr lang="en-US" sz="1600" b="0" i="0" dirty="0">
                <a:solidFill>
                  <a:srgbClr val="161616"/>
                </a:solidFill>
                <a:effectLst/>
                <a:highlight>
                  <a:srgbClr val="C0C0C0"/>
                </a:highlight>
                <a:latin typeface="Roboto Mono" pitchFamily="49" charset="0"/>
                <a:ea typeface="Roboto Mono" pitchFamily="49" charset="0"/>
              </a:rPr>
              <a:t>true</a:t>
            </a:r>
            <a:endParaRPr lang="en-US" sz="1800" b="0" i="0" dirty="0">
              <a:solidFill>
                <a:srgbClr val="161616"/>
              </a:solidFill>
              <a:effectLst/>
              <a:highlight>
                <a:srgbClr val="C0C0C0"/>
              </a:highlight>
              <a:latin typeface="Roboto Mono" pitchFamily="49" charset="0"/>
              <a:ea typeface="Roboto Mono" pitchFamily="49" charset="0"/>
            </a:endParaRP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6" name="Rectangle 5">
            <a:extLst>
              <a:ext uri="{FF2B5EF4-FFF2-40B4-BE49-F238E27FC236}">
                <a16:creationId xmlns:a16="http://schemas.microsoft.com/office/drawing/2014/main" id="{725E8153-421F-5DCD-9F04-DE47F6917C16}"/>
              </a:ext>
            </a:extLst>
          </p:cNvPr>
          <p:cNvSpPr/>
          <p:nvPr/>
        </p:nvSpPr>
        <p:spPr>
          <a:xfrm>
            <a:off x="5830880" y="964095"/>
            <a:ext cx="5781682" cy="589390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6">
            <a:extLst>
              <a:ext uri="{FF2B5EF4-FFF2-40B4-BE49-F238E27FC236}">
                <a16:creationId xmlns:a16="http://schemas.microsoft.com/office/drawing/2014/main" id="{9D524144-72F0-972F-52F0-6E4F6C71B222}"/>
              </a:ext>
            </a:extLst>
          </p:cNvPr>
          <p:cNvSpPr txBox="1">
            <a:spLocks/>
          </p:cNvSpPr>
          <p:nvPr/>
        </p:nvSpPr>
        <p:spPr>
          <a:xfrm>
            <a:off x="6061598" y="1262499"/>
            <a:ext cx="4954708" cy="49244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2400" b="0" i="0" kern="1200">
                <a:solidFill>
                  <a:schemeClr val="tx1"/>
                </a:solidFill>
                <a:latin typeface="+mj-lt"/>
                <a:ea typeface="+mj-ea"/>
                <a:cs typeface="Segoe UI Semibold" panose="020B0502040204020203" pitchFamily="34" charset="0"/>
              </a:defRPr>
            </a:lvl1pPr>
          </a:lstStyle>
          <a:p>
            <a:r>
              <a:rPr lang="en-US" sz="3200" dirty="0">
                <a:latin typeface="Quattrocento Sans" panose="020B0502050000020003" pitchFamily="34" charset="0"/>
              </a:rPr>
              <a:t>Inspect workflow logs</a:t>
            </a:r>
          </a:p>
        </p:txBody>
      </p:sp>
      <p:sp>
        <p:nvSpPr>
          <p:cNvPr id="8" name="Text Placeholder 2">
            <a:extLst>
              <a:ext uri="{FF2B5EF4-FFF2-40B4-BE49-F238E27FC236}">
                <a16:creationId xmlns:a16="http://schemas.microsoft.com/office/drawing/2014/main" id="{1B8FA200-340F-2510-146E-70717BE1C4AF}"/>
              </a:ext>
            </a:extLst>
          </p:cNvPr>
          <p:cNvSpPr txBox="1">
            <a:spLocks/>
          </p:cNvSpPr>
          <p:nvPr/>
        </p:nvSpPr>
        <p:spPr>
          <a:xfrm>
            <a:off x="6134506" y="2688169"/>
            <a:ext cx="5138421" cy="74083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300"/>
              </a:spcAft>
              <a:buNone/>
            </a:pPr>
            <a:r>
              <a:rPr lang="en-US" sz="2000" b="0" i="0" dirty="0">
                <a:solidFill>
                  <a:srgbClr val="161616"/>
                </a:solidFill>
                <a:effectLst/>
                <a:latin typeface="Quattrocento Sans" panose="020B0502050000020003" pitchFamily="34" charset="0"/>
              </a:rPr>
              <a:t>When a workflow fails, click on the failed job in the Actions tab. Expand each step to:</a:t>
            </a:r>
          </a:p>
          <a:p>
            <a:pPr lvl="2" algn="just">
              <a:spcAft>
                <a:spcPts val="300"/>
              </a:spcAft>
            </a:pPr>
            <a:r>
              <a:rPr lang="en-US" sz="1800" b="0" i="0" dirty="0">
                <a:solidFill>
                  <a:srgbClr val="161616"/>
                </a:solidFill>
                <a:effectLst/>
                <a:latin typeface="Quattrocento Sans" panose="020B0502050000020003" pitchFamily="34" charset="0"/>
              </a:rPr>
              <a:t>View detailed logs</a:t>
            </a:r>
          </a:p>
          <a:p>
            <a:pPr lvl="2" algn="just">
              <a:spcAft>
                <a:spcPts val="300"/>
              </a:spcAft>
            </a:pPr>
            <a:r>
              <a:rPr lang="en-US" sz="1800" b="0" i="0" dirty="0">
                <a:solidFill>
                  <a:srgbClr val="161616"/>
                </a:solidFill>
                <a:effectLst/>
                <a:latin typeface="Quattrocento Sans" panose="020B0502050000020003" pitchFamily="34" charset="0"/>
              </a:rPr>
              <a:t>Check standard output (</a:t>
            </a:r>
            <a:r>
              <a:rPr lang="en-US" sz="1800" b="0" i="0" dirty="0" err="1">
                <a:solidFill>
                  <a:srgbClr val="161616"/>
                </a:solidFill>
                <a:effectLst/>
                <a:latin typeface="Quattrocento Sans" panose="020B0502050000020003" pitchFamily="34" charset="0"/>
              </a:rPr>
              <a:t>stdout</a:t>
            </a:r>
            <a:r>
              <a:rPr lang="en-US" sz="1800" b="0" i="0" dirty="0">
                <a:solidFill>
                  <a:srgbClr val="161616"/>
                </a:solidFill>
                <a:effectLst/>
                <a:latin typeface="Quattrocento Sans" panose="020B0502050000020003" pitchFamily="34" charset="0"/>
              </a:rPr>
              <a:t>)</a:t>
            </a:r>
          </a:p>
          <a:p>
            <a:pPr lvl="2" algn="just">
              <a:spcAft>
                <a:spcPts val="300"/>
              </a:spcAft>
            </a:pPr>
            <a:r>
              <a:rPr lang="en-US" sz="1800" b="0" i="0" dirty="0">
                <a:solidFill>
                  <a:srgbClr val="161616"/>
                </a:solidFill>
                <a:effectLst/>
                <a:latin typeface="Quattrocento Sans" panose="020B0502050000020003" pitchFamily="34" charset="0"/>
              </a:rPr>
              <a:t>See the exit code of scripts</a:t>
            </a:r>
          </a:p>
          <a:p>
            <a:pPr lvl="2" algn="just">
              <a:spcAft>
                <a:spcPts val="300"/>
              </a:spcAft>
            </a:pPr>
            <a:r>
              <a:rPr lang="en-US" sz="1800" b="0" i="0" dirty="0">
                <a:solidFill>
                  <a:srgbClr val="161616"/>
                </a:solidFill>
                <a:effectLst/>
                <a:latin typeface="Quattrocento Sans" panose="020B0502050000020003" pitchFamily="34" charset="0"/>
              </a:rPr>
              <a:t>Identify unhandled exceptions</a:t>
            </a:r>
          </a:p>
          <a:p>
            <a:pPr marL="0" indent="0" algn="just">
              <a:spcAft>
                <a:spcPts val="300"/>
              </a:spcAft>
              <a:buNone/>
            </a:pPr>
            <a:r>
              <a:rPr lang="en-US" sz="2000" b="0" i="0" dirty="0">
                <a:solidFill>
                  <a:srgbClr val="161616"/>
                </a:solidFill>
                <a:effectLst/>
                <a:latin typeface="Quattrocento Sans" panose="020B0502050000020003" pitchFamily="34" charset="0"/>
              </a:rPr>
              <a:t>🔍 Example log Output</a:t>
            </a:r>
            <a:endParaRPr lang="en-US" sz="1800" b="0" i="0" dirty="0">
              <a:solidFill>
                <a:srgbClr val="161616"/>
              </a:solidFill>
              <a:effectLst/>
              <a:highlight>
                <a:srgbClr val="C0C0C0"/>
              </a:highlight>
              <a:latin typeface="Roboto Mono" pitchFamily="49" charset="0"/>
              <a:ea typeface="Roboto Mono" pitchFamily="49" charset="0"/>
            </a:endParaRPr>
          </a:p>
        </p:txBody>
      </p:sp>
      <p:pic>
        <p:nvPicPr>
          <p:cNvPr id="10" name="Picture 9" descr="A screenshot of a computer&#10;&#10;Description automatically generated">
            <a:extLst>
              <a:ext uri="{FF2B5EF4-FFF2-40B4-BE49-F238E27FC236}">
                <a16:creationId xmlns:a16="http://schemas.microsoft.com/office/drawing/2014/main" id="{F6242505-2D40-F3EC-475A-A69B541DF43D}"/>
              </a:ext>
            </a:extLst>
          </p:cNvPr>
          <p:cNvPicPr>
            <a:picLocks noChangeAspect="1"/>
          </p:cNvPicPr>
          <p:nvPr/>
        </p:nvPicPr>
        <p:blipFill>
          <a:blip r:embed="rId3"/>
          <a:stretch>
            <a:fillRect/>
          </a:stretch>
        </p:blipFill>
        <p:spPr>
          <a:xfrm>
            <a:off x="6134506" y="4362226"/>
            <a:ext cx="5138421" cy="1252135"/>
          </a:xfrm>
          <a:prstGeom prst="rect">
            <a:avLst/>
          </a:prstGeom>
          <a:effectLst>
            <a:outerShdw blurRad="63500" sx="102000" sy="102000" algn="ctr" rotWithShape="0">
              <a:prstClr val="black">
                <a:alpha val="40000"/>
              </a:prstClr>
            </a:outerShdw>
          </a:effectLst>
        </p:spPr>
      </p:pic>
      <p:sp>
        <p:nvSpPr>
          <p:cNvPr id="11" name="Text Placeholder 2">
            <a:extLst>
              <a:ext uri="{FF2B5EF4-FFF2-40B4-BE49-F238E27FC236}">
                <a16:creationId xmlns:a16="http://schemas.microsoft.com/office/drawing/2014/main" id="{3184DA78-CDF5-62E3-7EDA-34E5E9A63233}"/>
              </a:ext>
            </a:extLst>
          </p:cNvPr>
          <p:cNvSpPr txBox="1">
            <a:spLocks/>
          </p:cNvSpPr>
          <p:nvPr/>
        </p:nvSpPr>
        <p:spPr>
          <a:xfrm>
            <a:off x="6134506" y="5878229"/>
            <a:ext cx="5297406" cy="74083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300"/>
              </a:spcAft>
              <a:buNone/>
            </a:pPr>
            <a:r>
              <a:rPr lang="en-US" sz="2000" b="0" i="0" dirty="0">
                <a:solidFill>
                  <a:srgbClr val="161616"/>
                </a:solidFill>
                <a:effectLst/>
                <a:latin typeface="Quattrocento Sans" panose="020B0502050000020003" pitchFamily="34" charset="0"/>
              </a:rPr>
              <a:t>✅ Fix: Run </a:t>
            </a:r>
            <a:r>
              <a:rPr lang="en-US" sz="2000" b="0" i="0" dirty="0" err="1">
                <a:solidFill>
                  <a:srgbClr val="161616"/>
                </a:solidFill>
                <a:effectLst/>
                <a:latin typeface="Quattrocento Sans" panose="020B0502050000020003" pitchFamily="34" charset="0"/>
              </a:rPr>
              <a:t>npm</a:t>
            </a:r>
            <a:r>
              <a:rPr lang="en-US" sz="2000" b="0" i="0" dirty="0">
                <a:solidFill>
                  <a:srgbClr val="161616"/>
                </a:solidFill>
                <a:effectLst/>
                <a:latin typeface="Quattrocento Sans" panose="020B0502050000020003" pitchFamily="34" charset="0"/>
              </a:rPr>
              <a:t> install @actions/core and commit </a:t>
            </a:r>
            <a:r>
              <a:rPr lang="en-US" sz="2000" b="0" i="0" dirty="0" err="1">
                <a:solidFill>
                  <a:srgbClr val="161616"/>
                </a:solidFill>
                <a:effectLst/>
                <a:latin typeface="Quattrocento Sans" panose="020B0502050000020003" pitchFamily="34" charset="0"/>
              </a:rPr>
              <a:t>node_modules</a:t>
            </a:r>
            <a:r>
              <a:rPr lang="en-US" sz="2000" b="0" i="0" dirty="0">
                <a:solidFill>
                  <a:srgbClr val="161616"/>
                </a:solidFill>
                <a:effectLst/>
                <a:latin typeface="Quattrocento Sans" panose="020B0502050000020003" pitchFamily="34" charset="0"/>
              </a:rPr>
              <a:t> (or use </a:t>
            </a:r>
            <a:r>
              <a:rPr lang="en-US" sz="2000" b="0" i="0" dirty="0" err="1">
                <a:solidFill>
                  <a:srgbClr val="161616"/>
                </a:solidFill>
                <a:effectLst/>
                <a:latin typeface="Quattrocento Sans" panose="020B0502050000020003" pitchFamily="34" charset="0"/>
              </a:rPr>
              <a:t>ncc</a:t>
            </a:r>
            <a:r>
              <a:rPr lang="en-US" sz="2000" b="0" i="0" dirty="0">
                <a:solidFill>
                  <a:srgbClr val="161616"/>
                </a:solidFill>
                <a:effectLst/>
                <a:latin typeface="Quattrocento Sans" panose="020B0502050000020003" pitchFamily="34" charset="0"/>
              </a:rPr>
              <a:t> to bundle the action).</a:t>
            </a:r>
          </a:p>
        </p:txBody>
      </p:sp>
    </p:spTree>
    <p:extLst>
      <p:ext uri="{BB962C8B-B14F-4D97-AF65-F5344CB8AC3E}">
        <p14:creationId xmlns:p14="http://schemas.microsoft.com/office/powerpoint/2010/main" val="2571493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A640AD3-C31B-B432-B512-B9E01E6F90A1}"/>
              </a:ext>
            </a:extLst>
          </p:cNvPr>
          <p:cNvSpPr/>
          <p:nvPr/>
        </p:nvSpPr>
        <p:spPr>
          <a:xfrm>
            <a:off x="579438" y="964095"/>
            <a:ext cx="4790005" cy="40184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p:cNvSpPr>
            <a:spLocks noGrp="1"/>
          </p:cNvSpPr>
          <p:nvPr>
            <p:ph type="title"/>
          </p:nvPr>
        </p:nvSpPr>
        <p:spPr>
          <a:xfrm>
            <a:off x="810157" y="1262498"/>
            <a:ext cx="4790004" cy="492443"/>
          </a:xfrm>
        </p:spPr>
        <p:txBody>
          <a:bodyPr>
            <a:normAutofit fontScale="90000"/>
          </a:bodyPr>
          <a:lstStyle/>
          <a:p>
            <a:r>
              <a:rPr lang="en-US" sz="3200" dirty="0">
                <a:latin typeface="Quattrocento Sans" panose="020B0502050000020003" pitchFamily="34" charset="0"/>
              </a:rPr>
              <a:t>Test your action locally</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937852" y="1737232"/>
            <a:ext cx="4100679" cy="74083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300"/>
              </a:spcAft>
              <a:buNone/>
            </a:pPr>
            <a:r>
              <a:rPr lang="en-US" sz="2000" b="0" i="0" dirty="0">
                <a:solidFill>
                  <a:srgbClr val="161616"/>
                </a:solidFill>
                <a:effectLst/>
                <a:latin typeface="Quattrocento Sans" panose="020B0502050000020003" pitchFamily="34" charset="0"/>
              </a:rPr>
              <a:t>Use act — a CLI tool to run GitHub Actions locally. Example:</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6" name="Rectangle 5">
            <a:extLst>
              <a:ext uri="{FF2B5EF4-FFF2-40B4-BE49-F238E27FC236}">
                <a16:creationId xmlns:a16="http://schemas.microsoft.com/office/drawing/2014/main" id="{725E8153-421F-5DCD-9F04-DE47F6917C16}"/>
              </a:ext>
            </a:extLst>
          </p:cNvPr>
          <p:cNvSpPr/>
          <p:nvPr/>
        </p:nvSpPr>
        <p:spPr>
          <a:xfrm>
            <a:off x="5830880" y="964095"/>
            <a:ext cx="5781682" cy="424238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6">
            <a:extLst>
              <a:ext uri="{FF2B5EF4-FFF2-40B4-BE49-F238E27FC236}">
                <a16:creationId xmlns:a16="http://schemas.microsoft.com/office/drawing/2014/main" id="{9D524144-72F0-972F-52F0-6E4F6C71B222}"/>
              </a:ext>
            </a:extLst>
          </p:cNvPr>
          <p:cNvSpPr txBox="1">
            <a:spLocks/>
          </p:cNvSpPr>
          <p:nvPr/>
        </p:nvSpPr>
        <p:spPr>
          <a:xfrm>
            <a:off x="6061598" y="1262499"/>
            <a:ext cx="4954708" cy="49244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2400" b="0" i="0" kern="1200">
                <a:solidFill>
                  <a:schemeClr val="tx1"/>
                </a:solidFill>
                <a:latin typeface="+mj-lt"/>
                <a:ea typeface="+mj-ea"/>
                <a:cs typeface="Segoe UI Semibold" panose="020B0502040204020203" pitchFamily="34" charset="0"/>
              </a:defRPr>
            </a:lvl1pPr>
          </a:lstStyle>
          <a:p>
            <a:r>
              <a:rPr lang="en-US" sz="3200" dirty="0">
                <a:latin typeface="Quattrocento Sans" panose="020B0502050000020003" pitchFamily="34" charset="0"/>
              </a:rPr>
              <a:t>Handle errors gracefully</a:t>
            </a:r>
          </a:p>
        </p:txBody>
      </p:sp>
      <p:sp>
        <p:nvSpPr>
          <p:cNvPr id="8" name="Text Placeholder 2">
            <a:extLst>
              <a:ext uri="{FF2B5EF4-FFF2-40B4-BE49-F238E27FC236}">
                <a16:creationId xmlns:a16="http://schemas.microsoft.com/office/drawing/2014/main" id="{1B8FA200-340F-2510-146E-70717BE1C4AF}"/>
              </a:ext>
            </a:extLst>
          </p:cNvPr>
          <p:cNvSpPr txBox="1">
            <a:spLocks/>
          </p:cNvSpPr>
          <p:nvPr/>
        </p:nvSpPr>
        <p:spPr>
          <a:xfrm>
            <a:off x="6176013" y="1737232"/>
            <a:ext cx="5138421" cy="74083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300"/>
              </a:spcAft>
              <a:buNone/>
            </a:pPr>
            <a:r>
              <a:rPr lang="en-US" sz="2000" b="0" i="0" dirty="0">
                <a:solidFill>
                  <a:srgbClr val="161616"/>
                </a:solidFill>
                <a:effectLst/>
                <a:latin typeface="Quattrocento Sans" panose="020B0502050000020003" pitchFamily="34" charset="0"/>
              </a:rPr>
              <a:t>Catch exceptions and fail with helpful messages:</a:t>
            </a:r>
          </a:p>
        </p:txBody>
      </p:sp>
      <p:sp>
        <p:nvSpPr>
          <p:cNvPr id="11" name="Text Placeholder 2">
            <a:extLst>
              <a:ext uri="{FF2B5EF4-FFF2-40B4-BE49-F238E27FC236}">
                <a16:creationId xmlns:a16="http://schemas.microsoft.com/office/drawing/2014/main" id="{3184DA78-CDF5-62E3-7EDA-34E5E9A63233}"/>
              </a:ext>
            </a:extLst>
          </p:cNvPr>
          <p:cNvSpPr txBox="1">
            <a:spLocks/>
          </p:cNvSpPr>
          <p:nvPr/>
        </p:nvSpPr>
        <p:spPr>
          <a:xfrm>
            <a:off x="6061598" y="4241717"/>
            <a:ext cx="5297406" cy="74083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300"/>
              </a:spcAft>
              <a:buNone/>
            </a:pPr>
            <a:r>
              <a:rPr lang="en-US" sz="2000" b="0" i="0" dirty="0">
                <a:solidFill>
                  <a:srgbClr val="161616"/>
                </a:solidFill>
                <a:effectLst/>
                <a:latin typeface="Quattrocento Sans" panose="020B0502050000020003" pitchFamily="34" charset="0"/>
              </a:rPr>
              <a:t>🔁 This ensures GitHub stops the workflow on error and provides readable logs.</a:t>
            </a:r>
          </a:p>
        </p:txBody>
      </p:sp>
      <p:pic>
        <p:nvPicPr>
          <p:cNvPr id="4" name="Picture 3" descr="A close-up of a computer screen&#10;&#10;Description automatically generated">
            <a:extLst>
              <a:ext uri="{FF2B5EF4-FFF2-40B4-BE49-F238E27FC236}">
                <a16:creationId xmlns:a16="http://schemas.microsoft.com/office/drawing/2014/main" id="{FCD2CEAE-EF93-85F0-E9F9-45C31BA93F53}"/>
              </a:ext>
            </a:extLst>
          </p:cNvPr>
          <p:cNvPicPr>
            <a:picLocks noChangeAspect="1"/>
          </p:cNvPicPr>
          <p:nvPr/>
        </p:nvPicPr>
        <p:blipFill>
          <a:blip r:embed="rId3"/>
          <a:stretch>
            <a:fillRect/>
          </a:stretch>
        </p:blipFill>
        <p:spPr>
          <a:xfrm>
            <a:off x="895375" y="2478062"/>
            <a:ext cx="1828800" cy="1181100"/>
          </a:xfrm>
          <a:prstGeom prst="rect">
            <a:avLst/>
          </a:prstGeom>
          <a:effectLst>
            <a:outerShdw blurRad="63500" sx="102000" sy="102000" algn="ctr" rotWithShape="0">
              <a:prstClr val="black">
                <a:alpha val="40000"/>
              </a:prstClr>
            </a:outerShdw>
          </a:effectLst>
        </p:spPr>
      </p:pic>
      <p:sp>
        <p:nvSpPr>
          <p:cNvPr id="9" name="Text Placeholder 2">
            <a:extLst>
              <a:ext uri="{FF2B5EF4-FFF2-40B4-BE49-F238E27FC236}">
                <a16:creationId xmlns:a16="http://schemas.microsoft.com/office/drawing/2014/main" id="{3C7DCA04-A797-A777-8C6F-71F76615433A}"/>
              </a:ext>
            </a:extLst>
          </p:cNvPr>
          <p:cNvSpPr txBox="1">
            <a:spLocks/>
          </p:cNvSpPr>
          <p:nvPr/>
        </p:nvSpPr>
        <p:spPr>
          <a:xfrm>
            <a:off x="937852" y="3911047"/>
            <a:ext cx="4100679" cy="74083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300"/>
              </a:spcAft>
              <a:buNone/>
            </a:pPr>
            <a:r>
              <a:rPr lang="en-US" sz="2000" b="0" i="0" dirty="0">
                <a:solidFill>
                  <a:srgbClr val="161616"/>
                </a:solidFill>
                <a:effectLst/>
                <a:latin typeface="Quattrocento Sans" panose="020B0502050000020003" pitchFamily="34" charset="0"/>
              </a:rPr>
              <a:t>🛠 Make sure to simulate your GitHub environment properly when testing locally.</a:t>
            </a:r>
          </a:p>
        </p:txBody>
      </p:sp>
      <p:pic>
        <p:nvPicPr>
          <p:cNvPr id="13" name="Picture 12" descr="A white rectangular object with red text&#10;&#10;Description automatically generated">
            <a:extLst>
              <a:ext uri="{FF2B5EF4-FFF2-40B4-BE49-F238E27FC236}">
                <a16:creationId xmlns:a16="http://schemas.microsoft.com/office/drawing/2014/main" id="{17C47B7E-DEA6-F69B-D1AB-3B24364D3135}"/>
              </a:ext>
            </a:extLst>
          </p:cNvPr>
          <p:cNvPicPr>
            <a:picLocks noChangeAspect="1"/>
          </p:cNvPicPr>
          <p:nvPr/>
        </p:nvPicPr>
        <p:blipFill>
          <a:blip r:embed="rId4"/>
          <a:stretch>
            <a:fillRect/>
          </a:stretch>
        </p:blipFill>
        <p:spPr>
          <a:xfrm>
            <a:off x="6061598" y="2478062"/>
            <a:ext cx="5370314" cy="1561247"/>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836766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Best practices for debugging JavaScript actions</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aphicFrame>
        <p:nvGraphicFramePr>
          <p:cNvPr id="6" name="Table 5">
            <a:extLst>
              <a:ext uri="{FF2B5EF4-FFF2-40B4-BE49-F238E27FC236}">
                <a16:creationId xmlns:a16="http://schemas.microsoft.com/office/drawing/2014/main" id="{F4A0B513-D9DB-2258-7D85-9B21F04EB3D9}"/>
              </a:ext>
            </a:extLst>
          </p:cNvPr>
          <p:cNvGraphicFramePr>
            <a:graphicFrameLocks noGrp="1"/>
          </p:cNvGraphicFramePr>
          <p:nvPr>
            <p:extLst>
              <p:ext uri="{D42A27DB-BD31-4B8C-83A1-F6EECF244321}">
                <p14:modId xmlns:p14="http://schemas.microsoft.com/office/powerpoint/2010/main" val="1342569977"/>
              </p:ext>
            </p:extLst>
          </p:nvPr>
        </p:nvGraphicFramePr>
        <p:xfrm>
          <a:off x="579437" y="2416245"/>
          <a:ext cx="10617297" cy="3655755"/>
        </p:xfrm>
        <a:graphic>
          <a:graphicData uri="http://schemas.openxmlformats.org/drawingml/2006/table">
            <a:tbl>
              <a:tblPr firstRow="1" bandRow="1">
                <a:tableStyleId>{5C22544A-7EE6-4342-B048-85BDC9FD1C3A}</a:tableStyleId>
              </a:tblPr>
              <a:tblGrid>
                <a:gridCol w="4383607">
                  <a:extLst>
                    <a:ext uri="{9D8B030D-6E8A-4147-A177-3AD203B41FA5}">
                      <a16:colId xmlns:a16="http://schemas.microsoft.com/office/drawing/2014/main" val="3881546690"/>
                    </a:ext>
                  </a:extLst>
                </a:gridCol>
                <a:gridCol w="6233690">
                  <a:extLst>
                    <a:ext uri="{9D8B030D-6E8A-4147-A177-3AD203B41FA5}">
                      <a16:colId xmlns:a16="http://schemas.microsoft.com/office/drawing/2014/main" val="3871292476"/>
                    </a:ext>
                  </a:extLst>
                </a:gridCol>
              </a:tblGrid>
              <a:tr h="548271">
                <a:tc>
                  <a:txBody>
                    <a:bodyPr/>
                    <a:lstStyle/>
                    <a:p>
                      <a:pPr algn="l" fontAlgn="t"/>
                      <a:r>
                        <a:rPr lang="en-US" sz="2400" b="1">
                          <a:solidFill>
                            <a:schemeClr val="tx1"/>
                          </a:solidFill>
                          <a:effectLst/>
                          <a:latin typeface="Quattrocento Sans" panose="020B0502050000020003" pitchFamily="34" charset="0"/>
                        </a:rPr>
                        <a:t>Practice</a:t>
                      </a:r>
                      <a:endParaRPr lang="en-US" sz="2400">
                        <a:solidFill>
                          <a:schemeClr val="tx1"/>
                        </a:solidFill>
                        <a:effectLst/>
                        <a:latin typeface="Quattrocento Sans" panose="020B0502050000020003" pitchFamily="34" charset="0"/>
                      </a:endParaRPr>
                    </a:p>
                  </a:txBody>
                  <a:tcPr anchor="b">
                    <a:lnR w="28575" cap="flat" cmpd="sng" algn="ctr">
                      <a:solidFill>
                        <a:schemeClr val="bg1">
                          <a:lumMod val="50000"/>
                        </a:schemeClr>
                      </a:solidFill>
                      <a:prstDash val="solid"/>
                      <a:round/>
                      <a:headEnd type="none" w="med" len="med"/>
                      <a:tailEnd type="none" w="med" len="med"/>
                    </a:lnR>
                    <a:lnB w="285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l" fontAlgn="t"/>
                      <a:r>
                        <a:rPr lang="en-US" sz="2400" b="1" dirty="0">
                          <a:solidFill>
                            <a:schemeClr val="tx1"/>
                          </a:solidFill>
                          <a:effectLst/>
                          <a:latin typeface="Quattrocento Sans" panose="020B0502050000020003" pitchFamily="34" charset="0"/>
                        </a:rPr>
                        <a:t>Description</a:t>
                      </a:r>
                      <a:endParaRPr lang="en-US" sz="2400" dirty="0">
                        <a:solidFill>
                          <a:schemeClr val="tx1"/>
                        </a:solidFill>
                        <a:effectLst/>
                        <a:latin typeface="Quattrocento Sans" panose="020B0502050000020003" pitchFamily="34" charset="0"/>
                      </a:endParaRP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B w="28575"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340377"/>
                  </a:ext>
                </a:extLst>
              </a:tr>
              <a:tr h="548271">
                <a:tc>
                  <a:txBody>
                    <a:bodyPr/>
                    <a:lstStyle/>
                    <a:p>
                      <a:pPr algn="l" fontAlgn="t"/>
                      <a:r>
                        <a:rPr lang="en-US" b="1">
                          <a:solidFill>
                            <a:schemeClr val="tx1"/>
                          </a:solidFill>
                          <a:effectLst/>
                          <a:latin typeface="Quattrocento Sans" panose="020B0502050000020003" pitchFamily="34" charset="0"/>
                        </a:rPr>
                        <a:t>Use core.debug()</a:t>
                      </a:r>
                      <a:endParaRPr lang="en-US">
                        <a:solidFill>
                          <a:schemeClr val="tx1"/>
                        </a:solidFill>
                        <a:effectLst/>
                        <a:latin typeface="Quattrocento Sans" panose="020B0502050000020003" pitchFamily="34" charset="0"/>
                      </a:endParaRP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a:solidFill>
                            <a:schemeClr val="tx1"/>
                          </a:solidFill>
                          <a:effectLst/>
                          <a:latin typeface="Quattrocento Sans" panose="020B0502050000020003" pitchFamily="34" charset="0"/>
                        </a:rPr>
                        <a:t>Hide verbose logs unless debugging is enabled.</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987365753"/>
                  </a:ext>
                </a:extLst>
              </a:tr>
              <a:tr h="548271">
                <a:tc>
                  <a:txBody>
                    <a:bodyPr/>
                    <a:lstStyle/>
                    <a:p>
                      <a:pPr algn="l" fontAlgn="t"/>
                      <a:r>
                        <a:rPr lang="en-US" b="1">
                          <a:solidFill>
                            <a:schemeClr val="tx1"/>
                          </a:solidFill>
                          <a:effectLst/>
                          <a:latin typeface="Quattrocento Sans" panose="020B0502050000020003" pitchFamily="34" charset="0"/>
                        </a:rPr>
                        <a:t>Validate action.yml</a:t>
                      </a:r>
                      <a:endParaRPr lang="en-US">
                        <a:solidFill>
                          <a:schemeClr val="tx1"/>
                        </a:solidFill>
                        <a:effectLst/>
                        <a:latin typeface="Quattrocento Sans" panose="020B0502050000020003" pitchFamily="34" charset="0"/>
                      </a:endParaRP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dirty="0">
                          <a:solidFill>
                            <a:schemeClr val="tx1"/>
                          </a:solidFill>
                          <a:effectLst/>
                          <a:latin typeface="Quattrocento Sans" panose="020B0502050000020003" pitchFamily="34" charset="0"/>
                        </a:rPr>
                        <a:t>Ensure inputs and outputs are correctly defined.</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86461986"/>
                  </a:ext>
                </a:extLst>
              </a:tr>
              <a:tr h="548271">
                <a:tc>
                  <a:txBody>
                    <a:bodyPr/>
                    <a:lstStyle/>
                    <a:p>
                      <a:pPr algn="l" fontAlgn="t"/>
                      <a:r>
                        <a:rPr lang="en-US" b="1">
                          <a:solidFill>
                            <a:schemeClr val="tx1"/>
                          </a:solidFill>
                          <a:effectLst/>
                          <a:latin typeface="Quattrocento Sans" panose="020B0502050000020003" pitchFamily="34" charset="0"/>
                        </a:rPr>
                        <a:t>Bundle code</a:t>
                      </a:r>
                      <a:endParaRPr lang="en-US">
                        <a:solidFill>
                          <a:schemeClr val="tx1"/>
                        </a:solidFill>
                        <a:effectLst/>
                        <a:latin typeface="Quattrocento Sans" panose="020B0502050000020003" pitchFamily="34" charset="0"/>
                      </a:endParaRP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dirty="0">
                          <a:solidFill>
                            <a:schemeClr val="tx1"/>
                          </a:solidFill>
                          <a:effectLst/>
                          <a:latin typeface="Quattrocento Sans" panose="020B0502050000020003" pitchFamily="34" charset="0"/>
                        </a:rPr>
                        <a:t>Use </a:t>
                      </a:r>
                      <a:r>
                        <a:rPr lang="en-US" sz="1600" dirty="0">
                          <a:solidFill>
                            <a:schemeClr val="tx1"/>
                          </a:solidFill>
                          <a:effectLst/>
                          <a:highlight>
                            <a:srgbClr val="C0C0C0"/>
                          </a:highlight>
                          <a:latin typeface="Roboto Mono" pitchFamily="49" charset="0"/>
                          <a:ea typeface="Roboto Mono" pitchFamily="49" charset="0"/>
                        </a:rPr>
                        <a:t>@</a:t>
                      </a:r>
                      <a:r>
                        <a:rPr lang="en-US" sz="1600" dirty="0" err="1">
                          <a:solidFill>
                            <a:schemeClr val="tx1"/>
                          </a:solidFill>
                          <a:effectLst/>
                          <a:highlight>
                            <a:srgbClr val="C0C0C0"/>
                          </a:highlight>
                          <a:latin typeface="Roboto Mono" pitchFamily="49" charset="0"/>
                          <a:ea typeface="Roboto Mono" pitchFamily="49" charset="0"/>
                        </a:rPr>
                        <a:t>vercel</a:t>
                      </a:r>
                      <a:r>
                        <a:rPr lang="en-US" sz="1600" dirty="0">
                          <a:solidFill>
                            <a:schemeClr val="tx1"/>
                          </a:solidFill>
                          <a:effectLst/>
                          <a:highlight>
                            <a:srgbClr val="C0C0C0"/>
                          </a:highlight>
                          <a:latin typeface="Roboto Mono" pitchFamily="49" charset="0"/>
                          <a:ea typeface="Roboto Mono" pitchFamily="49" charset="0"/>
                        </a:rPr>
                        <a:t>/</a:t>
                      </a:r>
                      <a:r>
                        <a:rPr lang="en-US" sz="1600" dirty="0" err="1">
                          <a:solidFill>
                            <a:schemeClr val="tx1"/>
                          </a:solidFill>
                          <a:effectLst/>
                          <a:highlight>
                            <a:srgbClr val="C0C0C0"/>
                          </a:highlight>
                          <a:latin typeface="Roboto Mono" pitchFamily="49" charset="0"/>
                          <a:ea typeface="Roboto Mono" pitchFamily="49" charset="0"/>
                        </a:rPr>
                        <a:t>ncc</a:t>
                      </a:r>
                      <a:r>
                        <a:rPr lang="en-US" dirty="0">
                          <a:solidFill>
                            <a:schemeClr val="tx1"/>
                          </a:solidFill>
                          <a:effectLst/>
                          <a:latin typeface="Quattrocento Sans" panose="020B0502050000020003" pitchFamily="34" charset="0"/>
                        </a:rPr>
                        <a:t> to compile JavaScript into a single file. This reduces dependencies and ensures all required modules are included, preventing runtime errors caused by missing files.</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19159582"/>
                  </a:ext>
                </a:extLst>
              </a:tr>
              <a:tr h="548271">
                <a:tc>
                  <a:txBody>
                    <a:bodyPr/>
                    <a:lstStyle/>
                    <a:p>
                      <a:pPr algn="l" fontAlgn="t"/>
                      <a:r>
                        <a:rPr lang="en-US" b="1">
                          <a:solidFill>
                            <a:schemeClr val="tx1"/>
                          </a:solidFill>
                          <a:effectLst/>
                          <a:latin typeface="Quattrocento Sans" panose="020B0502050000020003" pitchFamily="34" charset="0"/>
                        </a:rPr>
                        <a:t>Test with act</a:t>
                      </a:r>
                      <a:endParaRPr lang="en-US">
                        <a:solidFill>
                          <a:schemeClr val="tx1"/>
                        </a:solidFill>
                        <a:effectLst/>
                        <a:latin typeface="Quattrocento Sans" panose="020B0502050000020003" pitchFamily="34" charset="0"/>
                      </a:endParaRP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dirty="0">
                          <a:solidFill>
                            <a:schemeClr val="tx1"/>
                          </a:solidFill>
                          <a:effectLst/>
                          <a:latin typeface="Quattrocento Sans" panose="020B0502050000020003" pitchFamily="34" charset="0"/>
                        </a:rPr>
                        <a:t>Simulate runs locally for faster iterations.</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61785231"/>
                  </a:ext>
                </a:extLst>
              </a:tr>
              <a:tr h="548271">
                <a:tc>
                  <a:txBody>
                    <a:bodyPr/>
                    <a:lstStyle/>
                    <a:p>
                      <a:pPr algn="l" fontAlgn="t"/>
                      <a:r>
                        <a:rPr lang="en-US" b="1">
                          <a:solidFill>
                            <a:schemeClr val="tx1"/>
                          </a:solidFill>
                          <a:effectLst/>
                          <a:latin typeface="Quattrocento Sans" panose="020B0502050000020003" pitchFamily="34" charset="0"/>
                        </a:rPr>
                        <a:t>Use try/catch</a:t>
                      </a:r>
                      <a:endParaRPr lang="en-US">
                        <a:solidFill>
                          <a:schemeClr val="tx1"/>
                        </a:solidFill>
                        <a:effectLst/>
                        <a:latin typeface="Quattrocento Sans" panose="020B0502050000020003" pitchFamily="34" charset="0"/>
                      </a:endParaRP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noFill/>
                  </a:tcPr>
                </a:tc>
                <a:tc>
                  <a:txBody>
                    <a:bodyPr/>
                    <a:lstStyle/>
                    <a:p>
                      <a:pPr algn="l" fontAlgn="t"/>
                      <a:r>
                        <a:rPr lang="en-US" dirty="0">
                          <a:solidFill>
                            <a:schemeClr val="tx1"/>
                          </a:solidFill>
                          <a:effectLst/>
                          <a:latin typeface="Quattrocento Sans" panose="020B0502050000020003" pitchFamily="34" charset="0"/>
                        </a:rPr>
                        <a:t>Prevent workflows from failing silently.</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noFill/>
                  </a:tcPr>
                </a:tc>
                <a:extLst>
                  <a:ext uri="{0D108BD9-81ED-4DB2-BD59-A6C34878D82A}">
                    <a16:rowId xmlns:a16="http://schemas.microsoft.com/office/drawing/2014/main" val="3770676371"/>
                  </a:ext>
                </a:extLst>
              </a:tr>
            </a:tbl>
          </a:graphicData>
        </a:graphic>
      </p:graphicFrame>
    </p:spTree>
    <p:extLst>
      <p:ext uri="{BB962C8B-B14F-4D97-AF65-F5344CB8AC3E}">
        <p14:creationId xmlns:p14="http://schemas.microsoft.com/office/powerpoint/2010/main" val="3972059916"/>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Troubleshoot Docker container actions</a:t>
            </a: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5499" y="1171976"/>
            <a:ext cx="1073550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i="0" dirty="0">
                <a:effectLst/>
                <a:latin typeface="Quattrocento Sans" panose="020B0502050000020003" pitchFamily="34" charset="0"/>
              </a:rPr>
              <a:t>Docker container actions are powerful for encapsulating complex tools and environments in GitHub Actions workflows. However, debugging these actions can be more challenging than JavaScript actions due to their isolated runtime environment. </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
        <p:nvSpPr>
          <p:cNvPr id="7" name="Text Placeholder 2">
            <a:extLst>
              <a:ext uri="{FF2B5EF4-FFF2-40B4-BE49-F238E27FC236}">
                <a16:creationId xmlns:a16="http://schemas.microsoft.com/office/drawing/2014/main" id="{249F66C5-1800-6CC8-CF2C-46BD23695C30}"/>
              </a:ext>
            </a:extLst>
          </p:cNvPr>
          <p:cNvSpPr txBox="1">
            <a:spLocks/>
          </p:cNvSpPr>
          <p:nvPr/>
        </p:nvSpPr>
        <p:spPr>
          <a:xfrm>
            <a:off x="575499" y="2241044"/>
            <a:ext cx="5993252"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i="0" dirty="0">
                <a:effectLst/>
                <a:latin typeface="Quattrocento Sans" panose="020B0502050000020003" pitchFamily="34" charset="0"/>
              </a:rPr>
              <a:t>Common issues in Docker container actions</a:t>
            </a:r>
          </a:p>
        </p:txBody>
      </p:sp>
      <p:graphicFrame>
        <p:nvGraphicFramePr>
          <p:cNvPr id="6" name="Table 5">
            <a:extLst>
              <a:ext uri="{FF2B5EF4-FFF2-40B4-BE49-F238E27FC236}">
                <a16:creationId xmlns:a16="http://schemas.microsoft.com/office/drawing/2014/main" id="{F4A0B513-D9DB-2258-7D85-9B21F04EB3D9}"/>
              </a:ext>
            </a:extLst>
          </p:cNvPr>
          <p:cNvGraphicFramePr>
            <a:graphicFrameLocks noGrp="1"/>
          </p:cNvGraphicFramePr>
          <p:nvPr>
            <p:extLst>
              <p:ext uri="{D42A27DB-BD31-4B8C-83A1-F6EECF244321}">
                <p14:modId xmlns:p14="http://schemas.microsoft.com/office/powerpoint/2010/main" val="1322344196"/>
              </p:ext>
            </p:extLst>
          </p:nvPr>
        </p:nvGraphicFramePr>
        <p:xfrm>
          <a:off x="575499" y="2733486"/>
          <a:ext cx="10850563" cy="3498816"/>
        </p:xfrm>
        <a:graphic>
          <a:graphicData uri="http://schemas.openxmlformats.org/drawingml/2006/table">
            <a:tbl>
              <a:tblPr firstRow="1" bandRow="1">
                <a:tableStyleId>{5C22544A-7EE6-4342-B048-85BDC9FD1C3A}</a:tableStyleId>
              </a:tblPr>
              <a:tblGrid>
                <a:gridCol w="2447619">
                  <a:extLst>
                    <a:ext uri="{9D8B030D-6E8A-4147-A177-3AD203B41FA5}">
                      <a16:colId xmlns:a16="http://schemas.microsoft.com/office/drawing/2014/main" val="3881546690"/>
                    </a:ext>
                  </a:extLst>
                </a:gridCol>
                <a:gridCol w="4105470">
                  <a:extLst>
                    <a:ext uri="{9D8B030D-6E8A-4147-A177-3AD203B41FA5}">
                      <a16:colId xmlns:a16="http://schemas.microsoft.com/office/drawing/2014/main" val="3871292476"/>
                    </a:ext>
                  </a:extLst>
                </a:gridCol>
                <a:gridCol w="4297474">
                  <a:extLst>
                    <a:ext uri="{9D8B030D-6E8A-4147-A177-3AD203B41FA5}">
                      <a16:colId xmlns:a16="http://schemas.microsoft.com/office/drawing/2014/main" val="3169169894"/>
                    </a:ext>
                  </a:extLst>
                </a:gridCol>
              </a:tblGrid>
              <a:tr h="456624">
                <a:tc>
                  <a:txBody>
                    <a:bodyPr/>
                    <a:lstStyle/>
                    <a:p>
                      <a:pPr algn="l" fontAlgn="t"/>
                      <a:r>
                        <a:rPr lang="en-US" sz="2000" dirty="0">
                          <a:solidFill>
                            <a:schemeClr val="tx1"/>
                          </a:solidFill>
                          <a:effectLst/>
                          <a:latin typeface="Quattrocento Sans" panose="020B0502050000020003" pitchFamily="34" charset="0"/>
                        </a:rPr>
                        <a:t>Problem</a:t>
                      </a:r>
                    </a:p>
                  </a:txBody>
                  <a:tcPr anchor="b">
                    <a:lnR w="28575" cap="flat" cmpd="sng" algn="ctr">
                      <a:solidFill>
                        <a:schemeClr val="bg1">
                          <a:lumMod val="50000"/>
                        </a:schemeClr>
                      </a:solidFill>
                      <a:prstDash val="solid"/>
                      <a:round/>
                      <a:headEnd type="none" w="med" len="med"/>
                      <a:tailEnd type="none" w="med" len="med"/>
                    </a:lnR>
                    <a:lnB w="285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l" fontAlgn="t"/>
                      <a:r>
                        <a:rPr lang="en-US" sz="2000">
                          <a:solidFill>
                            <a:schemeClr val="tx1"/>
                          </a:solidFill>
                          <a:effectLst/>
                          <a:latin typeface="Quattrocento Sans" panose="020B0502050000020003" pitchFamily="34" charset="0"/>
                        </a:rPr>
                        <a:t>Possible cause</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B w="285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l" fontAlgn="t"/>
                      <a:r>
                        <a:rPr lang="en-US" sz="2000" dirty="0">
                          <a:solidFill>
                            <a:schemeClr val="tx1"/>
                          </a:solidFill>
                          <a:effectLst/>
                          <a:latin typeface="Quattrocento Sans" panose="020B0502050000020003" pitchFamily="34" charset="0"/>
                        </a:rPr>
                        <a:t>Suggested fix</a:t>
                      </a:r>
                    </a:p>
                  </a:txBody>
                  <a:tcPr anchor="b">
                    <a:lnL w="28575" cap="flat" cmpd="sng" algn="ctr">
                      <a:solidFill>
                        <a:schemeClr val="bg1">
                          <a:lumMod val="50000"/>
                        </a:schemeClr>
                      </a:solidFill>
                      <a:prstDash val="solid"/>
                      <a:round/>
                      <a:headEnd type="none" w="med" len="med"/>
                      <a:tailEnd type="none" w="med" len="med"/>
                    </a:lnL>
                    <a:lnB w="28575"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340377"/>
                  </a:ext>
                </a:extLst>
              </a:tr>
              <a:tr h="514080">
                <a:tc>
                  <a:txBody>
                    <a:bodyPr/>
                    <a:lstStyle/>
                    <a:p>
                      <a:pPr algn="l" fontAlgn="t"/>
                      <a:r>
                        <a:rPr lang="en-US" sz="1600">
                          <a:effectLst/>
                          <a:latin typeface="Quattrocento Sans" panose="020B0502050000020003" pitchFamily="34" charset="0"/>
                        </a:rPr>
                        <a:t>Action fails to start</a:t>
                      </a: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sz="1400" dirty="0">
                          <a:effectLst/>
                          <a:highlight>
                            <a:srgbClr val="C0C0C0"/>
                          </a:highlight>
                          <a:latin typeface="Roboto Mono" pitchFamily="49" charset="0"/>
                          <a:ea typeface="Roboto Mono" pitchFamily="49" charset="0"/>
                        </a:rPr>
                        <a:t>ENTRYPOINT</a:t>
                      </a:r>
                      <a:r>
                        <a:rPr lang="en-US" sz="1600" dirty="0">
                          <a:effectLst/>
                          <a:latin typeface="Quattrocento Sans" panose="020B0502050000020003" pitchFamily="34" charset="0"/>
                        </a:rPr>
                        <a:t> or </a:t>
                      </a:r>
                      <a:r>
                        <a:rPr lang="en-US" sz="1400" dirty="0">
                          <a:effectLst/>
                          <a:highlight>
                            <a:srgbClr val="C0C0C0"/>
                          </a:highlight>
                          <a:latin typeface="Roboto Mono" pitchFamily="49" charset="0"/>
                          <a:ea typeface="Roboto Mono" pitchFamily="49" charset="0"/>
                        </a:rPr>
                        <a:t>CMD</a:t>
                      </a:r>
                      <a:r>
                        <a:rPr lang="en-US" sz="1600" dirty="0">
                          <a:effectLst/>
                          <a:latin typeface="Quattrocento Sans" panose="020B0502050000020003" pitchFamily="34" charset="0"/>
                        </a:rPr>
                        <a:t> misconfigured</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sz="1600" dirty="0">
                          <a:effectLst/>
                          <a:latin typeface="Quattrocento Sans" panose="020B0502050000020003" pitchFamily="34" charset="0"/>
                        </a:rPr>
                        <a:t>Confirm </a:t>
                      </a:r>
                      <a:r>
                        <a:rPr lang="en-US" sz="1600" dirty="0" err="1">
                          <a:effectLst/>
                          <a:latin typeface="Quattrocento Sans" panose="020B0502050000020003" pitchFamily="34" charset="0"/>
                        </a:rPr>
                        <a:t>Dockerfile</a:t>
                      </a:r>
                      <a:r>
                        <a:rPr lang="en-US" sz="1600" dirty="0">
                          <a:effectLst/>
                          <a:latin typeface="Quattrocento Sans" panose="020B0502050000020003" pitchFamily="34" charset="0"/>
                        </a:rPr>
                        <a:t> uses </a:t>
                      </a:r>
                      <a:r>
                        <a:rPr lang="en-US" sz="1400" dirty="0">
                          <a:effectLst/>
                          <a:highlight>
                            <a:srgbClr val="C0C0C0"/>
                          </a:highlight>
                          <a:latin typeface="Roboto Mono" pitchFamily="49" charset="0"/>
                          <a:ea typeface="Roboto Mono" pitchFamily="49" charset="0"/>
                        </a:rPr>
                        <a:t>ENTRYPOINT</a:t>
                      </a:r>
                      <a:r>
                        <a:rPr lang="en-US" sz="1600" dirty="0">
                          <a:effectLst/>
                          <a:latin typeface="Quattrocento Sans" panose="020B0502050000020003" pitchFamily="34" charset="0"/>
                        </a:rPr>
                        <a:t> correctly</a:t>
                      </a:r>
                    </a:p>
                  </a:txBody>
                  <a:tcPr anchor="b">
                    <a:lnL w="28575" cap="flat" cmpd="sng" algn="ctr">
                      <a:solidFill>
                        <a:schemeClr val="bg1">
                          <a:lumMod val="50000"/>
                        </a:schemeClr>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987365753"/>
                  </a:ext>
                </a:extLst>
              </a:tr>
              <a:tr h="456624">
                <a:tc>
                  <a:txBody>
                    <a:bodyPr/>
                    <a:lstStyle/>
                    <a:p>
                      <a:pPr algn="l" fontAlgn="t"/>
                      <a:r>
                        <a:rPr lang="en-US" sz="1600">
                          <a:effectLst/>
                          <a:latin typeface="Quattrocento Sans" panose="020B0502050000020003" pitchFamily="34" charset="0"/>
                        </a:rPr>
                        <a:t>Missing dependencies</a:t>
                      </a: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sz="1600">
                          <a:effectLst/>
                          <a:latin typeface="Quattrocento Sans" panose="020B0502050000020003" pitchFamily="34" charset="0"/>
                        </a:rPr>
                        <a:t>Dependencies not installed or misconfigured</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sz="1600">
                          <a:effectLst/>
                          <a:latin typeface="Quattrocento Sans" panose="020B0502050000020003" pitchFamily="34" charset="0"/>
                        </a:rPr>
                        <a:t>Ensure all packages are installed in the image</a:t>
                      </a:r>
                    </a:p>
                  </a:txBody>
                  <a:tcPr anchor="b">
                    <a:lnL w="28575" cap="flat" cmpd="sng" algn="ctr">
                      <a:solidFill>
                        <a:schemeClr val="bg1">
                          <a:lumMod val="50000"/>
                        </a:schemeClr>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86461986"/>
                  </a:ext>
                </a:extLst>
              </a:tr>
              <a:tr h="514080">
                <a:tc>
                  <a:txBody>
                    <a:bodyPr/>
                    <a:lstStyle/>
                    <a:p>
                      <a:pPr algn="l" fontAlgn="t"/>
                      <a:r>
                        <a:rPr lang="en-US" sz="1600">
                          <a:effectLst/>
                          <a:latin typeface="Quattrocento Sans" panose="020B0502050000020003" pitchFamily="34" charset="0"/>
                        </a:rPr>
                        <a:t>Inputs not received</a:t>
                      </a: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sz="1400" dirty="0">
                          <a:effectLst/>
                          <a:highlight>
                            <a:srgbClr val="C0C0C0"/>
                          </a:highlight>
                          <a:latin typeface="Roboto Mono" pitchFamily="49" charset="0"/>
                          <a:ea typeface="Roboto Mono" pitchFamily="49" charset="0"/>
                        </a:rPr>
                        <a:t>INPUT_</a:t>
                      </a:r>
                      <a:r>
                        <a:rPr lang="en-US" sz="1400" dirty="0">
                          <a:effectLst/>
                          <a:latin typeface="Roboto Mono" pitchFamily="49" charset="0"/>
                          <a:ea typeface="Roboto Mono" pitchFamily="49" charset="0"/>
                        </a:rPr>
                        <a:t> </a:t>
                      </a:r>
                      <a:r>
                        <a:rPr lang="en-US" sz="1600" dirty="0">
                          <a:effectLst/>
                          <a:latin typeface="Quattrocento Sans" panose="020B0502050000020003" pitchFamily="34" charset="0"/>
                        </a:rPr>
                        <a:t>environment variables not accessed</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sz="1600" dirty="0">
                          <a:effectLst/>
                          <a:latin typeface="Quattrocento Sans" panose="020B0502050000020003" pitchFamily="34" charset="0"/>
                        </a:rPr>
                        <a:t>Use </a:t>
                      </a:r>
                      <a:r>
                        <a:rPr lang="en-US" sz="1400" dirty="0" err="1">
                          <a:effectLst/>
                          <a:highlight>
                            <a:srgbClr val="C0C0C0"/>
                          </a:highlight>
                          <a:latin typeface="Roboto Mono" pitchFamily="49" charset="0"/>
                          <a:ea typeface="Roboto Mono" pitchFamily="49" charset="0"/>
                        </a:rPr>
                        <a:t>process.env.INPUT</a:t>
                      </a:r>
                      <a:r>
                        <a:rPr lang="en-US" sz="1400" dirty="0">
                          <a:effectLst/>
                          <a:highlight>
                            <a:srgbClr val="C0C0C0"/>
                          </a:highlight>
                          <a:latin typeface="Roboto Mono" pitchFamily="49" charset="0"/>
                          <a:ea typeface="Roboto Mono" pitchFamily="49" charset="0"/>
                        </a:rPr>
                        <a:t>_&lt;INPUT_NAME&gt;</a:t>
                      </a:r>
                      <a:r>
                        <a:rPr lang="en-US" sz="1400" dirty="0">
                          <a:effectLst/>
                          <a:latin typeface="Roboto Mono" pitchFamily="49" charset="0"/>
                          <a:ea typeface="Roboto Mono" pitchFamily="49" charset="0"/>
                        </a:rPr>
                        <a:t> </a:t>
                      </a:r>
                      <a:r>
                        <a:rPr lang="en-US" sz="1600" dirty="0">
                          <a:effectLst/>
                          <a:latin typeface="Quattrocento Sans" panose="020B0502050000020003" pitchFamily="34" charset="0"/>
                        </a:rPr>
                        <a:t>(or shell equivalent)</a:t>
                      </a:r>
                    </a:p>
                  </a:txBody>
                  <a:tcPr anchor="b">
                    <a:lnL w="28575" cap="flat" cmpd="sng" algn="ctr">
                      <a:solidFill>
                        <a:schemeClr val="bg1">
                          <a:lumMod val="50000"/>
                        </a:schemeClr>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19159582"/>
                  </a:ext>
                </a:extLst>
              </a:tr>
              <a:tr h="514080">
                <a:tc>
                  <a:txBody>
                    <a:bodyPr/>
                    <a:lstStyle/>
                    <a:p>
                      <a:pPr algn="l" fontAlgn="t"/>
                      <a:r>
                        <a:rPr lang="en-US" sz="1600">
                          <a:effectLst/>
                          <a:latin typeface="Quattrocento Sans" panose="020B0502050000020003" pitchFamily="34" charset="0"/>
                        </a:rPr>
                        <a:t>File not found</a:t>
                      </a: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sz="1600">
                          <a:effectLst/>
                          <a:latin typeface="Quattrocento Sans" panose="020B0502050000020003" pitchFamily="34" charset="0"/>
                        </a:rPr>
                        <a:t>Incorrect file path inside container</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sz="1600">
                          <a:effectLst/>
                          <a:latin typeface="Quattrocento Sans" panose="020B0502050000020003" pitchFamily="34" charset="0"/>
                        </a:rPr>
                        <a:t>Use absolute paths or validate directory structure</a:t>
                      </a:r>
                    </a:p>
                  </a:txBody>
                  <a:tcPr anchor="b">
                    <a:lnL w="28575" cap="flat" cmpd="sng" algn="ctr">
                      <a:solidFill>
                        <a:schemeClr val="bg1">
                          <a:lumMod val="50000"/>
                        </a:schemeClr>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61785231"/>
                  </a:ext>
                </a:extLst>
              </a:tr>
              <a:tr h="456624">
                <a:tc>
                  <a:txBody>
                    <a:bodyPr/>
                    <a:lstStyle/>
                    <a:p>
                      <a:pPr algn="l" fontAlgn="t"/>
                      <a:r>
                        <a:rPr lang="en-US" sz="1600">
                          <a:effectLst/>
                          <a:latin typeface="Quattrocento Sans" panose="020B0502050000020003" pitchFamily="34" charset="0"/>
                        </a:rPr>
                        <a:t>Permission denied</a:t>
                      </a: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sz="1600">
                          <a:effectLst/>
                          <a:latin typeface="Quattrocento Sans" panose="020B0502050000020003" pitchFamily="34" charset="0"/>
                        </a:rPr>
                        <a:t>File or script lacks execution permission</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sz="1600" dirty="0">
                          <a:effectLst/>
                          <a:latin typeface="Quattrocento Sans" panose="020B0502050000020003" pitchFamily="34" charset="0"/>
                        </a:rPr>
                        <a:t>Add </a:t>
                      </a:r>
                      <a:r>
                        <a:rPr lang="en-US" sz="1400" dirty="0">
                          <a:effectLst/>
                          <a:highlight>
                            <a:srgbClr val="C0C0C0"/>
                          </a:highlight>
                          <a:latin typeface="Roboto Mono" pitchFamily="49" charset="0"/>
                          <a:ea typeface="Roboto Mono" pitchFamily="49" charset="0"/>
                        </a:rPr>
                        <a:t>RUN </a:t>
                      </a:r>
                      <a:r>
                        <a:rPr lang="en-US" sz="1400" dirty="0" err="1">
                          <a:effectLst/>
                          <a:highlight>
                            <a:srgbClr val="C0C0C0"/>
                          </a:highlight>
                          <a:latin typeface="Roboto Mono" pitchFamily="49" charset="0"/>
                          <a:ea typeface="Roboto Mono" pitchFamily="49" charset="0"/>
                        </a:rPr>
                        <a:t>chmod</a:t>
                      </a:r>
                      <a:r>
                        <a:rPr lang="en-US" sz="1400" dirty="0">
                          <a:effectLst/>
                          <a:highlight>
                            <a:srgbClr val="C0C0C0"/>
                          </a:highlight>
                          <a:latin typeface="Roboto Mono" pitchFamily="49" charset="0"/>
                          <a:ea typeface="Roboto Mono" pitchFamily="49" charset="0"/>
                        </a:rPr>
                        <a:t> +x &lt;script&gt;</a:t>
                      </a:r>
                      <a:r>
                        <a:rPr lang="en-US" sz="1600" dirty="0">
                          <a:effectLst/>
                          <a:latin typeface="Quattrocento Sans" panose="020B0502050000020003" pitchFamily="34" charset="0"/>
                        </a:rPr>
                        <a:t> in </a:t>
                      </a:r>
                      <a:r>
                        <a:rPr lang="en-US" sz="1600" dirty="0" err="1">
                          <a:effectLst/>
                          <a:latin typeface="Quattrocento Sans" panose="020B0502050000020003" pitchFamily="34" charset="0"/>
                        </a:rPr>
                        <a:t>Dockerfile</a:t>
                      </a:r>
                      <a:endParaRPr lang="en-US" sz="1600" dirty="0">
                        <a:effectLst/>
                        <a:latin typeface="Quattrocento Sans" panose="020B0502050000020003" pitchFamily="34" charset="0"/>
                      </a:endParaRPr>
                    </a:p>
                  </a:txBody>
                  <a:tcPr anchor="b">
                    <a:lnL w="28575" cap="flat" cmpd="sng" algn="ctr">
                      <a:solidFill>
                        <a:schemeClr val="bg1">
                          <a:lumMod val="50000"/>
                        </a:schemeClr>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70676371"/>
                  </a:ext>
                </a:extLst>
              </a:tr>
              <a:tr h="456624">
                <a:tc>
                  <a:txBody>
                    <a:bodyPr/>
                    <a:lstStyle/>
                    <a:p>
                      <a:pPr algn="l" fontAlgn="t"/>
                      <a:r>
                        <a:rPr lang="en-US" sz="1600" dirty="0">
                          <a:effectLst/>
                          <a:latin typeface="Quattrocento Sans" panose="020B0502050000020003" pitchFamily="34" charset="0"/>
                        </a:rPr>
                        <a:t>Network-related failures</a:t>
                      </a: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noFill/>
                  </a:tcPr>
                </a:tc>
                <a:tc>
                  <a:txBody>
                    <a:bodyPr/>
                    <a:lstStyle/>
                    <a:p>
                      <a:pPr algn="l" fontAlgn="t"/>
                      <a:r>
                        <a:rPr lang="en-US" sz="1600">
                          <a:effectLst/>
                          <a:latin typeface="Quattrocento Sans" panose="020B0502050000020003" pitchFamily="34" charset="0"/>
                        </a:rPr>
                        <a:t>External services not accessible</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noFill/>
                  </a:tcPr>
                </a:tc>
                <a:tc>
                  <a:txBody>
                    <a:bodyPr/>
                    <a:lstStyle/>
                    <a:p>
                      <a:pPr algn="l" fontAlgn="t"/>
                      <a:r>
                        <a:rPr lang="en-US" sz="1600" dirty="0">
                          <a:effectLst/>
                          <a:latin typeface="Quattrocento Sans" panose="020B0502050000020003" pitchFamily="34" charset="0"/>
                        </a:rPr>
                        <a:t>Validate network settings and retry logic</a:t>
                      </a:r>
                    </a:p>
                  </a:txBody>
                  <a:tcPr anchor="b">
                    <a:lnL w="28575" cap="flat" cmpd="sng" algn="ctr">
                      <a:solidFill>
                        <a:schemeClr val="bg1">
                          <a:lumMod val="50000"/>
                        </a:schemeClr>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noFill/>
                  </a:tcPr>
                </a:tc>
                <a:extLst>
                  <a:ext uri="{0D108BD9-81ED-4DB2-BD59-A6C34878D82A}">
                    <a16:rowId xmlns:a16="http://schemas.microsoft.com/office/drawing/2014/main" val="1375325337"/>
                  </a:ext>
                </a:extLst>
              </a:tr>
            </a:tbl>
          </a:graphicData>
        </a:graphic>
      </p:graphicFrame>
    </p:spTree>
    <p:extLst>
      <p:ext uri="{BB962C8B-B14F-4D97-AF65-F5344CB8AC3E}">
        <p14:creationId xmlns:p14="http://schemas.microsoft.com/office/powerpoint/2010/main" val="2523520296"/>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Understand the Docker action lifecycle</a:t>
            </a: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89101" y="1031011"/>
            <a:ext cx="1073550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i="0" dirty="0">
                <a:effectLst/>
                <a:latin typeface="Quattrocento Sans" panose="020B0502050000020003" pitchFamily="34" charset="0"/>
              </a:rPr>
              <a:t>Before troubleshooting, it's helpful to understand how Docker container actions run.</a:t>
            </a:r>
          </a:p>
        </p:txBody>
      </p:sp>
      <p:sp>
        <p:nvSpPr>
          <p:cNvPr id="10" name="Rectangle 9">
            <a:extLst>
              <a:ext uri="{FF2B5EF4-FFF2-40B4-BE49-F238E27FC236}">
                <a16:creationId xmlns:a16="http://schemas.microsoft.com/office/drawing/2014/main" id="{28DE602A-388A-5668-2904-10219BF21DA2}"/>
              </a:ext>
            </a:extLst>
          </p:cNvPr>
          <p:cNvSpPr/>
          <p:nvPr/>
        </p:nvSpPr>
        <p:spPr>
          <a:xfrm>
            <a:off x="481121" y="2135316"/>
            <a:ext cx="3508310" cy="24642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1DA6EF3-AFF2-987F-14B1-A4E257DAD190}"/>
              </a:ext>
            </a:extLst>
          </p:cNvPr>
          <p:cNvSpPr/>
          <p:nvPr/>
        </p:nvSpPr>
        <p:spPr>
          <a:xfrm>
            <a:off x="1635752" y="1555783"/>
            <a:ext cx="1199048" cy="109716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descr="Badge 1 with solid fill">
            <a:extLst>
              <a:ext uri="{FF2B5EF4-FFF2-40B4-BE49-F238E27FC236}">
                <a16:creationId xmlns:a16="http://schemas.microsoft.com/office/drawing/2014/main" id="{68DE2B77-68A9-60D6-492B-C998280E016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78076" y="1597877"/>
            <a:ext cx="914400" cy="914400"/>
          </a:xfrm>
          <a:prstGeom prst="rect">
            <a:avLst/>
          </a:prstGeom>
        </p:spPr>
      </p:pic>
      <p:sp>
        <p:nvSpPr>
          <p:cNvPr id="13" name="Oval 12">
            <a:extLst>
              <a:ext uri="{FF2B5EF4-FFF2-40B4-BE49-F238E27FC236}">
                <a16:creationId xmlns:a16="http://schemas.microsoft.com/office/drawing/2014/main" id="{6ED79D81-A5D4-77D3-38DE-A84A21E8F16F}"/>
              </a:ext>
            </a:extLst>
          </p:cNvPr>
          <p:cNvSpPr/>
          <p:nvPr/>
        </p:nvSpPr>
        <p:spPr>
          <a:xfrm>
            <a:off x="5486307" y="1555783"/>
            <a:ext cx="1199048" cy="109716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 Placeholder 2">
            <a:extLst>
              <a:ext uri="{FF2B5EF4-FFF2-40B4-BE49-F238E27FC236}">
                <a16:creationId xmlns:a16="http://schemas.microsoft.com/office/drawing/2014/main" id="{E4BAE20B-C3AB-108D-11F0-2881B688BB53}"/>
              </a:ext>
            </a:extLst>
          </p:cNvPr>
          <p:cNvSpPr txBox="1">
            <a:spLocks/>
          </p:cNvSpPr>
          <p:nvPr/>
        </p:nvSpPr>
        <p:spPr>
          <a:xfrm>
            <a:off x="797068" y="2353864"/>
            <a:ext cx="2718502"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1" i="0" dirty="0">
                <a:effectLst/>
                <a:latin typeface="Quattrocento Sans" panose="020B0502050000020003" pitchFamily="34" charset="0"/>
              </a:rPr>
              <a:t>Workflow Trigger</a:t>
            </a:r>
          </a:p>
        </p:txBody>
      </p:sp>
      <p:sp>
        <p:nvSpPr>
          <p:cNvPr id="16" name="Text Placeholder 2">
            <a:extLst>
              <a:ext uri="{FF2B5EF4-FFF2-40B4-BE49-F238E27FC236}">
                <a16:creationId xmlns:a16="http://schemas.microsoft.com/office/drawing/2014/main" id="{2E954B2D-F5E5-051D-206A-9A509ACC7E4B}"/>
              </a:ext>
            </a:extLst>
          </p:cNvPr>
          <p:cNvSpPr txBox="1">
            <a:spLocks/>
          </p:cNvSpPr>
          <p:nvPr/>
        </p:nvSpPr>
        <p:spPr>
          <a:xfrm>
            <a:off x="797068" y="2846306"/>
            <a:ext cx="2957421" cy="153469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i="0" dirty="0">
                <a:effectLst/>
                <a:latin typeface="Quattrocento Sans" panose="020B0502050000020003" pitchFamily="34" charset="0"/>
              </a:rPr>
              <a:t>A GitHub Actions workflow starts in response to a configured event—such as a </a:t>
            </a:r>
            <a:r>
              <a:rPr lang="en-US" i="0" dirty="0">
                <a:effectLst/>
                <a:highlight>
                  <a:srgbClr val="C0C0C0"/>
                </a:highlight>
                <a:latin typeface="Roboto Mono" pitchFamily="49" charset="0"/>
                <a:ea typeface="Roboto Mono" pitchFamily="49" charset="0"/>
              </a:rPr>
              <a:t>push</a:t>
            </a:r>
            <a:r>
              <a:rPr lang="en-US" sz="1800" i="0" dirty="0">
                <a:effectLst/>
                <a:latin typeface="Quattrocento Sans" panose="020B0502050000020003" pitchFamily="34" charset="0"/>
              </a:rPr>
              <a:t>, </a:t>
            </a:r>
            <a:r>
              <a:rPr lang="en-US" i="0" dirty="0" err="1">
                <a:effectLst/>
                <a:highlight>
                  <a:srgbClr val="C0C0C0"/>
                </a:highlight>
                <a:latin typeface="Roboto Mono" pitchFamily="49" charset="0"/>
                <a:ea typeface="Roboto Mono" pitchFamily="49" charset="0"/>
              </a:rPr>
              <a:t>pull_request</a:t>
            </a:r>
            <a:r>
              <a:rPr lang="en-US" sz="1800" i="0" dirty="0">
                <a:effectLst/>
                <a:latin typeface="Quattrocento Sans" panose="020B0502050000020003" pitchFamily="34" charset="0"/>
              </a:rPr>
              <a:t>, or manual </a:t>
            </a:r>
            <a:r>
              <a:rPr lang="en-US" i="0" dirty="0" err="1">
                <a:effectLst/>
                <a:highlight>
                  <a:srgbClr val="C0C0C0"/>
                </a:highlight>
                <a:latin typeface="Roboto Mono" pitchFamily="49" charset="0"/>
                <a:ea typeface="Roboto Mono" pitchFamily="49" charset="0"/>
              </a:rPr>
              <a:t>workflow_dispatch</a:t>
            </a:r>
            <a:r>
              <a:rPr lang="en-US" sz="1800" i="0" dirty="0">
                <a:effectLst/>
                <a:latin typeface="Quattrocento Sans" panose="020B0502050000020003" pitchFamily="34" charset="0"/>
              </a:rPr>
              <a:t>.</a:t>
            </a:r>
          </a:p>
        </p:txBody>
      </p:sp>
      <p:sp>
        <p:nvSpPr>
          <p:cNvPr id="17" name="Rectangle 16">
            <a:extLst>
              <a:ext uri="{FF2B5EF4-FFF2-40B4-BE49-F238E27FC236}">
                <a16:creationId xmlns:a16="http://schemas.microsoft.com/office/drawing/2014/main" id="{C1FCF390-1C22-4828-6766-F39649F8874D}"/>
              </a:ext>
            </a:extLst>
          </p:cNvPr>
          <p:cNvSpPr/>
          <p:nvPr/>
        </p:nvSpPr>
        <p:spPr>
          <a:xfrm>
            <a:off x="4305378" y="2143938"/>
            <a:ext cx="3508310" cy="287131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2">
            <a:extLst>
              <a:ext uri="{FF2B5EF4-FFF2-40B4-BE49-F238E27FC236}">
                <a16:creationId xmlns:a16="http://schemas.microsoft.com/office/drawing/2014/main" id="{5022550B-E189-AE27-7315-52FE8B47181C}"/>
              </a:ext>
            </a:extLst>
          </p:cNvPr>
          <p:cNvSpPr txBox="1">
            <a:spLocks/>
          </p:cNvSpPr>
          <p:nvPr/>
        </p:nvSpPr>
        <p:spPr>
          <a:xfrm>
            <a:off x="4621325" y="2353864"/>
            <a:ext cx="2718502"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1" i="0" dirty="0">
                <a:effectLst/>
                <a:latin typeface="Quattrocento Sans" panose="020B0502050000020003" pitchFamily="34" charset="0"/>
              </a:rPr>
              <a:t>Runner Setup</a:t>
            </a:r>
          </a:p>
        </p:txBody>
      </p:sp>
      <p:sp>
        <p:nvSpPr>
          <p:cNvPr id="19" name="Text Placeholder 2">
            <a:extLst>
              <a:ext uri="{FF2B5EF4-FFF2-40B4-BE49-F238E27FC236}">
                <a16:creationId xmlns:a16="http://schemas.microsoft.com/office/drawing/2014/main" id="{CE8F1B9D-C1BB-FB2C-3927-2120504DF66D}"/>
              </a:ext>
            </a:extLst>
          </p:cNvPr>
          <p:cNvSpPr txBox="1">
            <a:spLocks/>
          </p:cNvSpPr>
          <p:nvPr/>
        </p:nvSpPr>
        <p:spPr>
          <a:xfrm>
            <a:off x="4621325" y="3056232"/>
            <a:ext cx="2957421" cy="153469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i="0" dirty="0">
                <a:effectLst/>
                <a:latin typeface="Quattrocento Sans" panose="020B0502050000020003" pitchFamily="34" charset="0"/>
              </a:rPr>
              <a:t>GitHub provisions a fresh virtual machine (the runner) to execute the workflow. The runner prepares the environment by downloading action definitions and resolving dependencies.</a:t>
            </a:r>
          </a:p>
        </p:txBody>
      </p:sp>
      <p:pic>
        <p:nvPicPr>
          <p:cNvPr id="14" name="Graphic 13" descr="Badge with solid fill">
            <a:extLst>
              <a:ext uri="{FF2B5EF4-FFF2-40B4-BE49-F238E27FC236}">
                <a16:creationId xmlns:a16="http://schemas.microsoft.com/office/drawing/2014/main" id="{78CBFBF6-65C6-D293-E420-39956B8CE69A}"/>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628631" y="1597877"/>
            <a:ext cx="914400" cy="914400"/>
          </a:xfrm>
          <a:prstGeom prst="rect">
            <a:avLst/>
          </a:prstGeom>
        </p:spPr>
      </p:pic>
      <p:sp>
        <p:nvSpPr>
          <p:cNvPr id="20" name="Oval 19">
            <a:extLst>
              <a:ext uri="{FF2B5EF4-FFF2-40B4-BE49-F238E27FC236}">
                <a16:creationId xmlns:a16="http://schemas.microsoft.com/office/drawing/2014/main" id="{17042FA2-3282-549C-76E5-55CC29F9E23D}"/>
              </a:ext>
            </a:extLst>
          </p:cNvPr>
          <p:cNvSpPr/>
          <p:nvPr/>
        </p:nvSpPr>
        <p:spPr>
          <a:xfrm>
            <a:off x="9308710" y="1547161"/>
            <a:ext cx="1199048" cy="109716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E5142D2-DFD3-EF13-E93D-56FFAAAFA51A}"/>
              </a:ext>
            </a:extLst>
          </p:cNvPr>
          <p:cNvSpPr/>
          <p:nvPr/>
        </p:nvSpPr>
        <p:spPr>
          <a:xfrm>
            <a:off x="8127781" y="2135316"/>
            <a:ext cx="3508310" cy="287131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2">
            <a:extLst>
              <a:ext uri="{FF2B5EF4-FFF2-40B4-BE49-F238E27FC236}">
                <a16:creationId xmlns:a16="http://schemas.microsoft.com/office/drawing/2014/main" id="{7BAF8D7E-8D05-D45E-EC81-9F0837768D8C}"/>
              </a:ext>
            </a:extLst>
          </p:cNvPr>
          <p:cNvSpPr txBox="1">
            <a:spLocks/>
          </p:cNvSpPr>
          <p:nvPr/>
        </p:nvSpPr>
        <p:spPr>
          <a:xfrm>
            <a:off x="8443728" y="2345242"/>
            <a:ext cx="2718502"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1" i="0" dirty="0">
                <a:effectLst/>
                <a:latin typeface="Quattrocento Sans" panose="020B0502050000020003" pitchFamily="34" charset="0"/>
              </a:rPr>
              <a:t>Action Resolution</a:t>
            </a:r>
          </a:p>
        </p:txBody>
      </p:sp>
      <p:sp>
        <p:nvSpPr>
          <p:cNvPr id="23" name="Text Placeholder 2">
            <a:extLst>
              <a:ext uri="{FF2B5EF4-FFF2-40B4-BE49-F238E27FC236}">
                <a16:creationId xmlns:a16="http://schemas.microsoft.com/office/drawing/2014/main" id="{91AF5991-D688-6C9B-CAA6-B4A679C59194}"/>
              </a:ext>
            </a:extLst>
          </p:cNvPr>
          <p:cNvSpPr txBox="1">
            <a:spLocks/>
          </p:cNvSpPr>
          <p:nvPr/>
        </p:nvSpPr>
        <p:spPr>
          <a:xfrm>
            <a:off x="8443728" y="2775764"/>
            <a:ext cx="3138579" cy="153469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i="0" dirty="0">
                <a:effectLst/>
                <a:latin typeface="Quattrocento Sans" panose="020B0502050000020003" pitchFamily="34" charset="0"/>
              </a:rPr>
              <a:t>If the action specifies </a:t>
            </a:r>
            <a:r>
              <a:rPr lang="en-US" i="0" dirty="0" err="1">
                <a:effectLst/>
                <a:highlight>
                  <a:srgbClr val="C0C0C0"/>
                </a:highlight>
                <a:latin typeface="Roboto Mono" pitchFamily="49" charset="0"/>
                <a:ea typeface="Roboto Mono" pitchFamily="49" charset="0"/>
              </a:rPr>
              <a:t>runs.using</a:t>
            </a:r>
            <a:r>
              <a:rPr lang="en-US" i="0" dirty="0">
                <a:effectLst/>
                <a:highlight>
                  <a:srgbClr val="C0C0C0"/>
                </a:highlight>
                <a:latin typeface="Roboto Mono" pitchFamily="49" charset="0"/>
                <a:ea typeface="Roboto Mono" pitchFamily="49" charset="0"/>
              </a:rPr>
              <a:t>: docker</a:t>
            </a:r>
            <a:r>
              <a:rPr lang="en-US" i="0" dirty="0">
                <a:effectLst/>
                <a:latin typeface="Roboto Mono" pitchFamily="49" charset="0"/>
                <a:ea typeface="Roboto Mono" pitchFamily="49" charset="0"/>
              </a:rPr>
              <a:t> </a:t>
            </a:r>
            <a:r>
              <a:rPr lang="en-US" sz="1800" i="0" dirty="0">
                <a:effectLst/>
                <a:latin typeface="Quattrocento Sans" panose="020B0502050000020003" pitchFamily="34" charset="0"/>
              </a:rPr>
              <a:t>in its </a:t>
            </a:r>
            <a:r>
              <a:rPr lang="en-US" i="0" dirty="0" err="1">
                <a:effectLst/>
                <a:highlight>
                  <a:srgbClr val="C0C0C0"/>
                </a:highlight>
                <a:latin typeface="Roboto Mono" pitchFamily="49" charset="0"/>
                <a:ea typeface="Roboto Mono" pitchFamily="49" charset="0"/>
              </a:rPr>
              <a:t>action.yml</a:t>
            </a:r>
            <a:r>
              <a:rPr lang="en-US" i="0" dirty="0">
                <a:effectLst/>
                <a:latin typeface="Roboto Mono" pitchFamily="49" charset="0"/>
                <a:ea typeface="Roboto Mono" pitchFamily="49" charset="0"/>
              </a:rPr>
              <a:t> </a:t>
            </a:r>
            <a:r>
              <a:rPr lang="en-US" sz="1800" i="0" dirty="0">
                <a:effectLst/>
                <a:latin typeface="Quattrocento Sans" panose="020B0502050000020003" pitchFamily="34" charset="0"/>
              </a:rPr>
              <a:t>file, GitHub recognizes it as a Docker-based action.</a:t>
            </a:r>
          </a:p>
        </p:txBody>
      </p:sp>
      <p:pic>
        <p:nvPicPr>
          <p:cNvPr id="24" name="Graphic 23" descr="Badge 3 with solid fill">
            <a:extLst>
              <a:ext uri="{FF2B5EF4-FFF2-40B4-BE49-F238E27FC236}">
                <a16:creationId xmlns:a16="http://schemas.microsoft.com/office/drawing/2014/main" id="{640C9CDC-1647-0C94-44E9-346F9627DC6E}"/>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451034" y="1589255"/>
            <a:ext cx="914400" cy="914400"/>
          </a:xfrm>
          <a:prstGeom prst="rect">
            <a:avLst/>
          </a:prstGeom>
        </p:spPr>
      </p:pic>
      <p:sp>
        <p:nvSpPr>
          <p:cNvPr id="25" name="Footer Placeholder 3">
            <a:extLst>
              <a:ext uri="{FF2B5EF4-FFF2-40B4-BE49-F238E27FC236}">
                <a16:creationId xmlns:a16="http://schemas.microsoft.com/office/drawing/2014/main" id="{81CCCAE6-6FCD-400C-0B31-9958662A6070}"/>
              </a:ext>
            </a:extLst>
          </p:cNvPr>
          <p:cNvSpPr>
            <a:spLocks noGrp="1"/>
          </p:cNvSpPr>
          <p:nvPr>
            <p:ph type="ftr" sz="quarter" idx="3"/>
          </p:nvPr>
        </p:nvSpPr>
        <p:spPr>
          <a:xfrm>
            <a:off x="579438" y="6421083"/>
            <a:ext cx="4151312" cy="197976"/>
          </a:xfrm>
        </p:spPr>
        <p:txBody>
          <a:body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302649117"/>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Understand the Docker action lifecycle</a:t>
            </a: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89101" y="1031011"/>
            <a:ext cx="1073550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i="0" dirty="0">
                <a:effectLst/>
                <a:latin typeface="Quattrocento Sans" panose="020B0502050000020003" pitchFamily="34" charset="0"/>
              </a:rPr>
              <a:t>Before troubleshooting, it's helpful to understand how Docker container actions run.</a:t>
            </a:r>
          </a:p>
        </p:txBody>
      </p:sp>
      <p:sp>
        <p:nvSpPr>
          <p:cNvPr id="10" name="Rectangle 9">
            <a:extLst>
              <a:ext uri="{FF2B5EF4-FFF2-40B4-BE49-F238E27FC236}">
                <a16:creationId xmlns:a16="http://schemas.microsoft.com/office/drawing/2014/main" id="{28DE602A-388A-5668-2904-10219BF21DA2}"/>
              </a:ext>
            </a:extLst>
          </p:cNvPr>
          <p:cNvSpPr/>
          <p:nvPr/>
        </p:nvSpPr>
        <p:spPr>
          <a:xfrm>
            <a:off x="481121" y="2135316"/>
            <a:ext cx="3508310" cy="287131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1DA6EF3-AFF2-987F-14B1-A4E257DAD190}"/>
              </a:ext>
            </a:extLst>
          </p:cNvPr>
          <p:cNvSpPr/>
          <p:nvPr/>
        </p:nvSpPr>
        <p:spPr>
          <a:xfrm>
            <a:off x="1635752" y="1555783"/>
            <a:ext cx="1199048" cy="109716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descr="Badge 4 with solid fill">
            <a:extLst>
              <a:ext uri="{FF2B5EF4-FFF2-40B4-BE49-F238E27FC236}">
                <a16:creationId xmlns:a16="http://schemas.microsoft.com/office/drawing/2014/main" id="{68DE2B77-68A9-60D6-492B-C998280E016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778076" y="1597877"/>
            <a:ext cx="914400" cy="914400"/>
          </a:xfrm>
          <a:prstGeom prst="rect">
            <a:avLst/>
          </a:prstGeom>
        </p:spPr>
      </p:pic>
      <p:sp>
        <p:nvSpPr>
          <p:cNvPr id="13" name="Oval 12">
            <a:extLst>
              <a:ext uri="{FF2B5EF4-FFF2-40B4-BE49-F238E27FC236}">
                <a16:creationId xmlns:a16="http://schemas.microsoft.com/office/drawing/2014/main" id="{6ED79D81-A5D4-77D3-38DE-A84A21E8F16F}"/>
              </a:ext>
            </a:extLst>
          </p:cNvPr>
          <p:cNvSpPr/>
          <p:nvPr/>
        </p:nvSpPr>
        <p:spPr>
          <a:xfrm>
            <a:off x="5486307" y="1555783"/>
            <a:ext cx="1199048" cy="109716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 Placeholder 2">
            <a:extLst>
              <a:ext uri="{FF2B5EF4-FFF2-40B4-BE49-F238E27FC236}">
                <a16:creationId xmlns:a16="http://schemas.microsoft.com/office/drawing/2014/main" id="{E4BAE20B-C3AB-108D-11F0-2881B688BB53}"/>
              </a:ext>
            </a:extLst>
          </p:cNvPr>
          <p:cNvSpPr txBox="1">
            <a:spLocks/>
          </p:cNvSpPr>
          <p:nvPr/>
        </p:nvSpPr>
        <p:spPr>
          <a:xfrm>
            <a:off x="797068" y="2353864"/>
            <a:ext cx="2718502"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1" i="0" dirty="0">
                <a:effectLst/>
                <a:latin typeface="Quattrocento Sans" panose="020B0502050000020003" pitchFamily="34" charset="0"/>
              </a:rPr>
              <a:t>Image Build or Pull</a:t>
            </a:r>
          </a:p>
        </p:txBody>
      </p:sp>
      <p:sp>
        <p:nvSpPr>
          <p:cNvPr id="16" name="Text Placeholder 2">
            <a:extLst>
              <a:ext uri="{FF2B5EF4-FFF2-40B4-BE49-F238E27FC236}">
                <a16:creationId xmlns:a16="http://schemas.microsoft.com/office/drawing/2014/main" id="{2E954B2D-F5E5-051D-206A-9A509ACC7E4B}"/>
              </a:ext>
            </a:extLst>
          </p:cNvPr>
          <p:cNvSpPr txBox="1">
            <a:spLocks/>
          </p:cNvSpPr>
          <p:nvPr/>
        </p:nvSpPr>
        <p:spPr>
          <a:xfrm>
            <a:off x="797068" y="3056232"/>
            <a:ext cx="2957421" cy="153469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i="0" dirty="0">
                <a:effectLst/>
                <a:latin typeface="Quattrocento Sans" panose="020B0502050000020003" pitchFamily="34" charset="0"/>
              </a:rPr>
              <a:t>GitHub builds the Docker image defined in the action’s </a:t>
            </a:r>
            <a:r>
              <a:rPr lang="en-US" i="0" dirty="0" err="1">
                <a:effectLst/>
                <a:highlight>
                  <a:srgbClr val="C0C0C0"/>
                </a:highlight>
                <a:latin typeface="Roboto Mono" pitchFamily="49" charset="0"/>
                <a:ea typeface="Roboto Mono" pitchFamily="49" charset="0"/>
              </a:rPr>
              <a:t>Dockerfile</a:t>
            </a:r>
            <a:r>
              <a:rPr lang="en-US" sz="1800" i="0" dirty="0">
                <a:effectLst/>
                <a:latin typeface="Quattrocento Sans" panose="020B0502050000020003" pitchFamily="34" charset="0"/>
              </a:rPr>
              <a:t> or pulls a prebuilt image if specified. This image defines the environment in which the action code runs.</a:t>
            </a:r>
          </a:p>
        </p:txBody>
      </p:sp>
      <p:sp>
        <p:nvSpPr>
          <p:cNvPr id="17" name="Rectangle 16">
            <a:extLst>
              <a:ext uri="{FF2B5EF4-FFF2-40B4-BE49-F238E27FC236}">
                <a16:creationId xmlns:a16="http://schemas.microsoft.com/office/drawing/2014/main" id="{C1FCF390-1C22-4828-6766-F39649F8874D}"/>
              </a:ext>
            </a:extLst>
          </p:cNvPr>
          <p:cNvSpPr/>
          <p:nvPr/>
        </p:nvSpPr>
        <p:spPr>
          <a:xfrm>
            <a:off x="4305378" y="2143938"/>
            <a:ext cx="3508310" cy="287131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2">
            <a:extLst>
              <a:ext uri="{FF2B5EF4-FFF2-40B4-BE49-F238E27FC236}">
                <a16:creationId xmlns:a16="http://schemas.microsoft.com/office/drawing/2014/main" id="{5022550B-E189-AE27-7315-52FE8B47181C}"/>
              </a:ext>
            </a:extLst>
          </p:cNvPr>
          <p:cNvSpPr txBox="1">
            <a:spLocks/>
          </p:cNvSpPr>
          <p:nvPr/>
        </p:nvSpPr>
        <p:spPr>
          <a:xfrm>
            <a:off x="4621325" y="2353864"/>
            <a:ext cx="2718502"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1" i="0" dirty="0">
                <a:effectLst/>
                <a:latin typeface="Quattrocento Sans" panose="020B0502050000020003" pitchFamily="34" charset="0"/>
              </a:rPr>
              <a:t>Container Execution</a:t>
            </a:r>
          </a:p>
        </p:txBody>
      </p:sp>
      <p:sp>
        <p:nvSpPr>
          <p:cNvPr id="19" name="Text Placeholder 2">
            <a:extLst>
              <a:ext uri="{FF2B5EF4-FFF2-40B4-BE49-F238E27FC236}">
                <a16:creationId xmlns:a16="http://schemas.microsoft.com/office/drawing/2014/main" id="{CE8F1B9D-C1BB-FB2C-3927-2120504DF66D}"/>
              </a:ext>
            </a:extLst>
          </p:cNvPr>
          <p:cNvSpPr txBox="1">
            <a:spLocks/>
          </p:cNvSpPr>
          <p:nvPr/>
        </p:nvSpPr>
        <p:spPr>
          <a:xfrm>
            <a:off x="4626614" y="2921949"/>
            <a:ext cx="2957421" cy="153469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i="0" dirty="0">
                <a:effectLst/>
                <a:latin typeface="Quattrocento Sans" panose="020B0502050000020003" pitchFamily="34" charset="0"/>
              </a:rPr>
              <a:t>The runner launches the Docker container, mounts the workspace, and injects environment variables, including secrets and inputs defined in the workflow.</a:t>
            </a:r>
          </a:p>
        </p:txBody>
      </p:sp>
      <p:pic>
        <p:nvPicPr>
          <p:cNvPr id="14" name="Graphic 13" descr="Badge 5 with solid fill">
            <a:extLst>
              <a:ext uri="{FF2B5EF4-FFF2-40B4-BE49-F238E27FC236}">
                <a16:creationId xmlns:a16="http://schemas.microsoft.com/office/drawing/2014/main" id="{78CBFBF6-65C6-D293-E420-39956B8CE69A}"/>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628631" y="1597877"/>
            <a:ext cx="914400" cy="914400"/>
          </a:xfrm>
          <a:prstGeom prst="rect">
            <a:avLst/>
          </a:prstGeom>
        </p:spPr>
      </p:pic>
      <p:sp>
        <p:nvSpPr>
          <p:cNvPr id="20" name="Oval 19">
            <a:extLst>
              <a:ext uri="{FF2B5EF4-FFF2-40B4-BE49-F238E27FC236}">
                <a16:creationId xmlns:a16="http://schemas.microsoft.com/office/drawing/2014/main" id="{17042FA2-3282-549C-76E5-55CC29F9E23D}"/>
              </a:ext>
            </a:extLst>
          </p:cNvPr>
          <p:cNvSpPr/>
          <p:nvPr/>
        </p:nvSpPr>
        <p:spPr>
          <a:xfrm>
            <a:off x="9308710" y="1547161"/>
            <a:ext cx="1199048" cy="109716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E5142D2-DFD3-EF13-E93D-56FFAAAFA51A}"/>
              </a:ext>
            </a:extLst>
          </p:cNvPr>
          <p:cNvSpPr/>
          <p:nvPr/>
        </p:nvSpPr>
        <p:spPr>
          <a:xfrm>
            <a:off x="8127781" y="2135316"/>
            <a:ext cx="3508310" cy="287131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2">
            <a:extLst>
              <a:ext uri="{FF2B5EF4-FFF2-40B4-BE49-F238E27FC236}">
                <a16:creationId xmlns:a16="http://schemas.microsoft.com/office/drawing/2014/main" id="{7BAF8D7E-8D05-D45E-EC81-9F0837768D8C}"/>
              </a:ext>
            </a:extLst>
          </p:cNvPr>
          <p:cNvSpPr txBox="1">
            <a:spLocks/>
          </p:cNvSpPr>
          <p:nvPr/>
        </p:nvSpPr>
        <p:spPr>
          <a:xfrm>
            <a:off x="8443728" y="2345242"/>
            <a:ext cx="2718502"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1" i="0" dirty="0" err="1">
                <a:effectLst/>
                <a:latin typeface="Quattrocento Sans" panose="020B0502050000020003" pitchFamily="34" charset="0"/>
              </a:rPr>
              <a:t>Entrypoint</a:t>
            </a:r>
            <a:r>
              <a:rPr lang="en-US" sz="2000" b="1" i="0" dirty="0">
                <a:effectLst/>
                <a:latin typeface="Quattrocento Sans" panose="020B0502050000020003" pitchFamily="34" charset="0"/>
              </a:rPr>
              <a:t> Runs</a:t>
            </a:r>
          </a:p>
        </p:txBody>
      </p:sp>
      <p:sp>
        <p:nvSpPr>
          <p:cNvPr id="23" name="Text Placeholder 2">
            <a:extLst>
              <a:ext uri="{FF2B5EF4-FFF2-40B4-BE49-F238E27FC236}">
                <a16:creationId xmlns:a16="http://schemas.microsoft.com/office/drawing/2014/main" id="{91AF5991-D688-6C9B-CAA6-B4A679C59194}"/>
              </a:ext>
            </a:extLst>
          </p:cNvPr>
          <p:cNvSpPr txBox="1">
            <a:spLocks/>
          </p:cNvSpPr>
          <p:nvPr/>
        </p:nvSpPr>
        <p:spPr>
          <a:xfrm>
            <a:off x="8467185" y="3047610"/>
            <a:ext cx="2927747" cy="153469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i="0" dirty="0">
                <a:effectLst/>
                <a:latin typeface="Quattrocento Sans" panose="020B0502050000020003" pitchFamily="34" charset="0"/>
              </a:rPr>
              <a:t>GitHub executes the </a:t>
            </a:r>
            <a:r>
              <a:rPr lang="en-US" i="0" dirty="0" err="1">
                <a:effectLst/>
                <a:highlight>
                  <a:srgbClr val="C0C0C0"/>
                </a:highlight>
                <a:latin typeface="Roboto Mono" pitchFamily="49" charset="0"/>
                <a:ea typeface="Roboto Mono" pitchFamily="49" charset="0"/>
              </a:rPr>
              <a:t>entrypoint</a:t>
            </a:r>
            <a:r>
              <a:rPr lang="en-US" sz="1800" i="0" dirty="0">
                <a:effectLst/>
                <a:latin typeface="Quattrocento Sans" panose="020B0502050000020003" pitchFamily="34" charset="0"/>
              </a:rPr>
              <a:t> command from the </a:t>
            </a:r>
            <a:r>
              <a:rPr lang="en-US" sz="1800" i="0" dirty="0" err="1">
                <a:effectLst/>
                <a:latin typeface="Quattrocento Sans" panose="020B0502050000020003" pitchFamily="34" charset="0"/>
              </a:rPr>
              <a:t>Dockerfile</a:t>
            </a:r>
            <a:r>
              <a:rPr lang="en-US" sz="1800" i="0" dirty="0">
                <a:effectLst/>
                <a:latin typeface="Quattrocento Sans" panose="020B0502050000020003" pitchFamily="34" charset="0"/>
              </a:rPr>
              <a:t> inside the container. This is where the custom action logic runs, typically a script or application.</a:t>
            </a:r>
          </a:p>
        </p:txBody>
      </p:sp>
      <p:pic>
        <p:nvPicPr>
          <p:cNvPr id="24" name="Graphic 23" descr="Badge 6 with solid fill">
            <a:extLst>
              <a:ext uri="{FF2B5EF4-FFF2-40B4-BE49-F238E27FC236}">
                <a16:creationId xmlns:a16="http://schemas.microsoft.com/office/drawing/2014/main" id="{640C9CDC-1647-0C94-44E9-346F9627DC6E}"/>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451034" y="1589255"/>
            <a:ext cx="914400" cy="914400"/>
          </a:xfrm>
          <a:prstGeom prst="rect">
            <a:avLst/>
          </a:prstGeom>
        </p:spPr>
      </p:pic>
      <p:sp>
        <p:nvSpPr>
          <p:cNvPr id="4" name="Footer Placeholder 3">
            <a:extLst>
              <a:ext uri="{FF2B5EF4-FFF2-40B4-BE49-F238E27FC236}">
                <a16:creationId xmlns:a16="http://schemas.microsoft.com/office/drawing/2014/main" id="{07C43E56-E545-994B-1821-71BBE7611FF8}"/>
              </a:ext>
            </a:extLst>
          </p:cNvPr>
          <p:cNvSpPr>
            <a:spLocks noGrp="1"/>
          </p:cNvSpPr>
          <p:nvPr>
            <p:ph type="ftr" sz="quarter" idx="3"/>
          </p:nvPr>
        </p:nvSpPr>
        <p:spPr>
          <a:xfrm>
            <a:off x="579438" y="6421083"/>
            <a:ext cx="4151312" cy="197976"/>
          </a:xfrm>
        </p:spPr>
        <p:txBody>
          <a:body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360678589"/>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Understand the Docker action lifecycle</a:t>
            </a: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89101" y="1031011"/>
            <a:ext cx="1073550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i="0" dirty="0">
                <a:effectLst/>
                <a:latin typeface="Quattrocento Sans" panose="020B0502050000020003" pitchFamily="34" charset="0"/>
              </a:rPr>
              <a:t>Before troubleshooting, it's helpful to understand how Docker container actions run.</a:t>
            </a:r>
          </a:p>
        </p:txBody>
      </p:sp>
      <p:sp>
        <p:nvSpPr>
          <p:cNvPr id="10" name="Rectangle 9">
            <a:extLst>
              <a:ext uri="{FF2B5EF4-FFF2-40B4-BE49-F238E27FC236}">
                <a16:creationId xmlns:a16="http://schemas.microsoft.com/office/drawing/2014/main" id="{28DE602A-388A-5668-2904-10219BF21DA2}"/>
              </a:ext>
            </a:extLst>
          </p:cNvPr>
          <p:cNvSpPr/>
          <p:nvPr/>
        </p:nvSpPr>
        <p:spPr>
          <a:xfrm>
            <a:off x="481121" y="2135316"/>
            <a:ext cx="7557094" cy="22104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1DA6EF3-AFF2-987F-14B1-A4E257DAD190}"/>
              </a:ext>
            </a:extLst>
          </p:cNvPr>
          <p:cNvSpPr/>
          <p:nvPr/>
        </p:nvSpPr>
        <p:spPr>
          <a:xfrm>
            <a:off x="1635752" y="1555783"/>
            <a:ext cx="1199048" cy="109716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descr="Badge 7 with solid fill">
            <a:extLst>
              <a:ext uri="{FF2B5EF4-FFF2-40B4-BE49-F238E27FC236}">
                <a16:creationId xmlns:a16="http://schemas.microsoft.com/office/drawing/2014/main" id="{68DE2B77-68A9-60D6-492B-C998280E016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778076" y="1597877"/>
            <a:ext cx="914400" cy="914400"/>
          </a:xfrm>
          <a:prstGeom prst="rect">
            <a:avLst/>
          </a:prstGeom>
        </p:spPr>
      </p:pic>
      <p:sp>
        <p:nvSpPr>
          <p:cNvPr id="15" name="Text Placeholder 2">
            <a:extLst>
              <a:ext uri="{FF2B5EF4-FFF2-40B4-BE49-F238E27FC236}">
                <a16:creationId xmlns:a16="http://schemas.microsoft.com/office/drawing/2014/main" id="{E4BAE20B-C3AB-108D-11F0-2881B688BB53}"/>
              </a:ext>
            </a:extLst>
          </p:cNvPr>
          <p:cNvSpPr txBox="1">
            <a:spLocks/>
          </p:cNvSpPr>
          <p:nvPr/>
        </p:nvSpPr>
        <p:spPr>
          <a:xfrm>
            <a:off x="818333" y="2549126"/>
            <a:ext cx="2718502"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1" i="0" dirty="0">
                <a:effectLst/>
                <a:latin typeface="Quattrocento Sans" panose="020B0502050000020003" pitchFamily="34" charset="0"/>
              </a:rPr>
              <a:t>Result Handling</a:t>
            </a:r>
          </a:p>
        </p:txBody>
      </p:sp>
      <p:sp>
        <p:nvSpPr>
          <p:cNvPr id="16" name="Text Placeholder 2">
            <a:extLst>
              <a:ext uri="{FF2B5EF4-FFF2-40B4-BE49-F238E27FC236}">
                <a16:creationId xmlns:a16="http://schemas.microsoft.com/office/drawing/2014/main" id="{2E954B2D-F5E5-051D-206A-9A509ACC7E4B}"/>
              </a:ext>
            </a:extLst>
          </p:cNvPr>
          <p:cNvSpPr txBox="1">
            <a:spLocks/>
          </p:cNvSpPr>
          <p:nvPr/>
        </p:nvSpPr>
        <p:spPr>
          <a:xfrm>
            <a:off x="818333" y="2957159"/>
            <a:ext cx="6815844" cy="1025841"/>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i="0" dirty="0">
                <a:effectLst/>
                <a:latin typeface="Quattrocento Sans" panose="020B0502050000020003" pitchFamily="34" charset="0"/>
              </a:rPr>
              <a:t>Any outputs set by the container action are captured by the runner and passed along to subsequent steps in the workflow. Once complete, the container shuts down and the runner is discarded.</a:t>
            </a:r>
          </a:p>
        </p:txBody>
      </p:sp>
      <p:sp>
        <p:nvSpPr>
          <p:cNvPr id="4" name="Text Placeholder 2">
            <a:extLst>
              <a:ext uri="{FF2B5EF4-FFF2-40B4-BE49-F238E27FC236}">
                <a16:creationId xmlns:a16="http://schemas.microsoft.com/office/drawing/2014/main" id="{73DAA088-2257-DD5D-E5E6-EAE58C381CE7}"/>
              </a:ext>
            </a:extLst>
          </p:cNvPr>
          <p:cNvSpPr txBox="1">
            <a:spLocks/>
          </p:cNvSpPr>
          <p:nvPr/>
        </p:nvSpPr>
        <p:spPr>
          <a:xfrm>
            <a:off x="481121" y="4957587"/>
            <a:ext cx="10843484" cy="62390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b="1" i="0" dirty="0">
                <a:effectLst/>
                <a:latin typeface="Quattrocento Sans" panose="020B0502050000020003" pitchFamily="34" charset="0"/>
              </a:rPr>
              <a:t>Note: </a:t>
            </a:r>
            <a:r>
              <a:rPr lang="en-US" sz="1800" i="0" dirty="0">
                <a:effectLst/>
                <a:latin typeface="Quattrocento Sans" panose="020B0502050000020003" pitchFamily="34" charset="0"/>
              </a:rPr>
              <a:t>Docker container actions run in a clean, isolated environment. File system state, installed tools, and environment variables must all be defined within the </a:t>
            </a:r>
            <a:r>
              <a:rPr lang="en-US" sz="1800" i="0" dirty="0" err="1">
                <a:effectLst/>
                <a:latin typeface="Quattrocento Sans" panose="020B0502050000020003" pitchFamily="34" charset="0"/>
              </a:rPr>
              <a:t>Dockerfile</a:t>
            </a:r>
            <a:r>
              <a:rPr lang="en-US" sz="1800" i="0" dirty="0">
                <a:effectLst/>
                <a:latin typeface="Quattrocento Sans" panose="020B0502050000020003" pitchFamily="34" charset="0"/>
              </a:rPr>
              <a:t>.</a:t>
            </a:r>
          </a:p>
        </p:txBody>
      </p:sp>
      <p:cxnSp>
        <p:nvCxnSpPr>
          <p:cNvPr id="6" name="Straight Connector 5">
            <a:extLst>
              <a:ext uri="{FF2B5EF4-FFF2-40B4-BE49-F238E27FC236}">
                <a16:creationId xmlns:a16="http://schemas.microsoft.com/office/drawing/2014/main" id="{17B8774A-2F82-E5B5-C43E-6C072C24EEB7}"/>
              </a:ext>
            </a:extLst>
          </p:cNvPr>
          <p:cNvCxnSpPr/>
          <p:nvPr/>
        </p:nvCxnSpPr>
        <p:spPr>
          <a:xfrm>
            <a:off x="402771" y="4957587"/>
            <a:ext cx="0" cy="623904"/>
          </a:xfrm>
          <a:prstGeom prst="line">
            <a:avLst/>
          </a:prstGeom>
          <a:ln w="38100">
            <a:solidFill>
              <a:srgbClr val="98AFE4"/>
            </a:solidFill>
          </a:ln>
        </p:spPr>
        <p:style>
          <a:lnRef idx="2">
            <a:schemeClr val="accent1"/>
          </a:lnRef>
          <a:fillRef idx="0">
            <a:schemeClr val="accent1"/>
          </a:fillRef>
          <a:effectRef idx="1">
            <a:schemeClr val="accent1"/>
          </a:effectRef>
          <a:fontRef idx="minor">
            <a:schemeClr val="tx1"/>
          </a:fontRef>
        </p:style>
      </p:cxnSp>
      <p:sp>
        <p:nvSpPr>
          <p:cNvPr id="7" name="Footer Placeholder 3">
            <a:extLst>
              <a:ext uri="{FF2B5EF4-FFF2-40B4-BE49-F238E27FC236}">
                <a16:creationId xmlns:a16="http://schemas.microsoft.com/office/drawing/2014/main" id="{3B2B6A02-7C34-992B-2F93-007D05A45A60}"/>
              </a:ext>
            </a:extLst>
          </p:cNvPr>
          <p:cNvSpPr>
            <a:spLocks noGrp="1"/>
          </p:cNvSpPr>
          <p:nvPr>
            <p:ph type="ftr" sz="quarter" idx="3"/>
          </p:nvPr>
        </p:nvSpPr>
        <p:spPr>
          <a:xfrm>
            <a:off x="579438" y="6421083"/>
            <a:ext cx="4151312" cy="197976"/>
          </a:xfrm>
        </p:spPr>
        <p:txBody>
          <a:body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604288159"/>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Debugging techniques</a:t>
            </a:r>
          </a:p>
        </p:txBody>
      </p:sp>
      <p:sp>
        <p:nvSpPr>
          <p:cNvPr id="10" name="Rectangle 9">
            <a:extLst>
              <a:ext uri="{FF2B5EF4-FFF2-40B4-BE49-F238E27FC236}">
                <a16:creationId xmlns:a16="http://schemas.microsoft.com/office/drawing/2014/main" id="{28DE602A-388A-5668-2904-10219BF21DA2}"/>
              </a:ext>
            </a:extLst>
          </p:cNvPr>
          <p:cNvSpPr/>
          <p:nvPr/>
        </p:nvSpPr>
        <p:spPr>
          <a:xfrm>
            <a:off x="481121" y="2135315"/>
            <a:ext cx="3562760" cy="395375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1DA6EF3-AFF2-987F-14B1-A4E257DAD190}"/>
              </a:ext>
            </a:extLst>
          </p:cNvPr>
          <p:cNvSpPr/>
          <p:nvPr/>
        </p:nvSpPr>
        <p:spPr>
          <a:xfrm>
            <a:off x="1635752" y="1555783"/>
            <a:ext cx="1199048" cy="109716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descr="Badge 1 with solid fill">
            <a:extLst>
              <a:ext uri="{FF2B5EF4-FFF2-40B4-BE49-F238E27FC236}">
                <a16:creationId xmlns:a16="http://schemas.microsoft.com/office/drawing/2014/main" id="{68DE2B77-68A9-60D6-492B-C998280E016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78076" y="1597877"/>
            <a:ext cx="914400" cy="914400"/>
          </a:xfrm>
          <a:prstGeom prst="rect">
            <a:avLst/>
          </a:prstGeom>
        </p:spPr>
      </p:pic>
      <p:sp>
        <p:nvSpPr>
          <p:cNvPr id="13" name="Oval 12">
            <a:extLst>
              <a:ext uri="{FF2B5EF4-FFF2-40B4-BE49-F238E27FC236}">
                <a16:creationId xmlns:a16="http://schemas.microsoft.com/office/drawing/2014/main" id="{6ED79D81-A5D4-77D3-38DE-A84A21E8F16F}"/>
              </a:ext>
            </a:extLst>
          </p:cNvPr>
          <p:cNvSpPr/>
          <p:nvPr/>
        </p:nvSpPr>
        <p:spPr>
          <a:xfrm>
            <a:off x="5486307" y="1555783"/>
            <a:ext cx="1199048" cy="109716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 Placeholder 2">
            <a:extLst>
              <a:ext uri="{FF2B5EF4-FFF2-40B4-BE49-F238E27FC236}">
                <a16:creationId xmlns:a16="http://schemas.microsoft.com/office/drawing/2014/main" id="{E4BAE20B-C3AB-108D-11F0-2881B688BB53}"/>
              </a:ext>
            </a:extLst>
          </p:cNvPr>
          <p:cNvSpPr txBox="1">
            <a:spLocks/>
          </p:cNvSpPr>
          <p:nvPr/>
        </p:nvSpPr>
        <p:spPr>
          <a:xfrm>
            <a:off x="797068" y="2353864"/>
            <a:ext cx="2718502"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1" i="0" dirty="0">
                <a:effectLst/>
                <a:latin typeface="Quattrocento Sans" panose="020B0502050000020003" pitchFamily="34" charset="0"/>
              </a:rPr>
              <a:t>Add Logging</a:t>
            </a:r>
          </a:p>
        </p:txBody>
      </p:sp>
      <p:sp>
        <p:nvSpPr>
          <p:cNvPr id="16" name="Text Placeholder 2">
            <a:extLst>
              <a:ext uri="{FF2B5EF4-FFF2-40B4-BE49-F238E27FC236}">
                <a16:creationId xmlns:a16="http://schemas.microsoft.com/office/drawing/2014/main" id="{2E954B2D-F5E5-051D-206A-9A509ACC7E4B}"/>
              </a:ext>
            </a:extLst>
          </p:cNvPr>
          <p:cNvSpPr txBox="1">
            <a:spLocks/>
          </p:cNvSpPr>
          <p:nvPr/>
        </p:nvSpPr>
        <p:spPr>
          <a:xfrm>
            <a:off x="797068" y="2846306"/>
            <a:ext cx="2957421" cy="901738"/>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i="0" dirty="0">
                <a:effectLst/>
                <a:latin typeface="Quattrocento Sans" panose="020B0502050000020003" pitchFamily="34" charset="0"/>
              </a:rPr>
              <a:t>Use echo, </a:t>
            </a:r>
            <a:r>
              <a:rPr lang="en-US" sz="1800" i="0" dirty="0" err="1">
                <a:effectLst/>
                <a:latin typeface="Quattrocento Sans" panose="020B0502050000020003" pitchFamily="34" charset="0"/>
              </a:rPr>
              <a:t>printf</a:t>
            </a:r>
            <a:r>
              <a:rPr lang="en-US" sz="1800" i="0" dirty="0">
                <a:effectLst/>
                <a:latin typeface="Quattrocento Sans" panose="020B0502050000020003" pitchFamily="34" charset="0"/>
              </a:rPr>
              <a:t>, or logging statements in your </a:t>
            </a:r>
            <a:r>
              <a:rPr lang="en-US" sz="1800" i="0" dirty="0" err="1">
                <a:effectLst/>
                <a:latin typeface="Quattrocento Sans" panose="020B0502050000020003" pitchFamily="34" charset="0"/>
              </a:rPr>
              <a:t>entrypoint</a:t>
            </a:r>
            <a:r>
              <a:rPr lang="en-US" sz="1800" i="0" dirty="0">
                <a:effectLst/>
                <a:latin typeface="Quattrocento Sans" panose="020B0502050000020003" pitchFamily="34" charset="0"/>
              </a:rPr>
              <a:t> script:</a:t>
            </a:r>
          </a:p>
        </p:txBody>
      </p:sp>
      <p:sp>
        <p:nvSpPr>
          <p:cNvPr id="17" name="Rectangle 16">
            <a:extLst>
              <a:ext uri="{FF2B5EF4-FFF2-40B4-BE49-F238E27FC236}">
                <a16:creationId xmlns:a16="http://schemas.microsoft.com/office/drawing/2014/main" id="{C1FCF390-1C22-4828-6766-F39649F8874D}"/>
              </a:ext>
            </a:extLst>
          </p:cNvPr>
          <p:cNvSpPr/>
          <p:nvPr/>
        </p:nvSpPr>
        <p:spPr>
          <a:xfrm>
            <a:off x="4305378" y="2143938"/>
            <a:ext cx="3508310" cy="39451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2">
            <a:extLst>
              <a:ext uri="{FF2B5EF4-FFF2-40B4-BE49-F238E27FC236}">
                <a16:creationId xmlns:a16="http://schemas.microsoft.com/office/drawing/2014/main" id="{5022550B-E189-AE27-7315-52FE8B47181C}"/>
              </a:ext>
            </a:extLst>
          </p:cNvPr>
          <p:cNvSpPr txBox="1">
            <a:spLocks/>
          </p:cNvSpPr>
          <p:nvPr/>
        </p:nvSpPr>
        <p:spPr>
          <a:xfrm>
            <a:off x="4621325" y="2353864"/>
            <a:ext cx="2718502"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1" i="0" dirty="0">
                <a:effectLst/>
                <a:latin typeface="Quattrocento Sans" panose="020B0502050000020003" pitchFamily="34" charset="0"/>
              </a:rPr>
              <a:t>Build and test locally</a:t>
            </a:r>
          </a:p>
        </p:txBody>
      </p:sp>
      <p:sp>
        <p:nvSpPr>
          <p:cNvPr id="19" name="Text Placeholder 2">
            <a:extLst>
              <a:ext uri="{FF2B5EF4-FFF2-40B4-BE49-F238E27FC236}">
                <a16:creationId xmlns:a16="http://schemas.microsoft.com/office/drawing/2014/main" id="{CE8F1B9D-C1BB-FB2C-3927-2120504DF66D}"/>
              </a:ext>
            </a:extLst>
          </p:cNvPr>
          <p:cNvSpPr txBox="1">
            <a:spLocks/>
          </p:cNvSpPr>
          <p:nvPr/>
        </p:nvSpPr>
        <p:spPr>
          <a:xfrm>
            <a:off x="4621325" y="3056232"/>
            <a:ext cx="2957421"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i="0" dirty="0">
                <a:effectLst/>
                <a:latin typeface="Quattrocento Sans" panose="020B0502050000020003" pitchFamily="34" charset="0"/>
              </a:rPr>
              <a:t>Use Docker on your machine to simulate the container behavior:</a:t>
            </a:r>
          </a:p>
        </p:txBody>
      </p:sp>
      <p:pic>
        <p:nvPicPr>
          <p:cNvPr id="14" name="Graphic 13" descr="Badge with solid fill">
            <a:extLst>
              <a:ext uri="{FF2B5EF4-FFF2-40B4-BE49-F238E27FC236}">
                <a16:creationId xmlns:a16="http://schemas.microsoft.com/office/drawing/2014/main" id="{78CBFBF6-65C6-D293-E420-39956B8CE69A}"/>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628631" y="1597877"/>
            <a:ext cx="914400" cy="914400"/>
          </a:xfrm>
          <a:prstGeom prst="rect">
            <a:avLst/>
          </a:prstGeom>
        </p:spPr>
      </p:pic>
      <p:sp>
        <p:nvSpPr>
          <p:cNvPr id="20" name="Oval 19">
            <a:extLst>
              <a:ext uri="{FF2B5EF4-FFF2-40B4-BE49-F238E27FC236}">
                <a16:creationId xmlns:a16="http://schemas.microsoft.com/office/drawing/2014/main" id="{17042FA2-3282-549C-76E5-55CC29F9E23D}"/>
              </a:ext>
            </a:extLst>
          </p:cNvPr>
          <p:cNvSpPr/>
          <p:nvPr/>
        </p:nvSpPr>
        <p:spPr>
          <a:xfrm>
            <a:off x="9308710" y="1547161"/>
            <a:ext cx="1199048" cy="109716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E5142D2-DFD3-EF13-E93D-56FFAAAFA51A}"/>
              </a:ext>
            </a:extLst>
          </p:cNvPr>
          <p:cNvSpPr/>
          <p:nvPr/>
        </p:nvSpPr>
        <p:spPr>
          <a:xfrm>
            <a:off x="8127781" y="2135315"/>
            <a:ext cx="3508310" cy="395375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2">
            <a:extLst>
              <a:ext uri="{FF2B5EF4-FFF2-40B4-BE49-F238E27FC236}">
                <a16:creationId xmlns:a16="http://schemas.microsoft.com/office/drawing/2014/main" id="{7BAF8D7E-8D05-D45E-EC81-9F0837768D8C}"/>
              </a:ext>
            </a:extLst>
          </p:cNvPr>
          <p:cNvSpPr txBox="1">
            <a:spLocks/>
          </p:cNvSpPr>
          <p:nvPr/>
        </p:nvSpPr>
        <p:spPr>
          <a:xfrm>
            <a:off x="8443727" y="2345242"/>
            <a:ext cx="3138579" cy="70447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b="1" i="0" dirty="0">
                <a:effectLst/>
                <a:latin typeface="Quattrocento Sans" panose="020B0502050000020003" pitchFamily="34" charset="0"/>
              </a:rPr>
              <a:t>Use the act CLI to simulate GitHub workflows</a:t>
            </a:r>
          </a:p>
        </p:txBody>
      </p:sp>
      <p:sp>
        <p:nvSpPr>
          <p:cNvPr id="23" name="Text Placeholder 2">
            <a:extLst>
              <a:ext uri="{FF2B5EF4-FFF2-40B4-BE49-F238E27FC236}">
                <a16:creationId xmlns:a16="http://schemas.microsoft.com/office/drawing/2014/main" id="{91AF5991-D688-6C9B-CAA6-B4A679C59194}"/>
              </a:ext>
            </a:extLst>
          </p:cNvPr>
          <p:cNvSpPr txBox="1">
            <a:spLocks/>
          </p:cNvSpPr>
          <p:nvPr/>
        </p:nvSpPr>
        <p:spPr>
          <a:xfrm>
            <a:off x="8443726" y="3049716"/>
            <a:ext cx="3138579" cy="689706"/>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i="0" dirty="0">
                <a:effectLst/>
                <a:latin typeface="Quattrocento Sans" panose="020B0502050000020003" pitchFamily="34" charset="0"/>
              </a:rPr>
              <a:t>Install act to run your GitHub workflows locally:</a:t>
            </a:r>
          </a:p>
        </p:txBody>
      </p:sp>
      <p:pic>
        <p:nvPicPr>
          <p:cNvPr id="24" name="Graphic 23" descr="Badge 3 with solid fill">
            <a:extLst>
              <a:ext uri="{FF2B5EF4-FFF2-40B4-BE49-F238E27FC236}">
                <a16:creationId xmlns:a16="http://schemas.microsoft.com/office/drawing/2014/main" id="{640C9CDC-1647-0C94-44E9-346F9627DC6E}"/>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451034" y="1589255"/>
            <a:ext cx="914400" cy="914400"/>
          </a:xfrm>
          <a:prstGeom prst="rect">
            <a:avLst/>
          </a:prstGeom>
        </p:spPr>
      </p:pic>
      <p:pic>
        <p:nvPicPr>
          <p:cNvPr id="5" name="Picture 4" descr="A close-up of a white box&#10;&#10;Description automatically generated">
            <a:extLst>
              <a:ext uri="{FF2B5EF4-FFF2-40B4-BE49-F238E27FC236}">
                <a16:creationId xmlns:a16="http://schemas.microsoft.com/office/drawing/2014/main" id="{AB461A3B-8CD6-E6B0-D9DD-E82DC60F9A0F}"/>
              </a:ext>
            </a:extLst>
          </p:cNvPr>
          <p:cNvPicPr>
            <a:picLocks noChangeAspect="1"/>
          </p:cNvPicPr>
          <p:nvPr/>
        </p:nvPicPr>
        <p:blipFill>
          <a:blip r:embed="rId9"/>
          <a:stretch>
            <a:fillRect/>
          </a:stretch>
        </p:blipFill>
        <p:spPr>
          <a:xfrm>
            <a:off x="797068" y="3828867"/>
            <a:ext cx="2957421" cy="1072692"/>
          </a:xfrm>
          <a:prstGeom prst="rect">
            <a:avLst/>
          </a:prstGeom>
          <a:effectLst>
            <a:outerShdw blurRad="63500" sx="102000" sy="102000" algn="ctr" rotWithShape="0">
              <a:prstClr val="black">
                <a:alpha val="40000"/>
              </a:prstClr>
            </a:outerShdw>
          </a:effectLst>
        </p:spPr>
      </p:pic>
      <p:sp>
        <p:nvSpPr>
          <p:cNvPr id="6" name="Text Placeholder 2">
            <a:extLst>
              <a:ext uri="{FF2B5EF4-FFF2-40B4-BE49-F238E27FC236}">
                <a16:creationId xmlns:a16="http://schemas.microsoft.com/office/drawing/2014/main" id="{D77AFAFF-A683-A3C3-0A0D-0631C1662238}"/>
              </a:ext>
            </a:extLst>
          </p:cNvPr>
          <p:cNvSpPr txBox="1">
            <a:spLocks/>
          </p:cNvSpPr>
          <p:nvPr/>
        </p:nvSpPr>
        <p:spPr>
          <a:xfrm>
            <a:off x="797068" y="5015248"/>
            <a:ext cx="2957421" cy="901738"/>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i="0" dirty="0">
                <a:effectLst/>
                <a:latin typeface="Quattrocento Sans" panose="020B0502050000020003" pitchFamily="34" charset="0"/>
              </a:rPr>
              <a:t>Log all critical inputs and steps to diagnose where the failure occurs.</a:t>
            </a:r>
          </a:p>
        </p:txBody>
      </p:sp>
      <p:pic>
        <p:nvPicPr>
          <p:cNvPr id="8" name="Picture 7" descr="A close-up of a computer code&#10;&#10;Description automatically generated">
            <a:extLst>
              <a:ext uri="{FF2B5EF4-FFF2-40B4-BE49-F238E27FC236}">
                <a16:creationId xmlns:a16="http://schemas.microsoft.com/office/drawing/2014/main" id="{502EF6F1-91A3-B69E-4C0F-65C07575E1D0}"/>
              </a:ext>
            </a:extLst>
          </p:cNvPr>
          <p:cNvPicPr>
            <a:picLocks noChangeAspect="1"/>
          </p:cNvPicPr>
          <p:nvPr/>
        </p:nvPicPr>
        <p:blipFill>
          <a:blip r:embed="rId10"/>
          <a:stretch>
            <a:fillRect/>
          </a:stretch>
        </p:blipFill>
        <p:spPr>
          <a:xfrm>
            <a:off x="4621325" y="3828867"/>
            <a:ext cx="2957421" cy="858606"/>
          </a:xfrm>
          <a:prstGeom prst="rect">
            <a:avLst/>
          </a:prstGeom>
          <a:effectLst>
            <a:outerShdw blurRad="63500" sx="102000" sy="102000" algn="ctr" rotWithShape="0">
              <a:prstClr val="black">
                <a:alpha val="40000"/>
              </a:prstClr>
            </a:outerShdw>
          </a:effectLst>
        </p:spPr>
      </p:pic>
      <p:sp>
        <p:nvSpPr>
          <p:cNvPr id="9" name="Text Placeholder 2">
            <a:extLst>
              <a:ext uri="{FF2B5EF4-FFF2-40B4-BE49-F238E27FC236}">
                <a16:creationId xmlns:a16="http://schemas.microsoft.com/office/drawing/2014/main" id="{46EDEB5E-82B2-1E68-0C52-48F6FF7C9FF5}"/>
              </a:ext>
            </a:extLst>
          </p:cNvPr>
          <p:cNvSpPr txBox="1">
            <a:spLocks/>
          </p:cNvSpPr>
          <p:nvPr/>
        </p:nvSpPr>
        <p:spPr>
          <a:xfrm>
            <a:off x="4621325" y="4895247"/>
            <a:ext cx="2957421" cy="858606"/>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i="0" dirty="0">
                <a:effectLst/>
                <a:latin typeface="Quattrocento Sans" panose="020B0502050000020003" pitchFamily="34" charset="0"/>
              </a:rPr>
              <a:t>Ensure environment variables mimic the ones GitHub sets.</a:t>
            </a:r>
          </a:p>
        </p:txBody>
      </p:sp>
      <p:pic>
        <p:nvPicPr>
          <p:cNvPr id="26" name="Picture 25" descr="A close-up of a computer code&#10;&#10;Description automatically generated">
            <a:extLst>
              <a:ext uri="{FF2B5EF4-FFF2-40B4-BE49-F238E27FC236}">
                <a16:creationId xmlns:a16="http://schemas.microsoft.com/office/drawing/2014/main" id="{7F3225EB-DE52-F0DE-DB0D-81537E9F4E7C}"/>
              </a:ext>
            </a:extLst>
          </p:cNvPr>
          <p:cNvPicPr>
            <a:picLocks noChangeAspect="1"/>
          </p:cNvPicPr>
          <p:nvPr/>
        </p:nvPicPr>
        <p:blipFill>
          <a:blip r:embed="rId11"/>
          <a:stretch>
            <a:fillRect/>
          </a:stretch>
        </p:blipFill>
        <p:spPr>
          <a:xfrm>
            <a:off x="8443725" y="3718420"/>
            <a:ext cx="1955800" cy="1079500"/>
          </a:xfrm>
          <a:prstGeom prst="rect">
            <a:avLst/>
          </a:prstGeom>
          <a:effectLst>
            <a:outerShdw blurRad="50800" dist="38100" dir="5400000" algn="t" rotWithShape="0">
              <a:prstClr val="black">
                <a:alpha val="40000"/>
              </a:prstClr>
            </a:outerShdw>
          </a:effectLst>
        </p:spPr>
      </p:pic>
      <p:sp>
        <p:nvSpPr>
          <p:cNvPr id="27" name="Text Placeholder 2">
            <a:extLst>
              <a:ext uri="{FF2B5EF4-FFF2-40B4-BE49-F238E27FC236}">
                <a16:creationId xmlns:a16="http://schemas.microsoft.com/office/drawing/2014/main" id="{E740EBE0-D6DB-1E18-229D-9575546BDEEF}"/>
              </a:ext>
            </a:extLst>
          </p:cNvPr>
          <p:cNvSpPr txBox="1">
            <a:spLocks/>
          </p:cNvSpPr>
          <p:nvPr/>
        </p:nvSpPr>
        <p:spPr>
          <a:xfrm>
            <a:off x="8443725" y="5002313"/>
            <a:ext cx="2957421" cy="858606"/>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i="0" dirty="0">
                <a:effectLst/>
                <a:latin typeface="Quattrocento Sans" panose="020B0502050000020003" pitchFamily="34" charset="0"/>
              </a:rPr>
              <a:t>Great for testing Docker actions in workflows without pushing to GitHub.</a:t>
            </a:r>
          </a:p>
        </p:txBody>
      </p:sp>
      <p:sp>
        <p:nvSpPr>
          <p:cNvPr id="28" name="Footer Placeholder 3">
            <a:extLst>
              <a:ext uri="{FF2B5EF4-FFF2-40B4-BE49-F238E27FC236}">
                <a16:creationId xmlns:a16="http://schemas.microsoft.com/office/drawing/2014/main" id="{DA44D4FD-8DF2-1952-63A5-1ECAAC52F30B}"/>
              </a:ext>
            </a:extLst>
          </p:cNvPr>
          <p:cNvSpPr>
            <a:spLocks noGrp="1"/>
          </p:cNvSpPr>
          <p:nvPr>
            <p:ph type="ftr" sz="quarter" idx="3"/>
          </p:nvPr>
        </p:nvSpPr>
        <p:spPr>
          <a:xfrm>
            <a:off x="579438" y="6421083"/>
            <a:ext cx="4151312" cy="197976"/>
          </a:xfrm>
        </p:spPr>
        <p:txBody>
          <a:body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649128085"/>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Debugging techniques</a:t>
            </a:r>
          </a:p>
        </p:txBody>
      </p:sp>
      <p:sp>
        <p:nvSpPr>
          <p:cNvPr id="10" name="Rectangle 9">
            <a:extLst>
              <a:ext uri="{FF2B5EF4-FFF2-40B4-BE49-F238E27FC236}">
                <a16:creationId xmlns:a16="http://schemas.microsoft.com/office/drawing/2014/main" id="{28DE602A-388A-5668-2904-10219BF21DA2}"/>
              </a:ext>
            </a:extLst>
          </p:cNvPr>
          <p:cNvSpPr/>
          <p:nvPr/>
        </p:nvSpPr>
        <p:spPr>
          <a:xfrm>
            <a:off x="481121" y="2135316"/>
            <a:ext cx="3508310" cy="382906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1DA6EF3-AFF2-987F-14B1-A4E257DAD190}"/>
              </a:ext>
            </a:extLst>
          </p:cNvPr>
          <p:cNvSpPr/>
          <p:nvPr/>
        </p:nvSpPr>
        <p:spPr>
          <a:xfrm>
            <a:off x="1635752" y="1555783"/>
            <a:ext cx="1199048" cy="109716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descr="Badge 4 with solid fill">
            <a:extLst>
              <a:ext uri="{FF2B5EF4-FFF2-40B4-BE49-F238E27FC236}">
                <a16:creationId xmlns:a16="http://schemas.microsoft.com/office/drawing/2014/main" id="{68DE2B77-68A9-60D6-492B-C998280E016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778076" y="1597877"/>
            <a:ext cx="914400" cy="914400"/>
          </a:xfrm>
          <a:prstGeom prst="rect">
            <a:avLst/>
          </a:prstGeom>
        </p:spPr>
      </p:pic>
      <p:sp>
        <p:nvSpPr>
          <p:cNvPr id="13" name="Oval 12">
            <a:extLst>
              <a:ext uri="{FF2B5EF4-FFF2-40B4-BE49-F238E27FC236}">
                <a16:creationId xmlns:a16="http://schemas.microsoft.com/office/drawing/2014/main" id="{6ED79D81-A5D4-77D3-38DE-A84A21E8F16F}"/>
              </a:ext>
            </a:extLst>
          </p:cNvPr>
          <p:cNvSpPr/>
          <p:nvPr/>
        </p:nvSpPr>
        <p:spPr>
          <a:xfrm>
            <a:off x="5486307" y="1555783"/>
            <a:ext cx="1199048" cy="109716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 Placeholder 2">
            <a:extLst>
              <a:ext uri="{FF2B5EF4-FFF2-40B4-BE49-F238E27FC236}">
                <a16:creationId xmlns:a16="http://schemas.microsoft.com/office/drawing/2014/main" id="{E4BAE20B-C3AB-108D-11F0-2881B688BB53}"/>
              </a:ext>
            </a:extLst>
          </p:cNvPr>
          <p:cNvSpPr txBox="1">
            <a:spLocks/>
          </p:cNvSpPr>
          <p:nvPr/>
        </p:nvSpPr>
        <p:spPr>
          <a:xfrm>
            <a:off x="797068" y="2503655"/>
            <a:ext cx="2957420" cy="48382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b="1" i="0" dirty="0">
                <a:effectLst/>
                <a:latin typeface="Quattrocento Sans" panose="020B0502050000020003" pitchFamily="34" charset="0"/>
              </a:rPr>
              <a:t>Validate </a:t>
            </a:r>
            <a:r>
              <a:rPr lang="en-US" sz="2000" b="1" i="0" dirty="0" err="1">
                <a:effectLst/>
                <a:latin typeface="Quattrocento Sans" panose="020B0502050000020003" pitchFamily="34" charset="0"/>
              </a:rPr>
              <a:t>Dockerfile</a:t>
            </a:r>
            <a:r>
              <a:rPr lang="en-US" sz="2000" b="1" i="0" dirty="0">
                <a:effectLst/>
                <a:latin typeface="Quattrocento Sans" panose="020B0502050000020003" pitchFamily="34" charset="0"/>
              </a:rPr>
              <a:t> configuration</a:t>
            </a:r>
          </a:p>
        </p:txBody>
      </p:sp>
      <p:sp>
        <p:nvSpPr>
          <p:cNvPr id="16" name="Text Placeholder 2">
            <a:extLst>
              <a:ext uri="{FF2B5EF4-FFF2-40B4-BE49-F238E27FC236}">
                <a16:creationId xmlns:a16="http://schemas.microsoft.com/office/drawing/2014/main" id="{2E954B2D-F5E5-051D-206A-9A509ACC7E4B}"/>
              </a:ext>
            </a:extLst>
          </p:cNvPr>
          <p:cNvSpPr txBox="1">
            <a:spLocks/>
          </p:cNvSpPr>
          <p:nvPr/>
        </p:nvSpPr>
        <p:spPr>
          <a:xfrm>
            <a:off x="797068" y="3071740"/>
            <a:ext cx="2957421" cy="153469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i="0" dirty="0">
                <a:effectLst/>
                <a:latin typeface="Quattrocento Sans" panose="020B0502050000020003" pitchFamily="34" charset="0"/>
              </a:rPr>
              <a:t>Ensure you define either ENTRYPOINT or CMD. Copy your scripts into the image and give them execute permission:</a:t>
            </a:r>
          </a:p>
        </p:txBody>
      </p:sp>
      <p:sp>
        <p:nvSpPr>
          <p:cNvPr id="17" name="Rectangle 16">
            <a:extLst>
              <a:ext uri="{FF2B5EF4-FFF2-40B4-BE49-F238E27FC236}">
                <a16:creationId xmlns:a16="http://schemas.microsoft.com/office/drawing/2014/main" id="{C1FCF390-1C22-4828-6766-F39649F8874D}"/>
              </a:ext>
            </a:extLst>
          </p:cNvPr>
          <p:cNvSpPr/>
          <p:nvPr/>
        </p:nvSpPr>
        <p:spPr>
          <a:xfrm>
            <a:off x="4305377" y="2143938"/>
            <a:ext cx="7405501" cy="24624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2">
            <a:extLst>
              <a:ext uri="{FF2B5EF4-FFF2-40B4-BE49-F238E27FC236}">
                <a16:creationId xmlns:a16="http://schemas.microsoft.com/office/drawing/2014/main" id="{5022550B-E189-AE27-7315-52FE8B47181C}"/>
              </a:ext>
            </a:extLst>
          </p:cNvPr>
          <p:cNvSpPr txBox="1">
            <a:spLocks/>
          </p:cNvSpPr>
          <p:nvPr/>
        </p:nvSpPr>
        <p:spPr>
          <a:xfrm>
            <a:off x="4621325" y="2353864"/>
            <a:ext cx="2718502"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1" i="0" dirty="0">
                <a:effectLst/>
                <a:latin typeface="Quattrocento Sans" panose="020B0502050000020003" pitchFamily="34" charset="0"/>
              </a:rPr>
              <a:t>Inspect GitHub logs</a:t>
            </a:r>
          </a:p>
        </p:txBody>
      </p:sp>
      <p:sp>
        <p:nvSpPr>
          <p:cNvPr id="19" name="Text Placeholder 2">
            <a:extLst>
              <a:ext uri="{FF2B5EF4-FFF2-40B4-BE49-F238E27FC236}">
                <a16:creationId xmlns:a16="http://schemas.microsoft.com/office/drawing/2014/main" id="{CE8F1B9D-C1BB-FB2C-3927-2120504DF66D}"/>
              </a:ext>
            </a:extLst>
          </p:cNvPr>
          <p:cNvSpPr txBox="1">
            <a:spLocks/>
          </p:cNvSpPr>
          <p:nvPr/>
        </p:nvSpPr>
        <p:spPr>
          <a:xfrm>
            <a:off x="4623661" y="2846306"/>
            <a:ext cx="6931029" cy="153469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i="0" dirty="0">
                <a:effectLst/>
                <a:latin typeface="Quattrocento Sans" panose="020B0502050000020003" pitchFamily="34" charset="0"/>
              </a:rPr>
              <a:t>Click on a failed workflow run, expand each step, and examine:</a:t>
            </a:r>
          </a:p>
          <a:p>
            <a:pPr lvl="1"/>
            <a:r>
              <a:rPr lang="en-US" sz="1800" i="0" dirty="0">
                <a:effectLst/>
                <a:latin typeface="Quattrocento Sans" panose="020B0502050000020003" pitchFamily="34" charset="0"/>
              </a:rPr>
              <a:t>Docker build logs</a:t>
            </a:r>
          </a:p>
          <a:p>
            <a:pPr lvl="1"/>
            <a:r>
              <a:rPr lang="en-US" sz="1800" i="0" dirty="0">
                <a:effectLst/>
                <a:latin typeface="Quattrocento Sans" panose="020B0502050000020003" pitchFamily="34" charset="0"/>
              </a:rPr>
              <a:t>Standard output and standard error from the container</a:t>
            </a:r>
          </a:p>
          <a:p>
            <a:pPr lvl="1"/>
            <a:r>
              <a:rPr lang="en-US" sz="1800" i="0" dirty="0">
                <a:effectLst/>
                <a:latin typeface="Quattrocento Sans" panose="020B0502050000020003" pitchFamily="34" charset="0"/>
              </a:rPr>
              <a:t>Exit codes and stack traces 🔍 Logs often reveal missing packages, syntax issues, or permission errors.</a:t>
            </a:r>
          </a:p>
        </p:txBody>
      </p:sp>
      <p:pic>
        <p:nvPicPr>
          <p:cNvPr id="14" name="Graphic 13" descr="Badge 5 with solid fill">
            <a:extLst>
              <a:ext uri="{FF2B5EF4-FFF2-40B4-BE49-F238E27FC236}">
                <a16:creationId xmlns:a16="http://schemas.microsoft.com/office/drawing/2014/main" id="{78CBFBF6-65C6-D293-E420-39956B8CE69A}"/>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628631" y="1597877"/>
            <a:ext cx="914400" cy="914400"/>
          </a:xfrm>
          <a:prstGeom prst="rect">
            <a:avLst/>
          </a:prstGeom>
        </p:spPr>
      </p:pic>
      <p:pic>
        <p:nvPicPr>
          <p:cNvPr id="5" name="Picture 4" descr="A computer screen shot of a computer code&#10;&#10;Description automatically generated">
            <a:extLst>
              <a:ext uri="{FF2B5EF4-FFF2-40B4-BE49-F238E27FC236}">
                <a16:creationId xmlns:a16="http://schemas.microsoft.com/office/drawing/2014/main" id="{57CBFB1A-8C4F-6B0B-9364-E6CC789A8D46}"/>
              </a:ext>
            </a:extLst>
          </p:cNvPr>
          <p:cNvPicPr>
            <a:picLocks noChangeAspect="1"/>
          </p:cNvPicPr>
          <p:nvPr/>
        </p:nvPicPr>
        <p:blipFill>
          <a:blip r:embed="rId7"/>
          <a:stretch>
            <a:fillRect/>
          </a:stretch>
        </p:blipFill>
        <p:spPr>
          <a:xfrm>
            <a:off x="793402" y="4585293"/>
            <a:ext cx="2957420" cy="1181048"/>
          </a:xfrm>
          <a:prstGeom prst="rect">
            <a:avLst/>
          </a:prstGeom>
          <a:effectLst>
            <a:outerShdw blurRad="63500" sx="102000" sy="102000" algn="ctr" rotWithShape="0">
              <a:prstClr val="black">
                <a:alpha val="40000"/>
              </a:prstClr>
            </a:outerShdw>
          </a:effectLst>
        </p:spPr>
      </p:pic>
      <p:sp>
        <p:nvSpPr>
          <p:cNvPr id="6" name="Rectangle 5">
            <a:extLst>
              <a:ext uri="{FF2B5EF4-FFF2-40B4-BE49-F238E27FC236}">
                <a16:creationId xmlns:a16="http://schemas.microsoft.com/office/drawing/2014/main" id="{6D9CE0C0-9FC2-9AAC-FB19-3544391983EA}"/>
              </a:ext>
            </a:extLst>
          </p:cNvPr>
          <p:cNvSpPr/>
          <p:nvPr/>
        </p:nvSpPr>
        <p:spPr>
          <a:xfrm>
            <a:off x="4301711" y="4733134"/>
            <a:ext cx="7405501" cy="1533094"/>
          </a:xfrm>
          <a:prstGeom prst="rect">
            <a:avLst/>
          </a:prstGeom>
          <a:solidFill>
            <a:srgbClr val="D7E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
            <a:extLst>
              <a:ext uri="{FF2B5EF4-FFF2-40B4-BE49-F238E27FC236}">
                <a16:creationId xmlns:a16="http://schemas.microsoft.com/office/drawing/2014/main" id="{1B574CB4-446A-76EB-2B56-AB3C0FC6CB77}"/>
              </a:ext>
            </a:extLst>
          </p:cNvPr>
          <p:cNvSpPr txBox="1">
            <a:spLocks/>
          </p:cNvSpPr>
          <p:nvPr/>
        </p:nvSpPr>
        <p:spPr>
          <a:xfrm>
            <a:off x="4617658" y="4779659"/>
            <a:ext cx="3965233" cy="522558"/>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b="1" i="0" dirty="0">
                <a:effectLst/>
                <a:latin typeface="Quattrocento Sans" panose="020B0502050000020003" pitchFamily="34" charset="0"/>
              </a:rPr>
              <a:t>Example: Entry point error</a:t>
            </a:r>
          </a:p>
        </p:txBody>
      </p:sp>
      <p:sp>
        <p:nvSpPr>
          <p:cNvPr id="8" name="Rectangle 7">
            <a:extLst>
              <a:ext uri="{FF2B5EF4-FFF2-40B4-BE49-F238E27FC236}">
                <a16:creationId xmlns:a16="http://schemas.microsoft.com/office/drawing/2014/main" id="{BBA326F6-5496-7BC7-7148-C0E0CA247017}"/>
              </a:ext>
            </a:extLst>
          </p:cNvPr>
          <p:cNvSpPr/>
          <p:nvPr/>
        </p:nvSpPr>
        <p:spPr>
          <a:xfrm>
            <a:off x="4613991" y="5348742"/>
            <a:ext cx="6780940" cy="800610"/>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000" dirty="0"/>
              <a:t>Error: container_linux.go:380: starting container process caused "exec: \"/</a:t>
            </a:r>
            <a:r>
              <a:rPr lang="en-US" sz="2000" dirty="0" err="1"/>
              <a:t>entrypoint.sh</a:t>
            </a:r>
            <a:r>
              <a:rPr lang="en-US" sz="2000" dirty="0"/>
              <a:t>\": permission denied"</a:t>
            </a:r>
          </a:p>
        </p:txBody>
      </p:sp>
      <p:sp>
        <p:nvSpPr>
          <p:cNvPr id="9" name="Text Placeholder 2">
            <a:extLst>
              <a:ext uri="{FF2B5EF4-FFF2-40B4-BE49-F238E27FC236}">
                <a16:creationId xmlns:a16="http://schemas.microsoft.com/office/drawing/2014/main" id="{14AE3F0A-38FD-F32A-99F6-21E44B332CC4}"/>
              </a:ext>
            </a:extLst>
          </p:cNvPr>
          <p:cNvSpPr txBox="1">
            <a:spLocks/>
          </p:cNvSpPr>
          <p:nvPr/>
        </p:nvSpPr>
        <p:spPr>
          <a:xfrm>
            <a:off x="4613991" y="6392928"/>
            <a:ext cx="6289709" cy="364236"/>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i="0" dirty="0">
                <a:effectLst/>
                <a:latin typeface="Quattrocento Sans" panose="020B0502050000020003" pitchFamily="34" charset="0"/>
              </a:rPr>
              <a:t>✅ Fix: Add RUN </a:t>
            </a:r>
            <a:r>
              <a:rPr lang="en-US" sz="1800" i="0" dirty="0" err="1">
                <a:effectLst/>
                <a:latin typeface="Quattrocento Sans" panose="020B0502050000020003" pitchFamily="34" charset="0"/>
              </a:rPr>
              <a:t>chmod</a:t>
            </a:r>
            <a:r>
              <a:rPr lang="en-US" sz="1800" i="0" dirty="0">
                <a:effectLst/>
                <a:latin typeface="Quattrocento Sans" panose="020B0502050000020003" pitchFamily="34" charset="0"/>
              </a:rPr>
              <a:t> +x /</a:t>
            </a:r>
            <a:r>
              <a:rPr lang="en-US" sz="1800" i="0" dirty="0" err="1">
                <a:effectLst/>
                <a:latin typeface="Quattrocento Sans" panose="020B0502050000020003" pitchFamily="34" charset="0"/>
              </a:rPr>
              <a:t>entrypoint.sh</a:t>
            </a:r>
            <a:r>
              <a:rPr lang="en-US" sz="1800" i="0" dirty="0">
                <a:effectLst/>
                <a:latin typeface="Quattrocento Sans" panose="020B0502050000020003" pitchFamily="34" charset="0"/>
              </a:rPr>
              <a:t> in your </a:t>
            </a:r>
            <a:r>
              <a:rPr lang="en-US" sz="1800" i="0" dirty="0" err="1">
                <a:effectLst/>
                <a:latin typeface="Quattrocento Sans" panose="020B0502050000020003" pitchFamily="34" charset="0"/>
              </a:rPr>
              <a:t>Dockerfile</a:t>
            </a:r>
            <a:r>
              <a:rPr lang="en-US" sz="1800" i="0" dirty="0">
                <a:effectLst/>
                <a:latin typeface="Quattrocento Sans" panose="020B0502050000020003" pitchFamily="34" charset="0"/>
              </a:rPr>
              <a:t>.</a:t>
            </a:r>
          </a:p>
        </p:txBody>
      </p:sp>
      <p:sp>
        <p:nvSpPr>
          <p:cNvPr id="25" name="Footer Placeholder 3">
            <a:extLst>
              <a:ext uri="{FF2B5EF4-FFF2-40B4-BE49-F238E27FC236}">
                <a16:creationId xmlns:a16="http://schemas.microsoft.com/office/drawing/2014/main" id="{0755C933-9B68-18C5-896D-1D7EBCBD051F}"/>
              </a:ext>
            </a:extLst>
          </p:cNvPr>
          <p:cNvSpPr>
            <a:spLocks noGrp="1"/>
          </p:cNvSpPr>
          <p:nvPr>
            <p:ph type="ftr" sz="quarter" idx="3"/>
          </p:nvPr>
        </p:nvSpPr>
        <p:spPr>
          <a:xfrm>
            <a:off x="579438" y="6421083"/>
            <a:ext cx="4151312" cy="197976"/>
          </a:xfrm>
        </p:spPr>
        <p:txBody>
          <a:body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95172967"/>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Environment variable mapping</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aphicFrame>
        <p:nvGraphicFramePr>
          <p:cNvPr id="6" name="Table 5">
            <a:extLst>
              <a:ext uri="{FF2B5EF4-FFF2-40B4-BE49-F238E27FC236}">
                <a16:creationId xmlns:a16="http://schemas.microsoft.com/office/drawing/2014/main" id="{F4A0B513-D9DB-2258-7D85-9B21F04EB3D9}"/>
              </a:ext>
            </a:extLst>
          </p:cNvPr>
          <p:cNvGraphicFramePr>
            <a:graphicFrameLocks noGrp="1"/>
          </p:cNvGraphicFramePr>
          <p:nvPr>
            <p:extLst>
              <p:ext uri="{D42A27DB-BD31-4B8C-83A1-F6EECF244321}">
                <p14:modId xmlns:p14="http://schemas.microsoft.com/office/powerpoint/2010/main" val="3890145268"/>
              </p:ext>
            </p:extLst>
          </p:nvPr>
        </p:nvGraphicFramePr>
        <p:xfrm>
          <a:off x="579437" y="2416245"/>
          <a:ext cx="10617297" cy="2193084"/>
        </p:xfrm>
        <a:graphic>
          <a:graphicData uri="http://schemas.openxmlformats.org/drawingml/2006/table">
            <a:tbl>
              <a:tblPr firstRow="1" bandRow="1">
                <a:tableStyleId>{5C22544A-7EE6-4342-B048-85BDC9FD1C3A}</a:tableStyleId>
              </a:tblPr>
              <a:tblGrid>
                <a:gridCol w="3369108">
                  <a:extLst>
                    <a:ext uri="{9D8B030D-6E8A-4147-A177-3AD203B41FA5}">
                      <a16:colId xmlns:a16="http://schemas.microsoft.com/office/drawing/2014/main" val="3881546690"/>
                    </a:ext>
                  </a:extLst>
                </a:gridCol>
                <a:gridCol w="7248189">
                  <a:extLst>
                    <a:ext uri="{9D8B030D-6E8A-4147-A177-3AD203B41FA5}">
                      <a16:colId xmlns:a16="http://schemas.microsoft.com/office/drawing/2014/main" val="3871292476"/>
                    </a:ext>
                  </a:extLst>
                </a:gridCol>
              </a:tblGrid>
              <a:tr h="548271">
                <a:tc>
                  <a:txBody>
                    <a:bodyPr/>
                    <a:lstStyle/>
                    <a:p>
                      <a:pPr algn="l" fontAlgn="t"/>
                      <a:r>
                        <a:rPr lang="en-US" sz="2400" b="1">
                          <a:solidFill>
                            <a:schemeClr val="tx1"/>
                          </a:solidFill>
                          <a:effectLst/>
                          <a:latin typeface="Quattrocento Sans" panose="020B0502050000020003" pitchFamily="34" charset="0"/>
                        </a:rPr>
                        <a:t>GitHub input</a:t>
                      </a:r>
                      <a:endParaRPr lang="en-US" sz="2400">
                        <a:solidFill>
                          <a:schemeClr val="tx1"/>
                        </a:solidFill>
                        <a:effectLst/>
                        <a:latin typeface="Quattrocento Sans" panose="020B0502050000020003" pitchFamily="34" charset="0"/>
                      </a:endParaRPr>
                    </a:p>
                  </a:txBody>
                  <a:tcPr anchor="b">
                    <a:lnR w="28575" cap="flat" cmpd="sng" algn="ctr">
                      <a:solidFill>
                        <a:schemeClr val="bg1">
                          <a:lumMod val="50000"/>
                        </a:schemeClr>
                      </a:solidFill>
                      <a:prstDash val="solid"/>
                      <a:round/>
                      <a:headEnd type="none" w="med" len="med"/>
                      <a:tailEnd type="none" w="med" len="med"/>
                    </a:lnR>
                    <a:lnB w="285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l" fontAlgn="t"/>
                      <a:r>
                        <a:rPr lang="en-US" sz="2400" b="1" dirty="0">
                          <a:solidFill>
                            <a:schemeClr val="tx1"/>
                          </a:solidFill>
                          <a:effectLst/>
                          <a:latin typeface="Quattrocento Sans" panose="020B0502050000020003" pitchFamily="34" charset="0"/>
                        </a:rPr>
                        <a:t>Docker environment variable</a:t>
                      </a:r>
                      <a:endParaRPr lang="en-US" sz="2400" dirty="0">
                        <a:solidFill>
                          <a:schemeClr val="tx1"/>
                        </a:solidFill>
                        <a:effectLst/>
                        <a:latin typeface="Quattrocento Sans" panose="020B0502050000020003" pitchFamily="34" charset="0"/>
                      </a:endParaRP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B w="28575"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340377"/>
                  </a:ext>
                </a:extLst>
              </a:tr>
              <a:tr h="548271">
                <a:tc>
                  <a:txBody>
                    <a:bodyPr/>
                    <a:lstStyle/>
                    <a:p>
                      <a:pPr algn="l" fontAlgn="t"/>
                      <a:r>
                        <a:rPr lang="en-US" sz="1600">
                          <a:solidFill>
                            <a:schemeClr val="tx1"/>
                          </a:solidFill>
                          <a:effectLst/>
                          <a:highlight>
                            <a:srgbClr val="C0C0C0"/>
                          </a:highlight>
                          <a:latin typeface="Roboto Mono" pitchFamily="49" charset="0"/>
                          <a:ea typeface="Roboto Mono" pitchFamily="49" charset="0"/>
                        </a:rPr>
                        <a:t>with: name: test</a:t>
                      </a: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sz="1600" dirty="0">
                          <a:solidFill>
                            <a:schemeClr val="tx1"/>
                          </a:solidFill>
                          <a:effectLst/>
                          <a:highlight>
                            <a:srgbClr val="C0C0C0"/>
                          </a:highlight>
                          <a:latin typeface="Roboto Mono" pitchFamily="49" charset="0"/>
                          <a:ea typeface="Roboto Mono" pitchFamily="49" charset="0"/>
                        </a:rPr>
                        <a:t>INPUT_NAME=test</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987365753"/>
                  </a:ext>
                </a:extLst>
              </a:tr>
              <a:tr h="548271">
                <a:tc>
                  <a:txBody>
                    <a:bodyPr/>
                    <a:lstStyle/>
                    <a:p>
                      <a:pPr algn="l" fontAlgn="t"/>
                      <a:r>
                        <a:rPr lang="en-US" sz="1600">
                          <a:solidFill>
                            <a:schemeClr val="tx1"/>
                          </a:solidFill>
                          <a:effectLst/>
                          <a:highlight>
                            <a:srgbClr val="C0C0C0"/>
                          </a:highlight>
                          <a:latin typeface="Roboto Mono" pitchFamily="49" charset="0"/>
                          <a:ea typeface="Roboto Mono" pitchFamily="49" charset="0"/>
                        </a:rPr>
                        <a:t>GITHUB_WORKSPACE</a:t>
                      </a: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dirty="0">
                          <a:solidFill>
                            <a:schemeClr val="tx1"/>
                          </a:solidFill>
                          <a:effectLst/>
                          <a:latin typeface="Quattrocento Sans" panose="020B0502050000020003" pitchFamily="34" charset="0"/>
                        </a:rPr>
                        <a:t>Mapped into </a:t>
                      </a:r>
                      <a:r>
                        <a:rPr lang="en-US" sz="1600" dirty="0">
                          <a:solidFill>
                            <a:schemeClr val="tx1"/>
                          </a:solidFill>
                          <a:effectLst/>
                          <a:highlight>
                            <a:srgbClr val="C0C0C0"/>
                          </a:highlight>
                          <a:latin typeface="Roboto Mono" pitchFamily="49" charset="0"/>
                          <a:ea typeface="Roboto Mono" pitchFamily="49" charset="0"/>
                        </a:rPr>
                        <a:t>/</a:t>
                      </a:r>
                      <a:r>
                        <a:rPr lang="en-US" sz="1600" dirty="0" err="1">
                          <a:solidFill>
                            <a:schemeClr val="tx1"/>
                          </a:solidFill>
                          <a:effectLst/>
                          <a:highlight>
                            <a:srgbClr val="C0C0C0"/>
                          </a:highlight>
                          <a:latin typeface="Roboto Mono" pitchFamily="49" charset="0"/>
                          <a:ea typeface="Roboto Mono" pitchFamily="49" charset="0"/>
                        </a:rPr>
                        <a:t>github</a:t>
                      </a:r>
                      <a:r>
                        <a:rPr lang="en-US" sz="1600" dirty="0">
                          <a:solidFill>
                            <a:schemeClr val="tx1"/>
                          </a:solidFill>
                          <a:effectLst/>
                          <a:highlight>
                            <a:srgbClr val="C0C0C0"/>
                          </a:highlight>
                          <a:latin typeface="Roboto Mono" pitchFamily="49" charset="0"/>
                          <a:ea typeface="Roboto Mono" pitchFamily="49" charset="0"/>
                        </a:rPr>
                        <a:t>/workspace</a:t>
                      </a:r>
                      <a:endParaRPr lang="en-US" dirty="0">
                        <a:solidFill>
                          <a:schemeClr val="tx1"/>
                        </a:solidFill>
                        <a:effectLst/>
                        <a:highlight>
                          <a:srgbClr val="C0C0C0"/>
                        </a:highlight>
                        <a:latin typeface="Roboto Mono" pitchFamily="49" charset="0"/>
                        <a:ea typeface="Roboto Mono" pitchFamily="49" charset="0"/>
                      </a:endParaRP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86461986"/>
                  </a:ext>
                </a:extLst>
              </a:tr>
              <a:tr h="548271">
                <a:tc>
                  <a:txBody>
                    <a:bodyPr/>
                    <a:lstStyle/>
                    <a:p>
                      <a:pPr algn="l" fontAlgn="t"/>
                      <a:r>
                        <a:rPr lang="en-US" sz="1600" dirty="0">
                          <a:solidFill>
                            <a:schemeClr val="tx1"/>
                          </a:solidFill>
                          <a:effectLst/>
                          <a:highlight>
                            <a:srgbClr val="C0C0C0"/>
                          </a:highlight>
                          <a:latin typeface="Roboto Mono" pitchFamily="49" charset="0"/>
                          <a:ea typeface="Roboto Mono" pitchFamily="49" charset="0"/>
                        </a:rPr>
                        <a:t>GITHUB_EVENT_NAME</a:t>
                      </a: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dirty="0">
                          <a:solidFill>
                            <a:schemeClr val="tx1"/>
                          </a:solidFill>
                          <a:effectLst/>
                          <a:latin typeface="Quattrocento Sans" panose="020B0502050000020003" pitchFamily="34" charset="0"/>
                        </a:rPr>
                        <a:t>Event that triggered the workflow</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19159582"/>
                  </a:ext>
                </a:extLst>
              </a:tr>
            </a:tbl>
          </a:graphicData>
        </a:graphic>
      </p:graphicFrame>
      <p:pic>
        <p:nvPicPr>
          <p:cNvPr id="5" name="Picture 4" descr="A close-up of a sign&#10;&#10;Description automatically generated">
            <a:extLst>
              <a:ext uri="{FF2B5EF4-FFF2-40B4-BE49-F238E27FC236}">
                <a16:creationId xmlns:a16="http://schemas.microsoft.com/office/drawing/2014/main" id="{F71551DE-E172-6241-AC86-B077B686E0A7}"/>
              </a:ext>
            </a:extLst>
          </p:cNvPr>
          <p:cNvPicPr>
            <a:picLocks noChangeAspect="1"/>
          </p:cNvPicPr>
          <p:nvPr/>
        </p:nvPicPr>
        <p:blipFill>
          <a:blip r:embed="rId3"/>
          <a:stretch>
            <a:fillRect/>
          </a:stretch>
        </p:blipFill>
        <p:spPr>
          <a:xfrm>
            <a:off x="579437" y="4817925"/>
            <a:ext cx="5218690" cy="152706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21256667"/>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Use troubleshooting secrets</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aphicFrame>
        <p:nvGraphicFramePr>
          <p:cNvPr id="6" name="Table 5">
            <a:extLst>
              <a:ext uri="{FF2B5EF4-FFF2-40B4-BE49-F238E27FC236}">
                <a16:creationId xmlns:a16="http://schemas.microsoft.com/office/drawing/2014/main" id="{F4A0B513-D9DB-2258-7D85-9B21F04EB3D9}"/>
              </a:ext>
            </a:extLst>
          </p:cNvPr>
          <p:cNvGraphicFramePr>
            <a:graphicFrameLocks noGrp="1"/>
          </p:cNvGraphicFramePr>
          <p:nvPr>
            <p:extLst>
              <p:ext uri="{D42A27DB-BD31-4B8C-83A1-F6EECF244321}">
                <p14:modId xmlns:p14="http://schemas.microsoft.com/office/powerpoint/2010/main" val="941984174"/>
              </p:ext>
            </p:extLst>
          </p:nvPr>
        </p:nvGraphicFramePr>
        <p:xfrm>
          <a:off x="579437" y="2416245"/>
          <a:ext cx="10617297" cy="1644813"/>
        </p:xfrm>
        <a:graphic>
          <a:graphicData uri="http://schemas.openxmlformats.org/drawingml/2006/table">
            <a:tbl>
              <a:tblPr firstRow="1" bandRow="1">
                <a:tableStyleId>{5C22544A-7EE6-4342-B048-85BDC9FD1C3A}</a:tableStyleId>
              </a:tblPr>
              <a:tblGrid>
                <a:gridCol w="3369108">
                  <a:extLst>
                    <a:ext uri="{9D8B030D-6E8A-4147-A177-3AD203B41FA5}">
                      <a16:colId xmlns:a16="http://schemas.microsoft.com/office/drawing/2014/main" val="3881546690"/>
                    </a:ext>
                  </a:extLst>
                </a:gridCol>
                <a:gridCol w="7248189">
                  <a:extLst>
                    <a:ext uri="{9D8B030D-6E8A-4147-A177-3AD203B41FA5}">
                      <a16:colId xmlns:a16="http://schemas.microsoft.com/office/drawing/2014/main" val="3871292476"/>
                    </a:ext>
                  </a:extLst>
                </a:gridCol>
              </a:tblGrid>
              <a:tr h="548271">
                <a:tc>
                  <a:txBody>
                    <a:bodyPr/>
                    <a:lstStyle/>
                    <a:p>
                      <a:pPr algn="l" fontAlgn="t"/>
                      <a:r>
                        <a:rPr lang="en-US" sz="2400">
                          <a:solidFill>
                            <a:schemeClr val="tx1"/>
                          </a:solidFill>
                          <a:effectLst/>
                        </a:rPr>
                        <a:t>Secret</a:t>
                      </a:r>
                    </a:p>
                  </a:txBody>
                  <a:tcPr anchor="b">
                    <a:lnR w="28575" cap="flat" cmpd="sng" algn="ctr">
                      <a:solidFill>
                        <a:schemeClr val="bg1">
                          <a:lumMod val="50000"/>
                        </a:schemeClr>
                      </a:solidFill>
                      <a:prstDash val="solid"/>
                      <a:round/>
                      <a:headEnd type="none" w="med" len="med"/>
                      <a:tailEnd type="none" w="med" len="med"/>
                    </a:lnR>
                    <a:lnB w="285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l" fontAlgn="t"/>
                      <a:r>
                        <a:rPr lang="en-US" sz="2400" dirty="0">
                          <a:solidFill>
                            <a:schemeClr val="tx1"/>
                          </a:solidFill>
                          <a:effectLst/>
                        </a:rPr>
                        <a:t>Description</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B w="28575"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340377"/>
                  </a:ext>
                </a:extLst>
              </a:tr>
              <a:tr h="548271">
                <a:tc>
                  <a:txBody>
                    <a:bodyPr/>
                    <a:lstStyle/>
                    <a:p>
                      <a:pPr algn="l" fontAlgn="t"/>
                      <a:r>
                        <a:rPr lang="en-US" sz="1600" dirty="0">
                          <a:effectLst/>
                          <a:highlight>
                            <a:srgbClr val="C0C0C0"/>
                          </a:highlight>
                          <a:latin typeface="Roboto Mono" pitchFamily="49" charset="0"/>
                          <a:ea typeface="Roboto Mono" pitchFamily="49" charset="0"/>
                        </a:rPr>
                        <a:t>ACTIONS_STEP_DEBUG</a:t>
                      </a: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a:effectLst/>
                        </a:rPr>
                        <a:t>Enables debug logging</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987365753"/>
                  </a:ext>
                </a:extLst>
              </a:tr>
              <a:tr h="548271">
                <a:tc>
                  <a:txBody>
                    <a:bodyPr/>
                    <a:lstStyle/>
                    <a:p>
                      <a:pPr algn="l" fontAlgn="t"/>
                      <a:r>
                        <a:rPr lang="en-US" sz="1600" dirty="0">
                          <a:effectLst/>
                          <a:highlight>
                            <a:srgbClr val="C0C0C0"/>
                          </a:highlight>
                          <a:latin typeface="Roboto Mono" pitchFamily="49" charset="0"/>
                          <a:ea typeface="Roboto Mono" pitchFamily="49" charset="0"/>
                        </a:rPr>
                        <a:t>ACTIONS_RUNNER_DEBUG</a:t>
                      </a: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dirty="0">
                          <a:effectLst/>
                        </a:rPr>
                        <a:t>Enables runner diagnostics</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86461986"/>
                  </a:ext>
                </a:extLst>
              </a:tr>
            </a:tbl>
          </a:graphicData>
        </a:graphic>
      </p:graphicFrame>
      <p:sp>
        <p:nvSpPr>
          <p:cNvPr id="3" name="Text Placeholder 2">
            <a:extLst>
              <a:ext uri="{FF2B5EF4-FFF2-40B4-BE49-F238E27FC236}">
                <a16:creationId xmlns:a16="http://schemas.microsoft.com/office/drawing/2014/main" id="{15606A77-A84A-B652-EC29-EB8AB68ED15E}"/>
              </a:ext>
            </a:extLst>
          </p:cNvPr>
          <p:cNvSpPr txBox="1">
            <a:spLocks/>
          </p:cNvSpPr>
          <p:nvPr/>
        </p:nvSpPr>
        <p:spPr>
          <a:xfrm>
            <a:off x="589101" y="1031011"/>
            <a:ext cx="1073550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i="0" dirty="0">
                <a:effectLst/>
                <a:latin typeface="Quattrocento Sans" panose="020B0502050000020003" pitchFamily="34" charset="0"/>
              </a:rPr>
              <a:t>Enable additional logging by adding these secrets to your repository or org:</a:t>
            </a:r>
          </a:p>
        </p:txBody>
      </p:sp>
    </p:spTree>
    <p:extLst>
      <p:ext uri="{BB962C8B-B14F-4D97-AF65-F5344CB8AC3E}">
        <p14:creationId xmlns:p14="http://schemas.microsoft.com/office/powerpoint/2010/main" val="2396735939"/>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Best practices for Docker action debugging</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aphicFrame>
        <p:nvGraphicFramePr>
          <p:cNvPr id="6" name="Table 5">
            <a:extLst>
              <a:ext uri="{FF2B5EF4-FFF2-40B4-BE49-F238E27FC236}">
                <a16:creationId xmlns:a16="http://schemas.microsoft.com/office/drawing/2014/main" id="{F4A0B513-D9DB-2258-7D85-9B21F04EB3D9}"/>
              </a:ext>
            </a:extLst>
          </p:cNvPr>
          <p:cNvGraphicFramePr>
            <a:graphicFrameLocks noGrp="1"/>
          </p:cNvGraphicFramePr>
          <p:nvPr>
            <p:extLst>
              <p:ext uri="{D42A27DB-BD31-4B8C-83A1-F6EECF244321}">
                <p14:modId xmlns:p14="http://schemas.microsoft.com/office/powerpoint/2010/main" val="4086164238"/>
              </p:ext>
            </p:extLst>
          </p:nvPr>
        </p:nvGraphicFramePr>
        <p:xfrm>
          <a:off x="579437" y="2416245"/>
          <a:ext cx="10617297" cy="3289626"/>
        </p:xfrm>
        <a:graphic>
          <a:graphicData uri="http://schemas.openxmlformats.org/drawingml/2006/table">
            <a:tbl>
              <a:tblPr firstRow="1" bandRow="1">
                <a:tableStyleId>{5C22544A-7EE6-4342-B048-85BDC9FD1C3A}</a:tableStyleId>
              </a:tblPr>
              <a:tblGrid>
                <a:gridCol w="4013345">
                  <a:extLst>
                    <a:ext uri="{9D8B030D-6E8A-4147-A177-3AD203B41FA5}">
                      <a16:colId xmlns:a16="http://schemas.microsoft.com/office/drawing/2014/main" val="3881546690"/>
                    </a:ext>
                  </a:extLst>
                </a:gridCol>
                <a:gridCol w="6603952">
                  <a:extLst>
                    <a:ext uri="{9D8B030D-6E8A-4147-A177-3AD203B41FA5}">
                      <a16:colId xmlns:a16="http://schemas.microsoft.com/office/drawing/2014/main" val="3871292476"/>
                    </a:ext>
                  </a:extLst>
                </a:gridCol>
              </a:tblGrid>
              <a:tr h="548271">
                <a:tc>
                  <a:txBody>
                    <a:bodyPr/>
                    <a:lstStyle/>
                    <a:p>
                      <a:pPr algn="l" fontAlgn="t"/>
                      <a:r>
                        <a:rPr lang="en-US" sz="2400" b="1">
                          <a:solidFill>
                            <a:schemeClr val="tx1"/>
                          </a:solidFill>
                          <a:effectLst/>
                        </a:rPr>
                        <a:t>Best Practice</a:t>
                      </a:r>
                      <a:endParaRPr lang="en-US" sz="2400">
                        <a:solidFill>
                          <a:schemeClr val="tx1"/>
                        </a:solidFill>
                        <a:effectLst/>
                      </a:endParaRPr>
                    </a:p>
                  </a:txBody>
                  <a:tcPr anchor="b">
                    <a:lnR w="28575" cap="flat" cmpd="sng" algn="ctr">
                      <a:solidFill>
                        <a:schemeClr val="bg1">
                          <a:lumMod val="50000"/>
                        </a:schemeClr>
                      </a:solidFill>
                      <a:prstDash val="solid"/>
                      <a:round/>
                      <a:headEnd type="none" w="med" len="med"/>
                      <a:tailEnd type="none" w="med" len="med"/>
                    </a:lnR>
                    <a:lnB w="285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l" fontAlgn="t"/>
                      <a:r>
                        <a:rPr lang="en-US" sz="2400" b="1" dirty="0">
                          <a:solidFill>
                            <a:schemeClr val="tx1"/>
                          </a:solidFill>
                          <a:effectLst/>
                        </a:rPr>
                        <a:t>Why</a:t>
                      </a:r>
                      <a:endParaRPr lang="en-US" sz="2400" dirty="0">
                        <a:solidFill>
                          <a:schemeClr val="tx1"/>
                        </a:solidFill>
                        <a:effectLst/>
                      </a:endParaRP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B w="28575"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340377"/>
                  </a:ext>
                </a:extLst>
              </a:tr>
              <a:tr h="548271">
                <a:tc>
                  <a:txBody>
                    <a:bodyPr/>
                    <a:lstStyle/>
                    <a:p>
                      <a:pPr algn="l" fontAlgn="t"/>
                      <a:r>
                        <a:rPr lang="en-US" b="1">
                          <a:solidFill>
                            <a:schemeClr val="tx1"/>
                          </a:solidFill>
                          <a:effectLst/>
                        </a:rPr>
                        <a:t>Use logging generously</a:t>
                      </a:r>
                      <a:endParaRPr lang="en-US">
                        <a:solidFill>
                          <a:schemeClr val="tx1"/>
                        </a:solidFill>
                        <a:effectLst/>
                      </a:endParaRP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a:solidFill>
                            <a:schemeClr val="tx1"/>
                          </a:solidFill>
                          <a:effectLst/>
                        </a:rPr>
                        <a:t>Helps trace failure points</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987365753"/>
                  </a:ext>
                </a:extLst>
              </a:tr>
              <a:tr h="548271">
                <a:tc>
                  <a:txBody>
                    <a:bodyPr/>
                    <a:lstStyle/>
                    <a:p>
                      <a:pPr algn="l" fontAlgn="t"/>
                      <a:r>
                        <a:rPr lang="en-US" b="1">
                          <a:solidFill>
                            <a:schemeClr val="tx1"/>
                          </a:solidFill>
                          <a:effectLst/>
                        </a:rPr>
                        <a:t>Always set chmod +x</a:t>
                      </a:r>
                      <a:endParaRPr lang="en-US">
                        <a:solidFill>
                          <a:schemeClr val="tx1"/>
                        </a:solidFill>
                        <a:effectLst/>
                      </a:endParaRP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a:solidFill>
                            <a:schemeClr val="tx1"/>
                          </a:solidFill>
                          <a:effectLst/>
                        </a:rPr>
                        <a:t>Avoid permission errors on shell scripts</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86461986"/>
                  </a:ext>
                </a:extLst>
              </a:tr>
              <a:tr h="548271">
                <a:tc>
                  <a:txBody>
                    <a:bodyPr/>
                    <a:lstStyle/>
                    <a:p>
                      <a:pPr algn="l" fontAlgn="t"/>
                      <a:r>
                        <a:rPr lang="en-US" b="1">
                          <a:solidFill>
                            <a:schemeClr val="tx1"/>
                          </a:solidFill>
                          <a:effectLst/>
                        </a:rPr>
                        <a:t>Validate inputs in your script</a:t>
                      </a:r>
                      <a:endParaRPr lang="en-US">
                        <a:solidFill>
                          <a:schemeClr val="tx1"/>
                        </a:solidFill>
                        <a:effectLst/>
                      </a:endParaRP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a:solidFill>
                            <a:schemeClr val="tx1"/>
                          </a:solidFill>
                          <a:effectLst/>
                        </a:rPr>
                        <a:t>Catch missing or malformed inputs early</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522574551"/>
                  </a:ext>
                </a:extLst>
              </a:tr>
              <a:tr h="548271">
                <a:tc>
                  <a:txBody>
                    <a:bodyPr/>
                    <a:lstStyle/>
                    <a:p>
                      <a:pPr algn="l" fontAlgn="t"/>
                      <a:r>
                        <a:rPr lang="en-US" b="1">
                          <a:solidFill>
                            <a:schemeClr val="tx1"/>
                          </a:solidFill>
                          <a:effectLst/>
                        </a:rPr>
                        <a:t>Minimize container dependencies</a:t>
                      </a:r>
                      <a:endParaRPr lang="en-US">
                        <a:solidFill>
                          <a:schemeClr val="tx1"/>
                        </a:solidFill>
                        <a:effectLst/>
                      </a:endParaRP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a:solidFill>
                            <a:schemeClr val="tx1"/>
                          </a:solidFill>
                          <a:effectLst/>
                        </a:rPr>
                        <a:t>Smaller images are easier to debug</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267998352"/>
                  </a:ext>
                </a:extLst>
              </a:tr>
              <a:tr h="548271">
                <a:tc>
                  <a:txBody>
                    <a:bodyPr/>
                    <a:lstStyle/>
                    <a:p>
                      <a:pPr algn="l" fontAlgn="t"/>
                      <a:r>
                        <a:rPr lang="en-US" b="1">
                          <a:solidFill>
                            <a:schemeClr val="tx1"/>
                          </a:solidFill>
                          <a:effectLst/>
                        </a:rPr>
                        <a:t>Test locally with docker run or act</a:t>
                      </a:r>
                      <a:endParaRPr lang="en-US">
                        <a:solidFill>
                          <a:schemeClr val="tx1"/>
                        </a:solidFill>
                        <a:effectLst/>
                      </a:endParaRPr>
                    </a:p>
                  </a:txBody>
                  <a:tcPr anchor="b">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l" fontAlgn="t"/>
                      <a:r>
                        <a:rPr lang="en-US" dirty="0">
                          <a:solidFill>
                            <a:schemeClr val="tx1"/>
                          </a:solidFill>
                          <a:effectLst/>
                        </a:rPr>
                        <a:t>Faster iterations and immediate feedback</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097695134"/>
                  </a:ext>
                </a:extLst>
              </a:tr>
            </a:tbl>
          </a:graphicData>
        </a:graphic>
      </p:graphicFrame>
    </p:spTree>
    <p:extLst>
      <p:ext uri="{BB962C8B-B14F-4D97-AF65-F5344CB8AC3E}">
        <p14:creationId xmlns:p14="http://schemas.microsoft.com/office/powerpoint/2010/main" val="2745016811"/>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Publish a custom GitHub action</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49012" y="1301448"/>
            <a:ext cx="10384538"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dirty="0">
                <a:latin typeface="Quattrocento Sans" panose="020B0502050000020003" pitchFamily="34" charset="0"/>
              </a:rPr>
              <a:t>Here, you'll learn about choosing the right visibility for your action, best practices for documenting and versioning your action, and how to publish your action to the GitHub Marketplace.</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348204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Choose a location for your action</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733211" y="927228"/>
            <a:ext cx="11103188" cy="172374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dirty="0">
                <a:latin typeface="Quattrocento Sans" panose="020B0502050000020003" pitchFamily="34" charset="0"/>
              </a:rPr>
              <a:t>When creating an action, it's important to first decide where you want that action to live and the visibility of that action, whether it will be public or private. The action's visibility determines which recommendations and requirements are needed to release that action. </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pic>
        <p:nvPicPr>
          <p:cNvPr id="37890" name="Picture 2" descr="Diagram that displays the two visibility options for an action: public or private.">
            <a:extLst>
              <a:ext uri="{FF2B5EF4-FFF2-40B4-BE49-F238E27FC236}">
                <a16:creationId xmlns:a16="http://schemas.microsoft.com/office/drawing/2014/main" id="{EA4D0187-7F97-DB87-9908-8D0BEC4B66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211" y="2575215"/>
            <a:ext cx="5954503" cy="2977252"/>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DBD6654E-033D-0C9E-B707-1DCEDD3DCBE3}"/>
              </a:ext>
            </a:extLst>
          </p:cNvPr>
          <p:cNvSpPr txBox="1">
            <a:spLocks/>
          </p:cNvSpPr>
          <p:nvPr/>
        </p:nvSpPr>
        <p:spPr>
          <a:xfrm>
            <a:off x="6961451" y="2587787"/>
            <a:ext cx="4874948" cy="561813"/>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dirty="0">
                <a:latin typeface="Quattrocento Sans" panose="020B0502050000020003" pitchFamily="34" charset="0"/>
              </a:rPr>
              <a:t>Let's take a closer look into these two visibility options.</a:t>
            </a:r>
          </a:p>
        </p:txBody>
      </p:sp>
    </p:spTree>
    <p:extLst>
      <p:ext uri="{BB962C8B-B14F-4D97-AF65-F5344CB8AC3E}">
        <p14:creationId xmlns:p14="http://schemas.microsoft.com/office/powerpoint/2010/main" val="836077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46427" y="560582"/>
            <a:ext cx="8193024" cy="492443"/>
          </a:xfrm>
        </p:spPr>
        <p:txBody>
          <a:bodyPr>
            <a:normAutofit fontScale="90000"/>
          </a:bodyPr>
          <a:lstStyle/>
          <a:p>
            <a:r>
              <a:rPr lang="en-US" sz="3200" dirty="0">
                <a:latin typeface="Quattrocento Sans" panose="020B0502050000020003" pitchFamily="34" charset="0"/>
              </a:rPr>
              <a:t>Public</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66066" y="2083763"/>
            <a:ext cx="6983147" cy="158591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rPr>
              <a:t>Workflows in any repository can use public actions. If you're developing an action with the intent to make it open source or make it publicly available through the GitHub Marketplace, we recommend (and in most cases it's required) that the action has its own repository instead of bundling it with other application code. This allows you to version, track, and release the action just like any other piece of software. This makes it easier for the GitHub community to discover the action, narrows the scope of the code base for developers fixing issues and extending the action, and separates the action's versioning from the versioning of other application code.</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5" name="Rectangle 4">
            <a:extLst>
              <a:ext uri="{FF2B5EF4-FFF2-40B4-BE49-F238E27FC236}">
                <a16:creationId xmlns:a16="http://schemas.microsoft.com/office/drawing/2014/main" id="{F89F3565-3377-B4E6-DB0F-3B2FDBA2736A}"/>
              </a:ext>
            </a:extLst>
          </p:cNvPr>
          <p:cNvSpPr/>
          <p:nvPr/>
        </p:nvSpPr>
        <p:spPr>
          <a:xfrm>
            <a:off x="8056605" y="0"/>
            <a:ext cx="3469329" cy="395416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Diagram that displays the two visibility options for an action: public or private.">
            <a:extLst>
              <a:ext uri="{FF2B5EF4-FFF2-40B4-BE49-F238E27FC236}">
                <a16:creationId xmlns:a16="http://schemas.microsoft.com/office/drawing/2014/main" id="{EF8DD19B-D96F-9D10-4218-FDCDDFAB20E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8263598" y="293723"/>
            <a:ext cx="3055342" cy="2841554"/>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99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9F3565-3377-B4E6-DB0F-3B2FDBA2736A}"/>
              </a:ext>
            </a:extLst>
          </p:cNvPr>
          <p:cNvSpPr/>
          <p:nvPr/>
        </p:nvSpPr>
        <p:spPr>
          <a:xfrm>
            <a:off x="8056605" y="0"/>
            <a:ext cx="3469329" cy="395416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Diagram that displays the two visibility options for an action: public or private.">
            <a:extLst>
              <a:ext uri="{FF2B5EF4-FFF2-40B4-BE49-F238E27FC236}">
                <a16:creationId xmlns:a16="http://schemas.microsoft.com/office/drawing/2014/main" id="{6F249FC9-7D35-E0EA-19B5-130DCD86BA7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8258395" y="240017"/>
            <a:ext cx="3060545" cy="2948966"/>
          </a:xfrm>
          <a:prstGeom prst="ellipse">
            <a:avLst/>
          </a:prstGeom>
          <a:noFill/>
          <a:extLst>
            <a:ext uri="{909E8E84-426E-40DD-AFC4-6F175D3DCCD1}">
              <a14:hiddenFill xmlns:a14="http://schemas.microsoft.com/office/drawing/2010/main">
                <a:solidFill>
                  <a:srgbClr val="FFFFFF"/>
                </a:solidFill>
              </a14:hiddenFill>
            </a:ext>
          </a:extLst>
        </p:spPr>
      </p:pic>
      <p:sp>
        <p:nvSpPr>
          <p:cNvPr id="17" name="Title 16"/>
          <p:cNvSpPr>
            <a:spLocks noGrp="1"/>
          </p:cNvSpPr>
          <p:nvPr>
            <p:ph type="title"/>
          </p:nvPr>
        </p:nvSpPr>
        <p:spPr>
          <a:xfrm>
            <a:off x="546427" y="560582"/>
            <a:ext cx="8193024" cy="492443"/>
          </a:xfrm>
        </p:spPr>
        <p:txBody>
          <a:bodyPr>
            <a:normAutofit fontScale="90000"/>
          </a:bodyPr>
          <a:lstStyle/>
          <a:p>
            <a:r>
              <a:rPr lang="en-US" sz="3200" dirty="0">
                <a:latin typeface="Quattrocento Sans" panose="020B0502050000020003" pitchFamily="34" charset="0"/>
              </a:rPr>
              <a:t>Private</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66066" y="1358183"/>
            <a:ext cx="6983147" cy="158591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rPr>
              <a:t>When an action is in a private repository, only workflows in the same repository can use the action. With private actions, you can store the action's files in any location in your repository. If you plan to combine action, workflow, and application code in a single repository, we recommend storing the action in the </a:t>
            </a:r>
            <a:r>
              <a:rPr lang="en-US" sz="1800" b="0" i="0" dirty="0">
                <a:solidFill>
                  <a:srgbClr val="161616"/>
                </a:solidFill>
                <a:effectLst/>
                <a:highlight>
                  <a:srgbClr val="C0C0C0"/>
                </a:highlight>
                <a:latin typeface="Roboto Mono" pitchFamily="49" charset="0"/>
                <a:ea typeface="Roboto Mono" pitchFamily="49" charset="0"/>
              </a:rPr>
              <a:t>.</a:t>
            </a:r>
            <a:r>
              <a:rPr lang="en-US" sz="1800" b="0" i="0" dirty="0" err="1">
                <a:solidFill>
                  <a:srgbClr val="161616"/>
                </a:solidFill>
                <a:effectLst/>
                <a:highlight>
                  <a:srgbClr val="C0C0C0"/>
                </a:highlight>
                <a:latin typeface="Roboto Mono" pitchFamily="49" charset="0"/>
                <a:ea typeface="Roboto Mono" pitchFamily="49" charset="0"/>
              </a:rPr>
              <a:t>github</a:t>
            </a:r>
            <a:r>
              <a:rPr lang="en-US" sz="1800" b="0" i="0" dirty="0">
                <a:solidFill>
                  <a:srgbClr val="161616"/>
                </a:solidFill>
                <a:effectLst/>
                <a:latin typeface="Roboto Mono" pitchFamily="49" charset="0"/>
                <a:ea typeface="Roboto Mono" pitchFamily="49" charset="0"/>
              </a:rPr>
              <a:t> </a:t>
            </a:r>
            <a:r>
              <a:rPr lang="en-US" sz="2000" b="0" i="0" dirty="0">
                <a:solidFill>
                  <a:srgbClr val="161616"/>
                </a:solidFill>
                <a:effectLst/>
                <a:latin typeface="Quattrocento Sans" panose="020B0502050000020003" pitchFamily="34" charset="0"/>
              </a:rPr>
              <a:t>directory. For example, </a:t>
            </a:r>
            <a:r>
              <a:rPr lang="en-US" sz="1800" b="0" i="0" dirty="0">
                <a:solidFill>
                  <a:srgbClr val="161616"/>
                </a:solidFill>
                <a:effectLst/>
                <a:highlight>
                  <a:srgbClr val="C0C0C0"/>
                </a:highlight>
                <a:latin typeface="Roboto Mono" pitchFamily="49" charset="0"/>
                <a:ea typeface="Roboto Mono" pitchFamily="49" charset="0"/>
              </a:rPr>
              <a:t>.</a:t>
            </a:r>
            <a:r>
              <a:rPr lang="en-US" sz="1800" b="0" i="0" dirty="0" err="1">
                <a:solidFill>
                  <a:srgbClr val="161616"/>
                </a:solidFill>
                <a:effectLst/>
                <a:highlight>
                  <a:srgbClr val="C0C0C0"/>
                </a:highlight>
                <a:latin typeface="Roboto Mono" pitchFamily="49" charset="0"/>
                <a:ea typeface="Roboto Mono" pitchFamily="49" charset="0"/>
              </a:rPr>
              <a:t>github</a:t>
            </a:r>
            <a:r>
              <a:rPr lang="en-US" sz="1800" b="0" i="0" dirty="0">
                <a:solidFill>
                  <a:srgbClr val="161616"/>
                </a:solidFill>
                <a:effectLst/>
                <a:highlight>
                  <a:srgbClr val="C0C0C0"/>
                </a:highlight>
                <a:latin typeface="Roboto Mono" pitchFamily="49" charset="0"/>
                <a:ea typeface="Roboto Mono" pitchFamily="49" charset="0"/>
              </a:rPr>
              <a:t>/actions/action-a</a:t>
            </a:r>
            <a:r>
              <a:rPr lang="en-US" sz="2000" b="0" i="0" dirty="0">
                <a:solidFill>
                  <a:srgbClr val="161616"/>
                </a:solidFill>
                <a:effectLst/>
                <a:latin typeface="Quattrocento Sans" panose="020B0502050000020003" pitchFamily="34" charset="0"/>
              </a:rPr>
              <a:t> and </a:t>
            </a:r>
            <a:r>
              <a:rPr lang="en-US" sz="1800" b="0" i="0" dirty="0">
                <a:solidFill>
                  <a:srgbClr val="161616"/>
                </a:solidFill>
                <a:effectLst/>
                <a:highlight>
                  <a:srgbClr val="C0C0C0"/>
                </a:highlight>
                <a:latin typeface="Roboto Mono" pitchFamily="49" charset="0"/>
                <a:ea typeface="Roboto Mono" pitchFamily="49" charset="0"/>
              </a:rPr>
              <a:t>.</a:t>
            </a:r>
            <a:r>
              <a:rPr lang="en-US" sz="1800" b="0" i="0" dirty="0" err="1">
                <a:solidFill>
                  <a:srgbClr val="161616"/>
                </a:solidFill>
                <a:effectLst/>
                <a:highlight>
                  <a:srgbClr val="C0C0C0"/>
                </a:highlight>
                <a:latin typeface="Roboto Mono" pitchFamily="49" charset="0"/>
                <a:ea typeface="Roboto Mono" pitchFamily="49" charset="0"/>
              </a:rPr>
              <a:t>github</a:t>
            </a:r>
            <a:r>
              <a:rPr lang="en-US" sz="1800" b="0" i="0" dirty="0">
                <a:solidFill>
                  <a:srgbClr val="161616"/>
                </a:solidFill>
                <a:effectLst/>
                <a:highlight>
                  <a:srgbClr val="C0C0C0"/>
                </a:highlight>
                <a:latin typeface="Roboto Mono" pitchFamily="49" charset="0"/>
                <a:ea typeface="Roboto Mono" pitchFamily="49" charset="0"/>
              </a:rPr>
              <a:t>/actions/action-b</a:t>
            </a:r>
            <a:r>
              <a:rPr lang="en-US" sz="2000" b="0" i="0" dirty="0">
                <a:solidFill>
                  <a:srgbClr val="161616"/>
                </a:solidFill>
                <a:effectLst/>
                <a:latin typeface="Quattrocento Sans" panose="020B0502050000020003" pitchFamily="34" charset="0"/>
              </a:rPr>
              <a:t>.</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2750603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560582"/>
            <a:ext cx="8193024" cy="492443"/>
          </a:xfrm>
        </p:spPr>
        <p:txBody>
          <a:bodyPr>
            <a:normAutofit fontScale="90000"/>
          </a:bodyPr>
          <a:lstStyle/>
          <a:p>
            <a:r>
              <a:rPr lang="en-US" sz="3200" dirty="0">
                <a:latin typeface="Quattrocento Sans" panose="020B0502050000020003" pitchFamily="34" charset="0"/>
              </a:rPr>
              <a:t>Document your action</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77457" y="2906455"/>
            <a:ext cx="10837086" cy="158591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rPr>
              <a:t>It can be very frustrating to use a new tool or application when the documentation is vague or even missing. It's important to include good documentation with your action so that others can see how it works, whether you plan to make it public or private. The first thing to do is create a good </a:t>
            </a:r>
            <a:r>
              <a:rPr lang="en-US" sz="1800" b="0" i="0" dirty="0" err="1">
                <a:solidFill>
                  <a:srgbClr val="161616"/>
                </a:solidFill>
                <a:effectLst/>
                <a:highlight>
                  <a:srgbClr val="C0C0C0"/>
                </a:highlight>
                <a:latin typeface="Roboto Mono" pitchFamily="49" charset="0"/>
                <a:ea typeface="Roboto Mono" pitchFamily="49" charset="0"/>
              </a:rPr>
              <a:t>README.md</a:t>
            </a:r>
            <a:r>
              <a:rPr lang="en-US" sz="1800" b="0" i="0" dirty="0">
                <a:solidFill>
                  <a:srgbClr val="161616"/>
                </a:solidFill>
                <a:effectLst/>
                <a:highlight>
                  <a:srgbClr val="C0C0C0"/>
                </a:highlight>
                <a:latin typeface="Roboto Mono" pitchFamily="49" charset="0"/>
                <a:ea typeface="Roboto Mono" pitchFamily="49" charset="0"/>
              </a:rPr>
              <a:t> </a:t>
            </a:r>
            <a:r>
              <a:rPr lang="en-US" sz="2000" b="0" i="0" dirty="0">
                <a:solidFill>
                  <a:srgbClr val="161616"/>
                </a:solidFill>
                <a:effectLst/>
                <a:latin typeface="Quattrocento Sans" panose="020B0502050000020003" pitchFamily="34" charset="0"/>
              </a:rPr>
              <a:t>file for your action.</a:t>
            </a:r>
          </a:p>
          <a:p>
            <a:pPr marL="0" indent="0" algn="just">
              <a:spcAft>
                <a:spcPts val="600"/>
              </a:spcAft>
              <a:buNone/>
            </a:pPr>
            <a:r>
              <a:rPr lang="en-US" sz="2000" b="0" i="0" dirty="0">
                <a:solidFill>
                  <a:srgbClr val="161616"/>
                </a:solidFill>
                <a:effectLst/>
                <a:latin typeface="Quattrocento Sans" panose="020B0502050000020003" pitchFamily="34" charset="0"/>
              </a:rPr>
              <a:t>The </a:t>
            </a:r>
            <a:r>
              <a:rPr lang="en-US" sz="1800" b="0" i="0" dirty="0" err="1">
                <a:solidFill>
                  <a:srgbClr val="161616"/>
                </a:solidFill>
                <a:effectLst/>
                <a:highlight>
                  <a:srgbClr val="C0C0C0"/>
                </a:highlight>
                <a:latin typeface="Roboto Mono" pitchFamily="49" charset="0"/>
                <a:ea typeface="Roboto Mono" pitchFamily="49" charset="0"/>
              </a:rPr>
              <a:t>README.md</a:t>
            </a:r>
            <a:r>
              <a:rPr lang="en-US" sz="1800" b="0" i="0" dirty="0">
                <a:solidFill>
                  <a:srgbClr val="161616"/>
                </a:solidFill>
                <a:effectLst/>
                <a:latin typeface="Roboto Mono" pitchFamily="49" charset="0"/>
                <a:ea typeface="Roboto Mono" pitchFamily="49" charset="0"/>
              </a:rPr>
              <a:t> </a:t>
            </a:r>
            <a:r>
              <a:rPr lang="en-US" sz="2000" b="0" i="0" dirty="0">
                <a:solidFill>
                  <a:srgbClr val="161616"/>
                </a:solidFill>
                <a:effectLst/>
                <a:latin typeface="Quattrocento Sans" panose="020B0502050000020003" pitchFamily="34" charset="0"/>
              </a:rPr>
              <a:t>file is often the first place developers will look at to see how the action works. This is a great place to include all of the important information for the action. The following is a non-exhaustive list of things to include:</a:t>
            </a:r>
          </a:p>
          <a:p>
            <a:pPr lvl="1" algn="just"/>
            <a:r>
              <a:rPr lang="en-US" sz="1800" b="0" i="0" dirty="0">
                <a:solidFill>
                  <a:srgbClr val="161616"/>
                </a:solidFill>
                <a:effectLst/>
                <a:latin typeface="Quattrocento Sans" panose="020B0502050000020003" pitchFamily="34" charset="0"/>
              </a:rPr>
              <a:t>A detailed description of what the action does.</a:t>
            </a:r>
          </a:p>
          <a:p>
            <a:pPr lvl="1" algn="just"/>
            <a:r>
              <a:rPr lang="en-US" sz="1800" b="0" i="0" dirty="0">
                <a:solidFill>
                  <a:srgbClr val="161616"/>
                </a:solidFill>
                <a:effectLst/>
                <a:latin typeface="Quattrocento Sans" panose="020B0502050000020003" pitchFamily="34" charset="0"/>
              </a:rPr>
              <a:t>Required input and output arguments.</a:t>
            </a:r>
          </a:p>
          <a:p>
            <a:pPr lvl="1" algn="just"/>
            <a:r>
              <a:rPr lang="en-US" sz="1800" b="0" i="0" dirty="0">
                <a:solidFill>
                  <a:srgbClr val="161616"/>
                </a:solidFill>
                <a:effectLst/>
                <a:latin typeface="Quattrocento Sans" panose="020B0502050000020003" pitchFamily="34" charset="0"/>
              </a:rPr>
              <a:t>Optional input and output arguments.</a:t>
            </a:r>
          </a:p>
          <a:p>
            <a:pPr lvl="1" algn="just"/>
            <a:r>
              <a:rPr lang="en-US" sz="1800" b="0" i="0" dirty="0">
                <a:solidFill>
                  <a:srgbClr val="161616"/>
                </a:solidFill>
                <a:effectLst/>
                <a:latin typeface="Quattrocento Sans" panose="020B0502050000020003" pitchFamily="34" charset="0"/>
              </a:rPr>
              <a:t>Secrets the action uses.</a:t>
            </a:r>
          </a:p>
          <a:p>
            <a:pPr lvl="1" algn="just"/>
            <a:r>
              <a:rPr lang="en-US" sz="1800" b="0" i="0" dirty="0">
                <a:solidFill>
                  <a:srgbClr val="161616"/>
                </a:solidFill>
                <a:effectLst/>
                <a:latin typeface="Quattrocento Sans" panose="020B0502050000020003" pitchFamily="34" charset="0"/>
              </a:rPr>
              <a:t>Environment variables the action uses.</a:t>
            </a:r>
          </a:p>
          <a:p>
            <a:pPr lvl="1" algn="just">
              <a:spcAft>
                <a:spcPts val="600"/>
              </a:spcAft>
            </a:pPr>
            <a:r>
              <a:rPr lang="en-US" sz="1800" b="0" i="0" dirty="0">
                <a:solidFill>
                  <a:srgbClr val="161616"/>
                </a:solidFill>
                <a:effectLst/>
                <a:latin typeface="Quattrocento Sans" panose="020B0502050000020003" pitchFamily="34" charset="0"/>
              </a:rPr>
              <a:t>An example of how to use your action in a workflow.</a:t>
            </a:r>
          </a:p>
          <a:p>
            <a:pPr marL="0" indent="0" algn="just">
              <a:buNone/>
            </a:pPr>
            <a:r>
              <a:rPr lang="en-US" sz="2000" b="0" i="0" dirty="0">
                <a:solidFill>
                  <a:srgbClr val="161616"/>
                </a:solidFill>
                <a:effectLst/>
                <a:latin typeface="Quattrocento Sans" panose="020B0502050000020003" pitchFamily="34" charset="0"/>
              </a:rPr>
              <a:t>As a general rule, the </a:t>
            </a:r>
            <a:r>
              <a:rPr lang="en-US" sz="1800" b="0" i="0" dirty="0" err="1">
                <a:solidFill>
                  <a:srgbClr val="161616"/>
                </a:solidFill>
                <a:effectLst/>
                <a:highlight>
                  <a:srgbClr val="C0C0C0"/>
                </a:highlight>
                <a:latin typeface="Roboto Mono" pitchFamily="49" charset="0"/>
                <a:ea typeface="Roboto Mono" pitchFamily="49" charset="0"/>
              </a:rPr>
              <a:t>README.md</a:t>
            </a:r>
            <a:r>
              <a:rPr lang="en-US" sz="2000" b="0" i="0" dirty="0">
                <a:solidFill>
                  <a:srgbClr val="161616"/>
                </a:solidFill>
                <a:effectLst/>
                <a:latin typeface="Quattrocento Sans" panose="020B0502050000020003" pitchFamily="34" charset="0"/>
              </a:rPr>
              <a:t> file should include everything a user should know to use the action. If you think it could be useful information, include it in the </a:t>
            </a:r>
            <a:r>
              <a:rPr lang="en-US" sz="1800" b="0" i="0" dirty="0" err="1">
                <a:solidFill>
                  <a:srgbClr val="161616"/>
                </a:solidFill>
                <a:effectLst/>
                <a:highlight>
                  <a:srgbClr val="C0C0C0"/>
                </a:highlight>
                <a:latin typeface="Roboto Mono" pitchFamily="49" charset="0"/>
                <a:ea typeface="Roboto Mono" pitchFamily="49" charset="0"/>
              </a:rPr>
              <a:t>README.md</a:t>
            </a:r>
            <a:r>
              <a:rPr lang="en-US" sz="2000" b="0" i="0" dirty="0">
                <a:solidFill>
                  <a:srgbClr val="161616"/>
                </a:solidFill>
                <a:effectLst/>
                <a:latin typeface="Quattrocento Sans" panose="020B0502050000020003" pitchFamily="34" charset="0"/>
              </a:rPr>
              <a:t>.</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1801609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560582"/>
            <a:ext cx="8193024" cy="492443"/>
          </a:xfrm>
        </p:spPr>
        <p:txBody>
          <a:bodyPr>
            <a:normAutofit fontScale="90000"/>
          </a:bodyPr>
          <a:lstStyle/>
          <a:p>
            <a:r>
              <a:rPr lang="en-US" sz="3200" dirty="0">
                <a:latin typeface="Quattrocento Sans" panose="020B0502050000020003" pitchFamily="34" charset="0"/>
              </a:rPr>
              <a:t>Release and version your action</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77457" y="1236681"/>
            <a:ext cx="10837086" cy="1168588"/>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rPr>
              <a:t>If you're developing an action for other people to use, whether it's public or private, you should define a release-management strategy to control how updates are distributed. Major version updates including necessary critical fixes and security patches that affect compatibility need to be documented clearly.</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Title 16">
            <a:extLst>
              <a:ext uri="{FF2B5EF4-FFF2-40B4-BE49-F238E27FC236}">
                <a16:creationId xmlns:a16="http://schemas.microsoft.com/office/drawing/2014/main" id="{2B17E6B3-2609-CEB1-6F43-B340F22783E1}"/>
              </a:ext>
            </a:extLst>
          </p:cNvPr>
          <p:cNvSpPr txBox="1">
            <a:spLocks/>
          </p:cNvSpPr>
          <p:nvPr/>
        </p:nvSpPr>
        <p:spPr>
          <a:xfrm>
            <a:off x="546427" y="2814710"/>
            <a:ext cx="8193024" cy="492443"/>
          </a:xfrm>
          <a:prstGeom prst="rect">
            <a:avLst/>
          </a:prstGeom>
        </p:spPr>
        <p:txBody>
          <a:bodyPr vert="horz" lIns="91440" tIns="45720" rIns="91440" bIns="45720" rtlCol="0" anchor="ctr">
            <a:normAutofit fontScale="82500" lnSpcReduction="10000"/>
          </a:bodyPr>
          <a:lstStyle>
            <a:lvl1pPr algn="l" defTabSz="914400" rtl="0" eaLnBrk="1" latinLnBrk="0" hangingPunct="1">
              <a:lnSpc>
                <a:spcPct val="90000"/>
              </a:lnSpc>
              <a:spcBef>
                <a:spcPct val="0"/>
              </a:spcBef>
              <a:buNone/>
              <a:defRPr sz="2400" b="0" i="0" kern="1200">
                <a:solidFill>
                  <a:schemeClr val="tx1"/>
                </a:solidFill>
                <a:latin typeface="+mj-lt"/>
                <a:ea typeface="+mj-ea"/>
                <a:cs typeface="Segoe UI Semibold" panose="020B0502040204020203" pitchFamily="34" charset="0"/>
              </a:defRPr>
            </a:lvl1pPr>
          </a:lstStyle>
          <a:p>
            <a:r>
              <a:rPr lang="en-US" sz="3200" dirty="0">
                <a:latin typeface="Quattrocento Sans" panose="020B0502050000020003" pitchFamily="34" charset="0"/>
              </a:rPr>
              <a:t>Good practices for release and version management</a:t>
            </a:r>
          </a:p>
        </p:txBody>
      </p:sp>
      <p:sp>
        <p:nvSpPr>
          <p:cNvPr id="4" name="Text Placeholder 2">
            <a:extLst>
              <a:ext uri="{FF2B5EF4-FFF2-40B4-BE49-F238E27FC236}">
                <a16:creationId xmlns:a16="http://schemas.microsoft.com/office/drawing/2014/main" id="{1C1BF4E8-9A37-201B-9112-FB1676AC3CF7}"/>
              </a:ext>
            </a:extLst>
          </p:cNvPr>
          <p:cNvSpPr txBox="1">
            <a:spLocks/>
          </p:cNvSpPr>
          <p:nvPr/>
        </p:nvSpPr>
        <p:spPr>
          <a:xfrm>
            <a:off x="677457" y="3493386"/>
            <a:ext cx="10837086" cy="1168588"/>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rPr>
              <a:t>If you're developing an action for other people to use, whether it's public or private, you should define a release-management strategy to control how updates are distributed. Major version updates including necessary critical fixes and security patches that affect compatibility need to be documented clearly.</a:t>
            </a:r>
          </a:p>
          <a:p>
            <a:pPr marL="0" indent="0" algn="just">
              <a:spcAft>
                <a:spcPts val="600"/>
              </a:spcAft>
              <a:buNone/>
            </a:pPr>
            <a:endParaRPr lang="en-US" sz="2000" b="0" i="0" dirty="0">
              <a:solidFill>
                <a:srgbClr val="161616"/>
              </a:solidFill>
              <a:effectLst/>
              <a:latin typeface="Quattrocento Sans" panose="020B0502050000020003" pitchFamily="34" charset="0"/>
            </a:endParaRPr>
          </a:p>
        </p:txBody>
      </p:sp>
    </p:spTree>
    <p:extLst>
      <p:ext uri="{BB962C8B-B14F-4D97-AF65-F5344CB8AC3E}">
        <p14:creationId xmlns:p14="http://schemas.microsoft.com/office/powerpoint/2010/main" val="2181613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560582"/>
            <a:ext cx="8193024" cy="492443"/>
          </a:xfrm>
        </p:spPr>
        <p:txBody>
          <a:bodyPr>
            <a:normAutofit fontScale="90000"/>
          </a:bodyPr>
          <a:lstStyle/>
          <a:p>
            <a:r>
              <a:rPr lang="en-US" sz="3200" dirty="0">
                <a:latin typeface="Quattrocento Sans" panose="020B0502050000020003" pitchFamily="34" charset="0"/>
              </a:rPr>
              <a:t>Tags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77457" y="2568466"/>
            <a:ext cx="10837086" cy="1168588"/>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rPr>
              <a:t>Tags can be a good way to manage releases for an action. By using tags, users can easily distinguish between major and minor versions. The following is a list of helpful practices to consider when creating releases:</a:t>
            </a:r>
          </a:p>
          <a:p>
            <a:pPr lvl="1" algn="just">
              <a:spcAft>
                <a:spcPts val="600"/>
              </a:spcAft>
            </a:pPr>
            <a:r>
              <a:rPr lang="en-US" sz="1800" b="0" i="0" dirty="0">
                <a:solidFill>
                  <a:srgbClr val="161616"/>
                </a:solidFill>
                <a:effectLst/>
                <a:latin typeface="Quattrocento Sans" panose="020B0502050000020003" pitchFamily="34" charset="0"/>
              </a:rPr>
              <a:t>Create and validate a release on a release branch (such as release/v1) before creating the release tag (for example, v1.0.2).</a:t>
            </a:r>
          </a:p>
          <a:p>
            <a:pPr lvl="1" algn="just">
              <a:spcAft>
                <a:spcPts val="600"/>
              </a:spcAft>
            </a:pPr>
            <a:r>
              <a:rPr lang="en-US" sz="1800" b="0" i="0" dirty="0">
                <a:solidFill>
                  <a:srgbClr val="161616"/>
                </a:solidFill>
                <a:effectLst/>
                <a:latin typeface="Quattrocento Sans" panose="020B0502050000020003" pitchFamily="34" charset="0"/>
              </a:rPr>
              <a:t>Use semantic versioning.</a:t>
            </a:r>
          </a:p>
          <a:p>
            <a:pPr lvl="1" algn="just">
              <a:spcAft>
                <a:spcPts val="600"/>
              </a:spcAft>
            </a:pPr>
            <a:r>
              <a:rPr lang="en-US" sz="1800" b="0" i="0" dirty="0">
                <a:solidFill>
                  <a:srgbClr val="161616"/>
                </a:solidFill>
                <a:effectLst/>
                <a:latin typeface="Quattrocento Sans" panose="020B0502050000020003" pitchFamily="34" charset="0"/>
              </a:rPr>
              <a:t>Move the major version tag (such as v1, v2) to point to the Git ref of the current release.</a:t>
            </a:r>
          </a:p>
          <a:p>
            <a:pPr lvl="1" algn="just">
              <a:spcAft>
                <a:spcPts val="600"/>
              </a:spcAft>
            </a:pPr>
            <a:r>
              <a:rPr lang="en-US" sz="1800" b="0" i="0" dirty="0">
                <a:solidFill>
                  <a:srgbClr val="161616"/>
                </a:solidFill>
                <a:effectLst/>
                <a:latin typeface="Quattrocento Sans" panose="020B0502050000020003" pitchFamily="34" charset="0"/>
              </a:rPr>
              <a:t>Introduce a new major version tag (v2) for changes that will break existing workflows.</a:t>
            </a:r>
          </a:p>
          <a:p>
            <a:pPr lvl="1" algn="just">
              <a:spcAft>
                <a:spcPts val="600"/>
              </a:spcAft>
            </a:pPr>
            <a:r>
              <a:rPr lang="en-US" sz="1800" b="0" i="0" dirty="0">
                <a:solidFill>
                  <a:srgbClr val="161616"/>
                </a:solidFill>
                <a:effectLst/>
                <a:latin typeface="Quattrocento Sans" panose="020B0502050000020003" pitchFamily="34" charset="0"/>
              </a:rPr>
              <a:t>Release major versions with a beta tag to indicate their status; for example, v2-beta. You can remove the -beta tag when the release is ready.</a:t>
            </a:r>
          </a:p>
          <a:p>
            <a:pPr marL="0" indent="0" algn="just">
              <a:spcAft>
                <a:spcPts val="600"/>
              </a:spcAft>
              <a:buNone/>
            </a:pPr>
            <a:r>
              <a:rPr lang="en-US" sz="2000" b="0" i="0" dirty="0">
                <a:solidFill>
                  <a:srgbClr val="161616"/>
                </a:solidFill>
                <a:effectLst/>
                <a:latin typeface="Quattrocento Sans" panose="020B0502050000020003" pitchFamily="34" charset="0"/>
              </a:rPr>
              <a:t>Here are some examples of each option.</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pic>
        <p:nvPicPr>
          <p:cNvPr id="6" name="Picture 5" descr="A close-up of a computer code&#10;&#10;Description automatically generated">
            <a:extLst>
              <a:ext uri="{FF2B5EF4-FFF2-40B4-BE49-F238E27FC236}">
                <a16:creationId xmlns:a16="http://schemas.microsoft.com/office/drawing/2014/main" id="{F8C1E005-198D-7AFD-91D3-C962CC781089}"/>
              </a:ext>
            </a:extLst>
          </p:cNvPr>
          <p:cNvPicPr>
            <a:picLocks noChangeAspect="1"/>
          </p:cNvPicPr>
          <p:nvPr/>
        </p:nvPicPr>
        <p:blipFill>
          <a:blip r:embed="rId3"/>
          <a:stretch>
            <a:fillRect/>
          </a:stretch>
        </p:blipFill>
        <p:spPr>
          <a:xfrm>
            <a:off x="5431536" y="4444833"/>
            <a:ext cx="6181026" cy="2144742"/>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15754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560582"/>
            <a:ext cx="8193024" cy="492443"/>
          </a:xfrm>
        </p:spPr>
        <p:txBody>
          <a:bodyPr>
            <a:normAutofit fontScale="90000"/>
          </a:bodyPr>
          <a:lstStyle/>
          <a:p>
            <a:r>
              <a:rPr lang="en-US" sz="3200" dirty="0">
                <a:latin typeface="Quattrocento Sans" panose="020B0502050000020003" pitchFamily="34" charset="0"/>
              </a:rPr>
              <a:t>Use a commit's SHA</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77457" y="1580341"/>
            <a:ext cx="10837086" cy="1168588"/>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rPr>
              <a:t>Tags are useful and widely used, but one downside to using tags is that they can be deleted or moved. With Git, each commit receives a calculated SHA value, which is unique and can't be modified. Using a commit SHA for versioning will give you the most reliable and secure way to version and use an action. However, often in Git you can abbreviate the SHA hash to the first several characters, and Git will recognize the reference. If you're using the commit's SHA for release management, you need to use the full SHA value and not the abbreviated value.</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pic>
        <p:nvPicPr>
          <p:cNvPr id="4" name="Picture 3" descr="A close-up of a number&#10;&#10;Description automatically generated">
            <a:extLst>
              <a:ext uri="{FF2B5EF4-FFF2-40B4-BE49-F238E27FC236}">
                <a16:creationId xmlns:a16="http://schemas.microsoft.com/office/drawing/2014/main" id="{0AD13D77-480A-E518-ABA7-95ABFB85D59A}"/>
              </a:ext>
            </a:extLst>
          </p:cNvPr>
          <p:cNvPicPr>
            <a:picLocks noChangeAspect="1"/>
          </p:cNvPicPr>
          <p:nvPr/>
        </p:nvPicPr>
        <p:blipFill>
          <a:blip r:embed="rId3"/>
          <a:stretch>
            <a:fillRect/>
          </a:stretch>
        </p:blipFill>
        <p:spPr>
          <a:xfrm>
            <a:off x="677457" y="3230525"/>
            <a:ext cx="10837086" cy="1624774"/>
          </a:xfrm>
          <a:prstGeom prst="rect">
            <a:avLst/>
          </a:prstGeom>
        </p:spPr>
      </p:pic>
    </p:spTree>
    <p:extLst>
      <p:ext uri="{BB962C8B-B14F-4D97-AF65-F5344CB8AC3E}">
        <p14:creationId xmlns:p14="http://schemas.microsoft.com/office/powerpoint/2010/main" val="3818028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Publish an action to the GitHub Marketplace</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pic>
        <p:nvPicPr>
          <p:cNvPr id="1026" name="Picture 2" descr="Rendering that says GitHub Marketplace, tools to build on and improve your workflow.">
            <a:extLst>
              <a:ext uri="{FF2B5EF4-FFF2-40B4-BE49-F238E27FC236}">
                <a16:creationId xmlns:a16="http://schemas.microsoft.com/office/drawing/2014/main" id="{C28FFB0B-3B67-29C7-36E0-D236049DA3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194" y="860224"/>
            <a:ext cx="9766830" cy="5111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468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6" y="367781"/>
            <a:ext cx="9329093" cy="492443"/>
          </a:xfrm>
        </p:spPr>
        <p:txBody>
          <a:bodyPr>
            <a:normAutofit fontScale="90000"/>
          </a:bodyPr>
          <a:lstStyle/>
          <a:p>
            <a:r>
              <a:rPr lang="en-US" sz="3200" dirty="0">
                <a:latin typeface="Quattrocento Sans" panose="020B0502050000020003" pitchFamily="34" charset="0"/>
              </a:rPr>
              <a:t>Publish an action to the GitHub Marketplace </a:t>
            </a:r>
            <a:r>
              <a:rPr lang="en-US" sz="2700" dirty="0">
                <a:latin typeface="Quattrocento Sans" panose="020B0502050000020003" pitchFamily="34" charset="0"/>
              </a:rPr>
              <a:t>(continued)</a:t>
            </a:r>
            <a:endParaRPr lang="en-US" sz="3200" dirty="0">
              <a:latin typeface="Quattrocento Sans" panose="020B0502050000020003" pitchFamily="34" charset="0"/>
            </a:endParaRP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Text Placeholder 2">
            <a:extLst>
              <a:ext uri="{FF2B5EF4-FFF2-40B4-BE49-F238E27FC236}">
                <a16:creationId xmlns:a16="http://schemas.microsoft.com/office/drawing/2014/main" id="{1C6DC5CC-ABD0-2E12-5B9A-C3A693C98F0B}"/>
              </a:ext>
            </a:extLst>
          </p:cNvPr>
          <p:cNvSpPr txBox="1">
            <a:spLocks/>
          </p:cNvSpPr>
          <p:nvPr/>
        </p:nvSpPr>
        <p:spPr>
          <a:xfrm>
            <a:off x="677457" y="2679192"/>
            <a:ext cx="10514799" cy="1168588"/>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rPr>
              <a:t>Following are the requirements to publish an action to the GitHub Marketplace. They apply to both Docker container-based actions and JavaScript-based actions:</a:t>
            </a:r>
          </a:p>
          <a:p>
            <a:pPr lvl="1" algn="just">
              <a:spcAft>
                <a:spcPts val="600"/>
              </a:spcAft>
            </a:pPr>
            <a:r>
              <a:rPr lang="en-US" sz="1800" b="0" i="0" dirty="0">
                <a:solidFill>
                  <a:srgbClr val="161616"/>
                </a:solidFill>
                <a:effectLst/>
                <a:latin typeface="Quattrocento Sans" panose="020B0502050000020003" pitchFamily="34" charset="0"/>
              </a:rPr>
              <a:t>The action must be in a public repository.</a:t>
            </a:r>
          </a:p>
          <a:p>
            <a:pPr lvl="1" algn="just">
              <a:spcAft>
                <a:spcPts val="600"/>
              </a:spcAft>
            </a:pPr>
            <a:r>
              <a:rPr lang="en-US" sz="1800" b="0" i="0" dirty="0">
                <a:solidFill>
                  <a:srgbClr val="161616"/>
                </a:solidFill>
                <a:effectLst/>
                <a:latin typeface="Quattrocento Sans" panose="020B0502050000020003" pitchFamily="34" charset="0"/>
              </a:rPr>
              <a:t>Each repository must contain a single action.</a:t>
            </a:r>
          </a:p>
          <a:p>
            <a:pPr lvl="1" algn="just">
              <a:spcAft>
                <a:spcPts val="600"/>
              </a:spcAft>
            </a:pPr>
            <a:r>
              <a:rPr lang="en-US" sz="1800" b="0" i="0" dirty="0">
                <a:solidFill>
                  <a:srgbClr val="161616"/>
                </a:solidFill>
                <a:effectLst/>
                <a:latin typeface="Quattrocento Sans" panose="020B0502050000020003" pitchFamily="34" charset="0"/>
              </a:rPr>
              <a:t>The action's metadata file (</a:t>
            </a:r>
            <a:r>
              <a:rPr lang="en-US" sz="1600" b="0" i="0" dirty="0" err="1">
                <a:solidFill>
                  <a:srgbClr val="161616"/>
                </a:solidFill>
                <a:effectLst/>
                <a:highlight>
                  <a:srgbClr val="C0C0C0"/>
                </a:highlight>
                <a:latin typeface="Roboto Mono" pitchFamily="49" charset="0"/>
                <a:ea typeface="Roboto Mono" pitchFamily="49" charset="0"/>
              </a:rPr>
              <a:t>action.yml</a:t>
            </a:r>
            <a:r>
              <a:rPr lang="en-US" sz="1800" b="0" i="0" dirty="0">
                <a:solidFill>
                  <a:srgbClr val="161616"/>
                </a:solidFill>
                <a:effectLst/>
                <a:latin typeface="Quattrocento Sans" panose="020B0502050000020003" pitchFamily="34" charset="0"/>
              </a:rPr>
              <a:t> or </a:t>
            </a:r>
            <a:r>
              <a:rPr lang="en-US" sz="1600" b="0" i="0" dirty="0" err="1">
                <a:solidFill>
                  <a:srgbClr val="161616"/>
                </a:solidFill>
                <a:effectLst/>
                <a:highlight>
                  <a:srgbClr val="C0C0C0"/>
                </a:highlight>
                <a:latin typeface="Roboto Mono" pitchFamily="49" charset="0"/>
                <a:ea typeface="Roboto Mono" pitchFamily="49" charset="0"/>
              </a:rPr>
              <a:t>action.yaml</a:t>
            </a:r>
            <a:r>
              <a:rPr lang="en-US" sz="1800" b="0" i="0" dirty="0">
                <a:solidFill>
                  <a:srgbClr val="161616"/>
                </a:solidFill>
                <a:effectLst/>
                <a:latin typeface="Quattrocento Sans" panose="020B0502050000020003" pitchFamily="34" charset="0"/>
              </a:rPr>
              <a:t>) must be in the root directory of the repository.</a:t>
            </a:r>
          </a:p>
          <a:p>
            <a:pPr lvl="1" algn="just">
              <a:spcAft>
                <a:spcPts val="600"/>
              </a:spcAft>
            </a:pPr>
            <a:r>
              <a:rPr lang="en-US" sz="1800" b="0" i="0" dirty="0">
                <a:solidFill>
                  <a:srgbClr val="161616"/>
                </a:solidFill>
                <a:effectLst/>
                <a:latin typeface="Quattrocento Sans" panose="020B0502050000020003" pitchFamily="34" charset="0"/>
              </a:rPr>
              <a:t>The </a:t>
            </a:r>
            <a:r>
              <a:rPr lang="en-US" sz="1600" b="0" i="0" dirty="0">
                <a:solidFill>
                  <a:srgbClr val="161616"/>
                </a:solidFill>
                <a:effectLst/>
                <a:highlight>
                  <a:srgbClr val="C0C0C0"/>
                </a:highlight>
                <a:latin typeface="Roboto Mono" pitchFamily="49" charset="0"/>
                <a:ea typeface="Roboto Mono" pitchFamily="49" charset="0"/>
              </a:rPr>
              <a:t>name</a:t>
            </a:r>
            <a:r>
              <a:rPr lang="en-US" sz="1800" b="0" i="0" dirty="0">
                <a:solidFill>
                  <a:srgbClr val="161616"/>
                </a:solidFill>
                <a:effectLst/>
                <a:latin typeface="Quattrocento Sans" panose="020B0502050000020003" pitchFamily="34" charset="0"/>
              </a:rPr>
              <a:t> in the action's metadata file must be unique on the GitHub Marketplace.</a:t>
            </a:r>
          </a:p>
          <a:p>
            <a:pPr lvl="2" algn="just">
              <a:spcAft>
                <a:spcPts val="600"/>
              </a:spcAft>
              <a:buFont typeface="Courier New" panose="02070309020205020404" pitchFamily="49" charset="0"/>
              <a:buChar char="o"/>
            </a:pPr>
            <a:r>
              <a:rPr lang="en-US" sz="1800" b="0" i="0" dirty="0">
                <a:solidFill>
                  <a:srgbClr val="161616"/>
                </a:solidFill>
                <a:effectLst/>
                <a:latin typeface="Quattrocento Sans" panose="020B0502050000020003" pitchFamily="34" charset="0"/>
              </a:rPr>
              <a:t>The name can't match a user or organization on GitHub, unless the user or organization owner is publishing the action. For example, only the GitHub organization can publish an action named </a:t>
            </a:r>
            <a:r>
              <a:rPr lang="en-US" sz="1600" b="0" i="0" dirty="0" err="1">
                <a:solidFill>
                  <a:srgbClr val="161616"/>
                </a:solidFill>
                <a:effectLst/>
                <a:highlight>
                  <a:srgbClr val="C0C0C0"/>
                </a:highlight>
                <a:latin typeface="Roboto Mono" pitchFamily="49" charset="0"/>
                <a:ea typeface="Roboto Mono" pitchFamily="49" charset="0"/>
              </a:rPr>
              <a:t>github</a:t>
            </a:r>
            <a:r>
              <a:rPr lang="en-US" sz="1600" b="0" i="0" dirty="0">
                <a:solidFill>
                  <a:srgbClr val="161616"/>
                </a:solidFill>
                <a:effectLst/>
                <a:highlight>
                  <a:srgbClr val="C0C0C0"/>
                </a:highlight>
                <a:latin typeface="Roboto Mono" pitchFamily="49" charset="0"/>
                <a:ea typeface="Roboto Mono" pitchFamily="49" charset="0"/>
              </a:rPr>
              <a:t>.</a:t>
            </a:r>
            <a:endParaRPr lang="en-US" sz="1800" b="0" i="0" dirty="0">
              <a:solidFill>
                <a:srgbClr val="161616"/>
              </a:solidFill>
              <a:effectLst/>
              <a:highlight>
                <a:srgbClr val="C0C0C0"/>
              </a:highlight>
              <a:latin typeface="Roboto Mono" pitchFamily="49" charset="0"/>
              <a:ea typeface="Roboto Mono" pitchFamily="49" charset="0"/>
            </a:endParaRPr>
          </a:p>
          <a:p>
            <a:pPr lvl="2" algn="just">
              <a:spcAft>
                <a:spcPts val="600"/>
              </a:spcAft>
              <a:buFont typeface="Courier New" panose="02070309020205020404" pitchFamily="49" charset="0"/>
              <a:buChar char="o"/>
            </a:pPr>
            <a:r>
              <a:rPr lang="en-US" sz="1800" b="0" i="0" dirty="0">
                <a:solidFill>
                  <a:srgbClr val="161616"/>
                </a:solidFill>
                <a:effectLst/>
                <a:latin typeface="Quattrocento Sans" panose="020B0502050000020003" pitchFamily="34" charset="0"/>
              </a:rPr>
              <a:t>The </a:t>
            </a:r>
            <a:r>
              <a:rPr lang="en-US" sz="1800" b="0" i="0" dirty="0">
                <a:solidFill>
                  <a:srgbClr val="161616"/>
                </a:solidFill>
                <a:effectLst/>
                <a:highlight>
                  <a:srgbClr val="C0C0C0"/>
                </a:highlight>
                <a:latin typeface="Roboto Mono" pitchFamily="49" charset="0"/>
                <a:ea typeface="Roboto Mono" pitchFamily="49" charset="0"/>
              </a:rPr>
              <a:t>name</a:t>
            </a:r>
            <a:r>
              <a:rPr lang="en-US" sz="1800" b="0" i="0" dirty="0">
                <a:solidFill>
                  <a:srgbClr val="161616"/>
                </a:solidFill>
                <a:effectLst/>
                <a:latin typeface="Quattrocento Sans" panose="020B0502050000020003" pitchFamily="34" charset="0"/>
              </a:rPr>
              <a:t> can't match an existing GitHub Marketplace category.</a:t>
            </a:r>
          </a:p>
          <a:p>
            <a:pPr lvl="2" algn="just">
              <a:spcAft>
                <a:spcPts val="600"/>
              </a:spcAft>
              <a:buFont typeface="Courier New" panose="02070309020205020404" pitchFamily="49" charset="0"/>
              <a:buChar char="o"/>
            </a:pPr>
            <a:r>
              <a:rPr lang="en-US" sz="1800" b="0" i="0" dirty="0">
                <a:solidFill>
                  <a:srgbClr val="161616"/>
                </a:solidFill>
                <a:effectLst/>
                <a:latin typeface="Quattrocento Sans" panose="020B0502050000020003" pitchFamily="34" charset="0"/>
              </a:rPr>
              <a:t>The </a:t>
            </a:r>
            <a:r>
              <a:rPr lang="en-US" sz="1600" b="0" i="0" dirty="0">
                <a:solidFill>
                  <a:srgbClr val="161616"/>
                </a:solidFill>
                <a:effectLst/>
                <a:highlight>
                  <a:srgbClr val="C0C0C0"/>
                </a:highlight>
                <a:latin typeface="Roboto Mono" pitchFamily="49" charset="0"/>
                <a:ea typeface="Roboto Mono" pitchFamily="49" charset="0"/>
              </a:rPr>
              <a:t>name</a:t>
            </a:r>
            <a:r>
              <a:rPr lang="en-US" sz="1800" b="0" i="0" dirty="0">
                <a:solidFill>
                  <a:srgbClr val="161616"/>
                </a:solidFill>
                <a:effectLst/>
                <a:latin typeface="Quattrocento Sans" panose="020B0502050000020003" pitchFamily="34" charset="0"/>
              </a:rPr>
              <a:t> can't match an existing GitHub feature.</a:t>
            </a:r>
          </a:p>
          <a:p>
            <a:pPr marL="0" indent="0" algn="just">
              <a:spcAft>
                <a:spcPts val="600"/>
              </a:spcAft>
              <a:buNone/>
            </a:pPr>
            <a:r>
              <a:rPr lang="en-US" sz="2000" b="0" i="0" dirty="0">
                <a:solidFill>
                  <a:srgbClr val="161616"/>
                </a:solidFill>
                <a:effectLst/>
                <a:latin typeface="Quattrocento Sans" panose="020B0502050000020003" pitchFamily="34" charset="0"/>
              </a:rPr>
              <a:t>You can add the action you've created to the GitHub Marketplace by tagging it as a new release and then publishing it. There are a few guided steps in GitHub that allow you to publish a release of your action. </a:t>
            </a:r>
          </a:p>
        </p:txBody>
      </p:sp>
    </p:spTree>
    <p:extLst>
      <p:ext uri="{BB962C8B-B14F-4D97-AF65-F5344CB8AC3E}">
        <p14:creationId xmlns:p14="http://schemas.microsoft.com/office/powerpoint/2010/main" val="873500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BB045C-A141-C3BC-E39E-7CBF5891AC97}"/>
              </a:ext>
            </a:extLst>
          </p:cNvPr>
          <p:cNvSpPr>
            <a:spLocks noGrp="1"/>
          </p:cNvSpPr>
          <p:nvPr>
            <p:ph type="title"/>
          </p:nvPr>
        </p:nvSpPr>
        <p:spPr>
          <a:xfrm>
            <a:off x="579437" y="782799"/>
            <a:ext cx="10331279" cy="492443"/>
          </a:xfrm>
        </p:spPr>
        <p:txBody>
          <a:bodyPr>
            <a:normAutofit fontScale="90000"/>
          </a:bodyPr>
          <a:lstStyle/>
          <a:p>
            <a:r>
              <a:rPr lang="en-US" sz="3200" dirty="0">
                <a:latin typeface="Quattrocento Sans" panose="020B0502050000020003" pitchFamily="34" charset="0"/>
              </a:rPr>
              <a:t>Exercise - Create a custom JavaScript GitHub action</a:t>
            </a:r>
          </a:p>
        </p:txBody>
      </p:sp>
      <p:sp>
        <p:nvSpPr>
          <p:cNvPr id="7" name="Text Placeholder 6">
            <a:extLst>
              <a:ext uri="{FF2B5EF4-FFF2-40B4-BE49-F238E27FC236}">
                <a16:creationId xmlns:a16="http://schemas.microsoft.com/office/drawing/2014/main" id="{3BFF5FF6-257E-D432-7A8E-0444D8E4A520}"/>
              </a:ext>
            </a:extLst>
          </p:cNvPr>
          <p:cNvSpPr>
            <a:spLocks noGrp="1"/>
          </p:cNvSpPr>
          <p:nvPr>
            <p:ph type="body" sz="quarter" idx="16"/>
          </p:nvPr>
        </p:nvSpPr>
        <p:spPr>
          <a:xfrm>
            <a:off x="579446" y="1270719"/>
            <a:ext cx="10930890" cy="1225433"/>
          </a:xfrm>
        </p:spPr>
        <p:txBody>
          <a:bodyPr>
            <a:noAutofit/>
          </a:bodyPr>
          <a:lstStyle/>
          <a:p>
            <a:pPr algn="just">
              <a:lnSpc>
                <a:spcPct val="100000"/>
              </a:lnSpc>
              <a:spcAft>
                <a:spcPts val="1200"/>
              </a:spcAft>
            </a:pPr>
            <a:r>
              <a:rPr lang="en-US" sz="1800" dirty="0">
                <a:latin typeface="Quattrocento Sans" panose="020B0502050000020003" pitchFamily="34" charset="0"/>
              </a:rPr>
              <a:t>This exercise will help walk you through writing your own GitHub JavaScript Action and automating customized tasks unique to your workflow.</a:t>
            </a:r>
          </a:p>
          <a:p>
            <a:pPr algn="just">
              <a:lnSpc>
                <a:spcPct val="100000"/>
              </a:lnSpc>
              <a:spcAft>
                <a:spcPts val="1200"/>
              </a:spcAft>
            </a:pPr>
            <a:r>
              <a:rPr lang="en-US" sz="1800" dirty="0">
                <a:latin typeface="Quattrocento Sans" panose="020B0502050000020003" pitchFamily="34" charset="0"/>
              </a:rPr>
              <a:t>When you select the Start the exercise on GitHub button, you'll navigate to a public GitHub template repository that prompts you to complete a series of small challenges. Before you can begin the exercise, complete the following tasks:</a:t>
            </a:r>
          </a:p>
        </p:txBody>
      </p:sp>
      <p:sp>
        <p:nvSpPr>
          <p:cNvPr id="2" name="Footer Placeholder 1">
            <a:extLst>
              <a:ext uri="{FF2B5EF4-FFF2-40B4-BE49-F238E27FC236}">
                <a16:creationId xmlns:a16="http://schemas.microsoft.com/office/drawing/2014/main" id="{C0053711-90A5-E597-3402-5753647D7092}"/>
              </a:ext>
            </a:extLst>
          </p:cNvPr>
          <p:cNvSpPr>
            <a:spLocks noGrp="1"/>
          </p:cNvSpPr>
          <p:nvPr>
            <p:ph type="ftr" sz="quarter" idx="3"/>
          </p:nvPr>
        </p:nvSpPr>
        <p:spPr>
          <a:xfrm>
            <a:off x="579438" y="6421083"/>
            <a:ext cx="4151312" cy="197976"/>
          </a:xfrm>
        </p:spPr>
        <p:txBody>
          <a:bodyPr/>
          <a:lstStyle/>
          <a:p>
            <a:r>
              <a:rPr lang="en-US" dirty="0"/>
              <a:t>© Copyright Microsoft Corporation. All rights reserved.</a:t>
            </a:r>
          </a:p>
        </p:txBody>
      </p:sp>
      <p:grpSp>
        <p:nvGrpSpPr>
          <p:cNvPr id="15" name="Group 14">
            <a:extLst>
              <a:ext uri="{FF2B5EF4-FFF2-40B4-BE49-F238E27FC236}">
                <a16:creationId xmlns:a16="http://schemas.microsoft.com/office/drawing/2014/main" id="{F62BDAA0-76B6-3949-9744-AD93E5069062}"/>
              </a:ext>
              <a:ext uri="{C183D7F6-B498-43B3-948B-1728B52AA6E4}">
                <adec:decorative xmlns:adec="http://schemas.microsoft.com/office/drawing/2017/decorative" val="1"/>
              </a:ext>
            </a:extLst>
          </p:cNvPr>
          <p:cNvGrpSpPr/>
          <p:nvPr/>
        </p:nvGrpSpPr>
        <p:grpSpPr>
          <a:xfrm>
            <a:off x="10729911" y="5491317"/>
            <a:ext cx="961231" cy="918055"/>
            <a:chOff x="5540700" y="2116300"/>
            <a:chExt cx="1110600" cy="1110600"/>
          </a:xfrm>
        </p:grpSpPr>
        <p:sp>
          <p:nvSpPr>
            <p:cNvPr id="17" name="Oval 16">
              <a:extLst>
                <a:ext uri="{FF2B5EF4-FFF2-40B4-BE49-F238E27FC236}">
                  <a16:creationId xmlns:a16="http://schemas.microsoft.com/office/drawing/2014/main" id="{AA7848C3-C239-9DAE-CD0E-735193B3F2F7}"/>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8" name="Picture 33">
              <a:extLst>
                <a:ext uri="{FF2B5EF4-FFF2-40B4-BE49-F238E27FC236}">
                  <a16:creationId xmlns:a16="http://schemas.microsoft.com/office/drawing/2014/main" id="{A230018B-D101-AED4-0493-7A695A9A936B}"/>
                </a:ext>
              </a:extLst>
            </p:cNvPr>
            <p:cNvPicPr/>
            <p:nvPr/>
          </p:nvPicPr>
          <p:blipFill>
            <a:blip r:embed="rId3">
              <a:extLst>
                <a:ext uri="{96DAC541-7B7A-43D3-8B79-37D633B846F1}">
                  <asvg:svgBlip xmlns:asvg="http://schemas.microsoft.com/office/drawing/2016/SVG/main" r:embed="rId4"/>
                </a:ext>
              </a:extLst>
            </a:blip>
            <a:srcRect/>
            <a:stretch/>
          </p:blipFill>
          <p:spPr>
            <a:xfrm>
              <a:off x="5749602" y="2325202"/>
              <a:ext cx="692796" cy="692796"/>
            </a:xfrm>
            <a:prstGeom prst="rect">
              <a:avLst/>
            </a:prstGeom>
            <a:noFill/>
          </p:spPr>
        </p:pic>
      </p:grpSp>
      <p:pic>
        <p:nvPicPr>
          <p:cNvPr id="4" name="Picture 3">
            <a:extLst>
              <a:ext uri="{FF2B5EF4-FFF2-40B4-BE49-F238E27FC236}">
                <a16:creationId xmlns:a16="http://schemas.microsoft.com/office/drawing/2014/main" id="{7781EBC0-5DDF-8CF3-4CB8-025150B33A02}"/>
              </a:ext>
            </a:extLst>
          </p:cNvPr>
          <p:cNvPicPr>
            <a:picLocks noChangeAspect="1"/>
          </p:cNvPicPr>
          <p:nvPr/>
        </p:nvPicPr>
        <p:blipFill>
          <a:blip r:embed="rId5"/>
          <a:stretch>
            <a:fillRect/>
          </a:stretch>
        </p:blipFill>
        <p:spPr>
          <a:xfrm>
            <a:off x="8412680" y="2668836"/>
            <a:ext cx="2128192" cy="2128192"/>
          </a:xfrm>
          <a:prstGeom prst="rect">
            <a:avLst/>
          </a:prstGeom>
          <a:effectLst>
            <a:outerShdw blurRad="59278" dist="38100" dir="2700000" algn="tl" rotWithShape="0">
              <a:schemeClr val="tx1">
                <a:alpha val="49000"/>
              </a:schemeClr>
            </a:outerShdw>
          </a:effectLst>
        </p:spPr>
      </p:pic>
      <p:sp>
        <p:nvSpPr>
          <p:cNvPr id="6" name="TextBox 5">
            <a:extLst>
              <a:ext uri="{FF2B5EF4-FFF2-40B4-BE49-F238E27FC236}">
                <a16:creationId xmlns:a16="http://schemas.microsoft.com/office/drawing/2014/main" id="{A5DE4EE2-90CE-9D2C-2E68-859CAFCEEDC0}"/>
              </a:ext>
            </a:extLst>
          </p:cNvPr>
          <p:cNvSpPr txBox="1"/>
          <p:nvPr/>
        </p:nvSpPr>
        <p:spPr>
          <a:xfrm>
            <a:off x="559118" y="5950344"/>
            <a:ext cx="3160032" cy="307777"/>
          </a:xfrm>
          <a:prstGeom prst="rect">
            <a:avLst/>
          </a:prstGeom>
          <a:noFill/>
        </p:spPr>
        <p:txBody>
          <a:bodyPr wrap="none" lIns="0" tIns="0" rIns="0" bIns="0" rtlCol="0">
            <a:spAutoFit/>
          </a:bodyPr>
          <a:lstStyle/>
          <a:p>
            <a:pPr algn="l"/>
            <a:r>
              <a:rPr lang="en-US" sz="2000" dirty="0">
                <a:hlinkClick r:id="rId6"/>
              </a:rPr>
              <a:t>Start the exercise on GitHub.</a:t>
            </a:r>
            <a:endParaRPr lang="en-US" sz="2000" dirty="0"/>
          </a:p>
        </p:txBody>
      </p:sp>
      <p:sp>
        <p:nvSpPr>
          <p:cNvPr id="5" name="Text Placeholder 6">
            <a:extLst>
              <a:ext uri="{FF2B5EF4-FFF2-40B4-BE49-F238E27FC236}">
                <a16:creationId xmlns:a16="http://schemas.microsoft.com/office/drawing/2014/main" id="{1B2CB66E-DE6F-FB41-9292-01B36C8B24A9}"/>
              </a:ext>
            </a:extLst>
          </p:cNvPr>
          <p:cNvSpPr txBox="1">
            <a:spLocks/>
          </p:cNvSpPr>
          <p:nvPr/>
        </p:nvSpPr>
        <p:spPr>
          <a:xfrm>
            <a:off x="579437" y="3000076"/>
            <a:ext cx="7686730" cy="1225433"/>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0"/>
              </a:spcBef>
              <a:buFont typeface="Arial" panose="020B0604020202020204" pitchFamily="34" charset="0"/>
              <a:buNone/>
              <a:defRPr sz="16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lnSpc>
                <a:spcPct val="100000"/>
              </a:lnSpc>
              <a:spcAft>
                <a:spcPts val="1200"/>
              </a:spcAft>
              <a:buFont typeface="Arial" panose="020B0604020202020204" pitchFamily="34" charset="0"/>
              <a:buChar char="•"/>
            </a:pPr>
            <a:r>
              <a:rPr lang="en-US" dirty="0">
                <a:latin typeface="Quattrocento Sans" panose="020B0502050000020003" pitchFamily="34" charset="0"/>
              </a:rPr>
              <a:t>Select the Start course button or the Use this template feature within the template repository. This prompts you to create a new repository. We recommend creating a public repository, because private repositories will use Actions minutes.</a:t>
            </a:r>
          </a:p>
          <a:p>
            <a:pPr marL="285750" indent="-285750" algn="just">
              <a:lnSpc>
                <a:spcPct val="100000"/>
              </a:lnSpc>
              <a:spcAft>
                <a:spcPts val="1200"/>
              </a:spcAft>
              <a:buFont typeface="Arial" panose="020B0604020202020204" pitchFamily="34" charset="0"/>
              <a:buChar char="•"/>
            </a:pPr>
            <a:r>
              <a:rPr lang="en-US" dirty="0">
                <a:latin typeface="Quattrocento Sans" panose="020B0502050000020003" pitchFamily="34" charset="0"/>
              </a:rPr>
              <a:t>After you make your own repository from the template, wait about 20 seconds and refresh.</a:t>
            </a:r>
          </a:p>
          <a:p>
            <a:pPr marL="285750" indent="-285750" algn="just">
              <a:lnSpc>
                <a:spcPct val="100000"/>
              </a:lnSpc>
              <a:spcAft>
                <a:spcPts val="1200"/>
              </a:spcAft>
              <a:buFont typeface="Arial" panose="020B0604020202020204" pitchFamily="34" charset="0"/>
              <a:buChar char="•"/>
            </a:pPr>
            <a:r>
              <a:rPr lang="en-US" dirty="0">
                <a:latin typeface="Quattrocento Sans" panose="020B0502050000020003" pitchFamily="34" charset="0"/>
              </a:rPr>
              <a:t>Follow the instructions in the repository's README to understand how the exercise works, its learning objectives, and how to successfully complete the exercise.</a:t>
            </a:r>
          </a:p>
        </p:txBody>
      </p:sp>
      <p:sp>
        <p:nvSpPr>
          <p:cNvPr id="9" name="Text Placeholder 6">
            <a:extLst>
              <a:ext uri="{FF2B5EF4-FFF2-40B4-BE49-F238E27FC236}">
                <a16:creationId xmlns:a16="http://schemas.microsoft.com/office/drawing/2014/main" id="{C081BFF2-53D3-4905-B742-5320977E7C76}"/>
              </a:ext>
            </a:extLst>
          </p:cNvPr>
          <p:cNvSpPr txBox="1">
            <a:spLocks/>
          </p:cNvSpPr>
          <p:nvPr/>
        </p:nvSpPr>
        <p:spPr>
          <a:xfrm>
            <a:off x="579437" y="5341470"/>
            <a:ext cx="9826435" cy="1225433"/>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0"/>
              </a:spcBef>
              <a:buFont typeface="Arial" panose="020B0604020202020204" pitchFamily="34" charset="0"/>
              <a:buNone/>
              <a:defRPr sz="16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Aft>
                <a:spcPts val="1200"/>
              </a:spcAft>
            </a:pPr>
            <a:r>
              <a:rPr lang="en-US" b="1" dirty="0">
                <a:latin typeface="Quattrocento Sans" panose="020B0502050000020003" pitchFamily="34" charset="0"/>
              </a:rPr>
              <a:t>Note: </a:t>
            </a:r>
            <a:r>
              <a:rPr lang="en-US" dirty="0">
                <a:latin typeface="Quattrocento Sans" panose="020B0502050000020003" pitchFamily="34" charset="0"/>
              </a:rPr>
              <a:t>You don't need to modify any of the workflow files to complete this exercise. Altering the contents in this workflow can break the exercise's ability to validate your actions, provide feedback, or grade the results.</a:t>
            </a:r>
          </a:p>
        </p:txBody>
      </p:sp>
      <p:cxnSp>
        <p:nvCxnSpPr>
          <p:cNvPr id="11" name="Straight Connector 10">
            <a:extLst>
              <a:ext uri="{FF2B5EF4-FFF2-40B4-BE49-F238E27FC236}">
                <a16:creationId xmlns:a16="http://schemas.microsoft.com/office/drawing/2014/main" id="{DD8756A7-20EA-E2C8-FF80-F7F3FE21EC73}"/>
              </a:ext>
            </a:extLst>
          </p:cNvPr>
          <p:cNvCxnSpPr/>
          <p:nvPr/>
        </p:nvCxnSpPr>
        <p:spPr>
          <a:xfrm>
            <a:off x="579437" y="5434361"/>
            <a:ext cx="0" cy="379141"/>
          </a:xfrm>
          <a:prstGeom prst="line">
            <a:avLst/>
          </a:prstGeom>
          <a:ln w="28575">
            <a:solidFill>
              <a:srgbClr val="98AFE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5804086"/>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569911" y="3442638"/>
            <a:ext cx="6345239" cy="557525"/>
          </a:xfrm>
        </p:spPr>
        <p:txBody>
          <a:bodyPr/>
          <a:lstStyle/>
          <a:p>
            <a:r>
              <a:rPr lang="en-US" dirty="0"/>
              <a:t>Knowledge Checks</a:t>
            </a:r>
          </a:p>
        </p:txBody>
      </p:sp>
      <p:sp>
        <p:nvSpPr>
          <p:cNvPr id="2" name="Rectangle 1">
            <a:extLst>
              <a:ext uri="{FF2B5EF4-FFF2-40B4-BE49-F238E27FC236}">
                <a16:creationId xmlns:a16="http://schemas.microsoft.com/office/drawing/2014/main" id="{AAB7FFCE-6487-F91B-58CE-9BC1E7AA76E9}"/>
              </a:ext>
            </a:extLst>
          </p:cNvPr>
          <p:cNvSpPr/>
          <p:nvPr/>
        </p:nvSpPr>
        <p:spPr bwMode="auto">
          <a:xfrm>
            <a:off x="2888243" y="1229710"/>
            <a:ext cx="914400" cy="914400"/>
          </a:xfrm>
          <a:prstGeom prst="rect">
            <a:avLst/>
          </a:prstGeom>
          <a:solidFill>
            <a:srgbClr val="E8E6D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528688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8364-8EAB-C493-4F06-1232764321E0}"/>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C157120-3B62-596B-6141-C8D77C19F92A}"/>
              </a:ext>
            </a:extLst>
          </p:cNvPr>
          <p:cNvSpPr>
            <a:spLocks noGrp="1"/>
          </p:cNvSpPr>
          <p:nvPr>
            <p:ph type="title"/>
          </p:nvPr>
        </p:nvSpPr>
        <p:spPr>
          <a:xfrm>
            <a:off x="381092" y="662976"/>
            <a:ext cx="11087008" cy="369332"/>
          </a:xfrm>
        </p:spPr>
        <p:txBody>
          <a:bodyPr vert="horz" wrap="square" lIns="0" tIns="0" rIns="0" bIns="0" rtlCol="0" anchor="t">
            <a:noAutofit/>
          </a:bodyPr>
          <a:lstStyle/>
          <a:p>
            <a:r>
              <a:rPr lang="en-US" sz="3200" dirty="0">
                <a:latin typeface="Quattrocento Sans" panose="020B0502050000020003" pitchFamily="34" charset="0"/>
              </a:rPr>
              <a:t>Knowledge Check:  Create and publish custom GitHub actions </a:t>
            </a:r>
          </a:p>
        </p:txBody>
      </p:sp>
      <p:sp>
        <p:nvSpPr>
          <p:cNvPr id="39" name="Text Placeholder 2">
            <a:extLst>
              <a:ext uri="{FF2B5EF4-FFF2-40B4-BE49-F238E27FC236}">
                <a16:creationId xmlns:a16="http://schemas.microsoft.com/office/drawing/2014/main" id="{BAFC6655-6140-469E-FCCB-8DB3816C4398}"/>
              </a:ext>
            </a:extLst>
          </p:cNvPr>
          <p:cNvSpPr txBox="1">
            <a:spLocks/>
          </p:cNvSpPr>
          <p:nvPr/>
        </p:nvSpPr>
        <p:spPr>
          <a:xfrm>
            <a:off x="381092" y="1430107"/>
            <a:ext cx="10296433" cy="726353"/>
          </a:xfrm>
          <a:prstGeom prst="rect">
            <a:avLst/>
          </a:prstGeom>
        </p:spPr>
        <p:txBody>
          <a:bodyPr vert="horz" wrap="square" lIns="0" tIns="0" rIns="0" bIns="0" rtlCol="0">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latin typeface="Quattrocento Sans" panose="020B0502050000020003" pitchFamily="34" charset="0"/>
              </a:rPr>
              <a:t>You need to create a custom GitHub Action written in Ruby. Which action type would you choose?</a:t>
            </a:r>
          </a:p>
        </p:txBody>
      </p:sp>
      <p:sp>
        <p:nvSpPr>
          <p:cNvPr id="3" name="TextBox 2">
            <a:extLst>
              <a:ext uri="{FF2B5EF4-FFF2-40B4-BE49-F238E27FC236}">
                <a16:creationId xmlns:a16="http://schemas.microsoft.com/office/drawing/2014/main" id="{40151F81-C575-5308-8B99-1E7BA806D325}"/>
              </a:ext>
            </a:extLst>
          </p:cNvPr>
          <p:cNvSpPr txBox="1"/>
          <p:nvPr/>
        </p:nvSpPr>
        <p:spPr>
          <a:xfrm>
            <a:off x="381092" y="2232660"/>
            <a:ext cx="8943975" cy="2031325"/>
          </a:xfrm>
          <a:prstGeom prst="rect">
            <a:avLst/>
          </a:prstGeom>
          <a:noFill/>
        </p:spPr>
        <p:txBody>
          <a:bodyPr wrap="square" rtlCol="0">
            <a:spAutoFit/>
          </a:bodyPr>
          <a:lstStyle/>
          <a:p>
            <a:pPr marL="342900" indent="-342900">
              <a:buFont typeface="+mj-lt"/>
              <a:buAutoNum type="alphaLcParenR"/>
            </a:pPr>
            <a:r>
              <a:rPr lang="en-US" dirty="0">
                <a:latin typeface="Quattrocento Sans" panose="020B0502050000020003" pitchFamily="34" charset="0"/>
              </a:rPr>
              <a:t>JavaScript action</a:t>
            </a:r>
          </a:p>
          <a:p>
            <a:pPr marL="342900" indent="-342900">
              <a:buFont typeface="+mj-lt"/>
              <a:buAutoNum type="alphaLcParenR"/>
            </a:pPr>
            <a:endParaRPr lang="en-US" dirty="0">
              <a:latin typeface="Quattrocento Sans" panose="020B0502050000020003" pitchFamily="34" charset="0"/>
            </a:endParaRPr>
          </a:p>
          <a:p>
            <a:pPr marL="342900" indent="-342900">
              <a:buFont typeface="+mj-lt"/>
              <a:buAutoNum type="alphaLcParenR"/>
            </a:pPr>
            <a:r>
              <a:rPr lang="en-US" dirty="0">
                <a:latin typeface="Quattrocento Sans" panose="020B0502050000020003" pitchFamily="34" charset="0"/>
              </a:rPr>
              <a:t>Run step</a:t>
            </a:r>
          </a:p>
          <a:p>
            <a:pPr marL="342900" indent="-342900">
              <a:buFont typeface="+mj-lt"/>
              <a:buAutoNum type="alphaLcParenR"/>
            </a:pPr>
            <a:endParaRPr lang="en-US" dirty="0">
              <a:latin typeface="Quattrocento Sans" panose="020B0502050000020003" pitchFamily="34" charset="0"/>
            </a:endParaRPr>
          </a:p>
          <a:p>
            <a:pPr marL="342900" indent="-342900">
              <a:buFont typeface="+mj-lt"/>
              <a:buAutoNum type="alphaLcParenR"/>
            </a:pPr>
            <a:r>
              <a:rPr lang="en-US" dirty="0">
                <a:latin typeface="Quattrocento Sans" panose="020B0502050000020003" pitchFamily="34" charset="0"/>
              </a:rPr>
              <a:t>Docker container action</a:t>
            </a:r>
          </a:p>
          <a:p>
            <a:pPr marL="342900" indent="-342900">
              <a:buFont typeface="+mj-lt"/>
              <a:buAutoNum type="alphaLcParenR"/>
            </a:pPr>
            <a:endParaRPr lang="en-US" dirty="0">
              <a:latin typeface="Quattrocento Sans" panose="020B0502050000020003" pitchFamily="34" charset="0"/>
            </a:endParaRPr>
          </a:p>
          <a:p>
            <a:pPr marL="342900" indent="-342900">
              <a:buFont typeface="+mj-lt"/>
              <a:buAutoNum type="alphaLcParenR"/>
            </a:pPr>
            <a:r>
              <a:rPr lang="en-US" dirty="0">
                <a:latin typeface="Quattrocento Sans" panose="020B0502050000020003" pitchFamily="34" charset="0"/>
              </a:rPr>
              <a:t>Bash script</a:t>
            </a:r>
          </a:p>
        </p:txBody>
      </p:sp>
      <p:sp>
        <p:nvSpPr>
          <p:cNvPr id="4" name="Footer Placeholder 10">
            <a:extLst>
              <a:ext uri="{FF2B5EF4-FFF2-40B4-BE49-F238E27FC236}">
                <a16:creationId xmlns:a16="http://schemas.microsoft.com/office/drawing/2014/main" id="{9E141180-7BEE-FBE5-10C0-72DA5FCEA5EB}"/>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p>
        </p:txBody>
      </p:sp>
      <p:sp>
        <p:nvSpPr>
          <p:cNvPr id="6" name="TextBox 5">
            <a:extLst>
              <a:ext uri="{FF2B5EF4-FFF2-40B4-BE49-F238E27FC236}">
                <a16:creationId xmlns:a16="http://schemas.microsoft.com/office/drawing/2014/main" id="{920CBED3-52C0-9B80-22DF-C7162F3210ED}"/>
              </a:ext>
            </a:extLst>
          </p:cNvPr>
          <p:cNvSpPr txBox="1"/>
          <p:nvPr/>
        </p:nvSpPr>
        <p:spPr>
          <a:xfrm>
            <a:off x="10938072" y="447532"/>
            <a:ext cx="872836" cy="369332"/>
          </a:xfrm>
          <a:prstGeom prst="rect">
            <a:avLst/>
          </a:prstGeom>
          <a:noFill/>
        </p:spPr>
        <p:txBody>
          <a:bodyPr wrap="square" rtlCol="0">
            <a:spAutoFit/>
          </a:bodyPr>
          <a:lstStyle/>
          <a:p>
            <a:r>
              <a:rPr lang="en-US" dirty="0"/>
              <a:t>1 of 4</a:t>
            </a:r>
          </a:p>
        </p:txBody>
      </p:sp>
    </p:spTree>
    <p:extLst>
      <p:ext uri="{BB962C8B-B14F-4D97-AF65-F5344CB8AC3E}">
        <p14:creationId xmlns:p14="http://schemas.microsoft.com/office/powerpoint/2010/main" val="2319175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8364-8EAB-C493-4F06-1232764321E0}"/>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C157120-3B62-596B-6141-C8D77C19F92A}"/>
              </a:ext>
            </a:extLst>
          </p:cNvPr>
          <p:cNvSpPr>
            <a:spLocks noGrp="1"/>
          </p:cNvSpPr>
          <p:nvPr>
            <p:ph type="title"/>
          </p:nvPr>
        </p:nvSpPr>
        <p:spPr>
          <a:xfrm>
            <a:off x="381092" y="662976"/>
            <a:ext cx="11087008" cy="369332"/>
          </a:xfrm>
        </p:spPr>
        <p:txBody>
          <a:bodyPr vert="horz" wrap="square" lIns="0" tIns="0" rIns="0" bIns="0" rtlCol="0" anchor="t">
            <a:noAutofit/>
          </a:bodyPr>
          <a:lstStyle/>
          <a:p>
            <a:r>
              <a:rPr lang="en-US" sz="3200" dirty="0">
                <a:latin typeface="Quattrocento Sans" panose="020B0502050000020003" pitchFamily="34" charset="0"/>
              </a:rPr>
              <a:t>Knowledge Check:  Create and publish custom GitHub actions </a:t>
            </a:r>
          </a:p>
        </p:txBody>
      </p:sp>
      <p:sp>
        <p:nvSpPr>
          <p:cNvPr id="39" name="Text Placeholder 2">
            <a:extLst>
              <a:ext uri="{FF2B5EF4-FFF2-40B4-BE49-F238E27FC236}">
                <a16:creationId xmlns:a16="http://schemas.microsoft.com/office/drawing/2014/main" id="{BAFC6655-6140-469E-FCCB-8DB3816C4398}"/>
              </a:ext>
            </a:extLst>
          </p:cNvPr>
          <p:cNvSpPr txBox="1">
            <a:spLocks/>
          </p:cNvSpPr>
          <p:nvPr/>
        </p:nvSpPr>
        <p:spPr>
          <a:xfrm>
            <a:off x="381092" y="1430107"/>
            <a:ext cx="10296433" cy="726353"/>
          </a:xfrm>
          <a:prstGeom prst="rect">
            <a:avLst/>
          </a:prstGeom>
        </p:spPr>
        <p:txBody>
          <a:bodyPr vert="horz" wrap="square" lIns="0" tIns="0" rIns="0" bIns="0" rtlCol="0">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latin typeface="Quattrocento Sans" panose="020B0502050000020003" pitchFamily="34" charset="0"/>
              </a:rPr>
              <a:t>Which keywords are required for a valid </a:t>
            </a:r>
            <a:r>
              <a:rPr lang="en-US" sz="2000" dirty="0" err="1">
                <a:latin typeface="Quattrocento Sans" panose="020B0502050000020003" pitchFamily="34" charset="0"/>
              </a:rPr>
              <a:t>action.yml</a:t>
            </a:r>
            <a:r>
              <a:rPr lang="en-US" sz="2000" dirty="0">
                <a:latin typeface="Quattrocento Sans" panose="020B0502050000020003" pitchFamily="34" charset="0"/>
              </a:rPr>
              <a:t> file?</a:t>
            </a:r>
          </a:p>
        </p:txBody>
      </p:sp>
      <p:sp>
        <p:nvSpPr>
          <p:cNvPr id="3" name="TextBox 2">
            <a:extLst>
              <a:ext uri="{FF2B5EF4-FFF2-40B4-BE49-F238E27FC236}">
                <a16:creationId xmlns:a16="http://schemas.microsoft.com/office/drawing/2014/main" id="{40151F81-C575-5308-8B99-1E7BA806D325}"/>
              </a:ext>
            </a:extLst>
          </p:cNvPr>
          <p:cNvSpPr txBox="1"/>
          <p:nvPr/>
        </p:nvSpPr>
        <p:spPr>
          <a:xfrm>
            <a:off x="381092" y="2232660"/>
            <a:ext cx="8943975" cy="2308324"/>
          </a:xfrm>
          <a:prstGeom prst="rect">
            <a:avLst/>
          </a:prstGeom>
          <a:noFill/>
        </p:spPr>
        <p:txBody>
          <a:bodyPr wrap="square" rtlCol="0">
            <a:spAutoFit/>
          </a:bodyPr>
          <a:lstStyle/>
          <a:p>
            <a:pPr marL="342900" indent="-342900">
              <a:buFont typeface="+mj-lt"/>
              <a:buAutoNum type="alphaLcParenR"/>
            </a:pPr>
            <a:endParaRPr lang="en-US" dirty="0">
              <a:latin typeface="Quattrocento Sans" panose="020B0502050000020003" pitchFamily="34" charset="0"/>
            </a:endParaRPr>
          </a:p>
          <a:p>
            <a:pPr marL="342900" indent="-342900">
              <a:buFont typeface="+mj-lt"/>
              <a:buAutoNum type="alphaLcParenR"/>
            </a:pPr>
            <a:r>
              <a:rPr lang="en-US" dirty="0">
                <a:highlight>
                  <a:srgbClr val="C0C0C0"/>
                </a:highlight>
                <a:latin typeface="Roboto Mono" pitchFamily="49" charset="0"/>
                <a:ea typeface="Roboto Mono" pitchFamily="49" charset="0"/>
              </a:rPr>
              <a:t>name</a:t>
            </a:r>
            <a:r>
              <a:rPr lang="en-US" dirty="0">
                <a:latin typeface="Roboto Mono" pitchFamily="49" charset="0"/>
                <a:ea typeface="Roboto Mono" pitchFamily="49" charset="0"/>
              </a:rPr>
              <a:t>, </a:t>
            </a:r>
            <a:r>
              <a:rPr lang="en-US" dirty="0">
                <a:highlight>
                  <a:srgbClr val="C0C0C0"/>
                </a:highlight>
                <a:latin typeface="Roboto Mono" pitchFamily="49" charset="0"/>
                <a:ea typeface="Roboto Mono" pitchFamily="49" charset="0"/>
              </a:rPr>
              <a:t>runs</a:t>
            </a:r>
            <a:r>
              <a:rPr lang="en-US" dirty="0">
                <a:latin typeface="Roboto Mono" pitchFamily="49" charset="0"/>
                <a:ea typeface="Roboto Mono" pitchFamily="49" charset="0"/>
              </a:rPr>
              <a:t>, </a:t>
            </a:r>
            <a:r>
              <a:rPr lang="en-US" dirty="0">
                <a:highlight>
                  <a:srgbClr val="C0C0C0"/>
                </a:highlight>
                <a:latin typeface="Roboto Mono" pitchFamily="49" charset="0"/>
                <a:ea typeface="Roboto Mono" pitchFamily="49" charset="0"/>
              </a:rPr>
              <a:t>composite</a:t>
            </a:r>
          </a:p>
          <a:p>
            <a:pPr marL="342900" indent="-342900">
              <a:buFont typeface="+mj-lt"/>
              <a:buAutoNum type="alphaLcParenR"/>
            </a:pPr>
            <a:endParaRPr lang="en-US" dirty="0">
              <a:latin typeface="Quattrocento Sans" panose="020B0502050000020003" pitchFamily="34" charset="0"/>
            </a:endParaRPr>
          </a:p>
          <a:p>
            <a:pPr marL="342900" indent="-342900">
              <a:buFont typeface="+mj-lt"/>
              <a:buAutoNum type="alphaLcParenR"/>
            </a:pPr>
            <a:r>
              <a:rPr lang="en-US" dirty="0">
                <a:highlight>
                  <a:srgbClr val="C0C0C0"/>
                </a:highlight>
                <a:latin typeface="Roboto Mono" pitchFamily="49" charset="0"/>
                <a:ea typeface="Roboto Mono" pitchFamily="49" charset="0"/>
              </a:rPr>
              <a:t>name</a:t>
            </a:r>
            <a:r>
              <a:rPr lang="en-US" dirty="0">
                <a:latin typeface="Roboto Mono" pitchFamily="49" charset="0"/>
                <a:ea typeface="Roboto Mono" pitchFamily="49" charset="0"/>
              </a:rPr>
              <a:t>, </a:t>
            </a:r>
            <a:r>
              <a:rPr lang="en-US" dirty="0">
                <a:highlight>
                  <a:srgbClr val="C0C0C0"/>
                </a:highlight>
                <a:latin typeface="Roboto Mono" pitchFamily="49" charset="0"/>
                <a:ea typeface="Roboto Mono" pitchFamily="49" charset="0"/>
              </a:rPr>
              <a:t>runs</a:t>
            </a:r>
            <a:r>
              <a:rPr lang="en-US" dirty="0">
                <a:latin typeface="Roboto Mono" pitchFamily="49" charset="0"/>
                <a:ea typeface="Roboto Mono" pitchFamily="49" charset="0"/>
              </a:rPr>
              <a:t>, </a:t>
            </a:r>
            <a:r>
              <a:rPr lang="en-US" dirty="0">
                <a:highlight>
                  <a:srgbClr val="C0C0C0"/>
                </a:highlight>
                <a:latin typeface="Roboto Mono" pitchFamily="49" charset="0"/>
                <a:ea typeface="Roboto Mono" pitchFamily="49" charset="0"/>
              </a:rPr>
              <a:t>description</a:t>
            </a:r>
          </a:p>
          <a:p>
            <a:pPr marL="342900" indent="-342900">
              <a:buFont typeface="+mj-lt"/>
              <a:buAutoNum type="alphaLcParenR"/>
            </a:pPr>
            <a:endParaRPr lang="en-US" dirty="0">
              <a:highlight>
                <a:srgbClr val="C0C0C0"/>
              </a:highlight>
              <a:latin typeface="Roboto Mono" pitchFamily="49" charset="0"/>
              <a:ea typeface="Roboto Mono" pitchFamily="49" charset="0"/>
            </a:endParaRPr>
          </a:p>
          <a:p>
            <a:pPr marL="342900" indent="-342900">
              <a:buFont typeface="+mj-lt"/>
              <a:buAutoNum type="alphaLcParenR"/>
            </a:pPr>
            <a:r>
              <a:rPr lang="en-US" dirty="0">
                <a:highlight>
                  <a:srgbClr val="C0C0C0"/>
                </a:highlight>
                <a:latin typeface="Roboto Mono" pitchFamily="49" charset="0"/>
                <a:ea typeface="Roboto Mono" pitchFamily="49" charset="0"/>
              </a:rPr>
              <a:t>name</a:t>
            </a:r>
            <a:r>
              <a:rPr lang="en-US" dirty="0">
                <a:latin typeface="Roboto Mono" pitchFamily="49" charset="0"/>
                <a:ea typeface="Roboto Mono" pitchFamily="49" charset="0"/>
              </a:rPr>
              <a:t>, </a:t>
            </a:r>
            <a:r>
              <a:rPr lang="en-US" dirty="0">
                <a:highlight>
                  <a:srgbClr val="C0C0C0"/>
                </a:highlight>
                <a:latin typeface="Roboto Mono" pitchFamily="49" charset="0"/>
                <a:ea typeface="Roboto Mono" pitchFamily="49" charset="0"/>
              </a:rPr>
              <a:t>description</a:t>
            </a:r>
            <a:r>
              <a:rPr lang="en-US" dirty="0">
                <a:latin typeface="Roboto Mono" pitchFamily="49" charset="0"/>
                <a:ea typeface="Roboto Mono" pitchFamily="49" charset="0"/>
              </a:rPr>
              <a:t>, </a:t>
            </a:r>
            <a:r>
              <a:rPr lang="en-US" dirty="0">
                <a:highlight>
                  <a:srgbClr val="C0C0C0"/>
                </a:highlight>
                <a:latin typeface="Roboto Mono" pitchFamily="49" charset="0"/>
                <a:ea typeface="Roboto Mono" pitchFamily="49" charset="0"/>
              </a:rPr>
              <a:t>branding</a:t>
            </a:r>
          </a:p>
          <a:p>
            <a:pPr marL="342900" indent="-342900">
              <a:buFont typeface="+mj-lt"/>
              <a:buAutoNum type="alphaLcParenR"/>
            </a:pPr>
            <a:endParaRPr lang="en-US" dirty="0">
              <a:highlight>
                <a:srgbClr val="C0C0C0"/>
              </a:highlight>
              <a:latin typeface="Roboto Mono" pitchFamily="49" charset="0"/>
              <a:ea typeface="Roboto Mono" pitchFamily="49" charset="0"/>
            </a:endParaRPr>
          </a:p>
          <a:p>
            <a:pPr marL="342900" indent="-342900">
              <a:buFont typeface="+mj-lt"/>
              <a:buAutoNum type="alphaLcParenR"/>
            </a:pPr>
            <a:r>
              <a:rPr lang="en-US" dirty="0">
                <a:highlight>
                  <a:srgbClr val="C0C0C0"/>
                </a:highlight>
                <a:latin typeface="Roboto Mono" pitchFamily="49" charset="0"/>
                <a:ea typeface="Roboto Mono" pitchFamily="49" charset="0"/>
              </a:rPr>
              <a:t>name</a:t>
            </a:r>
            <a:r>
              <a:rPr lang="en-US" dirty="0">
                <a:latin typeface="Roboto Mono" pitchFamily="49" charset="0"/>
                <a:ea typeface="Roboto Mono" pitchFamily="49" charset="0"/>
              </a:rPr>
              <a:t>, </a:t>
            </a:r>
            <a:r>
              <a:rPr lang="en-US" dirty="0">
                <a:highlight>
                  <a:srgbClr val="C0C0C0"/>
                </a:highlight>
                <a:latin typeface="Roboto Mono" pitchFamily="49" charset="0"/>
                <a:ea typeface="Roboto Mono" pitchFamily="49" charset="0"/>
              </a:rPr>
              <a:t>description</a:t>
            </a:r>
            <a:r>
              <a:rPr lang="en-US" dirty="0">
                <a:latin typeface="Roboto Mono" pitchFamily="49" charset="0"/>
                <a:ea typeface="Roboto Mono" pitchFamily="49" charset="0"/>
              </a:rPr>
              <a:t>, </a:t>
            </a:r>
            <a:r>
              <a:rPr lang="en-US" dirty="0">
                <a:highlight>
                  <a:srgbClr val="C0C0C0"/>
                </a:highlight>
                <a:latin typeface="Roboto Mono" pitchFamily="49" charset="0"/>
                <a:ea typeface="Roboto Mono" pitchFamily="49" charset="0"/>
              </a:rPr>
              <a:t>composite</a:t>
            </a:r>
          </a:p>
        </p:txBody>
      </p:sp>
      <p:sp>
        <p:nvSpPr>
          <p:cNvPr id="4" name="Footer Placeholder 10">
            <a:extLst>
              <a:ext uri="{FF2B5EF4-FFF2-40B4-BE49-F238E27FC236}">
                <a16:creationId xmlns:a16="http://schemas.microsoft.com/office/drawing/2014/main" id="{9E141180-7BEE-FBE5-10C0-72DA5FCEA5EB}"/>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p>
        </p:txBody>
      </p:sp>
      <p:sp>
        <p:nvSpPr>
          <p:cNvPr id="6" name="TextBox 5">
            <a:extLst>
              <a:ext uri="{FF2B5EF4-FFF2-40B4-BE49-F238E27FC236}">
                <a16:creationId xmlns:a16="http://schemas.microsoft.com/office/drawing/2014/main" id="{920CBED3-52C0-9B80-22DF-C7162F3210ED}"/>
              </a:ext>
            </a:extLst>
          </p:cNvPr>
          <p:cNvSpPr txBox="1"/>
          <p:nvPr/>
        </p:nvSpPr>
        <p:spPr>
          <a:xfrm>
            <a:off x="10938072" y="447532"/>
            <a:ext cx="872836" cy="369332"/>
          </a:xfrm>
          <a:prstGeom prst="rect">
            <a:avLst/>
          </a:prstGeom>
          <a:noFill/>
        </p:spPr>
        <p:txBody>
          <a:bodyPr wrap="square" rtlCol="0">
            <a:spAutoFit/>
          </a:bodyPr>
          <a:lstStyle/>
          <a:p>
            <a:r>
              <a:rPr lang="en-US" dirty="0"/>
              <a:t>2 of 4</a:t>
            </a:r>
          </a:p>
        </p:txBody>
      </p:sp>
    </p:spTree>
    <p:extLst>
      <p:ext uri="{BB962C8B-B14F-4D97-AF65-F5344CB8AC3E}">
        <p14:creationId xmlns:p14="http://schemas.microsoft.com/office/powerpoint/2010/main" val="808110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8364-8EAB-C493-4F06-1232764321E0}"/>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C157120-3B62-596B-6141-C8D77C19F92A}"/>
              </a:ext>
            </a:extLst>
          </p:cNvPr>
          <p:cNvSpPr>
            <a:spLocks noGrp="1"/>
          </p:cNvSpPr>
          <p:nvPr>
            <p:ph type="title"/>
          </p:nvPr>
        </p:nvSpPr>
        <p:spPr>
          <a:xfrm>
            <a:off x="381092" y="662976"/>
            <a:ext cx="11087008" cy="369332"/>
          </a:xfrm>
        </p:spPr>
        <p:txBody>
          <a:bodyPr vert="horz" wrap="square" lIns="0" tIns="0" rIns="0" bIns="0" rtlCol="0" anchor="t">
            <a:noAutofit/>
          </a:bodyPr>
          <a:lstStyle/>
          <a:p>
            <a:r>
              <a:rPr lang="en-US" sz="3200" dirty="0">
                <a:latin typeface="Quattrocento Sans" panose="020B0502050000020003" pitchFamily="34" charset="0"/>
              </a:rPr>
              <a:t>Knowledge Check:  Create and publish custom GitHub actions </a:t>
            </a:r>
          </a:p>
        </p:txBody>
      </p:sp>
      <p:sp>
        <p:nvSpPr>
          <p:cNvPr id="39" name="Text Placeholder 2">
            <a:extLst>
              <a:ext uri="{FF2B5EF4-FFF2-40B4-BE49-F238E27FC236}">
                <a16:creationId xmlns:a16="http://schemas.microsoft.com/office/drawing/2014/main" id="{BAFC6655-6140-469E-FCCB-8DB3816C4398}"/>
              </a:ext>
            </a:extLst>
          </p:cNvPr>
          <p:cNvSpPr txBox="1">
            <a:spLocks/>
          </p:cNvSpPr>
          <p:nvPr/>
        </p:nvSpPr>
        <p:spPr>
          <a:xfrm>
            <a:off x="381092" y="1430107"/>
            <a:ext cx="10296433" cy="726353"/>
          </a:xfrm>
          <a:prstGeom prst="rect">
            <a:avLst/>
          </a:prstGeom>
        </p:spPr>
        <p:txBody>
          <a:bodyPr vert="horz" wrap="square" lIns="0" tIns="0" rIns="0" bIns="0" rtlCol="0">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latin typeface="Quattrocento Sans" panose="020B0502050000020003" pitchFamily="34" charset="0"/>
              </a:rPr>
              <a:t>Which workflow command would set the debug message to This is an error message?</a:t>
            </a:r>
          </a:p>
        </p:txBody>
      </p:sp>
      <p:sp>
        <p:nvSpPr>
          <p:cNvPr id="3" name="TextBox 2">
            <a:extLst>
              <a:ext uri="{FF2B5EF4-FFF2-40B4-BE49-F238E27FC236}">
                <a16:creationId xmlns:a16="http://schemas.microsoft.com/office/drawing/2014/main" id="{40151F81-C575-5308-8B99-1E7BA806D325}"/>
              </a:ext>
            </a:extLst>
          </p:cNvPr>
          <p:cNvSpPr txBox="1"/>
          <p:nvPr/>
        </p:nvSpPr>
        <p:spPr>
          <a:xfrm>
            <a:off x="381092" y="2232660"/>
            <a:ext cx="8943975" cy="2031325"/>
          </a:xfrm>
          <a:prstGeom prst="rect">
            <a:avLst/>
          </a:prstGeom>
          <a:noFill/>
        </p:spPr>
        <p:txBody>
          <a:bodyPr wrap="square" rtlCol="0">
            <a:spAutoFit/>
          </a:bodyPr>
          <a:lstStyle/>
          <a:p>
            <a:pPr marL="342900" indent="-342900">
              <a:buFont typeface="+mj-lt"/>
              <a:buAutoNum type="alphaLcParenR"/>
            </a:pPr>
            <a:r>
              <a:rPr lang="en-US" dirty="0">
                <a:latin typeface="Quattrocento Sans" panose="020B0502050000020003" pitchFamily="34" charset="0"/>
              </a:rPr>
              <a:t>echo::error::This is an error message</a:t>
            </a:r>
          </a:p>
          <a:p>
            <a:pPr marL="342900" indent="-342900">
              <a:buFont typeface="+mj-lt"/>
              <a:buAutoNum type="alphaLcParenR"/>
            </a:pPr>
            <a:endParaRPr lang="en-US" dirty="0">
              <a:latin typeface="Quattrocento Sans" panose="020B0502050000020003" pitchFamily="34" charset="0"/>
            </a:endParaRPr>
          </a:p>
          <a:p>
            <a:pPr marL="342900" indent="-342900">
              <a:buFont typeface="+mj-lt"/>
              <a:buAutoNum type="alphaLcParenR"/>
            </a:pPr>
            <a:r>
              <a:rPr lang="en-US" dirty="0">
                <a:latin typeface="Quattrocento Sans" panose="020B0502050000020003" pitchFamily="34" charset="0"/>
              </a:rPr>
              <a:t>echo error=This is an error message</a:t>
            </a:r>
          </a:p>
          <a:p>
            <a:pPr marL="342900" indent="-342900">
              <a:buFont typeface="+mj-lt"/>
              <a:buAutoNum type="alphaLcParenR"/>
            </a:pPr>
            <a:endParaRPr lang="en-US" dirty="0">
              <a:latin typeface="Quattrocento Sans" panose="020B0502050000020003" pitchFamily="34" charset="0"/>
            </a:endParaRPr>
          </a:p>
          <a:p>
            <a:pPr marL="342900" indent="-342900">
              <a:buFont typeface="+mj-lt"/>
              <a:buAutoNum type="alphaLcParenR"/>
            </a:pPr>
            <a:r>
              <a:rPr lang="en-US" dirty="0">
                <a:latin typeface="Quattrocento Sans" panose="020B0502050000020003" pitchFamily="34" charset="0"/>
              </a:rPr>
              <a:t>echo::error::message=This is an error message</a:t>
            </a:r>
          </a:p>
          <a:p>
            <a:pPr marL="342900" indent="-342900">
              <a:buFont typeface="+mj-lt"/>
              <a:buAutoNum type="alphaLcParenR"/>
            </a:pPr>
            <a:endParaRPr lang="en-US" dirty="0">
              <a:latin typeface="Quattrocento Sans" panose="020B0502050000020003" pitchFamily="34" charset="0"/>
            </a:endParaRPr>
          </a:p>
          <a:p>
            <a:pPr marL="342900" indent="-342900">
              <a:buFont typeface="+mj-lt"/>
              <a:buAutoNum type="alphaLcParenR"/>
            </a:pPr>
            <a:r>
              <a:rPr lang="en-US" dirty="0">
                <a:latin typeface="Quattrocento Sans" panose="020B0502050000020003" pitchFamily="34" charset="0"/>
              </a:rPr>
              <a:t>echo::error::This is an error message::</a:t>
            </a:r>
          </a:p>
        </p:txBody>
      </p:sp>
      <p:sp>
        <p:nvSpPr>
          <p:cNvPr id="4" name="Footer Placeholder 10">
            <a:extLst>
              <a:ext uri="{FF2B5EF4-FFF2-40B4-BE49-F238E27FC236}">
                <a16:creationId xmlns:a16="http://schemas.microsoft.com/office/drawing/2014/main" id="{9E141180-7BEE-FBE5-10C0-72DA5FCEA5EB}"/>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p>
        </p:txBody>
      </p:sp>
      <p:sp>
        <p:nvSpPr>
          <p:cNvPr id="6" name="TextBox 5">
            <a:extLst>
              <a:ext uri="{FF2B5EF4-FFF2-40B4-BE49-F238E27FC236}">
                <a16:creationId xmlns:a16="http://schemas.microsoft.com/office/drawing/2014/main" id="{920CBED3-52C0-9B80-22DF-C7162F3210ED}"/>
              </a:ext>
            </a:extLst>
          </p:cNvPr>
          <p:cNvSpPr txBox="1"/>
          <p:nvPr/>
        </p:nvSpPr>
        <p:spPr>
          <a:xfrm>
            <a:off x="10938072" y="447532"/>
            <a:ext cx="872836" cy="369332"/>
          </a:xfrm>
          <a:prstGeom prst="rect">
            <a:avLst/>
          </a:prstGeom>
          <a:noFill/>
        </p:spPr>
        <p:txBody>
          <a:bodyPr wrap="square" rtlCol="0">
            <a:spAutoFit/>
          </a:bodyPr>
          <a:lstStyle/>
          <a:p>
            <a:r>
              <a:rPr lang="en-US" dirty="0"/>
              <a:t>3 of 4</a:t>
            </a:r>
          </a:p>
        </p:txBody>
      </p:sp>
    </p:spTree>
    <p:extLst>
      <p:ext uri="{BB962C8B-B14F-4D97-AF65-F5344CB8AC3E}">
        <p14:creationId xmlns:p14="http://schemas.microsoft.com/office/powerpoint/2010/main" val="1382067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8364-8EAB-C493-4F06-1232764321E0}"/>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C157120-3B62-596B-6141-C8D77C19F92A}"/>
              </a:ext>
            </a:extLst>
          </p:cNvPr>
          <p:cNvSpPr>
            <a:spLocks noGrp="1"/>
          </p:cNvSpPr>
          <p:nvPr>
            <p:ph type="title"/>
          </p:nvPr>
        </p:nvSpPr>
        <p:spPr>
          <a:xfrm>
            <a:off x="381092" y="662976"/>
            <a:ext cx="11087008" cy="369332"/>
          </a:xfrm>
        </p:spPr>
        <p:txBody>
          <a:bodyPr vert="horz" wrap="square" lIns="0" tIns="0" rIns="0" bIns="0" rtlCol="0" anchor="t">
            <a:noAutofit/>
          </a:bodyPr>
          <a:lstStyle/>
          <a:p>
            <a:r>
              <a:rPr lang="en-US" sz="3200" dirty="0">
                <a:latin typeface="Quattrocento Sans" panose="020B0502050000020003" pitchFamily="34" charset="0"/>
              </a:rPr>
              <a:t>Knowledge Check:  Create and publish custom GitHub actions </a:t>
            </a:r>
          </a:p>
        </p:txBody>
      </p:sp>
      <p:sp>
        <p:nvSpPr>
          <p:cNvPr id="39" name="Text Placeholder 2">
            <a:extLst>
              <a:ext uri="{FF2B5EF4-FFF2-40B4-BE49-F238E27FC236}">
                <a16:creationId xmlns:a16="http://schemas.microsoft.com/office/drawing/2014/main" id="{BAFC6655-6140-469E-FCCB-8DB3816C4398}"/>
              </a:ext>
            </a:extLst>
          </p:cNvPr>
          <p:cNvSpPr txBox="1">
            <a:spLocks/>
          </p:cNvSpPr>
          <p:nvPr/>
        </p:nvSpPr>
        <p:spPr>
          <a:xfrm>
            <a:off x="381092" y="1430107"/>
            <a:ext cx="10296433" cy="726353"/>
          </a:xfrm>
          <a:prstGeom prst="rect">
            <a:avLst/>
          </a:prstGeom>
        </p:spPr>
        <p:txBody>
          <a:bodyPr vert="horz" wrap="square" lIns="0" tIns="0" rIns="0" bIns="0" rtlCol="0">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latin typeface="Quattrocento Sans" panose="020B0502050000020003" pitchFamily="34" charset="0"/>
              </a:rPr>
              <a:t>Which file is used to define a composite action?</a:t>
            </a:r>
          </a:p>
          <a:p>
            <a:pPr marL="0" indent="0">
              <a:lnSpc>
                <a:spcPct val="90000"/>
              </a:lnSpc>
              <a:buNone/>
            </a:pPr>
            <a:endParaRPr lang="en-US" sz="2000" dirty="0">
              <a:latin typeface="Quattrocento Sans" panose="020B0502050000020003" pitchFamily="34" charset="0"/>
            </a:endParaRPr>
          </a:p>
        </p:txBody>
      </p:sp>
      <p:sp>
        <p:nvSpPr>
          <p:cNvPr id="3" name="TextBox 2">
            <a:extLst>
              <a:ext uri="{FF2B5EF4-FFF2-40B4-BE49-F238E27FC236}">
                <a16:creationId xmlns:a16="http://schemas.microsoft.com/office/drawing/2014/main" id="{40151F81-C575-5308-8B99-1E7BA806D325}"/>
              </a:ext>
            </a:extLst>
          </p:cNvPr>
          <p:cNvSpPr txBox="1"/>
          <p:nvPr/>
        </p:nvSpPr>
        <p:spPr>
          <a:xfrm>
            <a:off x="381092" y="2232660"/>
            <a:ext cx="8943975" cy="2031325"/>
          </a:xfrm>
          <a:prstGeom prst="rect">
            <a:avLst/>
          </a:prstGeom>
          <a:noFill/>
        </p:spPr>
        <p:txBody>
          <a:bodyPr wrap="square" rtlCol="0">
            <a:spAutoFit/>
          </a:bodyPr>
          <a:lstStyle/>
          <a:p>
            <a:pPr marL="342900" indent="-342900">
              <a:buFont typeface="+mj-lt"/>
              <a:buAutoNum type="alphaLcParenR"/>
            </a:pPr>
            <a:r>
              <a:rPr lang="en-US" dirty="0" err="1">
                <a:latin typeface="Quattrocento Sans" panose="020B0502050000020003" pitchFamily="34" charset="0"/>
              </a:rPr>
              <a:t>Dockerfile</a:t>
            </a:r>
            <a:endParaRPr lang="en-US" dirty="0">
              <a:latin typeface="Quattrocento Sans" panose="020B0502050000020003" pitchFamily="34" charset="0"/>
            </a:endParaRPr>
          </a:p>
          <a:p>
            <a:pPr marL="342900" indent="-342900">
              <a:buFont typeface="+mj-lt"/>
              <a:buAutoNum type="alphaLcParenR"/>
            </a:pPr>
            <a:endParaRPr lang="en-US" dirty="0">
              <a:latin typeface="Quattrocento Sans" panose="020B0502050000020003" pitchFamily="34" charset="0"/>
            </a:endParaRPr>
          </a:p>
          <a:p>
            <a:pPr marL="342900" indent="-342900">
              <a:buFont typeface="+mj-lt"/>
              <a:buAutoNum type="alphaLcParenR"/>
            </a:pPr>
            <a:r>
              <a:rPr lang="en-US" dirty="0" err="1">
                <a:latin typeface="Quattrocento Sans" panose="020B0502050000020003" pitchFamily="34" charset="0"/>
              </a:rPr>
              <a:t>action.yml</a:t>
            </a:r>
            <a:endParaRPr lang="en-US" dirty="0">
              <a:latin typeface="Quattrocento Sans" panose="020B0502050000020003" pitchFamily="34" charset="0"/>
            </a:endParaRPr>
          </a:p>
          <a:p>
            <a:pPr marL="342900" indent="-342900">
              <a:buFont typeface="+mj-lt"/>
              <a:buAutoNum type="alphaLcParenR"/>
            </a:pPr>
            <a:endParaRPr lang="en-US" dirty="0">
              <a:latin typeface="Quattrocento Sans" panose="020B0502050000020003" pitchFamily="34" charset="0"/>
            </a:endParaRPr>
          </a:p>
          <a:p>
            <a:pPr marL="342900" indent="-342900">
              <a:buFont typeface="+mj-lt"/>
              <a:buAutoNum type="alphaLcParenR"/>
            </a:pPr>
            <a:r>
              <a:rPr lang="en-US" dirty="0" err="1">
                <a:latin typeface="Quattrocento Sans" panose="020B0502050000020003" pitchFamily="34" charset="0"/>
              </a:rPr>
              <a:t>workflow.yml</a:t>
            </a:r>
            <a:endParaRPr lang="en-US" dirty="0">
              <a:latin typeface="Quattrocento Sans" panose="020B0502050000020003" pitchFamily="34" charset="0"/>
            </a:endParaRPr>
          </a:p>
          <a:p>
            <a:pPr marL="342900" indent="-342900">
              <a:buFont typeface="+mj-lt"/>
              <a:buAutoNum type="alphaLcParenR"/>
            </a:pPr>
            <a:endParaRPr lang="en-US" dirty="0">
              <a:latin typeface="Quattrocento Sans" panose="020B0502050000020003" pitchFamily="34" charset="0"/>
            </a:endParaRPr>
          </a:p>
          <a:p>
            <a:pPr marL="342900" indent="-342900">
              <a:buFont typeface="+mj-lt"/>
              <a:buAutoNum type="alphaLcParenR"/>
            </a:pPr>
            <a:r>
              <a:rPr lang="en-US" dirty="0" err="1">
                <a:latin typeface="Quattrocento Sans" panose="020B0502050000020003" pitchFamily="34" charset="0"/>
              </a:rPr>
              <a:t>package.json</a:t>
            </a:r>
            <a:endParaRPr lang="en-US" dirty="0">
              <a:latin typeface="Quattrocento Sans" panose="020B0502050000020003" pitchFamily="34" charset="0"/>
            </a:endParaRPr>
          </a:p>
        </p:txBody>
      </p:sp>
      <p:sp>
        <p:nvSpPr>
          <p:cNvPr id="4" name="Footer Placeholder 10">
            <a:extLst>
              <a:ext uri="{FF2B5EF4-FFF2-40B4-BE49-F238E27FC236}">
                <a16:creationId xmlns:a16="http://schemas.microsoft.com/office/drawing/2014/main" id="{9E141180-7BEE-FBE5-10C0-72DA5FCEA5EB}"/>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p>
        </p:txBody>
      </p:sp>
      <p:sp>
        <p:nvSpPr>
          <p:cNvPr id="6" name="TextBox 5">
            <a:extLst>
              <a:ext uri="{FF2B5EF4-FFF2-40B4-BE49-F238E27FC236}">
                <a16:creationId xmlns:a16="http://schemas.microsoft.com/office/drawing/2014/main" id="{920CBED3-52C0-9B80-22DF-C7162F3210ED}"/>
              </a:ext>
            </a:extLst>
          </p:cNvPr>
          <p:cNvSpPr txBox="1"/>
          <p:nvPr/>
        </p:nvSpPr>
        <p:spPr>
          <a:xfrm>
            <a:off x="10938072" y="447532"/>
            <a:ext cx="872836" cy="369332"/>
          </a:xfrm>
          <a:prstGeom prst="rect">
            <a:avLst/>
          </a:prstGeom>
          <a:noFill/>
        </p:spPr>
        <p:txBody>
          <a:bodyPr wrap="square" rtlCol="0">
            <a:spAutoFit/>
          </a:bodyPr>
          <a:lstStyle/>
          <a:p>
            <a:r>
              <a:rPr lang="en-US" dirty="0"/>
              <a:t>4 of 4</a:t>
            </a:r>
          </a:p>
        </p:txBody>
      </p:sp>
    </p:spTree>
    <p:extLst>
      <p:ext uri="{BB962C8B-B14F-4D97-AF65-F5344CB8AC3E}">
        <p14:creationId xmlns:p14="http://schemas.microsoft.com/office/powerpoint/2010/main" val="4284664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BC09F-F1BC-B030-ABA5-CCC4CB439AB9}"/>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D65ACD8-A3C0-1947-EE3F-EB8082717C0F}"/>
              </a:ext>
            </a:extLst>
          </p:cNvPr>
          <p:cNvSpPr>
            <a:spLocks noGrp="1"/>
          </p:cNvSpPr>
          <p:nvPr>
            <p:ph type="title"/>
          </p:nvPr>
        </p:nvSpPr>
        <p:spPr>
          <a:xfrm>
            <a:off x="588262" y="389165"/>
            <a:ext cx="8193024" cy="492443"/>
          </a:xfrm>
        </p:spPr>
        <p:txBody>
          <a:bodyPr>
            <a:normAutofit fontScale="90000"/>
          </a:bodyPr>
          <a:lstStyle/>
          <a:p>
            <a:r>
              <a:rPr lang="en-US" sz="3200" dirty="0">
                <a:latin typeface="Quattrocento Sans" panose="020B0502050000020003" pitchFamily="34" charset="0"/>
              </a:rPr>
              <a:t>Summary</a:t>
            </a:r>
          </a:p>
        </p:txBody>
      </p:sp>
      <p:sp>
        <p:nvSpPr>
          <p:cNvPr id="3" name="TextBox 2">
            <a:extLst>
              <a:ext uri="{FF2B5EF4-FFF2-40B4-BE49-F238E27FC236}">
                <a16:creationId xmlns:a16="http://schemas.microsoft.com/office/drawing/2014/main" id="{0E530E54-35F6-015B-2DB1-C388AC6F72E2}"/>
              </a:ext>
            </a:extLst>
          </p:cNvPr>
          <p:cNvSpPr txBox="1"/>
          <p:nvPr/>
        </p:nvSpPr>
        <p:spPr>
          <a:xfrm>
            <a:off x="588262" y="940256"/>
            <a:ext cx="11015476" cy="1938992"/>
          </a:xfrm>
          <a:prstGeom prst="rect">
            <a:avLst/>
          </a:prstGeom>
          <a:noFill/>
        </p:spPr>
        <p:txBody>
          <a:bodyPr wrap="square">
            <a:spAutoFit/>
          </a:bodyPr>
          <a:lstStyle/>
          <a:p>
            <a:pPr algn="l">
              <a:spcAft>
                <a:spcPts val="1200"/>
              </a:spcAft>
            </a:pPr>
            <a:r>
              <a:rPr lang="en-US" sz="2000" b="0" i="0" dirty="0">
                <a:solidFill>
                  <a:srgbClr val="161616"/>
                </a:solidFill>
                <a:effectLst/>
                <a:latin typeface="Quattrocento Sans" panose="020B0502050000020003" pitchFamily="34" charset="0"/>
              </a:rPr>
              <a:t>In this module, you learned how to create and use custom GitHub Actions by understanding the required metadata, syntax, and best practices for documentation, versioning, and publishing to the Marketplace. You saw how to implement actions that call external APIs and pass their responses as workflow outputs, and how to interact with the repository (for example, creating issues) using packages and </a:t>
            </a:r>
            <a:r>
              <a:rPr lang="en-US" b="0" i="0" dirty="0">
                <a:solidFill>
                  <a:srgbClr val="161616"/>
                </a:solidFill>
                <a:effectLst/>
                <a:highlight>
                  <a:srgbClr val="C0C0C0"/>
                </a:highlight>
                <a:latin typeface="Roboto Mono" pitchFamily="49" charset="0"/>
                <a:ea typeface="Roboto Mono" pitchFamily="49" charset="0"/>
              </a:rPr>
              <a:t>@actions/core</a:t>
            </a:r>
            <a:r>
              <a:rPr lang="en-US" sz="2000" b="0" i="0" dirty="0">
                <a:solidFill>
                  <a:srgbClr val="161616"/>
                </a:solidFill>
                <a:effectLst/>
                <a:latin typeface="Quattrocento Sans" panose="020B0502050000020003" pitchFamily="34" charset="0"/>
              </a:rPr>
              <a:t> for error handling. Finally, you practiced consuming and extending Actions in workflows to automate tasks reliably.</a:t>
            </a:r>
          </a:p>
        </p:txBody>
      </p:sp>
      <p:sp>
        <p:nvSpPr>
          <p:cNvPr id="2" name="Footer Placeholder 1">
            <a:extLst>
              <a:ext uri="{FF2B5EF4-FFF2-40B4-BE49-F238E27FC236}">
                <a16:creationId xmlns:a16="http://schemas.microsoft.com/office/drawing/2014/main" id="{96990959-42CE-847B-5D1A-63970468F3A6}"/>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809434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7549</Words>
  <Application>Microsoft Office PowerPoint</Application>
  <PresentationFormat>Widescreen</PresentationFormat>
  <Paragraphs>704</Paragraphs>
  <Slides>59</Slides>
  <Notes>59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Aptos</vt:lpstr>
      <vt:lpstr>Aptos Display</vt:lpstr>
      <vt:lpstr>Arial</vt:lpstr>
      <vt:lpstr>Courier New</vt:lpstr>
      <vt:lpstr>Quattrocento Sans</vt:lpstr>
      <vt:lpstr>Roboto Mono</vt:lpstr>
      <vt:lpstr>Segoe UI</vt:lpstr>
      <vt:lpstr>Office Theme</vt:lpstr>
      <vt:lpstr>GH-200: Automate your workflow with GitHub Actions Part 2 of 2</vt:lpstr>
      <vt:lpstr>Module 6: Create and publish custom GitHub actions</vt:lpstr>
      <vt:lpstr>Introduction</vt:lpstr>
      <vt:lpstr>Types of GitHub actions</vt:lpstr>
      <vt:lpstr>Docker container actions</vt:lpstr>
      <vt:lpstr>JavaScript actions</vt:lpstr>
      <vt:lpstr>Composite run steps actions</vt:lpstr>
      <vt:lpstr>Packaged composite action</vt:lpstr>
      <vt:lpstr>Create a composite action</vt:lpstr>
      <vt:lpstr>Create a composite action</vt:lpstr>
      <vt:lpstr>Create a composite action</vt:lpstr>
      <vt:lpstr>Create a composite action</vt:lpstr>
      <vt:lpstr>Define an output in action.yml</vt:lpstr>
      <vt:lpstr>Use the output in a workflow</vt:lpstr>
      <vt:lpstr>Best practices for composite actions</vt:lpstr>
      <vt:lpstr>Composite action in a workflow</vt:lpstr>
      <vt:lpstr>Develop an action to set up a CLI on GitHub Actions runners</vt:lpstr>
      <vt:lpstr>How to develop a CLI setup action</vt:lpstr>
      <vt:lpstr>Step 1: Set Up the Action Directory</vt:lpstr>
      <vt:lpstr>Step 1: Set Up the Action Directory</vt:lpstr>
      <vt:lpstr>Step 2: Define the action.yml metadata file</vt:lpstr>
      <vt:lpstr>Step 3: Create a JavaScript script to install the CLI</vt:lpstr>
      <vt:lpstr>Step 3: Create a JavaScript script to install the CLI</vt:lpstr>
      <vt:lpstr>Step 4: Test the action locally</vt:lpstr>
      <vt:lpstr>Step 4: Test the action locally</vt:lpstr>
      <vt:lpstr>Step 4: Test the action locally</vt:lpstr>
      <vt:lpstr>Test locally</vt:lpstr>
      <vt:lpstr>Best practices for CLI setup actions</vt:lpstr>
      <vt:lpstr>Troubleshoot JavaScript actions</vt:lpstr>
      <vt:lpstr>Use Logging for Debugging</vt:lpstr>
      <vt:lpstr>Set secrets for debugging</vt:lpstr>
      <vt:lpstr>Test your action locally</vt:lpstr>
      <vt:lpstr>Best practices for debugging JavaScript actions</vt:lpstr>
      <vt:lpstr>Troubleshoot Docker container actions</vt:lpstr>
      <vt:lpstr>Understand the Docker action lifecycle</vt:lpstr>
      <vt:lpstr>Understand the Docker action lifecycle</vt:lpstr>
      <vt:lpstr>Understand the Docker action lifecycle</vt:lpstr>
      <vt:lpstr>Debugging techniques</vt:lpstr>
      <vt:lpstr>Debugging techniques</vt:lpstr>
      <vt:lpstr>Environment variable mapping</vt:lpstr>
      <vt:lpstr>Use troubleshooting secrets</vt:lpstr>
      <vt:lpstr>Best practices for Docker action debugging</vt:lpstr>
      <vt:lpstr>Publish a custom GitHub action</vt:lpstr>
      <vt:lpstr>Choose a location for your action</vt:lpstr>
      <vt:lpstr>Public</vt:lpstr>
      <vt:lpstr>Private</vt:lpstr>
      <vt:lpstr>Document your action</vt:lpstr>
      <vt:lpstr>Release and version your action</vt:lpstr>
      <vt:lpstr>Tags</vt:lpstr>
      <vt:lpstr>Use a commit's SHA</vt:lpstr>
      <vt:lpstr>Publish an action to the GitHub Marketplace</vt:lpstr>
      <vt:lpstr>Publish an action to the GitHub Marketplace (continued)</vt:lpstr>
      <vt:lpstr>Exercise - Create a custom JavaScript GitHub action</vt:lpstr>
      <vt:lpstr>Knowledge Checks</vt:lpstr>
      <vt:lpstr>Knowledge Check:  Create and publish custom GitHub actions </vt:lpstr>
      <vt:lpstr>Knowledge Check:  Create and publish custom GitHub actions </vt:lpstr>
      <vt:lpstr>Knowledge Check:  Create and publish custom GitHub actions </vt:lpstr>
      <vt:lpstr>Knowledge Check:  Create and publish custom GitHub actions </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2025-06-12T13:49:13Z</dcterms:created>
  <dcterms:modified xsi:type="dcterms:W3CDTF">2025-06-12T13:49:23Z</dcterms:modified>
</cp:coreProperties>
</file>
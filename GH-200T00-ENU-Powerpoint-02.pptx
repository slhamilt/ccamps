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62"/>
  </p:notesMasterIdLst>
  <p:sldIdLst>
    <p:sldId id="2076138181" r:id="rId2"/>
    <p:sldId id="1684" r:id="rId3"/>
    <p:sldId id="2147479969" r:id="rId4"/>
    <p:sldId id="2147480009" r:id="rId5"/>
    <p:sldId id="2147480011" r:id="rId6"/>
    <p:sldId id="2147480014" r:id="rId7"/>
    <p:sldId id="2147480015" r:id="rId8"/>
    <p:sldId id="2147480016" r:id="rId9"/>
    <p:sldId id="2147480020" r:id="rId10"/>
    <p:sldId id="2147480021" r:id="rId11"/>
    <p:sldId id="2147480022" r:id="rId12"/>
    <p:sldId id="2147480013" r:id="rId13"/>
    <p:sldId id="2147480023" r:id="rId14"/>
    <p:sldId id="2147480024" r:id="rId15"/>
    <p:sldId id="2147480025" r:id="rId16"/>
    <p:sldId id="2147480026" r:id="rId17"/>
    <p:sldId id="2147480027" r:id="rId18"/>
    <p:sldId id="2147480028" r:id="rId19"/>
    <p:sldId id="2147480029" r:id="rId20"/>
    <p:sldId id="2147480030" r:id="rId21"/>
    <p:sldId id="2147480031" r:id="rId22"/>
    <p:sldId id="2147480032" r:id="rId23"/>
    <p:sldId id="2147480033" r:id="rId24"/>
    <p:sldId id="2147480034" r:id="rId25"/>
    <p:sldId id="2147480035" r:id="rId26"/>
    <p:sldId id="2147480036" r:id="rId27"/>
    <p:sldId id="2147480037" r:id="rId28"/>
    <p:sldId id="2147480038" r:id="rId29"/>
    <p:sldId id="2147480039" r:id="rId30"/>
    <p:sldId id="2147480040" r:id="rId31"/>
    <p:sldId id="2147480041" r:id="rId32"/>
    <p:sldId id="2147480042" r:id="rId33"/>
    <p:sldId id="2147480043" r:id="rId34"/>
    <p:sldId id="2147480044" r:id="rId35"/>
    <p:sldId id="2147480045" r:id="rId36"/>
    <p:sldId id="2147480046" r:id="rId37"/>
    <p:sldId id="2147480047" r:id="rId38"/>
    <p:sldId id="2147480048" r:id="rId39"/>
    <p:sldId id="2147480049" r:id="rId40"/>
    <p:sldId id="2147480050" r:id="rId41"/>
    <p:sldId id="2147480051" r:id="rId42"/>
    <p:sldId id="2147480052" r:id="rId43"/>
    <p:sldId id="2147480053" r:id="rId44"/>
    <p:sldId id="2147480054" r:id="rId45"/>
    <p:sldId id="2147480055" r:id="rId46"/>
    <p:sldId id="2147480056" r:id="rId47"/>
    <p:sldId id="2147480057" r:id="rId48"/>
    <p:sldId id="2147480058" r:id="rId49"/>
    <p:sldId id="2147480059" r:id="rId50"/>
    <p:sldId id="2147480060" r:id="rId51"/>
    <p:sldId id="2147480061" r:id="rId52"/>
    <p:sldId id="2147480141" r:id="rId53"/>
    <p:sldId id="2147479655" r:id="rId54"/>
    <p:sldId id="2147480002" r:id="rId55"/>
    <p:sldId id="2147480142" r:id="rId56"/>
    <p:sldId id="2147480143" r:id="rId57"/>
    <p:sldId id="2147480144" r:id="rId58"/>
    <p:sldId id="2147480145" r:id="rId59"/>
    <p:sldId id="2147480146" r:id="rId60"/>
    <p:sldId id="2147479832"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6E70"/>
    <a:srgbClr val="A296DE"/>
    <a:srgbClr val="E3EDFF"/>
    <a:srgbClr val="E2E1FF"/>
    <a:srgbClr val="FA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A21782-E94B-EC4A-B4DD-E895606B2CFC}" v="213" dt="2025-06-11T16:58:53.8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25"/>
    <p:restoredTop sz="62313"/>
  </p:normalViewPr>
  <p:slideViewPr>
    <p:cSldViewPr snapToGrid="0">
      <p:cViewPr varScale="1">
        <p:scale>
          <a:sx n="59" d="100"/>
          <a:sy n="59" d="100"/>
        </p:scale>
        <p:origin x="1845" y="2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C0754-7031-D946-A350-BA75D7EE5D90}" type="datetimeFigureOut">
              <a:rPr lang="en-US" smtClean="0"/>
              <a:t>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273794-9BC8-C445-839D-F8BD4FC1F474}" type="slidenum">
              <a:rPr lang="en-US" smtClean="0"/>
              <a:t>‹#›</a:t>
            </a:fld>
            <a:endParaRPr lang="en-US"/>
          </a:p>
        </p:txBody>
      </p:sp>
    </p:spTree>
    <p:extLst>
      <p:ext uri="{BB962C8B-B14F-4D97-AF65-F5344CB8AC3E}">
        <p14:creationId xmlns:p14="http://schemas.microsoft.com/office/powerpoint/2010/main" val="3040101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learn.microsoft.com/en-us/training/modules/github-actions-ci/3-exercise-ci-workflow-github" TargetMode="External"/><Relationship Id="rId3" Type="http://schemas.openxmlformats.org/officeDocument/2006/relationships/hyperlink" Target="https://learn.microsoft.com/en-us/training/paths/github-actions/?wt.mc_id=github_inproduct_actions_mslearn_ghcertregistration" TargetMode="External"/><Relationship Id="rId7" Type="http://schemas.openxmlformats.org/officeDocument/2006/relationships/hyperlink" Target="https://learn.microsoft.com/en-us/training/modules/github-actions-ci/2b-github-actions-essential-features"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learn.microsoft.com/en-us/training/modules/github-actions-ci/2-github-actions-workflows-ci" TargetMode="External"/><Relationship Id="rId5" Type="http://schemas.openxmlformats.org/officeDocument/2006/relationships/hyperlink" Target="https://learn.microsoft.com/en-us/training/modules/github-actions-ci/1-introduction" TargetMode="External"/><Relationship Id="rId10" Type="http://schemas.openxmlformats.org/officeDocument/2006/relationships/hyperlink" Target="https://learn.microsoft.com/en-us/training/modules/github-actions-ci/5-summary" TargetMode="External"/><Relationship Id="rId4" Type="http://schemas.openxmlformats.org/officeDocument/2006/relationships/hyperlink" Target="https://learn.microsoft.com/en-us/training/modules/github-actions-ci/" TargetMode="External"/><Relationship Id="rId9" Type="http://schemas.openxmlformats.org/officeDocument/2006/relationships/hyperlink" Target="https://learn.microsoft.com/en-us/training/modules/github-actions-ci/4-knowledge-check"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a:t>
            </a:r>
            <a:r>
              <a:rPr lang="en-US" dirty="0" err="1"/>
              <a:t>learn.microsoft.com</a:t>
            </a:r>
            <a:r>
              <a:rPr lang="en-US" dirty="0"/>
              <a:t>/</a:t>
            </a:r>
            <a:r>
              <a:rPr lang="en-US" dirty="0" err="1"/>
              <a:t>en</a:t>
            </a:r>
            <a:r>
              <a:rPr lang="en-US" dirty="0"/>
              <a:t>-us/training/paths/</a:t>
            </a:r>
            <a:r>
              <a:rPr lang="en-US" dirty="0" err="1"/>
              <a:t>github</a:t>
            </a:r>
            <a:r>
              <a:rPr lang="en-US" dirty="0"/>
              <a:t>-actions/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1" dirty="0"/>
              <a:t>Title: </a:t>
            </a:r>
            <a:r>
              <a:rPr lang="en-US" sz="1200" dirty="0">
                <a:solidFill>
                  <a:schemeClr val="tx1"/>
                </a:solidFill>
                <a:hlinkClick r:id="rId3">
                  <a:extLst>
                    <a:ext uri="{A12FA001-AC4F-418D-AE19-62706E023703}">
                      <ahyp:hlinkClr xmlns:ahyp="http://schemas.microsoft.com/office/drawing/2018/hyperlinkcolor" val="tx"/>
                    </a:ext>
                  </a:extLst>
                </a:hlinkClick>
              </a:rPr>
              <a:t>Module </a:t>
            </a:r>
            <a:r>
              <a:rPr lang="en-US" sz="1200" dirty="0">
                <a:solidFill>
                  <a:schemeClr val="tx1"/>
                </a:solidFill>
              </a:rPr>
              <a:t>2: </a:t>
            </a:r>
            <a:r>
              <a:rPr lang="en-US" b="0" i="0" u="sng" dirty="0">
                <a:solidFill>
                  <a:schemeClr val="tx1"/>
                </a:solidFill>
                <a:effectLst/>
                <a:highlight>
                  <a:srgbClr val="FFFFFF"/>
                </a:highlight>
                <a:latin typeface="Segoe UI" panose="020B0502040204020203" pitchFamily="34" charset="0"/>
                <a:hlinkClick r:id="rId4">
                  <a:extLst>
                    <a:ext uri="{A12FA001-AC4F-418D-AE19-62706E023703}">
                      <ahyp:hlinkClr xmlns:ahyp="http://schemas.microsoft.com/office/drawing/2018/hyperlinkcolor" val="tx"/>
                    </a:ext>
                  </a:extLst>
                </a:hlinkClick>
              </a:rPr>
              <a:t>Build continuous integration (CI) workflows by using GitHub Actions </a:t>
            </a:r>
            <a:endParaRPr lang="en-US" dirty="0">
              <a:latin typeface="Quattrocento Sans" panose="020B0502050000020003" pitchFamily="34" charset="0"/>
            </a:endParaRPr>
          </a:p>
          <a:p>
            <a:pPr marL="0" indent="0" algn="l">
              <a:buFont typeface="+mj-lt"/>
              <a:buNone/>
            </a:pPr>
            <a:r>
              <a:rPr lang="en-US" b="1" dirty="0"/>
              <a:t>Learning Objectives:</a:t>
            </a:r>
          </a:p>
          <a:p>
            <a:pPr marL="0" indent="0" algn="l">
              <a:buFont typeface="+mj-lt"/>
              <a:buNone/>
            </a:pPr>
            <a:r>
              <a:rPr lang="en-US" dirty="0"/>
              <a:t>By the end of this unit, you'll be able to:</a:t>
            </a:r>
          </a:p>
          <a:p>
            <a:pPr marL="171450" indent="-1714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Build and test a Node.js project by using GitHub Actions and a templated workflow.</a:t>
            </a:r>
          </a:p>
          <a:p>
            <a:pPr marL="171450" indent="-1714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Debug a failed test using the GitHub Actions Log.</a:t>
            </a:r>
          </a:p>
          <a:p>
            <a:pPr marL="171450" indent="-1714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Customize your workflow with GitHub Actions.</a:t>
            </a:r>
          </a:p>
          <a:p>
            <a:pPr marL="0" indent="0" algn="l">
              <a:buFont typeface="+mj-lt"/>
              <a:buNone/>
            </a:pPr>
            <a:r>
              <a:rPr lang="en-US" b="1" dirty="0"/>
              <a:t>Module Units</a:t>
            </a:r>
          </a:p>
          <a:p>
            <a:pPr marL="171450" indent="-171450" algn="l">
              <a:buFont typeface="Arial" panose="020B0604020202020204" pitchFamily="34" charset="0"/>
              <a:buChar char="•"/>
            </a:pPr>
            <a:r>
              <a:rPr lang="en-US" b="0" i="0" u="sng" dirty="0">
                <a:solidFill>
                  <a:srgbClr val="161616"/>
                </a:solidFill>
                <a:effectLst/>
                <a:highlight>
                  <a:srgbClr val="FFFFFF"/>
                </a:highlight>
                <a:latin typeface="Segoe UI" panose="020B0502040204020203" pitchFamily="34" charset="0"/>
                <a:hlinkClick r:id="rId5"/>
              </a:rPr>
              <a:t>Introduction</a:t>
            </a:r>
            <a:r>
              <a:rPr lang="en-US" b="0" i="0" dirty="0">
                <a:solidFill>
                  <a:srgbClr val="161616"/>
                </a:solidFill>
                <a:effectLst/>
                <a:highlight>
                  <a:srgbClr val="FFFFFF"/>
                </a:highlight>
                <a:latin typeface="Segoe UI" panose="020B0502040204020203" pitchFamily="34" charset="0"/>
              </a:rPr>
              <a:t>1 min</a:t>
            </a:r>
          </a:p>
          <a:p>
            <a:pPr marL="171450" indent="-171450"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6"/>
              </a:rPr>
              <a:t>How do I use GitHub Actions to create workflows for CI?</a:t>
            </a:r>
            <a:r>
              <a:rPr lang="en-US" b="0" i="0" dirty="0">
                <a:solidFill>
                  <a:srgbClr val="161616"/>
                </a:solidFill>
                <a:effectLst/>
                <a:highlight>
                  <a:srgbClr val="FFFFFF"/>
                </a:highlight>
                <a:latin typeface="Segoe UI" panose="020B0502040204020203" pitchFamily="34" charset="0"/>
              </a:rPr>
              <a:t>9 min</a:t>
            </a:r>
          </a:p>
          <a:p>
            <a:pPr marL="171450" indent="-171450"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7"/>
              </a:rPr>
              <a:t>Customize your workflow with environment variables and artifact data</a:t>
            </a:r>
            <a:r>
              <a:rPr lang="en-US" b="0" i="0" dirty="0">
                <a:solidFill>
                  <a:srgbClr val="161616"/>
                </a:solidFill>
                <a:effectLst/>
                <a:highlight>
                  <a:srgbClr val="FFFFFF"/>
                </a:highlight>
                <a:latin typeface="Segoe UI" panose="020B0502040204020203" pitchFamily="34" charset="0"/>
              </a:rPr>
              <a:t>12 min</a:t>
            </a:r>
          </a:p>
          <a:p>
            <a:pPr marL="171450" indent="-171450"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8"/>
              </a:rPr>
              <a:t>Exercise - Create the CI workflow on GitHub</a:t>
            </a:r>
            <a:r>
              <a:rPr lang="en-US" b="0" i="0" dirty="0">
                <a:solidFill>
                  <a:srgbClr val="161616"/>
                </a:solidFill>
                <a:effectLst/>
                <a:highlight>
                  <a:srgbClr val="FFFFFF"/>
                </a:highlight>
                <a:latin typeface="Segoe UI" panose="020B0502040204020203" pitchFamily="34" charset="0"/>
              </a:rPr>
              <a:t>40 min</a:t>
            </a:r>
          </a:p>
          <a:p>
            <a:pPr marL="171450" indent="-171450"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9"/>
              </a:rPr>
              <a:t>Module assessment</a:t>
            </a:r>
            <a:r>
              <a:rPr lang="en-US" b="0" i="0" dirty="0">
                <a:solidFill>
                  <a:srgbClr val="161616"/>
                </a:solidFill>
                <a:effectLst/>
                <a:highlight>
                  <a:srgbClr val="FFFFFF"/>
                </a:highlight>
                <a:latin typeface="Segoe UI" panose="020B0502040204020203" pitchFamily="34" charset="0"/>
              </a:rPr>
              <a:t>4 min</a:t>
            </a:r>
          </a:p>
          <a:p>
            <a:pPr marL="171450" indent="-171450"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10"/>
              </a:rPr>
              <a:t>Summary</a:t>
            </a:r>
            <a:r>
              <a:rPr lang="en-US" b="0" i="0" dirty="0">
                <a:solidFill>
                  <a:srgbClr val="161616"/>
                </a:solidFill>
                <a:effectLst/>
                <a:highlight>
                  <a:srgbClr val="FFFFFF"/>
                </a:highlight>
                <a:latin typeface="Segoe UI" panose="020B0502040204020203" pitchFamily="34" charset="0"/>
              </a:rPr>
              <a:t>1 min</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209868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we’re focusing on how GitHub Actions can power your </a:t>
            </a:r>
            <a:r>
              <a:rPr lang="en-US" b="1" dirty="0"/>
              <a:t>continuous integration (CI)</a:t>
            </a:r>
            <a:r>
              <a:rPr lang="en-US" dirty="0"/>
              <a:t> pipeline—helping your team build, test, and deliver code more efficiently.</a:t>
            </a:r>
          </a:p>
          <a:p>
            <a:r>
              <a:rPr lang="en-US" dirty="0"/>
              <a:t>You’ll see how GitHub Actions automatically trigger workflows every time code is pushed to your repo. This kind of automation helps catch bugs early, keeps development moving quickly, and ensures each new feature is thoroughly tested before it goes live.</a:t>
            </a:r>
          </a:p>
          <a:p>
            <a:r>
              <a:rPr lang="en-US" dirty="0"/>
              <a:t>We’ll be working with a Node.js project as an example, but the concepts you learn can be applied to any tech stack stored in a GitHub repository.</a:t>
            </a:r>
          </a:p>
          <a:p>
            <a:endParaRPr lang="en-US" b="1" dirty="0"/>
          </a:p>
          <a:p>
            <a:r>
              <a:rPr lang="en-US" b="1" dirty="0"/>
              <a:t>Learning Objectives</a:t>
            </a:r>
          </a:p>
          <a:p>
            <a:r>
              <a:rPr lang="en-US" dirty="0"/>
              <a:t>Here’s what you’ll be able to do by the end of this module:</a:t>
            </a:r>
          </a:p>
          <a:p>
            <a:pPr marL="171450" indent="-171450">
              <a:buFont typeface="Arial" panose="020B0604020202020204" pitchFamily="34" charset="0"/>
              <a:buChar char="•"/>
            </a:pPr>
            <a:r>
              <a:rPr lang="en-US" b="1" dirty="0"/>
              <a:t>Build and test a Node.js project</a:t>
            </a:r>
            <a:r>
              <a:rPr lang="en-US" dirty="0"/>
              <a:t> using a pre-built GitHub Actions workflow template—so you can get started fast without writing everything from scratch.</a:t>
            </a:r>
          </a:p>
          <a:p>
            <a:pPr marL="171450" indent="-171450">
              <a:buFont typeface="Arial" panose="020B0604020202020204" pitchFamily="34" charset="0"/>
              <a:buChar char="•"/>
            </a:pPr>
            <a:r>
              <a:rPr lang="en-US" b="1" dirty="0"/>
              <a:t>Debug a failed test</a:t>
            </a:r>
            <a:r>
              <a:rPr lang="en-US" dirty="0"/>
              <a:t> by reading through the GitHub Actions log—an essential skill for diagnosing and fixing problems in automated workflows.</a:t>
            </a:r>
          </a:p>
          <a:p>
            <a:pPr marL="171450" indent="-171450">
              <a:buFont typeface="Arial" panose="020B0604020202020204" pitchFamily="34" charset="0"/>
              <a:buChar char="•"/>
            </a:pPr>
            <a:r>
              <a:rPr lang="en-US" b="1" dirty="0"/>
              <a:t>Customize your workflow</a:t>
            </a:r>
            <a:r>
              <a:rPr lang="en-US" dirty="0"/>
              <a:t> to match your team’s unique needs—whether that means adjusting test behavior, adding new steps, or configuring when and how the workflow runs.</a:t>
            </a:r>
          </a:p>
          <a:p>
            <a:endParaRPr lang="en-US" dirty="0"/>
          </a:p>
          <a:p>
            <a:r>
              <a:rPr lang="en-US" dirty="0"/>
              <a:t>By the end of this module, you'll have a working CI setup and the knowledge to tweak it to fit your real-world development process.</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1518081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algn="l">
              <a:spcBef>
                <a:spcPts val="2400"/>
              </a:spcBef>
              <a:spcAft>
                <a:spcPts val="900"/>
              </a:spcAft>
            </a:pPr>
            <a:r>
              <a:rPr lang="en-US" dirty="0"/>
              <a:t>Let’s walk through starting a workflow. </a:t>
            </a:r>
          </a:p>
          <a:p>
            <a:pPr algn="l">
              <a:spcBef>
                <a:spcPts val="2400"/>
              </a:spcBef>
              <a:spcAft>
                <a:spcPts val="900"/>
              </a:spcAft>
            </a:pPr>
            <a:endParaRPr lang="en-US" dirty="0"/>
          </a:p>
          <a:p>
            <a:pPr algn="l">
              <a:spcBef>
                <a:spcPts val="2400"/>
              </a:spcBef>
              <a:spcAft>
                <a:spcPts val="900"/>
              </a:spcAft>
            </a:pPr>
            <a:r>
              <a:rPr lang="en-US" dirty="0"/>
              <a:t>First, open your repo, click </a:t>
            </a:r>
            <a:r>
              <a:rPr lang="en-US" b="1" dirty="0"/>
              <a:t>Actions</a:t>
            </a:r>
            <a:r>
              <a:rPr lang="en-US" dirty="0"/>
              <a:t>, then </a:t>
            </a:r>
            <a:r>
              <a:rPr lang="en-US" b="1" dirty="0"/>
              <a:t>New workflow</a:t>
            </a:r>
            <a:r>
              <a:rPr lang="en-US" dirty="0"/>
              <a:t>. GitHub presents a catalog of templates—these are prebuilt workflows with the standard jobs and steps already in place. </a:t>
            </a:r>
          </a:p>
          <a:p>
            <a:pPr algn="l">
              <a:spcBef>
                <a:spcPts val="2400"/>
              </a:spcBef>
              <a:spcAft>
                <a:spcPts val="900"/>
              </a:spcAft>
            </a:pPr>
            <a:endParaRPr lang="en-US" dirty="0"/>
          </a:p>
          <a:p>
            <a:pPr algn="l">
              <a:spcBef>
                <a:spcPts val="2400"/>
              </a:spcBef>
              <a:spcAft>
                <a:spcPts val="900"/>
              </a:spcAft>
            </a:pPr>
            <a:r>
              <a:rPr lang="en-US" dirty="0"/>
              <a:t>For instance, the </a:t>
            </a:r>
            <a:r>
              <a:rPr lang="en-US" b="1" dirty="0"/>
              <a:t>Node.js</a:t>
            </a:r>
            <a:r>
              <a:rPr lang="en-US" dirty="0"/>
              <a:t> template handles dependency install, build, and tests for multiple Node versions. </a:t>
            </a:r>
          </a:p>
          <a:p>
            <a:pPr algn="l">
              <a:spcBef>
                <a:spcPts val="2400"/>
              </a:spcBef>
              <a:spcAft>
                <a:spcPts val="900"/>
              </a:spcAft>
            </a:pPr>
            <a:endParaRPr lang="en-US" dirty="0"/>
          </a:p>
          <a:p>
            <a:pPr algn="l">
              <a:spcBef>
                <a:spcPts val="2400"/>
              </a:spcBef>
              <a:spcAft>
                <a:spcPts val="900"/>
              </a:spcAft>
            </a:pPr>
            <a:r>
              <a:rPr lang="en-US" dirty="0"/>
              <a:t>The </a:t>
            </a:r>
            <a:r>
              <a:rPr lang="en-US" b="1" dirty="0"/>
              <a:t>Python package</a:t>
            </a:r>
            <a:r>
              <a:rPr lang="en-US" dirty="0"/>
              <a:t> template does the same for Python, including linting. </a:t>
            </a:r>
          </a:p>
          <a:p>
            <a:pPr algn="l">
              <a:spcBef>
                <a:spcPts val="2400"/>
              </a:spcBef>
              <a:spcAft>
                <a:spcPts val="900"/>
              </a:spcAft>
            </a:pPr>
            <a:endParaRPr lang="en-US" dirty="0"/>
          </a:p>
          <a:p>
            <a:pPr algn="l">
              <a:spcBef>
                <a:spcPts val="2400"/>
              </a:spcBef>
              <a:spcAft>
                <a:spcPts val="900"/>
              </a:spcAft>
            </a:pPr>
            <a:r>
              <a:rPr lang="en-US" dirty="0"/>
              <a:t>If you need a specific stack, just use the search field; type ‘Node.js,’ select the template, and you’re ready to customize.</a:t>
            </a: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4279019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searching for the Node.js template, click </a:t>
            </a:r>
            <a:r>
              <a:rPr lang="en-US" b="1" dirty="0"/>
              <a:t>Configure</a:t>
            </a:r>
            <a:r>
              <a:rPr lang="en-US" dirty="0"/>
              <a:t>. GitHub opens a new file named </a:t>
            </a:r>
            <a:r>
              <a:rPr lang="en-US" dirty="0" err="1"/>
              <a:t>node.js.yml</a:t>
            </a:r>
            <a:r>
              <a:rPr lang="en-US" dirty="0"/>
              <a:t> and drops in the default Node.js CI workflow:</a:t>
            </a:r>
          </a:p>
          <a:p>
            <a:endParaRPr lang="en-US" dirty="0"/>
          </a:p>
          <a:p>
            <a:pPr marL="171450" indent="-171450">
              <a:buFont typeface="Arial" panose="020B0604020202020204" pitchFamily="34" charset="0"/>
              <a:buChar char="•"/>
            </a:pPr>
            <a:r>
              <a:rPr lang="en-US" b="1" dirty="0"/>
              <a:t>Triggers</a:t>
            </a:r>
            <a:r>
              <a:rPr lang="en-US" dirty="0"/>
              <a:t>: runs on pushes or pull requests to main.</a:t>
            </a:r>
          </a:p>
          <a:p>
            <a:pPr marL="171450" indent="-171450">
              <a:buFont typeface="Arial" panose="020B0604020202020204" pitchFamily="34" charset="0"/>
              <a:buChar char="•"/>
            </a:pPr>
            <a:r>
              <a:rPr lang="en-US" b="1" dirty="0"/>
              <a:t>Runner</a:t>
            </a:r>
            <a:r>
              <a:rPr lang="en-US" dirty="0"/>
              <a:t>: ubuntu-latest.</a:t>
            </a:r>
          </a:p>
          <a:p>
            <a:pPr marL="171450" indent="-171450">
              <a:buFont typeface="Arial" panose="020B0604020202020204" pitchFamily="34" charset="0"/>
              <a:buChar char="•"/>
            </a:pPr>
            <a:r>
              <a:rPr lang="en-US" b="1" dirty="0"/>
              <a:t>Matrix</a:t>
            </a:r>
            <a:r>
              <a:rPr lang="en-US" dirty="0"/>
              <a:t>: tests Node 14.x, 16.x, and 18.x.</a:t>
            </a:r>
          </a:p>
          <a:p>
            <a:pPr marL="171450" indent="-171450">
              <a:buFont typeface="Arial" panose="020B0604020202020204" pitchFamily="34" charset="0"/>
              <a:buChar char="•"/>
            </a:pPr>
            <a:r>
              <a:rPr lang="en-US" b="1" dirty="0"/>
              <a:t>Key steps</a:t>
            </a:r>
            <a:endParaRPr lang="en-US" dirty="0"/>
          </a:p>
          <a:p>
            <a:pPr marL="742950" lvl="1" indent="-285750">
              <a:buFont typeface="Arial" panose="020B0604020202020204" pitchFamily="34" charset="0"/>
              <a:buChar char="•"/>
            </a:pPr>
            <a:r>
              <a:rPr lang="en-US" dirty="0"/>
              <a:t>actions/checkout@v3 – pulls the repo.</a:t>
            </a:r>
          </a:p>
          <a:p>
            <a:pPr marL="742950" lvl="1" indent="-285750">
              <a:buFont typeface="Arial" panose="020B0604020202020204" pitchFamily="34" charset="0"/>
              <a:buChar char="•"/>
            </a:pPr>
            <a:r>
              <a:rPr lang="en-US" dirty="0"/>
              <a:t>actions/setup-node@v3 – sets the Node version and enables </a:t>
            </a:r>
            <a:r>
              <a:rPr lang="en-US" dirty="0" err="1"/>
              <a:t>npm</a:t>
            </a:r>
            <a:r>
              <a:rPr lang="en-US" dirty="0"/>
              <a:t> cache.</a:t>
            </a:r>
          </a:p>
          <a:p>
            <a:pPr marL="742950" lvl="1" indent="-285750">
              <a:buFont typeface="Arial" panose="020B0604020202020204" pitchFamily="34" charset="0"/>
              <a:buChar char="•"/>
            </a:pPr>
            <a:r>
              <a:rPr lang="en-US" dirty="0" err="1"/>
              <a:t>npm</a:t>
            </a:r>
            <a:r>
              <a:rPr lang="en-US" dirty="0"/>
              <a:t> ci – installs dependencies.</a:t>
            </a:r>
          </a:p>
          <a:p>
            <a:pPr marL="742950" lvl="1" indent="-285750">
              <a:buFont typeface="Arial" panose="020B0604020202020204" pitchFamily="34" charset="0"/>
              <a:buChar char="•"/>
            </a:pPr>
            <a:r>
              <a:rPr lang="en-US" dirty="0" err="1"/>
              <a:t>npm</a:t>
            </a:r>
            <a:r>
              <a:rPr lang="en-US" dirty="0"/>
              <a:t> run build --if-present – builds if a build script exists.</a:t>
            </a:r>
          </a:p>
          <a:p>
            <a:pPr marL="742950" lvl="1" indent="-285750">
              <a:buFont typeface="Arial" panose="020B0604020202020204" pitchFamily="34" charset="0"/>
              <a:buChar char="•"/>
            </a:pPr>
            <a:r>
              <a:rPr lang="en-US" dirty="0" err="1"/>
              <a:t>npm</a:t>
            </a:r>
            <a:r>
              <a:rPr lang="en-US" dirty="0"/>
              <a:t> test – runs the test suite.</a:t>
            </a:r>
          </a:p>
          <a:p>
            <a:r>
              <a:rPr lang="en-US" dirty="0"/>
              <a:t>This template gives a ready-made CI pipeline you can tweak as needed.</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4083074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break down what the Node.js template actually does:</a:t>
            </a:r>
          </a:p>
          <a:p>
            <a:endParaRPr lang="en-US" dirty="0"/>
          </a:p>
          <a:p>
            <a:pPr>
              <a:buFont typeface="Arial" panose="020B0604020202020204" pitchFamily="34" charset="0"/>
              <a:buNone/>
            </a:pPr>
            <a:r>
              <a:rPr lang="en-US" b="1" dirty="0"/>
              <a:t>Triggers</a:t>
            </a:r>
            <a:endParaRPr lang="en-US" dirty="0"/>
          </a:p>
          <a:p>
            <a:pPr marL="742950" lvl="1" indent="-285750">
              <a:buFont typeface="Arial" panose="020B0604020202020204" pitchFamily="34" charset="0"/>
              <a:buChar char="•"/>
            </a:pPr>
            <a:r>
              <a:rPr lang="en-US" dirty="0"/>
              <a:t>on: push to </a:t>
            </a:r>
            <a:r>
              <a:rPr lang="en-US" b="1" dirty="0"/>
              <a:t>main</a:t>
            </a:r>
            <a:r>
              <a:rPr lang="en-US" dirty="0"/>
              <a:t> or any pull-request targeting </a:t>
            </a:r>
            <a:r>
              <a:rPr lang="en-US" b="1" dirty="0"/>
              <a:t>main</a:t>
            </a:r>
            <a:r>
              <a:rPr lang="en-US" dirty="0"/>
              <a:t>.</a:t>
            </a:r>
          </a:p>
          <a:p>
            <a:pPr marL="742950" lvl="1" indent="-285750">
              <a:buFont typeface="Arial" panose="020B0604020202020204" pitchFamily="34" charset="0"/>
              <a:buChar char="•"/>
            </a:pPr>
            <a:endParaRPr lang="en-US" dirty="0"/>
          </a:p>
          <a:p>
            <a:pPr>
              <a:buFont typeface="Arial" panose="020B0604020202020204" pitchFamily="34" charset="0"/>
              <a:buNone/>
            </a:pPr>
            <a:r>
              <a:rPr lang="en-US" b="1" dirty="0"/>
              <a:t>Job configuration</a:t>
            </a:r>
            <a:endParaRPr lang="en-US" dirty="0"/>
          </a:p>
          <a:p>
            <a:pPr marL="742950" lvl="1" indent="-285750">
              <a:buFont typeface="Arial" panose="020B0604020202020204" pitchFamily="34" charset="0"/>
              <a:buChar char="•"/>
            </a:pPr>
            <a:r>
              <a:rPr lang="en-US" dirty="0"/>
              <a:t>runs-on: ubuntu-latest—each build uses the latest Ubuntu runner.</a:t>
            </a:r>
          </a:p>
          <a:p>
            <a:pPr marL="742950" lvl="1" indent="-285750">
              <a:buFont typeface="Arial" panose="020B0604020202020204" pitchFamily="34" charset="0"/>
              <a:buChar char="•"/>
            </a:pPr>
            <a:r>
              <a:rPr lang="en-US" b="1" dirty="0"/>
              <a:t>Matrix</a:t>
            </a:r>
            <a:r>
              <a:rPr lang="en-US" dirty="0"/>
              <a:t>—tests three Node versions: 14.x, 16.x, 18.x, so we know the app works across maintained runtimes.</a:t>
            </a:r>
          </a:p>
          <a:p>
            <a:pPr marL="742950" lvl="1" indent="-285750">
              <a:buFont typeface="Arial" panose="020B0604020202020204" pitchFamily="34" charset="0"/>
              <a:buChar char="•"/>
            </a:pPr>
            <a:endParaRPr lang="en-US" dirty="0"/>
          </a:p>
          <a:p>
            <a:pPr>
              <a:buFont typeface="Arial" panose="020B0604020202020204" pitchFamily="34" charset="0"/>
              <a:buNone/>
            </a:pPr>
            <a:r>
              <a:rPr lang="en-US" b="1" dirty="0"/>
              <a:t>Steps</a:t>
            </a:r>
            <a:endParaRPr lang="en-US" dirty="0"/>
          </a:p>
          <a:p>
            <a:pPr marL="742950" lvl="1" indent="-285750">
              <a:buFont typeface="Arial" panose="020B0604020202020204" pitchFamily="34" charset="0"/>
              <a:buChar char="•"/>
            </a:pPr>
            <a:r>
              <a:rPr lang="en-US" b="1" dirty="0"/>
              <a:t>Checkout</a:t>
            </a:r>
            <a:r>
              <a:rPr lang="en-US" dirty="0"/>
              <a:t> – actions/checkout@v3 pulls your repository into the runner.</a:t>
            </a:r>
          </a:p>
          <a:p>
            <a:pPr marL="742950" lvl="1" indent="-285750">
              <a:buFont typeface="Arial" panose="020B0604020202020204" pitchFamily="34" charset="0"/>
              <a:buChar char="•"/>
            </a:pPr>
            <a:r>
              <a:rPr lang="en-US" b="1" dirty="0"/>
              <a:t>Set up Node</a:t>
            </a:r>
            <a:r>
              <a:rPr lang="en-US" dirty="0"/>
              <a:t> – actions/setup-node@v3 installs the current matrix version (${{ </a:t>
            </a:r>
            <a:r>
              <a:rPr lang="en-US" dirty="0" err="1"/>
              <a:t>matrix.node</a:t>
            </a:r>
            <a:r>
              <a:rPr lang="en-US" dirty="0"/>
              <a:t>-version }}) and enables </a:t>
            </a:r>
            <a:r>
              <a:rPr lang="en-US" dirty="0" err="1"/>
              <a:t>npm</a:t>
            </a:r>
            <a:r>
              <a:rPr lang="en-US" dirty="0"/>
              <a:t> caching to speed installs.</a:t>
            </a:r>
          </a:p>
          <a:p>
            <a:pPr marL="742950" lvl="1" indent="-285750">
              <a:buFont typeface="Arial" panose="020B0604020202020204" pitchFamily="34" charset="0"/>
              <a:buChar char="•"/>
            </a:pPr>
            <a:r>
              <a:rPr lang="en-US" b="1" dirty="0"/>
              <a:t>Install dependencies</a:t>
            </a:r>
            <a:r>
              <a:rPr lang="en-US" dirty="0"/>
              <a:t> – </a:t>
            </a:r>
            <a:r>
              <a:rPr lang="en-US" dirty="0" err="1"/>
              <a:t>npm</a:t>
            </a:r>
            <a:r>
              <a:rPr lang="en-US" dirty="0"/>
              <a:t> ci installs from package-</a:t>
            </a:r>
            <a:r>
              <a:rPr lang="en-US" dirty="0" err="1"/>
              <a:t>lock.json</a:t>
            </a:r>
            <a:r>
              <a:rPr lang="en-US" dirty="0"/>
              <a:t>, ensuring reproducible builds.</a:t>
            </a:r>
          </a:p>
          <a:p>
            <a:pPr marL="742950" lvl="1" indent="-285750">
              <a:buFont typeface="Arial" panose="020B0604020202020204" pitchFamily="34" charset="0"/>
              <a:buChar char="•"/>
            </a:pPr>
            <a:r>
              <a:rPr lang="en-US" b="1" dirty="0"/>
              <a:t>Optional build</a:t>
            </a:r>
            <a:r>
              <a:rPr lang="en-US" dirty="0"/>
              <a:t> – </a:t>
            </a:r>
            <a:r>
              <a:rPr lang="en-US" dirty="0" err="1"/>
              <a:t>npm</a:t>
            </a:r>
            <a:r>
              <a:rPr lang="en-US" dirty="0"/>
              <a:t> run build --if-present executes a build script only if one exists.</a:t>
            </a:r>
          </a:p>
          <a:p>
            <a:pPr marL="742950" lvl="1" indent="-285750">
              <a:buFont typeface="Arial" panose="020B0604020202020204" pitchFamily="34" charset="0"/>
              <a:buChar char="•"/>
            </a:pPr>
            <a:r>
              <a:rPr lang="en-US" b="1" dirty="0"/>
              <a:t>Run tests</a:t>
            </a:r>
            <a:r>
              <a:rPr lang="en-US" dirty="0"/>
              <a:t> – </a:t>
            </a:r>
            <a:r>
              <a:rPr lang="en-US" dirty="0" err="1"/>
              <a:t>npm</a:t>
            </a:r>
            <a:r>
              <a:rPr lang="en-US" dirty="0"/>
              <a:t> test launches your project’s test suite.</a:t>
            </a:r>
          </a:p>
          <a:p>
            <a:pPr marL="742950" lvl="1" indent="-285750">
              <a:buFont typeface="Arial" panose="020B0604020202020204" pitchFamily="34" charset="0"/>
              <a:buChar char="•"/>
            </a:pPr>
            <a:endParaRPr lang="en-US" dirty="0"/>
          </a:p>
          <a:p>
            <a:r>
              <a:rPr lang="en-US" dirty="0"/>
              <a:t>Note that build and test happen in the same job; if any Node version fails, the entire workflow is marked failed. This template gives you a robust CI baseline you can refine later</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533301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Learn more about </a:t>
            </a:r>
            <a:r>
              <a:rPr lang="en-US" dirty="0" err="1"/>
              <a:t>npm</a:t>
            </a:r>
            <a:r>
              <a:rPr lang="en-US" dirty="0"/>
              <a:t> documentation for commands such as </a:t>
            </a:r>
            <a:r>
              <a:rPr lang="en-US" dirty="0" err="1"/>
              <a:t>npm</a:t>
            </a:r>
            <a:r>
              <a:rPr lang="en-US" dirty="0"/>
              <a:t> install, </a:t>
            </a:r>
            <a:r>
              <a:rPr lang="en-US" dirty="0" err="1"/>
              <a:t>npm</a:t>
            </a:r>
            <a:r>
              <a:rPr lang="en-US" dirty="0"/>
              <a:t> run, and </a:t>
            </a:r>
            <a:r>
              <a:rPr lang="en-US" dirty="0" err="1"/>
              <a:t>npm</a:t>
            </a:r>
            <a:r>
              <a:rPr lang="en-US" dirty="0"/>
              <a:t> test by clicking on these 3 links.</a:t>
            </a:r>
          </a:p>
          <a:p>
            <a:pPr algn="l"/>
            <a:endParaRPr lang="en-US" b="1" i="0" dirty="0">
              <a:solidFill>
                <a:srgbClr val="161616"/>
              </a:solidFill>
              <a:effectLst/>
              <a:latin typeface="Segoe UI" panose="020B0502040204020203" pitchFamily="34" charset="0"/>
            </a:endParaRPr>
          </a:p>
          <a:p>
            <a:pPr marL="0" indent="0" algn="l">
              <a:spcAft>
                <a:spcPts val="1200"/>
              </a:spcAft>
              <a:buNone/>
            </a:pPr>
            <a:r>
              <a:rPr lang="en-US" sz="1200" b="0" i="0" dirty="0">
                <a:solidFill>
                  <a:srgbClr val="161616"/>
                </a:solidFill>
                <a:effectLst/>
                <a:latin typeface="Quattrocento Sans" panose="020B0502050000020003" pitchFamily="34" charset="0"/>
              </a:rPr>
              <a:t>Beyond individual </a:t>
            </a:r>
            <a:r>
              <a:rPr lang="en-US" sz="1200" b="0" i="0" dirty="0" err="1">
                <a:solidFill>
                  <a:srgbClr val="161616"/>
                </a:solidFill>
                <a:effectLst/>
                <a:latin typeface="Quattrocento Sans" panose="020B0502050000020003" pitchFamily="34" charset="0"/>
              </a:rPr>
              <a:t>npm</a:t>
            </a:r>
            <a:r>
              <a:rPr lang="en-US" sz="1200" b="0" i="0" dirty="0">
                <a:solidFill>
                  <a:srgbClr val="161616"/>
                </a:solidFill>
                <a:effectLst/>
                <a:latin typeface="Quattrocento Sans" panose="020B0502050000020003" pitchFamily="34" charset="0"/>
              </a:rPr>
              <a:t> commands, teams can benefit from reusable workflows to streamline and standardize repeated automation steps. </a:t>
            </a:r>
          </a:p>
          <a:p>
            <a:pPr marL="0" indent="0" algn="l">
              <a:spcAft>
                <a:spcPts val="1200"/>
              </a:spcAft>
              <a:buNone/>
            </a:pPr>
            <a:endParaRPr lang="en-US" sz="1200" b="0" i="0" dirty="0">
              <a:solidFill>
                <a:srgbClr val="161616"/>
              </a:solidFill>
              <a:effectLst/>
              <a:latin typeface="Quattrocento Sans" panose="020B0502050000020003" pitchFamily="34" charset="0"/>
            </a:endParaRPr>
          </a:p>
          <a:p>
            <a:pPr marL="0" indent="0" algn="l">
              <a:spcAft>
                <a:spcPts val="1200"/>
              </a:spcAft>
              <a:buNone/>
            </a:pPr>
            <a:r>
              <a:rPr lang="en-US" sz="1200" b="0" i="0" dirty="0">
                <a:solidFill>
                  <a:srgbClr val="161616"/>
                </a:solidFill>
                <a:effectLst/>
                <a:latin typeface="Quattrocento Sans" panose="020B0502050000020003" pitchFamily="34" charset="0"/>
              </a:rPr>
              <a:t>By leveraging reusable workflows, you can reduce redundancy, improve maintainability, and ensure consistency across your CI/CD pipelines.</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005450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projects grow, it’s common to see identical steps—checkout, install, test, deploy—copied across workflows. </a:t>
            </a:r>
          </a:p>
          <a:p>
            <a:endParaRPr lang="en-US" dirty="0"/>
          </a:p>
          <a:p>
            <a:r>
              <a:rPr lang="en-US" dirty="0"/>
              <a:t>Reusable workflows solve this by letting you define that shared logic once and call it from other workflows, much like functions in code. </a:t>
            </a:r>
          </a:p>
          <a:p>
            <a:endParaRPr lang="en-US" dirty="0"/>
          </a:p>
          <a:p>
            <a:r>
              <a:rPr lang="en-US" dirty="0"/>
              <a:t>You can reference these workflows within the same repository or across multiple repositories, keeping automation consistent, reducing duplication, and simplifying maintenance.</a:t>
            </a:r>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4083074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Reusable workflows bring consistency across projects by enforcing the same automation steps everywhere. They improve efficiency because instead of duplicating steps, workflows simply reference a shared file. Updates become easier: when a process changes, you modify the reusable workflow once and all dependent workflows inherit the change. This approach scales well for platform or DevOps teams managing multiple services.</a:t>
            </a:r>
          </a:p>
          <a:p>
            <a:endParaRPr lang="en-US" dirty="0"/>
          </a:p>
          <a:p>
            <a:r>
              <a:rPr lang="en-US" dirty="0"/>
              <a:t>To implement a reusable workflow, first create the shared workflow file in the repository and configure it with the </a:t>
            </a:r>
            <a:r>
              <a:rPr lang="en-US" dirty="0" err="1"/>
              <a:t>workflow_call</a:t>
            </a:r>
            <a:r>
              <a:rPr lang="en-US" dirty="0"/>
              <a:t> trigger so it can be invoked by others. In your main (caller) workflows, reference this reusable workflow and supply any required inputs or secrets. This setup allows centralized maintenance of common steps—testing, building, deploying—and ensures all workflows stay aligned as requirements evolve.</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592457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organizations, multiple services share the same CI/CD steps like running tests, linting, and deploying. Without reusable workflows, each repository ends up duplicating this logic. By defining a single workflow file—say ci-</a:t>
            </a:r>
            <a:r>
              <a:rPr lang="en-US" dirty="0" err="1"/>
              <a:t>standard.yml</a:t>
            </a:r>
            <a:r>
              <a:rPr lang="en-US" dirty="0"/>
              <a:t>—and calling it from each service’s workflow with variables (for example, environment names or application identifiers), any change such as adding a security scan is made once and automatically applies to all services.</a:t>
            </a:r>
          </a:p>
          <a:p>
            <a:endParaRPr lang="en-US" dirty="0"/>
          </a:p>
          <a:p>
            <a:r>
              <a:rPr lang="en-US" dirty="0"/>
              <a:t>When sharing reusable workflows across teams, keep them centralized in one repository and version them (using tags like @v1) so that updates don’t inadvertently break callers. Clearly document required inputs and secrets so teams know what to supply. If only a few steps need reuse, consider combining reusable workflows with composite actions to avoid overkill.</a:t>
            </a:r>
          </a:p>
          <a:p>
            <a:endParaRPr lang="en-US" dirty="0"/>
          </a:p>
          <a:p>
            <a:r>
              <a:rPr lang="en-US" dirty="0"/>
              <a:t>Overall, reusable workflows enforce consistency, cut duplication, and help scale DevOps practices—whether managing microservices, </a:t>
            </a:r>
            <a:r>
              <a:rPr lang="en-US" dirty="0" err="1"/>
              <a:t>monorepos</a:t>
            </a:r>
            <a:r>
              <a:rPr lang="en-US" dirty="0"/>
              <a:t>, or libraries. They make CI/CD pipelines faster to update, cleaner to maintain, and easier to manage as requirements evolve.</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1298411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learn how to determine what event started a workflow run. </a:t>
            </a:r>
          </a:p>
          <a:p>
            <a:endParaRPr lang="en-US" dirty="0"/>
          </a:p>
          <a:p>
            <a:r>
              <a:rPr lang="en-US" dirty="0"/>
              <a:t>It’s essential for debugging, auditing, and refining CI/CD pipelines. After a workflow runs, check its details in the GitHub Actions UI: the “Triggered by” or event name indicates whether it was a push, pull request, manual dispatch, schedule, or another event.</a:t>
            </a:r>
          </a:p>
          <a:p>
            <a:endParaRPr lang="en-US" dirty="0"/>
          </a:p>
          <a:p>
            <a:r>
              <a:rPr lang="en-US" dirty="0"/>
              <a:t>Common trigger types include:</a:t>
            </a:r>
          </a:p>
          <a:p>
            <a:pPr marL="171450" indent="-171450">
              <a:buFont typeface="Arial" panose="020B0604020202020204" pitchFamily="34" charset="0"/>
              <a:buChar char="•"/>
            </a:pPr>
            <a:r>
              <a:rPr lang="en-US" b="1" dirty="0"/>
              <a:t>push</a:t>
            </a:r>
            <a:r>
              <a:rPr lang="en-US" dirty="0"/>
              <a:t> or </a:t>
            </a:r>
            <a:r>
              <a:rPr lang="en-US" b="1" dirty="0" err="1"/>
              <a:t>pull_request</a:t>
            </a:r>
            <a:r>
              <a:rPr lang="en-US" dirty="0"/>
              <a:t>: initiated by code changes on branches.</a:t>
            </a:r>
          </a:p>
          <a:p>
            <a:pPr marL="171450" indent="-171450">
              <a:buFont typeface="Arial" panose="020B0604020202020204" pitchFamily="34" charset="0"/>
              <a:buChar char="•"/>
            </a:pPr>
            <a:r>
              <a:rPr lang="en-US" b="1" dirty="0" err="1"/>
              <a:t>workflow_dispatch</a:t>
            </a:r>
            <a:r>
              <a:rPr lang="en-US" dirty="0"/>
              <a:t>: started manually.</a:t>
            </a:r>
          </a:p>
          <a:p>
            <a:pPr marL="171450" indent="-171450">
              <a:buFont typeface="Arial" panose="020B0604020202020204" pitchFamily="34" charset="0"/>
              <a:buChar char="•"/>
            </a:pPr>
            <a:r>
              <a:rPr lang="en-US" b="1" dirty="0"/>
              <a:t>schedule</a:t>
            </a:r>
            <a:r>
              <a:rPr lang="en-US" dirty="0"/>
              <a:t>: runs on a </a:t>
            </a:r>
            <a:r>
              <a:rPr lang="en-US" dirty="0" err="1"/>
              <a:t>cron</a:t>
            </a:r>
            <a:r>
              <a:rPr lang="en-US" dirty="0"/>
              <a:t> schedule.</a:t>
            </a:r>
          </a:p>
          <a:p>
            <a:pPr marL="171450" indent="-171450">
              <a:buFont typeface="Arial" panose="020B0604020202020204" pitchFamily="34" charset="0"/>
              <a:buChar char="•"/>
            </a:pPr>
            <a:r>
              <a:rPr lang="en-US" b="1" dirty="0" err="1"/>
              <a:t>repository_dispatch</a:t>
            </a:r>
            <a:r>
              <a:rPr lang="en-US" dirty="0"/>
              <a:t>: triggered by external systems.</a:t>
            </a:r>
          </a:p>
          <a:p>
            <a:pPr marL="171450" indent="-171450">
              <a:buFont typeface="Arial" panose="020B0604020202020204" pitchFamily="34" charset="0"/>
              <a:buChar char="•"/>
            </a:pPr>
            <a:r>
              <a:rPr lang="en-US" dirty="0"/>
              <a:t>Issue or discussion events like </a:t>
            </a:r>
            <a:r>
              <a:rPr lang="en-US" b="1" dirty="0" err="1"/>
              <a:t>issues.opened</a:t>
            </a:r>
            <a:r>
              <a:rPr lang="en-US" dirty="0"/>
              <a:t> or </a:t>
            </a:r>
            <a:r>
              <a:rPr lang="en-US" b="1" dirty="0" err="1"/>
              <a:t>pull_request.closed</a:t>
            </a:r>
            <a:r>
              <a:rPr lang="en-US" dirty="0"/>
              <a:t> also count as triggers.</a:t>
            </a:r>
          </a:p>
          <a:p>
            <a:endParaRPr lang="en-US" dirty="0"/>
          </a:p>
          <a:p>
            <a:r>
              <a:rPr lang="en-US" dirty="0"/>
              <a:t>To identify the trigger, review the workflow run’s metadata, inspect associated repository changes or the related issue/PR, and note the event type. This insight helps pinpoint why the workflow ran and guides any necessary adjustments.</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2103776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When reviewing a workflow run, first check the Actions tab in the repository. Selecting the specific run displays the event type—such as push, </a:t>
            </a:r>
            <a:r>
              <a:rPr lang="en-US" dirty="0" err="1"/>
              <a:t>pull_request</a:t>
            </a:r>
            <a:r>
              <a:rPr lang="en-US" dirty="0"/>
              <a:t>, or </a:t>
            </a:r>
            <a:r>
              <a:rPr lang="en-US" dirty="0" err="1"/>
              <a:t>workflow_dispatch</a:t>
            </a:r>
            <a:r>
              <a:rPr lang="en-US" dirty="0"/>
              <a:t>—at the top of the summary. This immediate UI feedback shows what caused the workflow to start.</a:t>
            </a:r>
          </a:p>
          <a:p>
            <a:endParaRPr lang="en-US" dirty="0"/>
          </a:p>
          <a:p>
            <a:r>
              <a:rPr lang="en-US" dirty="0"/>
              <a:t>Within the workflow itself, the </a:t>
            </a:r>
            <a:r>
              <a:rPr lang="en-US" dirty="0" err="1"/>
              <a:t>github.event_name</a:t>
            </a:r>
            <a:r>
              <a:rPr lang="en-US" dirty="0"/>
              <a:t> context variable reveals the trigger during execution. For debugging, include a step like:</a:t>
            </a:r>
          </a:p>
          <a:p>
            <a:pPr rtl="0"/>
            <a:endParaRPr lang="en-US" dirty="0"/>
          </a:p>
          <a:p>
            <a:pPr marL="171450" indent="-171450" rtl="0">
              <a:buFontTx/>
              <a:buChar char="-"/>
            </a:pPr>
            <a:r>
              <a:rPr lang="en-US" dirty="0"/>
              <a:t>name: Show event trigger </a:t>
            </a:r>
          </a:p>
          <a:p>
            <a:pPr marL="0" indent="0" rtl="0">
              <a:buFontTx/>
              <a:buNone/>
            </a:pPr>
            <a:r>
              <a:rPr lang="en-US" dirty="0"/>
              <a:t>run: echo "Triggered by ${{ </a:t>
            </a:r>
            <a:r>
              <a:rPr lang="en-US" dirty="0" err="1"/>
              <a:t>github.event_name</a:t>
            </a:r>
            <a:r>
              <a:rPr lang="en-US" dirty="0"/>
              <a:t> }}" </a:t>
            </a:r>
          </a:p>
          <a:p>
            <a:pPr marL="0" indent="0" rtl="0">
              <a:buFontTx/>
              <a:buNone/>
            </a:pPr>
            <a:endParaRPr lang="en-US" dirty="0"/>
          </a:p>
          <a:p>
            <a:r>
              <a:rPr lang="en-US" dirty="0"/>
              <a:t>This prints the event name in the logs, confirming the source directly in the run output.</a:t>
            </a:r>
          </a:p>
          <a:p>
            <a:endParaRPr lang="en-US" dirty="0"/>
          </a:p>
          <a:p>
            <a:r>
              <a:rPr lang="en-US" dirty="0"/>
              <a:t>For automated or programmatic inspection, use the GitHub API to fetch workflow run details. The run object’s event property indicates the trigger, and additional fields—commit SHA, actor, timestamp—help trace the exact cause. Together, the UI, context variables, and API data provide full visibility into what initiated each workflow.</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3988514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algn="l">
              <a:spcBef>
                <a:spcPts val="2400"/>
              </a:spcBef>
              <a:spcAft>
                <a:spcPts val="900"/>
              </a:spcAft>
            </a:pPr>
            <a:r>
              <a:rPr lang="en-US" dirty="0"/>
              <a:t>When direct access to a workflow run isn’t available, infer its trigger by observing repository events. </a:t>
            </a:r>
          </a:p>
          <a:p>
            <a:pPr algn="l">
              <a:spcBef>
                <a:spcPts val="2400"/>
              </a:spcBef>
              <a:spcAft>
                <a:spcPts val="900"/>
              </a:spcAft>
            </a:pPr>
            <a:endParaRPr lang="en-US" dirty="0"/>
          </a:p>
          <a:p>
            <a:pPr algn="l">
              <a:spcBef>
                <a:spcPts val="2400"/>
              </a:spcBef>
              <a:spcAft>
                <a:spcPts val="900"/>
              </a:spcAft>
            </a:pPr>
            <a:r>
              <a:rPr lang="en-US" dirty="0"/>
              <a:t>For instance, a workflow running after a commit to main indicates a push event, while one triggered by a new or updated pull request corresponds to a </a:t>
            </a:r>
            <a:r>
              <a:rPr lang="en-US" dirty="0" err="1"/>
              <a:t>pull_request</a:t>
            </a:r>
            <a:r>
              <a:rPr lang="en-US" dirty="0"/>
              <a:t> event. </a:t>
            </a:r>
          </a:p>
          <a:p>
            <a:pPr algn="l">
              <a:spcBef>
                <a:spcPts val="2400"/>
              </a:spcBef>
              <a:spcAft>
                <a:spcPts val="900"/>
              </a:spcAft>
            </a:pPr>
            <a:endParaRPr lang="en-US" dirty="0"/>
          </a:p>
          <a:p>
            <a:pPr algn="l">
              <a:spcBef>
                <a:spcPts val="2400"/>
              </a:spcBef>
              <a:spcAft>
                <a:spcPts val="900"/>
              </a:spcAft>
            </a:pPr>
            <a:r>
              <a:rPr lang="en-US" dirty="0"/>
              <a:t>A manually invoked run aligns with </a:t>
            </a:r>
            <a:r>
              <a:rPr lang="en-US" dirty="0" err="1"/>
              <a:t>workflow_dispatch</a:t>
            </a:r>
            <a:r>
              <a:rPr lang="en-US" dirty="0"/>
              <a:t>, and a nightly execution points to a schedule (</a:t>
            </a:r>
            <a:r>
              <a:rPr lang="en-US" dirty="0" err="1"/>
              <a:t>cron</a:t>
            </a:r>
            <a:r>
              <a:rPr lang="en-US" dirty="0"/>
              <a:t>) trigger. </a:t>
            </a:r>
          </a:p>
          <a:p>
            <a:pPr algn="l">
              <a:spcBef>
                <a:spcPts val="2400"/>
              </a:spcBef>
              <a:spcAft>
                <a:spcPts val="900"/>
              </a:spcAft>
            </a:pPr>
            <a:endParaRPr lang="en-US" dirty="0"/>
          </a:p>
          <a:p>
            <a:pPr algn="l">
              <a:spcBef>
                <a:spcPts val="2400"/>
              </a:spcBef>
              <a:spcAft>
                <a:spcPts val="900"/>
              </a:spcAft>
            </a:pPr>
            <a:r>
              <a:rPr lang="en-US" dirty="0"/>
              <a:t>If the workflow follows an external service call, it likely used </a:t>
            </a:r>
            <a:r>
              <a:rPr lang="en-US" dirty="0" err="1"/>
              <a:t>repository_dispatch</a:t>
            </a:r>
            <a:r>
              <a:rPr lang="en-US" dirty="0"/>
              <a:t>, and runs tied to issue labels or comments map to issues.* events. </a:t>
            </a:r>
          </a:p>
          <a:p>
            <a:pPr algn="l">
              <a:spcBef>
                <a:spcPts val="2400"/>
              </a:spcBef>
              <a:spcAft>
                <a:spcPts val="900"/>
              </a:spcAft>
            </a:pPr>
            <a:endParaRPr lang="en-US" dirty="0"/>
          </a:p>
          <a:p>
            <a:pPr marL="0" indent="0" algn="l">
              <a:buNone/>
            </a:pPr>
            <a:r>
              <a:rPr lang="en-US" sz="1200" b="0" i="0" dirty="0">
                <a:effectLst/>
                <a:latin typeface="Quattrocento Sans" panose="020B0502050000020003" pitchFamily="34" charset="0"/>
              </a:rPr>
              <a:t>By reviewing timestamps, pull request activity, or commit history, you can often pinpoint what action caused the workflow to run.</a:t>
            </a: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2531761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To identify what triggered a workflow:</a:t>
            </a:r>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171450" indent="-171450" algn="l">
              <a:buFont typeface="Arial" panose="020B0604020202020204" pitchFamily="34" charset="0"/>
              <a:buChar char="•"/>
            </a:pPr>
            <a:r>
              <a:rPr lang="en-US" dirty="0"/>
              <a:t>On the Actions tab, open the workflow run summary to see the event that initiated it.</a:t>
            </a:r>
          </a:p>
          <a:p>
            <a:pPr marL="171450" indent="-171450">
              <a:buFont typeface="Arial" panose="020B0604020202020204" pitchFamily="34" charset="0"/>
              <a:buChar char="•"/>
            </a:pPr>
            <a:r>
              <a:rPr lang="en-US" dirty="0"/>
              <a:t>Include a step in your workflow to echo </a:t>
            </a:r>
            <a:r>
              <a:rPr lang="en-US" dirty="0" err="1"/>
              <a:t>github.event_name</a:t>
            </a:r>
            <a:r>
              <a:rPr lang="en-US" dirty="0"/>
              <a:t>, so you always know which event fired the run.</a:t>
            </a:r>
          </a:p>
          <a:p>
            <a:pPr marL="171450" indent="-171450">
              <a:buFont typeface="Arial" panose="020B0604020202020204" pitchFamily="34" charset="0"/>
              <a:buChar char="•"/>
            </a:pPr>
            <a:r>
              <a:rPr lang="en-US" dirty="0"/>
              <a:t>When direct details aren’t obvious, correlate run timestamps with repository activity—commits, pull requests, issue actions—to infer the trigger.</a:t>
            </a:r>
          </a:p>
          <a:p>
            <a:pPr marL="171450" indent="-171450">
              <a:buFont typeface="Arial" panose="020B0604020202020204" pitchFamily="34" charset="0"/>
              <a:buChar char="•"/>
            </a:pPr>
            <a:r>
              <a:rPr lang="en-US" dirty="0"/>
              <a:t>For deeper analysis, examine the full event payload or use the API to retrieve context, ensuring reliable debugging, auditing, and optimization of CI/CD pipelines.</a:t>
            </a:r>
          </a:p>
          <a:p>
            <a:pPr algn="l"/>
            <a:endParaRPr lang="en-US" b="0" i="0" dirty="0">
              <a:solidFill>
                <a:srgbClr val="161616"/>
              </a:solidFill>
              <a:effectLst/>
              <a:highlight>
                <a:srgbClr val="FFFFFF"/>
              </a:highlight>
              <a:latin typeface="Segoe UI" panose="020B05020402040202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645937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2400"/>
              </a:spcBef>
              <a:spcAft>
                <a:spcPts val="900"/>
              </a:spcAft>
              <a:buClrTx/>
              <a:buSzTx/>
              <a:buFontTx/>
              <a:buNone/>
              <a:tabLst/>
              <a:defRPr/>
            </a:pPr>
            <a:r>
              <a:rPr lang="en-US" sz="1200" b="0" i="0" dirty="0">
                <a:solidFill>
                  <a:srgbClr val="161616"/>
                </a:solidFill>
                <a:effectLst/>
                <a:latin typeface="Quattrocento Sans" panose="020B0502050000020003" pitchFamily="34" charset="0"/>
              </a:rPr>
              <a:t>To describe a workflow's effects from reading its configuration file, you need to analyze the structure and contents of the ".</a:t>
            </a:r>
            <a:r>
              <a:rPr lang="en-US" sz="1200" b="0" i="0" dirty="0" err="1">
                <a:solidFill>
                  <a:srgbClr val="161616"/>
                </a:solidFill>
                <a:effectLst/>
                <a:latin typeface="Quattrocento Sans" panose="020B0502050000020003" pitchFamily="34" charset="0"/>
              </a:rPr>
              <a:t>yml</a:t>
            </a:r>
            <a:r>
              <a:rPr lang="en-US" sz="1200" b="0" i="0" dirty="0">
                <a:solidFill>
                  <a:srgbClr val="161616"/>
                </a:solidFill>
                <a:effectLst/>
                <a:latin typeface="Quattrocento Sans" panose="020B0502050000020003" pitchFamily="34" charset="0"/>
              </a:rPr>
              <a:t>" file stored in .</a:t>
            </a:r>
            <a:r>
              <a:rPr lang="en-US" sz="1200" b="0" i="0" dirty="0" err="1">
                <a:solidFill>
                  <a:srgbClr val="161616"/>
                </a:solidFill>
                <a:effectLst/>
                <a:latin typeface="Quattrocento Sans" panose="020B0502050000020003" pitchFamily="34" charset="0"/>
              </a:rPr>
              <a:t>github</a:t>
            </a:r>
            <a:r>
              <a:rPr lang="en-US" sz="1200" b="0" i="0" dirty="0">
                <a:solidFill>
                  <a:srgbClr val="161616"/>
                </a:solidFill>
                <a:effectLst/>
                <a:latin typeface="Quattrocento Sans" panose="020B0502050000020003" pitchFamily="34" charset="0"/>
              </a:rPr>
              <a:t>/workflows/. This file outlines when the workflow runs, what it does, and how it behaves under different conditions.</a:t>
            </a:r>
          </a:p>
          <a:p>
            <a:pPr algn="l">
              <a:spcBef>
                <a:spcPts val="2400"/>
              </a:spcBef>
              <a:spcAft>
                <a:spcPts val="900"/>
              </a:spcAft>
            </a:pPr>
            <a:endParaRPr lang="en-US" b="0" i="0" dirty="0">
              <a:solidFill>
                <a:srgbClr val="161616"/>
              </a:solidFill>
              <a:effectLst/>
              <a:latin typeface="Segoe UI" panose="020B0502040204020203" pitchFamily="34" charset="0"/>
            </a:endParaRPr>
          </a:p>
          <a:p>
            <a:r>
              <a:rPr lang="en-US" b="1" dirty="0"/>
              <a:t>Identify the Trigger (on: section)</a:t>
            </a:r>
            <a:endParaRPr lang="en-US" dirty="0"/>
          </a:p>
          <a:p>
            <a:pPr marL="171450" indent="-171450">
              <a:buFont typeface="Arial" panose="020B0604020202020204" pitchFamily="34" charset="0"/>
              <a:buChar char="•"/>
            </a:pPr>
            <a:r>
              <a:rPr lang="en-US" dirty="0"/>
              <a:t>Examine the on: block to see which events start the workflow (push, </a:t>
            </a:r>
            <a:r>
              <a:rPr lang="en-US" dirty="0" err="1"/>
              <a:t>pull_request</a:t>
            </a:r>
            <a:r>
              <a:rPr lang="en-US" dirty="0"/>
              <a:t>, </a:t>
            </a:r>
            <a:r>
              <a:rPr lang="en-US" dirty="0" err="1"/>
              <a:t>workflow_dispatch</a:t>
            </a:r>
            <a:r>
              <a:rPr lang="en-US" dirty="0"/>
              <a:t>, schedule, etc.).</a:t>
            </a:r>
          </a:p>
          <a:p>
            <a:pPr marL="171450" indent="-171450">
              <a:buFont typeface="Arial" panose="020B0604020202020204" pitchFamily="34" charset="0"/>
              <a:buChar char="•"/>
            </a:pPr>
            <a:r>
              <a:rPr lang="en-US" dirty="0"/>
              <a:t>Note any branch or event filters to determine the exact conditions (e.g., branches: [main], types: [opened]).</a:t>
            </a: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774280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b="1" dirty="0"/>
              <a:t>Understand Jobs and Steps (jobs: section)</a:t>
            </a:r>
            <a:endParaRPr lang="en-US" dirty="0"/>
          </a:p>
          <a:p>
            <a:pPr marL="171450" indent="-171450">
              <a:buFont typeface="Arial" panose="020B0604020202020204" pitchFamily="34" charset="0"/>
              <a:buChar char="•"/>
            </a:pPr>
            <a:r>
              <a:rPr lang="en-US" dirty="0"/>
              <a:t>For each job, check runs-on to know the execution environment (e.g., ubuntu-latest).</a:t>
            </a:r>
          </a:p>
          <a:p>
            <a:pPr marL="171450" indent="-171450">
              <a:buFont typeface="Arial" panose="020B0604020202020204" pitchFamily="34" charset="0"/>
              <a:buChar char="•"/>
            </a:pPr>
            <a:r>
              <a:rPr lang="en-US" dirty="0"/>
              <a:t>Review each step in order: identify actions used (e.g., actions/checkout@v3) and commands run (e.g., installing dependencies, running tests).</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759359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b="1" dirty="0"/>
              <a:t>Evaluate Purpose and Outcome</a:t>
            </a:r>
            <a:endParaRPr lang="en-US" dirty="0"/>
          </a:p>
          <a:p>
            <a:pPr marL="171450" indent="-171450">
              <a:buFont typeface="Arial" panose="020B0604020202020204" pitchFamily="34" charset="0"/>
              <a:buChar char="•"/>
            </a:pPr>
            <a:r>
              <a:rPr lang="en-US" dirty="0"/>
              <a:t>Based on triggers and job steps, infer the workflow’s goal (e.g., CI testing, deployment, linting).</a:t>
            </a:r>
          </a:p>
          <a:p>
            <a:pPr marL="171450" indent="-171450">
              <a:buFont typeface="Arial" panose="020B0604020202020204" pitchFamily="34" charset="0"/>
              <a:buChar char="•"/>
            </a:pPr>
            <a:r>
              <a:rPr lang="en-US" dirty="0"/>
              <a:t>Describe the intended result: for instance, “This pipeline verifies code quality on every push or pull request.”</a:t>
            </a:r>
          </a:p>
          <a:p>
            <a:pPr marL="171450" indent="-171450">
              <a:buFont typeface="Arial" panose="020B0604020202020204" pitchFamily="34" charset="0"/>
              <a:buChar char="•"/>
            </a:pPr>
            <a:endParaRPr lang="en-US" dirty="0"/>
          </a:p>
          <a:p>
            <a:r>
              <a:rPr lang="en-US" b="1" dirty="0"/>
              <a:t>Inspect Optional Features Affecting Behavior</a:t>
            </a:r>
            <a:endParaRPr lang="en-US" dirty="0"/>
          </a:p>
          <a:p>
            <a:pPr marL="171450" indent="-171450">
              <a:buFont typeface="Arial" panose="020B0604020202020204" pitchFamily="34" charset="0"/>
              <a:buChar char="•"/>
            </a:pPr>
            <a:r>
              <a:rPr lang="en-US" dirty="0"/>
              <a:t>Check for if: conditionals to see when specific steps or jobs execute or skip.</a:t>
            </a:r>
          </a:p>
          <a:p>
            <a:pPr marL="171450" indent="-171450">
              <a:buFont typeface="Arial" panose="020B0604020202020204" pitchFamily="34" charset="0"/>
              <a:buChar char="•"/>
            </a:pPr>
            <a:r>
              <a:rPr lang="en-US" dirty="0"/>
              <a:t>Note env: variables that configure runtime context and influence commands.</a:t>
            </a:r>
          </a:p>
          <a:p>
            <a:pPr marL="171450" indent="-171450">
              <a:buFont typeface="Arial" panose="020B0604020202020204" pitchFamily="34" charset="0"/>
              <a:buChar char="•"/>
            </a:pPr>
            <a:r>
              <a:rPr lang="en-US" dirty="0"/>
              <a:t>Observe settings like timeout-minutes or continue-on-error that alter execution flow or error handling.</a:t>
            </a:r>
          </a:p>
          <a:p>
            <a:pPr marL="171450" indent="-171450">
              <a:buFont typeface="Arial" panose="020B0604020202020204" pitchFamily="34" charset="0"/>
              <a:buChar char="•"/>
            </a:pPr>
            <a:endParaRPr lang="en-US" dirty="0"/>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4115716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spcAft>
                <a:spcPts val="1200"/>
              </a:spcAft>
              <a:buNone/>
            </a:pPr>
            <a:r>
              <a:rPr lang="en-US" sz="2400" dirty="0">
                <a:latin typeface="Quattrocento Sans" panose="020B0502050000020003" pitchFamily="34" charset="0"/>
              </a:rPr>
              <a:t>From reading a workflow’s configuration file, you can describe its effects by identifying:</a:t>
            </a:r>
          </a:p>
          <a:p>
            <a:pPr marL="800100" lvl="1" indent="-342900" algn="just">
              <a:spcAft>
                <a:spcPts val="1200"/>
              </a:spcAft>
              <a:buFont typeface="Arial" panose="020B0604020202020204" pitchFamily="34" charset="0"/>
              <a:buChar char="•"/>
            </a:pPr>
            <a:r>
              <a:rPr lang="en-US" sz="2400" dirty="0">
                <a:latin typeface="Quattrocento Sans" panose="020B0502050000020003" pitchFamily="34" charset="0"/>
              </a:rPr>
              <a:t>When it runs (on: section),</a:t>
            </a:r>
          </a:p>
          <a:p>
            <a:pPr marL="800100" lvl="1" indent="-342900" algn="just">
              <a:spcAft>
                <a:spcPts val="1200"/>
              </a:spcAft>
              <a:buFont typeface="Arial" panose="020B0604020202020204" pitchFamily="34" charset="0"/>
              <a:buChar char="•"/>
            </a:pPr>
            <a:r>
              <a:rPr lang="en-US" sz="2400" dirty="0">
                <a:latin typeface="Quattrocento Sans" panose="020B0502050000020003" pitchFamily="34" charset="0"/>
              </a:rPr>
              <a:t>What it does (jobs and steps),</a:t>
            </a:r>
          </a:p>
          <a:p>
            <a:pPr marL="800100" lvl="1" indent="-342900" algn="just">
              <a:spcAft>
                <a:spcPts val="1200"/>
              </a:spcAft>
              <a:buFont typeface="Arial" panose="020B0604020202020204" pitchFamily="34" charset="0"/>
              <a:buChar char="•"/>
            </a:pPr>
            <a:r>
              <a:rPr lang="en-US" sz="2400" dirty="0">
                <a:latin typeface="Quattrocento Sans" panose="020B0502050000020003" pitchFamily="34" charset="0"/>
              </a:rPr>
              <a:t>Where it runs (runs-on),</a:t>
            </a:r>
          </a:p>
          <a:p>
            <a:pPr marL="800100" lvl="1" indent="-342900" algn="just">
              <a:spcAft>
                <a:spcPts val="1200"/>
              </a:spcAft>
              <a:buFont typeface="Arial" panose="020B0604020202020204" pitchFamily="34" charset="0"/>
              <a:buChar char="•"/>
            </a:pPr>
            <a:r>
              <a:rPr lang="en-US" sz="2400" dirty="0">
                <a:latin typeface="Quattrocento Sans" panose="020B0502050000020003" pitchFamily="34" charset="0"/>
              </a:rPr>
              <a:t>Why it runs (its purpose: testing, deploying, linting, etc.),</a:t>
            </a:r>
          </a:p>
          <a:p>
            <a:pPr marL="800100" lvl="1" indent="-342900" algn="just">
              <a:spcAft>
                <a:spcPts val="1200"/>
              </a:spcAft>
              <a:buFont typeface="Arial" panose="020B0604020202020204" pitchFamily="34" charset="0"/>
              <a:buChar char="•"/>
            </a:pPr>
            <a:r>
              <a:rPr lang="en-US" sz="2400" dirty="0">
                <a:latin typeface="Quattrocento Sans" panose="020B0502050000020003" pitchFamily="34" charset="0"/>
              </a:rPr>
              <a:t>How it behaves under certain conditions (environment, filters, logic).</a:t>
            </a:r>
          </a:p>
          <a:p>
            <a:pPr>
              <a:buFont typeface="+mj-lt"/>
              <a:buAutoNum type="arabicPeriod"/>
            </a:pPr>
            <a:endParaRPr lang="en-US" dirty="0"/>
          </a:p>
          <a:p>
            <a:pPr marL="0" lvl="0" indent="0">
              <a:buFont typeface="+mj-lt"/>
              <a:buNone/>
            </a:pPr>
            <a:r>
              <a:rPr lang="en-US" dirty="0"/>
              <a:t>This approach supports debugging, auditing, and continuous improvement of CI/CD pipelines.</a:t>
            </a:r>
          </a:p>
          <a:p>
            <a:pPr marL="457200" lvl="1" indent="0" algn="just">
              <a:spcAft>
                <a:spcPts val="1200"/>
              </a:spcAft>
              <a:buFont typeface="Arial" panose="020B0604020202020204" pitchFamily="34" charset="0"/>
              <a:buNone/>
            </a:pPr>
            <a:endParaRPr lang="en-US" sz="2400" dirty="0">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2588862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2400"/>
              </a:spcBef>
              <a:spcAft>
                <a:spcPts val="900"/>
              </a:spcAft>
              <a:buClrTx/>
              <a:buSzTx/>
              <a:buFontTx/>
              <a:buNone/>
              <a:tabLst/>
              <a:defRPr/>
            </a:pPr>
            <a:r>
              <a:rPr lang="en-US" dirty="0"/>
              <a:t>When a workflow run fails, use a systematic approach—starting in the Actions tab, examining logs, and reviewing the configuration—to quickly pinpoint and resolve the issue.</a:t>
            </a:r>
          </a:p>
          <a:p>
            <a:pPr algn="l">
              <a:spcBef>
                <a:spcPts val="2400"/>
              </a:spcBef>
              <a:spcAft>
                <a:spcPts val="900"/>
              </a:spcAft>
            </a:pPr>
            <a:endParaRPr lang="en-US" b="0" i="0" dirty="0">
              <a:solidFill>
                <a:srgbClr val="161616"/>
              </a:solidFill>
              <a:effectLst/>
              <a:latin typeface="Segoe UI" panose="020B0502040204020203" pitchFamily="34" charset="0"/>
            </a:endParaRPr>
          </a:p>
          <a:p>
            <a:r>
              <a:rPr lang="en-US" b="1" dirty="0"/>
              <a:t>Step 1: Go to the Actions Tab</a:t>
            </a:r>
            <a:br>
              <a:rPr lang="en-US" dirty="0"/>
            </a:br>
            <a:r>
              <a:rPr lang="en-US" dirty="0"/>
              <a:t>Begin by opening the repository’s Actions tab. Look for the run marked in red to identify the failed workflow. Click that run to display its summary. This gives immediate context on which workflow and when it failed.</a:t>
            </a:r>
          </a:p>
          <a:p>
            <a:endParaRPr lang="en-US" dirty="0"/>
          </a:p>
          <a:p>
            <a:r>
              <a:rPr lang="en-US" b="1" dirty="0"/>
              <a:t>Step 2: Review the Error in Logs</a:t>
            </a:r>
            <a:br>
              <a:rPr lang="en-US" dirty="0"/>
            </a:br>
            <a:r>
              <a:rPr lang="en-US" dirty="0"/>
              <a:t>Within the run summary, expand each job and its steps until locating the one marked as failed. Open its log output and scan for error messages, stack traces, or exit codes. For example, you might see “</a:t>
            </a:r>
            <a:r>
              <a:rPr lang="en-US" dirty="0" err="1"/>
              <a:t>npm</a:t>
            </a:r>
            <a:r>
              <a:rPr lang="en-US" dirty="0"/>
              <a:t> ERR! Test failed.” or an exit code 1. These details point directly to the failure cause.</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2949723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b="1" dirty="0"/>
              <a:t>Step 3: Check the Workflow Configuration File</a:t>
            </a:r>
            <a:br>
              <a:rPr lang="en-US" dirty="0"/>
            </a:br>
            <a:r>
              <a:rPr lang="en-US" dirty="0"/>
              <a:t>Inspect the corresponding YAML file to understand the intended behavior of each step. Verify what the failing step was meant to do, and note any environment variables (env:) or conditionals (if:) that could influence execution. Ask: were dependencies installed successfully earlier? Do the test files run locally without errors? A syntax mistake or misconfigured step often becomes apparent here.</a:t>
            </a:r>
          </a:p>
          <a:p>
            <a:endParaRPr lang="en-US" dirty="0"/>
          </a:p>
          <a:p>
            <a:r>
              <a:rPr lang="en-US" b="1" dirty="0"/>
              <a:t>Step 4: Consider Common Failure Scenarios</a:t>
            </a:r>
            <a:br>
              <a:rPr lang="en-US" dirty="0"/>
            </a:br>
            <a:r>
              <a:rPr lang="en-US" dirty="0"/>
              <a:t>Refer to known patterns to narrow down the root cause:</a:t>
            </a:r>
          </a:p>
          <a:p>
            <a:pPr marL="171450" indent="-171450">
              <a:buFont typeface="Arial" panose="020B0604020202020204" pitchFamily="34" charset="0"/>
              <a:buChar char="•"/>
            </a:pPr>
            <a:r>
              <a:rPr lang="en-US" b="1" dirty="0"/>
              <a:t>Command not found</a:t>
            </a:r>
            <a:r>
              <a:rPr lang="en-US" dirty="0"/>
              <a:t>: Likely a missing dependency or incorrect setup earlier in the workflow.</a:t>
            </a:r>
          </a:p>
          <a:p>
            <a:pPr marL="171450" indent="-171450">
              <a:buFont typeface="Arial" panose="020B0604020202020204" pitchFamily="34" charset="0"/>
              <a:buChar char="•"/>
            </a:pPr>
            <a:r>
              <a:rPr lang="en-US" b="1" dirty="0" err="1"/>
              <a:t>npm</a:t>
            </a:r>
            <a:r>
              <a:rPr lang="en-US" b="1" dirty="0"/>
              <a:t> install fails</a:t>
            </a:r>
            <a:r>
              <a:rPr lang="en-US" dirty="0"/>
              <a:t>: Could indicate a corrupt </a:t>
            </a:r>
            <a:r>
              <a:rPr lang="en-US" dirty="0" err="1"/>
              <a:t>lockfile</a:t>
            </a:r>
            <a:r>
              <a:rPr lang="en-US" dirty="0"/>
              <a:t> or a network issue.</a:t>
            </a:r>
          </a:p>
          <a:p>
            <a:pPr marL="171450" indent="-171450">
              <a:buFont typeface="Arial" panose="020B0604020202020204" pitchFamily="34" charset="0"/>
              <a:buChar char="•"/>
            </a:pPr>
            <a:r>
              <a:rPr lang="en-US" b="1" dirty="0"/>
              <a:t>Test step fails</a:t>
            </a:r>
            <a:r>
              <a:rPr lang="en-US" dirty="0"/>
              <a:t>: Often due to unit test failures, missing configuration, or invalid test syntax.</a:t>
            </a:r>
          </a:p>
          <a:p>
            <a:pPr marL="171450" indent="-171450">
              <a:buFont typeface="Arial" panose="020B0604020202020204" pitchFamily="34" charset="0"/>
              <a:buChar char="•"/>
            </a:pPr>
            <a:r>
              <a:rPr lang="en-US" b="1" dirty="0"/>
              <a:t>Permission denied</a:t>
            </a:r>
            <a:r>
              <a:rPr lang="en-US" dirty="0"/>
              <a:t>: Suggests file permission issues or missing secrets.</a:t>
            </a:r>
          </a:p>
          <a:p>
            <a:pPr marL="171450" indent="-171450">
              <a:buFont typeface="Arial" panose="020B0604020202020204" pitchFamily="34" charset="0"/>
              <a:buChar char="•"/>
            </a:pPr>
            <a:r>
              <a:rPr lang="en-US" dirty="0"/>
              <a:t>Use these clues to guide troubleshooting: check earlier steps for successful installations, validate configurations locally, and confirm that any required secrets or permissions are correctly provided.</a:t>
            </a:r>
          </a:p>
          <a:p>
            <a:pPr algn="l">
              <a:spcBef>
                <a:spcPts val="2400"/>
              </a:spcBef>
              <a:spcAft>
                <a:spcPts val="900"/>
              </a:spcAft>
            </a:pPr>
            <a:endParaRPr lang="en-US" b="0" i="0" dirty="0">
              <a:solidFill>
                <a:srgbClr val="161616"/>
              </a:solidFill>
              <a:effectLst/>
              <a:latin typeface="Segoe UI" panose="020B0502040204020203" pitchFamily="34" charset="0"/>
            </a:endParaRPr>
          </a:p>
          <a:p>
            <a:pPr algn="l">
              <a:spcBef>
                <a:spcPts val="2400"/>
              </a:spcBef>
              <a:spcAft>
                <a:spcPts val="900"/>
              </a:spcAft>
            </a:pPr>
            <a:r>
              <a:rPr lang="en-US" dirty="0"/>
              <a:t>Systematically follow these steps: locate the failed run, examine detailed logs, cross-check the workflow definition, and apply common failure patterns. This structured process ensures efficient identification and resolution of workflow failures.</a:t>
            </a: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3262605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access workflow logs from the GitHub UI, follow these steps:</a:t>
            </a:r>
          </a:p>
          <a:p>
            <a:endParaRPr lang="en-US" dirty="0"/>
          </a:p>
          <a:p>
            <a:pPr>
              <a:buFont typeface="+mj-lt"/>
              <a:buAutoNum type="arabicPeriod"/>
            </a:pPr>
            <a:r>
              <a:rPr lang="en-US" dirty="0"/>
              <a:t>Navigate to the repository</a:t>
            </a:r>
            <a:br>
              <a:rPr lang="en-US" dirty="0"/>
            </a:br>
            <a:r>
              <a:rPr lang="en-US" dirty="0"/>
              <a:t>Open the repository containing the workflow you need to inspect.</a:t>
            </a:r>
          </a:p>
          <a:p>
            <a:pPr>
              <a:buFont typeface="+mj-lt"/>
              <a:buAutoNum type="arabicPeriod"/>
            </a:pPr>
            <a:endParaRPr lang="en-US" dirty="0"/>
          </a:p>
          <a:p>
            <a:pPr>
              <a:buFont typeface="+mj-lt"/>
              <a:buAutoNum type="arabicPeriod"/>
            </a:pPr>
            <a:r>
              <a:rPr lang="en-US" dirty="0"/>
              <a:t>Click the Actions tab</a:t>
            </a:r>
            <a:br>
              <a:rPr lang="en-US" dirty="0"/>
            </a:br>
            <a:r>
              <a:rPr lang="en-US" dirty="0"/>
              <a:t>Select the Actions tab in the top navigation to view all workflow runs for this repository.</a:t>
            </a:r>
          </a:p>
          <a:p>
            <a:pPr>
              <a:buFont typeface="+mj-lt"/>
              <a:buAutoNum type="arabicPeriod"/>
            </a:pPr>
            <a:endParaRPr lang="en-US" dirty="0"/>
          </a:p>
          <a:p>
            <a:pPr>
              <a:buFont typeface="+mj-lt"/>
              <a:buAutoNum type="arabicPeriod"/>
            </a:pPr>
            <a:r>
              <a:rPr lang="en-US" dirty="0"/>
              <a:t>Select the workflow name</a:t>
            </a:r>
            <a:br>
              <a:rPr lang="en-US" dirty="0"/>
            </a:br>
            <a:r>
              <a:rPr lang="en-US" dirty="0"/>
              <a:t>Find the entry matching the workflow’s name as defined in the YAML. Clicking it shows its run history.</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514061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startAt="4"/>
            </a:pPr>
            <a:r>
              <a:rPr lang="en-US" dirty="0"/>
              <a:t>Choose a specific run</a:t>
            </a:r>
            <a:br>
              <a:rPr lang="en-US" dirty="0"/>
            </a:br>
            <a:r>
              <a:rPr lang="en-US" dirty="0"/>
              <a:t>Click the timestamp or commit message for the desired run. This opens the run summary page.</a:t>
            </a:r>
          </a:p>
          <a:p>
            <a:pPr marL="228600" indent="-228600">
              <a:buFont typeface="+mj-lt"/>
              <a:buAutoNum type="arabicPeriod" startAt="4"/>
            </a:pPr>
            <a:endParaRPr lang="en-US" dirty="0"/>
          </a:p>
          <a:p>
            <a:pPr marL="228600" indent="-228600">
              <a:buFont typeface="+mj-lt"/>
              <a:buAutoNum type="arabicPeriod" startAt="4"/>
            </a:pPr>
            <a:r>
              <a:rPr lang="en-US" dirty="0"/>
              <a:t>Expand each job and step</a:t>
            </a:r>
            <a:br>
              <a:rPr lang="en-US" dirty="0"/>
            </a:br>
            <a:r>
              <a:rPr lang="en-US" dirty="0"/>
              <a:t>On the run summary, click each job to expand, then expand individual steps to reveal detailed logs.</a:t>
            </a:r>
          </a:p>
          <a:p>
            <a:pPr marL="228600" indent="-228600">
              <a:buFont typeface="+mj-lt"/>
              <a:buAutoNum type="arabicPeriod" startAt="4"/>
            </a:pPr>
            <a:endParaRPr lang="en-US" dirty="0"/>
          </a:p>
          <a:p>
            <a:pPr marL="228600" indent="-228600">
              <a:buFont typeface="+mj-lt"/>
              <a:buAutoNum type="arabicPeriod" startAt="4"/>
            </a:pPr>
            <a:r>
              <a:rPr lang="en-US" dirty="0"/>
              <a:t>View log output</a:t>
            </a:r>
            <a:br>
              <a:rPr lang="en-US" dirty="0"/>
            </a:br>
            <a:r>
              <a:rPr lang="en-US" dirty="0"/>
              <a:t>Inside each step, review console output, error messages, and debug info. Copy or search these logs as needed for troubleshooting.</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595617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troubleshooting, start by opening the Actions tab so you can see every workflow run for your repository.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pick the workflow name to filter down to its specific history.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on a particular run to view its jobs and steps—this will show where failures occurred.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Expand each step to read the detailed logs, which reveal error messages or debug info.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need to share or analyze logs offline, download them directly from this view.</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38217010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When a workflow runs, it produces a log that includes the details of what happened and any errors or test failures.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Open the Actions tab and select the relevant workflow run to view its logs.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You’ll see each step’s output, and failures show a red mark instead of green.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Expand the failed step to inspect error messages or test failures.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these details to understand what went wrong and guide your debugging.</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3326602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customize a workflow template to fit specific project needs:</a:t>
            </a:r>
          </a:p>
          <a:p>
            <a:endParaRPr lang="en-US" dirty="0"/>
          </a:p>
          <a:p>
            <a:r>
              <a:rPr lang="en-US" b="1" dirty="0"/>
              <a:t>Context and Motivation</a:t>
            </a:r>
            <a:br>
              <a:rPr lang="en-US" dirty="0"/>
            </a:br>
            <a:r>
              <a:rPr lang="en-US" dirty="0"/>
              <a:t>We begin with the default Node.js CI template but often need to tailor it. For example, testing across multiple OS versions or separating build and test steps makes results clearer and aligns automation with our project’s requirements.</a:t>
            </a:r>
          </a:p>
          <a:p>
            <a:endParaRPr lang="en-US" b="1" dirty="0"/>
          </a:p>
          <a:p>
            <a:r>
              <a:rPr lang="en-US" b="1" dirty="0"/>
              <a:t>Configuring a Build Matrix</a:t>
            </a:r>
            <a:br>
              <a:rPr lang="en-US" dirty="0"/>
            </a:br>
            <a:r>
              <a:rPr lang="en-US" dirty="0"/>
              <a:t>Here’s the snippet:</a:t>
            </a:r>
          </a:p>
          <a:p>
            <a:r>
              <a:rPr lang="en-US" dirty="0"/>
              <a:t>strategy: </a:t>
            </a:r>
          </a:p>
          <a:p>
            <a:r>
              <a:rPr lang="en-US" dirty="0"/>
              <a:t>matrix: </a:t>
            </a:r>
          </a:p>
          <a:p>
            <a:r>
              <a:rPr lang="en-US" dirty="0" err="1"/>
              <a:t>os</a:t>
            </a:r>
            <a:r>
              <a:rPr lang="en-US" dirty="0"/>
              <a:t>: [ubuntu-latest, windows-latest] </a:t>
            </a:r>
          </a:p>
          <a:p>
            <a:r>
              <a:rPr lang="en-US" dirty="0"/>
              <a:t>node-version: [16.x, 18.x] </a:t>
            </a:r>
          </a:p>
          <a:p>
            <a:endParaRPr lang="en-US" dirty="0"/>
          </a:p>
          <a:p>
            <a:r>
              <a:rPr lang="en-US" dirty="0"/>
              <a:t>This runs the workflow on Ubuntu and Windows for Node 16 and 18, yielding four combinations. Broad coverage is valuable, though it increases the volume of logs we must review.</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3389988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Recognizing Log Clutter</a:t>
            </a:r>
            <a:br>
              <a:rPr lang="en-US" dirty="0"/>
            </a:br>
            <a:r>
              <a:rPr lang="en-US" dirty="0"/>
              <a:t>When build and test run in one job with a matrix, failures can be hard to trace in crowded logs. Isolating test failures helps immediately identify which OS/version combination failed and why.</a:t>
            </a:r>
          </a:p>
          <a:p>
            <a:endParaRPr lang="en-US" b="1" dirty="0"/>
          </a:p>
          <a:p>
            <a:r>
              <a:rPr lang="en-US" b="1" dirty="0"/>
              <a:t>Separating the Test Job</a:t>
            </a:r>
            <a:br>
              <a:rPr lang="en-US" dirty="0"/>
            </a:br>
            <a:r>
              <a:rPr lang="en-US" dirty="0"/>
              <a:t>We create a dedicated test job:</a:t>
            </a:r>
          </a:p>
          <a:p>
            <a:pPr rtl="0"/>
            <a:endParaRPr lang="en-US" dirty="0"/>
          </a:p>
          <a:p>
            <a:pPr rtl="0"/>
            <a:r>
              <a:rPr lang="en-US" dirty="0"/>
              <a:t>test: runs-on: ${{ </a:t>
            </a:r>
            <a:r>
              <a:rPr lang="en-US" dirty="0" err="1"/>
              <a:t>matrix.os</a:t>
            </a:r>
            <a:r>
              <a:rPr lang="en-US" dirty="0"/>
              <a:t> }} strategy: matrix: </a:t>
            </a:r>
            <a:r>
              <a:rPr lang="en-US" dirty="0" err="1"/>
              <a:t>os</a:t>
            </a:r>
            <a:r>
              <a:rPr lang="en-US" dirty="0"/>
              <a:t>: [ubuntu-latest, windows-latest] node-version: [16.x, 18.x] steps: - uses: actions/checkout@v3 - name: Use Node.js ${{ </a:t>
            </a:r>
            <a:r>
              <a:rPr lang="en-US" dirty="0" err="1"/>
              <a:t>matrix.node</a:t>
            </a:r>
            <a:r>
              <a:rPr lang="en-US" dirty="0"/>
              <a:t>-version }} uses: actions/setup-node@v3 with: node-version: ${{ </a:t>
            </a:r>
            <a:r>
              <a:rPr lang="en-US" dirty="0" err="1"/>
              <a:t>matrix.node</a:t>
            </a:r>
            <a:r>
              <a:rPr lang="en-US" dirty="0"/>
              <a:t>-version }} - name: </a:t>
            </a:r>
            <a:r>
              <a:rPr lang="en-US" dirty="0" err="1"/>
              <a:t>npm</a:t>
            </a:r>
            <a:r>
              <a:rPr lang="en-US" dirty="0"/>
              <a:t> install, and test run: | </a:t>
            </a:r>
            <a:r>
              <a:rPr lang="en-US" dirty="0" err="1"/>
              <a:t>npm</a:t>
            </a:r>
            <a:r>
              <a:rPr lang="en-US" dirty="0"/>
              <a:t> install </a:t>
            </a:r>
            <a:r>
              <a:rPr lang="en-US" dirty="0" err="1"/>
              <a:t>npm</a:t>
            </a:r>
            <a:r>
              <a:rPr lang="en-US" dirty="0"/>
              <a:t> test env: CI: true </a:t>
            </a:r>
          </a:p>
          <a:p>
            <a:pPr rtl="0"/>
            <a:endParaRPr lang="en-US" dirty="0"/>
          </a:p>
          <a:p>
            <a:pPr rtl="0"/>
            <a:r>
              <a:rPr lang="en-US" dirty="0"/>
              <a:t>We check out code, set up the Node version, install dependencies, and run tests. Using the same matrix ensures consistent coverage while isolating the test phase.</a:t>
            </a:r>
          </a:p>
          <a:p>
            <a:endParaRPr lang="en-US" b="1" dirty="0"/>
          </a:p>
          <a:p>
            <a:r>
              <a:rPr lang="en-US" b="1" dirty="0"/>
              <a:t>Benefits of Separation</a:t>
            </a:r>
            <a:br>
              <a:rPr lang="en-US" dirty="0"/>
            </a:br>
            <a:r>
              <a:rPr lang="en-US" dirty="0"/>
              <a:t>With a standalone “test” job, failures are immediately obvious—logs and job names point directly to testing issues. Maintenance improves: updating test steps happens in one place without mixing build logic.</a:t>
            </a:r>
          </a:p>
          <a:p>
            <a:endParaRPr lang="en-US" b="1" dirty="0"/>
          </a:p>
          <a:p>
            <a:r>
              <a:rPr lang="en-US" b="1" dirty="0"/>
              <a:t>Applying the Pattern More Broadly</a:t>
            </a:r>
            <a:br>
              <a:rPr lang="en-US" dirty="0"/>
            </a:br>
            <a:r>
              <a:rPr lang="en-US" dirty="0"/>
              <a:t>We can apply this separation to other phases—linting, security scans, deployment—each in its own job, optionally with matrices. This clear structure aids debugging and scales as projects grow.</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1618691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discuss how to find workflows in a repository and what we mean by artifacts in GitHub Actions.</a:t>
            </a:r>
          </a:p>
          <a:p>
            <a:endParaRPr lang="en-US" dirty="0"/>
          </a:p>
          <a:p>
            <a:r>
              <a:rPr lang="en-US" b="1" dirty="0"/>
              <a:t>Locating a Workflow in a Repository</a:t>
            </a:r>
            <a:br>
              <a:rPr lang="en-US" dirty="0"/>
            </a:br>
            <a:r>
              <a:rPr lang="en-US" dirty="0"/>
              <a:t>Begin by navigating to the repository’s </a:t>
            </a:r>
            <a:r>
              <a:rPr lang="en-US" b="1" dirty="0"/>
              <a:t>Actions</a:t>
            </a:r>
            <a:r>
              <a:rPr lang="en-US" dirty="0"/>
              <a:t> tab. This lists all defined workflows and their recent runs. Selecting a workflow shows its run history; clicking a specific run reveals details about triggers, jobs, and steps. This is essential for inspecting how automation behaves and diagnosing any issues.</a:t>
            </a:r>
          </a:p>
          <a:p>
            <a:endParaRPr lang="en-US" dirty="0"/>
          </a:p>
          <a:p>
            <a:r>
              <a:rPr lang="en-US" b="1" dirty="0"/>
              <a:t>What Are Artifacts?</a:t>
            </a:r>
            <a:br>
              <a:rPr lang="en-US" dirty="0"/>
            </a:br>
            <a:r>
              <a:rPr lang="en-US" dirty="0"/>
              <a:t>Artifacts are any outputs a workflow produces beyond logs—build outputs, packaged binaries, or container images. Since each job runs on a fresh VM, artifacts let us pass outputs between jobs. For example, you might build a Docker image in one job, then upload it as an artifact so a later job can download and test or deploy it.</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14841930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snippet demonstrates how to use the actions/upload-artifact action to store build outputs:</a:t>
            </a:r>
          </a:p>
          <a:p>
            <a:pPr rtl="0"/>
            <a:endParaRPr lang="en-US" dirty="0"/>
          </a:p>
          <a:p>
            <a:pPr rtl="0"/>
            <a:r>
              <a:rPr lang="en-US" dirty="0"/>
              <a:t>build: runs-on: ubuntu-latest steps: - uses: actions/checkout@v3 - name: </a:t>
            </a:r>
            <a:r>
              <a:rPr lang="en-US" dirty="0" err="1"/>
              <a:t>npm</a:t>
            </a:r>
            <a:r>
              <a:rPr lang="en-US" dirty="0"/>
              <a:t> install and build webpack run: | </a:t>
            </a:r>
            <a:r>
              <a:rPr lang="en-US" dirty="0" err="1"/>
              <a:t>npm</a:t>
            </a:r>
            <a:r>
              <a:rPr lang="en-US" dirty="0"/>
              <a:t> install </a:t>
            </a:r>
            <a:r>
              <a:rPr lang="en-US" dirty="0" err="1"/>
              <a:t>npm</a:t>
            </a:r>
            <a:r>
              <a:rPr lang="en-US" dirty="0"/>
              <a:t> run build - uses: actions/</a:t>
            </a:r>
            <a:r>
              <a:rPr lang="en-US" dirty="0" err="1"/>
              <a:t>upload-artifact@main</a:t>
            </a:r>
            <a:r>
              <a:rPr lang="en-US" dirty="0"/>
              <a:t> with: name: webpack artifacts path: public/ </a:t>
            </a:r>
          </a:p>
          <a:p>
            <a:pPr rtl="0"/>
            <a:endParaRPr lang="en-US" dirty="0"/>
          </a:p>
          <a:p>
            <a:pPr marL="171450" indent="-171450">
              <a:buFont typeface="Arial" panose="020B0604020202020204" pitchFamily="34" charset="0"/>
              <a:buChar char="•"/>
            </a:pPr>
            <a:r>
              <a:rPr lang="en-US" dirty="0"/>
              <a:t>The path: input defines what gets uploaded. Here, specifying public/ uploads the entire directory.</a:t>
            </a:r>
          </a:p>
          <a:p>
            <a:pPr marL="171450" indent="-171450">
              <a:buFont typeface="Arial" panose="020B0604020202020204" pitchFamily="34" charset="0"/>
              <a:buChar char="•"/>
            </a:pPr>
            <a:r>
              <a:rPr lang="en-US" dirty="0"/>
              <a:t>If only a single file is needed, change path: to the file’s path (e.g., public/</a:t>
            </a:r>
            <a:r>
              <a:rPr lang="en-US" dirty="0" err="1"/>
              <a:t>mytext.txt</a:t>
            </a:r>
            <a:r>
              <a:rPr lang="en-US" dirty="0"/>
              <a:t>).</a:t>
            </a:r>
          </a:p>
          <a:p>
            <a:pPr marL="171450" indent="-171450">
              <a:buFont typeface="Arial" panose="020B0604020202020204" pitchFamily="34" charset="0"/>
              <a:buChar char="•"/>
            </a:pPr>
            <a:r>
              <a:rPr lang="en-US" dirty="0"/>
              <a:t>Uploading artifacts preserves build outputs across jobs. After this step, later jobs can retrieve these files with actions/download-artifact.</a:t>
            </a:r>
          </a:p>
          <a:p>
            <a:pPr marL="171450" indent="-171450">
              <a:buFont typeface="Arial" panose="020B0604020202020204" pitchFamily="34" charset="0"/>
              <a:buChar char="•"/>
            </a:pPr>
            <a:r>
              <a:rPr lang="en-US" dirty="0"/>
              <a:t>Note that the directory or file pattern must match existing files in the workspace; otherwise, the upload step may warn or fail.</a:t>
            </a:r>
          </a:p>
          <a:p>
            <a:pPr marL="171450" indent="-171450">
              <a:buFont typeface="Arial" panose="020B0604020202020204" pitchFamily="34" charset="0"/>
              <a:buChar char="•"/>
            </a:pPr>
            <a:r>
              <a:rPr lang="en-US" dirty="0"/>
              <a:t>Artifact storage is retained for a default period (90 days) and counts against storage quotas in private repositories.</a:t>
            </a:r>
          </a:p>
          <a:p>
            <a:pPr marL="171450" indent="-171450">
              <a:buFont typeface="Arial" panose="020B0604020202020204" pitchFamily="34" charset="0"/>
              <a:buChar char="•"/>
            </a:pPr>
            <a:r>
              <a:rPr lang="en-US" dirty="0"/>
              <a:t>Verify the correct paths locally before pushing changes, to ensure intended files are captured.</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11098089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In this example, the test job declares needs: build, ensuring it only runs after the build job completes successfully and uploads its artifact. </a:t>
            </a:r>
          </a:p>
          <a:p>
            <a:pPr algn="l"/>
            <a:endParaRPr lang="en-US" dirty="0"/>
          </a:p>
          <a:p>
            <a:pPr algn="l"/>
            <a:r>
              <a:rPr lang="en-US" dirty="0"/>
              <a:t>Within the test job’s steps, after checking out the code, we use actions/download-artifact with the same name (“webpack artifacts”) and specify path: public to retrieve the files the build produced. </a:t>
            </a:r>
          </a:p>
          <a:p>
            <a:pPr algn="l"/>
            <a:endParaRPr lang="en-US" dirty="0"/>
          </a:p>
          <a:p>
            <a:pPr algn="l"/>
            <a:r>
              <a:rPr lang="en-US" dirty="0"/>
              <a:t>This setup lets the test job access those built outputs for further validation.</a:t>
            </a:r>
          </a:p>
          <a:p>
            <a:pPr algn="l"/>
            <a:endParaRPr lang="en-US" dirty="0"/>
          </a:p>
          <a:p>
            <a:pPr algn="l"/>
            <a:r>
              <a:rPr lang="en-US" dirty="0"/>
              <a:t> It’s important that the artifact name in download-artifact matches exactly what was used in upload-artifact. </a:t>
            </a:r>
          </a:p>
          <a:p>
            <a:pPr algn="l"/>
            <a:endParaRPr lang="en-US" dirty="0"/>
          </a:p>
          <a:p>
            <a:pPr algn="l"/>
            <a:r>
              <a:rPr lang="en-US" dirty="0"/>
              <a:t>By structuring jobs this way, workflows can cleanly pass outputs from one stage to the next, maintain clarity in dependencies, and ensure tests operate on the correct build artifacts.</a:t>
            </a:r>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2004206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161616"/>
                </a:solidFill>
                <a:effectLst/>
                <a:latin typeface="Quattrocento Sans" panose="020B0502050000020003" pitchFamily="34" charset="0"/>
              </a:rPr>
              <a:t>So far, we described starting the workflow with GitHub events such as </a:t>
            </a:r>
            <a:r>
              <a:rPr lang="en-US" sz="1200" b="0" i="1" dirty="0">
                <a:solidFill>
                  <a:srgbClr val="161616"/>
                </a:solidFill>
                <a:effectLst/>
                <a:latin typeface="Quattrocento Sans" panose="020B0502050000020003" pitchFamily="34" charset="0"/>
              </a:rPr>
              <a:t>push</a:t>
            </a:r>
            <a:r>
              <a:rPr lang="en-US" sz="1200" b="0" i="0" dirty="0">
                <a:solidFill>
                  <a:srgbClr val="161616"/>
                </a:solidFill>
                <a:effectLst/>
                <a:latin typeface="Quattrocento Sans" panose="020B0502050000020003" pitchFamily="34" charset="0"/>
              </a:rPr>
              <a:t> or </a:t>
            </a:r>
            <a:r>
              <a:rPr lang="en-US" sz="1200" b="0" i="1" dirty="0">
                <a:solidFill>
                  <a:srgbClr val="161616"/>
                </a:solidFill>
                <a:effectLst/>
                <a:latin typeface="Quattrocento Sans" panose="020B0502050000020003" pitchFamily="34" charset="0"/>
              </a:rPr>
              <a:t>pull-request</a:t>
            </a:r>
            <a:r>
              <a:rPr lang="en-US" sz="1200" b="0" i="0" dirty="0">
                <a:solidFill>
                  <a:srgbClr val="161616"/>
                </a:solidFill>
                <a:effectLst/>
                <a:latin typeface="Quattrocento Sans" panose="020B0502050000020003" pitchFamily="34" charset="0"/>
              </a:rPr>
              <a:t>. We could also run a workflow on a schedule, or on some event outside of GitHub.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r>
              <a:rPr lang="en-US" dirty="0"/>
              <a:t>First, configure the workflow to run on the </a:t>
            </a:r>
            <a:r>
              <a:rPr lang="en-US" dirty="0" err="1"/>
              <a:t>pull_request_review</a:t>
            </a:r>
            <a:r>
              <a:rPr lang="en-US" dirty="0"/>
              <a:t> event so that it only fires after someone submits a review. Next, use an existing action—here, </a:t>
            </a:r>
            <a:r>
              <a:rPr lang="en-US" dirty="0" err="1"/>
              <a:t>pullreminders</a:t>
            </a:r>
            <a:r>
              <a:rPr lang="en-US" dirty="0"/>
              <a:t>/</a:t>
            </a:r>
            <a:r>
              <a:rPr lang="en-US" dirty="0" err="1"/>
              <a:t>label-when-approved-action@main</a:t>
            </a:r>
            <a:r>
              <a:rPr lang="en-US" dirty="0"/>
              <a:t>—to add a label when the required number of approvals is met.</a:t>
            </a:r>
          </a:p>
          <a:p>
            <a:r>
              <a:rPr lang="en-US" dirty="0"/>
              <a:t>In the workflow step, the env: block defines the variables the action needs:</a:t>
            </a:r>
          </a:p>
          <a:p>
            <a:pPr marL="171450" indent="-171450">
              <a:buFont typeface="Arial" panose="020B0604020202020204" pitchFamily="34" charset="0"/>
              <a:buChar char="•"/>
            </a:pPr>
            <a:r>
              <a:rPr lang="en-US" dirty="0"/>
              <a:t>APPROVALS: "1" sets the number of required approvals before labeling.</a:t>
            </a:r>
          </a:p>
          <a:p>
            <a:pPr marL="171450" indent="-171450">
              <a:buFont typeface="Arial" panose="020B0604020202020204" pitchFamily="34" charset="0"/>
              <a:buChar char="•"/>
            </a:pPr>
            <a:r>
              <a:rPr lang="en-US" dirty="0"/>
              <a:t>GITHUB_TOKEN: ${{ </a:t>
            </a:r>
            <a:r>
              <a:rPr lang="en-US" dirty="0" err="1"/>
              <a:t>secrets.GITHUB_TOKEN</a:t>
            </a:r>
            <a:r>
              <a:rPr lang="en-US" dirty="0"/>
              <a:t> }} supplies authentication so the action can modify the PR.</a:t>
            </a:r>
          </a:p>
          <a:p>
            <a:pPr marL="171450" indent="-171450">
              <a:buFont typeface="Arial" panose="020B0604020202020204" pitchFamily="34" charset="0"/>
              <a:buChar char="•"/>
            </a:pPr>
            <a:r>
              <a:rPr lang="en-US" dirty="0"/>
              <a:t>ADD_LABEL: "approved" specifies the label to apply once the condition is satisfied.</a:t>
            </a:r>
          </a:p>
          <a:p>
            <a:endParaRPr lang="en-US" dirty="0"/>
          </a:p>
          <a:p>
            <a:r>
              <a:rPr lang="en-US" dirty="0"/>
              <a:t>Ensure the workflow YAML includes the correct trigger and that these environment variables match your team’s requirements. This approach streamlines review processes by automatically tagging approved pull requests, reducing manual steps and keeping the workflow consistent.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r>
              <a:rPr lang="en-US" b="0" i="0" dirty="0">
                <a:solidFill>
                  <a:srgbClr val="161616"/>
                </a:solidFill>
                <a:effectLst/>
                <a:highlight>
                  <a:srgbClr val="FFFFFF"/>
                </a:highlight>
                <a:latin typeface="Segoe UI" panose="020B0502040204020203" pitchFamily="34" charset="0"/>
              </a:rPr>
              <a:t>Adding a label could be an event that starts another workflow, such as a merge. We cover this event in the next module on continuous delivery with GitHub Actions.</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26282864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161616"/>
                </a:solidFill>
                <a:effectLst/>
                <a:latin typeface="Quattrocento Sans" panose="020B0502050000020003" pitchFamily="34" charset="0"/>
              </a:rPr>
              <a:t>Now, let’s learn how to use default and custom environment variables, custom scripts, cache dependencies, and pass artifact data between jobs. You'll also learn how to access the workflow logs from both the GitHub website and REST API endpoints.</a:t>
            </a:r>
          </a:p>
          <a:p>
            <a:pPr algn="l"/>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40338633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Within the GitHub Actions workflow, there are several default environment variables that are available for you to use, but only within the runner that's executing a job. These default variables are case-sensitive, and they refer to configuration values for the system and for the current user. We recommend that you use these default environment variables to reference the filesystem rather than using hard-coded file paths. To use a default environment variable, specify </a:t>
            </a:r>
            <a:r>
              <a:rPr lang="en-US" dirty="0"/>
              <a:t>$</a:t>
            </a:r>
            <a:r>
              <a:rPr lang="en-US" b="0" i="0" dirty="0">
                <a:solidFill>
                  <a:srgbClr val="161616"/>
                </a:solidFill>
                <a:effectLst/>
                <a:highlight>
                  <a:srgbClr val="FFFFFF"/>
                </a:highlight>
                <a:latin typeface="Segoe UI" panose="020B0502040204020203" pitchFamily="34" charset="0"/>
              </a:rPr>
              <a:t> followed by the environment variable's name.</a:t>
            </a:r>
          </a:p>
          <a:p>
            <a:pPr algn="l"/>
            <a:endParaRPr lang="en-US" b="0" i="0" dirty="0">
              <a:solidFill>
                <a:srgbClr val="161616"/>
              </a:solidFill>
              <a:effectLst/>
              <a:highlight>
                <a:srgbClr val="FFFFFF"/>
              </a:highlight>
              <a:latin typeface="Segoe UI" panose="020B0502040204020203" pitchFamily="34" charset="0"/>
            </a:endParaRPr>
          </a:p>
          <a:p>
            <a:r>
              <a:rPr lang="en-US" dirty="0"/>
              <a:t>GitHub provides default environment variables inside the runner. They are case-sensitive and reflect runtime configuration or user-specific settings. </a:t>
            </a:r>
          </a:p>
          <a:p>
            <a:endParaRPr lang="en-US" dirty="0"/>
          </a:p>
          <a:p>
            <a:r>
              <a:rPr lang="en-US" dirty="0"/>
              <a:t>Rather than hard-coding file paths, reference these variables (e.g., $GITHUB_REF) to make workflows more portable and reliable.</a:t>
            </a:r>
          </a:p>
          <a:p>
            <a:endParaRPr lang="en-US" dirty="0"/>
          </a:p>
          <a:p>
            <a:r>
              <a:rPr lang="en-US" dirty="0"/>
              <a:t>In a job step, using echo "Deploying to production server on branch $GITHUB_REF" shows how the runner substitutes the current branch reference automatically.</a:t>
            </a:r>
          </a:p>
          <a:p>
            <a:endParaRPr lang="en-US" dirty="0"/>
          </a:p>
          <a:p>
            <a:r>
              <a:rPr lang="en-US" dirty="0"/>
              <a:t>Context differs from default environment variables: contexts can be evaluated at any point in the workflow (for conditionals, step definitions, and more), whereas default environment variables only exist at runtime within the job’s shell environment.</a:t>
            </a:r>
          </a:p>
          <a:p>
            <a:endParaRPr lang="en-US" dirty="0"/>
          </a:p>
          <a:p>
            <a:r>
              <a:rPr lang="en-US" dirty="0"/>
              <a:t>Use contexts when you need to access information outside of the runner shell (for example, in if: expressions or mapping inputs), and use default environment variables inside scripts and commands to avoid hard-coded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7218699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The workflow named “CI” triggers on every push, but the job only runs when that push is on the main branch. </a:t>
            </a:r>
          </a:p>
          <a:p>
            <a:pPr algn="l"/>
            <a:endParaRPr lang="en-US" dirty="0"/>
          </a:p>
          <a:p>
            <a:pPr algn="l"/>
            <a:r>
              <a:rPr lang="en-US" dirty="0"/>
              <a:t>Notice the if: </a:t>
            </a:r>
            <a:r>
              <a:rPr lang="en-US" dirty="0" err="1"/>
              <a:t>github.ref</a:t>
            </a:r>
            <a:r>
              <a:rPr lang="en-US" dirty="0"/>
              <a:t> == 'refs/heads/main' condition: it checks the branch reference before provisioning a runner. </a:t>
            </a:r>
          </a:p>
          <a:p>
            <a:pPr algn="l"/>
            <a:endParaRPr lang="en-US" dirty="0"/>
          </a:p>
          <a:p>
            <a:pPr algn="l"/>
            <a:r>
              <a:rPr lang="en-US" dirty="0"/>
              <a:t>This uses the lowercase </a:t>
            </a:r>
            <a:r>
              <a:rPr lang="en-US" dirty="0" err="1"/>
              <a:t>github.ref</a:t>
            </a:r>
            <a:r>
              <a:rPr lang="en-US" dirty="0"/>
              <a:t> context to decide at workflow parsing time whether to run the job. </a:t>
            </a:r>
          </a:p>
          <a:p>
            <a:pPr algn="l"/>
            <a:endParaRPr lang="en-US" dirty="0"/>
          </a:p>
          <a:p>
            <a:pPr algn="l"/>
            <a:r>
              <a:rPr lang="en-US" dirty="0"/>
              <a:t>If the condition is met, the runner starts and the step echoes the branch name using the uppercase environment variable $GITHUB_REF. </a:t>
            </a:r>
          </a:p>
          <a:p>
            <a:pPr algn="l"/>
            <a:endParaRPr lang="en-US" dirty="0"/>
          </a:p>
          <a:p>
            <a:pPr algn="l"/>
            <a:r>
              <a:rPr lang="en-US" dirty="0"/>
              <a:t>This distinction—context for pre-run checks, environment variable for in-run commands—keeps workflows both efficient and clear. </a:t>
            </a:r>
            <a:endParaRPr lang="en-US" sz="1200" b="0" i="0" dirty="0">
              <a:solidFill>
                <a:srgbClr val="161616"/>
              </a:solidFill>
              <a:effectLst/>
              <a:latin typeface="Quattrocento Sans" panose="020B0502050000020003" pitchFamily="34" charset="0"/>
            </a:endParaRPr>
          </a:p>
          <a:p>
            <a:pPr algn="l"/>
            <a:br>
              <a:rPr lang="en-US" b="0" i="0" dirty="0">
                <a:solidFill>
                  <a:srgbClr val="161616"/>
                </a:solidFill>
                <a:effectLst/>
                <a:highlight>
                  <a:srgbClr val="FFFFFF"/>
                </a:highlight>
                <a:latin typeface="Segoe UI" panose="020B0502040204020203" pitchFamily="34" charset="0"/>
              </a:rPr>
            </a:br>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5607382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161616"/>
                </a:solidFill>
                <a:effectLst/>
                <a:latin typeface="Quattrocento Sans" panose="020B0502050000020003" pitchFamily="34" charset="0"/>
              </a:rPr>
              <a:t>Contexts allow you to access information about workflow runs, variables, runner environments, jobs, and steps. Each context is an object that contains properties which can be other objects or strings. Here's a table presents these contexts with their descriptions.</a:t>
            </a:r>
          </a:p>
          <a:p>
            <a:pPr algn="l"/>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61616"/>
                </a:solidFill>
                <a:effectLst/>
                <a:highlight>
                  <a:srgbClr val="FFFFFF"/>
                </a:highlight>
                <a:latin typeface="Segoe UI" panose="020B0502040204020203" pitchFamily="34" charset="0"/>
              </a:rPr>
              <a:t>The different contexts are available throughout a workflow run. For example, the secrets context may only be used at certain places within a job. In addition, you may only use some functions in certain places. For example, the </a:t>
            </a:r>
            <a:r>
              <a:rPr lang="en-US" dirty="0" err="1"/>
              <a:t>hashFiles</a:t>
            </a:r>
            <a:r>
              <a:rPr lang="en-US" b="0" i="0" dirty="0">
                <a:solidFill>
                  <a:srgbClr val="161616"/>
                </a:solidFill>
                <a:effectLst/>
                <a:highlight>
                  <a:srgbClr val="FFFFFF"/>
                </a:highlight>
                <a:latin typeface="Segoe UI" panose="020B0502040204020203" pitchFamily="34" charset="0"/>
              </a:rPr>
              <a:t> function isn't available everywhere.</a:t>
            </a: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19945379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The following table lists the restrictions on where each context and special function can be used within a workflow. The listed contexts are only available for the given workflow key, and you may not use them anywhere else. Unless listed in the table here, you may use a function anywhere.</a:t>
            </a:r>
          </a:p>
          <a:p>
            <a:pPr algn="l"/>
            <a:r>
              <a:rPr lang="en-US" b="0" i="0" dirty="0">
                <a:solidFill>
                  <a:srgbClr val="161616"/>
                </a:solidFill>
                <a:effectLst/>
                <a:highlight>
                  <a:srgbClr val="FFFFFF"/>
                </a:highlight>
                <a:latin typeface="Segoe UI" panose="020B0502040204020203" pitchFamily="34" charset="0"/>
              </a:rPr>
              <a:t>Expand table</a:t>
            </a:r>
          </a:p>
          <a:p>
            <a:br>
              <a:rPr lang="en-US" dirty="0"/>
            </a:br>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25403865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look at how to set custom environment variables in GitHub Actions workflows. Environment variables let us avoid hard-coding values, make workflows more flexible, and centralize configuration.</a:t>
            </a:r>
          </a:p>
          <a:p>
            <a:endParaRPr lang="en-US" dirty="0"/>
          </a:p>
          <a:p>
            <a:r>
              <a:rPr lang="en-US" dirty="0"/>
              <a:t>First, I’ll explain the three scopes: workflow, job, and step. Then we’ll walk through an example to see how they work together in practice.</a:t>
            </a:r>
          </a:p>
          <a:p>
            <a:r>
              <a:rPr lang="en-US" dirty="0"/>
              <a:t>At the top of the YAML, under the root, you can define env:. Variables declared here are available throughout every job and step, unless overridden. Think of this as global defaults for the entire workflow run.</a:t>
            </a:r>
          </a:p>
          <a:p>
            <a:endParaRPr lang="en-US" dirty="0"/>
          </a:p>
          <a:p>
            <a:r>
              <a:rPr lang="en-US" dirty="0"/>
              <a:t>Example: DAY_OF_WEEK: Monday. If you dispatch this workflow, DAY_OF_WEEK will be Monday in every job/step that doesn’t override it. Useful for values you know ahead of time or defaults that apply everywhere.</a:t>
            </a:r>
          </a:p>
          <a:p>
            <a:endParaRPr lang="en-US" dirty="0"/>
          </a:p>
          <a:p>
            <a:r>
              <a:rPr lang="en-US" dirty="0"/>
              <a:t>(Tip: Use uppercase names by convention, e.g., ENVIRONMENT, DAY_OF_WEEK. Keeps things consistent.)</a:t>
            </a:r>
          </a:p>
          <a:p>
            <a:endParaRPr lang="en-US" b="1" dirty="0"/>
          </a:p>
          <a:p>
            <a:r>
              <a:rPr lang="en-US" b="1" dirty="0"/>
              <a:t>Job-level env </a:t>
            </a:r>
          </a:p>
          <a:p>
            <a:r>
              <a:rPr lang="en-US" dirty="0"/>
              <a:t>(Next, inside a specific job (under jobs.&lt;</a:t>
            </a:r>
            <a:r>
              <a:rPr lang="en-US" dirty="0" err="1"/>
              <a:t>job_id</a:t>
            </a:r>
            <a:r>
              <a:rPr lang="en-US" dirty="0"/>
              <a:t>&gt;:), you can add its own env: block. These variables apply to all steps in that job. They override any workflow-level variable of the same name.</a:t>
            </a:r>
          </a:p>
          <a:p>
            <a:endParaRPr lang="en-US" dirty="0"/>
          </a:p>
          <a:p>
            <a:r>
              <a:rPr lang="en-US" dirty="0"/>
              <a:t>In our example: under </a:t>
            </a:r>
            <a:r>
              <a:rPr lang="en-US" dirty="0" err="1"/>
              <a:t>greeting_job</a:t>
            </a:r>
            <a:r>
              <a:rPr lang="en-US" dirty="0"/>
              <a:t>, we set Greeting: Hello. That means in all steps of this job, $Greeting will be Hello.</a:t>
            </a:r>
          </a:p>
          <a:p>
            <a:r>
              <a:rPr lang="en-US" dirty="0"/>
              <a:t>If there were a workflow-level variable also named Greeting, the job-level one would take precedence within this job.</a:t>
            </a:r>
          </a:p>
          <a:p>
            <a:endParaRPr lang="en-US" dirty="0"/>
          </a:p>
          <a:p>
            <a:r>
              <a:rPr lang="en-US" dirty="0"/>
              <a:t>Finally, within an individual step, you can define env: under that step. These only apply to that step and override both job- and workflow-level variables with the same name.</a:t>
            </a:r>
          </a:p>
          <a:p>
            <a:endParaRPr lang="en-US" dirty="0"/>
          </a:p>
          <a:p>
            <a:r>
              <a:rPr lang="en-US" dirty="0"/>
              <a:t>In the example’s step: we set </a:t>
            </a:r>
            <a:r>
              <a:rPr lang="en-US" dirty="0" err="1"/>
              <a:t>First_Name</a:t>
            </a:r>
            <a:r>
              <a:rPr lang="en-US" dirty="0"/>
              <a:t>: Mona. That variable is only available inside that single run: command.</a:t>
            </a:r>
          </a:p>
          <a:p>
            <a:endParaRPr lang="en-US" dirty="0"/>
          </a:p>
          <a:p>
            <a:r>
              <a:rPr lang="en-US" dirty="0"/>
              <a:t>This is useful for per-step customization: maybe a command needs a temporary flag or user-specific input. It keeps the scope minimal.</a:t>
            </a:r>
          </a:p>
          <a:p>
            <a:endParaRPr lang="en-US" dirty="0"/>
          </a:p>
          <a:p>
            <a:r>
              <a:rPr lang="en-US" dirty="0"/>
              <a:t>(Tip: Avoid clutter: only declare step-level env when necessary. If many steps share the same var, consider job-level.)</a:t>
            </a:r>
          </a:p>
          <a:p>
            <a:endParaRPr lang="en-US" b="1" dirty="0"/>
          </a:p>
          <a:p>
            <a:r>
              <a:rPr lang="en-US" b="1" dirty="0"/>
              <a:t>Referencing env variables </a:t>
            </a:r>
          </a:p>
          <a:p>
            <a:r>
              <a:rPr lang="en-US" dirty="0"/>
              <a:t>Inside run: blocks (shell), environment variables are available normally, e.g. $Greeting, $</a:t>
            </a:r>
            <a:r>
              <a:rPr lang="en-US" dirty="0" err="1"/>
              <a:t>First_Name</a:t>
            </a:r>
            <a:r>
              <a:rPr lang="en-US" dirty="0"/>
              <a:t>, $DAY_OF_WEEK. If you use matrix or expressions, you can also reference via ${{ </a:t>
            </a:r>
            <a:r>
              <a:rPr lang="en-US" dirty="0" err="1"/>
              <a:t>env.VARIABLE_NAME</a:t>
            </a:r>
            <a:r>
              <a:rPr lang="en-US" dirty="0"/>
              <a:t> }} in other parts of YAML (like in if: or with:).</a:t>
            </a:r>
          </a:p>
          <a:p>
            <a:endParaRPr lang="en-US" dirty="0"/>
          </a:p>
          <a:p>
            <a:r>
              <a:rPr lang="en-US" dirty="0"/>
              <a:t>Be mindful: ${{ </a:t>
            </a:r>
            <a:r>
              <a:rPr lang="en-US" dirty="0" err="1"/>
              <a:t>env.VARIABLE_NAME</a:t>
            </a:r>
            <a:r>
              <a:rPr lang="en-US" dirty="0"/>
              <a:t> }} is evaluated at workflow interpolation time; $VARIABLE_NAME is in the shell during execution.</a:t>
            </a:r>
          </a:p>
          <a:p>
            <a:endParaRPr lang="en-US" dirty="0"/>
          </a:p>
          <a:p>
            <a:r>
              <a:rPr lang="en-US" dirty="0"/>
              <a:t>If mixing, clarify which context you need: for commands, the shell form is easiest.</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946309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the default environment variables GitHub provides automatically in our workflows. These aren’t ones we set; GitHub makes them available for us. Understanding them helps us write clearer, more reliable workflows. </a:t>
            </a:r>
          </a:p>
          <a:p>
            <a:endParaRPr lang="en-US" b="1" dirty="0"/>
          </a:p>
          <a:p>
            <a:r>
              <a:rPr lang="en-US" b="1" dirty="0"/>
              <a:t>Default environment variables overview</a:t>
            </a:r>
            <a:br>
              <a:rPr lang="en-US" dirty="0"/>
            </a:br>
            <a:r>
              <a:rPr lang="en-US" dirty="0"/>
              <a:t>GitHub injects a set of variables beginning with GITHUB_ or RUNNER_. There’s also CI and a few others. None of these can be overridden. They give us info about the run environment—like repository details, commit info, runner OS—without extra setup.</a:t>
            </a:r>
          </a:p>
          <a:p>
            <a:endParaRPr lang="en-US" dirty="0"/>
          </a:p>
          <a:p>
            <a:r>
              <a:rPr lang="en-US" b="1" dirty="0"/>
              <a:t>Context properties mapping</a:t>
            </a:r>
            <a:br>
              <a:rPr lang="en-US" dirty="0"/>
            </a:br>
            <a:r>
              <a:rPr lang="en-US" dirty="0"/>
              <a:t>For nearly every default env variable, there’s a matching context property we can use in expressions. For example, RUNNER_* maps to runner.*. Using </a:t>
            </a:r>
            <a:r>
              <a:rPr lang="en-US" dirty="0" err="1"/>
              <a:t>runner.os</a:t>
            </a:r>
            <a:r>
              <a:rPr lang="en-US" dirty="0"/>
              <a:t> or </a:t>
            </a:r>
            <a:r>
              <a:rPr lang="en-US" dirty="0" err="1"/>
              <a:t>github.repository</a:t>
            </a:r>
            <a:r>
              <a:rPr lang="en-US" dirty="0"/>
              <a:t> in our YAML expressions is usually clearer than referencing the env name directly.</a:t>
            </a:r>
          </a:p>
          <a:p>
            <a:endParaRPr lang="en-US" dirty="0"/>
          </a:p>
          <a:p>
            <a:r>
              <a:rPr lang="en-US" b="1" dirty="0"/>
              <a:t>Example walkthrough</a:t>
            </a:r>
            <a:br>
              <a:rPr lang="en-US" dirty="0"/>
            </a:br>
            <a:r>
              <a:rPr lang="en-US" dirty="0"/>
              <a:t>Here’s the YAML snippet: ***above</a:t>
            </a:r>
          </a:p>
          <a:p>
            <a:endParaRPr lang="en-US" dirty="0"/>
          </a:p>
          <a:p>
            <a:r>
              <a:rPr lang="en-US" dirty="0"/>
              <a:t>We trigger manually with </a:t>
            </a:r>
            <a:r>
              <a:rPr lang="en-US" dirty="0" err="1"/>
              <a:t>workflow_dispatch</a:t>
            </a:r>
            <a:r>
              <a:rPr lang="en-US" dirty="0"/>
              <a:t>. The job runs on macOS. The first step’s if: </a:t>
            </a:r>
            <a:r>
              <a:rPr lang="en-US" dirty="0" err="1"/>
              <a:t>runner.os</a:t>
            </a:r>
            <a:r>
              <a:rPr lang="en-US" dirty="0"/>
              <a:t> == 'Windows' will skip here (since </a:t>
            </a:r>
            <a:r>
              <a:rPr lang="en-US" dirty="0" err="1"/>
              <a:t>runner.os</a:t>
            </a:r>
            <a:r>
              <a:rPr lang="en-US" dirty="0"/>
              <a:t> is 'macOS'), but if it were Windows, it would echo using PowerShell syntax $</a:t>
            </a:r>
            <a:r>
              <a:rPr lang="en-US" dirty="0" err="1"/>
              <a:t>env:RUNNER_OS</a:t>
            </a:r>
            <a:r>
              <a:rPr lang="en-US" dirty="0"/>
              <a:t>. The second step runs when </a:t>
            </a:r>
            <a:r>
              <a:rPr lang="en-US" dirty="0" err="1"/>
              <a:t>runner.os</a:t>
            </a:r>
            <a:r>
              <a:rPr lang="en-US" dirty="0"/>
              <a:t> isn’t Windows, echoing with $RUNNER_OS in a Unix shell. Notice we use </a:t>
            </a:r>
            <a:r>
              <a:rPr lang="en-US" dirty="0" err="1"/>
              <a:t>runner.os</a:t>
            </a:r>
            <a:r>
              <a:rPr lang="en-US" dirty="0"/>
              <a:t> in the condition, then access RUNNER_OS in the shell appropriate to that OS.</a:t>
            </a:r>
          </a:p>
          <a:p>
            <a:endParaRPr lang="en-US" b="1" dirty="0"/>
          </a:p>
          <a:p>
            <a:r>
              <a:rPr lang="en-US" b="1" dirty="0"/>
              <a:t>Key points</a:t>
            </a:r>
            <a:br>
              <a:rPr lang="en-US" dirty="0"/>
            </a:br>
            <a:r>
              <a:rPr lang="en-US" dirty="0"/>
              <a:t>These default variables let us inspect GitHub’s environment without extra config. In expressions, use context properties like runner.* or </a:t>
            </a:r>
            <a:r>
              <a:rPr lang="en-US" dirty="0" err="1"/>
              <a:t>github</a:t>
            </a:r>
            <a:r>
              <a:rPr lang="en-US" dirty="0"/>
              <a:t>.*. When echoing them in run commands, pick the correct shell syntax: $RUNNER_OS on Linux/macOS, or $</a:t>
            </a:r>
            <a:r>
              <a:rPr lang="en-US" dirty="0" err="1"/>
              <a:t>env:RUNNER_OS</a:t>
            </a:r>
            <a:r>
              <a:rPr lang="en-US" dirty="0"/>
              <a:t> in PowerShell on Windows. Since these defaults can’t be overridden, we can trust their values during execution.</a:t>
            </a:r>
          </a:p>
          <a:p>
            <a:endParaRPr lang="en-US" dirty="0"/>
          </a:p>
          <a:p>
            <a:r>
              <a:rPr lang="en-US" b="1" dirty="0"/>
              <a:t>Reference</a:t>
            </a:r>
            <a:br>
              <a:rPr lang="en-US" dirty="0"/>
            </a:br>
            <a:r>
              <a:rPr lang="en-US" dirty="0"/>
              <a:t>For the full list and details, check the GitHub docs on default environment variables. Leveraging these defaults makes workflows easier to read and maintain.</a:t>
            </a:r>
          </a:p>
          <a:p>
            <a:endParaRPr lang="en-US" dirty="0"/>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39064581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how to pass custom environment variables between steps in a workflow job. In one step generate a value and write it to the GITHUB_ENV file so that subsequent steps can access it. The step that writes the file cannot see the new value immediately but all later steps can use it.</a:t>
            </a:r>
          </a:p>
          <a:p>
            <a:endParaRPr lang="en-US" dirty="0"/>
          </a:p>
          <a:p>
            <a:r>
              <a:rPr lang="en-US" b="1" dirty="0"/>
              <a:t>Explanation of the mechanism</a:t>
            </a:r>
            <a:br>
              <a:rPr lang="en-US" dirty="0"/>
            </a:br>
            <a:r>
              <a:rPr lang="en-US" dirty="0"/>
              <a:t>First step writes a line with variable name and value into GITHUB_ENV. This appends the pair to the environment file used by the runner. Subsequent steps automatically pick up the new variable from that file. This works for shell commands or actions in the same job. Variables set this way last only for the remainder of the job and do not persist across separate jobs.</a:t>
            </a:r>
          </a:p>
          <a:p>
            <a:endParaRPr lang="en-US" dirty="0"/>
          </a:p>
          <a:p>
            <a:r>
              <a:rPr lang="en-US" b="1" dirty="0"/>
              <a:t>Example walkthrough: *</a:t>
            </a:r>
            <a:r>
              <a:rPr lang="en-US" b="0" dirty="0"/>
              <a:t>**above</a:t>
            </a:r>
          </a:p>
          <a:p>
            <a:pPr algn="l"/>
            <a:endParaRPr lang="en-US" b="0" i="0" dirty="0">
              <a:solidFill>
                <a:srgbClr val="161616"/>
              </a:solidFill>
              <a:effectLst/>
              <a:highlight>
                <a:srgbClr val="FFFFFF"/>
              </a:highlight>
              <a:latin typeface="Segoe UI" panose="020B0502040204020203" pitchFamily="34" charset="0"/>
            </a:endParaRPr>
          </a:p>
          <a:p>
            <a:r>
              <a:rPr lang="en-US" dirty="0"/>
              <a:t>First step writes </a:t>
            </a:r>
            <a:r>
              <a:rPr lang="en-US" dirty="0" err="1"/>
              <a:t>action_state</a:t>
            </a:r>
            <a:r>
              <a:rPr lang="en-US" dirty="0"/>
              <a:t> equal to yellow into GITHUB_ENV. That step itself cannot access </a:t>
            </a:r>
            <a:r>
              <a:rPr lang="en-US" dirty="0" err="1"/>
              <a:t>action_state</a:t>
            </a:r>
            <a:r>
              <a:rPr lang="en-US" dirty="0"/>
              <a:t> in its own run. The next step sees </a:t>
            </a:r>
            <a:r>
              <a:rPr lang="en-US" dirty="0" err="1"/>
              <a:t>action_state</a:t>
            </a:r>
            <a:r>
              <a:rPr lang="en-US" dirty="0"/>
              <a:t> in its environment and prints yellow. This demonstrates passing a dynamically generated value from one step to the next.</a:t>
            </a:r>
          </a:p>
          <a:p>
            <a:endParaRPr lang="en-US" dirty="0"/>
          </a:p>
          <a:p>
            <a:r>
              <a:rPr lang="en-US" b="1" dirty="0"/>
              <a:t>Key points for the audience</a:t>
            </a:r>
            <a:br>
              <a:rPr lang="en-US" dirty="0"/>
            </a:br>
            <a:r>
              <a:rPr lang="en-US" dirty="0"/>
              <a:t>Explain that writing to GITHUB_ENV must use the runner provided environment file path. Emphasize that writing happens in the shell using echo redirection. Highlight that the new variable appears only for following steps in the job. Note that this approach cannot share values across jobs. For cross-job sharing consider outputs or artifacts.</a:t>
            </a:r>
          </a:p>
          <a:p>
            <a:endParaRPr lang="en-US" dirty="0"/>
          </a:p>
          <a:p>
            <a:r>
              <a:rPr lang="en-US" b="1" dirty="0"/>
              <a:t>Tips for real scenarios</a:t>
            </a:r>
            <a:br>
              <a:rPr lang="en-US" dirty="0"/>
            </a:br>
            <a:r>
              <a:rPr lang="en-US" dirty="0"/>
              <a:t>Use this method when a step needs to compute or fetch data such as version numbers, dynamic flags, or API responses. After writing the variable to GITHUB_ENV, later steps can reference it directly in shell commands or via env context. </a:t>
            </a:r>
          </a:p>
          <a:p>
            <a:endParaRPr lang="en-US" dirty="0"/>
          </a:p>
          <a:p>
            <a:r>
              <a:rPr lang="en-US" dirty="0"/>
              <a:t>Reminder to choose clear variable names to avoid collisions with existing environment variables. Remember that secrets and sensitive values should be handled carefully; writing sensitive data to GITHUB_ENV exposes them to logs if echoed.</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36144982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Let’s add environment protections in a repository. Navigate to Settings and click Environments in the left panel.</a:t>
            </a:r>
          </a:p>
          <a:p>
            <a:endParaRPr lang="en-US" dirty="0"/>
          </a:p>
          <a:p>
            <a:r>
              <a:rPr lang="en-US" dirty="0"/>
              <a:t>Create and name an environment like staging or production. Click New environment and enter the name.</a:t>
            </a:r>
          </a:p>
          <a:p>
            <a:endParaRPr lang="en-US" dirty="0"/>
          </a:p>
          <a:p>
            <a:r>
              <a:rPr lang="en-US" dirty="0"/>
              <a:t>Configure protection rules such as required reviewers, branch restrictions, or wait timers. Set approvers or teams so deployments pause until approval.</a:t>
            </a:r>
          </a:p>
          <a:p>
            <a:endParaRPr lang="en-US" dirty="0"/>
          </a:p>
          <a:p>
            <a:r>
              <a:rPr lang="en-US" dirty="0"/>
              <a:t>Add secrets scoped to this environment to keep sensitive data isolated. When workflows reference this environment, GitHub enforces the rules and pauses deployment until checks pass.</a:t>
            </a:r>
          </a:p>
          <a:p>
            <a:endParaRPr lang="en-US" dirty="0"/>
          </a:p>
          <a:p>
            <a:r>
              <a:rPr lang="en-US" dirty="0"/>
              <a:t>Ensure the environment name in workflows matches exactly. Protections cannot be bypassed, so choose approvers and rules that align with your process.</a:t>
            </a:r>
          </a:p>
          <a:p>
            <a:endParaRPr lang="en-US" dirty="0"/>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3172651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Environments describe deployment targets like production, staging, or development. Referencing an environment in a workflow shows it on the repository’s main page under deployments.</a:t>
            </a:r>
          </a:p>
          <a:p>
            <a:endParaRPr lang="en-US" dirty="0"/>
          </a:p>
          <a:p>
            <a:r>
              <a:rPr lang="en-US" b="1" dirty="0"/>
              <a:t>Purpose and benefits</a:t>
            </a:r>
            <a:br>
              <a:rPr lang="en-US" dirty="0"/>
            </a:br>
            <a:r>
              <a:rPr lang="en-US" dirty="0"/>
              <a:t>Require approval before a job runs. Restrict which branches trigger workflows. Gate deployments with custom protection rules. Limit access to secrets so only jobs referencing the environment can use them.</a:t>
            </a:r>
          </a:p>
          <a:p>
            <a:endParaRPr lang="en-US" dirty="0"/>
          </a:p>
          <a:p>
            <a:r>
              <a:rPr lang="en-US" b="1" dirty="0"/>
              <a:t>Job configuration</a:t>
            </a:r>
            <a:br>
              <a:rPr lang="en-US" dirty="0"/>
            </a:br>
            <a:r>
              <a:rPr lang="en-US" dirty="0"/>
              <a:t>Each job references one environment. Protection rules must pass before the job is sent to a runner. Environment secrets become available only after the job reaches a runner.</a:t>
            </a:r>
          </a:p>
          <a:p>
            <a:endParaRPr lang="en-US" b="1" dirty="0"/>
          </a:p>
          <a:p>
            <a:r>
              <a:rPr lang="en-US" b="1" dirty="0"/>
              <a:t>Visibility</a:t>
            </a:r>
            <a:br>
              <a:rPr lang="en-US" dirty="0"/>
            </a:br>
            <a:r>
              <a:rPr lang="en-US" dirty="0"/>
              <a:t>Referencing an environment adds an entry under deployments in the repository. This shows which environment the workflow targets and its status.</a:t>
            </a:r>
          </a:p>
          <a:p>
            <a:endParaRPr lang="en-US" dirty="0"/>
          </a:p>
          <a:p>
            <a:r>
              <a:rPr lang="en-US" b="1" dirty="0"/>
              <a:t>Key reminders</a:t>
            </a:r>
            <a:br>
              <a:rPr lang="en-US" dirty="0"/>
            </a:br>
            <a:r>
              <a:rPr lang="en-US" dirty="0"/>
              <a:t>Environment names in workflows must match names configured in settings. Protection rules cannot be bypassed. Set approvals, branch restrictions, and other rules to align with the deployment process. Secrets remain isolated until runner assignment.</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8688898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deployment protection rules enforce conditions before a job referencing an environment can run. Use these rules to require manual approvals, delay jobs, restrict deployments to certain branches or tags, or integrate custom checks via GitHub Apps.</a:t>
            </a:r>
          </a:p>
          <a:p>
            <a:endParaRPr lang="en-US" dirty="0"/>
          </a:p>
          <a:p>
            <a:r>
              <a:rPr lang="en-US" b="1" dirty="0"/>
              <a:t>Required reviewers</a:t>
            </a:r>
            <a:br>
              <a:rPr lang="en-US" dirty="0"/>
            </a:br>
            <a:r>
              <a:rPr lang="en-US" dirty="0"/>
              <a:t>List up to six users or teams as required reviewers for deployments to the environment. Each reviewer needs at least read access. Only one approval is needed to proceed. Enable the prevent self-review setting so the person who triggered the deployment cannot approve it. This ensures at least two people review protected deployments.</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35465823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Wait timer</a:t>
            </a:r>
            <a:br>
              <a:rPr lang="en-US" dirty="0"/>
            </a:br>
            <a:r>
              <a:rPr lang="en-US" dirty="0"/>
              <a:t>Set a delay in minutes between when the job is triggered and when deployment can proceed. The delay must be an integer between 1 and 43,200 minutes (up to 30 days). The wait time does not count toward billable time. Use this to enforce a cooling-off period or allow time for additional checks.</a:t>
            </a:r>
          </a:p>
          <a:p>
            <a:endParaRPr lang="en-US" dirty="0"/>
          </a:p>
          <a:p>
            <a:r>
              <a:rPr lang="en-US" b="1" dirty="0"/>
              <a:t>Branch and tag restrictions</a:t>
            </a:r>
            <a:br>
              <a:rPr lang="en-US" dirty="0"/>
            </a:br>
            <a:r>
              <a:rPr lang="en-US" dirty="0"/>
              <a:t>Choose which branches or tags can deploy to the environment. No restriction allows any branch or tag. Protected branches only allows branches with existing branch protection rules; if none exist, all branches can deploy. Selected branches and tags accepts name patterns like releases/* to limit deployments. Match patterns carefully, remembering wildcard behavior does not cross slashes unless specified.</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38900414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Custom protection rules</a:t>
            </a:r>
            <a:br>
              <a:rPr lang="en-US" dirty="0"/>
            </a:br>
            <a:r>
              <a:rPr lang="en-US" dirty="0"/>
              <a:t>Enable third-party or internal systems to gate deployments. After installing a GitHub App that provides custom rules, enable those rules for the environment. Use observability, change management, or code quality systems to automatically approve or block deployments based on external checks.</a:t>
            </a:r>
          </a:p>
          <a:p>
            <a:endParaRPr lang="en-US" dirty="0"/>
          </a:p>
          <a:p>
            <a:r>
              <a:rPr lang="en-US" b="1" dirty="0"/>
              <a:t>Plan limitations</a:t>
            </a:r>
            <a:br>
              <a:rPr lang="en-US" dirty="0"/>
            </a:br>
            <a:r>
              <a:rPr lang="en-US" dirty="0"/>
              <a:t>On GitHub Free, Pro, or Team plans, deployment protection rules are available only for public repositories, except branch and tag restrictions which work on private repos for Pro and Team. Confirm plan and repo visibility before configuring rules.</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5071261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In the preceding workflow snippet examples, the run keyword is used to print a string of text. Because the run keyword tells the job to execute a command on the runner, you use the run keyword to run actions or scripts.</a:t>
            </a:r>
          </a:p>
          <a:p>
            <a:pPr algn="l"/>
            <a:br>
              <a:rPr lang="en-US" b="0" i="0" dirty="0">
                <a:solidFill>
                  <a:srgbClr val="161616"/>
                </a:solidFill>
                <a:effectLst/>
                <a:latin typeface="Segoe UI" panose="020B0502040204020203" pitchFamily="34" charset="0"/>
              </a:rPr>
            </a:br>
            <a:endParaRPr lang="en-US" b="0" i="0" dirty="0">
              <a:solidFill>
                <a:srgbClr val="161616"/>
              </a:solidFill>
              <a:effectLst/>
              <a:latin typeface="Segoe UI" panose="020B0502040204020203" pitchFamily="34" charset="0"/>
            </a:endParaRPr>
          </a:p>
          <a:p>
            <a:r>
              <a:rPr lang="en-US" b="1" dirty="0"/>
              <a:t>Running scripts from the repository</a:t>
            </a:r>
            <a:br>
              <a:rPr lang="en-US" dirty="0"/>
            </a:br>
            <a:r>
              <a:rPr lang="en-US" dirty="0"/>
              <a:t>Store custom scripts in a folder like .</a:t>
            </a:r>
            <a:r>
              <a:rPr lang="en-US" dirty="0" err="1"/>
              <a:t>github</a:t>
            </a:r>
            <a:r>
              <a:rPr lang="en-US" dirty="0"/>
              <a:t>/scripts. Use run with the script path and specify the shell type if needed. For example, run ./.</a:t>
            </a:r>
            <a:r>
              <a:rPr lang="en-US" dirty="0" err="1"/>
              <a:t>github</a:t>
            </a:r>
            <a:r>
              <a:rPr lang="en-US" dirty="0"/>
              <a:t>/scripts/</a:t>
            </a:r>
            <a:r>
              <a:rPr lang="en-US" dirty="0" err="1"/>
              <a:t>build.sh</a:t>
            </a:r>
            <a:r>
              <a:rPr lang="en-US" dirty="0"/>
              <a:t> with shell set to bash executes the build script in a Bash shell.</a:t>
            </a:r>
          </a:p>
          <a:p>
            <a:endParaRPr lang="en-US" b="1" dirty="0"/>
          </a:p>
          <a:p>
            <a:r>
              <a:rPr lang="en-US" b="1" dirty="0"/>
              <a:t>Example walkthrough</a:t>
            </a:r>
            <a:br>
              <a:rPr lang="en-US" dirty="0"/>
            </a:br>
            <a:r>
              <a:rPr lang="en-US" dirty="0"/>
              <a:t>jobs:</a:t>
            </a:r>
            <a:br>
              <a:rPr lang="en-US" dirty="0"/>
            </a:br>
            <a:r>
              <a:rPr lang="en-US" dirty="0"/>
              <a:t>example-job:</a:t>
            </a:r>
            <a:br>
              <a:rPr lang="en-US" dirty="0"/>
            </a:br>
            <a:r>
              <a:rPr lang="en-US" dirty="0"/>
              <a:t>steps:</a:t>
            </a:r>
            <a:br>
              <a:rPr lang="en-US" dirty="0"/>
            </a:br>
            <a:r>
              <a:rPr lang="en-US" dirty="0"/>
              <a:t>- run </a:t>
            </a:r>
            <a:r>
              <a:rPr lang="en-US" dirty="0" err="1"/>
              <a:t>npm</a:t>
            </a:r>
            <a:r>
              <a:rPr lang="en-US" dirty="0"/>
              <a:t> install -g bats</a:t>
            </a:r>
          </a:p>
          <a:p>
            <a:r>
              <a:rPr lang="en-US" dirty="0"/>
              <a:t>This step uses the runner’s environment to install bats globally. </a:t>
            </a:r>
          </a:p>
          <a:p>
            <a:endParaRPr lang="en-US" dirty="0"/>
          </a:p>
          <a:p>
            <a:r>
              <a:rPr lang="en-US" b="1" dirty="0"/>
              <a:t>Next:</a:t>
            </a:r>
            <a:br>
              <a:rPr lang="en-US" dirty="0"/>
            </a:br>
            <a:r>
              <a:rPr lang="en-US" dirty="0"/>
              <a:t>- name: Run build script</a:t>
            </a:r>
            <a:br>
              <a:rPr lang="en-US" dirty="0"/>
            </a:br>
            <a:r>
              <a:rPr lang="en-US" dirty="0"/>
              <a:t>run ./.</a:t>
            </a:r>
            <a:r>
              <a:rPr lang="en-US" dirty="0" err="1"/>
              <a:t>github</a:t>
            </a:r>
            <a:r>
              <a:rPr lang="en-US" dirty="0"/>
              <a:t>/scripts/</a:t>
            </a:r>
            <a:r>
              <a:rPr lang="en-US" dirty="0" err="1"/>
              <a:t>build.sh</a:t>
            </a:r>
            <a:br>
              <a:rPr lang="en-US" dirty="0"/>
            </a:br>
            <a:r>
              <a:rPr lang="en-US" dirty="0"/>
              <a:t>shell: bash</a:t>
            </a:r>
            <a:br>
              <a:rPr lang="en-US" dirty="0"/>
            </a:br>
            <a:r>
              <a:rPr lang="en-US" dirty="0"/>
              <a:t>The script must have executable permissions and correct shebang if relying on it; specifying shell ensures consistent execution.</a:t>
            </a:r>
          </a:p>
          <a:p>
            <a:pPr algn="l"/>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44</a:t>
            </a:fld>
            <a:endParaRPr lang="en-US" dirty="0"/>
          </a:p>
        </p:txBody>
      </p:sp>
    </p:spTree>
    <p:extLst>
      <p:ext uri="{BB962C8B-B14F-4D97-AF65-F5344CB8AC3E}">
        <p14:creationId xmlns:p14="http://schemas.microsoft.com/office/powerpoint/2010/main" val="24612597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caching dependencies to speed up workflows. Caching avoids redownloading the same files every run and makes jobs on clean runners faster.</a:t>
            </a:r>
          </a:p>
          <a:p>
            <a:endParaRPr lang="en-US" dirty="0"/>
          </a:p>
          <a:p>
            <a:r>
              <a:rPr lang="en-US" b="1" dirty="0"/>
              <a:t>Overview of cache action</a:t>
            </a:r>
            <a:br>
              <a:rPr lang="en-US" dirty="0"/>
            </a:br>
            <a:r>
              <a:rPr lang="en-US" dirty="0"/>
              <a:t>Use actions/cache to save and restore files between runs. Provide a unique key so the action can find the correct cache. Configure path to point at the files or directories to cache. Optionally set restore-keys for fallback when the exact cache key isn’t found.</a:t>
            </a:r>
          </a:p>
          <a:p>
            <a:endParaRPr lang="en-US" dirty="0"/>
          </a:p>
          <a:p>
            <a:r>
              <a:rPr lang="en-US" b="1" dirty="0"/>
              <a:t>Parameters</a:t>
            </a:r>
            <a:br>
              <a:rPr lang="en-US" dirty="0"/>
            </a:br>
            <a:r>
              <a:rPr lang="en-US" dirty="0"/>
              <a:t>Key needs to identify the cache uniquely, often combining runner OS and a hash of dependency lock files. </a:t>
            </a:r>
          </a:p>
          <a:p>
            <a:r>
              <a:rPr lang="en-US" dirty="0"/>
              <a:t>Path points to directories like ~/.</a:t>
            </a:r>
            <a:r>
              <a:rPr lang="en-US" dirty="0" err="1"/>
              <a:t>npm</a:t>
            </a:r>
            <a:r>
              <a:rPr lang="en-US" dirty="0"/>
              <a:t> or project-specific folders. </a:t>
            </a:r>
          </a:p>
          <a:p>
            <a:r>
              <a:rPr lang="en-US" dirty="0"/>
              <a:t>Restore-keys list prefixes or alternatives for partial matches to reuse older caches when the primary key misses.</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45</a:t>
            </a:fld>
            <a:endParaRPr lang="en-US" dirty="0"/>
          </a:p>
        </p:txBody>
      </p:sp>
    </p:spTree>
    <p:extLst>
      <p:ext uri="{BB962C8B-B14F-4D97-AF65-F5344CB8AC3E}">
        <p14:creationId xmlns:p14="http://schemas.microsoft.com/office/powerpoint/2010/main" val="16066369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walkthrough</a:t>
            </a:r>
            <a:br>
              <a:rPr lang="en-US" b="1" dirty="0"/>
            </a:br>
            <a:r>
              <a:rPr lang="en-US" dirty="0"/>
              <a:t>First step checks out code. Next step uses actions/cache@v2 with path ~/.</a:t>
            </a:r>
            <a:r>
              <a:rPr lang="en-US" dirty="0" err="1"/>
              <a:t>npm</a:t>
            </a:r>
            <a:r>
              <a:rPr lang="en-US" dirty="0"/>
              <a:t>. Key is </a:t>
            </a:r>
            <a:r>
              <a:rPr lang="en-US" dirty="0" err="1"/>
              <a:t>runner.os</a:t>
            </a:r>
            <a:r>
              <a:rPr lang="en-US" dirty="0"/>
              <a:t>-</a:t>
            </a:r>
            <a:r>
              <a:rPr lang="en-US" dirty="0" err="1"/>
              <a:t>npm</a:t>
            </a:r>
            <a:r>
              <a:rPr lang="en-US" dirty="0"/>
              <a:t>-cache-hash of package-</a:t>
            </a:r>
            <a:r>
              <a:rPr lang="en-US" dirty="0" err="1"/>
              <a:t>lock.json</a:t>
            </a:r>
            <a:r>
              <a:rPr lang="en-US" dirty="0"/>
              <a:t>. Restore-keys uses </a:t>
            </a:r>
            <a:r>
              <a:rPr lang="en-US" dirty="0" err="1"/>
              <a:t>runner.os</a:t>
            </a:r>
            <a:r>
              <a:rPr lang="en-US" dirty="0"/>
              <a:t>-</a:t>
            </a:r>
            <a:r>
              <a:rPr lang="en-US" dirty="0" err="1"/>
              <a:t>npm</a:t>
            </a:r>
            <a:r>
              <a:rPr lang="en-US" dirty="0"/>
              <a:t>-cache- prefix. This means if the exact cache for the current lock file exists, restore it. If not, look for any cache starting with </a:t>
            </a:r>
            <a:r>
              <a:rPr lang="en-US" dirty="0" err="1"/>
              <a:t>runner.os</a:t>
            </a:r>
            <a:r>
              <a:rPr lang="en-US" dirty="0"/>
              <a:t>-</a:t>
            </a:r>
            <a:r>
              <a:rPr lang="en-US" dirty="0" err="1"/>
              <a:t>npm</a:t>
            </a:r>
            <a:r>
              <a:rPr lang="en-US" dirty="0"/>
              <a:t>-cache- to reuse older dependencies.</a:t>
            </a:r>
          </a:p>
          <a:p>
            <a:endParaRPr lang="en-US" dirty="0"/>
          </a:p>
          <a:p>
            <a:r>
              <a:rPr lang="en-US" b="1" dirty="0"/>
              <a:t>Best practices</a:t>
            </a:r>
            <a:br>
              <a:rPr lang="en-US" dirty="0"/>
            </a:br>
            <a:r>
              <a:rPr lang="en-US" dirty="0"/>
              <a:t>Include hash of lock files so cache updates when dependencies change. Prefix keys with an identifier like </a:t>
            </a:r>
            <a:r>
              <a:rPr lang="en-US" dirty="0" err="1"/>
              <a:t>npm</a:t>
            </a:r>
            <a:r>
              <a:rPr lang="en-US" dirty="0"/>
              <a:t>-cache for clarity when multiple caches exist. Keep paths precise to avoid caching unnecessary files. Use restore-keys to speed up misses by falling back to previous caches. Remember cache size limits and eviction policies of GitHub-hosted runners.</a:t>
            </a:r>
          </a:p>
          <a:p>
            <a:pPr algn="l"/>
            <a:br>
              <a:rPr lang="en-US" b="0" i="0" dirty="0">
                <a:solidFill>
                  <a:srgbClr val="161616"/>
                </a:solidFill>
                <a:effectLst/>
                <a:highlight>
                  <a:srgbClr val="FFFFFF"/>
                </a:highlight>
                <a:latin typeface="Segoe UI" panose="020B0502040204020203" pitchFamily="34" charset="0"/>
              </a:rPr>
            </a:br>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46</a:t>
            </a:fld>
            <a:endParaRPr lang="en-US" dirty="0"/>
          </a:p>
        </p:txBody>
      </p:sp>
    </p:spTree>
    <p:extLst>
      <p:ext uri="{BB962C8B-B14F-4D97-AF65-F5344CB8AC3E}">
        <p14:creationId xmlns:p14="http://schemas.microsoft.com/office/powerpoint/2010/main" val="21421646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data between jobs using upload-artifact and download-artifact actions. Ensure jobs depend on each other with needs so artifacts are available when required.</a:t>
            </a:r>
          </a:p>
          <a:p>
            <a:endParaRPr lang="en-US" dirty="0"/>
          </a:p>
          <a:p>
            <a:r>
              <a:rPr lang="en-US" b="1" dirty="0"/>
              <a:t>Artifact mechanism overview</a:t>
            </a:r>
            <a:br>
              <a:rPr lang="en-US" dirty="0"/>
            </a:br>
            <a:r>
              <a:rPr lang="en-US" dirty="0"/>
              <a:t>Use actions/upload-artifact to save files or directories in one job. Use actions/download-artifact in a downstream job to retrieve those files. Declare needs: </a:t>
            </a:r>
            <a:r>
              <a:rPr lang="en-US" dirty="0" err="1"/>
              <a:t>previous_job</a:t>
            </a:r>
            <a:r>
              <a:rPr lang="en-US" dirty="0"/>
              <a:t> to enforce order and availability.</a:t>
            </a:r>
          </a:p>
          <a:p>
            <a:endParaRPr lang="en-US" dirty="0"/>
          </a:p>
          <a:p>
            <a:r>
              <a:rPr lang="en-US" b="1" dirty="0"/>
              <a:t>Example walkthrough: </a:t>
            </a:r>
            <a:r>
              <a:rPr lang="en-US" b="0" dirty="0"/>
              <a:t>***above</a:t>
            </a:r>
          </a:p>
          <a:p>
            <a:endParaRPr lang="en-US" b="0" dirty="0"/>
          </a:p>
          <a:p>
            <a:endParaRPr lang="en-US" b="0" dirty="0"/>
          </a:p>
          <a:p>
            <a:pPr algn="l"/>
            <a:r>
              <a:rPr lang="en-US" b="0" i="0" dirty="0">
                <a:solidFill>
                  <a:srgbClr val="161616"/>
                </a:solidFill>
                <a:effectLst/>
                <a:highlight>
                  <a:srgbClr val="FFFFFF"/>
                </a:highlight>
                <a:latin typeface="Segoe UI" panose="020B0502040204020203" pitchFamily="34" charset="0"/>
              </a:rPr>
              <a:t>The preceding example has two jobs. job_1 writes some text into the file </a:t>
            </a:r>
            <a:r>
              <a:rPr lang="en-US" b="0" i="0" dirty="0" err="1">
                <a:solidFill>
                  <a:srgbClr val="161616"/>
                </a:solidFill>
                <a:effectLst/>
                <a:highlight>
                  <a:srgbClr val="FFFFFF"/>
                </a:highlight>
                <a:latin typeface="Segoe UI" panose="020B0502040204020203" pitchFamily="34" charset="0"/>
              </a:rPr>
              <a:t>file.txt</a:t>
            </a:r>
            <a:r>
              <a:rPr lang="en-US" b="0" i="0" dirty="0">
                <a:solidFill>
                  <a:srgbClr val="161616"/>
                </a:solidFill>
                <a:effectLst/>
                <a:highlight>
                  <a:srgbClr val="FFFFFF"/>
                </a:highlight>
                <a:latin typeface="Segoe UI" panose="020B0502040204020203" pitchFamily="34" charset="0"/>
              </a:rPr>
              <a:t>. Then it uses the actions/upload-artifact@v2 action to upload this artifact and store the data for future use within the workflow. job_2 requires job_1 to complete by using the needs: job_1 syntax. It then uses the actions/download-artifact@v2 action to download that artifact, and then print the contents of </a:t>
            </a:r>
            <a:r>
              <a:rPr lang="en-US" b="0" i="0" dirty="0" err="1">
                <a:solidFill>
                  <a:srgbClr val="161616"/>
                </a:solidFill>
                <a:effectLst/>
                <a:highlight>
                  <a:srgbClr val="FFFFFF"/>
                </a:highlight>
                <a:latin typeface="Segoe UI" panose="020B0502040204020203" pitchFamily="34" charset="0"/>
              </a:rPr>
              <a:t>file.txt</a:t>
            </a:r>
            <a:r>
              <a:rPr lang="en-US" b="0" i="0" dirty="0">
                <a:solidFill>
                  <a:srgbClr val="161616"/>
                </a:solidFill>
                <a:effectLst/>
                <a:highlight>
                  <a:srgbClr val="FFFFFF"/>
                </a:highlight>
                <a:latin typeface="Segoe UI" panose="020B0502040204020203" pitchFamily="34" charset="0"/>
              </a:rPr>
              <a:t>.</a:t>
            </a:r>
          </a:p>
          <a:p>
            <a:br>
              <a:rPr lang="en-US" dirty="0"/>
            </a:br>
            <a:endParaRPr lang="en-US" dirty="0"/>
          </a:p>
          <a:p>
            <a:r>
              <a:rPr lang="en-US" b="1" dirty="0"/>
              <a:t>Key points</a:t>
            </a:r>
            <a:br>
              <a:rPr lang="en-US" dirty="0"/>
            </a:br>
            <a:r>
              <a:rPr lang="en-US" dirty="0"/>
              <a:t>Artifact name must match between upload and download. Uploaded artifacts persist only for the workflow run. Jobs without needs cannot access artifacts. Artifact paths can point to multiple files or directories. Respect size limits and retention settings.</a:t>
            </a:r>
          </a:p>
          <a:p>
            <a:pPr algn="l"/>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47</a:t>
            </a:fld>
            <a:endParaRPr lang="en-US" dirty="0"/>
          </a:p>
        </p:txBody>
      </p:sp>
    </p:spTree>
    <p:extLst>
      <p:ext uri="{BB962C8B-B14F-4D97-AF65-F5344CB8AC3E}">
        <p14:creationId xmlns:p14="http://schemas.microsoft.com/office/powerpoint/2010/main" val="41009631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Enable more detailed logs when workflow runs fail. Set two repository secrets to true: ACTIONS_RUNNER_DEBUG for runner diagnostics and ACTIONS_STEP_DEBUG for step-level details.</a:t>
            </a:r>
          </a:p>
          <a:p>
            <a:endParaRPr lang="en-US" dirty="0"/>
          </a:p>
          <a:p>
            <a:r>
              <a:rPr lang="en-US" b="1" dirty="0"/>
              <a:t>Steps to enable</a:t>
            </a:r>
            <a:br>
              <a:rPr lang="en-US" dirty="0"/>
            </a:br>
            <a:r>
              <a:rPr lang="en-US" dirty="0"/>
              <a:t>Go to repository Settings, then Secrets and variables &gt; Actions. Add or update secret named ACTIONS_RUNNER_DEBUG with value true. Add or update secret named ACTIONS_STEP_DEBUG with value true. Both require admin access.</a:t>
            </a:r>
          </a:p>
          <a:p>
            <a:endParaRPr lang="en-US" b="1" dirty="0"/>
          </a:p>
          <a:p>
            <a:r>
              <a:rPr lang="en-US" b="1" dirty="0"/>
              <a:t>Effect on workflow runs</a:t>
            </a:r>
            <a:br>
              <a:rPr lang="en-US" dirty="0"/>
            </a:br>
            <a:r>
              <a:rPr lang="en-US" dirty="0"/>
              <a:t>After setting these secrets, future runs include verbose logs. Runner diagnostic logging prints detailed information about the runner environment, tool installation, and job setup. Step diagnostic logging shows expanded logs for each run step, including commands and environment variables.</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48</a:t>
            </a:fld>
            <a:endParaRPr lang="en-US" dirty="0"/>
          </a:p>
        </p:txBody>
      </p:sp>
    </p:spTree>
    <p:extLst>
      <p:ext uri="{BB962C8B-B14F-4D97-AF65-F5344CB8AC3E}">
        <p14:creationId xmlns:p14="http://schemas.microsoft.com/office/powerpoint/2010/main" val="12359861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When you think about successful automation, you aim to spend the least amount of time looking at what's automated so you can focus your attention on what's relevant. However, sometimes things don't go as planned, and you need to review what happened. That debugging process can be frustrating. GitHub provides a clear layout structure that enables a quick way to navigate between the jobs, while keeping the context of the currently debugging step. To view the logs of a workflow run in GitHub, you can follow these steps:</a:t>
            </a:r>
          </a:p>
          <a:p>
            <a:pPr algn="l"/>
            <a:endParaRPr lang="en-US" b="0" i="0" dirty="0">
              <a:solidFill>
                <a:srgbClr val="161616"/>
              </a:solidFill>
              <a:effectLst/>
              <a:highlight>
                <a:srgbClr val="FFFFFF"/>
              </a:highlight>
              <a:latin typeface="Segoe UI" panose="020B0502040204020203" pitchFamily="34" charset="0"/>
            </a:endParaRPr>
          </a:p>
          <a:p>
            <a:pPr algn="l">
              <a:buFont typeface="+mj-lt"/>
              <a:buAutoNum type="arabicPeriod"/>
            </a:pPr>
            <a:r>
              <a:rPr lang="en-US" b="0" i="0" dirty="0">
                <a:solidFill>
                  <a:srgbClr val="161616"/>
                </a:solidFill>
                <a:effectLst/>
                <a:highlight>
                  <a:srgbClr val="FFFFFF"/>
                </a:highlight>
                <a:latin typeface="Segoe UI" panose="020B0502040204020203" pitchFamily="34" charset="0"/>
              </a:rPr>
              <a:t>Navigate to the </a:t>
            </a:r>
            <a:r>
              <a:rPr lang="en-US" b="1" i="0" dirty="0">
                <a:solidFill>
                  <a:srgbClr val="161616"/>
                </a:solidFill>
                <a:effectLst/>
                <a:highlight>
                  <a:srgbClr val="FFFFFF"/>
                </a:highlight>
                <a:latin typeface="Segoe UI" panose="020B0502040204020203" pitchFamily="34" charset="0"/>
              </a:rPr>
              <a:t>Actions</a:t>
            </a:r>
            <a:r>
              <a:rPr lang="en-US" b="0" i="0" dirty="0">
                <a:solidFill>
                  <a:srgbClr val="161616"/>
                </a:solidFill>
                <a:effectLst/>
                <a:highlight>
                  <a:srgbClr val="FFFFFF"/>
                </a:highlight>
                <a:latin typeface="Segoe UI" panose="020B0502040204020203" pitchFamily="34" charset="0"/>
              </a:rPr>
              <a:t> tab in your repository.</a:t>
            </a:r>
          </a:p>
          <a:p>
            <a:pPr algn="l">
              <a:buFont typeface="+mj-lt"/>
              <a:buAutoNum type="arabicPeriod"/>
            </a:pPr>
            <a:r>
              <a:rPr lang="en-US" b="0" i="0" dirty="0">
                <a:solidFill>
                  <a:srgbClr val="161616"/>
                </a:solidFill>
                <a:effectLst/>
                <a:highlight>
                  <a:srgbClr val="FFFFFF"/>
                </a:highlight>
                <a:latin typeface="Segoe UI" panose="020B0502040204020203" pitchFamily="34" charset="0"/>
              </a:rPr>
              <a:t>In the left sidebar, click the desired workflow.</a:t>
            </a:r>
          </a:p>
          <a:p>
            <a:pPr algn="l">
              <a:buFont typeface="+mj-lt"/>
              <a:buAutoNum type="arabicPeriod"/>
            </a:pPr>
            <a:r>
              <a:rPr lang="en-US" b="0" i="0" dirty="0">
                <a:solidFill>
                  <a:srgbClr val="161616"/>
                </a:solidFill>
                <a:effectLst/>
                <a:highlight>
                  <a:srgbClr val="FFFFFF"/>
                </a:highlight>
                <a:latin typeface="Segoe UI" panose="020B0502040204020203" pitchFamily="34" charset="0"/>
              </a:rPr>
              <a:t>From the list of workflow runs, select the desired run.</a:t>
            </a:r>
          </a:p>
          <a:p>
            <a:pPr algn="l">
              <a:buFont typeface="+mj-lt"/>
              <a:buAutoNum type="arabicPeriod"/>
            </a:pPr>
            <a:r>
              <a:rPr lang="en-US" b="0" i="0" dirty="0">
                <a:solidFill>
                  <a:srgbClr val="161616"/>
                </a:solidFill>
                <a:effectLst/>
                <a:highlight>
                  <a:srgbClr val="FFFFFF"/>
                </a:highlight>
                <a:latin typeface="Segoe UI" panose="020B0502040204020203" pitchFamily="34" charset="0"/>
              </a:rPr>
              <a:t>Under </a:t>
            </a:r>
            <a:r>
              <a:rPr lang="en-US" b="1" i="0" dirty="0">
                <a:solidFill>
                  <a:srgbClr val="161616"/>
                </a:solidFill>
                <a:effectLst/>
                <a:highlight>
                  <a:srgbClr val="FFFFFF"/>
                </a:highlight>
                <a:latin typeface="Segoe UI" panose="020B0502040204020203" pitchFamily="34" charset="0"/>
              </a:rPr>
              <a:t>Jobs</a:t>
            </a:r>
            <a:r>
              <a:rPr lang="en-US" b="0" i="0" dirty="0">
                <a:solidFill>
                  <a:srgbClr val="161616"/>
                </a:solidFill>
                <a:effectLst/>
                <a:highlight>
                  <a:srgbClr val="FFFFFF"/>
                </a:highlight>
                <a:latin typeface="Segoe UI" panose="020B0502040204020203" pitchFamily="34" charset="0"/>
              </a:rPr>
              <a:t>, select the desired job.</a:t>
            </a:r>
          </a:p>
          <a:p>
            <a:pPr algn="l">
              <a:buFont typeface="+mj-lt"/>
              <a:buAutoNum type="arabicPeriod"/>
            </a:pPr>
            <a:r>
              <a:rPr lang="en-US" b="0" i="0" dirty="0">
                <a:solidFill>
                  <a:srgbClr val="161616"/>
                </a:solidFill>
                <a:effectLst/>
                <a:highlight>
                  <a:srgbClr val="FFFFFF"/>
                </a:highlight>
                <a:latin typeface="Segoe UI" panose="020B0502040204020203" pitchFamily="34" charset="0"/>
              </a:rPr>
              <a:t>Read the log output.</a:t>
            </a:r>
          </a:p>
          <a:p>
            <a:pPr algn="l"/>
            <a:endParaRPr lang="en-US" b="0" i="0" dirty="0">
              <a:solidFill>
                <a:srgbClr val="161616"/>
              </a:solidFill>
              <a:effectLst/>
              <a:highlight>
                <a:srgbClr val="FFFFFF"/>
              </a:highlight>
              <a:latin typeface="Segoe UI" panose="020B0502040204020203" pitchFamily="34" charset="0"/>
            </a:endParaRPr>
          </a:p>
          <a:p>
            <a:pPr algn="l"/>
            <a:r>
              <a:rPr lang="en-US" b="0" i="0" dirty="0">
                <a:solidFill>
                  <a:srgbClr val="161616"/>
                </a:solidFill>
                <a:effectLst/>
                <a:highlight>
                  <a:srgbClr val="FFFFFF"/>
                </a:highlight>
                <a:latin typeface="Segoe UI" panose="020B0502040204020203" pitchFamily="34" charset="0"/>
              </a:rPr>
              <a:t>If you have several runs within a workflow, you can also select the </a:t>
            </a:r>
            <a:r>
              <a:rPr lang="en-US" b="1" i="0" dirty="0">
                <a:solidFill>
                  <a:srgbClr val="161616"/>
                </a:solidFill>
                <a:effectLst/>
                <a:highlight>
                  <a:srgbClr val="FFFFFF"/>
                </a:highlight>
                <a:latin typeface="Segoe UI" panose="020B0502040204020203" pitchFamily="34" charset="0"/>
              </a:rPr>
              <a:t>Status</a:t>
            </a:r>
            <a:r>
              <a:rPr lang="en-US" b="0" i="0" dirty="0">
                <a:solidFill>
                  <a:srgbClr val="161616"/>
                </a:solidFill>
                <a:effectLst/>
                <a:highlight>
                  <a:srgbClr val="FFFFFF"/>
                </a:highlight>
                <a:latin typeface="Segoe UI" panose="020B0502040204020203" pitchFamily="34" charset="0"/>
              </a:rPr>
              <a:t> filter after choosing your workflow and set it to </a:t>
            </a:r>
            <a:r>
              <a:rPr lang="en-US" b="1" i="0" dirty="0">
                <a:solidFill>
                  <a:srgbClr val="161616"/>
                </a:solidFill>
                <a:effectLst/>
                <a:highlight>
                  <a:srgbClr val="FFFFFF"/>
                </a:highlight>
                <a:latin typeface="Segoe UI" panose="020B0502040204020203" pitchFamily="34" charset="0"/>
              </a:rPr>
              <a:t>Failure</a:t>
            </a:r>
            <a:r>
              <a:rPr lang="en-US" b="0" i="0" dirty="0">
                <a:solidFill>
                  <a:srgbClr val="161616"/>
                </a:solidFill>
                <a:effectLst/>
                <a:highlight>
                  <a:srgbClr val="FFFFFF"/>
                </a:highlight>
                <a:latin typeface="Segoe UI" panose="020B0502040204020203" pitchFamily="34" charset="0"/>
              </a:rPr>
              <a:t> to only display the failed runs within that workflow.</a:t>
            </a:r>
          </a:p>
          <a:p>
            <a:pPr algn="l"/>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49</a:t>
            </a:fld>
            <a:endParaRPr lang="en-US" dirty="0"/>
          </a:p>
        </p:txBody>
      </p:sp>
    </p:spTree>
    <p:extLst>
      <p:ext uri="{BB962C8B-B14F-4D97-AF65-F5344CB8AC3E}">
        <p14:creationId xmlns:p14="http://schemas.microsoft.com/office/powerpoint/2010/main" val="28460269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0" i="0" dirty="0">
                <a:solidFill>
                  <a:srgbClr val="161616"/>
                </a:solidFill>
                <a:effectLst/>
                <a:highlight>
                  <a:srgbClr val="FFFFFF"/>
                </a:highlight>
                <a:latin typeface="Segoe UI" panose="020B0502040204020203" pitchFamily="34" charset="0"/>
              </a:rPr>
            </a:br>
            <a:r>
              <a:rPr lang="en-US" b="0" i="0" dirty="0">
                <a:solidFill>
                  <a:srgbClr val="161616"/>
                </a:solidFill>
                <a:effectLst/>
                <a:highlight>
                  <a:srgbClr val="FFFFFF"/>
                </a:highlight>
                <a:latin typeface="Segoe UI" panose="020B0502040204020203" pitchFamily="34" charset="0"/>
              </a:rPr>
              <a:t>In addition to viewing logs using GitHub, you can also use GitHub's REST API to view logs for workflow runs, re-run workflows, or even cancel workflow runs. To view a workflow run's log using the API, you need to send a GET request to the logs endpoint. Keep in mind that anyone with read access to the repository can use this endpoint. If the repository is private, you must use an access token with the repo scope.</a:t>
            </a:r>
          </a:p>
          <a:p>
            <a:pPr algn="l"/>
            <a:endParaRPr lang="en-US" b="0" i="0" dirty="0">
              <a:solidFill>
                <a:srgbClr val="161616"/>
              </a:solidFill>
              <a:effectLst/>
              <a:highlight>
                <a:srgbClr val="FFFFFF"/>
              </a:highlight>
              <a:latin typeface="Segoe UI" panose="020B0502040204020203" pitchFamily="34" charset="0"/>
            </a:endParaRPr>
          </a:p>
          <a:p>
            <a:pPr algn="l"/>
            <a:r>
              <a:rPr lang="en-US" b="0" i="0" dirty="0">
                <a:solidFill>
                  <a:srgbClr val="161616"/>
                </a:solidFill>
                <a:effectLst/>
                <a:highlight>
                  <a:srgbClr val="FFFFFF"/>
                </a:highlight>
                <a:latin typeface="Segoe UI" panose="020B0502040204020203" pitchFamily="34" charset="0"/>
              </a:rPr>
              <a:t>For example, a GET request to view a specific workflow run log would follow this path: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endpoint retrieves the logs for a specific GitHub Actions workflow run in a repository. You call GET /repos/{owner}/{repo}/actions/runs/{</a:t>
            </a:r>
            <a:r>
              <a:rPr lang="en-US" dirty="0" err="1"/>
              <a:t>run_id</a:t>
            </a:r>
            <a:r>
              <a:rPr lang="en-US" dirty="0"/>
              <a:t>}/logs to download an archive containing the detailed logs for that run.</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50</a:t>
            </a:fld>
            <a:endParaRPr lang="en-US" dirty="0"/>
          </a:p>
        </p:txBody>
      </p:sp>
    </p:spTree>
    <p:extLst>
      <p:ext uri="{BB962C8B-B14F-4D97-AF65-F5344CB8AC3E}">
        <p14:creationId xmlns:p14="http://schemas.microsoft.com/office/powerpoint/2010/main" val="37358414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Once your GitHub App is installed on an account, you can authenticate it as an app installation using the 'installation access token' for REST and </a:t>
            </a:r>
            <a:r>
              <a:rPr lang="en-US" b="0" i="0" dirty="0" err="1">
                <a:solidFill>
                  <a:srgbClr val="161616"/>
                </a:solidFill>
                <a:effectLst/>
                <a:highlight>
                  <a:srgbClr val="FFFFFF"/>
                </a:highlight>
                <a:latin typeface="Segoe UI" panose="020B0502040204020203" pitchFamily="34" charset="0"/>
              </a:rPr>
              <a:t>GraphQL</a:t>
            </a:r>
            <a:r>
              <a:rPr lang="en-US" b="0" i="0" dirty="0">
                <a:solidFill>
                  <a:srgbClr val="161616"/>
                </a:solidFill>
                <a:effectLst/>
                <a:highlight>
                  <a:srgbClr val="FFFFFF"/>
                </a:highlight>
                <a:latin typeface="Segoe UI" panose="020B0502040204020203" pitchFamily="34" charset="0"/>
              </a:rPr>
              <a:t> API requests. This allows the app to access resources owned by the installation, assuming the app was granted the necessary repository access and permissions. REST or </a:t>
            </a:r>
            <a:r>
              <a:rPr lang="en-US" b="0" i="0" dirty="0" err="1">
                <a:solidFill>
                  <a:srgbClr val="161616"/>
                </a:solidFill>
                <a:effectLst/>
                <a:highlight>
                  <a:srgbClr val="FFFFFF"/>
                </a:highlight>
                <a:latin typeface="Segoe UI" panose="020B0502040204020203" pitchFamily="34" charset="0"/>
              </a:rPr>
              <a:t>GraphQL</a:t>
            </a:r>
            <a:r>
              <a:rPr lang="en-US" b="0" i="0" dirty="0">
                <a:solidFill>
                  <a:srgbClr val="161616"/>
                </a:solidFill>
                <a:effectLst/>
                <a:highlight>
                  <a:srgbClr val="FFFFFF"/>
                </a:highlight>
                <a:latin typeface="Segoe UI" panose="020B0502040204020203" pitchFamily="34" charset="0"/>
              </a:rPr>
              <a:t> API requests made by an app installation are attributed to the app. In the following example, you replace INSTALLATION_ACCESS_TOKEN with the installation access token:</a:t>
            </a:r>
          </a:p>
          <a:p>
            <a:pPr algn="l"/>
            <a:br>
              <a:rPr lang="en-US" b="0" i="0" dirty="0">
                <a:solidFill>
                  <a:srgbClr val="161616"/>
                </a:solidFill>
                <a:effectLst/>
                <a:latin typeface="Segoe UI" panose="020B0502040204020203" pitchFamily="34" charset="0"/>
              </a:rPr>
            </a:br>
            <a:endParaRPr lang="en-US" b="0" i="0" dirty="0">
              <a:solidFill>
                <a:srgbClr val="161616"/>
              </a:solidFill>
              <a:effectLst/>
              <a:latin typeface="Segoe UI" panose="020B0502040204020203" pitchFamily="34" charset="0"/>
            </a:endParaRPr>
          </a:p>
          <a:p>
            <a:pPr algn="l"/>
            <a:r>
              <a:rPr lang="en-US" dirty="0"/>
              <a:t>This curl command sends a GET request to GitHub’s /meta endpoint to retrieve metadata (such as IP address ranges). The Accept header ensures the response uses GitHub’s JSON format, the Authorization: Bearer INSTALLATION_ACCESS_TOKEN header authenticates the request using an installation access token, and X-GitHub-</a:t>
            </a:r>
            <a:r>
              <a:rPr lang="en-US" dirty="0" err="1"/>
              <a:t>Api</a:t>
            </a:r>
            <a:r>
              <a:rPr lang="en-US" dirty="0"/>
              <a:t>-Version: 2022-11-28 specifies the API version to use.</a:t>
            </a:r>
            <a:br>
              <a:rPr lang="en-US" b="0" i="0" dirty="0">
                <a:solidFill>
                  <a:srgbClr val="161616"/>
                </a:solidFill>
                <a:effectLst/>
                <a:highlight>
                  <a:srgbClr val="FFFFFF"/>
                </a:highlight>
                <a:latin typeface="Segoe UI" panose="020B0502040204020203" pitchFamily="34" charset="0"/>
              </a:rPr>
            </a:br>
            <a:endParaRPr lang="en-US" b="0" i="0" dirty="0">
              <a:solidFill>
                <a:srgbClr val="161616"/>
              </a:solidFill>
              <a:effectLst/>
              <a:highlight>
                <a:srgbClr val="FFFFFF"/>
              </a:highligh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161616"/>
              </a:solidFill>
              <a:effectLst/>
              <a:latin typeface="Quattrocento Sans" panose="020B0502050000020003" pitchFamily="34" charset="0"/>
            </a:endParaRPr>
          </a:p>
          <a:p>
            <a:pPr algn="l"/>
            <a:r>
              <a:rPr lang="en-US" b="0" i="0" dirty="0">
                <a:solidFill>
                  <a:srgbClr val="161616"/>
                </a:solidFill>
                <a:effectLst/>
                <a:highlight>
                  <a:srgbClr val="FFFFFF"/>
                </a:highlight>
                <a:latin typeface="Segoe UI" panose="020B0502040204020203" pitchFamily="34" charset="0"/>
              </a:rPr>
              <a:t>You can also use an installation access token to authenticate for HTTP-based Git access. Your app must have the 'Contents' repository permission. You can then use the installation access token as the HTTP password. You replace TOKEN in the example with the installation access token:</a:t>
            </a:r>
          </a:p>
          <a:p>
            <a:pPr algn="l"/>
            <a:br>
              <a:rPr lang="en-US" b="0" i="0" dirty="0">
                <a:solidFill>
                  <a:srgbClr val="161616"/>
                </a:solidFill>
                <a:effectLst/>
                <a:latin typeface="Segoe UI" panose="020B0502040204020203" pitchFamily="34" charset="0"/>
              </a:rPr>
            </a:br>
            <a:endParaRPr lang="en-US" b="0" i="0" dirty="0">
              <a:solidFill>
                <a:srgbClr val="16161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clones the repository over HTTPS using a token for authentication. Replace TOKEN with the actual installation access token so Git uses x-access-token as the username and the token as the password.</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51</a:t>
            </a:fld>
            <a:endParaRPr lang="en-US" dirty="0"/>
          </a:p>
        </p:txBody>
      </p:sp>
    </p:spTree>
    <p:extLst>
      <p:ext uri="{BB962C8B-B14F-4D97-AF65-F5344CB8AC3E}">
        <p14:creationId xmlns:p14="http://schemas.microsoft.com/office/powerpoint/2010/main" val="37339881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exercise, you’ll set up, customize, and test a CI workflow.</a:t>
            </a:r>
          </a:p>
          <a:p>
            <a:endParaRPr lang="en-US" dirty="0"/>
          </a:p>
          <a:p>
            <a:r>
              <a:rPr lang="en-US" b="1" dirty="0"/>
              <a:t>Before starting</a:t>
            </a:r>
            <a:br>
              <a:rPr lang="en-US" dirty="0"/>
            </a:br>
            <a:r>
              <a:rPr lang="en-US" dirty="0"/>
              <a:t>Click Start the exercise on GitHub or Use this template to create your own repo. Pick public so you don’t incur extra billing. After creation, wait ~20 seconds, then refresh.</a:t>
            </a:r>
          </a:p>
          <a:p>
            <a:endParaRPr lang="en-US" dirty="0"/>
          </a:p>
          <a:p>
            <a:r>
              <a:rPr lang="en-US" b="1" dirty="0"/>
              <a:t>Review instructions</a:t>
            </a:r>
            <a:br>
              <a:rPr lang="en-US" dirty="0"/>
            </a:br>
            <a:r>
              <a:rPr lang="en-US" dirty="0"/>
              <a:t>Open </a:t>
            </a:r>
            <a:r>
              <a:rPr lang="en-US" dirty="0" err="1"/>
              <a:t>README.md</a:t>
            </a:r>
            <a:r>
              <a:rPr lang="en-US" dirty="0"/>
              <a:t> in your new repo. Read the objectives and steps. Follow instructions exactly. Don’t change any workflow files or validation may fail.</a:t>
            </a:r>
          </a:p>
          <a:p>
            <a:endParaRPr lang="en-US" dirty="0"/>
          </a:p>
          <a:p>
            <a:r>
              <a:rPr lang="en-US" b="1" dirty="0"/>
              <a:t>During the exercise</a:t>
            </a:r>
            <a:br>
              <a:rPr lang="en-US" dirty="0"/>
            </a:br>
            <a:r>
              <a:rPr lang="en-US" dirty="0"/>
              <a:t>Work through each challenge in order. Pay attention to prompts and use Actions logs to check results. Keep the workflow YAML untouched.</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52</a:t>
            </a:fld>
            <a:endParaRPr lang="en-US" dirty="0"/>
          </a:p>
        </p:txBody>
      </p:sp>
    </p:spTree>
    <p:extLst>
      <p:ext uri="{BB962C8B-B14F-4D97-AF65-F5344CB8AC3E}">
        <p14:creationId xmlns:p14="http://schemas.microsoft.com/office/powerpoint/2010/main" val="2248013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After finishing</a:t>
            </a:r>
            <a:br>
              <a:rPr lang="en-US" b="1" dirty="0"/>
            </a:br>
            <a:r>
              <a:rPr lang="en-US" dirty="0"/>
              <a:t>Come back here for a quick quiz. Review what you learned: triggers, jobs, steps, and CI best practices. Claim your badge once you complete the module.</a:t>
            </a:r>
          </a:p>
          <a:p>
            <a:endParaRPr lang="en-US" dirty="0"/>
          </a:p>
          <a:p>
            <a:r>
              <a:rPr lang="en-US" b="1" dirty="0"/>
              <a:t>Key reminders</a:t>
            </a:r>
            <a:br>
              <a:rPr lang="en-US" dirty="0"/>
            </a:br>
            <a:r>
              <a:rPr lang="en-US" dirty="0"/>
              <a:t>Leave workflow files as they are for automatic validation. If you want to experiment, use a separate branch outside this exercise. When a step fails, read the logs carefully and fix before moving on.</a:t>
            </a:r>
          </a:p>
          <a:p>
            <a:endParaRPr lang="en-US" dirty="0"/>
          </a:p>
          <a:p>
            <a:r>
              <a:rPr lang="en-US" dirty="0"/>
              <a:t>Click “Start the exercise on GitHub”</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6/12/2025 6:46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53</a:t>
            </a:fld>
            <a:endParaRPr lang="en-US" dirty="0"/>
          </a:p>
        </p:txBody>
      </p:sp>
    </p:spTree>
    <p:extLst>
      <p:ext uri="{BB962C8B-B14F-4D97-AF65-F5344CB8AC3E}">
        <p14:creationId xmlns:p14="http://schemas.microsoft.com/office/powerpoint/2010/main" val="6196947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mj-lt"/>
              <a:buNone/>
            </a:pPr>
            <a:r>
              <a:rPr lang="en-US"/>
              <a:t>The following </a:t>
            </a:r>
            <a:r>
              <a:rPr lang="en-US" dirty="0"/>
              <a:t>knowledge check will assess understanding of core GitHub Actions concepts—such as artifact handling, common actions like checkout, build matrices, and passing data between jobs—using multiple-choice questions with explanations to reinforce key points before moving on.</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54</a:t>
            </a:fld>
            <a:endParaRPr lang="en-US" dirty="0"/>
          </a:p>
        </p:txBody>
      </p:sp>
    </p:spTree>
    <p:extLst>
      <p:ext uri="{BB962C8B-B14F-4D97-AF65-F5344CB8AC3E}">
        <p14:creationId xmlns:p14="http://schemas.microsoft.com/office/powerpoint/2010/main" val="199192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Artifacts from a GitHub Actions workflow can be saved with what action?</a:t>
            </a:r>
          </a:p>
          <a:p>
            <a:endParaRPr lang="en-US" sz="9600" dirty="0"/>
          </a:p>
          <a:p>
            <a:r>
              <a:rPr lang="en-US" sz="9600" dirty="0"/>
              <a:t>a</a:t>
            </a:r>
            <a:r>
              <a:rPr lang="en-US" sz="9600" b="1" dirty="0"/>
              <a:t>. actions/upload-artifact</a:t>
            </a:r>
            <a:br>
              <a:rPr lang="en-US" sz="9600" b="1" dirty="0"/>
            </a:br>
            <a:r>
              <a:rPr lang="en-US" sz="9600" b="1" i="1" dirty="0"/>
              <a:t>Explanation:</a:t>
            </a:r>
            <a:r>
              <a:rPr lang="en-US" sz="9600" b="1" dirty="0"/>
              <a:t> This action uploads files produced by a job to GitHub’s storage so they can be downloaded later.</a:t>
            </a:r>
          </a:p>
          <a:p>
            <a:endParaRPr lang="en-US" sz="9600" dirty="0"/>
          </a:p>
          <a:p>
            <a:r>
              <a:rPr lang="en-US" sz="9600" dirty="0"/>
              <a:t>b. actions/checkout@v3</a:t>
            </a:r>
            <a:br>
              <a:rPr lang="en-US" sz="9600" dirty="0"/>
            </a:br>
            <a:r>
              <a:rPr lang="en-US" sz="9600" i="1" dirty="0"/>
              <a:t>Explanation:</a:t>
            </a:r>
            <a:r>
              <a:rPr lang="en-US" sz="9600" dirty="0"/>
              <a:t> This action checks out the repository code onto the runner; it does not save artifacts.</a:t>
            </a:r>
          </a:p>
          <a:p>
            <a:endParaRPr lang="en-US" sz="9600" dirty="0"/>
          </a:p>
          <a:p>
            <a:r>
              <a:rPr lang="en-US" sz="9600" dirty="0"/>
              <a:t>c. actions/download-artifact</a:t>
            </a:r>
            <a:br>
              <a:rPr lang="en-US" sz="9600" dirty="0"/>
            </a:br>
            <a:r>
              <a:rPr lang="en-US" sz="9600" i="1" dirty="0"/>
              <a:t>Explanation:</a:t>
            </a:r>
            <a:r>
              <a:rPr lang="en-US" sz="9600" dirty="0"/>
              <a:t> This action downloads artifacts previously uploaded; it does not save/upload them.</a:t>
            </a:r>
          </a:p>
          <a:p>
            <a:endParaRPr lang="en-US" sz="9600" dirty="0"/>
          </a:p>
          <a:p>
            <a:r>
              <a:rPr lang="en-US" sz="9600" b="1" dirty="0"/>
              <a:t>Correct answer:</a:t>
            </a:r>
            <a:r>
              <a:rPr lang="en-US" sz="9600" dirty="0"/>
              <a:t> a</a:t>
            </a:r>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55</a:t>
            </a:fld>
            <a:endParaRPr lang="en-US" dirty="0"/>
          </a:p>
        </p:txBody>
      </p:sp>
    </p:spTree>
    <p:extLst>
      <p:ext uri="{BB962C8B-B14F-4D97-AF65-F5344CB8AC3E}">
        <p14:creationId xmlns:p14="http://schemas.microsoft.com/office/powerpoint/2010/main" val="15104291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What is one way that GitHub Actions workflows can NOT be used?</a:t>
            </a:r>
          </a:p>
          <a:p>
            <a:endParaRPr lang="en-US" sz="9600" dirty="0"/>
          </a:p>
          <a:p>
            <a:r>
              <a:rPr lang="en-US" sz="9600" dirty="0"/>
              <a:t>a. To automatically run test suites on each push</a:t>
            </a:r>
            <a:br>
              <a:rPr lang="en-US" sz="9600" dirty="0"/>
            </a:br>
            <a:r>
              <a:rPr lang="en-US" sz="9600" i="1" dirty="0"/>
              <a:t>Explanation:</a:t>
            </a:r>
            <a:r>
              <a:rPr lang="en-US" sz="9600" dirty="0"/>
              <a:t> Workflows frequently run tests on each push.</a:t>
            </a:r>
          </a:p>
          <a:p>
            <a:endParaRPr lang="en-US" sz="9600" dirty="0"/>
          </a:p>
          <a:p>
            <a:r>
              <a:rPr lang="en-US" sz="9600" dirty="0"/>
              <a:t>b. To kick off a review process</a:t>
            </a:r>
            <a:br>
              <a:rPr lang="en-US" sz="9600" dirty="0"/>
            </a:br>
            <a:r>
              <a:rPr lang="en-US" sz="9600" i="1" dirty="0"/>
              <a:t>Explanation:</a:t>
            </a:r>
            <a:r>
              <a:rPr lang="en-US" sz="9600" dirty="0"/>
              <a:t> Workflows can open issues, add labels, or take actions that support review processes.</a:t>
            </a:r>
          </a:p>
          <a:p>
            <a:endParaRPr lang="en-US" sz="9600" dirty="0"/>
          </a:p>
          <a:p>
            <a:r>
              <a:rPr lang="en-US" sz="9600" dirty="0"/>
              <a:t>c. To automate common repetitive tasks, such as welcoming new contributors to a repository</a:t>
            </a:r>
            <a:br>
              <a:rPr lang="en-US" sz="9600" dirty="0"/>
            </a:br>
            <a:r>
              <a:rPr lang="en-US" sz="9600" i="1" dirty="0"/>
              <a:t>Explanation:</a:t>
            </a:r>
            <a:r>
              <a:rPr lang="en-US" sz="9600" dirty="0"/>
              <a:t> Workflows can automate tasks like commenting on issues or pull requests.</a:t>
            </a:r>
          </a:p>
          <a:p>
            <a:endParaRPr lang="en-US" sz="9600" dirty="0"/>
          </a:p>
          <a:p>
            <a:r>
              <a:rPr lang="en-US" sz="9600" b="1" dirty="0"/>
              <a:t>d. To upload a new secret to GitHub Secrets</a:t>
            </a:r>
            <a:br>
              <a:rPr lang="en-US" sz="9600" b="1" dirty="0"/>
            </a:br>
            <a:r>
              <a:rPr lang="en-US" sz="9600" b="1" i="1" dirty="0"/>
              <a:t>Explanation:</a:t>
            </a:r>
            <a:r>
              <a:rPr lang="en-US" sz="9600" b="1" dirty="0"/>
              <a:t> Workflows cannot create or upload new secrets; secrets must be configured via repository or organization settings.</a:t>
            </a:r>
          </a:p>
          <a:p>
            <a:endParaRPr lang="en-US" sz="9600" dirty="0"/>
          </a:p>
          <a:p>
            <a:r>
              <a:rPr lang="en-US" sz="9600" b="1" dirty="0"/>
              <a:t>Correct answer:</a:t>
            </a:r>
            <a:r>
              <a:rPr lang="en-US" sz="9600" dirty="0"/>
              <a:t> d</a:t>
            </a:r>
          </a:p>
          <a:p>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56</a:t>
            </a:fld>
            <a:endParaRPr lang="en-US" dirty="0"/>
          </a:p>
        </p:txBody>
      </p:sp>
    </p:spTree>
    <p:extLst>
      <p:ext uri="{BB962C8B-B14F-4D97-AF65-F5344CB8AC3E}">
        <p14:creationId xmlns:p14="http://schemas.microsoft.com/office/powerpoint/2010/main" val="22897731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Which action would you use to access a repository's code from the virtual machine provided by GitHub Actions?</a:t>
            </a:r>
          </a:p>
          <a:p>
            <a:endParaRPr lang="en-US" sz="9600" dirty="0"/>
          </a:p>
          <a:p>
            <a:r>
              <a:rPr lang="en-US" sz="9600" dirty="0"/>
              <a:t>a. actions/upload-artifact</a:t>
            </a:r>
            <a:br>
              <a:rPr lang="en-US" sz="9600" dirty="0"/>
            </a:br>
            <a:r>
              <a:rPr lang="en-US" sz="9600" i="1" dirty="0"/>
              <a:t>Explanation:</a:t>
            </a:r>
            <a:r>
              <a:rPr lang="en-US" sz="9600" dirty="0"/>
              <a:t> This uploads artifacts; it does not check out code.</a:t>
            </a:r>
          </a:p>
          <a:p>
            <a:endParaRPr lang="en-US" sz="9600" dirty="0"/>
          </a:p>
          <a:p>
            <a:r>
              <a:rPr lang="en-US" sz="9600" b="1" dirty="0"/>
              <a:t>b. actions/checkout</a:t>
            </a:r>
            <a:br>
              <a:rPr lang="en-US" sz="9600" b="1" dirty="0"/>
            </a:br>
            <a:r>
              <a:rPr lang="en-US" sz="9600" b="1" i="1" dirty="0"/>
              <a:t>Explanation:</a:t>
            </a:r>
            <a:r>
              <a:rPr lang="en-US" sz="9600" b="1" dirty="0"/>
              <a:t> This action retrieves the repository code onto the runner for subsequent steps.</a:t>
            </a:r>
          </a:p>
          <a:p>
            <a:endParaRPr lang="en-US" sz="9600" dirty="0"/>
          </a:p>
          <a:p>
            <a:r>
              <a:rPr lang="en-US" sz="9600" dirty="0"/>
              <a:t>c. </a:t>
            </a:r>
            <a:r>
              <a:rPr lang="en-US" sz="9600" dirty="0" err="1"/>
              <a:t>npm</a:t>
            </a:r>
            <a:r>
              <a:rPr lang="en-US" sz="9600" dirty="0"/>
              <a:t> install</a:t>
            </a:r>
            <a:br>
              <a:rPr lang="en-US" sz="9600" dirty="0"/>
            </a:br>
            <a:r>
              <a:rPr lang="en-US" sz="9600" i="1" dirty="0"/>
              <a:t>Explanation:</a:t>
            </a:r>
            <a:r>
              <a:rPr lang="en-US" sz="9600" dirty="0"/>
              <a:t> This is a shell command to install dependencies; it assumes code is already present.</a:t>
            </a:r>
          </a:p>
          <a:p>
            <a:endParaRPr lang="en-US" sz="9600" dirty="0"/>
          </a:p>
          <a:p>
            <a:r>
              <a:rPr lang="en-US" sz="9600" dirty="0"/>
              <a:t>d. actions/setup-node</a:t>
            </a:r>
            <a:br>
              <a:rPr lang="en-US" sz="9600" dirty="0"/>
            </a:br>
            <a:r>
              <a:rPr lang="en-US" sz="9600" i="1" dirty="0"/>
              <a:t>Explanation:</a:t>
            </a:r>
            <a:r>
              <a:rPr lang="en-US" sz="9600" dirty="0"/>
              <a:t> This action sets up Node.js on the runner; it does not check out the repository.</a:t>
            </a:r>
          </a:p>
          <a:p>
            <a:endParaRPr lang="en-US" sz="9600" dirty="0"/>
          </a:p>
          <a:p>
            <a:r>
              <a:rPr lang="en-US" sz="9600" b="1" dirty="0"/>
              <a:t>Correct answer:</a:t>
            </a:r>
            <a:r>
              <a:rPr lang="en-US" sz="9600" dirty="0"/>
              <a:t> b</a:t>
            </a:r>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57</a:t>
            </a:fld>
            <a:endParaRPr lang="en-US" dirty="0"/>
          </a:p>
        </p:txBody>
      </p:sp>
    </p:spTree>
    <p:extLst>
      <p:ext uri="{BB962C8B-B14F-4D97-AF65-F5344CB8AC3E}">
        <p14:creationId xmlns:p14="http://schemas.microsoft.com/office/powerpoint/2010/main" val="8729210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How many builds will the following matrix produce?</a:t>
            </a:r>
            <a:endParaRPr lang="en-US" sz="9600" dirty="0"/>
          </a:p>
          <a:p>
            <a:pPr rtl="0"/>
            <a:r>
              <a:rPr lang="en-US" sz="9600" dirty="0" err="1"/>
              <a:t>os</a:t>
            </a:r>
            <a:r>
              <a:rPr lang="en-US" sz="9600" dirty="0"/>
              <a:t>: [ubuntu-latest, windows-latest] node-version: [14.x, 16.x, 18.x] </a:t>
            </a:r>
          </a:p>
          <a:p>
            <a:pPr rtl="0"/>
            <a:endParaRPr lang="en-US" sz="9600" dirty="0"/>
          </a:p>
          <a:p>
            <a:r>
              <a:rPr lang="en-US" sz="9600" b="1" dirty="0"/>
              <a:t>a. 6</a:t>
            </a:r>
            <a:br>
              <a:rPr lang="en-US" sz="9600" b="1" dirty="0"/>
            </a:br>
            <a:r>
              <a:rPr lang="en-US" sz="9600" b="1" i="1" dirty="0"/>
              <a:t>Explanation:</a:t>
            </a:r>
            <a:r>
              <a:rPr lang="en-US" sz="9600" b="1" dirty="0"/>
              <a:t> Two OS values × three Node versions = 6 combinations.</a:t>
            </a:r>
          </a:p>
          <a:p>
            <a:endParaRPr lang="en-US" sz="9600" dirty="0"/>
          </a:p>
          <a:p>
            <a:r>
              <a:rPr lang="en-US" sz="9600" dirty="0"/>
              <a:t>b. 3</a:t>
            </a:r>
            <a:br>
              <a:rPr lang="en-US" sz="9600" dirty="0"/>
            </a:br>
            <a:r>
              <a:rPr lang="en-US" sz="9600" i="1" dirty="0"/>
              <a:t>Explanation:</a:t>
            </a:r>
            <a:r>
              <a:rPr lang="en-US" sz="9600" dirty="0"/>
              <a:t> That would correspond only to Node versions, ignoring OS variants.</a:t>
            </a:r>
          </a:p>
          <a:p>
            <a:endParaRPr lang="en-US" sz="9600" dirty="0"/>
          </a:p>
          <a:p>
            <a:r>
              <a:rPr lang="en-US" sz="9600" dirty="0"/>
              <a:t>c. 5</a:t>
            </a:r>
            <a:br>
              <a:rPr lang="en-US" sz="9600" dirty="0"/>
            </a:br>
            <a:r>
              <a:rPr lang="en-US" sz="9600" i="1" dirty="0"/>
              <a:t>Explanation:</a:t>
            </a:r>
            <a:r>
              <a:rPr lang="en-US" sz="9600" dirty="0"/>
              <a:t> There is no combination count of 5 here; the correct multiplication yields 6.</a:t>
            </a:r>
          </a:p>
          <a:p>
            <a:endParaRPr lang="en-US" sz="9600" dirty="0"/>
          </a:p>
          <a:p>
            <a:r>
              <a:rPr lang="en-US" sz="9600" b="1" dirty="0"/>
              <a:t>Correct answer:</a:t>
            </a:r>
            <a:r>
              <a:rPr lang="en-US" sz="9600" dirty="0"/>
              <a:t> a</a:t>
            </a:r>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58</a:t>
            </a:fld>
            <a:endParaRPr lang="en-US" dirty="0"/>
          </a:p>
        </p:txBody>
      </p:sp>
    </p:spTree>
    <p:extLst>
      <p:ext uri="{BB962C8B-B14F-4D97-AF65-F5344CB8AC3E}">
        <p14:creationId xmlns:p14="http://schemas.microsoft.com/office/powerpoint/2010/main" val="35346087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How can you pass data between jobs in a GitHub Actions workflow?</a:t>
            </a:r>
          </a:p>
          <a:p>
            <a:endParaRPr lang="en-US" sz="9600" dirty="0"/>
          </a:p>
          <a:p>
            <a:r>
              <a:rPr lang="en-US" sz="9600" dirty="0"/>
              <a:t>a. By using the needs keyword</a:t>
            </a:r>
            <a:br>
              <a:rPr lang="en-US" sz="9600" dirty="0"/>
            </a:br>
            <a:r>
              <a:rPr lang="en-US" sz="9600" i="1" dirty="0"/>
              <a:t>Explanation:</a:t>
            </a:r>
            <a:r>
              <a:rPr lang="en-US" sz="9600" dirty="0"/>
              <a:t> needs establishes a dependency so one job waits for another, but by itself does not pass data.</a:t>
            </a:r>
          </a:p>
          <a:p>
            <a:endParaRPr lang="en-US" sz="9600" dirty="0"/>
          </a:p>
          <a:p>
            <a:r>
              <a:rPr lang="en-US" sz="9600" b="1" dirty="0"/>
              <a:t>b. By using the outputs keyword</a:t>
            </a:r>
            <a:br>
              <a:rPr lang="en-US" sz="9600" b="1" dirty="0"/>
            </a:br>
            <a:r>
              <a:rPr lang="en-US" sz="9600" b="1" i="1" dirty="0"/>
              <a:t>Explanation:</a:t>
            </a:r>
            <a:r>
              <a:rPr lang="en-US" sz="9600" b="1" dirty="0"/>
              <a:t> Defining outputs in one job and referencing them in another (together with needs) passes data between jobs.</a:t>
            </a:r>
          </a:p>
          <a:p>
            <a:endParaRPr lang="en-US" sz="9600" dirty="0"/>
          </a:p>
          <a:p>
            <a:r>
              <a:rPr lang="en-US" sz="9600" dirty="0"/>
              <a:t>c. By using the env keyword</a:t>
            </a:r>
            <a:br>
              <a:rPr lang="en-US" sz="9600" dirty="0"/>
            </a:br>
            <a:r>
              <a:rPr lang="en-US" sz="9600" i="1" dirty="0"/>
              <a:t>Explanation:</a:t>
            </a:r>
            <a:r>
              <a:rPr lang="en-US" sz="9600" dirty="0"/>
              <a:t> env sets environment variables for steps within a job; it does not directly transfer data between separate jobs.</a:t>
            </a:r>
          </a:p>
          <a:p>
            <a:endParaRPr lang="en-US" sz="9600" dirty="0"/>
          </a:p>
          <a:p>
            <a:r>
              <a:rPr lang="en-US" sz="9600" dirty="0"/>
              <a:t>d. By using the secrets keyword</a:t>
            </a:r>
            <a:br>
              <a:rPr lang="en-US" sz="9600" dirty="0"/>
            </a:br>
            <a:r>
              <a:rPr lang="en-US" sz="9600" i="1" dirty="0"/>
              <a:t>Explanation:</a:t>
            </a:r>
            <a:r>
              <a:rPr lang="en-US" sz="9600" dirty="0"/>
              <a:t> Secrets provide secure values but are not how jobs exchange dynamic outputs at runtime.</a:t>
            </a:r>
          </a:p>
          <a:p>
            <a:endParaRPr lang="en-US" sz="9600" dirty="0"/>
          </a:p>
          <a:p>
            <a:r>
              <a:rPr lang="en-US" sz="9600" b="1" dirty="0"/>
              <a:t>Correct answer:</a:t>
            </a:r>
            <a:r>
              <a:rPr lang="en-US" sz="9600" dirty="0"/>
              <a:t> b</a:t>
            </a:r>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59</a:t>
            </a:fld>
            <a:endParaRPr lang="en-US" dirty="0"/>
          </a:p>
        </p:txBody>
      </p:sp>
    </p:spTree>
    <p:extLst>
      <p:ext uri="{BB962C8B-B14F-4D97-AF65-F5344CB8AC3E}">
        <p14:creationId xmlns:p14="http://schemas.microsoft.com/office/powerpoint/2010/main" val="23096794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19AD-6128-488E-45F4-0B4C569D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F98D2-6844-54A6-5319-F8433A9D2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4409B-9BAB-046B-0894-60247B59902D}"/>
              </a:ext>
            </a:extLst>
          </p:cNvPr>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In this module, you implemented a CI solution using GitHub Actions and workflows.</a:t>
            </a:r>
          </a:p>
          <a:p>
            <a:pPr algn="l"/>
            <a:endParaRPr lang="en-US" b="0" i="0" dirty="0">
              <a:solidFill>
                <a:srgbClr val="161616"/>
              </a:solidFill>
              <a:effectLst/>
              <a:highlight>
                <a:srgbClr val="FFFFFF"/>
              </a:highlight>
              <a:latin typeface="Segoe UI" panose="020B0502040204020203" pitchFamily="34" charset="0"/>
            </a:endParaRPr>
          </a:p>
          <a:p>
            <a:pPr algn="l"/>
            <a:r>
              <a:rPr lang="en-US" b="0" i="0" dirty="0">
                <a:solidFill>
                  <a:srgbClr val="161616"/>
                </a:solidFill>
                <a:effectLst/>
                <a:highlight>
                  <a:srgbClr val="FFFFFF"/>
                </a:highlight>
                <a:latin typeface="Segoe UI" panose="020B0502040204020203" pitchFamily="34" charset="0"/>
              </a:rPr>
              <a:t>You can now:</a:t>
            </a:r>
          </a:p>
          <a:p>
            <a:pPr marL="171450" indent="-1714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Build and test a Node.js project by using GitHub Actions and a templated workflow.</a:t>
            </a:r>
          </a:p>
          <a:p>
            <a:pPr marL="171450" indent="-1714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Debug a failed test using the GitHub Actions log.</a:t>
            </a:r>
          </a:p>
          <a:p>
            <a:pPr marL="171450" indent="-1714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Customize your workflow with GitHub Actions to:</a:t>
            </a:r>
          </a:p>
          <a:p>
            <a:pPr marL="742950" lvl="1" indent="-2857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Create a build artifact and save it.</a:t>
            </a:r>
          </a:p>
          <a:p>
            <a:pPr marL="742950" lvl="1" indent="-2857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Get access to your build artifacts.</a:t>
            </a:r>
          </a:p>
          <a:p>
            <a:pPr marL="742950" lvl="1" indent="-2857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Test against multiple targets.</a:t>
            </a:r>
          </a:p>
          <a:p>
            <a:pPr marL="742950" lvl="1" indent="-285750"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Add labels to your pull requests.</a:t>
            </a:r>
          </a:p>
          <a:p>
            <a:pPr algn="l"/>
            <a:endParaRPr lang="en-US" b="1" i="0" dirty="0">
              <a:solidFill>
                <a:srgbClr val="161616"/>
              </a:solidFill>
              <a:effectLst/>
              <a:highlight>
                <a:srgbClr val="FFFFFF"/>
              </a:highlight>
              <a:latin typeface="Segoe UI" panose="020B0502040204020203" pitchFamily="34" charset="0"/>
            </a:endParaRPr>
          </a:p>
          <a:p>
            <a:pPr algn="l"/>
            <a:r>
              <a:rPr lang="en-US" b="1" i="0" dirty="0">
                <a:solidFill>
                  <a:srgbClr val="161616"/>
                </a:solidFill>
                <a:effectLst/>
                <a:highlight>
                  <a:srgbClr val="FFFFFF"/>
                </a:highlight>
                <a:latin typeface="Segoe UI" panose="020B0502040204020203" pitchFamily="34" charset="0"/>
              </a:rPr>
              <a:t>Next steps</a:t>
            </a:r>
          </a:p>
          <a:p>
            <a:pPr algn="l"/>
            <a:r>
              <a:rPr lang="en-US" b="0" i="0" dirty="0">
                <a:solidFill>
                  <a:srgbClr val="161616"/>
                </a:solidFill>
                <a:effectLst/>
                <a:highlight>
                  <a:srgbClr val="FFFFFF"/>
                </a:highlight>
                <a:latin typeface="Segoe UI" panose="020B0502040204020203" pitchFamily="34" charset="0"/>
              </a:rPr>
              <a:t>To continue your journey with GitHub Actions, check out the next module on this learning path. You can expand on what you learned here and use GitHub Actions for continuous delivery and implementing infrastructure as code.</a:t>
            </a:r>
          </a:p>
          <a:p>
            <a:br>
              <a:rPr lang="en-US" dirty="0"/>
            </a:br>
            <a:endParaRPr lang="en-US" sz="1200" dirty="0">
              <a:solidFill>
                <a:schemeClr val="tx2">
                  <a:lumMod val="75000"/>
                  <a:lumOff val="25000"/>
                </a:schemeClr>
              </a:solidFill>
              <a:effectLst/>
              <a:ea typeface="Aptos" panose="020B0004020202020204" pitchFamily="34" charset="0"/>
              <a:cs typeface="Times New Roman" panose="02020603050405020304" pitchFamily="18" charset="0"/>
            </a:endParaRPr>
          </a:p>
        </p:txBody>
      </p:sp>
      <p:sp>
        <p:nvSpPr>
          <p:cNvPr id="4" name="Header Placeholder 3">
            <a:extLst>
              <a:ext uri="{FF2B5EF4-FFF2-40B4-BE49-F238E27FC236}">
                <a16:creationId xmlns:a16="http://schemas.microsoft.com/office/drawing/2014/main" id="{76CE4D83-7232-2EA7-A68E-962BBC5B171A}"/>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E13100AD-4ADC-4F9F-913D-B9020847E11C}"/>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7279995-C4F4-293A-9CFC-AD663F4AE390}"/>
              </a:ext>
            </a:extLst>
          </p:cNvPr>
          <p:cNvSpPr>
            <a:spLocks noGrp="1"/>
          </p:cNvSpPr>
          <p:nvPr>
            <p:ph type="dt" idx="12"/>
          </p:nvPr>
        </p:nvSpPr>
        <p:spPr/>
        <p:txBody>
          <a:bodyPr/>
          <a:lstStyle/>
          <a:p>
            <a:fld id="{C9F26854-F9AE-4E32-B2A5-59EE421C280D}" type="datetime8">
              <a:rPr lang="en-US" smtClean="0"/>
              <a:t>6/12/2025 6:46 AM</a:t>
            </a:fld>
            <a:endParaRPr lang="en-US" dirty="0"/>
          </a:p>
        </p:txBody>
      </p:sp>
      <p:sp>
        <p:nvSpPr>
          <p:cNvPr id="7" name="Slide Number Placeholder 6">
            <a:extLst>
              <a:ext uri="{FF2B5EF4-FFF2-40B4-BE49-F238E27FC236}">
                <a16:creationId xmlns:a16="http://schemas.microsoft.com/office/drawing/2014/main" id="{1401B23B-D90F-7C7D-D96B-9C157228C999}"/>
              </a:ext>
            </a:extLst>
          </p:cNvPr>
          <p:cNvSpPr>
            <a:spLocks noGrp="1"/>
          </p:cNvSpPr>
          <p:nvPr>
            <p:ph type="sldNum" sz="quarter" idx="13"/>
          </p:nvPr>
        </p:nvSpPr>
        <p:spPr/>
        <p:txBody>
          <a:bodyPr/>
          <a:lstStyle/>
          <a:p>
            <a:fld id="{B4008EB6-D09E-4580-8CD6-DDB14511944F}" type="slidenum">
              <a:rPr lang="en-US" smtClean="0"/>
              <a:pPr/>
              <a:t>60</a:t>
            </a:fld>
            <a:endParaRPr lang="en-US" dirty="0"/>
          </a:p>
        </p:txBody>
      </p:sp>
    </p:spTree>
    <p:extLst>
      <p:ext uri="{BB962C8B-B14F-4D97-AF65-F5344CB8AC3E}">
        <p14:creationId xmlns:p14="http://schemas.microsoft.com/office/powerpoint/2010/main" val="179971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220F-00DF-4455-A366-2A9413A928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6D2755-6074-27B5-D2F3-084F57E044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78E031-B1EC-2050-F40F-C3EA8EACAEC6}"/>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5" name="Footer Placeholder 4">
            <a:extLst>
              <a:ext uri="{FF2B5EF4-FFF2-40B4-BE49-F238E27FC236}">
                <a16:creationId xmlns:a16="http://schemas.microsoft.com/office/drawing/2014/main" id="{30FE4837-96BF-0940-E854-B072D98BED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03AB7A-4CF3-86EE-24DB-51D4D8ED0AEB}"/>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3093015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BD622-8978-31F9-3B30-AD251D9325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EDB0A7-12AE-E24E-5D05-B6A28AF0E3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847618-5DF7-F52A-B13C-A637ACC5B86D}"/>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5" name="Footer Placeholder 4">
            <a:extLst>
              <a:ext uri="{FF2B5EF4-FFF2-40B4-BE49-F238E27FC236}">
                <a16:creationId xmlns:a16="http://schemas.microsoft.com/office/drawing/2014/main" id="{B203A94E-CCC0-C94D-FD09-BE7AE9A1F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2D19C-7D6A-517F-7BB6-88EBD26D5C4F}"/>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4294442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5470E-8F4C-4026-74A6-62BF9CAF78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0D4DF1-C352-CFBB-AAA0-83CA50197C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9E6B58-62DA-3671-DA70-A576825DF2C1}"/>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5" name="Footer Placeholder 4">
            <a:extLst>
              <a:ext uri="{FF2B5EF4-FFF2-40B4-BE49-F238E27FC236}">
                <a16:creationId xmlns:a16="http://schemas.microsoft.com/office/drawing/2014/main" id="{2B55A9C0-F579-9EA2-5C60-521D5B9065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0D3DF5-0D57-E893-061A-0E4F7EADD6F0}"/>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99559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9B3F-E599-D800-8A58-5D777063B0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E91A81-F4A7-1C35-3BF6-599A0BB261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04462D-DAEB-B285-AC01-0401815D9D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A9D221-8E8B-E003-250B-43647EE0B725}"/>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6" name="Footer Placeholder 5">
            <a:extLst>
              <a:ext uri="{FF2B5EF4-FFF2-40B4-BE49-F238E27FC236}">
                <a16:creationId xmlns:a16="http://schemas.microsoft.com/office/drawing/2014/main" id="{CF2EBCB8-A699-805A-2A18-1B81BA076E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BCDB7-5C5D-3463-9953-C52B65D65EEB}"/>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745742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154AD-C1F5-2F0D-0B1A-BFE4674C5D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F9CD58-BF6D-EDB7-63C7-C70FA8E36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C490F2-060E-5EFA-3B2E-61D5DAADCB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C602B7-CCC5-3117-BCE0-2831179F3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E79119-0AFB-96A8-4646-D636E3F808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149562-1E22-F957-8F30-180D158D4DDD}"/>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8" name="Footer Placeholder 7">
            <a:extLst>
              <a:ext uri="{FF2B5EF4-FFF2-40B4-BE49-F238E27FC236}">
                <a16:creationId xmlns:a16="http://schemas.microsoft.com/office/drawing/2014/main" id="{13E325AA-5589-FF77-6681-C4A966D5E7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6E12A0-1866-E8C3-0368-9D576A9C91AA}"/>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178236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46436-61DB-24F2-8B46-38E5246A15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F08DF5-64C9-4149-B71B-A7274156BD29}"/>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4" name="Footer Placeholder 3">
            <a:extLst>
              <a:ext uri="{FF2B5EF4-FFF2-40B4-BE49-F238E27FC236}">
                <a16:creationId xmlns:a16="http://schemas.microsoft.com/office/drawing/2014/main" id="{556281D3-FCBE-407C-D6F6-894B020E86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6ABC7B-DBEC-B7F5-3141-FF8B68E7BD6F}"/>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4118964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6D8BD1-3AD6-3D7D-6085-289B6DFE6ADE}"/>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3" name="Footer Placeholder 2">
            <a:extLst>
              <a:ext uri="{FF2B5EF4-FFF2-40B4-BE49-F238E27FC236}">
                <a16:creationId xmlns:a16="http://schemas.microsoft.com/office/drawing/2014/main" id="{49A602D3-0F67-49C9-2756-C7B3204039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576DE2-3EAE-E983-B86F-E1232D5CF50E}"/>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373459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D5198-7633-295D-7C31-B2A7774F63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30F86E-3612-43F2-4E63-92C6838009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3A01BC-966E-B82A-23BA-B11FB3C58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DCAB61-87E5-C439-01C4-C5CA64F61808}"/>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6" name="Footer Placeholder 5">
            <a:extLst>
              <a:ext uri="{FF2B5EF4-FFF2-40B4-BE49-F238E27FC236}">
                <a16:creationId xmlns:a16="http://schemas.microsoft.com/office/drawing/2014/main" id="{55ADAC14-FF6F-E87C-1F06-894873E1B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28EED1-6DAA-113B-42A2-E2B3E255E9BD}"/>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156639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85560-E24D-4399-7FCA-FDFD7B9C8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D8A27E-B2F9-64E1-03E0-2B9E5BF30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4B8C5B-9613-2183-28A2-B843211F03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969690-B3B9-9DDB-5DFD-28CC895F21DF}"/>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6" name="Footer Placeholder 5">
            <a:extLst>
              <a:ext uri="{FF2B5EF4-FFF2-40B4-BE49-F238E27FC236}">
                <a16:creationId xmlns:a16="http://schemas.microsoft.com/office/drawing/2014/main" id="{D227EF3A-220E-B49B-EC1F-0A7EB864EC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CDD09E-4D18-7205-4919-217DE53E714A}"/>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2991243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6E96-65F1-A469-2BDF-B24C55CF30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3A8D5C-FAEE-F7E0-1B66-17EB28C57E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FEC056-70D9-D79C-599F-DC02978DCD15}"/>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5" name="Footer Placeholder 4">
            <a:extLst>
              <a:ext uri="{FF2B5EF4-FFF2-40B4-BE49-F238E27FC236}">
                <a16:creationId xmlns:a16="http://schemas.microsoft.com/office/drawing/2014/main" id="{B451B891-2E1F-FB45-1E71-C1432417B2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BAA63A-9042-3E73-F7FE-5242A2CE3E91}"/>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2882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F1D08C-9770-D5F0-DE55-979A50670C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37E333-7D84-6192-CC25-F19F5766DB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A69EFF-CBC9-7CBC-9A6D-84EF9A20B473}"/>
              </a:ext>
            </a:extLst>
          </p:cNvPr>
          <p:cNvSpPr>
            <a:spLocks noGrp="1"/>
          </p:cNvSpPr>
          <p:nvPr>
            <p:ph type="dt" sz="half" idx="10"/>
          </p:nvPr>
        </p:nvSpPr>
        <p:spPr/>
        <p:txBody>
          <a:bodyPr/>
          <a:lstStyle/>
          <a:p>
            <a:fld id="{FC39BDC8-FCE2-5E45-B359-8AF3A3C211F1}" type="datetimeFigureOut">
              <a:rPr lang="en-US" smtClean="0"/>
              <a:t>6/12/2025</a:t>
            </a:fld>
            <a:endParaRPr lang="en-US"/>
          </a:p>
        </p:txBody>
      </p:sp>
      <p:sp>
        <p:nvSpPr>
          <p:cNvPr id="5" name="Footer Placeholder 4">
            <a:extLst>
              <a:ext uri="{FF2B5EF4-FFF2-40B4-BE49-F238E27FC236}">
                <a16:creationId xmlns:a16="http://schemas.microsoft.com/office/drawing/2014/main" id="{387CF418-96E2-5ED2-D3FA-2D5143C3BE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20A44F-409B-2D22-485A-2EC3C142FEFD}"/>
              </a:ext>
            </a:extLst>
          </p:cNvPr>
          <p:cNvSpPr>
            <a:spLocks noGrp="1"/>
          </p:cNvSpPr>
          <p:nvPr>
            <p:ph type="sldNum" sz="quarter" idx="12"/>
          </p:nvPr>
        </p:nvSpPr>
        <p:spPr/>
        <p:txBody>
          <a:bodyPr/>
          <a:lstStyle/>
          <a:p>
            <a:fld id="{CE654A96-E9BE-234A-99A6-D9CD0B53C474}" type="slidenum">
              <a:rPr lang="en-US" smtClean="0"/>
              <a:t>‹#›</a:t>
            </a:fld>
            <a:endParaRPr lang="en-US"/>
          </a:p>
        </p:txBody>
      </p:sp>
    </p:spTree>
    <p:extLst>
      <p:ext uri="{BB962C8B-B14F-4D97-AF65-F5344CB8AC3E}">
        <p14:creationId xmlns:p14="http://schemas.microsoft.com/office/powerpoint/2010/main" val="1483217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958909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8836488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80102785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1423042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5154090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86508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8E37B2-0C85-48E0-371C-ACBB8A79CB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852078-EA10-40FE-D750-C61A74026C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613AE2-9318-B0FD-4D00-011BF33B94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39BDC8-FCE2-5E45-B359-8AF3A3C211F1}" type="datetimeFigureOut">
              <a:rPr lang="en-US" smtClean="0"/>
              <a:t>6/12/2025</a:t>
            </a:fld>
            <a:endParaRPr lang="en-US"/>
          </a:p>
        </p:txBody>
      </p:sp>
      <p:sp>
        <p:nvSpPr>
          <p:cNvPr id="5" name="Footer Placeholder 4">
            <a:extLst>
              <a:ext uri="{FF2B5EF4-FFF2-40B4-BE49-F238E27FC236}">
                <a16:creationId xmlns:a16="http://schemas.microsoft.com/office/drawing/2014/main" id="{F753BCB0-5AE4-824E-BA2E-341430114D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625488-DA87-6A1B-88A5-3FABB49D3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654A96-E9BE-234A-99A6-D9CD0B53C474}" type="slidenum">
              <a:rPr lang="en-US" smtClean="0"/>
              <a:t>‹#›</a:t>
            </a:fld>
            <a:endParaRPr lang="en-US"/>
          </a:p>
        </p:txBody>
      </p:sp>
    </p:spTree>
    <p:extLst>
      <p:ext uri="{BB962C8B-B14F-4D97-AF65-F5344CB8AC3E}">
        <p14:creationId xmlns:p14="http://schemas.microsoft.com/office/powerpoint/2010/main" val="3121001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en-us/training/paths/github-actions/?wt.mc_id=github_inproduct_actions_mslearn_ghcertregistratio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paths/github-administration-products/"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learn.microsoft.com/en-us/training/modules/github-actions-ci/1-introducti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hyperlink" Target="https://learn.microsoft.com/en-us/training/modules/github-actions-automate-tasks/" TargetMode="External"/><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ctions/checkout"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hyperlink" Target="mailto:actions/setup-node@v3"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ocs.npmjs.com/cli/v11/commands/npm-install"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hyperlink" Target="https://docs.npmjs.com/cli/v11/commands/npm-test" TargetMode="External"/><Relationship Id="rId4" Type="http://schemas.openxmlformats.org/officeDocument/2006/relationships/hyperlink" Target="https://docs.npmjs.com/cli/v11/commands/npm-ru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2.svg"/></Relationships>
</file>

<file path=ppt/slides/_rels/slide2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4.png"/><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hyperlink" Target="https://docs.github.com/enterprise-server@3.14/actions/writing-workflows/about-workflows#using-a-build-matrix" TargetMode="External"/><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actions/upload-artifact" TargetMode="External"/><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hyperlink" Target="https://github.com/actions/download-artifact"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hyperlink" Target="https://docs.github.com/en/enterprise-cloud@latest/actions/using-workflows/storing-workflow-data-as-artifacts" TargetMode="External"/><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pullreminders/label-when-approved-action" TargetMode="External"/><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8" Type="http://schemas.openxmlformats.org/officeDocument/2006/relationships/hyperlink" Target="https://docs.github.com/en/actions/writing-workflows/choosing-what-your-workflow-does/accessing-contextual-information-about-workflow-runs#steps-context" TargetMode="External"/><Relationship Id="rId13" Type="http://schemas.openxmlformats.org/officeDocument/2006/relationships/hyperlink" Target="https://docs.github.com/en/actions/writing-workflows/choosing-what-your-workflow-does/accessing-contextual-information-about-workflow-runs#needs-context" TargetMode="External"/><Relationship Id="rId3" Type="http://schemas.openxmlformats.org/officeDocument/2006/relationships/hyperlink" Target="https://docs.github.com/en/actions/writing-workflows/choosing-what-your-workflow-does/accessing-contextual-information-about-workflow-runs#github-context" TargetMode="External"/><Relationship Id="rId7" Type="http://schemas.openxmlformats.org/officeDocument/2006/relationships/hyperlink" Target="https://docs.github.com/en/actions/writing-workflows/choosing-what-your-workflow-does/accessing-contextual-information-about-workflow-runs#jobs-context" TargetMode="External"/><Relationship Id="rId12" Type="http://schemas.openxmlformats.org/officeDocument/2006/relationships/hyperlink" Target="https://docs.github.com/en/actions/writing-workflows/choosing-what-your-workflow-does/accessing-contextual-information-about-workflow-runs#matrix-context" TargetMode="External"/><Relationship Id="rId2" Type="http://schemas.openxmlformats.org/officeDocument/2006/relationships/notesSlide" Target="../notesSlides/notesSlide34.xml"/><Relationship Id="rId1" Type="http://schemas.openxmlformats.org/officeDocument/2006/relationships/slideLayout" Target="../slideLayouts/slideLayout14.xml"/><Relationship Id="rId6" Type="http://schemas.openxmlformats.org/officeDocument/2006/relationships/hyperlink" Target="https://docs.github.com/en/actions/writing-workflows/choosing-what-your-workflow-does/accessing-contextual-information-about-workflow-runs#job-context" TargetMode="External"/><Relationship Id="rId11" Type="http://schemas.openxmlformats.org/officeDocument/2006/relationships/hyperlink" Target="https://docs.github.com/en/actions/writing-workflows/choosing-what-your-workflow-does/accessing-contextual-information-about-workflow-runs#strategy-context" TargetMode="External"/><Relationship Id="rId5" Type="http://schemas.openxmlformats.org/officeDocument/2006/relationships/hyperlink" Target="https://docs.github.com/en/actions/writing-workflows/choosing-what-your-workflow-does/accessing-contextual-information-about-workflow-runs#vars-context" TargetMode="External"/><Relationship Id="rId10" Type="http://schemas.openxmlformats.org/officeDocument/2006/relationships/hyperlink" Target="https://docs.github.com/en/actions/writing-workflows/choosing-what-your-workflow-does/accessing-contextual-information-about-workflow-runs#secrets-context" TargetMode="External"/><Relationship Id="rId4" Type="http://schemas.openxmlformats.org/officeDocument/2006/relationships/hyperlink" Target="https://docs.github.com/en/actions/writing-workflows/choosing-what-your-workflow-does/accessing-contextual-information-about-workflow-runs#env-context" TargetMode="External"/><Relationship Id="rId9" Type="http://schemas.openxmlformats.org/officeDocument/2006/relationships/hyperlink" Target="https://docs.github.com/en/actions/writing-workflows/choosing-what-your-workflow-does/accessing-contextual-information-about-workflow-runs#runner-context" TargetMode="External"/><Relationship Id="rId14" Type="http://schemas.openxmlformats.org/officeDocument/2006/relationships/hyperlink" Target="https://docs.github.com/en/actions/writing-workflows/choosing-what-your-workflow-does/accessing-contextual-information-about-workflow-runs#inputs-context" TargetMode="Externa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27.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hyperlink" Target="https://docs.github.com/en/actions/writing-workflows/choosing-what-your-workflow-does/store-information-in-variables#default-environment-variables" TargetMode="External"/><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8.png"/><Relationship Id="rId7" Type="http://schemas.openxmlformats.org/officeDocument/2006/relationships/image" Target="../media/image8.svg"/><Relationship Id="rId2" Type="http://schemas.openxmlformats.org/officeDocument/2006/relationships/notesSlide" Target="../notesSlides/notesSlide39.xml"/><Relationship Id="rId1" Type="http://schemas.openxmlformats.org/officeDocument/2006/relationships/slideLayout" Target="../slideLayouts/slideLayout15.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30.png"/><Relationship Id="rId10" Type="http://schemas.openxmlformats.org/officeDocument/2006/relationships/image" Target="../media/image11.png"/><Relationship Id="rId4" Type="http://schemas.openxmlformats.org/officeDocument/2006/relationships/image" Target="../media/image29.png"/><Relationship Id="rId9" Type="http://schemas.openxmlformats.org/officeDocument/2006/relationships/image" Target="../media/image10.sv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14.xml"/><Relationship Id="rId5" Type="http://schemas.openxmlformats.org/officeDocument/2006/relationships/hyperlink" Target="https://docs.github.com/en/actions/managing-workflow-runs-and-deployments/managing-deployments/reviewing-deployments#bypassing-environment-protection-rules" TargetMode="External"/><Relationship Id="rId4" Type="http://schemas.openxmlformats.org/officeDocument/2006/relationships/image" Target="../media/image8.svg"/></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4.xml"/><Relationship Id="rId5" Type="http://schemas.openxmlformats.org/officeDocument/2006/relationships/image" Target="../media/image31.png"/><Relationship Id="rId4" Type="http://schemas.openxmlformats.org/officeDocument/2006/relationships/image" Target="../media/image15.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6.xml"/><Relationship Id="rId6" Type="http://schemas.openxmlformats.org/officeDocument/2006/relationships/image" Target="../media/image34.png"/><Relationship Id="rId5" Type="http://schemas.openxmlformats.org/officeDocument/2006/relationships/hyperlink" Target="https://docs.github.com/en/billing/managing-billing-for-github-actions/about-billing-for-github-actions" TargetMode="External"/><Relationship Id="rId4" Type="http://schemas.openxmlformats.org/officeDocument/2006/relationships/image" Target="../media/image33.svg"/></Relationships>
</file>

<file path=ppt/slides/_rels/slide53.xml.rels><?xml version="1.0" encoding="UTF-8" standalone="yes"?>
<Relationships xmlns="http://schemas.openxmlformats.org/package/2006/relationships"><Relationship Id="rId3" Type="http://schemas.openxmlformats.org/officeDocument/2006/relationships/hyperlink" Target="https://github.com/skills/test-with-actions" TargetMode="External"/><Relationship Id="rId2" Type="http://schemas.openxmlformats.org/officeDocument/2006/relationships/notesSlide" Target="../notesSlides/notesSlide53.xml"/><Relationship Id="rId1" Type="http://schemas.openxmlformats.org/officeDocument/2006/relationships/slideLayout" Target="../slideLayouts/slideLayout16.xml"/><Relationship Id="rId5" Type="http://schemas.openxmlformats.org/officeDocument/2006/relationships/image" Target="../media/image33.svg"/><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1" y="2992149"/>
            <a:ext cx="5748827" cy="1667957"/>
          </a:xfrm>
        </p:spPr>
        <p:txBody>
          <a:bodyPr/>
          <a:lstStyle/>
          <a:p>
            <a:r>
              <a:rPr lang="en-US" dirty="0">
                <a:latin typeface="Quattrocento Sans" panose="020B0502050000020003" pitchFamily="34" charset="0"/>
              </a:rPr>
              <a:t>GH-200: Automate your workflow with GitHub Actions Part 1 of 2</a:t>
            </a:r>
            <a:endParaRPr lang="en-US" sz="3600" dirty="0">
              <a:latin typeface="Quattrocento Sans" panose="020B0502050000020003" pitchFamily="34" charset="0"/>
            </a:endParaRP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a:xfrm>
            <a:off x="569911" y="5681324"/>
            <a:ext cx="7434032" cy="250903"/>
          </a:xfrm>
        </p:spPr>
        <p:txBody>
          <a:bodyPr/>
          <a:lstStyle/>
          <a:p>
            <a:r>
              <a:rPr lang="en-US" sz="1800" dirty="0">
                <a:latin typeface="Quattrocento Sans" panose="020B0502050000020003" pitchFamily="34" charset="0"/>
                <a:hlinkClick r:id="rId3">
                  <a:extLst>
                    <a:ext uri="{A12FA001-AC4F-418D-AE19-62706E023703}">
                      <ahyp:hlinkClr xmlns:ahyp="http://schemas.microsoft.com/office/drawing/2018/hyperlinkcolor" val="tx"/>
                    </a:ext>
                  </a:extLst>
                </a:hlinkClick>
              </a:rPr>
              <a:t>GH-200: Automate your workflow with GitHub Actions Part 1 of 2</a:t>
            </a:r>
            <a:endParaRPr lang="en-US" sz="18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B4842410-2607-E871-3A7B-A6BFCD364DD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0468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332206"/>
            <a:ext cx="6345239" cy="1667957"/>
          </a:xfrm>
        </p:spPr>
        <p:txBody>
          <a:bodyPr/>
          <a:lstStyle/>
          <a:p>
            <a:r>
              <a:rPr lang="en-US" dirty="0">
                <a:latin typeface="Quattrocento Sans" panose="020B0502050000020003" pitchFamily="34" charset="0"/>
              </a:rPr>
              <a:t>Module 2:  Build continuous integration (CI) workflows by using GitHub Actions </a:t>
            </a:r>
          </a:p>
        </p:txBody>
      </p:sp>
      <p:sp>
        <p:nvSpPr>
          <p:cNvPr id="2" name="Rectangle 1">
            <a:extLst>
              <a:ext uri="{FF2B5EF4-FFF2-40B4-BE49-F238E27FC236}">
                <a16:creationId xmlns:a16="http://schemas.microsoft.com/office/drawing/2014/main" id="{AAB7FFCE-6487-F91B-58CE-9BC1E7AA76E9}"/>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D2B19A9A-3D8F-0FA5-9D68-D7FBEDB2941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5">
            <a:extLst>
              <a:ext uri="{FF2B5EF4-FFF2-40B4-BE49-F238E27FC236}">
                <a16:creationId xmlns:a16="http://schemas.microsoft.com/office/drawing/2014/main" id="{069BC8C8-2CF6-9B7C-E605-EA01F8A1CB3B}"/>
              </a:ext>
            </a:extLst>
          </p:cNvPr>
          <p:cNvSpPr txBox="1">
            <a:spLocks/>
          </p:cNvSpPr>
          <p:nvPr/>
        </p:nvSpPr>
        <p:spPr>
          <a:xfrm>
            <a:off x="569911" y="5570675"/>
            <a:ext cx="7434032" cy="5010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Quattrocento Sans" panose="020B0502050000020003" pitchFamily="34" charset="0"/>
              <a:hlinkClick r:id="rId3">
                <a:extLst>
                  <a:ext uri="{A12FA001-AC4F-418D-AE19-62706E023703}">
                    <ahyp:hlinkClr xmlns:ahyp="http://schemas.microsoft.com/office/drawing/2018/hyperlinkcolor" val="tx"/>
                  </a:ext>
                </a:extLst>
              </a:hlinkClick>
            </a:endParaRPr>
          </a:p>
        </p:txBody>
      </p:sp>
      <p:sp>
        <p:nvSpPr>
          <p:cNvPr id="6" name="Text Placeholder 5">
            <a:extLst>
              <a:ext uri="{FF2B5EF4-FFF2-40B4-BE49-F238E27FC236}">
                <a16:creationId xmlns:a16="http://schemas.microsoft.com/office/drawing/2014/main" id="{EF7C51BB-3258-4B78-DAC5-65709610A1D2}"/>
              </a:ext>
            </a:extLst>
          </p:cNvPr>
          <p:cNvSpPr txBox="1">
            <a:spLocks/>
          </p:cNvSpPr>
          <p:nvPr/>
        </p:nvSpPr>
        <p:spPr>
          <a:xfrm>
            <a:off x="569911" y="5681324"/>
            <a:ext cx="6582729" cy="5010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Quattrocento Sans" panose="020B0502050000020003" pitchFamily="34" charset="0"/>
                <a:hlinkClick r:id="rId4">
                  <a:extLst>
                    <a:ext uri="{A12FA001-AC4F-418D-AE19-62706E023703}">
                      <ahyp:hlinkClr xmlns:ahyp="http://schemas.microsoft.com/office/drawing/2018/hyperlinkcolor" val="tx"/>
                    </a:ext>
                  </a:extLst>
                </a:hlinkClick>
              </a:rPr>
              <a:t>GH-200:  Build continuous integration (CI) workflows by using GitHub Actions </a:t>
            </a:r>
            <a:endParaRPr lang="en-US" sz="2400" dirty="0">
              <a:latin typeface="Quattrocento Sans" panose="020B0502050000020003" pitchFamily="34" charset="0"/>
            </a:endParaRP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Introduction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2657" y="1498282"/>
            <a:ext cx="10384538"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latin typeface="Quattrocento Sans" panose="020B0502050000020003" pitchFamily="34" charset="0"/>
              </a:rPr>
              <a:t>In this module, you’ll learn how to implement continuous integration (CI) using GitHub Actions to automatically build and test your code with every commit. By integrating CI into your GitHub repository, your team can catch issues early and deliver new features faster.</a:t>
            </a:r>
          </a:p>
        </p:txBody>
      </p:sp>
      <p:sp>
        <p:nvSpPr>
          <p:cNvPr id="7" name="TextBox 6">
            <a:extLst>
              <a:ext uri="{FF2B5EF4-FFF2-40B4-BE49-F238E27FC236}">
                <a16:creationId xmlns:a16="http://schemas.microsoft.com/office/drawing/2014/main" id="{6AF3F449-AFE6-897F-FE61-E28EC8F3FEFB}"/>
              </a:ext>
            </a:extLst>
          </p:cNvPr>
          <p:cNvSpPr txBox="1"/>
          <p:nvPr/>
        </p:nvSpPr>
        <p:spPr>
          <a:xfrm>
            <a:off x="652657" y="2840434"/>
            <a:ext cx="10049856" cy="800219"/>
          </a:xfrm>
          <a:prstGeom prst="rect">
            <a:avLst/>
          </a:prstGeom>
          <a:noFill/>
        </p:spPr>
        <p:txBody>
          <a:bodyPr wrap="square" lIns="0" tIns="0" rIns="0" bIns="0" rtlCol="0">
            <a:spAutoFit/>
          </a:bodyPr>
          <a:lstStyle/>
          <a:p>
            <a:pPr algn="l"/>
            <a:r>
              <a:rPr lang="en-US" sz="2400" dirty="0">
                <a:latin typeface="Quattrocento Sans" panose="020B0502050000020003" pitchFamily="34" charset="0"/>
                <a:cs typeface="Segoe UI" panose="020B0502040204020203" pitchFamily="34" charset="0"/>
              </a:rPr>
              <a:t>By the end of this unit, you'll be able to:</a:t>
            </a:r>
          </a:p>
          <a:p>
            <a:pPr algn="l"/>
            <a:endParaRPr lang="en-US" sz="2800" dirty="0">
              <a:latin typeface="Quattrocento Sans" panose="020B0502050000020003" pitchFamily="34" charset="0"/>
              <a:cs typeface="Segoe UI" panose="020B0502040204020203" pitchFamily="34" charset="0"/>
            </a:endParaRPr>
          </a:p>
        </p:txBody>
      </p:sp>
      <p:sp>
        <p:nvSpPr>
          <p:cNvPr id="9" name="TextBox 8">
            <a:extLst>
              <a:ext uri="{FF2B5EF4-FFF2-40B4-BE49-F238E27FC236}">
                <a16:creationId xmlns:a16="http://schemas.microsoft.com/office/drawing/2014/main" id="{9BE325B2-D04E-CD42-D966-4B58FFB3A17E}"/>
              </a:ext>
            </a:extLst>
          </p:cNvPr>
          <p:cNvSpPr txBox="1"/>
          <p:nvPr/>
        </p:nvSpPr>
        <p:spPr>
          <a:xfrm>
            <a:off x="652657" y="3429000"/>
            <a:ext cx="9858608" cy="1323439"/>
          </a:xfrm>
          <a:prstGeom prst="rect">
            <a:avLst/>
          </a:prstGeom>
          <a:noFill/>
        </p:spPr>
        <p:txBody>
          <a:bodyPr wrap="square">
            <a:spAutoFit/>
          </a:bodyPr>
          <a:lstStyle/>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Build and test a Node.js project by using GitHub Actions and a templated workflow.</a:t>
            </a:r>
          </a:p>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Debug a failed test using the GitHub Actions Log.</a:t>
            </a:r>
          </a:p>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Customize your workflow with GitHub Actions.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0947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Create a workflow from a template</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900254" y="2444341"/>
            <a:ext cx="1891024" cy="1733615"/>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900254" y="2608296"/>
            <a:ext cx="1891024" cy="1569660"/>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On the main page of your repository, select the </a:t>
            </a:r>
            <a:r>
              <a:rPr lang="en-US" sz="1600" b="1" i="0" dirty="0">
                <a:solidFill>
                  <a:srgbClr val="161616"/>
                </a:solidFill>
                <a:effectLst/>
                <a:latin typeface="Quattrocento Sans" panose="020B0502050000020003" pitchFamily="34" charset="0"/>
              </a:rPr>
              <a:t>Actions</a:t>
            </a:r>
            <a:r>
              <a:rPr lang="en-US" sz="1600" b="0" i="0" dirty="0">
                <a:solidFill>
                  <a:srgbClr val="161616"/>
                </a:solidFill>
                <a:effectLst/>
                <a:latin typeface="Quattrocento Sans" panose="020B0502050000020003" pitchFamily="34" charset="0"/>
              </a:rPr>
              <a:t> tab and then select </a:t>
            </a:r>
            <a:r>
              <a:rPr lang="en-US" sz="1600" b="1" i="0" dirty="0">
                <a:solidFill>
                  <a:srgbClr val="161616"/>
                </a:solidFill>
                <a:effectLst/>
                <a:latin typeface="Quattrocento Sans" panose="020B0502050000020003" pitchFamily="34" charset="0"/>
              </a:rPr>
              <a:t>New workflow</a:t>
            </a:r>
            <a:r>
              <a:rPr lang="en-US" sz="1600" b="0" i="0" dirty="0">
                <a:solidFill>
                  <a:srgbClr val="161616"/>
                </a:solidFill>
                <a:effectLst/>
                <a:latin typeface="Quattrocento Sans" panose="020B0502050000020003" pitchFamily="34" charset="0"/>
              </a:rPr>
              <a:t>.</a:t>
            </a:r>
          </a:p>
          <a:p>
            <a:pPr algn="just"/>
            <a:endParaRPr lang="en-US" sz="1600" b="0" i="0" dirty="0">
              <a:solidFill>
                <a:srgbClr val="161616"/>
              </a:solidFill>
              <a:effectLst/>
              <a:latin typeface="Quattrocento Sans" panose="020B0502050000020003" pitchFamily="34" charset="0"/>
            </a:endParaRPr>
          </a:p>
        </p:txBody>
      </p:sp>
      <p:sp>
        <p:nvSpPr>
          <p:cNvPr id="18" name="Rectangle 17">
            <a:extLst>
              <a:ext uri="{FF2B5EF4-FFF2-40B4-BE49-F238E27FC236}">
                <a16:creationId xmlns:a16="http://schemas.microsoft.com/office/drawing/2014/main" id="{D112965E-9E60-4F9C-A92E-602A93804B31}"/>
              </a:ext>
            </a:extLst>
          </p:cNvPr>
          <p:cNvSpPr>
            <a:spLocks/>
          </p:cNvSpPr>
          <p:nvPr/>
        </p:nvSpPr>
        <p:spPr>
          <a:xfrm>
            <a:off x="3166016" y="2455897"/>
            <a:ext cx="3159290" cy="3590702"/>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1" name="TextBox 20">
            <a:extLst>
              <a:ext uri="{FF2B5EF4-FFF2-40B4-BE49-F238E27FC236}">
                <a16:creationId xmlns:a16="http://schemas.microsoft.com/office/drawing/2014/main" id="{2E6695B6-E71F-2F9A-582E-2F4B8865116E}"/>
              </a:ext>
            </a:extLst>
          </p:cNvPr>
          <p:cNvSpPr txBox="1"/>
          <p:nvPr/>
        </p:nvSpPr>
        <p:spPr>
          <a:xfrm>
            <a:off x="3207164" y="2608296"/>
            <a:ext cx="3076995" cy="3293209"/>
          </a:xfrm>
          <a:prstGeom prst="rect">
            <a:avLst/>
          </a:prstGeom>
          <a:noFill/>
        </p:spPr>
        <p:txBody>
          <a:bodyPr wrap="square" rtlCol="0">
            <a:spAutoFit/>
          </a:bodyPr>
          <a:lstStyle/>
          <a:p>
            <a:pPr algn="just"/>
            <a:r>
              <a:rPr lang="en-US" sz="1600" i="0" dirty="0">
                <a:solidFill>
                  <a:srgbClr val="161616"/>
                </a:solidFill>
                <a:effectLst/>
                <a:latin typeface="Quattrocento Sans" panose="020B0502050000020003" pitchFamily="34" charset="0"/>
              </a:rPr>
              <a:t>On the </a:t>
            </a:r>
            <a:r>
              <a:rPr lang="en-US" sz="1600" b="1" i="0" dirty="0">
                <a:solidFill>
                  <a:srgbClr val="161616"/>
                </a:solidFill>
                <a:effectLst/>
                <a:latin typeface="Quattrocento Sans" panose="020B0502050000020003" pitchFamily="34" charset="0"/>
              </a:rPr>
              <a:t>Choose a workflow </a:t>
            </a:r>
            <a:r>
              <a:rPr lang="en-US" sz="1600" i="0" dirty="0">
                <a:solidFill>
                  <a:srgbClr val="161616"/>
                </a:solidFill>
                <a:effectLst/>
                <a:latin typeface="Quattrocento Sans" panose="020B0502050000020003" pitchFamily="34" charset="0"/>
              </a:rPr>
              <a:t>page, you can choose from many different templates. One example is the Node.js template, which does a clean install of node dependencies, builds the source code, and runs tests for different versions of Node. Another example is the Python package template, which installs Python dependencies, and runs tests, including lint, across different versions of Python.</a:t>
            </a:r>
          </a:p>
        </p:txBody>
      </p:sp>
      <p:sp>
        <p:nvSpPr>
          <p:cNvPr id="22" name="Rectangle 21">
            <a:extLst>
              <a:ext uri="{FF2B5EF4-FFF2-40B4-BE49-F238E27FC236}">
                <a16:creationId xmlns:a16="http://schemas.microsoft.com/office/drawing/2014/main" id="{5635AB01-1EA6-59E6-2D8F-EC1B1BE15C5D}"/>
              </a:ext>
            </a:extLst>
          </p:cNvPr>
          <p:cNvSpPr>
            <a:spLocks/>
          </p:cNvSpPr>
          <p:nvPr/>
        </p:nvSpPr>
        <p:spPr>
          <a:xfrm>
            <a:off x="6700044" y="2444341"/>
            <a:ext cx="5015972" cy="3200876"/>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4" name="TextBox 23">
            <a:extLst>
              <a:ext uri="{FF2B5EF4-FFF2-40B4-BE49-F238E27FC236}">
                <a16:creationId xmlns:a16="http://schemas.microsoft.com/office/drawing/2014/main" id="{951D0793-2928-1CED-F1CE-4F18A3B552CA}"/>
              </a:ext>
            </a:extLst>
          </p:cNvPr>
          <p:cNvSpPr txBox="1"/>
          <p:nvPr/>
        </p:nvSpPr>
        <p:spPr>
          <a:xfrm>
            <a:off x="7070694" y="2650812"/>
            <a:ext cx="3660609" cy="338554"/>
          </a:xfrm>
          <a:prstGeom prst="rect">
            <a:avLst/>
          </a:prstGeom>
          <a:noFill/>
        </p:spPr>
        <p:txBody>
          <a:bodyPr wrap="square" rtlCol="0">
            <a:spAutoFit/>
          </a:bodyPr>
          <a:lstStyle/>
          <a:p>
            <a:pPr algn="just">
              <a:spcAft>
                <a:spcPts val="1200"/>
              </a:spcAft>
            </a:pPr>
            <a:r>
              <a:rPr lang="en-US" sz="1600" i="0" dirty="0">
                <a:effectLst/>
                <a:latin typeface="Quattrocento Sans" panose="020B0502050000020003" pitchFamily="34" charset="0"/>
              </a:rPr>
              <a:t>In the search box, enter </a:t>
            </a:r>
            <a:r>
              <a:rPr lang="en-US" sz="1600" b="1" i="0" dirty="0">
                <a:effectLst/>
                <a:latin typeface="Quattrocento Sans" panose="020B0502050000020003" pitchFamily="34" charset="0"/>
              </a:rPr>
              <a:t>Node.js</a:t>
            </a:r>
            <a:r>
              <a:rPr lang="en-US" sz="1600" i="0" dirty="0">
                <a:effectLst/>
                <a:latin typeface="Quattrocento Sans" panose="020B0502050000020003" pitchFamily="34" charset="0"/>
              </a:rPr>
              <a:t>.</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83435" y="1154184"/>
            <a:ext cx="11025129"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To create a workflow, start with a template that includes common preconfigured jobs and steps. If you're new to workflows, jobs, and steps, check out the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Automate development tasks by using GitHub Actions</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module.</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026" name="Picture 2" descr="Screenshot showing GitHub Actions tab with the search box highlighted and containing the text 'Node.js'.">
            <a:extLst>
              <a:ext uri="{FF2B5EF4-FFF2-40B4-BE49-F238E27FC236}">
                <a16:creationId xmlns:a16="http://schemas.microsoft.com/office/drawing/2014/main" id="{C06B1567-B242-1175-2307-93C0E7229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0044" y="3064211"/>
            <a:ext cx="5015972" cy="260595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9141CB8-CA88-374B-3D37-4E1928610044}"/>
              </a:ext>
            </a:extLst>
          </p:cNvPr>
          <p:cNvSpPr/>
          <p:nvPr/>
        </p:nvSpPr>
        <p:spPr>
          <a:xfrm>
            <a:off x="1147156" y="1961804"/>
            <a:ext cx="1379913" cy="3491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5F226E6-4313-0D16-15B3-C104C6C69129}"/>
              </a:ext>
            </a:extLst>
          </p:cNvPr>
          <p:cNvSpPr/>
          <p:nvPr/>
        </p:nvSpPr>
        <p:spPr>
          <a:xfrm>
            <a:off x="4040793" y="1919521"/>
            <a:ext cx="1379913" cy="3491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8D7741-9B62-57AC-A96F-3FEF7CE68278}"/>
              </a:ext>
            </a:extLst>
          </p:cNvPr>
          <p:cNvSpPr/>
          <p:nvPr/>
        </p:nvSpPr>
        <p:spPr>
          <a:xfrm>
            <a:off x="8518073" y="1923164"/>
            <a:ext cx="1379913" cy="3491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descr="Badge 1 with solid fill">
            <a:extLst>
              <a:ext uri="{FF2B5EF4-FFF2-40B4-BE49-F238E27FC236}">
                <a16:creationId xmlns:a16="http://schemas.microsoft.com/office/drawing/2014/main" id="{505A3738-BE38-9C47-0BCF-C7FC93E172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73264" y="1766378"/>
            <a:ext cx="727696" cy="727696"/>
          </a:xfrm>
          <a:prstGeom prst="rect">
            <a:avLst/>
          </a:prstGeom>
        </p:spPr>
      </p:pic>
      <p:pic>
        <p:nvPicPr>
          <p:cNvPr id="23" name="Graphic 22" descr="Badge with solid fill">
            <a:extLst>
              <a:ext uri="{FF2B5EF4-FFF2-40B4-BE49-F238E27FC236}">
                <a16:creationId xmlns:a16="http://schemas.microsoft.com/office/drawing/2014/main" id="{C0EE5E47-42BA-2216-9C16-6590BBBB7F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66902" y="1766378"/>
            <a:ext cx="727696" cy="727696"/>
          </a:xfrm>
          <a:prstGeom prst="rect">
            <a:avLst/>
          </a:prstGeom>
        </p:spPr>
      </p:pic>
      <p:pic>
        <p:nvPicPr>
          <p:cNvPr id="27" name="Graphic 26" descr="Badge 3 with solid fill">
            <a:extLst>
              <a:ext uri="{FF2B5EF4-FFF2-40B4-BE49-F238E27FC236}">
                <a16:creationId xmlns:a16="http://schemas.microsoft.com/office/drawing/2014/main" id="{D6A7D4C7-DAEE-641A-6589-CC70CB28BF5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44181" y="1763613"/>
            <a:ext cx="727696" cy="727696"/>
          </a:xfrm>
          <a:prstGeom prst="rect">
            <a:avLst/>
          </a:prstGeom>
        </p:spPr>
      </p:pic>
    </p:spTree>
    <p:extLst>
      <p:ext uri="{BB962C8B-B14F-4D97-AF65-F5344CB8AC3E}">
        <p14:creationId xmlns:p14="http://schemas.microsoft.com/office/powerpoint/2010/main" val="297406764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168950FE-E73B-7829-FBA2-84911FE09AD8}"/>
              </a:ext>
            </a:extLst>
          </p:cNvPr>
          <p:cNvSpPr/>
          <p:nvPr/>
        </p:nvSpPr>
        <p:spPr>
          <a:xfrm>
            <a:off x="2764229" y="1403969"/>
            <a:ext cx="1110435" cy="104689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A7EC4E-91F5-F553-47A6-625A8EB73911}"/>
              </a:ext>
            </a:extLst>
          </p:cNvPr>
          <p:cNvSpPr/>
          <p:nvPr/>
        </p:nvSpPr>
        <p:spPr>
          <a:xfrm>
            <a:off x="612240" y="1931173"/>
            <a:ext cx="5250181" cy="40667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p:cNvSpPr>
            <a:spLocks noGrp="1"/>
          </p:cNvSpPr>
          <p:nvPr>
            <p:ph type="title"/>
          </p:nvPr>
        </p:nvSpPr>
        <p:spPr>
          <a:xfrm>
            <a:off x="579438" y="659758"/>
            <a:ext cx="5130493" cy="492443"/>
          </a:xfrm>
        </p:spPr>
        <p:txBody>
          <a:bodyPr>
            <a:normAutofit fontScale="90000"/>
          </a:bodyPr>
          <a:lstStyle/>
          <a:p>
            <a:r>
              <a:rPr lang="en-US" sz="3200" dirty="0">
                <a:latin typeface="Quattrocento Sans" panose="020B0502050000020003" pitchFamily="34" charset="0"/>
              </a:rPr>
              <a:t>Create a workflow from a template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735219" y="2133298"/>
            <a:ext cx="4974712" cy="90980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sz="2000" b="0" i="0" dirty="0">
                <a:solidFill>
                  <a:srgbClr val="161616"/>
                </a:solidFill>
                <a:effectLst/>
                <a:latin typeface="Quattrocento Sans" panose="020B0502050000020003" pitchFamily="34" charset="0"/>
                <a:ea typeface="Roboto Mono" pitchFamily="49" charset="0"/>
              </a:rPr>
              <a:t>In the search results, in the Node.js pane, select </a:t>
            </a:r>
            <a:r>
              <a:rPr lang="en-US" sz="2000" b="1" i="0" dirty="0">
                <a:solidFill>
                  <a:srgbClr val="161616"/>
                </a:solidFill>
                <a:effectLst/>
                <a:latin typeface="Quattrocento Sans" panose="020B0502050000020003" pitchFamily="34" charset="0"/>
                <a:ea typeface="Roboto Mono" pitchFamily="49" charset="0"/>
              </a:rPr>
              <a:t>Configure</a:t>
            </a:r>
            <a:r>
              <a:rPr lang="en-US" sz="2000" b="0" i="0" dirty="0">
                <a:solidFill>
                  <a:srgbClr val="161616"/>
                </a:solidFill>
                <a:effectLst/>
                <a:latin typeface="Quattrocento Sans" panose="020B0502050000020003" pitchFamily="34" charset="0"/>
                <a:ea typeface="Roboto Mono" pitchFamily="49" charset="0"/>
              </a:rPr>
              <a:t>.</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pic>
        <p:nvPicPr>
          <p:cNvPr id="2050" name="Picture 2" descr="Screenshot showing GitHub Actions tab with the Node.js pane highlighted and the Node.js template selected.">
            <a:extLst>
              <a:ext uri="{FF2B5EF4-FFF2-40B4-BE49-F238E27FC236}">
                <a16:creationId xmlns:a16="http://schemas.microsoft.com/office/drawing/2014/main" id="{CD5BAA11-C2F9-76B3-BAD9-48DF20E9A6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40" y="2673833"/>
            <a:ext cx="5217379" cy="3006413"/>
          </a:xfrm>
          <a:prstGeom prst="rect">
            <a:avLst/>
          </a:prstGeom>
          <a:noFill/>
          <a:extLst>
            <a:ext uri="{909E8E84-426E-40DD-AFC4-6F175D3DCCD1}">
              <a14:hiddenFill xmlns:a14="http://schemas.microsoft.com/office/drawing/2010/main">
                <a:solidFill>
                  <a:srgbClr val="FFFFFF"/>
                </a:solidFill>
              </a14:hiddenFill>
            </a:ext>
          </a:extLst>
        </p:spPr>
      </p:pic>
      <p:pic>
        <p:nvPicPr>
          <p:cNvPr id="7" name="Graphic 6" descr="Badge 4 with solid fill">
            <a:extLst>
              <a:ext uri="{FF2B5EF4-FFF2-40B4-BE49-F238E27FC236}">
                <a16:creationId xmlns:a16="http://schemas.microsoft.com/office/drawing/2014/main" id="{BBCB3E3A-BAC3-0D12-3302-1718B12378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29170" y="1481628"/>
            <a:ext cx="580555" cy="580555"/>
          </a:xfrm>
          <a:prstGeom prst="rect">
            <a:avLst/>
          </a:prstGeom>
        </p:spPr>
      </p:pic>
      <p:sp>
        <p:nvSpPr>
          <p:cNvPr id="10" name="Oval 9">
            <a:extLst>
              <a:ext uri="{FF2B5EF4-FFF2-40B4-BE49-F238E27FC236}">
                <a16:creationId xmlns:a16="http://schemas.microsoft.com/office/drawing/2014/main" id="{D2FFB925-9D7A-C542-5FFE-4E449A64EFE5}"/>
              </a:ext>
            </a:extLst>
          </p:cNvPr>
          <p:cNvSpPr/>
          <p:nvPr/>
        </p:nvSpPr>
        <p:spPr>
          <a:xfrm>
            <a:off x="8400633" y="152801"/>
            <a:ext cx="1110435" cy="104689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0297822-47C4-6410-64E8-094899E5DB51}"/>
              </a:ext>
            </a:extLst>
          </p:cNvPr>
          <p:cNvSpPr/>
          <p:nvPr/>
        </p:nvSpPr>
        <p:spPr>
          <a:xfrm>
            <a:off x="6095359" y="655392"/>
            <a:ext cx="5671733" cy="598721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2">
            <a:extLst>
              <a:ext uri="{FF2B5EF4-FFF2-40B4-BE49-F238E27FC236}">
                <a16:creationId xmlns:a16="http://schemas.microsoft.com/office/drawing/2014/main" id="{2CE370C0-B00E-BF8C-A067-500EAF119D82}"/>
              </a:ext>
            </a:extLst>
          </p:cNvPr>
          <p:cNvSpPr txBox="1">
            <a:spLocks/>
          </p:cNvSpPr>
          <p:nvPr/>
        </p:nvSpPr>
        <p:spPr>
          <a:xfrm>
            <a:off x="6218338" y="647269"/>
            <a:ext cx="5425774" cy="80670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sz="2000" b="0" i="0" dirty="0">
                <a:solidFill>
                  <a:srgbClr val="161616"/>
                </a:solidFill>
                <a:effectLst/>
                <a:latin typeface="Quattrocento Sans" panose="020B0502050000020003" pitchFamily="34" charset="0"/>
                <a:ea typeface="Roboto Mono" pitchFamily="49" charset="0"/>
              </a:rPr>
              <a:t>You see this default Node.js template workflow, in the newly created file </a:t>
            </a:r>
            <a:r>
              <a:rPr lang="en-US" sz="2000" b="0" i="0" dirty="0" err="1">
                <a:solidFill>
                  <a:srgbClr val="161616"/>
                </a:solidFill>
                <a:effectLst/>
                <a:latin typeface="Quattrocento Sans" panose="020B0502050000020003" pitchFamily="34" charset="0"/>
                <a:ea typeface="Roboto Mono" pitchFamily="49" charset="0"/>
              </a:rPr>
              <a:t>node.js.yml</a:t>
            </a:r>
            <a:r>
              <a:rPr lang="en-US" sz="2000" b="0" i="0" dirty="0">
                <a:solidFill>
                  <a:srgbClr val="161616"/>
                </a:solidFill>
                <a:effectLst/>
                <a:latin typeface="Quattrocento Sans" panose="020B0502050000020003" pitchFamily="34" charset="0"/>
                <a:ea typeface="Roboto Mono" pitchFamily="49" charset="0"/>
              </a:rPr>
              <a:t>.</a:t>
            </a:r>
          </a:p>
        </p:txBody>
      </p:sp>
      <p:sp>
        <p:nvSpPr>
          <p:cNvPr id="15" name="Rectangle 14">
            <a:extLst>
              <a:ext uri="{FF2B5EF4-FFF2-40B4-BE49-F238E27FC236}">
                <a16:creationId xmlns:a16="http://schemas.microsoft.com/office/drawing/2014/main" id="{4B25054A-BB21-D2AB-D003-62AEFD31F646}"/>
              </a:ext>
            </a:extLst>
          </p:cNvPr>
          <p:cNvSpPr/>
          <p:nvPr/>
        </p:nvSpPr>
        <p:spPr>
          <a:xfrm>
            <a:off x="6247849" y="1403969"/>
            <a:ext cx="5376522" cy="513079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2">
            <a:extLst>
              <a:ext uri="{FF2B5EF4-FFF2-40B4-BE49-F238E27FC236}">
                <a16:creationId xmlns:a16="http://schemas.microsoft.com/office/drawing/2014/main" id="{741E4230-65CF-C0D1-ECF2-206269A4B1A7}"/>
              </a:ext>
            </a:extLst>
          </p:cNvPr>
          <p:cNvSpPr txBox="1">
            <a:spLocks/>
          </p:cNvSpPr>
          <p:nvPr/>
        </p:nvSpPr>
        <p:spPr>
          <a:xfrm>
            <a:off x="6537944" y="2493157"/>
            <a:ext cx="5416988" cy="296087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name: </a:t>
            </a:r>
            <a:r>
              <a:rPr lang="en-US" sz="1200" dirty="0">
                <a:solidFill>
                  <a:srgbClr val="FC6E70"/>
                </a:solidFill>
                <a:latin typeface="Roboto Mono" pitchFamily="49" charset="0"/>
                <a:ea typeface="Roboto Mono" pitchFamily="49" charset="0"/>
              </a:rPr>
              <a:t>Node.js CI</a:t>
            </a:r>
          </a:p>
          <a:p>
            <a:pPr marL="0" indent="0">
              <a:spcBef>
                <a:spcPts val="0"/>
              </a:spcBef>
              <a:buNone/>
            </a:pPr>
            <a:endParaRPr lang="en-US" sz="12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push:</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branches: </a:t>
            </a:r>
            <a:r>
              <a:rPr lang="en-US" sz="1200" dirty="0">
                <a:solidFill>
                  <a:srgbClr val="FC6E70"/>
                </a:solidFill>
                <a:latin typeface="Roboto Mono" pitchFamily="49" charset="0"/>
                <a:ea typeface="Roboto Mono" pitchFamily="49" charset="0"/>
              </a:rPr>
              <a:t>[ "main" ]</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a:t>
            </a:r>
            <a:r>
              <a:rPr lang="en-US" sz="1200" dirty="0" err="1">
                <a:solidFill>
                  <a:schemeClr val="tx2">
                    <a:lumMod val="50000"/>
                    <a:lumOff val="50000"/>
                  </a:schemeClr>
                </a:solidFill>
                <a:latin typeface="Roboto Mono" pitchFamily="49" charset="0"/>
                <a:ea typeface="Roboto Mono" pitchFamily="49" charset="0"/>
              </a:rPr>
              <a:t>pull_request</a:t>
            </a:r>
            <a:r>
              <a:rPr lang="en-US" sz="1200"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branches: </a:t>
            </a:r>
            <a:r>
              <a:rPr lang="en-US" sz="1200" dirty="0">
                <a:solidFill>
                  <a:srgbClr val="FC6E70"/>
                </a:solidFill>
                <a:latin typeface="Roboto Mono" pitchFamily="49" charset="0"/>
                <a:ea typeface="Roboto Mono" pitchFamily="49" charset="0"/>
              </a:rPr>
              <a:t>[ "main" ]</a:t>
            </a:r>
          </a:p>
          <a:p>
            <a:pPr marL="0" indent="0">
              <a:spcBef>
                <a:spcPts val="0"/>
              </a:spcBef>
              <a:buNone/>
            </a:pPr>
            <a:endParaRPr lang="en-US" sz="12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build:</a:t>
            </a:r>
          </a:p>
          <a:p>
            <a:pPr marL="0" indent="0">
              <a:spcBef>
                <a:spcPts val="0"/>
              </a:spcBef>
              <a:buNone/>
            </a:pPr>
            <a:endParaRPr lang="en-US" sz="12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runs-on: </a:t>
            </a:r>
            <a:r>
              <a:rPr lang="en-US" sz="1200" dirty="0">
                <a:solidFill>
                  <a:srgbClr val="FC6E70"/>
                </a:solidFill>
                <a:latin typeface="Roboto Mono" pitchFamily="49" charset="0"/>
                <a:ea typeface="Roboto Mono" pitchFamily="49" charset="0"/>
              </a:rPr>
              <a:t>ubuntu-latest</a:t>
            </a:r>
          </a:p>
          <a:p>
            <a:pPr marL="0" indent="0">
              <a:spcBef>
                <a:spcPts val="0"/>
              </a:spcBef>
              <a:buNone/>
            </a:pPr>
            <a:endParaRPr lang="en-US" sz="12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strategy:</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matrix:</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node-version: </a:t>
            </a:r>
            <a:r>
              <a:rPr lang="en-US" sz="1200" dirty="0">
                <a:solidFill>
                  <a:srgbClr val="FC6E70"/>
                </a:solidFill>
                <a:latin typeface="Roboto Mono" pitchFamily="49" charset="0"/>
                <a:ea typeface="Roboto Mono" pitchFamily="49" charset="0"/>
              </a:rPr>
              <a:t>[14.x</a:t>
            </a:r>
            <a:r>
              <a:rPr lang="en-US" sz="1200" dirty="0">
                <a:solidFill>
                  <a:schemeClr val="tx2">
                    <a:lumMod val="50000"/>
                    <a:lumOff val="50000"/>
                  </a:schemeClr>
                </a:solidFill>
                <a:latin typeface="Roboto Mono" pitchFamily="49" charset="0"/>
                <a:ea typeface="Roboto Mono" pitchFamily="49" charset="0"/>
              </a:rPr>
              <a:t>, 16.</a:t>
            </a:r>
            <a:r>
              <a:rPr lang="en-US" sz="1200" dirty="0">
                <a:solidFill>
                  <a:srgbClr val="FC6E70"/>
                </a:solidFill>
                <a:latin typeface="Roboto Mono" pitchFamily="49" charset="0"/>
                <a:ea typeface="Roboto Mono" pitchFamily="49" charset="0"/>
              </a:rPr>
              <a:t>x</a:t>
            </a:r>
            <a:r>
              <a:rPr lang="en-US" sz="1200" dirty="0">
                <a:solidFill>
                  <a:schemeClr val="tx2">
                    <a:lumMod val="50000"/>
                    <a:lumOff val="50000"/>
                  </a:schemeClr>
                </a:solidFill>
                <a:latin typeface="Roboto Mono" pitchFamily="49" charset="0"/>
                <a:ea typeface="Roboto Mono" pitchFamily="49" charset="0"/>
              </a:rPr>
              <a:t>, 18.</a:t>
            </a:r>
            <a:r>
              <a:rPr lang="en-US" sz="1200" dirty="0">
                <a:solidFill>
                  <a:srgbClr val="FC6E70"/>
                </a:solidFill>
                <a:latin typeface="Roboto Mono" pitchFamily="49" charset="0"/>
                <a:ea typeface="Roboto Mono" pitchFamily="49" charset="0"/>
              </a:rPr>
              <a:t>x]</a:t>
            </a:r>
          </a:p>
          <a:p>
            <a:pPr marL="0" indent="0">
              <a:spcBef>
                <a:spcPts val="0"/>
              </a:spcBef>
              <a:buNone/>
            </a:pPr>
            <a:endParaRPr lang="en-US" sz="12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 uses: </a:t>
            </a:r>
            <a:r>
              <a:rPr lang="en-US" sz="1200" dirty="0">
                <a:solidFill>
                  <a:srgbClr val="FC6E70"/>
                </a:solidFill>
                <a:latin typeface="Roboto Mono" pitchFamily="49" charset="0"/>
                <a:ea typeface="Roboto Mono" pitchFamily="49" charset="0"/>
              </a:rPr>
              <a:t>actions/checkout@v3</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 name: </a:t>
            </a:r>
            <a:r>
              <a:rPr lang="en-US" sz="1200" dirty="0">
                <a:solidFill>
                  <a:srgbClr val="FC6E70"/>
                </a:solidFill>
                <a:latin typeface="Roboto Mono" pitchFamily="49" charset="0"/>
                <a:ea typeface="Roboto Mono" pitchFamily="49" charset="0"/>
              </a:rPr>
              <a:t>Use Node.js ${{ </a:t>
            </a:r>
            <a:r>
              <a:rPr lang="en-US" sz="1200" dirty="0" err="1">
                <a:solidFill>
                  <a:srgbClr val="FC6E70"/>
                </a:solidFill>
                <a:latin typeface="Roboto Mono" pitchFamily="49" charset="0"/>
                <a:ea typeface="Roboto Mono" pitchFamily="49" charset="0"/>
              </a:rPr>
              <a:t>matrix.node</a:t>
            </a:r>
            <a:r>
              <a:rPr lang="en-US" sz="1200" dirty="0">
                <a:solidFill>
                  <a:srgbClr val="FC6E70"/>
                </a:solidFill>
                <a:latin typeface="Roboto Mono" pitchFamily="49" charset="0"/>
                <a:ea typeface="Roboto Mono" pitchFamily="49" charset="0"/>
              </a:rPr>
              <a:t>-version }}</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uses: </a:t>
            </a:r>
            <a:r>
              <a:rPr lang="en-US" sz="1200" dirty="0">
                <a:solidFill>
                  <a:srgbClr val="FC6E70"/>
                </a:solidFill>
                <a:latin typeface="Roboto Mono" pitchFamily="49" charset="0"/>
                <a:ea typeface="Roboto Mono" pitchFamily="49" charset="0"/>
              </a:rPr>
              <a:t>actions/setup-node@v3</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node-version: </a:t>
            </a:r>
            <a:r>
              <a:rPr lang="en-US" sz="1200" dirty="0">
                <a:solidFill>
                  <a:srgbClr val="FC6E70"/>
                </a:solidFill>
                <a:latin typeface="Roboto Mono" pitchFamily="49" charset="0"/>
                <a:ea typeface="Roboto Mono" pitchFamily="49" charset="0"/>
              </a:rPr>
              <a:t>${{ </a:t>
            </a:r>
            <a:r>
              <a:rPr lang="en-US" sz="1200" dirty="0" err="1">
                <a:solidFill>
                  <a:srgbClr val="FC6E70"/>
                </a:solidFill>
                <a:latin typeface="Roboto Mono" pitchFamily="49" charset="0"/>
                <a:ea typeface="Roboto Mono" pitchFamily="49" charset="0"/>
              </a:rPr>
              <a:t>matrix.node</a:t>
            </a:r>
            <a:r>
              <a:rPr lang="en-US" sz="1200" dirty="0">
                <a:solidFill>
                  <a:srgbClr val="FC6E70"/>
                </a:solidFill>
                <a:latin typeface="Roboto Mono" pitchFamily="49" charset="0"/>
                <a:ea typeface="Roboto Mono" pitchFamily="49" charset="0"/>
              </a:rPr>
              <a:t>-version }}</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cache: </a:t>
            </a:r>
            <a:r>
              <a:rPr lang="en-US" sz="1200" dirty="0">
                <a:solidFill>
                  <a:srgbClr val="FC6E70"/>
                </a:solidFill>
                <a:latin typeface="Roboto Mono" pitchFamily="49" charset="0"/>
                <a:ea typeface="Roboto Mono" pitchFamily="49" charset="0"/>
              </a:rPr>
              <a:t>'</a:t>
            </a:r>
            <a:r>
              <a:rPr lang="en-US" sz="1200" dirty="0" err="1">
                <a:solidFill>
                  <a:srgbClr val="FC6E70"/>
                </a:solidFill>
                <a:latin typeface="Roboto Mono" pitchFamily="49" charset="0"/>
                <a:ea typeface="Roboto Mono" pitchFamily="49" charset="0"/>
              </a:rPr>
              <a:t>npm</a:t>
            </a:r>
            <a:r>
              <a:rPr lang="en-US" sz="1200" dirty="0">
                <a:solidFill>
                  <a:srgbClr val="FC6E70"/>
                </a:solidFill>
                <a:latin typeface="Roboto Mono" pitchFamily="49" charset="0"/>
                <a:ea typeface="Roboto Mono" pitchFamily="49" charset="0"/>
              </a:rPr>
              <a:t>'</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 run: </a:t>
            </a:r>
            <a:r>
              <a:rPr lang="en-US" sz="1200" dirty="0" err="1">
                <a:solidFill>
                  <a:srgbClr val="FC6E70"/>
                </a:solidFill>
                <a:latin typeface="Roboto Mono" pitchFamily="49" charset="0"/>
                <a:ea typeface="Roboto Mono" pitchFamily="49" charset="0"/>
              </a:rPr>
              <a:t>npm</a:t>
            </a:r>
            <a:r>
              <a:rPr lang="en-US" sz="1200" dirty="0">
                <a:solidFill>
                  <a:srgbClr val="FC6E70"/>
                </a:solidFill>
                <a:latin typeface="Roboto Mono" pitchFamily="49" charset="0"/>
                <a:ea typeface="Roboto Mono" pitchFamily="49" charset="0"/>
              </a:rPr>
              <a:t> ci</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 run: </a:t>
            </a:r>
            <a:r>
              <a:rPr lang="en-US" sz="1200" dirty="0" err="1">
                <a:solidFill>
                  <a:srgbClr val="FC6E70"/>
                </a:solidFill>
                <a:latin typeface="Roboto Mono" pitchFamily="49" charset="0"/>
                <a:ea typeface="Roboto Mono" pitchFamily="49" charset="0"/>
              </a:rPr>
              <a:t>npm</a:t>
            </a:r>
            <a:r>
              <a:rPr lang="en-US" sz="1200" dirty="0">
                <a:solidFill>
                  <a:srgbClr val="FC6E70"/>
                </a:solidFill>
                <a:latin typeface="Roboto Mono" pitchFamily="49" charset="0"/>
                <a:ea typeface="Roboto Mono" pitchFamily="49" charset="0"/>
              </a:rPr>
              <a:t> run build </a:t>
            </a:r>
            <a:r>
              <a:rPr lang="en-US" sz="1200" dirty="0">
                <a:solidFill>
                  <a:schemeClr val="tx2">
                    <a:lumMod val="50000"/>
                    <a:lumOff val="50000"/>
                  </a:schemeClr>
                </a:solidFill>
                <a:latin typeface="Roboto Mono" pitchFamily="49" charset="0"/>
                <a:ea typeface="Roboto Mono" pitchFamily="49" charset="0"/>
              </a:rPr>
              <a:t>--if-present</a:t>
            </a:r>
          </a:p>
          <a:p>
            <a:pPr marL="0" indent="0">
              <a:spcBef>
                <a:spcPts val="0"/>
              </a:spcBef>
              <a:buNone/>
            </a:pPr>
            <a:r>
              <a:rPr lang="en-US" sz="1200" dirty="0">
                <a:solidFill>
                  <a:schemeClr val="tx2">
                    <a:lumMod val="50000"/>
                    <a:lumOff val="50000"/>
                  </a:schemeClr>
                </a:solidFill>
                <a:latin typeface="Roboto Mono" pitchFamily="49" charset="0"/>
                <a:ea typeface="Roboto Mono" pitchFamily="49" charset="0"/>
              </a:rPr>
              <a:t>    - run: </a:t>
            </a:r>
            <a:r>
              <a:rPr lang="en-US" sz="1200" dirty="0" err="1">
                <a:solidFill>
                  <a:srgbClr val="FC6E70"/>
                </a:solidFill>
                <a:latin typeface="Roboto Mono" pitchFamily="49" charset="0"/>
                <a:ea typeface="Roboto Mono" pitchFamily="49" charset="0"/>
              </a:rPr>
              <a:t>npm</a:t>
            </a:r>
            <a:r>
              <a:rPr lang="en-US" sz="1200" dirty="0">
                <a:solidFill>
                  <a:srgbClr val="FC6E70"/>
                </a:solidFill>
                <a:latin typeface="Roboto Mono" pitchFamily="49" charset="0"/>
                <a:ea typeface="Roboto Mono" pitchFamily="49" charset="0"/>
              </a:rPr>
              <a:t> test</a:t>
            </a:r>
          </a:p>
        </p:txBody>
      </p:sp>
      <p:pic>
        <p:nvPicPr>
          <p:cNvPr id="19" name="Graphic 18" descr="Badge 5 with solid fill">
            <a:extLst>
              <a:ext uri="{FF2B5EF4-FFF2-40B4-BE49-F238E27FC236}">
                <a16:creationId xmlns:a16="http://schemas.microsoft.com/office/drawing/2014/main" id="{99B84BF0-847C-A91A-FE35-6F04225593E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37414" y="215391"/>
            <a:ext cx="587621" cy="587621"/>
          </a:xfrm>
          <a:prstGeom prst="rect">
            <a:avLst/>
          </a:prstGeom>
        </p:spPr>
      </p:pic>
    </p:spTree>
    <p:extLst>
      <p:ext uri="{BB962C8B-B14F-4D97-AF65-F5344CB8AC3E}">
        <p14:creationId xmlns:p14="http://schemas.microsoft.com/office/powerpoint/2010/main" val="413052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Workflow Breakdown: Key Attributes Explained</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69904" y="1326817"/>
            <a:ext cx="10760096" cy="4627672"/>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Notice the </a:t>
            </a:r>
            <a:r>
              <a:rPr lang="en-US" sz="1800" b="0" i="0" dirty="0">
                <a:solidFill>
                  <a:srgbClr val="161616"/>
                </a:solidFill>
                <a:effectLst/>
                <a:highlight>
                  <a:srgbClr val="C0C0C0"/>
                </a:highlight>
                <a:latin typeface="Roboto Mono" pitchFamily="49" charset="0"/>
                <a:ea typeface="Roboto Mono" pitchFamily="49" charset="0"/>
              </a:rPr>
              <a:t>on:</a:t>
            </a:r>
            <a:r>
              <a:rPr lang="en-US" sz="2000" b="0" i="0" dirty="0">
                <a:solidFill>
                  <a:srgbClr val="161616"/>
                </a:solidFill>
                <a:effectLst/>
                <a:latin typeface="Quattrocento Sans" panose="020B0502050000020003" pitchFamily="34" charset="0"/>
              </a:rPr>
              <a:t> attribute. This workflow is triggered on a push to the repository, and when a pull request is made against the main branch.</a:t>
            </a:r>
          </a:p>
          <a:p>
            <a:pPr marL="0" indent="0" algn="just">
              <a:spcAft>
                <a:spcPts val="600"/>
              </a:spcAft>
              <a:buNone/>
            </a:pPr>
            <a:r>
              <a:rPr lang="en-US" sz="2000" b="0" i="0" dirty="0">
                <a:solidFill>
                  <a:srgbClr val="161616"/>
                </a:solidFill>
                <a:effectLst/>
                <a:latin typeface="Quattrocento Sans" panose="020B0502050000020003" pitchFamily="34" charset="0"/>
              </a:rPr>
              <a:t>There's one </a:t>
            </a:r>
            <a:r>
              <a:rPr lang="en-US" sz="1800" b="0" i="0" dirty="0">
                <a:solidFill>
                  <a:srgbClr val="161616"/>
                </a:solidFill>
                <a:effectLst/>
                <a:highlight>
                  <a:srgbClr val="C0C0C0"/>
                </a:highlight>
                <a:latin typeface="Roboto Mono" pitchFamily="49" charset="0"/>
                <a:ea typeface="Roboto Mono" pitchFamily="49" charset="0"/>
              </a:rPr>
              <a:t>job</a:t>
            </a:r>
            <a:r>
              <a:rPr lang="en-US" sz="2000" b="0" i="0" dirty="0">
                <a:solidFill>
                  <a:srgbClr val="161616"/>
                </a:solidFill>
                <a:effectLst/>
                <a:latin typeface="Quattrocento Sans" panose="020B0502050000020003" pitchFamily="34" charset="0"/>
              </a:rPr>
              <a:t> in this workflow. Let's review what it does.</a:t>
            </a:r>
          </a:p>
          <a:p>
            <a:pPr marL="0" indent="0" algn="just">
              <a:spcAft>
                <a:spcPts val="600"/>
              </a:spcAft>
              <a:buNone/>
            </a:pPr>
            <a:r>
              <a:rPr lang="en-US" sz="2000" b="0" i="0" dirty="0">
                <a:solidFill>
                  <a:srgbClr val="161616"/>
                </a:solidFill>
                <a:effectLst/>
                <a:latin typeface="Quattrocento Sans" panose="020B0502050000020003" pitchFamily="34" charset="0"/>
              </a:rPr>
              <a:t>The </a:t>
            </a:r>
            <a:r>
              <a:rPr lang="en-US" sz="1800" b="0" i="0" dirty="0">
                <a:solidFill>
                  <a:srgbClr val="161616"/>
                </a:solidFill>
                <a:effectLst/>
                <a:highlight>
                  <a:srgbClr val="C0C0C0"/>
                </a:highlight>
                <a:latin typeface="Roboto Mono" pitchFamily="49" charset="0"/>
                <a:ea typeface="Roboto Mono" pitchFamily="49" charset="0"/>
              </a:rPr>
              <a:t>runs-on:</a:t>
            </a:r>
            <a:r>
              <a:rPr lang="en-US" sz="1800" b="0" i="0" dirty="0">
                <a:solidFill>
                  <a:srgbClr val="161616"/>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attribute specifies that, for the operating system, the workflow runs on </a:t>
            </a:r>
            <a:r>
              <a:rPr lang="en-US" sz="1800" b="0" i="0" dirty="0">
                <a:solidFill>
                  <a:srgbClr val="161616"/>
                </a:solidFill>
                <a:effectLst/>
                <a:highlight>
                  <a:srgbClr val="C0C0C0"/>
                </a:highlight>
                <a:latin typeface="Roboto Mono" pitchFamily="49" charset="0"/>
                <a:ea typeface="Roboto Mono" pitchFamily="49" charset="0"/>
              </a:rPr>
              <a:t>ubuntu-latest</a:t>
            </a:r>
            <a:r>
              <a:rPr lang="en-US" sz="2000" b="0" i="0" dirty="0">
                <a:solidFill>
                  <a:srgbClr val="161616"/>
                </a:solidFill>
                <a:effectLst/>
                <a:latin typeface="Quattrocento Sans" panose="020B0502050000020003" pitchFamily="34" charset="0"/>
              </a:rPr>
              <a:t>. The node-version: attribute specifies that there are three builds, one each for Node version 14.x, 16.x, and 18.x. We describe the </a:t>
            </a:r>
            <a:r>
              <a:rPr lang="en-US" sz="1800" b="0" i="0" dirty="0">
                <a:solidFill>
                  <a:srgbClr val="161616"/>
                </a:solidFill>
                <a:effectLst/>
                <a:highlight>
                  <a:srgbClr val="C0C0C0"/>
                </a:highlight>
                <a:latin typeface="Roboto Mono" pitchFamily="49" charset="0"/>
                <a:ea typeface="Roboto Mono" pitchFamily="49" charset="0"/>
              </a:rPr>
              <a:t>matrix</a:t>
            </a:r>
            <a:r>
              <a:rPr lang="en-US" sz="2000" b="0" i="0" dirty="0">
                <a:solidFill>
                  <a:srgbClr val="161616"/>
                </a:solidFill>
                <a:effectLst/>
                <a:latin typeface="Quattrocento Sans" panose="020B0502050000020003" pitchFamily="34" charset="0"/>
              </a:rPr>
              <a:t> portion in depth later, when we customize the workflow.</a:t>
            </a:r>
          </a:p>
          <a:p>
            <a:pPr marL="0" indent="0" algn="just">
              <a:spcAft>
                <a:spcPts val="600"/>
              </a:spcAft>
              <a:buNone/>
            </a:pPr>
            <a:r>
              <a:rPr lang="en-US" sz="2000" b="0" i="0" dirty="0">
                <a:solidFill>
                  <a:srgbClr val="161616"/>
                </a:solidFill>
                <a:effectLst/>
                <a:latin typeface="Quattrocento Sans" panose="020B0502050000020003" pitchFamily="34" charset="0"/>
              </a:rPr>
              <a:t>The </a:t>
            </a:r>
            <a:r>
              <a:rPr lang="en-US" sz="1800" b="0" i="0" dirty="0">
                <a:solidFill>
                  <a:srgbClr val="161616"/>
                </a:solidFill>
                <a:effectLst/>
                <a:highlight>
                  <a:srgbClr val="C0C0C0"/>
                </a:highlight>
                <a:latin typeface="Roboto Mono" pitchFamily="49" charset="0"/>
                <a:ea typeface="Roboto Mono" pitchFamily="49" charset="0"/>
              </a:rPr>
              <a:t>steps</a:t>
            </a:r>
            <a:r>
              <a:rPr lang="en-US" sz="2000" b="0" i="0" dirty="0">
                <a:solidFill>
                  <a:srgbClr val="161616"/>
                </a:solidFill>
                <a:effectLst/>
                <a:latin typeface="Quattrocento Sans" panose="020B0502050000020003" pitchFamily="34" charset="0"/>
              </a:rPr>
              <a:t> in the job use the GitHub Actions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actions/checkout@v3</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action to get the code from your repository into the VM, and the </a:t>
            </a:r>
            <a:r>
              <a:rPr lang="en-US" sz="2000" b="0" i="0" u="none" strike="noStrike" dirty="0">
                <a:solidFill>
                  <a:srgbClr val="00B0F0"/>
                </a:solidFill>
                <a:effectLst/>
                <a:latin typeface="Quattrocento Sans" panose="020B0502050000020003" pitchFamily="34" charset="0"/>
                <a:hlinkClick r:id="rId4">
                  <a:extLst>
                    <a:ext uri="{A12FA001-AC4F-418D-AE19-62706E023703}">
                      <ahyp:hlinkClr xmlns:ahyp="http://schemas.microsoft.com/office/drawing/2018/hyperlinkcolor" val="tx"/>
                    </a:ext>
                  </a:extLst>
                </a:hlinkClick>
              </a:rPr>
              <a:t>actions/setup-node@v3</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action to set up the right version of Node.js. We specify that we're going to test three versions of Node.js with the </a:t>
            </a:r>
            <a:r>
              <a:rPr lang="en-US" sz="1800" b="0" i="0" dirty="0">
                <a:solidFill>
                  <a:srgbClr val="161616"/>
                </a:solidFill>
                <a:effectLst/>
                <a:highlight>
                  <a:srgbClr val="C0C0C0"/>
                </a:highlight>
                <a:latin typeface="Roboto Mono" pitchFamily="49" charset="0"/>
                <a:ea typeface="Roboto Mono" pitchFamily="49" charset="0"/>
              </a:rPr>
              <a:t>${{ </a:t>
            </a:r>
            <a:r>
              <a:rPr lang="en-US" sz="1800" b="0" i="0" dirty="0" err="1">
                <a:solidFill>
                  <a:srgbClr val="161616"/>
                </a:solidFill>
                <a:effectLst/>
                <a:highlight>
                  <a:srgbClr val="C0C0C0"/>
                </a:highlight>
                <a:latin typeface="Roboto Mono" pitchFamily="49" charset="0"/>
                <a:ea typeface="Roboto Mono" pitchFamily="49" charset="0"/>
              </a:rPr>
              <a:t>matrix.node</a:t>
            </a:r>
            <a:r>
              <a:rPr lang="en-US" sz="1800" b="0" i="0" dirty="0">
                <a:solidFill>
                  <a:srgbClr val="161616"/>
                </a:solidFill>
                <a:effectLst/>
                <a:highlight>
                  <a:srgbClr val="C0C0C0"/>
                </a:highlight>
                <a:latin typeface="Roboto Mono" pitchFamily="49" charset="0"/>
                <a:ea typeface="Roboto Mono" pitchFamily="49" charset="0"/>
              </a:rPr>
              <a:t>-version }}</a:t>
            </a:r>
            <a:r>
              <a:rPr lang="en-US" sz="1800" b="0" i="0" dirty="0">
                <a:solidFill>
                  <a:srgbClr val="161616"/>
                </a:solidFill>
                <a:effectLs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rPr>
              <a:t>attribute. This attribute references the matrix we previously defined. The </a:t>
            </a:r>
            <a:r>
              <a:rPr lang="en-US" sz="1800" b="0" i="0" dirty="0">
                <a:solidFill>
                  <a:srgbClr val="161616"/>
                </a:solidFill>
                <a:effectLst/>
                <a:highlight>
                  <a:srgbClr val="C0C0C0"/>
                </a:highlight>
                <a:latin typeface="Roboto Mono" pitchFamily="49" charset="0"/>
                <a:ea typeface="Roboto Mono" pitchFamily="49" charset="0"/>
              </a:rPr>
              <a:t>cache</a:t>
            </a:r>
            <a:r>
              <a:rPr lang="en-US" sz="2000" b="0" i="0" dirty="0">
                <a:solidFill>
                  <a:srgbClr val="161616"/>
                </a:solidFill>
                <a:effectLst/>
                <a:latin typeface="Quattrocento Sans" panose="020B0502050000020003" pitchFamily="34" charset="0"/>
              </a:rPr>
              <a:t> attribute specifies a package manager for caching in the default directory.</a:t>
            </a:r>
          </a:p>
          <a:p>
            <a:pPr marL="0" indent="0" algn="just">
              <a:spcAft>
                <a:spcPts val="600"/>
              </a:spcAft>
              <a:buNone/>
            </a:pPr>
            <a:r>
              <a:rPr lang="en-US" sz="2000" b="0" i="0" dirty="0">
                <a:solidFill>
                  <a:srgbClr val="161616"/>
                </a:solidFill>
                <a:effectLst/>
                <a:latin typeface="Quattrocento Sans" panose="020B0502050000020003" pitchFamily="34" charset="0"/>
              </a:rPr>
              <a:t>The last part of this step executes commands used by Node.js projects. The </a:t>
            </a:r>
            <a:r>
              <a:rPr lang="en-US" sz="1800" b="0" i="0" dirty="0" err="1">
                <a:solidFill>
                  <a:srgbClr val="161616"/>
                </a:solidFill>
                <a:effectLst/>
                <a:highlight>
                  <a:srgbClr val="C0C0C0"/>
                </a:highlight>
                <a:latin typeface="Roboto Mono" pitchFamily="49" charset="0"/>
                <a:ea typeface="Roboto Mono" pitchFamily="49" charset="0"/>
              </a:rPr>
              <a:t>npm</a:t>
            </a:r>
            <a:r>
              <a:rPr lang="en-US" sz="1800" b="0" i="0" dirty="0">
                <a:solidFill>
                  <a:srgbClr val="161616"/>
                </a:solidFill>
                <a:effectLst/>
                <a:highlight>
                  <a:srgbClr val="C0C0C0"/>
                </a:highlight>
                <a:latin typeface="Roboto Mono" pitchFamily="49" charset="0"/>
                <a:ea typeface="Roboto Mono" pitchFamily="49" charset="0"/>
              </a:rPr>
              <a:t> ci</a:t>
            </a:r>
            <a:r>
              <a:rPr lang="en-US" sz="2000" b="0" i="0" dirty="0">
                <a:solidFill>
                  <a:srgbClr val="161616"/>
                </a:solidFill>
                <a:effectLst/>
                <a:latin typeface="Quattrocento Sans" panose="020B0502050000020003" pitchFamily="34" charset="0"/>
              </a:rPr>
              <a:t> command installs dependencies from the </a:t>
            </a:r>
            <a:r>
              <a:rPr lang="en-US" sz="2000" b="0" i="1" dirty="0">
                <a:solidFill>
                  <a:srgbClr val="161616"/>
                </a:solidFill>
                <a:effectLst/>
                <a:latin typeface="Quattrocento Sans" panose="020B0502050000020003" pitchFamily="34" charset="0"/>
              </a:rPr>
              <a:t>package-</a:t>
            </a:r>
            <a:r>
              <a:rPr lang="en-US" sz="2000" b="0" i="1" dirty="0" err="1">
                <a:solidFill>
                  <a:srgbClr val="161616"/>
                </a:solidFill>
                <a:effectLst/>
                <a:latin typeface="Quattrocento Sans" panose="020B0502050000020003" pitchFamily="34" charset="0"/>
              </a:rPr>
              <a:t>lock.json</a:t>
            </a:r>
            <a:r>
              <a:rPr lang="en-US" sz="2000" b="0" i="0" dirty="0">
                <a:solidFill>
                  <a:srgbClr val="161616"/>
                </a:solidFill>
                <a:effectLst/>
                <a:latin typeface="Quattrocento Sans" panose="020B0502050000020003" pitchFamily="34" charset="0"/>
              </a:rPr>
              <a:t> file, </a:t>
            </a:r>
            <a:r>
              <a:rPr lang="en-US" sz="1800" b="0" i="0" dirty="0" err="1">
                <a:solidFill>
                  <a:srgbClr val="161616"/>
                </a:solidFill>
                <a:effectLst/>
                <a:highlight>
                  <a:srgbClr val="C0C0C0"/>
                </a:highlight>
                <a:latin typeface="Roboto Mono" pitchFamily="49" charset="0"/>
                <a:ea typeface="Roboto Mono" pitchFamily="49" charset="0"/>
              </a:rPr>
              <a:t>npm</a:t>
            </a:r>
            <a:r>
              <a:rPr lang="en-US" sz="1800" b="0" i="0" dirty="0">
                <a:solidFill>
                  <a:srgbClr val="161616"/>
                </a:solidFill>
                <a:effectLst/>
                <a:highlight>
                  <a:srgbClr val="C0C0C0"/>
                </a:highlight>
                <a:latin typeface="Roboto Mono" pitchFamily="49" charset="0"/>
                <a:ea typeface="Roboto Mono" pitchFamily="49" charset="0"/>
              </a:rPr>
              <a:t> run build --if-present</a:t>
            </a:r>
            <a:r>
              <a:rPr lang="en-US" sz="2000" b="0" i="0" dirty="0">
                <a:solidFill>
                  <a:srgbClr val="161616"/>
                </a:solidFill>
                <a:effectLst/>
                <a:latin typeface="Quattrocento Sans" panose="020B0502050000020003" pitchFamily="34" charset="0"/>
              </a:rPr>
              <a:t> runs a build script if it exists, and </a:t>
            </a:r>
            <a:r>
              <a:rPr lang="en-US" sz="1800" b="0" i="0" dirty="0" err="1">
                <a:solidFill>
                  <a:srgbClr val="161616"/>
                </a:solidFill>
                <a:effectLst/>
                <a:highlight>
                  <a:srgbClr val="C0C0C0"/>
                </a:highlight>
                <a:latin typeface="Roboto Mono" pitchFamily="49" charset="0"/>
                <a:ea typeface="Roboto Mono" pitchFamily="49" charset="0"/>
              </a:rPr>
              <a:t>npm</a:t>
            </a:r>
            <a:r>
              <a:rPr lang="en-US" sz="1800" b="0" i="0" dirty="0">
                <a:solidFill>
                  <a:srgbClr val="161616"/>
                </a:solidFill>
                <a:effectLst/>
                <a:highlight>
                  <a:srgbClr val="C0C0C0"/>
                </a:highlight>
                <a:latin typeface="Roboto Mono" pitchFamily="49" charset="0"/>
                <a:ea typeface="Roboto Mono" pitchFamily="49" charset="0"/>
              </a:rPr>
              <a:t> test</a:t>
            </a:r>
            <a:r>
              <a:rPr lang="en-US" sz="2000" b="0" i="0" dirty="0">
                <a:solidFill>
                  <a:srgbClr val="161616"/>
                </a:solidFill>
                <a:effectLst/>
                <a:latin typeface="Quattrocento Sans" panose="020B0502050000020003" pitchFamily="34" charset="0"/>
              </a:rPr>
              <a:t> runs the testing framework. Notice that this template includes both the build and test steps in the same job.</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0734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err="1">
                <a:latin typeface="Quattrocento Sans" panose="020B0502050000020003" pitchFamily="34" charset="0"/>
              </a:rPr>
              <a:t>Npm</a:t>
            </a:r>
            <a:r>
              <a:rPr lang="en-US" sz="3200" dirty="0">
                <a:latin typeface="Quattrocento Sans" panose="020B0502050000020003" pitchFamily="34" charset="0"/>
              </a:rPr>
              <a:t> Documentation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79438" y="1142999"/>
            <a:ext cx="10760096" cy="2936969"/>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spcAft>
                <a:spcPts val="1200"/>
              </a:spcAft>
              <a:buNone/>
            </a:pPr>
            <a:r>
              <a:rPr lang="en-US" sz="2000" b="0" i="0" dirty="0">
                <a:solidFill>
                  <a:srgbClr val="161616"/>
                </a:solidFill>
                <a:effectLst/>
                <a:latin typeface="Quattrocento Sans" panose="020B0502050000020003" pitchFamily="34" charset="0"/>
              </a:rPr>
              <a:t>To learn more about </a:t>
            </a:r>
            <a:r>
              <a:rPr lang="en-US" sz="2000" b="0" i="0" dirty="0" err="1">
                <a:solidFill>
                  <a:srgbClr val="161616"/>
                </a:solidFill>
                <a:effectLst/>
                <a:latin typeface="Quattrocento Sans" panose="020B0502050000020003" pitchFamily="34" charset="0"/>
              </a:rPr>
              <a:t>npm</a:t>
            </a:r>
            <a:r>
              <a:rPr lang="en-US" sz="2000" b="0" i="0" dirty="0">
                <a:solidFill>
                  <a:srgbClr val="161616"/>
                </a:solidFill>
                <a:effectLst/>
                <a:latin typeface="Quattrocento Sans" panose="020B0502050000020003" pitchFamily="34" charset="0"/>
              </a:rPr>
              <a:t>, check out the </a:t>
            </a:r>
            <a:r>
              <a:rPr lang="en-US" sz="2000" b="0" i="0" dirty="0" err="1">
                <a:solidFill>
                  <a:srgbClr val="161616"/>
                </a:solidFill>
                <a:effectLst/>
                <a:latin typeface="Quattrocento Sans" panose="020B0502050000020003" pitchFamily="34" charset="0"/>
              </a:rPr>
              <a:t>npm</a:t>
            </a:r>
            <a:r>
              <a:rPr lang="en-US" sz="2000" b="0" i="0" dirty="0">
                <a:solidFill>
                  <a:srgbClr val="161616"/>
                </a:solidFill>
                <a:effectLst/>
                <a:latin typeface="Quattrocento Sans" panose="020B0502050000020003" pitchFamily="34" charset="0"/>
              </a:rPr>
              <a:t> documentation:</a:t>
            </a:r>
          </a:p>
          <a:p>
            <a:pPr lvl="1">
              <a:spcAft>
                <a:spcPts val="1200"/>
              </a:spcAft>
            </a:pPr>
            <a:r>
              <a:rPr lang="en-US" sz="18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npm install</a:t>
            </a:r>
            <a:endParaRPr lang="en-US" sz="1800" b="0" i="0" dirty="0">
              <a:solidFill>
                <a:srgbClr val="00B0F0"/>
              </a:solidFill>
              <a:effectLst/>
              <a:latin typeface="Quattrocento Sans" panose="020B0502050000020003" pitchFamily="34" charset="0"/>
            </a:endParaRPr>
          </a:p>
          <a:p>
            <a:pPr lvl="1">
              <a:spcAft>
                <a:spcPts val="1200"/>
              </a:spcAft>
            </a:pPr>
            <a:r>
              <a:rPr lang="en-US" sz="1800" b="0" i="0" u="none" strike="noStrike" dirty="0">
                <a:solidFill>
                  <a:srgbClr val="00B0F0"/>
                </a:solidFill>
                <a:effectLst/>
                <a:latin typeface="Quattrocento Sans" panose="020B0502050000020003" pitchFamily="34" charset="0"/>
                <a:hlinkClick r:id="rId4">
                  <a:extLst>
                    <a:ext uri="{A12FA001-AC4F-418D-AE19-62706E023703}">
                      <ahyp:hlinkClr xmlns:ahyp="http://schemas.microsoft.com/office/drawing/2018/hyperlinkcolor" val="tx"/>
                    </a:ext>
                  </a:extLst>
                </a:hlinkClick>
              </a:rPr>
              <a:t>npm run</a:t>
            </a:r>
            <a:endParaRPr lang="en-US" sz="1800" b="0" i="0" dirty="0">
              <a:solidFill>
                <a:srgbClr val="00B0F0"/>
              </a:solidFill>
              <a:effectLst/>
              <a:latin typeface="Quattrocento Sans" panose="020B0502050000020003" pitchFamily="34" charset="0"/>
            </a:endParaRPr>
          </a:p>
          <a:p>
            <a:pPr lvl="1">
              <a:spcAft>
                <a:spcPts val="1200"/>
              </a:spcAft>
            </a:pPr>
            <a:r>
              <a:rPr lang="en-US" sz="1800" b="0" i="0" u="none" strike="noStrike" dirty="0">
                <a:solidFill>
                  <a:srgbClr val="00B0F0"/>
                </a:solidFill>
                <a:effectLst/>
                <a:latin typeface="Quattrocento Sans" panose="020B0502050000020003" pitchFamily="34" charset="0"/>
                <a:hlinkClick r:id="rId5">
                  <a:extLst>
                    <a:ext uri="{A12FA001-AC4F-418D-AE19-62706E023703}">
                      <ahyp:hlinkClr xmlns:ahyp="http://schemas.microsoft.com/office/drawing/2018/hyperlinkcolor" val="tx"/>
                    </a:ext>
                  </a:extLst>
                </a:hlinkClick>
              </a:rPr>
              <a:t>npm test</a:t>
            </a:r>
            <a:endParaRPr lang="en-US" sz="1800" b="0" i="0" dirty="0">
              <a:solidFill>
                <a:srgbClr val="00B0F0"/>
              </a:solidFill>
              <a:effectLst/>
              <a:latin typeface="Quattrocento Sans" panose="020B0502050000020003" pitchFamily="34" charset="0"/>
            </a:endParaRPr>
          </a:p>
          <a:p>
            <a:pPr marL="0" indent="0" algn="l">
              <a:spcAft>
                <a:spcPts val="1200"/>
              </a:spcAft>
              <a:buNone/>
            </a:pPr>
            <a:r>
              <a:rPr lang="en-US" sz="2000" b="0" i="0" dirty="0">
                <a:solidFill>
                  <a:srgbClr val="161616"/>
                </a:solidFill>
                <a:effectLst/>
                <a:latin typeface="Quattrocento Sans" panose="020B0502050000020003" pitchFamily="34" charset="0"/>
              </a:rPr>
              <a:t>Beyond individual </a:t>
            </a:r>
            <a:r>
              <a:rPr lang="en-US" sz="2000" b="0" i="0" dirty="0" err="1">
                <a:solidFill>
                  <a:srgbClr val="161616"/>
                </a:solidFill>
                <a:effectLst/>
                <a:latin typeface="Quattrocento Sans" panose="020B0502050000020003" pitchFamily="34" charset="0"/>
              </a:rPr>
              <a:t>npm</a:t>
            </a:r>
            <a:r>
              <a:rPr lang="en-US" sz="2000" b="0" i="0" dirty="0">
                <a:solidFill>
                  <a:srgbClr val="161616"/>
                </a:solidFill>
                <a:effectLst/>
                <a:latin typeface="Quattrocento Sans" panose="020B0502050000020003" pitchFamily="34" charset="0"/>
              </a:rPr>
              <a:t> commands, teams can benefit from reusable workflows to streamline and standardize repeated automation steps. </a:t>
            </a:r>
          </a:p>
          <a:p>
            <a:pPr marL="0" indent="0" algn="l">
              <a:spcAft>
                <a:spcPts val="1200"/>
              </a:spcAft>
              <a:buNone/>
            </a:pPr>
            <a:r>
              <a:rPr lang="en-US" sz="2000" b="0" i="0" dirty="0">
                <a:solidFill>
                  <a:srgbClr val="161616"/>
                </a:solidFill>
                <a:effectLst/>
                <a:latin typeface="Quattrocento Sans" panose="020B0502050000020003" pitchFamily="34" charset="0"/>
              </a:rPr>
              <a:t>By leveraging reusable workflows, you can reduce redundancy, improve maintainability, and ensure consistency across your CI/CD pipelines.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953265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How to utilize reusable workflows to avoid duplication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717974" y="3077234"/>
            <a:ext cx="5867082"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As teams scale and projects grow, it's common to see the same steps, such as code checkout, dependency installation, testing, and deployment—repeated across multiple workflow files. This kind of duplication not only clutters your codebase but also increases maintenance time when changes are needed. Reusable workflows solve this problem by allowing you to define automation logic once and call it from other workflows. Reusable workflows are special GitHub Actions workflows that can be called by other workflows, much like functions in programming. You create them to share repeated logic like build steps, testing procedures, or deployment strategies. Once created, you can reference them from any other workflow in the same repository or even across different repositories.</a:t>
            </a:r>
          </a:p>
        </p:txBody>
      </p:sp>
      <p:pic>
        <p:nvPicPr>
          <p:cNvPr id="3074" name="Picture 2" descr="Diagram illustrating the concept of reusable workflows in GitHub Actions, showing how a central workflow can be referenced by multiple repositories or workflows.">
            <a:extLst>
              <a:ext uri="{FF2B5EF4-FFF2-40B4-BE49-F238E27FC236}">
                <a16:creationId xmlns:a16="http://schemas.microsoft.com/office/drawing/2014/main" id="{982A3D7B-B9CD-8EC7-DA2B-31A31A04C4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9153" y="1232781"/>
            <a:ext cx="4392438" cy="4392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80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9CE9401-FEA9-F0E6-A22C-0AA16E456533}"/>
              </a:ext>
            </a:extLst>
          </p:cNvPr>
          <p:cNvSpPr/>
          <p:nvPr/>
        </p:nvSpPr>
        <p:spPr>
          <a:xfrm>
            <a:off x="8241530" y="1797293"/>
            <a:ext cx="1246533" cy="4723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AD9408A-8426-699B-01B0-8EFC9CBD3435}"/>
              </a:ext>
            </a:extLst>
          </p:cNvPr>
          <p:cNvSpPr/>
          <p:nvPr/>
        </p:nvSpPr>
        <p:spPr>
          <a:xfrm>
            <a:off x="2428016" y="1791470"/>
            <a:ext cx="1246533" cy="4723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Reusable Workflows</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481122" y="2394069"/>
            <a:ext cx="5298210" cy="3971488"/>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759148" y="3029069"/>
            <a:ext cx="4798576" cy="3108543"/>
          </a:xfrm>
          <a:prstGeom prst="rect">
            <a:avLst/>
          </a:prstGeom>
          <a:noFill/>
        </p:spPr>
        <p:txBody>
          <a:bodyPr wrap="square" rtlCol="0">
            <a:spAutoFit/>
          </a:bodyPr>
          <a:lstStyle/>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Consistency: Teams can follow the same automation standards across all projects.</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Efficiency: Instead of copying and pasting steps, you just point to a reusable workflow.</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Ease of Updates: When a process changes (e.g., a new test step), you update it in one place, and all workflows using it benefit automatically.</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Scalability: Ideal for platform or DevOps teams managing multiple services.</a:t>
            </a:r>
          </a:p>
          <a:p>
            <a:pPr algn="just"/>
            <a:r>
              <a:rPr lang="en-US" sz="1600" b="0" i="0" dirty="0">
                <a:solidFill>
                  <a:srgbClr val="161616"/>
                </a:solidFill>
                <a:effectLst/>
                <a:latin typeface="Quattrocento Sans" panose="020B0502050000020003" pitchFamily="34" charset="0"/>
              </a:rPr>
              <a:t>Let's explore how to use reusable workflows to improve your projects.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0" name="Rectangle 29">
            <a:extLst>
              <a:ext uri="{FF2B5EF4-FFF2-40B4-BE49-F238E27FC236}">
                <a16:creationId xmlns:a16="http://schemas.microsoft.com/office/drawing/2014/main" id="{876C8851-2340-3773-3BCE-EE2FF28A2C90}"/>
              </a:ext>
            </a:extLst>
          </p:cNvPr>
          <p:cNvSpPr>
            <a:spLocks/>
          </p:cNvSpPr>
          <p:nvPr/>
        </p:nvSpPr>
        <p:spPr>
          <a:xfrm>
            <a:off x="6057358" y="2394069"/>
            <a:ext cx="5614878" cy="3976742"/>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31" name="TextBox 30">
            <a:extLst>
              <a:ext uri="{FF2B5EF4-FFF2-40B4-BE49-F238E27FC236}">
                <a16:creationId xmlns:a16="http://schemas.microsoft.com/office/drawing/2014/main" id="{CDFE7ECA-8952-3DEE-9924-7738A5BA5132}"/>
              </a:ext>
            </a:extLst>
          </p:cNvPr>
          <p:cNvSpPr txBox="1"/>
          <p:nvPr/>
        </p:nvSpPr>
        <p:spPr>
          <a:xfrm>
            <a:off x="6374028" y="3037465"/>
            <a:ext cx="5020182" cy="3277820"/>
          </a:xfrm>
          <a:prstGeom prst="rect">
            <a:avLst/>
          </a:prstGeom>
          <a:noFill/>
        </p:spPr>
        <p:txBody>
          <a:bodyPr wrap="square" rtlCol="0">
            <a:spAutoFit/>
          </a:bodyPr>
          <a:lstStyle/>
          <a:p>
            <a:pPr algn="just">
              <a:spcAft>
                <a:spcPts val="600"/>
              </a:spcAft>
            </a:pPr>
            <a:r>
              <a:rPr lang="en-US" sz="1600" b="0" i="0" dirty="0">
                <a:solidFill>
                  <a:srgbClr val="161616"/>
                </a:solidFill>
                <a:effectLst/>
                <a:latin typeface="Quattrocento Sans" panose="020B0502050000020003" pitchFamily="34" charset="0"/>
              </a:rPr>
              <a:t>To utilize reusable workflows:</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Create a reusable workflow in your repo’s folder. This file will include the automation steps you want to share—like testing, building, or deploying.</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You must explicitly enable a workflow to be reusable by configuring it with the </a:t>
            </a:r>
            <a:r>
              <a:rPr lang="en-US" sz="1600" b="0" i="0" dirty="0" err="1">
                <a:solidFill>
                  <a:srgbClr val="161616"/>
                </a:solidFill>
                <a:effectLst/>
                <a:latin typeface="Quattrocento Sans" panose="020B0502050000020003" pitchFamily="34" charset="0"/>
              </a:rPr>
              <a:t>workflow_call</a:t>
            </a:r>
            <a:r>
              <a:rPr lang="en-US" sz="1600" b="0" i="0" dirty="0">
                <a:solidFill>
                  <a:srgbClr val="161616"/>
                </a:solidFill>
                <a:effectLst/>
                <a:latin typeface="Quattrocento Sans" panose="020B0502050000020003" pitchFamily="34" charset="0"/>
              </a:rPr>
              <a:t> event.</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In your main workflows (caller workflows), you then reference this reusable file and provide any required inputs or secrets.</a:t>
            </a:r>
          </a:p>
          <a:p>
            <a:pPr algn="just"/>
            <a:r>
              <a:rPr lang="en-US" sz="1600" b="0" i="0" dirty="0">
                <a:solidFill>
                  <a:srgbClr val="161616"/>
                </a:solidFill>
                <a:effectLst/>
                <a:latin typeface="Quattrocento Sans" panose="020B0502050000020003" pitchFamily="34" charset="0"/>
              </a:rPr>
              <a:t>To illustrate the advantages of reusable workflows, consider the following real-world scenario.</a:t>
            </a:r>
          </a:p>
        </p:txBody>
      </p:sp>
      <p:sp>
        <p:nvSpPr>
          <p:cNvPr id="32" name="Title 1">
            <a:extLst>
              <a:ext uri="{FF2B5EF4-FFF2-40B4-BE49-F238E27FC236}">
                <a16:creationId xmlns:a16="http://schemas.microsoft.com/office/drawing/2014/main" id="{3B24179A-3D60-02A0-5F50-717F5F283684}"/>
              </a:ext>
            </a:extLst>
          </p:cNvPr>
          <p:cNvSpPr txBox="1">
            <a:spLocks/>
          </p:cNvSpPr>
          <p:nvPr/>
        </p:nvSpPr>
        <p:spPr>
          <a:xfrm>
            <a:off x="759148" y="2693609"/>
            <a:ext cx="2292135" cy="3154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Why use them?</a:t>
            </a:r>
          </a:p>
        </p:txBody>
      </p:sp>
      <p:sp>
        <p:nvSpPr>
          <p:cNvPr id="33" name="Title 1">
            <a:extLst>
              <a:ext uri="{FF2B5EF4-FFF2-40B4-BE49-F238E27FC236}">
                <a16:creationId xmlns:a16="http://schemas.microsoft.com/office/drawing/2014/main" id="{F8859052-C242-3790-99D3-926E3291C7DA}"/>
              </a:ext>
            </a:extLst>
          </p:cNvPr>
          <p:cNvSpPr txBox="1">
            <a:spLocks/>
          </p:cNvSpPr>
          <p:nvPr/>
        </p:nvSpPr>
        <p:spPr>
          <a:xfrm>
            <a:off x="6356176" y="2663346"/>
            <a:ext cx="4558656" cy="3154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How to implement reusable workflows</a:t>
            </a:r>
          </a:p>
        </p:txBody>
      </p:sp>
      <p:pic>
        <p:nvPicPr>
          <p:cNvPr id="7" name="Graphic 6" descr="Question mark with solid fill">
            <a:extLst>
              <a:ext uri="{FF2B5EF4-FFF2-40B4-BE49-F238E27FC236}">
                <a16:creationId xmlns:a16="http://schemas.microsoft.com/office/drawing/2014/main" id="{172F512E-5A83-AB3D-BD9A-346C6E94DE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87639" y="1308518"/>
            <a:ext cx="981080" cy="981080"/>
          </a:xfrm>
          <a:prstGeom prst="rect">
            <a:avLst/>
          </a:prstGeom>
        </p:spPr>
      </p:pic>
      <p:pic>
        <p:nvPicPr>
          <p:cNvPr id="9" name="Graphic 8" descr="Circles with arrows with solid fill">
            <a:extLst>
              <a:ext uri="{FF2B5EF4-FFF2-40B4-BE49-F238E27FC236}">
                <a16:creationId xmlns:a16="http://schemas.microsoft.com/office/drawing/2014/main" id="{A58A0C3B-4996-9434-C549-EC54E8EF68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74256" y="1412989"/>
            <a:ext cx="981080" cy="981080"/>
          </a:xfrm>
          <a:prstGeom prst="rect">
            <a:avLst/>
          </a:prstGeom>
        </p:spPr>
      </p:pic>
    </p:spTree>
    <p:extLst>
      <p:ext uri="{BB962C8B-B14F-4D97-AF65-F5344CB8AC3E}">
        <p14:creationId xmlns:p14="http://schemas.microsoft.com/office/powerpoint/2010/main" val="18806769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Closer Look: Reusable Workflows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AC5325FB-9E1C-5381-FC78-F3398CD2161E}"/>
              </a:ext>
            </a:extLst>
          </p:cNvPr>
          <p:cNvSpPr/>
          <p:nvPr/>
        </p:nvSpPr>
        <p:spPr>
          <a:xfrm>
            <a:off x="579437" y="966442"/>
            <a:ext cx="4977301" cy="5454641"/>
          </a:xfrm>
          <a:prstGeom prst="rect">
            <a:avLst/>
          </a:prstGeom>
          <a:solidFill>
            <a:srgbClr val="E2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32AB898-7EF8-8B4D-731C-B9FF951D8127}"/>
              </a:ext>
            </a:extLst>
          </p:cNvPr>
          <p:cNvSpPr/>
          <p:nvPr/>
        </p:nvSpPr>
        <p:spPr>
          <a:xfrm>
            <a:off x="5770116" y="966443"/>
            <a:ext cx="6193284" cy="3500050"/>
          </a:xfrm>
          <a:prstGeom prst="rect">
            <a:avLst/>
          </a:prstGeom>
          <a:solidFill>
            <a:srgbClr val="E3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FF8C744-7AC0-614A-B202-AFE416209D1B}"/>
              </a:ext>
            </a:extLst>
          </p:cNvPr>
          <p:cNvSpPr/>
          <p:nvPr/>
        </p:nvSpPr>
        <p:spPr>
          <a:xfrm>
            <a:off x="5770116" y="4652041"/>
            <a:ext cx="6193284" cy="176904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6">
            <a:extLst>
              <a:ext uri="{FF2B5EF4-FFF2-40B4-BE49-F238E27FC236}">
                <a16:creationId xmlns:a16="http://schemas.microsoft.com/office/drawing/2014/main" id="{85EC98B1-56EA-1940-6CA4-CA0FE7E7209E}"/>
              </a:ext>
            </a:extLst>
          </p:cNvPr>
          <p:cNvSpPr txBox="1">
            <a:spLocks/>
          </p:cNvSpPr>
          <p:nvPr/>
        </p:nvSpPr>
        <p:spPr>
          <a:xfrm>
            <a:off x="774914" y="1151993"/>
            <a:ext cx="2953024" cy="49244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Real-world example</a:t>
            </a:r>
          </a:p>
        </p:txBody>
      </p:sp>
      <p:sp>
        <p:nvSpPr>
          <p:cNvPr id="7" name="Title 16">
            <a:extLst>
              <a:ext uri="{FF2B5EF4-FFF2-40B4-BE49-F238E27FC236}">
                <a16:creationId xmlns:a16="http://schemas.microsoft.com/office/drawing/2014/main" id="{216FF663-C834-E6EE-C309-EA27FB32FFCE}"/>
              </a:ext>
            </a:extLst>
          </p:cNvPr>
          <p:cNvSpPr txBox="1">
            <a:spLocks/>
          </p:cNvSpPr>
          <p:nvPr/>
        </p:nvSpPr>
        <p:spPr>
          <a:xfrm>
            <a:off x="774914" y="3717155"/>
            <a:ext cx="4641148" cy="49244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pPr>
              <a:spcAft>
                <a:spcPts val="600"/>
              </a:spcAft>
            </a:pPr>
            <a:r>
              <a:rPr lang="en-US" sz="7200" dirty="0">
                <a:latin typeface="Quattrocento Sans" panose="020B0502050000020003" pitchFamily="34" charset="0"/>
              </a:rPr>
              <a:t>Imagine your organization has 10 microservices and all of them need the same steps to:</a:t>
            </a:r>
          </a:p>
          <a:p>
            <a:pPr marL="857250" indent="-857250" algn="just">
              <a:spcAft>
                <a:spcPts val="600"/>
              </a:spcAft>
              <a:buFont typeface="Arial" panose="020B0604020202020204" pitchFamily="34" charset="0"/>
              <a:buChar char="•"/>
            </a:pPr>
            <a:r>
              <a:rPr lang="en-US" sz="7200" dirty="0">
                <a:latin typeface="Quattrocento Sans" panose="020B0502050000020003" pitchFamily="34" charset="0"/>
              </a:rPr>
              <a:t>Run tests</a:t>
            </a:r>
          </a:p>
          <a:p>
            <a:pPr marL="857250" indent="-857250" algn="just">
              <a:spcAft>
                <a:spcPts val="600"/>
              </a:spcAft>
              <a:buFont typeface="Arial" panose="020B0604020202020204" pitchFamily="34" charset="0"/>
              <a:buChar char="•"/>
            </a:pPr>
            <a:r>
              <a:rPr lang="en-US" sz="7200" dirty="0">
                <a:latin typeface="Quattrocento Sans" panose="020B0502050000020003" pitchFamily="34" charset="0"/>
              </a:rPr>
              <a:t>Lint code</a:t>
            </a:r>
          </a:p>
          <a:p>
            <a:pPr marL="857250" indent="-857250" algn="just">
              <a:spcAft>
                <a:spcPts val="600"/>
              </a:spcAft>
              <a:buFont typeface="Arial" panose="020B0604020202020204" pitchFamily="34" charset="0"/>
              <a:buChar char="•"/>
            </a:pPr>
            <a:r>
              <a:rPr lang="en-US" sz="7200" dirty="0">
                <a:latin typeface="Quattrocento Sans" panose="020B0502050000020003" pitchFamily="34" charset="0"/>
              </a:rPr>
              <a:t>Deploy to a specific environment</a:t>
            </a:r>
          </a:p>
          <a:p>
            <a:pPr algn="just">
              <a:spcAft>
                <a:spcPts val="600"/>
              </a:spcAft>
            </a:pPr>
            <a:r>
              <a:rPr lang="en-US" sz="7200" dirty="0">
                <a:latin typeface="Quattrocento Sans" panose="020B0502050000020003" pitchFamily="34" charset="0"/>
              </a:rPr>
              <a:t>Without reusable workflows, every repo contains duplicated logic. With reusable workflows, you:</a:t>
            </a:r>
          </a:p>
          <a:p>
            <a:pPr marL="857250" indent="-857250" algn="just">
              <a:spcAft>
                <a:spcPts val="1200"/>
              </a:spcAft>
              <a:buFont typeface="Arial" panose="020B0604020202020204" pitchFamily="34" charset="0"/>
              <a:buChar char="•"/>
            </a:pPr>
            <a:r>
              <a:rPr lang="en-US" sz="7200" dirty="0">
                <a:latin typeface="Quattrocento Sans" panose="020B0502050000020003" pitchFamily="34" charset="0"/>
              </a:rPr>
              <a:t>Define the process once in a central file (e.g., ci-</a:t>
            </a:r>
            <a:r>
              <a:rPr lang="en-US" sz="7200" dirty="0" err="1">
                <a:latin typeface="Quattrocento Sans" panose="020B0502050000020003" pitchFamily="34" charset="0"/>
              </a:rPr>
              <a:t>standard.yml</a:t>
            </a:r>
            <a:r>
              <a:rPr lang="en-US" sz="7200" dirty="0">
                <a:latin typeface="Quattrocento Sans" panose="020B0502050000020003" pitchFamily="34" charset="0"/>
              </a:rPr>
              <a:t>)</a:t>
            </a:r>
          </a:p>
          <a:p>
            <a:pPr marL="857250" indent="-857250" algn="just">
              <a:spcAft>
                <a:spcPts val="1200"/>
              </a:spcAft>
              <a:buFont typeface="Arial" panose="020B0604020202020204" pitchFamily="34" charset="0"/>
              <a:buChar char="•"/>
            </a:pPr>
            <a:r>
              <a:rPr lang="en-US" sz="7200" dirty="0">
                <a:latin typeface="Quattrocento Sans" panose="020B0502050000020003" pitchFamily="34" charset="0"/>
              </a:rPr>
              <a:t>Call this file from every service’s own workflow, passing in variables like environment or app name</a:t>
            </a:r>
          </a:p>
          <a:p>
            <a:pPr algn="just">
              <a:spcAft>
                <a:spcPts val="600"/>
              </a:spcAft>
            </a:pPr>
            <a:r>
              <a:rPr lang="en-US" sz="7200" dirty="0">
                <a:latin typeface="Quattrocento Sans" panose="020B0502050000020003" pitchFamily="34" charset="0"/>
              </a:rPr>
              <a:t>Now, if a new security step or tool is added (like scanning for vulnerabilities), you only need to add it once in the reusable workflow. All 10 services will immediately use the updated process without modifying each one.</a:t>
            </a:r>
          </a:p>
        </p:txBody>
      </p:sp>
      <p:sp>
        <p:nvSpPr>
          <p:cNvPr id="8" name="Title 16">
            <a:extLst>
              <a:ext uri="{FF2B5EF4-FFF2-40B4-BE49-F238E27FC236}">
                <a16:creationId xmlns:a16="http://schemas.microsoft.com/office/drawing/2014/main" id="{0452A844-AFCA-013D-7DE3-A62A25A5FCC3}"/>
              </a:ext>
            </a:extLst>
          </p:cNvPr>
          <p:cNvSpPr txBox="1">
            <a:spLocks/>
          </p:cNvSpPr>
          <p:nvPr/>
        </p:nvSpPr>
        <p:spPr>
          <a:xfrm>
            <a:off x="5916192" y="1151992"/>
            <a:ext cx="3315274" cy="49244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Best practices</a:t>
            </a:r>
          </a:p>
        </p:txBody>
      </p:sp>
      <p:sp>
        <p:nvSpPr>
          <p:cNvPr id="9" name="Title 16">
            <a:extLst>
              <a:ext uri="{FF2B5EF4-FFF2-40B4-BE49-F238E27FC236}">
                <a16:creationId xmlns:a16="http://schemas.microsoft.com/office/drawing/2014/main" id="{E08457F9-C4E0-994A-286F-C69ED4069960}"/>
              </a:ext>
            </a:extLst>
          </p:cNvPr>
          <p:cNvSpPr txBox="1">
            <a:spLocks/>
          </p:cNvSpPr>
          <p:nvPr/>
        </p:nvSpPr>
        <p:spPr>
          <a:xfrm>
            <a:off x="5770116" y="2730073"/>
            <a:ext cx="5842447" cy="49244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pPr marL="857250" indent="-857250" algn="just">
              <a:spcAft>
                <a:spcPts val="1200"/>
              </a:spcAft>
              <a:buFont typeface="Arial" panose="020B0604020202020204" pitchFamily="34" charset="0"/>
              <a:buChar char="•"/>
            </a:pPr>
            <a:r>
              <a:rPr lang="en-US" sz="7200" dirty="0">
                <a:latin typeface="Quattrocento Sans" panose="020B0502050000020003" pitchFamily="34" charset="0"/>
              </a:rPr>
              <a:t>Centralize your reusable workflows in one repository if you plan to share them across teams.</a:t>
            </a:r>
          </a:p>
          <a:p>
            <a:pPr marL="857250" indent="-857250" algn="just">
              <a:spcAft>
                <a:spcPts val="1200"/>
              </a:spcAft>
              <a:buFont typeface="Arial" panose="020B0604020202020204" pitchFamily="34" charset="0"/>
              <a:buChar char="•"/>
            </a:pPr>
            <a:r>
              <a:rPr lang="en-US" sz="7200" dirty="0">
                <a:latin typeface="Quattrocento Sans" panose="020B0502050000020003" pitchFamily="34" charset="0"/>
              </a:rPr>
              <a:t>Use branches or tags to version your workflows (e.g., use @v1), so changes won’t break everything unexpectedly.</a:t>
            </a:r>
          </a:p>
          <a:p>
            <a:pPr marL="857250" indent="-857250" algn="just">
              <a:spcAft>
                <a:spcPts val="1200"/>
              </a:spcAft>
              <a:buFont typeface="Arial" panose="020B0604020202020204" pitchFamily="34" charset="0"/>
              <a:buChar char="•"/>
            </a:pPr>
            <a:r>
              <a:rPr lang="en-US" sz="7200" dirty="0">
                <a:latin typeface="Quattrocento Sans" panose="020B0502050000020003" pitchFamily="34" charset="0"/>
              </a:rPr>
              <a:t>Document inputs and secrets clearly—reusable workflows often rely on inputs and secrets, and teams need to know what to supply.</a:t>
            </a:r>
          </a:p>
          <a:p>
            <a:pPr marL="857250" indent="-857250" algn="just">
              <a:spcAft>
                <a:spcPts val="1200"/>
              </a:spcAft>
              <a:buFont typeface="Arial" panose="020B0604020202020204" pitchFamily="34" charset="0"/>
              <a:buChar char="•"/>
            </a:pPr>
            <a:r>
              <a:rPr lang="en-US" sz="7200" dirty="0">
                <a:latin typeface="Quattrocento Sans" panose="020B0502050000020003" pitchFamily="34" charset="0"/>
              </a:rPr>
              <a:t>Combine with composite actions if you only need to reuse a few steps, not a full workflow.</a:t>
            </a:r>
            <a:endParaRPr lang="en-US" dirty="0">
              <a:latin typeface="Quattrocento Sans" panose="020B0502050000020003" pitchFamily="34" charset="0"/>
            </a:endParaRPr>
          </a:p>
        </p:txBody>
      </p:sp>
      <p:sp>
        <p:nvSpPr>
          <p:cNvPr id="10" name="Title 16">
            <a:extLst>
              <a:ext uri="{FF2B5EF4-FFF2-40B4-BE49-F238E27FC236}">
                <a16:creationId xmlns:a16="http://schemas.microsoft.com/office/drawing/2014/main" id="{6D1B4DA9-D962-F31C-7262-D57EE2A8B0AE}"/>
              </a:ext>
            </a:extLst>
          </p:cNvPr>
          <p:cNvSpPr txBox="1">
            <a:spLocks/>
          </p:cNvSpPr>
          <p:nvPr/>
        </p:nvSpPr>
        <p:spPr>
          <a:xfrm>
            <a:off x="5916192" y="4739924"/>
            <a:ext cx="3315274" cy="49244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Summary</a:t>
            </a:r>
          </a:p>
        </p:txBody>
      </p:sp>
      <p:sp>
        <p:nvSpPr>
          <p:cNvPr id="11" name="Title 16">
            <a:extLst>
              <a:ext uri="{FF2B5EF4-FFF2-40B4-BE49-F238E27FC236}">
                <a16:creationId xmlns:a16="http://schemas.microsoft.com/office/drawing/2014/main" id="{383DFD5F-C771-9765-1316-5D1F001D78D2}"/>
              </a:ext>
            </a:extLst>
          </p:cNvPr>
          <p:cNvSpPr txBox="1">
            <a:spLocks/>
          </p:cNvSpPr>
          <p:nvPr/>
        </p:nvSpPr>
        <p:spPr>
          <a:xfrm>
            <a:off x="5916192" y="5737680"/>
            <a:ext cx="5865500" cy="492443"/>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pPr>
              <a:spcAft>
                <a:spcPts val="1200"/>
              </a:spcAft>
            </a:pPr>
            <a:r>
              <a:rPr lang="en-US" sz="7200" dirty="0">
                <a:latin typeface="Quattrocento Sans" panose="020B0502050000020003" pitchFamily="34" charset="0"/>
              </a:rPr>
              <a:t>Reusable workflows are a powerful way to enforce consistency, reduce duplication, and scale DevOps practices in any engineering team. Whether you're managing a </a:t>
            </a:r>
            <a:r>
              <a:rPr lang="en-US" sz="7200" dirty="0" err="1">
                <a:latin typeface="Quattrocento Sans" panose="020B0502050000020003" pitchFamily="34" charset="0"/>
              </a:rPr>
              <a:t>monorepo</a:t>
            </a:r>
            <a:r>
              <a:rPr lang="en-US" sz="7200" dirty="0">
                <a:latin typeface="Quattrocento Sans" panose="020B0502050000020003" pitchFamily="34" charset="0"/>
              </a:rPr>
              <a:t>, microservices, or open-source libraries, reusable workflows can simplify automation, making CI/CD faster, cleaner, and easier to manage.</a:t>
            </a:r>
          </a:p>
          <a:p>
            <a:pPr algn="just">
              <a:spcAft>
                <a:spcPts val="1200"/>
              </a:spcAft>
            </a:pPr>
            <a:endParaRPr lang="en-US" sz="7200" dirty="0">
              <a:latin typeface="Quattrocento Sans" panose="020B0502050000020003" pitchFamily="34" charset="0"/>
            </a:endParaRPr>
          </a:p>
        </p:txBody>
      </p:sp>
    </p:spTree>
    <p:extLst>
      <p:ext uri="{BB962C8B-B14F-4D97-AF65-F5344CB8AC3E}">
        <p14:creationId xmlns:p14="http://schemas.microsoft.com/office/powerpoint/2010/main" val="283802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iagram illustrating various workflow triggers in GitHub Actions, such as push, pull request, schedule, and manual dispatch.">
            <a:extLst>
              <a:ext uri="{FF2B5EF4-FFF2-40B4-BE49-F238E27FC236}">
                <a16:creationId xmlns:a16="http://schemas.microsoft.com/office/drawing/2014/main" id="{B1DCBBD9-258A-B64B-D04C-F515B09CD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7740" y="1843366"/>
            <a:ext cx="3171268" cy="3171268"/>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Identify the event that triggered a workflow from its effects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77717" y="1519685"/>
            <a:ext cx="7122675"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Understanding what triggered a GitHub Actions workflow—whether it was a push to a branch, a pull request, a scheduled job, or a manual dispatch—is crucial for debugging, auditing, and improving CI/CD pipelines. You can identify the triggering event by examining the workflow run, the repository changes, or the issue/pull request involved.</a:t>
            </a:r>
          </a:p>
        </p:txBody>
      </p:sp>
      <p:sp>
        <p:nvSpPr>
          <p:cNvPr id="3" name="Text Placeholder 2">
            <a:extLst>
              <a:ext uri="{FF2B5EF4-FFF2-40B4-BE49-F238E27FC236}">
                <a16:creationId xmlns:a16="http://schemas.microsoft.com/office/drawing/2014/main" id="{7D7C3562-82BC-8C1C-4E44-0F40C20C276D}"/>
              </a:ext>
            </a:extLst>
          </p:cNvPr>
          <p:cNvSpPr txBox="1">
            <a:spLocks/>
          </p:cNvSpPr>
          <p:nvPr/>
        </p:nvSpPr>
        <p:spPr>
          <a:xfrm>
            <a:off x="677717" y="4029748"/>
            <a:ext cx="7122674"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0" i="0" dirty="0">
                <a:solidFill>
                  <a:srgbClr val="161616"/>
                </a:solidFill>
                <a:effectLst/>
                <a:latin typeface="Quattrocento Sans" panose="020B0502050000020003" pitchFamily="34" charset="0"/>
                <a:ea typeface="Roboto Mono" pitchFamily="49" charset="0"/>
              </a:rPr>
              <a:t>What is a workflow trigger?</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A workflow trigger is an event that causes a workflow to start. GitHub supports various types of triggers, including:</a:t>
            </a:r>
          </a:p>
          <a:p>
            <a:pPr algn="just">
              <a:spcBef>
                <a:spcPts val="0"/>
              </a:spcBef>
            </a:pPr>
            <a:r>
              <a:rPr lang="en-US" sz="1800" b="0" i="0" dirty="0">
                <a:solidFill>
                  <a:srgbClr val="161616"/>
                </a:solidFill>
                <a:effectLst/>
                <a:highlight>
                  <a:srgbClr val="C0C0C0"/>
                </a:highlight>
                <a:latin typeface="Roboto Mono" pitchFamily="49" charset="0"/>
                <a:ea typeface="Roboto Mono" pitchFamily="49" charset="0"/>
              </a:rPr>
              <a:t>push</a:t>
            </a:r>
            <a:r>
              <a:rPr lang="en-US" sz="2000" b="0" i="0" dirty="0">
                <a:solidFill>
                  <a:srgbClr val="161616"/>
                </a:solidFill>
                <a:effectLst/>
                <a:latin typeface="Quattrocento Sans" panose="020B0502050000020003" pitchFamily="34" charset="0"/>
                <a:ea typeface="Roboto Mono" pitchFamily="49" charset="0"/>
              </a:rPr>
              <a:t> or </a:t>
            </a:r>
            <a:r>
              <a:rPr lang="en-US" sz="1800" b="0" i="0" dirty="0" err="1">
                <a:solidFill>
                  <a:srgbClr val="161616"/>
                </a:solidFill>
                <a:effectLst/>
                <a:highlight>
                  <a:srgbClr val="C0C0C0"/>
                </a:highlight>
                <a:latin typeface="Roboto Mono" pitchFamily="49" charset="0"/>
                <a:ea typeface="Roboto Mono" pitchFamily="49" charset="0"/>
              </a:rPr>
              <a:t>pull_request</a:t>
            </a:r>
            <a:r>
              <a:rPr lang="en-US" sz="2000" b="0" i="0" dirty="0">
                <a:solidFill>
                  <a:srgbClr val="161616"/>
                </a:solidFill>
                <a:effectLst/>
                <a:latin typeface="Quattrocento Sans" panose="020B0502050000020003" pitchFamily="34" charset="0"/>
                <a:ea typeface="Roboto Mono" pitchFamily="49" charset="0"/>
              </a:rPr>
              <a:t> (based on code changes)</a:t>
            </a:r>
          </a:p>
          <a:p>
            <a:pPr algn="just">
              <a:spcBef>
                <a:spcPts val="0"/>
              </a:spcBef>
            </a:pPr>
            <a:r>
              <a:rPr lang="en-US" sz="1800" b="0" i="0" dirty="0" err="1">
                <a:solidFill>
                  <a:srgbClr val="161616"/>
                </a:solidFill>
                <a:effectLst/>
                <a:highlight>
                  <a:srgbClr val="C0C0C0"/>
                </a:highlight>
                <a:latin typeface="Roboto Mono" pitchFamily="49" charset="0"/>
                <a:ea typeface="Roboto Mono" pitchFamily="49" charset="0"/>
              </a:rPr>
              <a:t>workflow_dispatch</a:t>
            </a:r>
            <a:r>
              <a:rPr lang="en-US" sz="1800" b="0" i="0" dirty="0">
                <a:solidFill>
                  <a:srgbClr val="161616"/>
                </a:solidFill>
                <a:effectLst/>
                <a:latin typeface="Quattrocento Sans" panose="020B0502050000020003" pitchFamily="34" charset="0"/>
                <a:ea typeface="Roboto Mono" pitchFamily="49" charset="0"/>
              </a:rPr>
              <a:t> </a:t>
            </a:r>
            <a:r>
              <a:rPr lang="en-US" sz="2000" b="0" i="0" dirty="0">
                <a:solidFill>
                  <a:srgbClr val="161616"/>
                </a:solidFill>
                <a:effectLst/>
                <a:latin typeface="Quattrocento Sans" panose="020B0502050000020003" pitchFamily="34" charset="0"/>
                <a:ea typeface="Roboto Mono" pitchFamily="49" charset="0"/>
              </a:rPr>
              <a:t>(manual trigger)</a:t>
            </a:r>
          </a:p>
          <a:p>
            <a:pPr algn="just">
              <a:spcBef>
                <a:spcPts val="0"/>
              </a:spcBef>
            </a:pPr>
            <a:r>
              <a:rPr lang="en-US" sz="2000" b="0" i="0" dirty="0">
                <a:solidFill>
                  <a:srgbClr val="161616"/>
                </a:solidFill>
                <a:effectLst/>
                <a:latin typeface="Quattrocento Sans" panose="020B0502050000020003" pitchFamily="34" charset="0"/>
                <a:ea typeface="Roboto Mono" pitchFamily="49" charset="0"/>
              </a:rPr>
              <a:t>schedule (</a:t>
            </a:r>
            <a:r>
              <a:rPr lang="en-US" sz="2000" b="0" i="0" dirty="0" err="1">
                <a:solidFill>
                  <a:srgbClr val="161616"/>
                </a:solidFill>
                <a:effectLst/>
                <a:latin typeface="Quattrocento Sans" panose="020B0502050000020003" pitchFamily="34" charset="0"/>
                <a:ea typeface="Roboto Mono" pitchFamily="49" charset="0"/>
              </a:rPr>
              <a:t>cron</a:t>
            </a:r>
            <a:r>
              <a:rPr lang="en-US" sz="2000" b="0" i="0" dirty="0">
                <a:solidFill>
                  <a:srgbClr val="161616"/>
                </a:solidFill>
                <a:effectLst/>
                <a:latin typeface="Quattrocento Sans" panose="020B0502050000020003" pitchFamily="34" charset="0"/>
                <a:ea typeface="Roboto Mono" pitchFamily="49" charset="0"/>
              </a:rPr>
              <a:t> jobs)</a:t>
            </a:r>
          </a:p>
          <a:p>
            <a:pPr algn="just">
              <a:spcBef>
                <a:spcPts val="0"/>
              </a:spcBef>
            </a:pPr>
            <a:r>
              <a:rPr lang="en-US" sz="1800" b="0" i="0" dirty="0" err="1">
                <a:solidFill>
                  <a:srgbClr val="161616"/>
                </a:solidFill>
                <a:effectLst/>
                <a:highlight>
                  <a:srgbClr val="C0C0C0"/>
                </a:highlight>
                <a:latin typeface="Roboto Mono" pitchFamily="49" charset="0"/>
                <a:ea typeface="Roboto Mono" pitchFamily="49" charset="0"/>
              </a:rPr>
              <a:t>repository_dispatch</a:t>
            </a:r>
            <a:r>
              <a:rPr lang="en-US" sz="2000" b="0" i="0" dirty="0">
                <a:solidFill>
                  <a:srgbClr val="161616"/>
                </a:solidFill>
                <a:effectLst/>
                <a:latin typeface="Quattrocento Sans" panose="020B0502050000020003" pitchFamily="34" charset="0"/>
                <a:ea typeface="Roboto Mono" pitchFamily="49" charset="0"/>
              </a:rPr>
              <a:t> (external systems)</a:t>
            </a:r>
          </a:p>
          <a:p>
            <a:pPr algn="just">
              <a:spcBef>
                <a:spcPts val="0"/>
              </a:spcBef>
            </a:pPr>
            <a:r>
              <a:rPr lang="en-US" sz="2000" b="0" i="0" dirty="0">
                <a:solidFill>
                  <a:srgbClr val="161616"/>
                </a:solidFill>
                <a:effectLst/>
                <a:latin typeface="Quattrocento Sans" panose="020B0502050000020003" pitchFamily="34" charset="0"/>
                <a:ea typeface="Roboto Mono" pitchFamily="49" charset="0"/>
              </a:rPr>
              <a:t>Issue, discussion, and PR events (e.g., </a:t>
            </a:r>
            <a:r>
              <a:rPr lang="en-US" sz="2000" b="0" i="0" dirty="0" err="1">
                <a:solidFill>
                  <a:srgbClr val="161616"/>
                </a:solidFill>
                <a:effectLst/>
                <a:latin typeface="Quattrocento Sans" panose="020B0502050000020003" pitchFamily="34" charset="0"/>
                <a:ea typeface="Roboto Mono" pitchFamily="49" charset="0"/>
              </a:rPr>
              <a:t>issues.opened</a:t>
            </a:r>
            <a:r>
              <a:rPr lang="en-US" sz="2000" b="0" i="0" dirty="0">
                <a:solidFill>
                  <a:srgbClr val="161616"/>
                </a:solidFill>
                <a:effectLst/>
                <a:latin typeface="Quattrocento Sans" panose="020B0502050000020003" pitchFamily="34" charset="0"/>
                <a:ea typeface="Roboto Mono" pitchFamily="49" charset="0"/>
              </a:rPr>
              <a:t>, </a:t>
            </a:r>
            <a:r>
              <a:rPr lang="en-US" sz="2000" b="0" i="0" dirty="0" err="1">
                <a:solidFill>
                  <a:srgbClr val="161616"/>
                </a:solidFill>
                <a:effectLst/>
                <a:latin typeface="Quattrocento Sans" panose="020B0502050000020003" pitchFamily="34" charset="0"/>
                <a:ea typeface="Roboto Mono" pitchFamily="49" charset="0"/>
              </a:rPr>
              <a:t>pull_request.closed</a:t>
            </a:r>
            <a:r>
              <a:rPr lang="en-US" sz="2000" b="0" i="0" dirty="0">
                <a:solidFill>
                  <a:srgbClr val="161616"/>
                </a:solidFill>
                <a:effectLst/>
                <a:latin typeface="Quattrocento Sans" panose="020B0502050000020003" pitchFamily="34" charset="0"/>
                <a:ea typeface="Roboto Mono" pitchFamily="49" charset="0"/>
              </a:rPr>
              <a:t>)</a:t>
            </a:r>
          </a:p>
        </p:txBody>
      </p:sp>
    </p:spTree>
    <p:extLst>
      <p:ext uri="{BB962C8B-B14F-4D97-AF65-F5344CB8AC3E}">
        <p14:creationId xmlns:p14="http://schemas.microsoft.com/office/powerpoint/2010/main" val="2220367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Where to identify the trigger event?</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481121" y="2434284"/>
            <a:ext cx="3273625" cy="3359118"/>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702730" y="2642875"/>
            <a:ext cx="2832205" cy="3077766"/>
          </a:xfrm>
          <a:prstGeom prst="rect">
            <a:avLst/>
          </a:prstGeom>
          <a:noFill/>
        </p:spPr>
        <p:txBody>
          <a:bodyPr wrap="square" rtlCol="0">
            <a:spAutoFit/>
          </a:bodyPr>
          <a:lstStyle/>
          <a:p>
            <a:pPr>
              <a:spcAft>
                <a:spcPts val="600"/>
              </a:spcAft>
            </a:pPr>
            <a:r>
              <a:rPr lang="en-US" b="1" i="0" dirty="0">
                <a:solidFill>
                  <a:srgbClr val="161616"/>
                </a:solidFill>
                <a:effectLst/>
                <a:latin typeface="Quattrocento Sans" panose="020B0502050000020003" pitchFamily="34" charset="0"/>
              </a:rPr>
              <a:t>From the GitHub Actions UI</a:t>
            </a:r>
          </a:p>
          <a:p>
            <a:pPr marL="285750" indent="-285750">
              <a:spcAft>
                <a:spcPts val="12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Navigate to the Actions tab in your repository.</a:t>
            </a:r>
          </a:p>
          <a:p>
            <a:pPr marL="285750" indent="-285750">
              <a:spcAft>
                <a:spcPts val="12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Click on a workflow run.</a:t>
            </a:r>
          </a:p>
          <a:p>
            <a:pPr marL="285750" indent="-285750">
              <a:spcAft>
                <a:spcPts val="12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The event type (e.g., </a:t>
            </a:r>
            <a:r>
              <a:rPr lang="en-US" sz="1400" b="0" i="0" dirty="0">
                <a:solidFill>
                  <a:srgbClr val="161616"/>
                </a:solidFill>
                <a:effectLst/>
                <a:highlight>
                  <a:srgbClr val="C0C0C0"/>
                </a:highlight>
                <a:latin typeface="Roboto Mono" pitchFamily="49" charset="0"/>
                <a:ea typeface="Roboto Mono" pitchFamily="49" charset="0"/>
              </a:rPr>
              <a:t>push</a:t>
            </a:r>
            <a:r>
              <a:rPr lang="en-US" sz="1600" b="0" i="0" dirty="0">
                <a:solidFill>
                  <a:srgbClr val="161616"/>
                </a:solidFill>
                <a:effectLst/>
                <a:latin typeface="Quattrocento Sans" panose="020B0502050000020003" pitchFamily="34" charset="0"/>
              </a:rPr>
              <a:t>, </a:t>
            </a:r>
            <a:r>
              <a:rPr lang="en-US" sz="1400" b="0" i="0" dirty="0" err="1">
                <a:solidFill>
                  <a:srgbClr val="161616"/>
                </a:solidFill>
                <a:effectLst/>
                <a:highlight>
                  <a:srgbClr val="C0C0C0"/>
                </a:highlight>
                <a:latin typeface="Roboto Mono" pitchFamily="49" charset="0"/>
                <a:ea typeface="Roboto Mono" pitchFamily="49" charset="0"/>
              </a:rPr>
              <a:t>pull_request</a:t>
            </a:r>
            <a:r>
              <a:rPr lang="en-US" sz="1600" b="0" i="0" dirty="0">
                <a:solidFill>
                  <a:srgbClr val="161616"/>
                </a:solidFill>
                <a:effectLst/>
                <a:latin typeface="Quattrocento Sans" panose="020B0502050000020003" pitchFamily="34" charset="0"/>
              </a:rPr>
              <a:t>, </a:t>
            </a:r>
            <a:r>
              <a:rPr lang="en-US" sz="1400" b="0" i="0" dirty="0" err="1">
                <a:solidFill>
                  <a:srgbClr val="161616"/>
                </a:solidFill>
                <a:effectLst/>
                <a:highlight>
                  <a:srgbClr val="C0C0C0"/>
                </a:highlight>
                <a:latin typeface="Roboto Mono" pitchFamily="49" charset="0"/>
                <a:ea typeface="Roboto Mono" pitchFamily="49" charset="0"/>
              </a:rPr>
              <a:t>workflow_dispatch</a:t>
            </a:r>
            <a:r>
              <a:rPr lang="en-US" sz="1600" b="0" i="0" dirty="0">
                <a:solidFill>
                  <a:srgbClr val="161616"/>
                </a:solidFill>
                <a:effectLst/>
                <a:latin typeface="Quattrocento Sans" panose="020B0502050000020003" pitchFamily="34" charset="0"/>
              </a:rPr>
              <a:t>) is displayed at the top of the workflow run summary.</a:t>
            </a:r>
          </a:p>
        </p:txBody>
      </p:sp>
      <p:sp>
        <p:nvSpPr>
          <p:cNvPr id="18" name="Rectangle 17">
            <a:extLst>
              <a:ext uri="{FF2B5EF4-FFF2-40B4-BE49-F238E27FC236}">
                <a16:creationId xmlns:a16="http://schemas.microsoft.com/office/drawing/2014/main" id="{D112965E-9E60-4F9C-A92E-602A93804B31}"/>
              </a:ext>
            </a:extLst>
          </p:cNvPr>
          <p:cNvSpPr>
            <a:spLocks/>
          </p:cNvSpPr>
          <p:nvPr/>
        </p:nvSpPr>
        <p:spPr>
          <a:xfrm>
            <a:off x="3995315" y="2434284"/>
            <a:ext cx="4418758" cy="2994764"/>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1" name="TextBox 20">
            <a:extLst>
              <a:ext uri="{FF2B5EF4-FFF2-40B4-BE49-F238E27FC236}">
                <a16:creationId xmlns:a16="http://schemas.microsoft.com/office/drawing/2014/main" id="{2E6695B6-E71F-2F9A-582E-2F4B8865116E}"/>
              </a:ext>
            </a:extLst>
          </p:cNvPr>
          <p:cNvSpPr txBox="1"/>
          <p:nvPr/>
        </p:nvSpPr>
        <p:spPr>
          <a:xfrm>
            <a:off x="4215125" y="2640755"/>
            <a:ext cx="3907507" cy="2108269"/>
          </a:xfrm>
          <a:prstGeom prst="rect">
            <a:avLst/>
          </a:prstGeom>
          <a:noFill/>
        </p:spPr>
        <p:txBody>
          <a:bodyPr wrap="square" rtlCol="0">
            <a:spAutoFit/>
          </a:bodyPr>
          <a:lstStyle/>
          <a:p>
            <a:pPr>
              <a:spcAft>
                <a:spcPts val="600"/>
              </a:spcAft>
            </a:pPr>
            <a:r>
              <a:rPr lang="en-US" b="1" i="0" dirty="0">
                <a:solidFill>
                  <a:srgbClr val="161616"/>
                </a:solidFill>
                <a:effectLst/>
                <a:latin typeface="Quattrocento Sans" panose="020B0502050000020003" pitchFamily="34" charset="0"/>
              </a:rPr>
              <a:t>Using </a:t>
            </a:r>
            <a:r>
              <a:rPr lang="en-US" b="1" i="0" dirty="0" err="1">
                <a:solidFill>
                  <a:srgbClr val="161616"/>
                </a:solidFill>
                <a:effectLst/>
                <a:latin typeface="Quattrocento Sans" panose="020B0502050000020003" pitchFamily="34" charset="0"/>
              </a:rPr>
              <a:t>github.event_name</a:t>
            </a:r>
            <a:r>
              <a:rPr lang="en-US" b="1" i="0" dirty="0">
                <a:solidFill>
                  <a:srgbClr val="161616"/>
                </a:solidFill>
                <a:effectLst/>
                <a:latin typeface="Quattrocento Sans" panose="020B0502050000020003" pitchFamily="34" charset="0"/>
              </a:rPr>
              <a:t> in Logs or workflow</a:t>
            </a:r>
          </a:p>
          <a:p>
            <a:pPr marL="285750" indent="-285750">
              <a:spcAft>
                <a:spcPts val="1200"/>
              </a:spcAft>
              <a:buFont typeface="Arial" panose="020B0604020202020204" pitchFamily="34" charset="0"/>
              <a:buChar char="•"/>
            </a:pPr>
            <a:r>
              <a:rPr lang="en-US" sz="1600" i="0" dirty="0">
                <a:solidFill>
                  <a:srgbClr val="161616"/>
                </a:solidFill>
                <a:effectLst/>
                <a:latin typeface="Quattrocento Sans" panose="020B0502050000020003" pitchFamily="34" charset="0"/>
              </a:rPr>
              <a:t>GitHub exposes context data during a workflow run. The </a:t>
            </a:r>
            <a:r>
              <a:rPr lang="en-US" sz="1600" i="0" dirty="0" err="1">
                <a:solidFill>
                  <a:srgbClr val="161616"/>
                </a:solidFill>
                <a:effectLst/>
                <a:latin typeface="Quattrocento Sans" panose="020B0502050000020003" pitchFamily="34" charset="0"/>
              </a:rPr>
              <a:t>github.event_name</a:t>
            </a:r>
            <a:r>
              <a:rPr lang="en-US" sz="1600" i="0" dirty="0">
                <a:solidFill>
                  <a:srgbClr val="161616"/>
                </a:solidFill>
                <a:effectLst/>
                <a:latin typeface="Quattrocento Sans" panose="020B0502050000020003" pitchFamily="34" charset="0"/>
              </a:rPr>
              <a:t> variable tells you which event triggered the workflow.</a:t>
            </a:r>
          </a:p>
          <a:p>
            <a:pPr marL="285750" indent="-285750">
              <a:spcAft>
                <a:spcPts val="1200"/>
              </a:spcAft>
              <a:buFont typeface="Arial" panose="020B0604020202020204" pitchFamily="34" charset="0"/>
              <a:buChar char="•"/>
            </a:pPr>
            <a:r>
              <a:rPr lang="en-US" sz="1600" i="0" dirty="0">
                <a:solidFill>
                  <a:srgbClr val="161616"/>
                </a:solidFill>
                <a:effectLst/>
                <a:latin typeface="Quattrocento Sans" panose="020B0502050000020003" pitchFamily="34" charset="0"/>
              </a:rPr>
              <a:t>You can print it in a step for debugging:</a:t>
            </a:r>
          </a:p>
        </p:txBody>
      </p:sp>
      <p:sp>
        <p:nvSpPr>
          <p:cNvPr id="22" name="Rectangle 21">
            <a:extLst>
              <a:ext uri="{FF2B5EF4-FFF2-40B4-BE49-F238E27FC236}">
                <a16:creationId xmlns:a16="http://schemas.microsoft.com/office/drawing/2014/main" id="{5635AB01-1EA6-59E6-2D8F-EC1B1BE15C5D}"/>
              </a:ext>
            </a:extLst>
          </p:cNvPr>
          <p:cNvSpPr>
            <a:spLocks/>
          </p:cNvSpPr>
          <p:nvPr/>
        </p:nvSpPr>
        <p:spPr>
          <a:xfrm>
            <a:off x="8633883" y="2465039"/>
            <a:ext cx="3076996" cy="3956044"/>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4" name="TextBox 23">
            <a:extLst>
              <a:ext uri="{FF2B5EF4-FFF2-40B4-BE49-F238E27FC236}">
                <a16:creationId xmlns:a16="http://schemas.microsoft.com/office/drawing/2014/main" id="{951D0793-2928-1CED-F1CE-4F18A3B552CA}"/>
              </a:ext>
            </a:extLst>
          </p:cNvPr>
          <p:cNvSpPr txBox="1"/>
          <p:nvPr/>
        </p:nvSpPr>
        <p:spPr>
          <a:xfrm>
            <a:off x="8856383" y="2671510"/>
            <a:ext cx="2731128" cy="3662541"/>
          </a:xfrm>
          <a:prstGeom prst="rect">
            <a:avLst/>
          </a:prstGeom>
          <a:noFill/>
        </p:spPr>
        <p:txBody>
          <a:bodyPr wrap="square" rtlCol="0">
            <a:spAutoFit/>
          </a:bodyPr>
          <a:lstStyle/>
          <a:p>
            <a:pPr>
              <a:spcAft>
                <a:spcPts val="1200"/>
              </a:spcAft>
            </a:pPr>
            <a:r>
              <a:rPr lang="en-US" b="1" i="0" dirty="0">
                <a:effectLst/>
                <a:latin typeface="Quattrocento Sans" panose="020B0502050000020003" pitchFamily="34" charset="0"/>
              </a:rPr>
              <a:t>Using workflow Run details</a:t>
            </a:r>
          </a:p>
          <a:p>
            <a:pPr marL="285750" indent="-285750">
              <a:spcAft>
                <a:spcPts val="1200"/>
              </a:spcAft>
              <a:buFont typeface="Arial" panose="020B0604020202020204" pitchFamily="34" charset="0"/>
              <a:buChar char="•"/>
            </a:pPr>
            <a:r>
              <a:rPr lang="en-US" sz="1600" i="0" dirty="0">
                <a:effectLst/>
                <a:latin typeface="Quattrocento Sans" panose="020B0502050000020003" pitchFamily="34" charset="0"/>
              </a:rPr>
              <a:t>If you're inspecting workflow runs programmatically (e.g., via the API), the run object includes an event property that specifies the trigger.</a:t>
            </a:r>
          </a:p>
          <a:p>
            <a:pPr marL="285750" indent="-285750">
              <a:spcAft>
                <a:spcPts val="1200"/>
              </a:spcAft>
              <a:buFont typeface="Arial" panose="020B0604020202020204" pitchFamily="34" charset="0"/>
              <a:buChar char="•"/>
            </a:pPr>
            <a:r>
              <a:rPr lang="en-US" sz="1600" i="0" dirty="0">
                <a:effectLst/>
                <a:latin typeface="Quattrocento Sans" panose="020B0502050000020003" pitchFamily="34" charset="0"/>
              </a:rPr>
              <a:t>You can also find the commit SHA, actor, and timestamp to trace what caused the trigger.</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1034788"/>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1800" b="0" i="0" dirty="0">
                <a:effectLst/>
                <a:latin typeface="Quattrocento Sans" panose="020B0502050000020003" pitchFamily="34" charset="0"/>
              </a:rPr>
              <a:t>You can identify the trigger event in several ways: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21DCD28B-0D3B-B34C-4526-D1E8C720AA2E}"/>
              </a:ext>
            </a:extLst>
          </p:cNvPr>
          <p:cNvSpPr/>
          <p:nvPr/>
        </p:nvSpPr>
        <p:spPr>
          <a:xfrm>
            <a:off x="4215125" y="4973961"/>
            <a:ext cx="3907507" cy="96277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2">
            <a:extLst>
              <a:ext uri="{FF2B5EF4-FFF2-40B4-BE49-F238E27FC236}">
                <a16:creationId xmlns:a16="http://schemas.microsoft.com/office/drawing/2014/main" id="{04DB746D-AEB9-E437-2B5E-02CB1B419208}"/>
              </a:ext>
            </a:extLst>
          </p:cNvPr>
          <p:cNvSpPr txBox="1">
            <a:spLocks/>
          </p:cNvSpPr>
          <p:nvPr/>
        </p:nvSpPr>
        <p:spPr>
          <a:xfrm>
            <a:off x="4437624" y="4965118"/>
            <a:ext cx="3685008" cy="97161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-name: </a:t>
            </a:r>
            <a:r>
              <a:rPr lang="en-US" dirty="0">
                <a:solidFill>
                  <a:srgbClr val="FC6E70"/>
                </a:solidFill>
                <a:latin typeface="Roboto Mono" pitchFamily="49" charset="0"/>
                <a:ea typeface="Roboto Mono" pitchFamily="49" charset="0"/>
              </a:rPr>
              <a:t>Show event trigger</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run: </a:t>
            </a:r>
            <a:r>
              <a:rPr lang="en-US" dirty="0">
                <a:solidFill>
                  <a:srgbClr val="FC6E70"/>
                </a:solidFill>
                <a:latin typeface="Roboto Mono" pitchFamily="49" charset="0"/>
                <a:ea typeface="Roboto Mono" pitchFamily="49" charset="0"/>
              </a:rPr>
              <a:t>echo "Triggered by ${{ </a:t>
            </a:r>
            <a:r>
              <a:rPr lang="en-US" dirty="0" err="1">
                <a:solidFill>
                  <a:srgbClr val="FC6E70"/>
                </a:solidFill>
                <a:latin typeface="Roboto Mono" pitchFamily="49" charset="0"/>
                <a:ea typeface="Roboto Mono" pitchFamily="49" charset="0"/>
              </a:rPr>
              <a:t>github.event_name</a:t>
            </a:r>
            <a:r>
              <a:rPr lang="en-US" dirty="0">
                <a:solidFill>
                  <a:srgbClr val="FC6E70"/>
                </a:solidFill>
                <a:latin typeface="Roboto Mono" pitchFamily="49" charset="0"/>
                <a:ea typeface="Roboto Mono" pitchFamily="49" charset="0"/>
              </a:rPr>
              <a:t> }}"</a:t>
            </a:r>
          </a:p>
        </p:txBody>
      </p:sp>
    </p:spTree>
    <p:extLst>
      <p:ext uri="{BB962C8B-B14F-4D97-AF65-F5344CB8AC3E}">
        <p14:creationId xmlns:p14="http://schemas.microsoft.com/office/powerpoint/2010/main" val="218400467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Infer the trigger from repository effects</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1034788"/>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1800" b="0" i="0" dirty="0">
                <a:effectLst/>
                <a:latin typeface="Quattrocento Sans" panose="020B0502050000020003" pitchFamily="34" charset="0"/>
              </a:rPr>
              <a:t>Sometimes you may not have direct access to the workflow run but want to infer what triggered it based on repository activity. Here's how:</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7" name="Table 6">
            <a:extLst>
              <a:ext uri="{FF2B5EF4-FFF2-40B4-BE49-F238E27FC236}">
                <a16:creationId xmlns:a16="http://schemas.microsoft.com/office/drawing/2014/main" id="{D11B6DD2-75B2-652A-3A52-1915E3CDAABB}"/>
              </a:ext>
            </a:extLst>
          </p:cNvPr>
          <p:cNvGraphicFramePr>
            <a:graphicFrameLocks noGrp="1"/>
          </p:cNvGraphicFramePr>
          <p:nvPr>
            <p:extLst>
              <p:ext uri="{D42A27DB-BD31-4B8C-83A1-F6EECF244321}">
                <p14:modId xmlns:p14="http://schemas.microsoft.com/office/powerpoint/2010/main" val="2969101767"/>
              </p:ext>
            </p:extLst>
          </p:nvPr>
        </p:nvGraphicFramePr>
        <p:xfrm>
          <a:off x="579438" y="2191611"/>
          <a:ext cx="10971860" cy="3164735"/>
        </p:xfrm>
        <a:graphic>
          <a:graphicData uri="http://schemas.openxmlformats.org/drawingml/2006/table">
            <a:tbl>
              <a:tblPr firstRow="1" bandRow="1">
                <a:tableStyleId>{5C22544A-7EE6-4342-B048-85BDC9FD1C3A}</a:tableStyleId>
              </a:tblPr>
              <a:tblGrid>
                <a:gridCol w="7426227">
                  <a:extLst>
                    <a:ext uri="{9D8B030D-6E8A-4147-A177-3AD203B41FA5}">
                      <a16:colId xmlns:a16="http://schemas.microsoft.com/office/drawing/2014/main" val="4160122130"/>
                    </a:ext>
                  </a:extLst>
                </a:gridCol>
                <a:gridCol w="3545633">
                  <a:extLst>
                    <a:ext uri="{9D8B030D-6E8A-4147-A177-3AD203B41FA5}">
                      <a16:colId xmlns:a16="http://schemas.microsoft.com/office/drawing/2014/main" val="1651805443"/>
                    </a:ext>
                  </a:extLst>
                </a:gridCol>
              </a:tblGrid>
              <a:tr h="452105">
                <a:tc>
                  <a:txBody>
                    <a:bodyPr/>
                    <a:lstStyle/>
                    <a:p>
                      <a:pPr algn="l" fontAlgn="t"/>
                      <a:r>
                        <a:rPr lang="en-US" dirty="0">
                          <a:solidFill>
                            <a:schemeClr val="tx1"/>
                          </a:solidFill>
                          <a:effectLst/>
                          <a:latin typeface="Quattrocento Sans" panose="020B0502050000020003" pitchFamily="34" charset="0"/>
                        </a:rPr>
                        <a:t>Observed Behavior</a:t>
                      </a:r>
                    </a:p>
                  </a:txBody>
                  <a:tcPr anchor="b">
                    <a:lnR w="3175" cap="flat" cmpd="sng" algn="ctr">
                      <a:solidFill>
                        <a:schemeClr val="bg1">
                          <a:lumMod val="50000"/>
                        </a:schemeClr>
                      </a:solidFill>
                      <a:prstDash val="solid"/>
                      <a:round/>
                      <a:headEnd type="none" w="med" len="med"/>
                      <a:tailEnd type="none" w="med" len="med"/>
                    </a:lnR>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Trigger Event</a:t>
                      </a:r>
                    </a:p>
                  </a:txBody>
                  <a:tcPr anchor="b">
                    <a:lnL w="3175" cap="flat" cmpd="sng" algn="ctr">
                      <a:solidFill>
                        <a:schemeClr val="bg1">
                          <a:lumMod val="50000"/>
                        </a:schemeClr>
                      </a:solidFill>
                      <a:prstDash val="solid"/>
                      <a:round/>
                      <a:headEnd type="none" w="med" len="med"/>
                      <a:tailEnd type="none" w="med" len="med"/>
                    </a:lnL>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85518583"/>
                  </a:ext>
                </a:extLst>
              </a:tr>
              <a:tr h="452105">
                <a:tc>
                  <a:txBody>
                    <a:bodyPr/>
                    <a:lstStyle/>
                    <a:p>
                      <a:pPr algn="l" fontAlgn="t"/>
                      <a:r>
                        <a:rPr lang="en-US" dirty="0">
                          <a:effectLst/>
                          <a:latin typeface="Quattrocento Sans" panose="020B0502050000020003" pitchFamily="34" charset="0"/>
                        </a:rPr>
                        <a:t>A new commit pushed to </a:t>
                      </a:r>
                      <a:r>
                        <a:rPr lang="en-US" sz="1600" dirty="0">
                          <a:effectLst/>
                          <a:highlight>
                            <a:srgbClr val="C0C0C0"/>
                          </a:highlight>
                          <a:latin typeface="Roboto Mono" pitchFamily="49" charset="0"/>
                          <a:ea typeface="Roboto Mono" pitchFamily="49" charset="0"/>
                        </a:rPr>
                        <a:t>main</a:t>
                      </a:r>
                      <a:r>
                        <a:rPr lang="en-US" dirty="0">
                          <a:effectLst/>
                          <a:latin typeface="Quattrocento Sans" panose="020B0502050000020003" pitchFamily="34" charset="0"/>
                        </a:rPr>
                        <a:t> and workflow ran</a:t>
                      </a: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effectLst/>
                          <a:highlight>
                            <a:srgbClr val="C0C0C0"/>
                          </a:highlight>
                          <a:latin typeface="Roboto Mono" pitchFamily="49" charset="0"/>
                          <a:ea typeface="Roboto Mono" pitchFamily="49" charset="0"/>
                        </a:rPr>
                        <a:t>push</a:t>
                      </a:r>
                      <a:r>
                        <a:rPr lang="en-US" dirty="0">
                          <a:effectLst/>
                          <a:latin typeface="Quattrocento Sans" panose="020B0502050000020003" pitchFamily="34" charset="0"/>
                        </a:rPr>
                        <a:t> event</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9818499"/>
                  </a:ext>
                </a:extLst>
              </a:tr>
              <a:tr h="452105">
                <a:tc>
                  <a:txBody>
                    <a:bodyPr/>
                    <a:lstStyle/>
                    <a:p>
                      <a:pPr algn="l" fontAlgn="t"/>
                      <a:r>
                        <a:rPr lang="en-US">
                          <a:effectLst/>
                          <a:latin typeface="Quattrocento Sans" panose="020B0502050000020003" pitchFamily="34" charset="0"/>
                        </a:rPr>
                        <a:t>A new pull request opened or updated</a:t>
                      </a: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err="1">
                          <a:effectLst/>
                          <a:highlight>
                            <a:srgbClr val="C0C0C0"/>
                          </a:highlight>
                          <a:latin typeface="Roboto Mono" pitchFamily="49" charset="0"/>
                          <a:ea typeface="Roboto Mono" pitchFamily="49" charset="0"/>
                        </a:rPr>
                        <a:t>pull_request</a:t>
                      </a:r>
                      <a:r>
                        <a:rPr lang="en-US" dirty="0">
                          <a:effectLst/>
                          <a:latin typeface="Quattrocento Sans" panose="020B0502050000020003" pitchFamily="34" charset="0"/>
                        </a:rPr>
                        <a:t> event</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8401833"/>
                  </a:ext>
                </a:extLst>
              </a:tr>
              <a:tr h="452105">
                <a:tc>
                  <a:txBody>
                    <a:bodyPr/>
                    <a:lstStyle/>
                    <a:p>
                      <a:pPr algn="l" fontAlgn="t"/>
                      <a:r>
                        <a:rPr lang="en-US">
                          <a:effectLst/>
                          <a:latin typeface="Quattrocento Sans" panose="020B0502050000020003" pitchFamily="34" charset="0"/>
                        </a:rPr>
                        <a:t>A contributor manually ran a workflow</a:t>
                      </a: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err="1">
                          <a:effectLst/>
                          <a:highlight>
                            <a:srgbClr val="C0C0C0"/>
                          </a:highlight>
                          <a:latin typeface="Roboto Mono" pitchFamily="49" charset="0"/>
                          <a:ea typeface="Roboto Mono" pitchFamily="49" charset="0"/>
                        </a:rPr>
                        <a:t>workflow_dispatch</a:t>
                      </a:r>
                      <a:endParaRPr lang="en-US" sz="1600" dirty="0">
                        <a:effectLst/>
                        <a:highlight>
                          <a:srgbClr val="C0C0C0"/>
                        </a:highlight>
                        <a:latin typeface="Roboto Mono" pitchFamily="49" charset="0"/>
                        <a:ea typeface="Roboto Mono" pitchFamily="49" charset="0"/>
                      </a:endParaRP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07857022"/>
                  </a:ext>
                </a:extLst>
              </a:tr>
              <a:tr h="452105">
                <a:tc>
                  <a:txBody>
                    <a:bodyPr/>
                    <a:lstStyle/>
                    <a:p>
                      <a:pPr algn="l" fontAlgn="t"/>
                      <a:r>
                        <a:rPr lang="en-US">
                          <a:effectLst/>
                          <a:latin typeface="Quattrocento Sans" panose="020B0502050000020003" pitchFamily="34" charset="0"/>
                        </a:rPr>
                        <a:t>Workflow runs every night at a specific time</a:t>
                      </a: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a:effectLst/>
                          <a:highlight>
                            <a:srgbClr val="C0C0C0"/>
                          </a:highlight>
                          <a:latin typeface="Roboto Mono" pitchFamily="49" charset="0"/>
                          <a:ea typeface="Roboto Mono" pitchFamily="49" charset="0"/>
                        </a:rPr>
                        <a:t>schedule</a:t>
                      </a:r>
                      <a:r>
                        <a:rPr lang="en-US" dirty="0">
                          <a:effectLst/>
                          <a:latin typeface="Quattrocento Sans" panose="020B0502050000020003" pitchFamily="34" charset="0"/>
                        </a:rPr>
                        <a:t> (</a:t>
                      </a:r>
                      <a:r>
                        <a:rPr lang="en-US" dirty="0" err="1">
                          <a:effectLst/>
                          <a:latin typeface="Quattrocento Sans" panose="020B0502050000020003" pitchFamily="34" charset="0"/>
                        </a:rPr>
                        <a:t>cron</a:t>
                      </a:r>
                      <a:r>
                        <a:rPr lang="en-US" dirty="0">
                          <a:effectLst/>
                          <a:latin typeface="Quattrocento Sans" panose="020B0502050000020003" pitchFamily="34" charset="0"/>
                        </a:rPr>
                        <a:t>)</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045239357"/>
                  </a:ext>
                </a:extLst>
              </a:tr>
              <a:tr h="452105">
                <a:tc>
                  <a:txBody>
                    <a:bodyPr/>
                    <a:lstStyle/>
                    <a:p>
                      <a:pPr algn="l" fontAlgn="t"/>
                      <a:r>
                        <a:rPr lang="en-US" dirty="0">
                          <a:effectLst/>
                          <a:latin typeface="Quattrocento Sans" panose="020B0502050000020003" pitchFamily="34" charset="0"/>
                        </a:rPr>
                        <a:t>Workflow ran after an external service call</a:t>
                      </a: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sz="1600" dirty="0" err="1">
                          <a:effectLst/>
                          <a:highlight>
                            <a:srgbClr val="C0C0C0"/>
                          </a:highlight>
                          <a:latin typeface="Roboto Mono" pitchFamily="49" charset="0"/>
                          <a:ea typeface="Roboto Mono" pitchFamily="49" charset="0"/>
                        </a:rPr>
                        <a:t>repository_dispatch</a:t>
                      </a:r>
                      <a:endParaRPr lang="en-US" sz="1600" dirty="0">
                        <a:effectLst/>
                        <a:highlight>
                          <a:srgbClr val="C0C0C0"/>
                        </a:highlight>
                        <a:latin typeface="Roboto Mono" pitchFamily="49" charset="0"/>
                        <a:ea typeface="Roboto Mono" pitchFamily="49" charset="0"/>
                      </a:endParaRP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83255245"/>
                  </a:ext>
                </a:extLst>
              </a:tr>
              <a:tr h="452105">
                <a:tc>
                  <a:txBody>
                    <a:bodyPr/>
                    <a:lstStyle/>
                    <a:p>
                      <a:pPr algn="l" fontAlgn="t"/>
                      <a:r>
                        <a:rPr lang="en-US">
                          <a:effectLst/>
                          <a:latin typeface="Quattrocento Sans" panose="020B0502050000020003" pitchFamily="34" charset="0"/>
                        </a:rPr>
                        <a:t>Workflow ran when an issue was labeled or commented on</a:t>
                      </a: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noFill/>
                  </a:tcPr>
                </a:tc>
                <a:tc>
                  <a:txBody>
                    <a:bodyPr/>
                    <a:lstStyle/>
                    <a:p>
                      <a:pPr algn="l" fontAlgn="t"/>
                      <a:r>
                        <a:rPr lang="en-US" sz="1600" dirty="0">
                          <a:effectLst/>
                          <a:highlight>
                            <a:srgbClr val="C0C0C0"/>
                          </a:highlight>
                          <a:latin typeface="Roboto Mono" pitchFamily="49" charset="0"/>
                          <a:ea typeface="Roboto Mono" pitchFamily="49" charset="0"/>
                        </a:rPr>
                        <a:t>issues.*</a:t>
                      </a:r>
                      <a:r>
                        <a:rPr lang="en-US" sz="1600" dirty="0">
                          <a:effectLst/>
                          <a:latin typeface="Roboto Mono" pitchFamily="49" charset="0"/>
                          <a:ea typeface="Roboto Mono" pitchFamily="49" charset="0"/>
                        </a:rPr>
                        <a:t> </a:t>
                      </a:r>
                      <a:r>
                        <a:rPr lang="en-US" dirty="0">
                          <a:effectLst/>
                          <a:latin typeface="Quattrocento Sans" panose="020B0502050000020003" pitchFamily="34" charset="0"/>
                        </a:rPr>
                        <a:t>event</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3020599170"/>
                  </a:ext>
                </a:extLst>
              </a:tr>
            </a:tbl>
          </a:graphicData>
        </a:graphic>
      </p:graphicFrame>
      <p:sp>
        <p:nvSpPr>
          <p:cNvPr id="8" name="Text Placeholder 2">
            <a:extLst>
              <a:ext uri="{FF2B5EF4-FFF2-40B4-BE49-F238E27FC236}">
                <a16:creationId xmlns:a16="http://schemas.microsoft.com/office/drawing/2014/main" id="{F228729E-8FA6-5EFF-2332-CF68B92B3121}"/>
              </a:ext>
            </a:extLst>
          </p:cNvPr>
          <p:cNvSpPr txBox="1">
            <a:spLocks/>
          </p:cNvSpPr>
          <p:nvPr/>
        </p:nvSpPr>
        <p:spPr>
          <a:xfrm>
            <a:off x="579438" y="5642494"/>
            <a:ext cx="1097186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1800" b="0" i="0" dirty="0">
                <a:effectLst/>
                <a:latin typeface="Quattrocento Sans" panose="020B0502050000020003" pitchFamily="34" charset="0"/>
              </a:rPr>
              <a:t>By reviewing timestamps, pull request activity, or commit history, you can often pinpoint what action caused the workflow to run.</a:t>
            </a:r>
          </a:p>
        </p:txBody>
      </p:sp>
    </p:spTree>
    <p:extLst>
      <p:ext uri="{BB962C8B-B14F-4D97-AF65-F5344CB8AC3E}">
        <p14:creationId xmlns:p14="http://schemas.microsoft.com/office/powerpoint/2010/main" val="6435053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Summary</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74854" y="764809"/>
            <a:ext cx="10384538" cy="471594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400" dirty="0">
                <a:latin typeface="Quattrocento Sans" panose="020B0502050000020003" pitchFamily="34" charset="0"/>
              </a:rPr>
              <a:t>To identify what triggered a workflow:</a:t>
            </a:r>
          </a:p>
          <a:p>
            <a:pPr lvl="1" algn="just">
              <a:spcAft>
                <a:spcPts val="1200"/>
              </a:spcAft>
            </a:pPr>
            <a:r>
              <a:rPr lang="en-US" sz="2400" dirty="0">
                <a:latin typeface="Quattrocento Sans" panose="020B0502050000020003" pitchFamily="34" charset="0"/>
              </a:rPr>
              <a:t>Check the workflow run summary in the Actions tab.</a:t>
            </a:r>
          </a:p>
          <a:p>
            <a:pPr lvl="1" algn="just">
              <a:spcAft>
                <a:spcPts val="1200"/>
              </a:spcAft>
            </a:pPr>
            <a:r>
              <a:rPr lang="en-US" sz="2400" dirty="0">
                <a:latin typeface="Quattrocento Sans" panose="020B0502050000020003" pitchFamily="34" charset="0"/>
              </a:rPr>
              <a:t>Print or log </a:t>
            </a:r>
            <a:r>
              <a:rPr lang="en-US" sz="2400" dirty="0" err="1">
                <a:latin typeface="Quattrocento Sans" panose="020B0502050000020003" pitchFamily="34" charset="0"/>
              </a:rPr>
              <a:t>github.event_name</a:t>
            </a:r>
            <a:r>
              <a:rPr lang="en-US" sz="2400" dirty="0">
                <a:latin typeface="Quattrocento Sans" panose="020B0502050000020003" pitchFamily="34" charset="0"/>
              </a:rPr>
              <a:t> inside the workflow for visibility.</a:t>
            </a:r>
          </a:p>
          <a:p>
            <a:pPr lvl="1" algn="just">
              <a:spcAft>
                <a:spcPts val="1200"/>
              </a:spcAft>
            </a:pPr>
            <a:r>
              <a:rPr lang="en-US" sz="2400" dirty="0">
                <a:latin typeface="Quattrocento Sans" panose="020B0502050000020003" pitchFamily="34" charset="0"/>
              </a:rPr>
              <a:t>Compare timestamps and repo activity (commits, PRs, issues) to infer the trigger.</a:t>
            </a:r>
          </a:p>
          <a:p>
            <a:pPr lvl="1" algn="just">
              <a:spcAft>
                <a:spcPts val="1200"/>
              </a:spcAft>
            </a:pPr>
            <a:r>
              <a:rPr lang="en-US" sz="2400" dirty="0">
                <a:latin typeface="Quattrocento Sans" panose="020B0502050000020003" pitchFamily="34" charset="0"/>
              </a:rPr>
              <a:t>Use the full event context for deeper investigation.</a:t>
            </a:r>
          </a:p>
          <a:p>
            <a:pPr marL="0" indent="0" algn="just">
              <a:spcAft>
                <a:spcPts val="1200"/>
              </a:spcAft>
              <a:buNone/>
            </a:pPr>
            <a:r>
              <a:rPr lang="en-US" sz="2400" dirty="0">
                <a:latin typeface="Quattrocento Sans" panose="020B0502050000020003" pitchFamily="34" charset="0"/>
              </a:rPr>
              <a:t>These practices help with debugging, auditing, and improving workflow reliability across your development and deployment pipelines.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518308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F776C2A9-6572-9B8E-4110-60BA2E728170}"/>
              </a:ext>
            </a:extLst>
          </p:cNvPr>
          <p:cNvSpPr/>
          <p:nvPr/>
        </p:nvSpPr>
        <p:spPr>
          <a:xfrm>
            <a:off x="2713011" y="2673501"/>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3"/>
            <a:ext cx="10708654" cy="285874"/>
          </a:xfrm>
        </p:spPr>
        <p:txBody>
          <a:bodyPr>
            <a:normAutofit fontScale="90000"/>
          </a:bodyPr>
          <a:lstStyle/>
          <a:p>
            <a:r>
              <a:rPr lang="en-US" sz="3200" dirty="0">
                <a:latin typeface="Quattrocento Sans" panose="020B0502050000020003" pitchFamily="34" charset="0"/>
              </a:rPr>
              <a:t>Describe a workflow's effects from reading its configuration file</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621456" y="3357938"/>
            <a:ext cx="10761020" cy="2657750"/>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809524" y="3521892"/>
            <a:ext cx="5185822" cy="830997"/>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Identify the trigger (on:) This section tells you when the workflow is initiated. For example:</a:t>
            </a:r>
          </a:p>
          <a:p>
            <a:pPr algn="just"/>
            <a:endParaRPr lang="en-US" sz="1600" b="0" i="0" dirty="0">
              <a:solidFill>
                <a:srgbClr val="161616"/>
              </a:solidFill>
              <a:effectLst/>
              <a:latin typeface="Quattrocento Sans" panose="020B0502050000020003" pitchFamily="34" charset="0"/>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83435" y="1154184"/>
            <a:ext cx="11025129"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To describe a workflow's effects from reading its configuration file, you need to analyze the structure and contents of the ".</a:t>
            </a:r>
            <a:r>
              <a:rPr lang="en-US" sz="2000" b="0" i="0" dirty="0" err="1">
                <a:solidFill>
                  <a:srgbClr val="161616"/>
                </a:solidFill>
                <a:effectLst/>
                <a:latin typeface="Quattrocento Sans" panose="020B0502050000020003" pitchFamily="34" charset="0"/>
              </a:rPr>
              <a:t>yml</a:t>
            </a:r>
            <a:r>
              <a:rPr lang="en-US" sz="2000" b="0" i="0" dirty="0">
                <a:solidFill>
                  <a:srgbClr val="161616"/>
                </a:solidFill>
                <a:effectLst/>
                <a:latin typeface="Quattrocento Sans" panose="020B0502050000020003" pitchFamily="34" charset="0"/>
              </a:rPr>
              <a:t>" file stored in .</a:t>
            </a:r>
            <a:r>
              <a:rPr lang="en-US" sz="2000" b="0" i="0" dirty="0" err="1">
                <a:solidFill>
                  <a:srgbClr val="161616"/>
                </a:solidFill>
                <a:effectLst/>
                <a:latin typeface="Quattrocento Sans" panose="020B0502050000020003" pitchFamily="34" charset="0"/>
              </a:rPr>
              <a:t>github</a:t>
            </a:r>
            <a:r>
              <a:rPr lang="en-US" sz="2000" b="0" i="0" dirty="0">
                <a:solidFill>
                  <a:srgbClr val="161616"/>
                </a:solidFill>
                <a:effectLst/>
                <a:latin typeface="Quattrocento Sans" panose="020B0502050000020003" pitchFamily="34" charset="0"/>
              </a:rPr>
              <a:t>/workflows/. This file outlines when the workflow runs, what it does, and how it behaves under different conditions.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9" name="Graphic 18" descr="Badge 1 with solid fill">
            <a:extLst>
              <a:ext uri="{FF2B5EF4-FFF2-40B4-BE49-F238E27FC236}">
                <a16:creationId xmlns:a16="http://schemas.microsoft.com/office/drawing/2014/main" id="{505A3738-BE38-9C47-0BCF-C7FC93E172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64045" y="2698092"/>
            <a:ext cx="727696" cy="727696"/>
          </a:xfrm>
          <a:prstGeom prst="rect">
            <a:avLst/>
          </a:prstGeom>
        </p:spPr>
      </p:pic>
      <p:sp>
        <p:nvSpPr>
          <p:cNvPr id="7" name="Title 1">
            <a:extLst>
              <a:ext uri="{FF2B5EF4-FFF2-40B4-BE49-F238E27FC236}">
                <a16:creationId xmlns:a16="http://schemas.microsoft.com/office/drawing/2014/main" id="{3DD0367C-CDB8-0640-C1CA-546E55BB46FF}"/>
              </a:ext>
            </a:extLst>
          </p:cNvPr>
          <p:cNvSpPr txBox="1">
            <a:spLocks/>
          </p:cNvSpPr>
          <p:nvPr/>
        </p:nvSpPr>
        <p:spPr>
          <a:xfrm>
            <a:off x="579438" y="2319351"/>
            <a:ext cx="4151312" cy="2858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sz="2400" dirty="0">
                <a:latin typeface="Quattrocento Sans" panose="020B0502050000020003" pitchFamily="34" charset="0"/>
              </a:rPr>
              <a:t>Interpret a workflow's effects:</a:t>
            </a:r>
          </a:p>
        </p:txBody>
      </p:sp>
      <p:sp>
        <p:nvSpPr>
          <p:cNvPr id="8" name="Rectangle 7">
            <a:extLst>
              <a:ext uri="{FF2B5EF4-FFF2-40B4-BE49-F238E27FC236}">
                <a16:creationId xmlns:a16="http://schemas.microsoft.com/office/drawing/2014/main" id="{115CC67F-0F6A-0FFC-4FEC-B2C4D9E3A156}"/>
              </a:ext>
            </a:extLst>
          </p:cNvPr>
          <p:cNvSpPr/>
          <p:nvPr/>
        </p:nvSpPr>
        <p:spPr>
          <a:xfrm>
            <a:off x="900120" y="4128778"/>
            <a:ext cx="4939583" cy="165780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2">
            <a:extLst>
              <a:ext uri="{FF2B5EF4-FFF2-40B4-BE49-F238E27FC236}">
                <a16:creationId xmlns:a16="http://schemas.microsoft.com/office/drawing/2014/main" id="{2CE4C6ED-B3E6-8001-618D-F3C8B89BF053}"/>
              </a:ext>
            </a:extLst>
          </p:cNvPr>
          <p:cNvSpPr txBox="1">
            <a:spLocks/>
          </p:cNvSpPr>
          <p:nvPr/>
        </p:nvSpPr>
        <p:spPr>
          <a:xfrm>
            <a:off x="1122620" y="4467111"/>
            <a:ext cx="4717083" cy="97161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push:</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branches: </a:t>
            </a:r>
            <a:r>
              <a:rPr lang="en-US" dirty="0">
                <a:solidFill>
                  <a:srgbClr val="FC6E70"/>
                </a:solidFill>
                <a:latin typeface="Roboto Mono" pitchFamily="49" charset="0"/>
                <a:ea typeface="Roboto Mono" pitchFamily="49" charset="0"/>
              </a:rPr>
              <a:t>[main]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pull_request</a:t>
            </a:r>
            <a:r>
              <a:rPr lang="en-US"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types: </a:t>
            </a:r>
            <a:r>
              <a:rPr lang="en-US" dirty="0">
                <a:solidFill>
                  <a:srgbClr val="FC6E70"/>
                </a:solidFill>
                <a:latin typeface="Roboto Mono" pitchFamily="49" charset="0"/>
                <a:ea typeface="Roboto Mono" pitchFamily="49" charset="0"/>
              </a:rPr>
              <a:t>[opened, synchronize]</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workflow_dispatch</a:t>
            </a:r>
            <a:r>
              <a:rPr lang="en-US" dirty="0">
                <a:solidFill>
                  <a:schemeClr val="tx2">
                    <a:lumMod val="50000"/>
                    <a:lumOff val="50000"/>
                  </a:schemeClr>
                </a:solidFill>
                <a:latin typeface="Roboto Mono" pitchFamily="49" charset="0"/>
                <a:ea typeface="Roboto Mono" pitchFamily="49" charset="0"/>
              </a:rPr>
              <a:t>:</a:t>
            </a:r>
          </a:p>
        </p:txBody>
      </p:sp>
      <p:sp>
        <p:nvSpPr>
          <p:cNvPr id="11" name="TextBox 10">
            <a:extLst>
              <a:ext uri="{FF2B5EF4-FFF2-40B4-BE49-F238E27FC236}">
                <a16:creationId xmlns:a16="http://schemas.microsoft.com/office/drawing/2014/main" id="{9DE1C2C7-1E83-8352-EBFC-CB4910F5BA3F}"/>
              </a:ext>
            </a:extLst>
          </p:cNvPr>
          <p:cNvSpPr txBox="1"/>
          <p:nvPr/>
        </p:nvSpPr>
        <p:spPr>
          <a:xfrm>
            <a:off x="6478285" y="3521892"/>
            <a:ext cx="4711491" cy="1631216"/>
          </a:xfrm>
          <a:prstGeom prst="rect">
            <a:avLst/>
          </a:prstGeom>
          <a:noFill/>
        </p:spPr>
        <p:txBody>
          <a:bodyPr wrap="square" rtlCol="0">
            <a:spAutoFit/>
          </a:bodyPr>
          <a:lstStyle/>
          <a:p>
            <a:pPr algn="just"/>
            <a:r>
              <a:rPr lang="en-US" sz="2000" b="0" i="0" dirty="0">
                <a:solidFill>
                  <a:srgbClr val="161616"/>
                </a:solidFill>
                <a:effectLst/>
                <a:latin typeface="Quattrocento Sans" panose="020B0502050000020003" pitchFamily="34" charset="0"/>
              </a:rPr>
              <a:t>Effect:</a:t>
            </a:r>
          </a:p>
          <a:p>
            <a:pPr algn="just"/>
            <a:endParaRPr lang="en-US" sz="1600" b="0" i="0" dirty="0">
              <a:solidFill>
                <a:srgbClr val="161616"/>
              </a:solidFill>
              <a:effectLst/>
              <a:latin typeface="Quattrocento Sans" panose="020B0502050000020003" pitchFamily="34" charset="0"/>
            </a:endParaRP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Runs automatically when code is pushed to the main branch.</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Runs when a pull request is created or updated.</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Can also be triggered manually by a user</a:t>
            </a:r>
          </a:p>
        </p:txBody>
      </p:sp>
      <p:cxnSp>
        <p:nvCxnSpPr>
          <p:cNvPr id="16" name="Straight Connector 15">
            <a:extLst>
              <a:ext uri="{FF2B5EF4-FFF2-40B4-BE49-F238E27FC236}">
                <a16:creationId xmlns:a16="http://schemas.microsoft.com/office/drawing/2014/main" id="{996B5B5D-C8BF-7FA6-7855-D535ABC9016A}"/>
              </a:ext>
            </a:extLst>
          </p:cNvPr>
          <p:cNvCxnSpPr>
            <a:cxnSpLocks/>
          </p:cNvCxnSpPr>
          <p:nvPr/>
        </p:nvCxnSpPr>
        <p:spPr>
          <a:xfrm>
            <a:off x="6254885" y="3357938"/>
            <a:ext cx="0" cy="2657750"/>
          </a:xfrm>
          <a:prstGeom prst="line">
            <a:avLst/>
          </a:prstGeom>
          <a:ln w="2857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15143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F776C2A9-6572-9B8E-4110-60BA2E728170}"/>
              </a:ext>
            </a:extLst>
          </p:cNvPr>
          <p:cNvSpPr/>
          <p:nvPr/>
        </p:nvSpPr>
        <p:spPr>
          <a:xfrm>
            <a:off x="2847532" y="1702457"/>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3"/>
            <a:ext cx="10708654" cy="648032"/>
          </a:xfrm>
        </p:spPr>
        <p:txBody>
          <a:bodyPr>
            <a:normAutofit fontScale="90000"/>
          </a:bodyPr>
          <a:lstStyle/>
          <a:p>
            <a:r>
              <a:rPr lang="en-US" sz="3200" dirty="0">
                <a:latin typeface="Quattrocento Sans" panose="020B0502050000020003" pitchFamily="34" charset="0"/>
              </a:rPr>
              <a:t>Describe a workflow's effects from reading its configuration file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755977" y="2386894"/>
            <a:ext cx="10761020" cy="3571536"/>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944045" y="2550848"/>
            <a:ext cx="5185822" cy="830997"/>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Understand the jobs and steps (jobs:) Jobs describe what the workflow will do. For instance:</a:t>
            </a:r>
          </a:p>
          <a:p>
            <a:pPr algn="just"/>
            <a:endParaRPr lang="en-US" sz="1600" b="0" i="0" dirty="0">
              <a:solidFill>
                <a:srgbClr val="161616"/>
              </a:solidFill>
              <a:effectLst/>
              <a:latin typeface="Quattrocento Sans" panose="020B0502050000020003" pitchFamily="34" charset="0"/>
            </a:endParaRPr>
          </a:p>
        </p:txBody>
      </p:sp>
      <p:sp>
        <p:nvSpPr>
          <p:cNvPr id="4" name="Footer Placeholder 3">
            <a:extLst>
              <a:ext uri="{FF2B5EF4-FFF2-40B4-BE49-F238E27FC236}">
                <a16:creationId xmlns:a16="http://schemas.microsoft.com/office/drawing/2014/main" id="{8807CA4A-FB8D-4DD3-F2C5-1D100A6B2103}"/>
              </a:ext>
            </a:extLst>
          </p:cNvPr>
          <p:cNvSpPr>
            <a:spLocks noGrp="1" noRot="1" noMove="1" noResize="1" noEditPoints="1" noAdjustHandles="1" noChangeArrowheads="1" noChangeShapeType="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9" name="Graphic 18" descr="Badge with solid fill">
            <a:extLst>
              <a:ext uri="{FF2B5EF4-FFF2-40B4-BE49-F238E27FC236}">
                <a16:creationId xmlns:a16="http://schemas.microsoft.com/office/drawing/2014/main" id="{505A3738-BE38-9C47-0BCF-C7FC93E172C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098566" y="1727048"/>
            <a:ext cx="727696" cy="727696"/>
          </a:xfrm>
          <a:prstGeom prst="rect">
            <a:avLst/>
          </a:prstGeom>
        </p:spPr>
      </p:pic>
      <p:sp>
        <p:nvSpPr>
          <p:cNvPr id="8" name="Rectangle 7">
            <a:extLst>
              <a:ext uri="{FF2B5EF4-FFF2-40B4-BE49-F238E27FC236}">
                <a16:creationId xmlns:a16="http://schemas.microsoft.com/office/drawing/2014/main" id="{115CC67F-0F6A-0FFC-4FEC-B2C4D9E3A156}"/>
              </a:ext>
            </a:extLst>
          </p:cNvPr>
          <p:cNvSpPr/>
          <p:nvPr/>
        </p:nvSpPr>
        <p:spPr>
          <a:xfrm>
            <a:off x="1034641" y="3157734"/>
            <a:ext cx="4939583" cy="265775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2">
            <a:extLst>
              <a:ext uri="{FF2B5EF4-FFF2-40B4-BE49-F238E27FC236}">
                <a16:creationId xmlns:a16="http://schemas.microsoft.com/office/drawing/2014/main" id="{2CE4C6ED-B3E6-8001-618D-F3C8B89BF053}"/>
              </a:ext>
            </a:extLst>
          </p:cNvPr>
          <p:cNvSpPr txBox="1">
            <a:spLocks/>
          </p:cNvSpPr>
          <p:nvPr/>
        </p:nvSpPr>
        <p:spPr>
          <a:xfrm>
            <a:off x="1257141" y="3266886"/>
            <a:ext cx="4717083" cy="242172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test: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runs-on: </a:t>
            </a:r>
            <a:r>
              <a:rPr lang="en-US" dirty="0">
                <a:solidFill>
                  <a:srgbClr val="FC6E70"/>
                </a:solidFill>
                <a:latin typeface="Roboto Mono" pitchFamily="49" charset="0"/>
                <a:ea typeface="Roboto Mono" pitchFamily="49" charset="0"/>
              </a:rPr>
              <a:t>ubuntu-latest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name: </a:t>
            </a:r>
            <a:r>
              <a:rPr lang="en-US" dirty="0">
                <a:solidFill>
                  <a:srgbClr val="FC6E70"/>
                </a:solidFill>
                <a:latin typeface="Roboto Mono" pitchFamily="49" charset="0"/>
                <a:ea typeface="Roboto Mono" pitchFamily="49" charset="0"/>
              </a:rPr>
              <a:t>Checkout code</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uses: </a:t>
            </a:r>
            <a:r>
              <a:rPr lang="en-US" dirty="0">
                <a:solidFill>
                  <a:srgbClr val="FC6E70"/>
                </a:solidFill>
                <a:latin typeface="Roboto Mono" pitchFamily="49" charset="0"/>
                <a:ea typeface="Roboto Mono" pitchFamily="49" charset="0"/>
              </a:rPr>
              <a:t>actions/checkout@v3</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name: </a:t>
            </a:r>
            <a:r>
              <a:rPr lang="en-US" dirty="0">
                <a:solidFill>
                  <a:srgbClr val="FC6E70"/>
                </a:solidFill>
                <a:latin typeface="Roboto Mono" pitchFamily="49" charset="0"/>
                <a:ea typeface="Roboto Mono" pitchFamily="49" charset="0"/>
              </a:rPr>
              <a:t>Install dependencies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run: </a:t>
            </a:r>
            <a:r>
              <a:rPr lang="en-US" dirty="0" err="1">
                <a:solidFill>
                  <a:srgbClr val="FC6E70"/>
                </a:solidFill>
                <a:latin typeface="Roboto Mono" pitchFamily="49" charset="0"/>
                <a:ea typeface="Roboto Mono" pitchFamily="49" charset="0"/>
              </a:rPr>
              <a:t>npm</a:t>
            </a:r>
            <a:r>
              <a:rPr lang="en-US" dirty="0">
                <a:solidFill>
                  <a:srgbClr val="FC6E70"/>
                </a:solidFill>
                <a:latin typeface="Roboto Mono" pitchFamily="49" charset="0"/>
                <a:ea typeface="Roboto Mono" pitchFamily="49" charset="0"/>
              </a:rPr>
              <a:t> install</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name: </a:t>
            </a:r>
            <a:r>
              <a:rPr lang="en-US" dirty="0">
                <a:solidFill>
                  <a:srgbClr val="FC6E70"/>
                </a:solidFill>
                <a:latin typeface="Roboto Mono" pitchFamily="49" charset="0"/>
                <a:ea typeface="Roboto Mono" pitchFamily="49" charset="0"/>
              </a:rPr>
              <a:t>Run tests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run: </a:t>
            </a:r>
            <a:r>
              <a:rPr lang="en-US" dirty="0" err="1">
                <a:solidFill>
                  <a:srgbClr val="FC6E70"/>
                </a:solidFill>
                <a:latin typeface="Roboto Mono" pitchFamily="49" charset="0"/>
                <a:ea typeface="Roboto Mono" pitchFamily="49" charset="0"/>
              </a:rPr>
              <a:t>npm</a:t>
            </a:r>
            <a:r>
              <a:rPr lang="en-US" dirty="0">
                <a:solidFill>
                  <a:srgbClr val="FC6E70"/>
                </a:solidFill>
                <a:latin typeface="Roboto Mono" pitchFamily="49" charset="0"/>
                <a:ea typeface="Roboto Mono" pitchFamily="49" charset="0"/>
              </a:rPr>
              <a:t> test</a:t>
            </a:r>
          </a:p>
        </p:txBody>
      </p:sp>
      <p:sp>
        <p:nvSpPr>
          <p:cNvPr id="11" name="TextBox 10">
            <a:extLst>
              <a:ext uri="{FF2B5EF4-FFF2-40B4-BE49-F238E27FC236}">
                <a16:creationId xmlns:a16="http://schemas.microsoft.com/office/drawing/2014/main" id="{9DE1C2C7-1E83-8352-EBFC-CB4910F5BA3F}"/>
              </a:ext>
            </a:extLst>
          </p:cNvPr>
          <p:cNvSpPr txBox="1"/>
          <p:nvPr/>
        </p:nvSpPr>
        <p:spPr>
          <a:xfrm>
            <a:off x="6612806" y="2550848"/>
            <a:ext cx="4711491" cy="1877437"/>
          </a:xfrm>
          <a:prstGeom prst="rect">
            <a:avLst/>
          </a:prstGeom>
          <a:noFill/>
        </p:spPr>
        <p:txBody>
          <a:bodyPr wrap="square" rtlCol="0">
            <a:spAutoFit/>
          </a:bodyPr>
          <a:lstStyle/>
          <a:p>
            <a:pPr algn="just"/>
            <a:r>
              <a:rPr lang="en-US" sz="2000" b="0" i="0" dirty="0">
                <a:solidFill>
                  <a:srgbClr val="161616"/>
                </a:solidFill>
                <a:effectLst/>
                <a:latin typeface="Quattrocento Sans" panose="020B0502050000020003" pitchFamily="34" charset="0"/>
              </a:rPr>
              <a:t>Effect:</a:t>
            </a:r>
          </a:p>
          <a:p>
            <a:pPr algn="just"/>
            <a:endParaRPr lang="en-US" sz="1600" b="0" i="0" dirty="0">
              <a:solidFill>
                <a:srgbClr val="161616"/>
              </a:solidFill>
              <a:effectLst/>
              <a:latin typeface="Quattrocento Sans" panose="020B0502050000020003" pitchFamily="34" charset="0"/>
            </a:endParaRP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Uses a Linux virtual environment (ubuntu-latest).</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Checks out the repository's code.</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Installs project dependencies.</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Runs automated tests.</a:t>
            </a:r>
          </a:p>
        </p:txBody>
      </p:sp>
      <p:cxnSp>
        <p:nvCxnSpPr>
          <p:cNvPr id="16" name="Straight Connector 15">
            <a:extLst>
              <a:ext uri="{FF2B5EF4-FFF2-40B4-BE49-F238E27FC236}">
                <a16:creationId xmlns:a16="http://schemas.microsoft.com/office/drawing/2014/main" id="{996B5B5D-C8BF-7FA6-7855-D535ABC9016A}"/>
              </a:ext>
            </a:extLst>
          </p:cNvPr>
          <p:cNvCxnSpPr>
            <a:cxnSpLocks/>
          </p:cNvCxnSpPr>
          <p:nvPr/>
        </p:nvCxnSpPr>
        <p:spPr>
          <a:xfrm>
            <a:off x="6389406" y="2386894"/>
            <a:ext cx="0" cy="3571536"/>
          </a:xfrm>
          <a:prstGeom prst="line">
            <a:avLst/>
          </a:prstGeom>
          <a:ln w="2857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159105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F776C2A9-6572-9B8E-4110-60BA2E728170}"/>
              </a:ext>
            </a:extLst>
          </p:cNvPr>
          <p:cNvSpPr/>
          <p:nvPr/>
        </p:nvSpPr>
        <p:spPr>
          <a:xfrm>
            <a:off x="2378082" y="1709458"/>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3"/>
            <a:ext cx="10708654" cy="648032"/>
          </a:xfrm>
        </p:spPr>
        <p:txBody>
          <a:bodyPr>
            <a:normAutofit fontScale="90000"/>
          </a:bodyPr>
          <a:lstStyle/>
          <a:p>
            <a:r>
              <a:rPr lang="en-US" sz="3200" dirty="0">
                <a:latin typeface="Quattrocento Sans" panose="020B0502050000020003" pitchFamily="34" charset="0"/>
              </a:rPr>
              <a:t>Describe a workflow's effects from reading its configuration file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772910" y="2409280"/>
            <a:ext cx="4686469" cy="3136878"/>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960978" y="2573234"/>
            <a:ext cx="4314107" cy="338554"/>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Evaluate the purpose and outcome</a:t>
            </a:r>
          </a:p>
        </p:txBody>
      </p:sp>
      <p:sp>
        <p:nvSpPr>
          <p:cNvPr id="4" name="Footer Placeholder 3">
            <a:extLst>
              <a:ext uri="{FF2B5EF4-FFF2-40B4-BE49-F238E27FC236}">
                <a16:creationId xmlns:a16="http://schemas.microsoft.com/office/drawing/2014/main" id="{8807CA4A-FB8D-4DD3-F2C5-1D100A6B2103}"/>
              </a:ext>
            </a:extLst>
          </p:cNvPr>
          <p:cNvSpPr>
            <a:spLocks noGrp="1" noRot="1" noMove="1" noResize="1" noEditPoints="1" noAdjustHandles="1" noChangeArrowheads="1" noChangeShapeType="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9" name="Graphic 18" descr="Badge 3 with solid fill">
            <a:extLst>
              <a:ext uri="{FF2B5EF4-FFF2-40B4-BE49-F238E27FC236}">
                <a16:creationId xmlns:a16="http://schemas.microsoft.com/office/drawing/2014/main" id="{505A3738-BE38-9C47-0BCF-C7FC93E172C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629116" y="1734049"/>
            <a:ext cx="727696" cy="727696"/>
          </a:xfrm>
          <a:prstGeom prst="rect">
            <a:avLst/>
          </a:prstGeom>
        </p:spPr>
      </p:pic>
      <p:sp>
        <p:nvSpPr>
          <p:cNvPr id="3" name="TextBox 2">
            <a:extLst>
              <a:ext uri="{FF2B5EF4-FFF2-40B4-BE49-F238E27FC236}">
                <a16:creationId xmlns:a16="http://schemas.microsoft.com/office/drawing/2014/main" id="{30B75D61-7168-7826-532E-BE56599CF1E3}"/>
              </a:ext>
            </a:extLst>
          </p:cNvPr>
          <p:cNvSpPr txBox="1"/>
          <p:nvPr/>
        </p:nvSpPr>
        <p:spPr>
          <a:xfrm>
            <a:off x="960978" y="3060283"/>
            <a:ext cx="4314107" cy="2308324"/>
          </a:xfrm>
          <a:prstGeom prst="rect">
            <a:avLst/>
          </a:prstGeom>
          <a:noFill/>
        </p:spPr>
        <p:txBody>
          <a:bodyPr wrap="square" rtlCol="0">
            <a:spAutoFit/>
          </a:bodyPr>
          <a:lstStyle/>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By reading the configuration, you can describe the intended outcome of the workflow: “This workflow is a Continuous Integration (CI) pipeline. It ensures that any new code pushed to the repository or submitted via pull request is automatically tested. If tests fail, the workflow will indicate this in the GitHub UI, helping maintain code quality.”</a:t>
            </a:r>
          </a:p>
        </p:txBody>
      </p:sp>
      <p:sp>
        <p:nvSpPr>
          <p:cNvPr id="5" name="Oval 4">
            <a:extLst>
              <a:ext uri="{FF2B5EF4-FFF2-40B4-BE49-F238E27FC236}">
                <a16:creationId xmlns:a16="http://schemas.microsoft.com/office/drawing/2014/main" id="{2994F698-949D-D208-F29C-1AB1387B63FB}"/>
              </a:ext>
            </a:extLst>
          </p:cNvPr>
          <p:cNvSpPr/>
          <p:nvPr/>
        </p:nvSpPr>
        <p:spPr>
          <a:xfrm>
            <a:off x="8251325" y="1709458"/>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DE30BB2-7FD4-578E-6306-772124271D96}"/>
              </a:ext>
            </a:extLst>
          </p:cNvPr>
          <p:cNvSpPr>
            <a:spLocks/>
          </p:cNvSpPr>
          <p:nvPr/>
        </p:nvSpPr>
        <p:spPr>
          <a:xfrm>
            <a:off x="6646153" y="2409280"/>
            <a:ext cx="4686469" cy="2383934"/>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7" name="TextBox 6">
            <a:extLst>
              <a:ext uri="{FF2B5EF4-FFF2-40B4-BE49-F238E27FC236}">
                <a16:creationId xmlns:a16="http://schemas.microsoft.com/office/drawing/2014/main" id="{2E1B031B-E7A1-CBB4-3DB7-DB869BFC004E}"/>
              </a:ext>
            </a:extLst>
          </p:cNvPr>
          <p:cNvSpPr txBox="1"/>
          <p:nvPr/>
        </p:nvSpPr>
        <p:spPr>
          <a:xfrm>
            <a:off x="6834221" y="2573234"/>
            <a:ext cx="4314107" cy="338554"/>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Optional features affecting behavior</a:t>
            </a:r>
          </a:p>
        </p:txBody>
      </p:sp>
      <p:pic>
        <p:nvPicPr>
          <p:cNvPr id="10" name="Graphic 9" descr="Badge 4 with solid fill">
            <a:extLst>
              <a:ext uri="{FF2B5EF4-FFF2-40B4-BE49-F238E27FC236}">
                <a16:creationId xmlns:a16="http://schemas.microsoft.com/office/drawing/2014/main" id="{E6E81792-611C-F5CF-BCEA-4937231E100B}"/>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502359" y="1734049"/>
            <a:ext cx="727696" cy="727696"/>
          </a:xfrm>
          <a:prstGeom prst="rect">
            <a:avLst/>
          </a:prstGeom>
        </p:spPr>
      </p:pic>
      <p:sp>
        <p:nvSpPr>
          <p:cNvPr id="15" name="TextBox 14">
            <a:extLst>
              <a:ext uri="{FF2B5EF4-FFF2-40B4-BE49-F238E27FC236}">
                <a16:creationId xmlns:a16="http://schemas.microsoft.com/office/drawing/2014/main" id="{C1766D16-E7FD-89A4-B2B3-303A46C4F4AE}"/>
              </a:ext>
            </a:extLst>
          </p:cNvPr>
          <p:cNvSpPr txBox="1"/>
          <p:nvPr/>
        </p:nvSpPr>
        <p:spPr>
          <a:xfrm>
            <a:off x="6834221" y="3060283"/>
            <a:ext cx="4314107" cy="1569660"/>
          </a:xfrm>
          <a:prstGeom prst="rect">
            <a:avLst/>
          </a:prstGeom>
          <a:noFill/>
        </p:spPr>
        <p:txBody>
          <a:bodyPr wrap="square" rtlCol="0">
            <a:spAutoFit/>
          </a:bodyPr>
          <a:lstStyle/>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env: sets environment variables.</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if: adds conditional logic to run certain steps only when criteria are met.</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timeout-minutes: or continue-on-error: influence execution behavior and error handling.</a:t>
            </a:r>
          </a:p>
        </p:txBody>
      </p:sp>
    </p:spTree>
    <p:extLst>
      <p:ext uri="{BB962C8B-B14F-4D97-AF65-F5344CB8AC3E}">
        <p14:creationId xmlns:p14="http://schemas.microsoft.com/office/powerpoint/2010/main" val="190173557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Summary</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62141" y="948302"/>
            <a:ext cx="10384538" cy="382705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400" dirty="0">
                <a:latin typeface="Quattrocento Sans" panose="020B0502050000020003" pitchFamily="34" charset="0"/>
              </a:rPr>
              <a:t>From reading a workflow’s configuration file, you can describe its effects by identifying:</a:t>
            </a:r>
          </a:p>
          <a:p>
            <a:pPr lvl="1" algn="just">
              <a:spcAft>
                <a:spcPts val="1200"/>
              </a:spcAft>
            </a:pPr>
            <a:r>
              <a:rPr lang="en-US" sz="2400" dirty="0">
                <a:latin typeface="Quattrocento Sans" panose="020B0502050000020003" pitchFamily="34" charset="0"/>
              </a:rPr>
              <a:t>When it runs (on: section),</a:t>
            </a:r>
          </a:p>
          <a:p>
            <a:pPr lvl="1" algn="just">
              <a:spcAft>
                <a:spcPts val="1200"/>
              </a:spcAft>
            </a:pPr>
            <a:r>
              <a:rPr lang="en-US" sz="2400" dirty="0">
                <a:latin typeface="Quattrocento Sans" panose="020B0502050000020003" pitchFamily="34" charset="0"/>
              </a:rPr>
              <a:t>What it does (jobs and steps),</a:t>
            </a:r>
          </a:p>
          <a:p>
            <a:pPr lvl="1" algn="just">
              <a:spcAft>
                <a:spcPts val="1200"/>
              </a:spcAft>
            </a:pPr>
            <a:r>
              <a:rPr lang="en-US" sz="2400" dirty="0">
                <a:latin typeface="Quattrocento Sans" panose="020B0502050000020003" pitchFamily="34" charset="0"/>
              </a:rPr>
              <a:t>Where it runs (runs-on),</a:t>
            </a:r>
          </a:p>
          <a:p>
            <a:pPr lvl="1" algn="just">
              <a:spcAft>
                <a:spcPts val="1200"/>
              </a:spcAft>
            </a:pPr>
            <a:r>
              <a:rPr lang="en-US" sz="2400" dirty="0">
                <a:latin typeface="Quattrocento Sans" panose="020B0502050000020003" pitchFamily="34" charset="0"/>
              </a:rPr>
              <a:t>Why it runs (its purpose: testing, deploying, linting, etc.),</a:t>
            </a:r>
          </a:p>
          <a:p>
            <a:pPr lvl="1" algn="just">
              <a:spcAft>
                <a:spcPts val="1200"/>
              </a:spcAft>
            </a:pPr>
            <a:r>
              <a:rPr lang="en-US" sz="2400" dirty="0">
                <a:latin typeface="Quattrocento Sans" panose="020B0502050000020003" pitchFamily="34" charset="0"/>
              </a:rPr>
              <a:t>How it behaves under certain conditions (environment, filters, logic).</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684126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F776C2A9-6572-9B8E-4110-60BA2E728170}"/>
              </a:ext>
            </a:extLst>
          </p:cNvPr>
          <p:cNvSpPr/>
          <p:nvPr/>
        </p:nvSpPr>
        <p:spPr>
          <a:xfrm>
            <a:off x="2428882" y="1658658"/>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3"/>
            <a:ext cx="10708654" cy="648032"/>
          </a:xfrm>
        </p:spPr>
        <p:txBody>
          <a:bodyPr>
            <a:normAutofit/>
          </a:bodyPr>
          <a:lstStyle/>
          <a:p>
            <a:r>
              <a:rPr lang="en-US" sz="3200" dirty="0">
                <a:latin typeface="Quattrocento Sans" panose="020B0502050000020003" pitchFamily="34" charset="0"/>
              </a:rPr>
              <a:t>Diagnose a failed workflow run</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823710" y="2358480"/>
            <a:ext cx="4686469" cy="3136878"/>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1011778" y="2522434"/>
            <a:ext cx="4314107" cy="369332"/>
          </a:xfrm>
          <a:prstGeom prst="rect">
            <a:avLst/>
          </a:prstGeom>
          <a:noFill/>
        </p:spPr>
        <p:txBody>
          <a:bodyPr wrap="square" rtlCol="0">
            <a:spAutoFit/>
          </a:bodyPr>
          <a:lstStyle/>
          <a:p>
            <a:pPr algn="just"/>
            <a:r>
              <a:rPr lang="en-US" b="1" i="0" dirty="0">
                <a:solidFill>
                  <a:srgbClr val="161616"/>
                </a:solidFill>
                <a:effectLst/>
                <a:latin typeface="Quattrocento Sans" panose="020B0502050000020003" pitchFamily="34" charset="0"/>
              </a:rPr>
              <a:t>Go to the Actions Tab</a:t>
            </a:r>
          </a:p>
        </p:txBody>
      </p:sp>
      <p:sp>
        <p:nvSpPr>
          <p:cNvPr id="4" name="Footer Placeholder 3">
            <a:extLst>
              <a:ext uri="{FF2B5EF4-FFF2-40B4-BE49-F238E27FC236}">
                <a16:creationId xmlns:a16="http://schemas.microsoft.com/office/drawing/2014/main" id="{8807CA4A-FB8D-4DD3-F2C5-1D100A6B2103}"/>
              </a:ext>
            </a:extLst>
          </p:cNvPr>
          <p:cNvSpPr>
            <a:spLocks noGrp="1" noRot="1" noMove="1" noResize="1" noEditPoints="1" noAdjustHandles="1" noChangeArrowheads="1" noChangeShapeType="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9" name="Graphic 18" descr="Badge 1 with solid fill">
            <a:extLst>
              <a:ext uri="{FF2B5EF4-FFF2-40B4-BE49-F238E27FC236}">
                <a16:creationId xmlns:a16="http://schemas.microsoft.com/office/drawing/2014/main" id="{505A3738-BE38-9C47-0BCF-C7FC93E172C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679916" y="1683249"/>
            <a:ext cx="727696" cy="727696"/>
          </a:xfrm>
          <a:prstGeom prst="rect">
            <a:avLst/>
          </a:prstGeom>
        </p:spPr>
      </p:pic>
      <p:sp>
        <p:nvSpPr>
          <p:cNvPr id="3" name="TextBox 2">
            <a:extLst>
              <a:ext uri="{FF2B5EF4-FFF2-40B4-BE49-F238E27FC236}">
                <a16:creationId xmlns:a16="http://schemas.microsoft.com/office/drawing/2014/main" id="{30B75D61-7168-7826-532E-BE56599CF1E3}"/>
              </a:ext>
            </a:extLst>
          </p:cNvPr>
          <p:cNvSpPr txBox="1"/>
          <p:nvPr/>
        </p:nvSpPr>
        <p:spPr>
          <a:xfrm>
            <a:off x="1011778" y="3009483"/>
            <a:ext cx="4314107" cy="1877437"/>
          </a:xfrm>
          <a:prstGeom prst="rect">
            <a:avLst/>
          </a:prstGeom>
          <a:noFill/>
        </p:spPr>
        <p:txBody>
          <a:bodyPr wrap="square" rtlCol="0">
            <a:spAutoFit/>
          </a:bodyPr>
          <a:lstStyle/>
          <a:p>
            <a:pPr algn="just">
              <a:spcAft>
                <a:spcPts val="1200"/>
              </a:spcAft>
            </a:pPr>
            <a:r>
              <a:rPr lang="en-US" sz="1600" b="0" i="0" dirty="0">
                <a:solidFill>
                  <a:srgbClr val="161616"/>
                </a:solidFill>
                <a:effectLst/>
                <a:latin typeface="Quattrocento Sans" panose="020B0502050000020003" pitchFamily="34" charset="0"/>
              </a:rPr>
              <a:t>Navigate to the Actions tab of your repository, then:</a:t>
            </a:r>
          </a:p>
          <a:p>
            <a:pPr marL="285750" indent="-285750" algn="just">
              <a:spcAft>
                <a:spcPts val="12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Find the failed run (usually marked with a red)</a:t>
            </a:r>
          </a:p>
          <a:p>
            <a:pPr marL="285750" indent="-285750" algn="just">
              <a:spcAft>
                <a:spcPts val="12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Click the failed workflow to open the run summary.</a:t>
            </a:r>
          </a:p>
        </p:txBody>
      </p:sp>
      <p:sp>
        <p:nvSpPr>
          <p:cNvPr id="5" name="Oval 4">
            <a:extLst>
              <a:ext uri="{FF2B5EF4-FFF2-40B4-BE49-F238E27FC236}">
                <a16:creationId xmlns:a16="http://schemas.microsoft.com/office/drawing/2014/main" id="{2994F698-949D-D208-F29C-1AB1387B63FB}"/>
              </a:ext>
            </a:extLst>
          </p:cNvPr>
          <p:cNvSpPr/>
          <p:nvPr/>
        </p:nvSpPr>
        <p:spPr>
          <a:xfrm>
            <a:off x="8302125" y="1658658"/>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DE30BB2-7FD4-578E-6306-772124271D96}"/>
              </a:ext>
            </a:extLst>
          </p:cNvPr>
          <p:cNvSpPr>
            <a:spLocks/>
          </p:cNvSpPr>
          <p:nvPr/>
        </p:nvSpPr>
        <p:spPr>
          <a:xfrm>
            <a:off x="6696953" y="2358479"/>
            <a:ext cx="4686469" cy="3769513"/>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7" name="TextBox 6">
            <a:extLst>
              <a:ext uri="{FF2B5EF4-FFF2-40B4-BE49-F238E27FC236}">
                <a16:creationId xmlns:a16="http://schemas.microsoft.com/office/drawing/2014/main" id="{2E1B031B-E7A1-CBB4-3DB7-DB869BFC004E}"/>
              </a:ext>
            </a:extLst>
          </p:cNvPr>
          <p:cNvSpPr txBox="1"/>
          <p:nvPr/>
        </p:nvSpPr>
        <p:spPr>
          <a:xfrm>
            <a:off x="6885021" y="2522434"/>
            <a:ext cx="4314107" cy="369332"/>
          </a:xfrm>
          <a:prstGeom prst="rect">
            <a:avLst/>
          </a:prstGeom>
          <a:noFill/>
        </p:spPr>
        <p:txBody>
          <a:bodyPr wrap="square" rtlCol="0">
            <a:spAutoFit/>
          </a:bodyPr>
          <a:lstStyle/>
          <a:p>
            <a:pPr algn="just"/>
            <a:r>
              <a:rPr lang="en-US" b="1" i="0" dirty="0">
                <a:solidFill>
                  <a:srgbClr val="161616"/>
                </a:solidFill>
                <a:effectLst/>
                <a:latin typeface="Quattrocento Sans" panose="020B0502050000020003" pitchFamily="34" charset="0"/>
              </a:rPr>
              <a:t>Review the error in Logs</a:t>
            </a:r>
          </a:p>
        </p:txBody>
      </p:sp>
      <p:pic>
        <p:nvPicPr>
          <p:cNvPr id="10" name="Graphic 9" descr="Badge with solid fill">
            <a:extLst>
              <a:ext uri="{FF2B5EF4-FFF2-40B4-BE49-F238E27FC236}">
                <a16:creationId xmlns:a16="http://schemas.microsoft.com/office/drawing/2014/main" id="{E6E81792-611C-F5CF-BCEA-4937231E100B}"/>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553159" y="1683249"/>
            <a:ext cx="727696" cy="727696"/>
          </a:xfrm>
          <a:prstGeom prst="rect">
            <a:avLst/>
          </a:prstGeom>
        </p:spPr>
      </p:pic>
      <p:sp>
        <p:nvSpPr>
          <p:cNvPr id="15" name="TextBox 14">
            <a:extLst>
              <a:ext uri="{FF2B5EF4-FFF2-40B4-BE49-F238E27FC236}">
                <a16:creationId xmlns:a16="http://schemas.microsoft.com/office/drawing/2014/main" id="{C1766D16-E7FD-89A4-B2B3-303A46C4F4AE}"/>
              </a:ext>
            </a:extLst>
          </p:cNvPr>
          <p:cNvSpPr txBox="1"/>
          <p:nvPr/>
        </p:nvSpPr>
        <p:spPr>
          <a:xfrm>
            <a:off x="6885021" y="3009483"/>
            <a:ext cx="4314107" cy="2939266"/>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In the run summary:</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Expand each job and step until you find the one marked as failed.</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Click to view its logs.</a:t>
            </a:r>
          </a:p>
          <a:p>
            <a:pPr algn="just"/>
            <a:r>
              <a:rPr lang="en-US" sz="1600" b="0" i="0" dirty="0">
                <a:solidFill>
                  <a:srgbClr val="161616"/>
                </a:solidFill>
                <a:effectLst/>
                <a:latin typeface="Quattrocento Sans" panose="020B0502050000020003" pitchFamily="34" charset="0"/>
              </a:rPr>
              <a:t>Look for:</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Error messages</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Stack traces</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Exit codes</a:t>
            </a:r>
          </a:p>
          <a:p>
            <a:pPr algn="just">
              <a:spcAft>
                <a:spcPts val="1200"/>
              </a:spcAft>
            </a:pPr>
            <a:r>
              <a:rPr lang="en-US" sz="1600" b="0" i="0" dirty="0">
                <a:solidFill>
                  <a:srgbClr val="161616"/>
                </a:solidFill>
                <a:effectLst/>
                <a:latin typeface="Quattrocento Sans" panose="020B0502050000020003" pitchFamily="34" charset="0"/>
              </a:rPr>
              <a:t>For example, a failed test might show </a:t>
            </a:r>
            <a:r>
              <a:rPr lang="en-US" sz="1600" b="0" i="0" dirty="0" err="1">
                <a:solidFill>
                  <a:srgbClr val="161616"/>
                </a:solidFill>
                <a:effectLst/>
                <a:latin typeface="Quattrocento Sans" panose="020B0502050000020003" pitchFamily="34" charset="0"/>
              </a:rPr>
              <a:t>npm</a:t>
            </a:r>
            <a:r>
              <a:rPr lang="en-US" sz="1600" b="0" i="0" dirty="0">
                <a:solidFill>
                  <a:srgbClr val="161616"/>
                </a:solidFill>
                <a:effectLst/>
                <a:latin typeface="Quattrocento Sans" panose="020B0502050000020003" pitchFamily="34" charset="0"/>
              </a:rPr>
              <a:t> ERR! Test failed. or exit code 1.</a:t>
            </a:r>
          </a:p>
        </p:txBody>
      </p:sp>
    </p:spTree>
    <p:extLst>
      <p:ext uri="{BB962C8B-B14F-4D97-AF65-F5344CB8AC3E}">
        <p14:creationId xmlns:p14="http://schemas.microsoft.com/office/powerpoint/2010/main" val="245327164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F776C2A9-6572-9B8E-4110-60BA2E728170}"/>
              </a:ext>
            </a:extLst>
          </p:cNvPr>
          <p:cNvSpPr/>
          <p:nvPr/>
        </p:nvSpPr>
        <p:spPr>
          <a:xfrm>
            <a:off x="2086294" y="1652970"/>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3"/>
            <a:ext cx="10708654" cy="648032"/>
          </a:xfrm>
        </p:spPr>
        <p:txBody>
          <a:bodyPr>
            <a:normAutofit/>
          </a:bodyPr>
          <a:lstStyle/>
          <a:p>
            <a:r>
              <a:rPr lang="en-US" sz="3200" dirty="0">
                <a:latin typeface="Quattrocento Sans" panose="020B0502050000020003" pitchFamily="34" charset="0"/>
              </a:rPr>
              <a:t>Diagnose a failed workflow run </a:t>
            </a:r>
            <a:r>
              <a:rPr lang="en-US" sz="24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481122" y="2352791"/>
            <a:ext cx="4686469" cy="4068291"/>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669190" y="2516746"/>
            <a:ext cx="4314107" cy="369332"/>
          </a:xfrm>
          <a:prstGeom prst="rect">
            <a:avLst/>
          </a:prstGeom>
          <a:noFill/>
        </p:spPr>
        <p:txBody>
          <a:bodyPr wrap="square" rtlCol="0">
            <a:spAutoFit/>
          </a:bodyPr>
          <a:lstStyle/>
          <a:p>
            <a:pPr algn="just"/>
            <a:r>
              <a:rPr lang="en-US" b="1" i="0" dirty="0">
                <a:solidFill>
                  <a:srgbClr val="161616"/>
                </a:solidFill>
                <a:effectLst/>
                <a:latin typeface="Quattrocento Sans" panose="020B0502050000020003" pitchFamily="34" charset="0"/>
              </a:rPr>
              <a:t>Check the workflow configuration file</a:t>
            </a:r>
          </a:p>
        </p:txBody>
      </p:sp>
      <p:sp>
        <p:nvSpPr>
          <p:cNvPr id="4" name="Footer Placeholder 3">
            <a:extLst>
              <a:ext uri="{FF2B5EF4-FFF2-40B4-BE49-F238E27FC236}">
                <a16:creationId xmlns:a16="http://schemas.microsoft.com/office/drawing/2014/main" id="{8807CA4A-FB8D-4DD3-F2C5-1D100A6B2103}"/>
              </a:ext>
            </a:extLst>
          </p:cNvPr>
          <p:cNvSpPr>
            <a:spLocks noGrp="1" noRot="1" noMove="1" noResize="1" noEditPoints="1" noAdjustHandles="1" noChangeArrowheads="1" noChangeShapeType="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9" name="Graphic 18" descr="Badge 3 with solid fill">
            <a:extLst>
              <a:ext uri="{FF2B5EF4-FFF2-40B4-BE49-F238E27FC236}">
                <a16:creationId xmlns:a16="http://schemas.microsoft.com/office/drawing/2014/main" id="{505A3738-BE38-9C47-0BCF-C7FC93E172C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337328" y="1677561"/>
            <a:ext cx="727696" cy="727696"/>
          </a:xfrm>
          <a:prstGeom prst="rect">
            <a:avLst/>
          </a:prstGeom>
        </p:spPr>
      </p:pic>
      <p:sp>
        <p:nvSpPr>
          <p:cNvPr id="3" name="TextBox 2">
            <a:extLst>
              <a:ext uri="{FF2B5EF4-FFF2-40B4-BE49-F238E27FC236}">
                <a16:creationId xmlns:a16="http://schemas.microsoft.com/office/drawing/2014/main" id="{30B75D61-7168-7826-532E-BE56599CF1E3}"/>
              </a:ext>
            </a:extLst>
          </p:cNvPr>
          <p:cNvSpPr txBox="1"/>
          <p:nvPr/>
        </p:nvSpPr>
        <p:spPr>
          <a:xfrm>
            <a:off x="669190" y="3003795"/>
            <a:ext cx="4314107" cy="3262432"/>
          </a:xfrm>
          <a:prstGeom prst="rect">
            <a:avLst/>
          </a:prstGeom>
          <a:noFill/>
        </p:spPr>
        <p:txBody>
          <a:bodyPr wrap="square" rtlCol="0">
            <a:spAutoFit/>
          </a:bodyPr>
          <a:lstStyle/>
          <a:p>
            <a:pPr algn="just">
              <a:spcAft>
                <a:spcPts val="600"/>
              </a:spcAft>
            </a:pPr>
            <a:r>
              <a:rPr lang="en-US" sz="1600" b="0" i="0" dirty="0">
                <a:solidFill>
                  <a:srgbClr val="161616"/>
                </a:solidFill>
                <a:effectLst/>
                <a:latin typeface="Quattrocento Sans" panose="020B0502050000020003" pitchFamily="34" charset="0"/>
              </a:rPr>
              <a:t>Use the .</a:t>
            </a:r>
            <a:r>
              <a:rPr lang="en-US" sz="1600" b="0" i="0" dirty="0" err="1">
                <a:solidFill>
                  <a:srgbClr val="161616"/>
                </a:solidFill>
                <a:effectLst/>
                <a:latin typeface="Quattrocento Sans" panose="020B0502050000020003" pitchFamily="34" charset="0"/>
              </a:rPr>
              <a:t>yml</a:t>
            </a:r>
            <a:r>
              <a:rPr lang="en-US" sz="1600" b="0" i="0" dirty="0">
                <a:solidFill>
                  <a:srgbClr val="161616"/>
                </a:solidFill>
                <a:effectLst/>
                <a:latin typeface="Quattrocento Sans" panose="020B0502050000020003" pitchFamily="34" charset="0"/>
              </a:rPr>
              <a:t> file to determine:</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What was each step trying to do?</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If there are environment variables (env:) or conditionals (if:) affecting execution.</a:t>
            </a:r>
          </a:p>
          <a:p>
            <a:pPr marL="285750" indent="-285750">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If the failure is due to a missing dependency, syntax error, or misconfigured step.</a:t>
            </a:r>
          </a:p>
          <a:p>
            <a:pPr algn="just">
              <a:spcAft>
                <a:spcPts val="600"/>
              </a:spcAft>
            </a:pPr>
            <a:r>
              <a:rPr lang="en-US" sz="1600" b="0" i="0" dirty="0">
                <a:solidFill>
                  <a:srgbClr val="161616"/>
                </a:solidFill>
                <a:effectLst/>
                <a:latin typeface="Quattrocento Sans" panose="020B0502050000020003" pitchFamily="34" charset="0"/>
              </a:rPr>
              <a:t>If this step failed, check:</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Were dependencies installed successfully in the previous step?</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Do test files exist and pass locally?</a:t>
            </a:r>
          </a:p>
        </p:txBody>
      </p:sp>
      <p:sp>
        <p:nvSpPr>
          <p:cNvPr id="5" name="Oval 4">
            <a:extLst>
              <a:ext uri="{FF2B5EF4-FFF2-40B4-BE49-F238E27FC236}">
                <a16:creationId xmlns:a16="http://schemas.microsoft.com/office/drawing/2014/main" id="{2994F698-949D-D208-F29C-1AB1387B63FB}"/>
              </a:ext>
            </a:extLst>
          </p:cNvPr>
          <p:cNvSpPr/>
          <p:nvPr/>
        </p:nvSpPr>
        <p:spPr>
          <a:xfrm>
            <a:off x="7989038" y="1652970"/>
            <a:ext cx="1294812" cy="121571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DE30BB2-7FD4-578E-6306-772124271D96}"/>
              </a:ext>
            </a:extLst>
          </p:cNvPr>
          <p:cNvSpPr>
            <a:spLocks/>
          </p:cNvSpPr>
          <p:nvPr/>
        </p:nvSpPr>
        <p:spPr>
          <a:xfrm>
            <a:off x="5571066" y="2336581"/>
            <a:ext cx="6139812" cy="4084501"/>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7" name="TextBox 6">
            <a:extLst>
              <a:ext uri="{FF2B5EF4-FFF2-40B4-BE49-F238E27FC236}">
                <a16:creationId xmlns:a16="http://schemas.microsoft.com/office/drawing/2014/main" id="{2E1B031B-E7A1-CBB4-3DB7-DB869BFC004E}"/>
              </a:ext>
            </a:extLst>
          </p:cNvPr>
          <p:cNvSpPr txBox="1"/>
          <p:nvPr/>
        </p:nvSpPr>
        <p:spPr>
          <a:xfrm>
            <a:off x="5759134" y="2500536"/>
            <a:ext cx="4314107" cy="369332"/>
          </a:xfrm>
          <a:prstGeom prst="rect">
            <a:avLst/>
          </a:prstGeom>
          <a:noFill/>
        </p:spPr>
        <p:txBody>
          <a:bodyPr wrap="square" rtlCol="0">
            <a:spAutoFit/>
          </a:bodyPr>
          <a:lstStyle/>
          <a:p>
            <a:pPr algn="just"/>
            <a:r>
              <a:rPr lang="en-US" b="1" i="0" dirty="0">
                <a:solidFill>
                  <a:srgbClr val="161616"/>
                </a:solidFill>
                <a:effectLst/>
                <a:latin typeface="Quattrocento Sans" panose="020B0502050000020003" pitchFamily="34" charset="0"/>
              </a:rPr>
              <a:t>Common failure scenarios</a:t>
            </a:r>
          </a:p>
        </p:txBody>
      </p:sp>
      <p:pic>
        <p:nvPicPr>
          <p:cNvPr id="10" name="Graphic 9" descr="Badge 4 with solid fill">
            <a:extLst>
              <a:ext uri="{FF2B5EF4-FFF2-40B4-BE49-F238E27FC236}">
                <a16:creationId xmlns:a16="http://schemas.microsoft.com/office/drawing/2014/main" id="{E6E81792-611C-F5CF-BCEA-4937231E100B}"/>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240072" y="1677561"/>
            <a:ext cx="727696" cy="727696"/>
          </a:xfrm>
          <a:prstGeom prst="rect">
            <a:avLst/>
          </a:prstGeom>
        </p:spPr>
      </p:pic>
      <p:graphicFrame>
        <p:nvGraphicFramePr>
          <p:cNvPr id="8" name="Table 7">
            <a:extLst>
              <a:ext uri="{FF2B5EF4-FFF2-40B4-BE49-F238E27FC236}">
                <a16:creationId xmlns:a16="http://schemas.microsoft.com/office/drawing/2014/main" id="{9FB9DC94-41E2-51F4-1A55-21E39F90B559}"/>
              </a:ext>
            </a:extLst>
          </p:cNvPr>
          <p:cNvGraphicFramePr>
            <a:graphicFrameLocks noGrp="1"/>
          </p:cNvGraphicFramePr>
          <p:nvPr>
            <p:extLst>
              <p:ext uri="{D42A27DB-BD31-4B8C-83A1-F6EECF244321}">
                <p14:modId xmlns:p14="http://schemas.microsoft.com/office/powerpoint/2010/main" val="1306239534"/>
              </p:ext>
            </p:extLst>
          </p:nvPr>
        </p:nvGraphicFramePr>
        <p:xfrm>
          <a:off x="5759134" y="3166533"/>
          <a:ext cx="5763676" cy="3235041"/>
        </p:xfrm>
        <a:graphic>
          <a:graphicData uri="http://schemas.openxmlformats.org/drawingml/2006/table">
            <a:tbl>
              <a:tblPr firstRow="1" bandRow="1">
                <a:tableStyleId>{5C22544A-7EE6-4342-B048-85BDC9FD1C3A}</a:tableStyleId>
              </a:tblPr>
              <a:tblGrid>
                <a:gridCol w="2352224">
                  <a:extLst>
                    <a:ext uri="{9D8B030D-6E8A-4147-A177-3AD203B41FA5}">
                      <a16:colId xmlns:a16="http://schemas.microsoft.com/office/drawing/2014/main" val="2848531667"/>
                    </a:ext>
                  </a:extLst>
                </a:gridCol>
                <a:gridCol w="3411452">
                  <a:extLst>
                    <a:ext uri="{9D8B030D-6E8A-4147-A177-3AD203B41FA5}">
                      <a16:colId xmlns:a16="http://schemas.microsoft.com/office/drawing/2014/main" val="2901937353"/>
                    </a:ext>
                  </a:extLst>
                </a:gridCol>
              </a:tblGrid>
              <a:tr h="230414">
                <a:tc>
                  <a:txBody>
                    <a:bodyPr/>
                    <a:lstStyle/>
                    <a:p>
                      <a:pPr algn="l" fontAlgn="t"/>
                      <a:r>
                        <a:rPr lang="en-US" dirty="0">
                          <a:solidFill>
                            <a:schemeClr val="tx1"/>
                          </a:solidFill>
                          <a:effectLst/>
                          <a:latin typeface="Quattrocento Sans" panose="020B0502050000020003" pitchFamily="34" charset="0"/>
                        </a:rPr>
                        <a:t>Symptom</a:t>
                      </a:r>
                    </a:p>
                  </a:txBody>
                  <a:tcPr anchor="b">
                    <a:solidFill>
                      <a:schemeClr val="bg1">
                        <a:lumMod val="95000"/>
                      </a:schemeClr>
                    </a:solidFill>
                  </a:tcPr>
                </a:tc>
                <a:tc>
                  <a:txBody>
                    <a:bodyPr/>
                    <a:lstStyle/>
                    <a:p>
                      <a:pPr algn="l" fontAlgn="t"/>
                      <a:r>
                        <a:rPr lang="en-US" dirty="0">
                          <a:solidFill>
                            <a:schemeClr val="tx1"/>
                          </a:solidFill>
                          <a:effectLst/>
                          <a:latin typeface="Quattrocento Sans" panose="020B0502050000020003" pitchFamily="34" charset="0"/>
                        </a:rPr>
                        <a:t>Likely Cause</a:t>
                      </a:r>
                    </a:p>
                  </a:txBody>
                  <a:tcPr anchor="b">
                    <a:solidFill>
                      <a:schemeClr val="bg1">
                        <a:lumMod val="95000"/>
                      </a:schemeClr>
                    </a:solidFill>
                  </a:tcPr>
                </a:tc>
                <a:extLst>
                  <a:ext uri="{0D108BD9-81ED-4DB2-BD59-A6C34878D82A}">
                    <a16:rowId xmlns:a16="http://schemas.microsoft.com/office/drawing/2014/main" val="3164507869"/>
                  </a:ext>
                </a:extLst>
              </a:tr>
              <a:tr h="922269">
                <a:tc>
                  <a:txBody>
                    <a:bodyPr/>
                    <a:lstStyle/>
                    <a:p>
                      <a:pPr algn="l" fontAlgn="t"/>
                      <a:r>
                        <a:rPr lang="en-US" sz="1600" dirty="0">
                          <a:effectLst/>
                          <a:latin typeface="Quattrocento Sans" panose="020B0502050000020003" pitchFamily="34" charset="0"/>
                        </a:rPr>
                        <a:t>Step fails with </a:t>
                      </a:r>
                      <a:r>
                        <a:rPr lang="en-US" sz="1600" dirty="0">
                          <a:effectLst/>
                          <a:highlight>
                            <a:srgbClr val="C0C0C0"/>
                          </a:highlight>
                          <a:latin typeface="Roboto Mono" pitchFamily="49" charset="0"/>
                          <a:ea typeface="Roboto Mono" pitchFamily="49" charset="0"/>
                        </a:rPr>
                        <a:t>command not found</a:t>
                      </a:r>
                    </a:p>
                  </a:txBody>
                  <a:tcPr anchor="b">
                    <a:solidFill>
                      <a:schemeClr val="bg1">
                        <a:lumMod val="95000"/>
                      </a:schemeClr>
                    </a:solidFill>
                  </a:tcPr>
                </a:tc>
                <a:tc>
                  <a:txBody>
                    <a:bodyPr/>
                    <a:lstStyle/>
                    <a:p>
                      <a:pPr algn="l" fontAlgn="t"/>
                      <a:r>
                        <a:rPr lang="en-US" sz="1600" dirty="0">
                          <a:effectLst/>
                          <a:latin typeface="Quattrocento Sans" panose="020B0502050000020003" pitchFamily="34" charset="0"/>
                        </a:rPr>
                        <a:t>Missing dependency or wrong setup</a:t>
                      </a:r>
                    </a:p>
                  </a:txBody>
                  <a:tcPr anchor="b">
                    <a:solidFill>
                      <a:schemeClr val="bg1">
                        <a:lumMod val="95000"/>
                      </a:schemeClr>
                    </a:solidFill>
                  </a:tcPr>
                </a:tc>
                <a:extLst>
                  <a:ext uri="{0D108BD9-81ED-4DB2-BD59-A6C34878D82A}">
                    <a16:rowId xmlns:a16="http://schemas.microsoft.com/office/drawing/2014/main" val="3723352478"/>
                  </a:ext>
                </a:extLst>
              </a:tr>
              <a:tr h="649004">
                <a:tc>
                  <a:txBody>
                    <a:bodyPr/>
                    <a:lstStyle/>
                    <a:p>
                      <a:pPr algn="l" fontAlgn="t"/>
                      <a:r>
                        <a:rPr lang="en-US" sz="1600" dirty="0" err="1">
                          <a:effectLst/>
                          <a:highlight>
                            <a:srgbClr val="C0C0C0"/>
                          </a:highlight>
                          <a:latin typeface="Roboto Mono" pitchFamily="49" charset="0"/>
                          <a:ea typeface="Roboto Mono" pitchFamily="49" charset="0"/>
                        </a:rPr>
                        <a:t>npm</a:t>
                      </a:r>
                      <a:r>
                        <a:rPr lang="en-US" sz="1600" dirty="0">
                          <a:effectLst/>
                          <a:highlight>
                            <a:srgbClr val="C0C0C0"/>
                          </a:highlight>
                          <a:latin typeface="Roboto Mono" pitchFamily="49" charset="0"/>
                          <a:ea typeface="Roboto Mono" pitchFamily="49" charset="0"/>
                        </a:rPr>
                        <a:t> install</a:t>
                      </a:r>
                      <a:r>
                        <a:rPr lang="en-US" sz="1600" dirty="0">
                          <a:effectLst/>
                          <a:latin typeface="Roboto Mono" pitchFamily="49" charset="0"/>
                          <a:ea typeface="Roboto Mono" pitchFamily="49" charset="0"/>
                        </a:rPr>
                        <a:t> </a:t>
                      </a:r>
                      <a:r>
                        <a:rPr lang="en-US" sz="1600" dirty="0">
                          <a:effectLst/>
                          <a:latin typeface="Quattrocento Sans" panose="020B0502050000020003" pitchFamily="34" charset="0"/>
                        </a:rPr>
                        <a:t>fails</a:t>
                      </a:r>
                    </a:p>
                  </a:txBody>
                  <a:tcPr anchor="b">
                    <a:solidFill>
                      <a:schemeClr val="bg1">
                        <a:lumMod val="95000"/>
                      </a:schemeClr>
                    </a:solidFill>
                  </a:tcPr>
                </a:tc>
                <a:tc>
                  <a:txBody>
                    <a:bodyPr/>
                    <a:lstStyle/>
                    <a:p>
                      <a:pPr algn="l" fontAlgn="t"/>
                      <a:r>
                        <a:rPr lang="en-US" sz="1600" dirty="0">
                          <a:effectLst/>
                          <a:latin typeface="Quattrocento Sans" panose="020B0502050000020003" pitchFamily="34" charset="0"/>
                        </a:rPr>
                        <a:t>Corrupt </a:t>
                      </a:r>
                      <a:r>
                        <a:rPr lang="en-US" sz="1600" dirty="0">
                          <a:effectLst/>
                          <a:highlight>
                            <a:srgbClr val="C0C0C0"/>
                          </a:highlight>
                          <a:latin typeface="Roboto Mono" pitchFamily="49" charset="0"/>
                          <a:ea typeface="Roboto Mono" pitchFamily="49" charset="0"/>
                        </a:rPr>
                        <a:t>package-</a:t>
                      </a:r>
                      <a:r>
                        <a:rPr lang="en-US" sz="1600" dirty="0" err="1">
                          <a:effectLst/>
                          <a:highlight>
                            <a:srgbClr val="C0C0C0"/>
                          </a:highlight>
                          <a:latin typeface="Roboto Mono" pitchFamily="49" charset="0"/>
                          <a:ea typeface="Roboto Mono" pitchFamily="49" charset="0"/>
                        </a:rPr>
                        <a:t>lock.json</a:t>
                      </a:r>
                      <a:r>
                        <a:rPr lang="en-US" sz="1600" dirty="0">
                          <a:effectLst/>
                          <a:latin typeface="Quattrocento Sans" panose="020B0502050000020003" pitchFamily="34" charset="0"/>
                        </a:rPr>
                        <a:t>, network issue</a:t>
                      </a:r>
                    </a:p>
                  </a:txBody>
                  <a:tcPr anchor="b">
                    <a:solidFill>
                      <a:schemeClr val="bg1">
                        <a:lumMod val="95000"/>
                      </a:schemeClr>
                    </a:solidFill>
                  </a:tcPr>
                </a:tc>
                <a:extLst>
                  <a:ext uri="{0D108BD9-81ED-4DB2-BD59-A6C34878D82A}">
                    <a16:rowId xmlns:a16="http://schemas.microsoft.com/office/drawing/2014/main" val="1998635764"/>
                  </a:ext>
                </a:extLst>
              </a:tr>
              <a:tr h="649004">
                <a:tc>
                  <a:txBody>
                    <a:bodyPr/>
                    <a:lstStyle/>
                    <a:p>
                      <a:pPr algn="l" fontAlgn="t"/>
                      <a:r>
                        <a:rPr lang="en-US" sz="1600">
                          <a:effectLst/>
                          <a:latin typeface="Quattrocento Sans" panose="020B0502050000020003" pitchFamily="34" charset="0"/>
                        </a:rPr>
                        <a:t>Test step fails</a:t>
                      </a:r>
                    </a:p>
                  </a:txBody>
                  <a:tcPr anchor="b">
                    <a:solidFill>
                      <a:schemeClr val="bg1">
                        <a:lumMod val="95000"/>
                      </a:schemeClr>
                    </a:solidFill>
                  </a:tcPr>
                </a:tc>
                <a:tc>
                  <a:txBody>
                    <a:bodyPr/>
                    <a:lstStyle/>
                    <a:p>
                      <a:pPr algn="l" fontAlgn="t"/>
                      <a:r>
                        <a:rPr lang="en-US" sz="1600" dirty="0">
                          <a:effectLst/>
                          <a:latin typeface="Quattrocento Sans" panose="020B0502050000020003" pitchFamily="34" charset="0"/>
                        </a:rPr>
                        <a:t>Unit test issues, missing config or invalid test syntax</a:t>
                      </a:r>
                    </a:p>
                  </a:txBody>
                  <a:tcPr anchor="b">
                    <a:solidFill>
                      <a:schemeClr val="bg1">
                        <a:lumMod val="95000"/>
                      </a:schemeClr>
                    </a:solidFill>
                  </a:tcPr>
                </a:tc>
                <a:extLst>
                  <a:ext uri="{0D108BD9-81ED-4DB2-BD59-A6C34878D82A}">
                    <a16:rowId xmlns:a16="http://schemas.microsoft.com/office/drawing/2014/main" val="2155292026"/>
                  </a:ext>
                </a:extLst>
              </a:tr>
              <a:tr h="649004">
                <a:tc>
                  <a:txBody>
                    <a:bodyPr/>
                    <a:lstStyle/>
                    <a:p>
                      <a:pPr algn="l" fontAlgn="t"/>
                      <a:r>
                        <a:rPr lang="en-US" sz="1600" dirty="0">
                          <a:effectLst/>
                          <a:highlight>
                            <a:srgbClr val="C0C0C0"/>
                          </a:highlight>
                          <a:latin typeface="Roboto Mono" pitchFamily="49" charset="0"/>
                          <a:ea typeface="Roboto Mono" pitchFamily="49" charset="0"/>
                        </a:rPr>
                        <a:t>Permission denied</a:t>
                      </a:r>
                    </a:p>
                  </a:txBody>
                  <a:tcPr anchor="b">
                    <a:solidFill>
                      <a:schemeClr val="bg1">
                        <a:lumMod val="95000"/>
                      </a:schemeClr>
                    </a:solidFill>
                  </a:tcPr>
                </a:tc>
                <a:tc>
                  <a:txBody>
                    <a:bodyPr/>
                    <a:lstStyle/>
                    <a:p>
                      <a:pPr algn="l" fontAlgn="t"/>
                      <a:r>
                        <a:rPr lang="en-US" sz="1600" dirty="0">
                          <a:effectLst/>
                          <a:latin typeface="Quattrocento Sans" panose="020B0502050000020003" pitchFamily="34" charset="0"/>
                        </a:rPr>
                        <a:t>Incorrect file permissions or missing secrets</a:t>
                      </a:r>
                    </a:p>
                  </a:txBody>
                  <a:tcPr anchor="b">
                    <a:solidFill>
                      <a:schemeClr val="bg1">
                        <a:lumMod val="95000"/>
                      </a:schemeClr>
                    </a:solidFill>
                  </a:tcPr>
                </a:tc>
                <a:extLst>
                  <a:ext uri="{0D108BD9-81ED-4DB2-BD59-A6C34878D82A}">
                    <a16:rowId xmlns:a16="http://schemas.microsoft.com/office/drawing/2014/main" val="3239946624"/>
                  </a:ext>
                </a:extLst>
              </a:tr>
            </a:tbl>
          </a:graphicData>
        </a:graphic>
      </p:graphicFrame>
    </p:spTree>
    <p:extLst>
      <p:ext uri="{BB962C8B-B14F-4D97-AF65-F5344CB8AC3E}">
        <p14:creationId xmlns:p14="http://schemas.microsoft.com/office/powerpoint/2010/main" val="329043796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10986029" cy="492443"/>
          </a:xfrm>
        </p:spPr>
        <p:txBody>
          <a:bodyPr>
            <a:normAutofit fontScale="90000"/>
          </a:bodyPr>
          <a:lstStyle/>
          <a:p>
            <a:r>
              <a:rPr lang="en-US" sz="3200" dirty="0">
                <a:latin typeface="Quattrocento Sans" panose="020B0502050000020003" pitchFamily="34" charset="0"/>
              </a:rPr>
              <a:t>Identify ways to access the workflow logs from the user interface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779BE8A7-D10A-FB85-BBCC-F4E9B9BEA5AB}"/>
              </a:ext>
            </a:extLst>
          </p:cNvPr>
          <p:cNvSpPr/>
          <p:nvPr/>
        </p:nvSpPr>
        <p:spPr>
          <a:xfrm>
            <a:off x="714904" y="1286933"/>
            <a:ext cx="4365096" cy="140546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A303460-6A27-98A5-63F3-F3A5F03825F7}"/>
              </a:ext>
            </a:extLst>
          </p:cNvPr>
          <p:cNvSpPr/>
          <p:nvPr/>
        </p:nvSpPr>
        <p:spPr>
          <a:xfrm>
            <a:off x="416298" y="1693553"/>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Badge 1 with solid fill">
            <a:extLst>
              <a:ext uri="{FF2B5EF4-FFF2-40B4-BE49-F238E27FC236}">
                <a16:creationId xmlns:a16="http://schemas.microsoft.com/office/drawing/2014/main" id="{8121B671-7693-F84B-82B4-51A52D0A4A5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51056" y="1625818"/>
            <a:ext cx="727696" cy="727696"/>
          </a:xfrm>
          <a:prstGeom prst="rect">
            <a:avLst/>
          </a:prstGeom>
        </p:spPr>
      </p:pic>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1251260" y="1497223"/>
            <a:ext cx="3442448"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1" i="0" dirty="0">
                <a:solidFill>
                  <a:srgbClr val="161616"/>
                </a:solidFill>
                <a:effectLst/>
                <a:latin typeface="Quattrocento Sans" panose="020B0502050000020003" pitchFamily="34" charset="0"/>
                <a:ea typeface="Roboto Mono" pitchFamily="49" charset="0"/>
              </a:rPr>
              <a:t>Go to the repository</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Navigate to the repository that contains the workflow.</a:t>
            </a:r>
          </a:p>
        </p:txBody>
      </p:sp>
      <p:sp>
        <p:nvSpPr>
          <p:cNvPr id="8" name="Rectangle 7">
            <a:extLst>
              <a:ext uri="{FF2B5EF4-FFF2-40B4-BE49-F238E27FC236}">
                <a16:creationId xmlns:a16="http://schemas.microsoft.com/office/drawing/2014/main" id="{60D3330F-685D-9863-A4D9-3FDDE4B060F3}"/>
              </a:ext>
            </a:extLst>
          </p:cNvPr>
          <p:cNvSpPr/>
          <p:nvPr/>
        </p:nvSpPr>
        <p:spPr>
          <a:xfrm>
            <a:off x="714904" y="2909780"/>
            <a:ext cx="4365096" cy="225466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5CFDEE-A9CF-6FD1-5D25-AE082EBAB218}"/>
              </a:ext>
            </a:extLst>
          </p:cNvPr>
          <p:cNvSpPr/>
          <p:nvPr/>
        </p:nvSpPr>
        <p:spPr>
          <a:xfrm>
            <a:off x="416298" y="3727337"/>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Badge with solid fill">
            <a:extLst>
              <a:ext uri="{FF2B5EF4-FFF2-40B4-BE49-F238E27FC236}">
                <a16:creationId xmlns:a16="http://schemas.microsoft.com/office/drawing/2014/main" id="{E7F57DE4-2C5A-4086-B768-697F0A9C2C9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51056" y="3659602"/>
            <a:ext cx="727696" cy="727696"/>
          </a:xfrm>
          <a:prstGeom prst="rect">
            <a:avLst/>
          </a:prstGeom>
        </p:spPr>
      </p:pic>
      <p:sp>
        <p:nvSpPr>
          <p:cNvPr id="11" name="Text Placeholder 2">
            <a:extLst>
              <a:ext uri="{FF2B5EF4-FFF2-40B4-BE49-F238E27FC236}">
                <a16:creationId xmlns:a16="http://schemas.microsoft.com/office/drawing/2014/main" id="{615AF976-05EB-6F81-27A6-C3245994309F}"/>
              </a:ext>
            </a:extLst>
          </p:cNvPr>
          <p:cNvSpPr txBox="1">
            <a:spLocks/>
          </p:cNvSpPr>
          <p:nvPr/>
        </p:nvSpPr>
        <p:spPr>
          <a:xfrm>
            <a:off x="1251260" y="3547741"/>
            <a:ext cx="3442448"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1" i="0" dirty="0">
                <a:solidFill>
                  <a:srgbClr val="161616"/>
                </a:solidFill>
                <a:effectLst/>
                <a:latin typeface="Quattrocento Sans" panose="020B0502050000020003" pitchFamily="34" charset="0"/>
                <a:ea typeface="Roboto Mono" pitchFamily="49" charset="0"/>
              </a:rPr>
              <a:t>Click on the Actions tab</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Navigate to Actions tab located in the top navigation bar of the repo. This tab shows a history of all workflow runs for that repository.</a:t>
            </a:r>
          </a:p>
        </p:txBody>
      </p:sp>
      <p:sp>
        <p:nvSpPr>
          <p:cNvPr id="12" name="Rectangle 11">
            <a:extLst>
              <a:ext uri="{FF2B5EF4-FFF2-40B4-BE49-F238E27FC236}">
                <a16:creationId xmlns:a16="http://schemas.microsoft.com/office/drawing/2014/main" id="{3A4E7670-9C60-7955-24E5-2ED8E77BB2F9}"/>
              </a:ext>
            </a:extLst>
          </p:cNvPr>
          <p:cNvSpPr/>
          <p:nvPr/>
        </p:nvSpPr>
        <p:spPr>
          <a:xfrm>
            <a:off x="6096000" y="1693553"/>
            <a:ext cx="5381096" cy="30328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B03063F0-ED73-2FEA-AB1F-A1D6B8144E47}"/>
              </a:ext>
            </a:extLst>
          </p:cNvPr>
          <p:cNvGrpSpPr/>
          <p:nvPr/>
        </p:nvGrpSpPr>
        <p:grpSpPr>
          <a:xfrm>
            <a:off x="5708604" y="2846130"/>
            <a:ext cx="727696" cy="727696"/>
            <a:chOff x="6748152" y="2036755"/>
            <a:chExt cx="727696" cy="727696"/>
          </a:xfrm>
        </p:grpSpPr>
        <p:sp>
          <p:nvSpPr>
            <p:cNvPr id="13" name="Oval 12">
              <a:extLst>
                <a:ext uri="{FF2B5EF4-FFF2-40B4-BE49-F238E27FC236}">
                  <a16:creationId xmlns:a16="http://schemas.microsoft.com/office/drawing/2014/main" id="{FE1260D3-2CBD-8CF0-1603-093B7D236EC1}"/>
                </a:ext>
              </a:extLst>
            </p:cNvPr>
            <p:cNvSpPr/>
            <p:nvPr/>
          </p:nvSpPr>
          <p:spPr>
            <a:xfrm>
              <a:off x="6813394" y="2104490"/>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Badge 3 with solid fill">
              <a:extLst>
                <a:ext uri="{FF2B5EF4-FFF2-40B4-BE49-F238E27FC236}">
                  <a16:creationId xmlns:a16="http://schemas.microsoft.com/office/drawing/2014/main" id="{BB8E7D53-F052-3C47-AC12-A1D292DD9460}"/>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748152" y="2036755"/>
              <a:ext cx="727696" cy="727696"/>
            </a:xfrm>
            <a:prstGeom prst="rect">
              <a:avLst/>
            </a:prstGeom>
          </p:spPr>
        </p:pic>
      </p:grpSp>
      <p:sp>
        <p:nvSpPr>
          <p:cNvPr id="15" name="Text Placeholder 2">
            <a:extLst>
              <a:ext uri="{FF2B5EF4-FFF2-40B4-BE49-F238E27FC236}">
                <a16:creationId xmlns:a16="http://schemas.microsoft.com/office/drawing/2014/main" id="{ED6BA374-A79C-2C4A-9AE4-27C627C43188}"/>
              </a:ext>
            </a:extLst>
          </p:cNvPr>
          <p:cNvSpPr txBox="1">
            <a:spLocks/>
          </p:cNvSpPr>
          <p:nvPr/>
        </p:nvSpPr>
        <p:spPr>
          <a:xfrm>
            <a:off x="6587068" y="2032439"/>
            <a:ext cx="4656666"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1" i="0" dirty="0">
                <a:solidFill>
                  <a:srgbClr val="161616"/>
                </a:solidFill>
                <a:effectLst/>
                <a:latin typeface="Quattrocento Sans" panose="020B0502050000020003" pitchFamily="34" charset="0"/>
                <a:ea typeface="Roboto Mono" pitchFamily="49" charset="0"/>
              </a:rPr>
              <a:t>Select the workflow name</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Choose the relevant workflow from the list. For example, if your .</a:t>
            </a:r>
            <a:r>
              <a:rPr lang="en-US" sz="2000" b="0" i="0" dirty="0" err="1">
                <a:solidFill>
                  <a:srgbClr val="161616"/>
                </a:solidFill>
                <a:effectLst/>
                <a:latin typeface="Quattrocento Sans" panose="020B0502050000020003" pitchFamily="34" charset="0"/>
                <a:ea typeface="Roboto Mono" pitchFamily="49" charset="0"/>
              </a:rPr>
              <a:t>yml</a:t>
            </a:r>
            <a:r>
              <a:rPr lang="en-US" sz="2000" b="0" i="0" dirty="0">
                <a:solidFill>
                  <a:srgbClr val="161616"/>
                </a:solidFill>
                <a:effectLst/>
                <a:latin typeface="Quattrocento Sans" panose="020B0502050000020003" pitchFamily="34" charset="0"/>
                <a:ea typeface="Roboto Mono" pitchFamily="49" charset="0"/>
              </a:rPr>
              <a:t> file has:</a:t>
            </a:r>
          </a:p>
        </p:txBody>
      </p:sp>
      <p:sp>
        <p:nvSpPr>
          <p:cNvPr id="18" name="Rectangle 17">
            <a:extLst>
              <a:ext uri="{FF2B5EF4-FFF2-40B4-BE49-F238E27FC236}">
                <a16:creationId xmlns:a16="http://schemas.microsoft.com/office/drawing/2014/main" id="{FEFD220B-2063-9D12-A9D7-7ADE71A40089}"/>
              </a:ext>
            </a:extLst>
          </p:cNvPr>
          <p:cNvSpPr/>
          <p:nvPr/>
        </p:nvSpPr>
        <p:spPr>
          <a:xfrm>
            <a:off x="6459848" y="3190569"/>
            <a:ext cx="3022819" cy="52948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2">
            <a:extLst>
              <a:ext uri="{FF2B5EF4-FFF2-40B4-BE49-F238E27FC236}">
                <a16:creationId xmlns:a16="http://schemas.microsoft.com/office/drawing/2014/main" id="{A863F2A7-428B-E01B-09A7-8C7C3A4C398B}"/>
              </a:ext>
            </a:extLst>
          </p:cNvPr>
          <p:cNvSpPr txBox="1">
            <a:spLocks/>
          </p:cNvSpPr>
          <p:nvPr/>
        </p:nvSpPr>
        <p:spPr>
          <a:xfrm>
            <a:off x="6609930" y="2969504"/>
            <a:ext cx="4717083" cy="97161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name: </a:t>
            </a:r>
            <a:r>
              <a:rPr lang="en-US" dirty="0">
                <a:solidFill>
                  <a:srgbClr val="FC6E70"/>
                </a:solidFill>
                <a:latin typeface="Roboto Mono" pitchFamily="49" charset="0"/>
                <a:ea typeface="Roboto Mono" pitchFamily="49" charset="0"/>
              </a:rPr>
              <a:t>CI Workflow</a:t>
            </a:r>
          </a:p>
        </p:txBody>
      </p:sp>
      <p:sp>
        <p:nvSpPr>
          <p:cNvPr id="20" name="Text Placeholder 2">
            <a:extLst>
              <a:ext uri="{FF2B5EF4-FFF2-40B4-BE49-F238E27FC236}">
                <a16:creationId xmlns:a16="http://schemas.microsoft.com/office/drawing/2014/main" id="{8ECDDF0D-F2A0-F6D5-402F-45541CCDDE1E}"/>
              </a:ext>
            </a:extLst>
          </p:cNvPr>
          <p:cNvSpPr txBox="1">
            <a:spLocks/>
          </p:cNvSpPr>
          <p:nvPr/>
        </p:nvSpPr>
        <p:spPr>
          <a:xfrm>
            <a:off x="6458214" y="3716510"/>
            <a:ext cx="4785519"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You'll see a link named CI Workflow in the list.</a:t>
            </a:r>
          </a:p>
        </p:txBody>
      </p:sp>
    </p:spTree>
    <p:extLst>
      <p:ext uri="{BB962C8B-B14F-4D97-AF65-F5344CB8AC3E}">
        <p14:creationId xmlns:p14="http://schemas.microsoft.com/office/powerpoint/2010/main" val="32481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10986029" cy="492443"/>
          </a:xfrm>
        </p:spPr>
        <p:txBody>
          <a:bodyPr>
            <a:normAutofit fontScale="90000"/>
          </a:bodyPr>
          <a:lstStyle/>
          <a:p>
            <a:r>
              <a:rPr lang="en-US" sz="3200" dirty="0">
                <a:latin typeface="Quattrocento Sans" panose="020B0502050000020003" pitchFamily="34" charset="0"/>
              </a:rPr>
              <a:t>Identify ways to access the workflow logs from the user interface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779BE8A7-D10A-FB85-BBCC-F4E9B9BEA5AB}"/>
              </a:ext>
            </a:extLst>
          </p:cNvPr>
          <p:cNvSpPr/>
          <p:nvPr/>
        </p:nvSpPr>
        <p:spPr>
          <a:xfrm>
            <a:off x="714904" y="1286933"/>
            <a:ext cx="4820070" cy="25712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A303460-6A27-98A5-63F3-F3A5F03825F7}"/>
              </a:ext>
            </a:extLst>
          </p:cNvPr>
          <p:cNvSpPr/>
          <p:nvPr/>
        </p:nvSpPr>
        <p:spPr>
          <a:xfrm>
            <a:off x="416298" y="2262237"/>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adge 4 with solid fill">
            <a:extLst>
              <a:ext uri="{FF2B5EF4-FFF2-40B4-BE49-F238E27FC236}">
                <a16:creationId xmlns:a16="http://schemas.microsoft.com/office/drawing/2014/main" id="{8121B671-7693-F84B-82B4-51A52D0A4A5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51056" y="2194502"/>
            <a:ext cx="727696" cy="727696"/>
          </a:xfrm>
          <a:prstGeom prst="rect">
            <a:avLst/>
          </a:prstGeom>
        </p:spPr>
      </p:pic>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1251260" y="1963519"/>
            <a:ext cx="4082740"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1" i="0" dirty="0">
                <a:solidFill>
                  <a:srgbClr val="161616"/>
                </a:solidFill>
                <a:effectLst/>
                <a:latin typeface="Quattrocento Sans" panose="020B0502050000020003" pitchFamily="34" charset="0"/>
                <a:ea typeface="Roboto Mono" pitchFamily="49" charset="0"/>
              </a:rPr>
              <a:t>Choose a specific run</a:t>
            </a:r>
          </a:p>
          <a:p>
            <a:pPr algn="just">
              <a:spcAft>
                <a:spcPts val="600"/>
              </a:spcAft>
            </a:pPr>
            <a:r>
              <a:rPr lang="en-US" sz="1800" i="0" dirty="0">
                <a:solidFill>
                  <a:srgbClr val="161616"/>
                </a:solidFill>
                <a:effectLst/>
                <a:latin typeface="Quattrocento Sans" panose="020B0502050000020003" pitchFamily="34" charset="0"/>
                <a:ea typeface="Roboto Mono" pitchFamily="49" charset="0"/>
              </a:rPr>
              <a:t>You’ll see a list of runs with status indicators</a:t>
            </a:r>
          </a:p>
          <a:p>
            <a:pPr algn="just">
              <a:spcAft>
                <a:spcPts val="600"/>
              </a:spcAft>
            </a:pPr>
            <a:r>
              <a:rPr lang="en-US" sz="1800" i="0" dirty="0">
                <a:solidFill>
                  <a:srgbClr val="161616"/>
                </a:solidFill>
                <a:effectLst/>
                <a:latin typeface="Quattrocento Sans" panose="020B0502050000020003" pitchFamily="34" charset="0"/>
                <a:ea typeface="Roboto Mono" pitchFamily="49" charset="0"/>
              </a:rPr>
              <a:t>Click on the timestamp or commit message of the specific run you want to inspect.</a:t>
            </a:r>
          </a:p>
        </p:txBody>
      </p:sp>
      <p:sp>
        <p:nvSpPr>
          <p:cNvPr id="8" name="Rectangle 7">
            <a:extLst>
              <a:ext uri="{FF2B5EF4-FFF2-40B4-BE49-F238E27FC236}">
                <a16:creationId xmlns:a16="http://schemas.microsoft.com/office/drawing/2014/main" id="{60D3330F-685D-9863-A4D9-3FDDE4B060F3}"/>
              </a:ext>
            </a:extLst>
          </p:cNvPr>
          <p:cNvSpPr/>
          <p:nvPr/>
        </p:nvSpPr>
        <p:spPr>
          <a:xfrm>
            <a:off x="714903" y="4129183"/>
            <a:ext cx="9298207" cy="20361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5CFDEE-A9CF-6FD1-5D25-AE082EBAB218}"/>
              </a:ext>
            </a:extLst>
          </p:cNvPr>
          <p:cNvSpPr/>
          <p:nvPr/>
        </p:nvSpPr>
        <p:spPr>
          <a:xfrm>
            <a:off x="416298" y="4846482"/>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Badge 5 with solid fill">
            <a:extLst>
              <a:ext uri="{FF2B5EF4-FFF2-40B4-BE49-F238E27FC236}">
                <a16:creationId xmlns:a16="http://schemas.microsoft.com/office/drawing/2014/main" id="{E7F57DE4-2C5A-4086-B768-697F0A9C2C9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51056" y="4778747"/>
            <a:ext cx="727696" cy="727696"/>
          </a:xfrm>
          <a:prstGeom prst="rect">
            <a:avLst/>
          </a:prstGeom>
        </p:spPr>
      </p:pic>
      <p:sp>
        <p:nvSpPr>
          <p:cNvPr id="11" name="Text Placeholder 2">
            <a:extLst>
              <a:ext uri="{FF2B5EF4-FFF2-40B4-BE49-F238E27FC236}">
                <a16:creationId xmlns:a16="http://schemas.microsoft.com/office/drawing/2014/main" id="{615AF976-05EB-6F81-27A6-C3245994309F}"/>
              </a:ext>
            </a:extLst>
          </p:cNvPr>
          <p:cNvSpPr txBox="1">
            <a:spLocks/>
          </p:cNvSpPr>
          <p:nvPr/>
        </p:nvSpPr>
        <p:spPr>
          <a:xfrm>
            <a:off x="1251260" y="4672614"/>
            <a:ext cx="9298207"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1" i="0" dirty="0">
                <a:solidFill>
                  <a:srgbClr val="161616"/>
                </a:solidFill>
                <a:effectLst/>
                <a:latin typeface="Quattrocento Sans" panose="020B0502050000020003" pitchFamily="34" charset="0"/>
                <a:ea typeface="Roboto Mono" pitchFamily="49" charset="0"/>
              </a:rPr>
              <a:t>Expand each job and step</a:t>
            </a:r>
          </a:p>
          <a:p>
            <a:pPr algn="just">
              <a:spcAft>
                <a:spcPts val="600"/>
              </a:spcAft>
            </a:pPr>
            <a:r>
              <a:rPr lang="en-US" sz="1800" i="0" dirty="0">
                <a:solidFill>
                  <a:srgbClr val="161616"/>
                </a:solidFill>
                <a:effectLst/>
                <a:latin typeface="Quattrocento Sans" panose="020B0502050000020003" pitchFamily="34" charset="0"/>
                <a:ea typeface="Roboto Mono" pitchFamily="49" charset="0"/>
              </a:rPr>
              <a:t>The run summary page displays jobs as defined in the workflow file (e.g., build, test).</a:t>
            </a:r>
          </a:p>
          <a:p>
            <a:pPr algn="just">
              <a:spcAft>
                <a:spcPts val="600"/>
              </a:spcAft>
            </a:pPr>
            <a:r>
              <a:rPr lang="en-US" sz="1800" i="0" dirty="0">
                <a:solidFill>
                  <a:srgbClr val="161616"/>
                </a:solidFill>
                <a:effectLst/>
                <a:latin typeface="Quattrocento Sans" panose="020B0502050000020003" pitchFamily="34" charset="0"/>
                <a:ea typeface="Roboto Mono" pitchFamily="49" charset="0"/>
              </a:rPr>
              <a:t>Click on a job to expand it.</a:t>
            </a:r>
          </a:p>
          <a:p>
            <a:pPr algn="just">
              <a:spcAft>
                <a:spcPts val="600"/>
              </a:spcAft>
            </a:pPr>
            <a:r>
              <a:rPr lang="en-US" sz="1800" i="0" dirty="0">
                <a:solidFill>
                  <a:srgbClr val="161616"/>
                </a:solidFill>
                <a:effectLst/>
                <a:latin typeface="Quattrocento Sans" panose="020B0502050000020003" pitchFamily="34" charset="0"/>
                <a:ea typeface="Roboto Mono" pitchFamily="49" charset="0"/>
              </a:rPr>
              <a:t>Inside the job, expand individual steps (e.g., "Install dependencies", "Run tests").</a:t>
            </a:r>
            <a:endParaRPr lang="en-US" i="0" dirty="0">
              <a:solidFill>
                <a:srgbClr val="161616"/>
              </a:solidFill>
              <a:effectLst/>
              <a:latin typeface="Quattrocento Sans" panose="020B0502050000020003" pitchFamily="34" charset="0"/>
              <a:ea typeface="Roboto Mono" pitchFamily="49" charset="0"/>
            </a:endParaRPr>
          </a:p>
        </p:txBody>
      </p:sp>
      <p:sp>
        <p:nvSpPr>
          <p:cNvPr id="12" name="Rectangle 11">
            <a:extLst>
              <a:ext uri="{FF2B5EF4-FFF2-40B4-BE49-F238E27FC236}">
                <a16:creationId xmlns:a16="http://schemas.microsoft.com/office/drawing/2014/main" id="{3A4E7670-9C60-7955-24E5-2ED8E77BB2F9}"/>
              </a:ext>
            </a:extLst>
          </p:cNvPr>
          <p:cNvSpPr/>
          <p:nvPr/>
        </p:nvSpPr>
        <p:spPr>
          <a:xfrm>
            <a:off x="6071330" y="1286933"/>
            <a:ext cx="5381096" cy="25712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B03063F0-ED73-2FEA-AB1F-A1D6B8144E47}"/>
              </a:ext>
            </a:extLst>
          </p:cNvPr>
          <p:cNvGrpSpPr/>
          <p:nvPr/>
        </p:nvGrpSpPr>
        <p:grpSpPr>
          <a:xfrm>
            <a:off x="5707482" y="2194502"/>
            <a:ext cx="727696" cy="727696"/>
            <a:chOff x="6748152" y="2036755"/>
            <a:chExt cx="727696" cy="727696"/>
          </a:xfrm>
        </p:grpSpPr>
        <p:sp>
          <p:nvSpPr>
            <p:cNvPr id="13" name="Oval 12">
              <a:extLst>
                <a:ext uri="{FF2B5EF4-FFF2-40B4-BE49-F238E27FC236}">
                  <a16:creationId xmlns:a16="http://schemas.microsoft.com/office/drawing/2014/main" id="{FE1260D3-2CBD-8CF0-1603-093B7D236EC1}"/>
                </a:ext>
              </a:extLst>
            </p:cNvPr>
            <p:cNvSpPr/>
            <p:nvPr/>
          </p:nvSpPr>
          <p:spPr>
            <a:xfrm>
              <a:off x="6813394" y="2104490"/>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Badge 6 with solid fill">
              <a:extLst>
                <a:ext uri="{FF2B5EF4-FFF2-40B4-BE49-F238E27FC236}">
                  <a16:creationId xmlns:a16="http://schemas.microsoft.com/office/drawing/2014/main" id="{BB8E7D53-F052-3C47-AC12-A1D292DD9460}"/>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748152" y="2036755"/>
              <a:ext cx="727696" cy="727696"/>
            </a:xfrm>
            <a:prstGeom prst="rect">
              <a:avLst/>
            </a:prstGeom>
          </p:spPr>
        </p:pic>
      </p:grpSp>
      <p:sp>
        <p:nvSpPr>
          <p:cNvPr id="15" name="Text Placeholder 2">
            <a:extLst>
              <a:ext uri="{FF2B5EF4-FFF2-40B4-BE49-F238E27FC236}">
                <a16:creationId xmlns:a16="http://schemas.microsoft.com/office/drawing/2014/main" id="{ED6BA374-A79C-2C4A-9AE4-27C627C43188}"/>
              </a:ext>
            </a:extLst>
          </p:cNvPr>
          <p:cNvSpPr txBox="1">
            <a:spLocks/>
          </p:cNvSpPr>
          <p:nvPr/>
        </p:nvSpPr>
        <p:spPr>
          <a:xfrm>
            <a:off x="6476872" y="2014802"/>
            <a:ext cx="4656666"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1" i="0" dirty="0">
                <a:solidFill>
                  <a:srgbClr val="161616"/>
                </a:solidFill>
                <a:effectLst/>
                <a:latin typeface="Quattrocento Sans" panose="020B0502050000020003" pitchFamily="34" charset="0"/>
                <a:ea typeface="Roboto Mono" pitchFamily="49" charset="0"/>
              </a:rPr>
              <a:t>View log output</a:t>
            </a:r>
          </a:p>
          <a:p>
            <a:pPr algn="just">
              <a:spcAft>
                <a:spcPts val="600"/>
              </a:spcAft>
            </a:pPr>
            <a:r>
              <a:rPr lang="en-US" sz="2000" b="0" i="0" dirty="0">
                <a:solidFill>
                  <a:srgbClr val="161616"/>
                </a:solidFill>
                <a:effectLst/>
                <a:latin typeface="Quattrocento Sans" panose="020B0502050000020003" pitchFamily="34" charset="0"/>
                <a:ea typeface="Roboto Mono" pitchFamily="49" charset="0"/>
              </a:rPr>
              <a:t>Clicking a step shows the full log output (e.g., console logs, error messages, debug info).</a:t>
            </a:r>
          </a:p>
          <a:p>
            <a:pPr algn="just">
              <a:spcAft>
                <a:spcPts val="600"/>
              </a:spcAft>
            </a:pPr>
            <a:r>
              <a:rPr lang="en-US" sz="2000" b="0" i="0" dirty="0">
                <a:solidFill>
                  <a:srgbClr val="161616"/>
                </a:solidFill>
                <a:effectLst/>
                <a:latin typeface="Quattrocento Sans" panose="020B0502050000020003" pitchFamily="34" charset="0"/>
                <a:ea typeface="Roboto Mono" pitchFamily="49" charset="0"/>
              </a:rPr>
              <a:t>You can copy, search, or download these logs.</a:t>
            </a:r>
          </a:p>
        </p:txBody>
      </p:sp>
    </p:spTree>
    <p:extLst>
      <p:ext uri="{BB962C8B-B14F-4D97-AF65-F5344CB8AC3E}">
        <p14:creationId xmlns:p14="http://schemas.microsoft.com/office/powerpoint/2010/main" val="9596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Summary</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3" name="Table 2">
            <a:extLst>
              <a:ext uri="{FF2B5EF4-FFF2-40B4-BE49-F238E27FC236}">
                <a16:creationId xmlns:a16="http://schemas.microsoft.com/office/drawing/2014/main" id="{B841DD62-5637-34F9-8C37-BE7E180868BB}"/>
              </a:ext>
            </a:extLst>
          </p:cNvPr>
          <p:cNvGraphicFramePr>
            <a:graphicFrameLocks noGrp="1"/>
          </p:cNvGraphicFramePr>
          <p:nvPr>
            <p:extLst>
              <p:ext uri="{D42A27DB-BD31-4B8C-83A1-F6EECF244321}">
                <p14:modId xmlns:p14="http://schemas.microsoft.com/office/powerpoint/2010/main" val="2189781007"/>
              </p:ext>
            </p:extLst>
          </p:nvPr>
        </p:nvGraphicFramePr>
        <p:xfrm>
          <a:off x="680773" y="1175611"/>
          <a:ext cx="10574660" cy="3496140"/>
        </p:xfrm>
        <a:graphic>
          <a:graphicData uri="http://schemas.openxmlformats.org/drawingml/2006/table">
            <a:tbl>
              <a:tblPr firstRow="1" bandRow="1">
                <a:tableStyleId>{5C22544A-7EE6-4342-B048-85BDC9FD1C3A}</a:tableStyleId>
              </a:tblPr>
              <a:tblGrid>
                <a:gridCol w="4506047">
                  <a:extLst>
                    <a:ext uri="{9D8B030D-6E8A-4147-A177-3AD203B41FA5}">
                      <a16:colId xmlns:a16="http://schemas.microsoft.com/office/drawing/2014/main" val="4160122130"/>
                    </a:ext>
                  </a:extLst>
                </a:gridCol>
                <a:gridCol w="6068613">
                  <a:extLst>
                    <a:ext uri="{9D8B030D-6E8A-4147-A177-3AD203B41FA5}">
                      <a16:colId xmlns:a16="http://schemas.microsoft.com/office/drawing/2014/main" val="1651805443"/>
                    </a:ext>
                  </a:extLst>
                </a:gridCol>
              </a:tblGrid>
              <a:tr h="582690">
                <a:tc>
                  <a:txBody>
                    <a:bodyPr/>
                    <a:lstStyle/>
                    <a:p>
                      <a:pPr algn="l" fontAlgn="t"/>
                      <a:r>
                        <a:rPr lang="en-US" sz="2400">
                          <a:solidFill>
                            <a:schemeClr val="tx1"/>
                          </a:solidFill>
                          <a:effectLst/>
                          <a:latin typeface="Quattrocento Sans" panose="020B0502050000020003" pitchFamily="34" charset="0"/>
                        </a:rPr>
                        <a:t>Action</a:t>
                      </a:r>
                    </a:p>
                  </a:txBody>
                  <a:tcPr anchor="b">
                    <a:lnR w="3175" cap="flat" cmpd="sng" algn="ctr">
                      <a:solidFill>
                        <a:schemeClr val="bg1">
                          <a:lumMod val="50000"/>
                        </a:schemeClr>
                      </a:solidFill>
                      <a:prstDash val="solid"/>
                      <a:round/>
                      <a:headEnd type="none" w="med" len="med"/>
                      <a:tailEnd type="none" w="med" len="med"/>
                    </a:lnR>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fontAlgn="t"/>
                      <a:r>
                        <a:rPr lang="en-US" sz="2400" dirty="0">
                          <a:solidFill>
                            <a:schemeClr val="tx1"/>
                          </a:solidFill>
                          <a:effectLst/>
                          <a:latin typeface="Quattrocento Sans" panose="020B0502050000020003" pitchFamily="34" charset="0"/>
                        </a:rPr>
                        <a:t>Purpose</a:t>
                      </a:r>
                    </a:p>
                  </a:txBody>
                  <a:tcPr anchor="b">
                    <a:lnL w="3175" cap="flat" cmpd="sng" algn="ctr">
                      <a:solidFill>
                        <a:schemeClr val="bg1">
                          <a:lumMod val="50000"/>
                        </a:schemeClr>
                      </a:solidFill>
                      <a:prstDash val="solid"/>
                      <a:round/>
                      <a:headEnd type="none" w="med" len="med"/>
                      <a:tailEnd type="none" w="med" len="med"/>
                    </a:lnL>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5518583"/>
                  </a:ext>
                </a:extLst>
              </a:tr>
              <a:tr h="582690">
                <a:tc>
                  <a:txBody>
                    <a:bodyPr/>
                    <a:lstStyle/>
                    <a:p>
                      <a:pPr algn="l" fontAlgn="t"/>
                      <a:r>
                        <a:rPr lang="en-US" b="1">
                          <a:effectLst/>
                          <a:latin typeface="Quattrocento Sans" panose="020B0502050000020003" pitchFamily="34" charset="0"/>
                        </a:rPr>
                        <a:t>Actions tab</a:t>
                      </a:r>
                      <a:endParaRPr lang="en-US">
                        <a:effectLst/>
                        <a:latin typeface="Quattrocento Sans" panose="020B0502050000020003" pitchFamily="34" charset="0"/>
                      </a:endParaRP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effectLst/>
                          <a:latin typeface="Quattrocento Sans" panose="020B0502050000020003" pitchFamily="34" charset="0"/>
                        </a:rPr>
                        <a:t>View all workflow runs</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9818499"/>
                  </a:ext>
                </a:extLst>
              </a:tr>
              <a:tr h="582690">
                <a:tc>
                  <a:txBody>
                    <a:bodyPr/>
                    <a:lstStyle/>
                    <a:p>
                      <a:pPr algn="l" fontAlgn="t"/>
                      <a:r>
                        <a:rPr lang="en-US" b="1" dirty="0">
                          <a:effectLst/>
                          <a:latin typeface="Quattrocento Sans" panose="020B0502050000020003" pitchFamily="34" charset="0"/>
                        </a:rPr>
                        <a:t>Select workflow name</a:t>
                      </a:r>
                      <a:endParaRPr lang="en-US" dirty="0">
                        <a:effectLst/>
                        <a:latin typeface="Quattrocento Sans" panose="020B0502050000020003" pitchFamily="34" charset="0"/>
                      </a:endParaRP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a:effectLst/>
                          <a:latin typeface="Quattrocento Sans" panose="020B0502050000020003" pitchFamily="34" charset="0"/>
                        </a:rPr>
                        <a:t>Filter runs by workflow</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8401833"/>
                  </a:ext>
                </a:extLst>
              </a:tr>
              <a:tr h="582690">
                <a:tc>
                  <a:txBody>
                    <a:bodyPr/>
                    <a:lstStyle/>
                    <a:p>
                      <a:pPr algn="l" fontAlgn="t"/>
                      <a:r>
                        <a:rPr lang="en-US" b="1">
                          <a:effectLst/>
                          <a:latin typeface="Quattrocento Sans" panose="020B0502050000020003" pitchFamily="34" charset="0"/>
                        </a:rPr>
                        <a:t>Click on a run</a:t>
                      </a:r>
                      <a:endParaRPr lang="en-US">
                        <a:effectLst/>
                        <a:latin typeface="Quattrocento Sans" panose="020B0502050000020003" pitchFamily="34" charset="0"/>
                      </a:endParaRP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effectLst/>
                          <a:latin typeface="Quattrocento Sans" panose="020B0502050000020003" pitchFamily="34" charset="0"/>
                        </a:rPr>
                        <a:t>See specific job/step results</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07857022"/>
                  </a:ext>
                </a:extLst>
              </a:tr>
              <a:tr h="582690">
                <a:tc>
                  <a:txBody>
                    <a:bodyPr/>
                    <a:lstStyle/>
                    <a:p>
                      <a:pPr algn="l" fontAlgn="t"/>
                      <a:r>
                        <a:rPr lang="en-US" b="1">
                          <a:effectLst/>
                          <a:latin typeface="Quattrocento Sans" panose="020B0502050000020003" pitchFamily="34" charset="0"/>
                        </a:rPr>
                        <a:t>Expand steps</a:t>
                      </a:r>
                      <a:endParaRPr lang="en-US">
                        <a:effectLst/>
                        <a:latin typeface="Quattrocento Sans" panose="020B0502050000020003" pitchFamily="34" charset="0"/>
                      </a:endParaRP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a:effectLst/>
                          <a:latin typeface="Quattrocento Sans" panose="020B0502050000020003" pitchFamily="34" charset="0"/>
                        </a:rPr>
                        <a:t>View detailed logs</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045239357"/>
                  </a:ext>
                </a:extLst>
              </a:tr>
              <a:tr h="582690">
                <a:tc>
                  <a:txBody>
                    <a:bodyPr/>
                    <a:lstStyle/>
                    <a:p>
                      <a:pPr algn="l" fontAlgn="t"/>
                      <a:r>
                        <a:rPr lang="en-US" b="1">
                          <a:effectLst/>
                          <a:latin typeface="Quattrocento Sans" panose="020B0502050000020003" pitchFamily="34" charset="0"/>
                        </a:rPr>
                        <a:t>Download logs</a:t>
                      </a:r>
                      <a:endParaRPr lang="en-US">
                        <a:effectLst/>
                        <a:latin typeface="Quattrocento Sans" panose="020B0502050000020003" pitchFamily="34" charset="0"/>
                      </a:endParaRPr>
                    </a:p>
                  </a:txBody>
                  <a:tcPr anchor="b">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effectLst/>
                          <a:latin typeface="Quattrocento Sans" panose="020B0502050000020003" pitchFamily="34" charset="0"/>
                        </a:rPr>
                        <a:t>For offline or team troubleshooting</a:t>
                      </a:r>
                    </a:p>
                  </a:txBody>
                  <a:tcPr anchor="b">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83255245"/>
                  </a:ext>
                </a:extLst>
              </a:tr>
            </a:tbl>
          </a:graphicData>
        </a:graphic>
      </p:graphicFrame>
    </p:spTree>
    <p:extLst>
      <p:ext uri="{BB962C8B-B14F-4D97-AF65-F5344CB8AC3E}">
        <p14:creationId xmlns:p14="http://schemas.microsoft.com/office/powerpoint/2010/main" val="350777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Action logs for the build</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79438" y="1549962"/>
            <a:ext cx="4715000" cy="170425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When a workflow runs, it produces a log that includes the details of what happened and any errors or test failures.</a:t>
            </a:r>
          </a:p>
          <a:p>
            <a:pPr marL="0" indent="0" algn="just">
              <a:spcAft>
                <a:spcPts val="1200"/>
              </a:spcAft>
              <a:buNone/>
            </a:pPr>
            <a:r>
              <a:rPr lang="en-US" sz="2000" b="0" i="0" dirty="0">
                <a:solidFill>
                  <a:srgbClr val="161616"/>
                </a:solidFill>
                <a:effectLst/>
                <a:latin typeface="Quattrocento Sans" panose="020B0502050000020003" pitchFamily="34" charset="0"/>
              </a:rPr>
              <a:t>If there's an error or if a test fails, you see a red rather than a green check mark in the logs. You can examine the details of the error or failure to investigate what happened.</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3314" name="Picture 2" descr="Screenshot of GitHub Actions log with details on a failed test.">
            <a:extLst>
              <a:ext uri="{FF2B5EF4-FFF2-40B4-BE49-F238E27FC236}">
                <a16:creationId xmlns:a16="http://schemas.microsoft.com/office/drawing/2014/main" id="{2C993657-ACEA-17B5-9C28-29986197A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90" y="1118966"/>
            <a:ext cx="5726611" cy="4270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083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Customize workflow templates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4341" y="1084278"/>
            <a:ext cx="10990521" cy="170425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At the beginning of this module, we described a scenario where you need to set up CI for your team. The Node.js template is a great start, but you want to customize it to better suit your own team's requirements. You want to target different versions of Node and different operating systems. You also want the build and test steps to be separate jobs.</a:t>
            </a:r>
          </a:p>
          <a:p>
            <a:pPr marL="0" indent="0" algn="just">
              <a:spcAft>
                <a:spcPts val="1200"/>
              </a:spcAft>
              <a:buNone/>
            </a:pPr>
            <a:r>
              <a:rPr lang="en-US" sz="2000" b="0" i="0" dirty="0">
                <a:solidFill>
                  <a:srgbClr val="161616"/>
                </a:solidFill>
                <a:effectLst/>
                <a:latin typeface="Quattrocento Sans" panose="020B0502050000020003" pitchFamily="34" charset="0"/>
              </a:rPr>
              <a:t>Let's take a look at how you customize a workflow.</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84341" y="3057621"/>
            <a:ext cx="5842906" cy="150607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906841" y="2541401"/>
            <a:ext cx="5842906" cy="242172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strategy:</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matrix:</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os</a:t>
            </a:r>
            <a:r>
              <a:rPr lang="en-US" dirty="0">
                <a:solidFill>
                  <a:schemeClr val="tx2">
                    <a:lumMod val="50000"/>
                    <a:lumOff val="50000"/>
                  </a:schemeClr>
                </a:solidFill>
                <a:latin typeface="Roboto Mono" pitchFamily="49" charset="0"/>
                <a:ea typeface="Roboto Mono" pitchFamily="49" charset="0"/>
              </a:rPr>
              <a:t>: </a:t>
            </a:r>
            <a:r>
              <a:rPr lang="en-US" dirty="0">
                <a:solidFill>
                  <a:srgbClr val="FC6E70"/>
                </a:solidFill>
                <a:latin typeface="Roboto Mono" pitchFamily="49" charset="0"/>
                <a:ea typeface="Roboto Mono" pitchFamily="49" charset="0"/>
              </a:rPr>
              <a:t>[ubuntu-latest, windows-latest]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node-version: </a:t>
            </a:r>
            <a:r>
              <a:rPr lang="en-US" dirty="0">
                <a:solidFill>
                  <a:srgbClr val="FC6E70"/>
                </a:solidFill>
                <a:latin typeface="Roboto Mono" pitchFamily="49" charset="0"/>
                <a:ea typeface="Roboto Mono" pitchFamily="49" charset="0"/>
              </a:rPr>
              <a:t>[16.x</a:t>
            </a:r>
            <a:r>
              <a:rPr lang="en-US" dirty="0">
                <a:solidFill>
                  <a:schemeClr val="tx2">
                    <a:lumMod val="50000"/>
                    <a:lumOff val="50000"/>
                  </a:schemeClr>
                </a:solidFill>
                <a:latin typeface="Roboto Mono" pitchFamily="49" charset="0"/>
                <a:ea typeface="Roboto Mono" pitchFamily="49" charset="0"/>
              </a:rPr>
              <a:t>, 18.</a:t>
            </a:r>
            <a:r>
              <a:rPr lang="en-US" dirty="0">
                <a:solidFill>
                  <a:srgbClr val="FC6E70"/>
                </a:solidFill>
                <a:latin typeface="Roboto Mono" pitchFamily="49" charset="0"/>
                <a:ea typeface="Roboto Mono" pitchFamily="49" charset="0"/>
              </a:rPr>
              <a:t>x]</a:t>
            </a:r>
          </a:p>
        </p:txBody>
      </p:sp>
      <p:sp>
        <p:nvSpPr>
          <p:cNvPr id="5" name="Text Placeholder 2">
            <a:extLst>
              <a:ext uri="{FF2B5EF4-FFF2-40B4-BE49-F238E27FC236}">
                <a16:creationId xmlns:a16="http://schemas.microsoft.com/office/drawing/2014/main" id="{DBA83962-B5DF-2B83-BFB8-D7439D912761}"/>
              </a:ext>
            </a:extLst>
          </p:cNvPr>
          <p:cNvSpPr txBox="1">
            <a:spLocks/>
          </p:cNvSpPr>
          <p:nvPr/>
        </p:nvSpPr>
        <p:spPr>
          <a:xfrm>
            <a:off x="684340" y="4492779"/>
            <a:ext cx="10990521" cy="170425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Here, we configured a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build matrix</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for testing across multiple operating systems and language versions. This matrix produces four builds, one for each operating system paired with each version of Node.</a:t>
            </a:r>
          </a:p>
        </p:txBody>
      </p:sp>
    </p:spTree>
    <p:extLst>
      <p:ext uri="{BB962C8B-B14F-4D97-AF65-F5344CB8AC3E}">
        <p14:creationId xmlns:p14="http://schemas.microsoft.com/office/powerpoint/2010/main" val="289893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Customize workflow templates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4341" y="1084278"/>
            <a:ext cx="10990521" cy="1057684"/>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Four builds, along with all their tests, produce quite a bit of log information. It might be difficult to sort through it all. In the following sample, we show you how to move the test step to a dedicated test job. This job tests against multiple targets. Separating the build and test steps makes it easier to understand the log.</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84341" y="2318177"/>
            <a:ext cx="6863941" cy="410290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903167" y="2753468"/>
            <a:ext cx="8649535" cy="32323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a:solidFill>
                  <a:srgbClr val="FC6E70"/>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matrix.os</a:t>
            </a:r>
            <a:r>
              <a:rPr lang="en-US" sz="1400" dirty="0">
                <a:solidFill>
                  <a:srgbClr val="FC6E70"/>
                </a:solidFill>
                <a:latin typeface="Roboto Mono" pitchFamily="49" charset="0"/>
                <a:ea typeface="Roboto Mono" pitchFamily="49" charset="0"/>
              </a:rPr>
              <a:t>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strategy:</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matrix:</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chemeClr val="tx2">
                    <a:lumMod val="50000"/>
                    <a:lumOff val="50000"/>
                  </a:schemeClr>
                </a:solidFill>
                <a:latin typeface="Roboto Mono" pitchFamily="49" charset="0"/>
                <a:ea typeface="Roboto Mono" pitchFamily="49" charset="0"/>
              </a:rPr>
              <a:t>os</a:t>
            </a:r>
            <a:r>
              <a:rPr lang="en-US" sz="1400" dirty="0">
                <a:solidFill>
                  <a:schemeClr val="tx2">
                    <a:lumMod val="50000"/>
                    <a:lumOff val="50000"/>
                  </a:schemeClr>
                </a:solidFill>
                <a:latin typeface="Roboto Mono" pitchFamily="49" charset="0"/>
                <a:ea typeface="Roboto Mono" pitchFamily="49" charset="0"/>
              </a:rPr>
              <a:t>: </a:t>
            </a:r>
            <a:r>
              <a:rPr lang="en-US" sz="1400" dirty="0">
                <a:solidFill>
                  <a:srgbClr val="FC6E70"/>
                </a:solidFill>
                <a:latin typeface="Roboto Mono" pitchFamily="49" charset="0"/>
                <a:ea typeface="Roboto Mono" pitchFamily="49" charset="0"/>
              </a:rPr>
              <a:t>[ubuntu-latest, windows-latest]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node-version: </a:t>
            </a:r>
            <a:r>
              <a:rPr lang="en-US" sz="1400" dirty="0">
                <a:solidFill>
                  <a:srgbClr val="FC6E70"/>
                </a:solidFill>
                <a:latin typeface="Roboto Mono" pitchFamily="49" charset="0"/>
                <a:ea typeface="Roboto Mono" pitchFamily="49" charset="0"/>
              </a:rPr>
              <a:t>[16.x</a:t>
            </a:r>
            <a:r>
              <a:rPr lang="en-US" sz="1400" dirty="0">
                <a:solidFill>
                  <a:schemeClr val="tx2">
                    <a:lumMod val="50000"/>
                    <a:lumOff val="50000"/>
                  </a:schemeClr>
                </a:solidFill>
                <a:latin typeface="Roboto Mono" pitchFamily="49" charset="0"/>
                <a:ea typeface="Roboto Mono" pitchFamily="49" charset="0"/>
              </a:rPr>
              <a:t>, 18.</a:t>
            </a:r>
            <a:r>
              <a:rPr lang="en-US" sz="1400" dirty="0">
                <a:solidFill>
                  <a:srgbClr val="FC6E70"/>
                </a:solidFill>
                <a:latin typeface="Roboto Mono" pitchFamily="49" charset="0"/>
                <a:ea typeface="Roboto Mono" pitchFamily="49" charset="0"/>
              </a:rPr>
              <a:t>x]</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actions/checkout@v3</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a:solidFill>
                  <a:srgbClr val="FC6E70"/>
                </a:solidFill>
                <a:latin typeface="Roboto Mono" pitchFamily="49" charset="0"/>
                <a:ea typeface="Roboto Mono" pitchFamily="49" charset="0"/>
              </a:rPr>
              <a:t>Use Node.js ${{ </a:t>
            </a:r>
            <a:r>
              <a:rPr lang="en-US" sz="1400" dirty="0" err="1">
                <a:solidFill>
                  <a:srgbClr val="FC6E70"/>
                </a:solidFill>
                <a:latin typeface="Roboto Mono" pitchFamily="49" charset="0"/>
                <a:ea typeface="Roboto Mono" pitchFamily="49" charset="0"/>
              </a:rPr>
              <a:t>matrix.node</a:t>
            </a:r>
            <a:r>
              <a:rPr lang="en-US" sz="1400" dirty="0">
                <a:solidFill>
                  <a:srgbClr val="FC6E70"/>
                </a:solidFill>
                <a:latin typeface="Roboto Mono" pitchFamily="49" charset="0"/>
                <a:ea typeface="Roboto Mono" pitchFamily="49" charset="0"/>
              </a:rPr>
              <a:t>-version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uses: </a:t>
            </a:r>
            <a:r>
              <a:rPr lang="en-US" sz="1400" dirty="0">
                <a:solidFill>
                  <a:srgbClr val="FC6E70"/>
                </a:solidFill>
                <a:latin typeface="Roboto Mono" pitchFamily="49" charset="0"/>
                <a:ea typeface="Roboto Mono" pitchFamily="49" charset="0"/>
              </a:rPr>
              <a:t>actions/setup-node@v3</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node-version: </a:t>
            </a:r>
            <a:r>
              <a:rPr lang="en-US" sz="1400" dirty="0">
                <a:solidFill>
                  <a:srgbClr val="FC6E70"/>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matrix.node</a:t>
            </a:r>
            <a:r>
              <a:rPr lang="en-US" sz="1400" dirty="0">
                <a:solidFill>
                  <a:srgbClr val="FC6E70"/>
                </a:solidFill>
                <a:latin typeface="Roboto Mono" pitchFamily="49" charset="0"/>
                <a:ea typeface="Roboto Mono" pitchFamily="49" charset="0"/>
              </a:rPr>
              <a:t>-version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 install, and 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r>
              <a:rPr lang="en-US" sz="1400" dirty="0">
                <a:solidFill>
                  <a:srgbClr val="FC6E70"/>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 install</a:t>
            </a:r>
          </a:p>
          <a:p>
            <a:pPr marL="0" indent="0">
              <a:spcBef>
                <a:spcPts val="0"/>
              </a:spcBef>
              <a:buNone/>
            </a:pPr>
            <a:r>
              <a:rPr lang="en-US" sz="1400" dirty="0">
                <a:solidFill>
                  <a:srgbClr val="FC6E70"/>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 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env:</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CI: </a:t>
            </a:r>
            <a:r>
              <a:rPr lang="en-US" sz="1400" dirty="0">
                <a:solidFill>
                  <a:srgbClr val="92D050"/>
                </a:solidFill>
                <a:latin typeface="Roboto Mono" pitchFamily="49" charset="0"/>
                <a:ea typeface="Roboto Mono" pitchFamily="49" charset="0"/>
              </a:rPr>
              <a:t>true</a:t>
            </a:r>
          </a:p>
        </p:txBody>
      </p:sp>
    </p:spTree>
    <p:extLst>
      <p:ext uri="{BB962C8B-B14F-4D97-AF65-F5344CB8AC3E}">
        <p14:creationId xmlns:p14="http://schemas.microsoft.com/office/powerpoint/2010/main" val="2500479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What are artifacts?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1206" y="1518600"/>
            <a:ext cx="10990521" cy="1057684"/>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spcAft>
                <a:spcPts val="1200"/>
              </a:spcAft>
              <a:buNone/>
            </a:pPr>
            <a:r>
              <a:rPr lang="en-US" sz="2000" b="0" i="0" dirty="0">
                <a:solidFill>
                  <a:srgbClr val="161616"/>
                </a:solidFill>
                <a:effectLst/>
                <a:latin typeface="Quattrocento Sans" panose="020B0502050000020003" pitchFamily="34" charset="0"/>
              </a:rPr>
              <a:t>When a workflow produces something other than a log entry, the product is called an </a:t>
            </a:r>
            <a:r>
              <a:rPr lang="en-US" sz="2000" b="0" i="1" dirty="0">
                <a:solidFill>
                  <a:srgbClr val="161616"/>
                </a:solidFill>
                <a:effectLst/>
                <a:latin typeface="Quattrocento Sans" panose="020B0502050000020003" pitchFamily="34" charset="0"/>
              </a:rPr>
              <a:t>artifact</a:t>
            </a:r>
            <a:r>
              <a:rPr lang="en-US" sz="2000" b="0" i="0" dirty="0">
                <a:solidFill>
                  <a:srgbClr val="161616"/>
                </a:solidFill>
                <a:effectLst/>
                <a:latin typeface="Quattrocento Sans" panose="020B0502050000020003" pitchFamily="34" charset="0"/>
              </a:rPr>
              <a:t>. For example, the Node.js build produces a Docker container that can be deployed. This artifact, the container, can be uploaded to storage by using the action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actions/upload-artifact</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and later downloaded from storage by using the action </a:t>
            </a:r>
            <a:r>
              <a:rPr lang="en-US" sz="2000" b="0" i="0" u="none" strike="noStrike" dirty="0">
                <a:solidFill>
                  <a:srgbClr val="00B0F0"/>
                </a:solidFill>
                <a:effectLst/>
                <a:latin typeface="Quattrocento Sans" panose="020B0502050000020003" pitchFamily="34" charset="0"/>
                <a:hlinkClick r:id="rId4">
                  <a:extLst>
                    <a:ext uri="{A12FA001-AC4F-418D-AE19-62706E023703}">
                      <ahyp:hlinkClr xmlns:ahyp="http://schemas.microsoft.com/office/drawing/2018/hyperlinkcolor" val="tx"/>
                    </a:ext>
                  </a:extLst>
                </a:hlinkClick>
              </a:rPr>
              <a:t>actions/download-artifact</a:t>
            </a:r>
            <a:r>
              <a:rPr lang="en-US" sz="2000" b="0" i="0" dirty="0">
                <a:solidFill>
                  <a:srgbClr val="161616"/>
                </a:solidFill>
                <a:effectLst/>
                <a:latin typeface="Quattrocento Sans" panose="020B0502050000020003" pitchFamily="34" charset="0"/>
              </a:rPr>
              <a:t>.</a:t>
            </a:r>
          </a:p>
          <a:p>
            <a:pPr marL="0" indent="0" algn="l">
              <a:buNone/>
            </a:pPr>
            <a:r>
              <a:rPr lang="en-US" sz="2000" b="0" i="0" dirty="0">
                <a:solidFill>
                  <a:srgbClr val="161616"/>
                </a:solidFill>
                <a:effectLst/>
                <a:latin typeface="Quattrocento Sans" panose="020B0502050000020003" pitchFamily="34" charset="0"/>
              </a:rPr>
              <a:t>Storing an artifact preserves it between jobs. Each job uses a fresh instance of a virtual machine (VM), so you can't reuse the artifact by saving it on the VM. If you need your artifact in a different job, you can upload the artifact to storage in one job, and download it for the other job.</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Title 16">
            <a:extLst>
              <a:ext uri="{FF2B5EF4-FFF2-40B4-BE49-F238E27FC236}">
                <a16:creationId xmlns:a16="http://schemas.microsoft.com/office/drawing/2014/main" id="{6C96E9DB-C818-5ECA-CEA3-723C757693BA}"/>
              </a:ext>
            </a:extLst>
          </p:cNvPr>
          <p:cNvSpPr txBox="1">
            <a:spLocks/>
          </p:cNvSpPr>
          <p:nvPr/>
        </p:nvSpPr>
        <p:spPr>
          <a:xfrm>
            <a:off x="546427" y="3723620"/>
            <a:ext cx="8193024"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Artifact storage</a:t>
            </a:r>
          </a:p>
        </p:txBody>
      </p:sp>
      <p:sp>
        <p:nvSpPr>
          <p:cNvPr id="6" name="Text Placeholder 2">
            <a:extLst>
              <a:ext uri="{FF2B5EF4-FFF2-40B4-BE49-F238E27FC236}">
                <a16:creationId xmlns:a16="http://schemas.microsoft.com/office/drawing/2014/main" id="{E1B7E3D3-223F-E219-2648-F7E713165BB7}"/>
              </a:ext>
            </a:extLst>
          </p:cNvPr>
          <p:cNvSpPr txBox="1">
            <a:spLocks/>
          </p:cNvSpPr>
          <p:nvPr/>
        </p:nvSpPr>
        <p:spPr>
          <a:xfrm>
            <a:off x="681206" y="4216063"/>
            <a:ext cx="10990521" cy="1057684"/>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spcAft>
                <a:spcPts val="1200"/>
              </a:spcAft>
              <a:buNone/>
            </a:pPr>
            <a:r>
              <a:rPr lang="en-US" sz="2000" b="0" i="0" dirty="0">
                <a:solidFill>
                  <a:srgbClr val="161616"/>
                </a:solidFill>
                <a:effectLst/>
                <a:latin typeface="Quattrocento Sans" panose="020B0502050000020003" pitchFamily="34" charset="0"/>
              </a:rPr>
              <a:t>Artifacts are stored in storage space on GitHub. The space is free for public repositories and some amount is free for private repositories, depending on the account. GitHub stores your artifacts for 90 days.</a:t>
            </a:r>
          </a:p>
        </p:txBody>
      </p:sp>
    </p:spTree>
    <p:extLst>
      <p:ext uri="{BB962C8B-B14F-4D97-AF65-F5344CB8AC3E}">
        <p14:creationId xmlns:p14="http://schemas.microsoft.com/office/powerpoint/2010/main" val="414123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Artifact storage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4341" y="949297"/>
            <a:ext cx="10990521" cy="1057684"/>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In the following workflow snippet, notice that in the </a:t>
            </a:r>
            <a:r>
              <a:rPr lang="en-US" sz="1800" b="0" i="0" dirty="0">
                <a:solidFill>
                  <a:srgbClr val="161616"/>
                </a:solidFill>
                <a:effectLst/>
                <a:highlight>
                  <a:srgbClr val="C0C0C0"/>
                </a:highlight>
                <a:latin typeface="Roboto Mono" pitchFamily="49" charset="0"/>
                <a:ea typeface="Roboto Mono" pitchFamily="49" charset="0"/>
              </a:rPr>
              <a:t>actions/</a:t>
            </a:r>
            <a:r>
              <a:rPr lang="en-US" sz="1800" b="0" i="0" dirty="0" err="1">
                <a:solidFill>
                  <a:srgbClr val="161616"/>
                </a:solidFill>
                <a:effectLst/>
                <a:highlight>
                  <a:srgbClr val="C0C0C0"/>
                </a:highlight>
                <a:latin typeface="Roboto Mono" pitchFamily="49" charset="0"/>
                <a:ea typeface="Roboto Mono" pitchFamily="49" charset="0"/>
              </a:rPr>
              <a:t>upload-artifact@main</a:t>
            </a:r>
            <a:r>
              <a:rPr lang="en-US" sz="2000" b="0" i="0" dirty="0">
                <a:solidFill>
                  <a:srgbClr val="161616"/>
                </a:solidFill>
                <a:effectLst/>
                <a:latin typeface="Quattrocento Sans" panose="020B0502050000020003" pitchFamily="34" charset="0"/>
              </a:rPr>
              <a:t> action there's a </a:t>
            </a:r>
            <a:r>
              <a:rPr lang="en-US" sz="1800" b="0" i="0" dirty="0">
                <a:solidFill>
                  <a:srgbClr val="161616"/>
                </a:solidFill>
                <a:effectLst/>
                <a:highlight>
                  <a:srgbClr val="C0C0C0"/>
                </a:highlight>
                <a:latin typeface="Roboto Mono" pitchFamily="49" charset="0"/>
                <a:ea typeface="Roboto Mono" pitchFamily="49" charset="0"/>
              </a:rPr>
              <a:t>path:</a:t>
            </a:r>
            <a:r>
              <a:rPr lang="en-US" sz="2000" b="0" i="0" dirty="0">
                <a:solidFill>
                  <a:srgbClr val="161616"/>
                </a:solidFill>
                <a:effectLst/>
                <a:latin typeface="Quattrocento Sans" panose="020B0502050000020003" pitchFamily="34" charset="0"/>
              </a:rPr>
              <a:t> attribute. The value of this attribute is the path to store the artifact. Here, we specify public/ to upload everything to a directory. If we just wanted to upload a single file, we use something like </a:t>
            </a:r>
            <a:r>
              <a:rPr lang="en-US" sz="2000" b="0" i="1" dirty="0">
                <a:solidFill>
                  <a:srgbClr val="161616"/>
                </a:solidFill>
                <a:effectLst/>
                <a:latin typeface="Quattrocento Sans" panose="020B0502050000020003" pitchFamily="34" charset="0"/>
              </a:rPr>
              <a:t>public/</a:t>
            </a:r>
            <a:r>
              <a:rPr lang="en-US" sz="2000" b="0" i="1" dirty="0" err="1">
                <a:solidFill>
                  <a:srgbClr val="161616"/>
                </a:solidFill>
                <a:effectLst/>
                <a:latin typeface="Quattrocento Sans" panose="020B0502050000020003" pitchFamily="34" charset="0"/>
              </a:rPr>
              <a:t>mytext.txt</a:t>
            </a:r>
            <a:r>
              <a:rPr lang="en-US" sz="2000" b="0" i="0" dirty="0">
                <a:solidFill>
                  <a:srgbClr val="161616"/>
                </a:solidFill>
                <a:effectLst/>
                <a:latin typeface="Quattrocento Sans" panose="020B0502050000020003" pitchFamily="34" charset="0"/>
              </a:rPr>
              <a:t>.</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84341" y="2318177"/>
            <a:ext cx="6863941" cy="295614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903167" y="2753468"/>
            <a:ext cx="8649535" cy="194612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build:</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a:solidFill>
                  <a:srgbClr val="FC6E70"/>
                </a:solidFill>
                <a:latin typeface="Roboto Mono" pitchFamily="49" charset="0"/>
                <a:ea typeface="Roboto Mono" pitchFamily="49" charset="0"/>
              </a:rPr>
              <a:t>ubuntu-latest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actions/checkout@v3</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 install and build webpack</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r>
              <a:rPr lang="en-US" sz="1400" dirty="0">
                <a:solidFill>
                  <a:srgbClr val="FC6E70"/>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 install</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 run build</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a:t>
            </a:r>
            <a:r>
              <a:rPr lang="en-US" sz="1400" dirty="0" err="1">
                <a:solidFill>
                  <a:srgbClr val="FC6E70"/>
                </a:solidFill>
                <a:latin typeface="Roboto Mono" pitchFamily="49" charset="0"/>
                <a:ea typeface="Roboto Mono" pitchFamily="49" charset="0"/>
              </a:rPr>
              <a:t>upload-artifact@main</a:t>
            </a:r>
            <a:endParaRPr lang="en-US" sz="1400" dirty="0">
              <a:solidFill>
                <a:srgbClr val="FC6E70"/>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name: </a:t>
            </a:r>
            <a:r>
              <a:rPr lang="en-US" sz="1400" dirty="0">
                <a:solidFill>
                  <a:srgbClr val="FC6E70"/>
                </a:solidFill>
                <a:latin typeface="Roboto Mono" pitchFamily="49" charset="0"/>
                <a:ea typeface="Roboto Mono" pitchFamily="49" charset="0"/>
              </a:rPr>
              <a:t>webpack artifacts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path: </a:t>
            </a:r>
            <a:r>
              <a:rPr lang="en-US" sz="1400" dirty="0">
                <a:solidFill>
                  <a:srgbClr val="FC6E70"/>
                </a:solidFill>
                <a:latin typeface="Roboto Mono" pitchFamily="49" charset="0"/>
                <a:ea typeface="Roboto Mono" pitchFamily="49" charset="0"/>
              </a:rPr>
              <a:t>public/</a:t>
            </a:r>
          </a:p>
        </p:txBody>
      </p:sp>
    </p:spTree>
    <p:extLst>
      <p:ext uri="{BB962C8B-B14F-4D97-AF65-F5344CB8AC3E}">
        <p14:creationId xmlns:p14="http://schemas.microsoft.com/office/powerpoint/2010/main" val="1618431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Artifact storage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4341" y="1076025"/>
            <a:ext cx="5411659" cy="1057684"/>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To download the artifact for testing, the build must complete successfully and upload the artifact. In the following code, we specify that the test job depends on the build job.</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84341" y="2442105"/>
            <a:ext cx="3823864" cy="125536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999599" y="2732653"/>
            <a:ext cx="8649535" cy="67553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needs: </a:t>
            </a:r>
            <a:r>
              <a:rPr lang="en-US" sz="1400" dirty="0">
                <a:solidFill>
                  <a:srgbClr val="FC6E70"/>
                </a:solidFill>
                <a:latin typeface="Roboto Mono" pitchFamily="49" charset="0"/>
                <a:ea typeface="Roboto Mono" pitchFamily="49" charset="0"/>
              </a:rPr>
              <a:t>build</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a:solidFill>
                  <a:srgbClr val="FC6E70"/>
                </a:solidFill>
                <a:latin typeface="Roboto Mono" pitchFamily="49" charset="0"/>
                <a:ea typeface="Roboto Mono" pitchFamily="49" charset="0"/>
              </a:rPr>
              <a:t>ubuntu-latest</a:t>
            </a:r>
          </a:p>
        </p:txBody>
      </p:sp>
      <p:sp>
        <p:nvSpPr>
          <p:cNvPr id="5" name="Text Placeholder 2">
            <a:extLst>
              <a:ext uri="{FF2B5EF4-FFF2-40B4-BE49-F238E27FC236}">
                <a16:creationId xmlns:a16="http://schemas.microsoft.com/office/drawing/2014/main" id="{72A025C9-ADC6-A34B-FC63-4FE7F444B54F}"/>
              </a:ext>
            </a:extLst>
          </p:cNvPr>
          <p:cNvSpPr txBox="1">
            <a:spLocks/>
          </p:cNvSpPr>
          <p:nvPr/>
        </p:nvSpPr>
        <p:spPr>
          <a:xfrm>
            <a:off x="6696739" y="930326"/>
            <a:ext cx="4810920" cy="1057684"/>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In the following workflow snippet, we download the artifact. Now the test job can use the artifact for testing.</a:t>
            </a:r>
          </a:p>
        </p:txBody>
      </p:sp>
      <p:sp>
        <p:nvSpPr>
          <p:cNvPr id="6" name="Rectangle 5">
            <a:extLst>
              <a:ext uri="{FF2B5EF4-FFF2-40B4-BE49-F238E27FC236}">
                <a16:creationId xmlns:a16="http://schemas.microsoft.com/office/drawing/2014/main" id="{5146733D-2DC7-3E5F-E636-7E86A8547E4C}"/>
              </a:ext>
            </a:extLst>
          </p:cNvPr>
          <p:cNvSpPr/>
          <p:nvPr/>
        </p:nvSpPr>
        <p:spPr>
          <a:xfrm>
            <a:off x="6696740" y="2081444"/>
            <a:ext cx="4810920" cy="155920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2">
            <a:extLst>
              <a:ext uri="{FF2B5EF4-FFF2-40B4-BE49-F238E27FC236}">
                <a16:creationId xmlns:a16="http://schemas.microsoft.com/office/drawing/2014/main" id="{F401220C-8468-F9C7-88F7-F86E64E5E427}"/>
              </a:ext>
            </a:extLst>
          </p:cNvPr>
          <p:cNvSpPr txBox="1">
            <a:spLocks/>
          </p:cNvSpPr>
          <p:nvPr/>
        </p:nvSpPr>
        <p:spPr>
          <a:xfrm>
            <a:off x="6867633" y="2395592"/>
            <a:ext cx="8649535" cy="93091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actions/checkout@v3</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a:t>
            </a:r>
            <a:r>
              <a:rPr lang="en-US" sz="1400" dirty="0" err="1">
                <a:solidFill>
                  <a:srgbClr val="FC6E70"/>
                </a:solidFill>
                <a:latin typeface="Roboto Mono" pitchFamily="49" charset="0"/>
                <a:ea typeface="Roboto Mono" pitchFamily="49" charset="0"/>
              </a:rPr>
              <a:t>download-artifact@main</a:t>
            </a:r>
            <a:endParaRPr lang="en-US" sz="1400" dirty="0">
              <a:solidFill>
                <a:srgbClr val="FC6E70"/>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name: </a:t>
            </a:r>
            <a:r>
              <a:rPr lang="en-US" sz="1400" dirty="0">
                <a:solidFill>
                  <a:srgbClr val="FC6E70"/>
                </a:solidFill>
                <a:latin typeface="Roboto Mono" pitchFamily="49" charset="0"/>
                <a:ea typeface="Roboto Mono" pitchFamily="49" charset="0"/>
              </a:rPr>
              <a:t>webpack artifacts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path: </a:t>
            </a:r>
            <a:r>
              <a:rPr lang="en-US" sz="1400" dirty="0">
                <a:solidFill>
                  <a:srgbClr val="FC6E70"/>
                </a:solidFill>
                <a:latin typeface="Roboto Mono" pitchFamily="49" charset="0"/>
                <a:ea typeface="Roboto Mono" pitchFamily="49" charset="0"/>
              </a:rPr>
              <a:t>public</a:t>
            </a:r>
          </a:p>
        </p:txBody>
      </p:sp>
      <p:sp>
        <p:nvSpPr>
          <p:cNvPr id="8" name="Text Placeholder 2">
            <a:extLst>
              <a:ext uri="{FF2B5EF4-FFF2-40B4-BE49-F238E27FC236}">
                <a16:creationId xmlns:a16="http://schemas.microsoft.com/office/drawing/2014/main" id="{90A43B1C-E01E-04AB-A0DB-71111E50C061}"/>
              </a:ext>
            </a:extLst>
          </p:cNvPr>
          <p:cNvSpPr txBox="1">
            <a:spLocks/>
          </p:cNvSpPr>
          <p:nvPr/>
        </p:nvSpPr>
        <p:spPr>
          <a:xfrm>
            <a:off x="684341" y="4473618"/>
            <a:ext cx="10823318" cy="1057684"/>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2000" b="0" i="0" dirty="0">
                <a:solidFill>
                  <a:srgbClr val="161616"/>
                </a:solidFill>
                <a:effectLst/>
                <a:latin typeface="Quattrocento Sans" panose="020B0502050000020003" pitchFamily="34" charset="0"/>
              </a:rPr>
              <a:t>For more information about using artifacts in workflows, see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Storing workflow data as artifacts</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in the GitHub documentation.</a:t>
            </a:r>
            <a:br>
              <a:rPr lang="en-US" sz="2400" dirty="0"/>
            </a:br>
            <a:endParaRPr lang="en-US" sz="2000" b="0" i="0" dirty="0">
              <a:solidFill>
                <a:srgbClr val="161616"/>
              </a:solidFill>
              <a:effectLst/>
              <a:latin typeface="Quattrocento Sans" panose="020B0502050000020003" pitchFamily="34" charset="0"/>
            </a:endParaRPr>
          </a:p>
        </p:txBody>
      </p:sp>
    </p:spTree>
    <p:extLst>
      <p:ext uri="{BB962C8B-B14F-4D97-AF65-F5344CB8AC3E}">
        <p14:creationId xmlns:p14="http://schemas.microsoft.com/office/powerpoint/2010/main" val="35106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Automate reviews in GitHub using workflows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2" y="979159"/>
            <a:ext cx="10990521"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Sometimes, we want to run the workflow only after a person performs an action. For example, we might only want to run a workflow after a reviewer approves the pull request. For this scenario, we can trigger on pull-request-review.</a:t>
            </a:r>
          </a:p>
          <a:p>
            <a:pPr marL="0" indent="0" algn="just">
              <a:buNone/>
            </a:pPr>
            <a:r>
              <a:rPr lang="en-US" sz="2000" b="0" i="0" dirty="0">
                <a:solidFill>
                  <a:srgbClr val="161616"/>
                </a:solidFill>
                <a:effectLst/>
                <a:latin typeface="Quattrocento Sans" panose="020B0502050000020003" pitchFamily="34" charset="0"/>
              </a:rPr>
              <a:t>Another action we could take is to add a label to the pull request. In this case, we use the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pullreminders/label-when-approved-action</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action.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2" y="2706144"/>
            <a:ext cx="7567200" cy="215731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8" y="2578909"/>
            <a:ext cx="7567201" cy="242172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steps: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name: </a:t>
            </a:r>
            <a:r>
              <a:rPr lang="en-US" dirty="0">
                <a:solidFill>
                  <a:srgbClr val="FC6E70"/>
                </a:solidFill>
                <a:latin typeface="Roboto Mono" pitchFamily="49" charset="0"/>
                <a:ea typeface="Roboto Mono" pitchFamily="49" charset="0"/>
              </a:rPr>
              <a:t>Label when approved</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uses: </a:t>
            </a:r>
            <a:r>
              <a:rPr lang="en-US" dirty="0" err="1">
                <a:solidFill>
                  <a:srgbClr val="FC6E70"/>
                </a:solidFill>
                <a:latin typeface="Roboto Mono" pitchFamily="49" charset="0"/>
                <a:ea typeface="Roboto Mono" pitchFamily="49" charset="0"/>
              </a:rPr>
              <a:t>pullreminders</a:t>
            </a:r>
            <a:r>
              <a:rPr lang="en-US" dirty="0">
                <a:solidFill>
                  <a:srgbClr val="FC6E70"/>
                </a:solidFill>
                <a:latin typeface="Roboto Mono" pitchFamily="49" charset="0"/>
                <a:ea typeface="Roboto Mono" pitchFamily="49" charset="0"/>
              </a:rPr>
              <a:t>/</a:t>
            </a:r>
            <a:r>
              <a:rPr lang="en-US" dirty="0" err="1">
                <a:solidFill>
                  <a:srgbClr val="FC6E70"/>
                </a:solidFill>
                <a:latin typeface="Roboto Mono" pitchFamily="49" charset="0"/>
                <a:ea typeface="Roboto Mono" pitchFamily="49" charset="0"/>
              </a:rPr>
              <a:t>label-when-approved-action@main</a:t>
            </a:r>
            <a:endParaRPr lang="en-US" dirty="0">
              <a:solidFill>
                <a:srgbClr val="FC6E70"/>
              </a:solidFill>
              <a:latin typeface="Roboto Mono" pitchFamily="49" charset="0"/>
              <a:ea typeface="Roboto Mono" pitchFamily="49" charset="0"/>
            </a:endParaRP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env:</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APPROVALS: </a:t>
            </a:r>
            <a:r>
              <a:rPr lang="en-US" dirty="0">
                <a:solidFill>
                  <a:srgbClr val="FC6E70"/>
                </a:solidFill>
                <a:latin typeface="Roboto Mono" pitchFamily="49" charset="0"/>
                <a:ea typeface="Roboto Mono" pitchFamily="49" charset="0"/>
              </a:rPr>
              <a:t>"1"</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GITHUB_TOKEN: </a:t>
            </a:r>
            <a:r>
              <a:rPr lang="en-US" dirty="0">
                <a:solidFill>
                  <a:srgbClr val="FC6E70"/>
                </a:solidFill>
                <a:latin typeface="Roboto Mono" pitchFamily="49" charset="0"/>
                <a:ea typeface="Roboto Mono" pitchFamily="49" charset="0"/>
              </a:rPr>
              <a:t>${{ </a:t>
            </a:r>
            <a:r>
              <a:rPr lang="en-US" dirty="0" err="1">
                <a:solidFill>
                  <a:srgbClr val="FC6E70"/>
                </a:solidFill>
                <a:latin typeface="Roboto Mono" pitchFamily="49" charset="0"/>
                <a:ea typeface="Roboto Mono" pitchFamily="49" charset="0"/>
              </a:rPr>
              <a:t>secrets.GITHUB_TOKEN</a:t>
            </a:r>
            <a:r>
              <a:rPr lang="en-US" dirty="0">
                <a:solidFill>
                  <a:srgbClr val="FC6E70"/>
                </a:solidFill>
                <a:latin typeface="Roboto Mono" pitchFamily="49" charset="0"/>
                <a:ea typeface="Roboto Mono" pitchFamily="49" charset="0"/>
              </a:rPr>
              <a:t> }}</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ADD_LABEL: </a:t>
            </a:r>
            <a:r>
              <a:rPr lang="en-US" dirty="0">
                <a:solidFill>
                  <a:srgbClr val="FC6E70"/>
                </a:solidFill>
                <a:latin typeface="Roboto Mono" pitchFamily="49" charset="0"/>
                <a:ea typeface="Roboto Mono" pitchFamily="49" charset="0"/>
              </a:rPr>
              <a:t>"approved"</a:t>
            </a:r>
          </a:p>
        </p:txBody>
      </p:sp>
      <p:sp>
        <p:nvSpPr>
          <p:cNvPr id="5" name="Text Placeholder 2">
            <a:extLst>
              <a:ext uri="{FF2B5EF4-FFF2-40B4-BE49-F238E27FC236}">
                <a16:creationId xmlns:a16="http://schemas.microsoft.com/office/drawing/2014/main" id="{DBA83962-B5DF-2B83-BFB8-D7439D912761}"/>
              </a:ext>
            </a:extLst>
          </p:cNvPr>
          <p:cNvSpPr txBox="1">
            <a:spLocks/>
          </p:cNvSpPr>
          <p:nvPr/>
        </p:nvSpPr>
        <p:spPr>
          <a:xfrm>
            <a:off x="655052" y="4983671"/>
            <a:ext cx="10990521" cy="170425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Notice the block called env:. This block is where you set the environment variables for this action. For example, you can set the number of approvers needed. Here, it's one. The </a:t>
            </a:r>
            <a:r>
              <a:rPr lang="en-US" sz="2000" b="0" i="0" dirty="0" err="1">
                <a:solidFill>
                  <a:srgbClr val="161616"/>
                </a:solidFill>
                <a:effectLst/>
                <a:latin typeface="Quattrocento Sans" panose="020B0502050000020003" pitchFamily="34" charset="0"/>
              </a:rPr>
              <a:t>secrets.GITHUB_TOKEN</a:t>
            </a:r>
            <a:r>
              <a:rPr lang="en-US" sz="2000" b="0" i="0" dirty="0">
                <a:solidFill>
                  <a:srgbClr val="161616"/>
                </a:solidFill>
                <a:effectLst/>
                <a:latin typeface="Quattrocento Sans" panose="020B0502050000020003" pitchFamily="34" charset="0"/>
              </a:rPr>
              <a:t> authentication variable is required because the action must make changes to your repository by adding a label. Finally, you supply the name of the label to add.</a:t>
            </a:r>
          </a:p>
          <a:p>
            <a:pPr marL="0" indent="0" algn="just">
              <a:buNone/>
            </a:pPr>
            <a:endParaRPr lang="en-US" sz="2000" b="0" i="0" dirty="0">
              <a:solidFill>
                <a:srgbClr val="161616"/>
              </a:solidFill>
              <a:effectLst/>
              <a:latin typeface="Quattrocento Sans" panose="020B0502050000020003" pitchFamily="34" charset="0"/>
            </a:endParaRPr>
          </a:p>
        </p:txBody>
      </p:sp>
    </p:spTree>
    <p:extLst>
      <p:ext uri="{BB962C8B-B14F-4D97-AF65-F5344CB8AC3E}">
        <p14:creationId xmlns:p14="http://schemas.microsoft.com/office/powerpoint/2010/main" val="16076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542346"/>
            <a:ext cx="10533949" cy="492443"/>
          </a:xfrm>
        </p:spPr>
        <p:txBody>
          <a:bodyPr>
            <a:normAutofit fontScale="90000"/>
          </a:bodyPr>
          <a:lstStyle/>
          <a:p>
            <a:r>
              <a:rPr lang="en-US" sz="3200" dirty="0">
                <a:latin typeface="Quattrocento Sans" panose="020B0502050000020003" pitchFamily="34" charset="0"/>
              </a:rPr>
              <a:t>Customize your workflow with environment variables and artifact data</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Text Placeholder 2">
            <a:extLst>
              <a:ext uri="{FF2B5EF4-FFF2-40B4-BE49-F238E27FC236}">
                <a16:creationId xmlns:a16="http://schemas.microsoft.com/office/drawing/2014/main" id="{DBA83962-B5DF-2B83-BFB8-D7439D912761}"/>
              </a:ext>
            </a:extLst>
          </p:cNvPr>
          <p:cNvSpPr txBox="1">
            <a:spLocks/>
          </p:cNvSpPr>
          <p:nvPr/>
        </p:nvSpPr>
        <p:spPr>
          <a:xfrm>
            <a:off x="600739" y="1397789"/>
            <a:ext cx="10990521" cy="170425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Here, you learn how to use default and custom environment variables, custom scripts, cache dependencies, and pass artifact data between jobs. You'll also learn how to access the workflow logs from both the GitHub website and REST API endpoints.</a:t>
            </a:r>
          </a:p>
          <a:p>
            <a:pPr marL="0" indent="0" algn="just">
              <a:buNone/>
            </a:pPr>
            <a:endParaRPr lang="en-US" sz="2000" b="0" i="0" dirty="0">
              <a:solidFill>
                <a:srgbClr val="161616"/>
              </a:solidFill>
              <a:effectLst/>
              <a:latin typeface="Quattrocento Sans" panose="020B0502050000020003" pitchFamily="34" charset="0"/>
            </a:endParaRPr>
          </a:p>
          <a:p>
            <a:pPr marL="0" indent="0" algn="just">
              <a:buNone/>
            </a:pPr>
            <a:endParaRPr lang="en-US" sz="2000" b="0" i="0" dirty="0">
              <a:solidFill>
                <a:srgbClr val="161616"/>
              </a:solidFill>
              <a:effectLst/>
              <a:latin typeface="Quattrocento Sans" panose="020B0502050000020003" pitchFamily="34" charset="0"/>
            </a:endParaRPr>
          </a:p>
        </p:txBody>
      </p:sp>
    </p:spTree>
    <p:extLst>
      <p:ext uri="{BB962C8B-B14F-4D97-AF65-F5344CB8AC3E}">
        <p14:creationId xmlns:p14="http://schemas.microsoft.com/office/powerpoint/2010/main" val="3268699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Default environment variables and contexts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2" y="979159"/>
            <a:ext cx="10990521"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Within the GitHub Actions workflow, there are several default environment variables that are available for you to use, but only within the runner that's executing a job. These default variables are case-sensitive, and they refer to configuration values for the system and for the current user. We recommend that you use these default environment variables to reference the filesystem rather than using hard-coded file paths. To use a default environment variable, specify $ followed by the environment variable's name.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2" y="2865483"/>
            <a:ext cx="9199062" cy="128672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8" y="2738248"/>
            <a:ext cx="9199062" cy="144443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prod-check:</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run: </a:t>
            </a:r>
            <a:r>
              <a:rPr lang="en-US" dirty="0">
                <a:solidFill>
                  <a:srgbClr val="FC6E70"/>
                </a:solidFill>
                <a:latin typeface="Roboto Mono" pitchFamily="49" charset="0"/>
                <a:ea typeface="Roboto Mono" pitchFamily="49" charset="0"/>
              </a:rPr>
              <a:t>echo "Deploying to production server on branch $GITHUB_REF"</a:t>
            </a:r>
          </a:p>
        </p:txBody>
      </p:sp>
      <p:sp>
        <p:nvSpPr>
          <p:cNvPr id="5" name="Text Placeholder 2">
            <a:extLst>
              <a:ext uri="{FF2B5EF4-FFF2-40B4-BE49-F238E27FC236}">
                <a16:creationId xmlns:a16="http://schemas.microsoft.com/office/drawing/2014/main" id="{DBA83962-B5DF-2B83-BFB8-D7439D912761}"/>
              </a:ext>
            </a:extLst>
          </p:cNvPr>
          <p:cNvSpPr txBox="1">
            <a:spLocks/>
          </p:cNvSpPr>
          <p:nvPr/>
        </p:nvSpPr>
        <p:spPr>
          <a:xfrm>
            <a:off x="655052" y="4375625"/>
            <a:ext cx="10990521" cy="1286723"/>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In addition to default environment variables, you can use defined variables as contexts. Contexts and default variables are similar in that they both provide access to environment information, but they have some important differences. While default environment variables can only be used within the runner, context variables can be used at any point within the workflow. </a:t>
            </a:r>
          </a:p>
        </p:txBody>
      </p:sp>
    </p:spTree>
    <p:extLst>
      <p:ext uri="{BB962C8B-B14F-4D97-AF65-F5344CB8AC3E}">
        <p14:creationId xmlns:p14="http://schemas.microsoft.com/office/powerpoint/2010/main" val="159380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Default environment variables and contexts (continued)</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2" y="979160"/>
            <a:ext cx="10990521"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For example, context variables allow you to run an if statement to evaluate an expression before the runner is executed.</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2" y="1811905"/>
            <a:ext cx="9199062" cy="234030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7" y="2214166"/>
            <a:ext cx="9199062" cy="144443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name: </a:t>
            </a:r>
            <a:r>
              <a:rPr lang="en-US" dirty="0">
                <a:solidFill>
                  <a:srgbClr val="FC6E70"/>
                </a:solidFill>
                <a:latin typeface="Roboto Mono" pitchFamily="49" charset="0"/>
                <a:ea typeface="Roboto Mono" pitchFamily="49" charset="0"/>
              </a:rPr>
              <a:t>CI</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 </a:t>
            </a:r>
            <a:r>
              <a:rPr lang="en-US" dirty="0">
                <a:solidFill>
                  <a:srgbClr val="FC6E70"/>
                </a:solidFill>
                <a:latin typeface="Roboto Mono" pitchFamily="49" charset="0"/>
                <a:ea typeface="Roboto Mono" pitchFamily="49" charset="0"/>
              </a:rPr>
              <a:t>push</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prod-check:</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if: </a:t>
            </a:r>
            <a:r>
              <a:rPr lang="en-US" dirty="0" err="1">
                <a:solidFill>
                  <a:srgbClr val="FC6E70"/>
                </a:solidFill>
                <a:latin typeface="Roboto Mono" pitchFamily="49" charset="0"/>
                <a:ea typeface="Roboto Mono" pitchFamily="49" charset="0"/>
              </a:rPr>
              <a:t>github.ref</a:t>
            </a:r>
            <a:r>
              <a:rPr lang="en-US" dirty="0">
                <a:solidFill>
                  <a:srgbClr val="FC6E70"/>
                </a:solidFill>
                <a:latin typeface="Roboto Mono" pitchFamily="49" charset="0"/>
                <a:ea typeface="Roboto Mono" pitchFamily="49" charset="0"/>
              </a:rPr>
              <a:t> == 'refs/heads/main'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runs-on: </a:t>
            </a:r>
            <a:r>
              <a:rPr lang="en-US" dirty="0">
                <a:solidFill>
                  <a:srgbClr val="FC6E70"/>
                </a:solidFill>
                <a:latin typeface="Roboto Mono" pitchFamily="49" charset="0"/>
                <a:ea typeface="Roboto Mono" pitchFamily="49" charset="0"/>
              </a:rPr>
              <a:t>ubuntu-latest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run: </a:t>
            </a:r>
            <a:r>
              <a:rPr lang="en-US" dirty="0">
                <a:solidFill>
                  <a:srgbClr val="FC6E70"/>
                </a:solidFill>
                <a:latin typeface="Roboto Mono" pitchFamily="49" charset="0"/>
                <a:ea typeface="Roboto Mono" pitchFamily="49" charset="0"/>
              </a:rPr>
              <a:t>echo "Deploying to production server on branch $GITHUB_REF"</a:t>
            </a:r>
          </a:p>
        </p:txBody>
      </p:sp>
      <p:sp>
        <p:nvSpPr>
          <p:cNvPr id="5" name="Text Placeholder 2">
            <a:extLst>
              <a:ext uri="{FF2B5EF4-FFF2-40B4-BE49-F238E27FC236}">
                <a16:creationId xmlns:a16="http://schemas.microsoft.com/office/drawing/2014/main" id="{DBA83962-B5DF-2B83-BFB8-D7439D912761}"/>
              </a:ext>
            </a:extLst>
          </p:cNvPr>
          <p:cNvSpPr txBox="1">
            <a:spLocks/>
          </p:cNvSpPr>
          <p:nvPr/>
        </p:nvSpPr>
        <p:spPr>
          <a:xfrm>
            <a:off x="655052" y="4542773"/>
            <a:ext cx="10990521" cy="1286723"/>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This example is using the </a:t>
            </a:r>
            <a:r>
              <a:rPr lang="en-US" sz="1800" b="0" i="0" dirty="0" err="1">
                <a:solidFill>
                  <a:srgbClr val="161616"/>
                </a:solidFill>
                <a:effectLst/>
                <a:highlight>
                  <a:srgbClr val="C0C0C0"/>
                </a:highlight>
                <a:latin typeface="Roboto Mono" pitchFamily="49" charset="0"/>
                <a:ea typeface="Roboto Mono" pitchFamily="49" charset="0"/>
              </a:rPr>
              <a:t>github.ref</a:t>
            </a:r>
            <a:r>
              <a:rPr lang="en-US" sz="2000" b="0" i="0" dirty="0">
                <a:solidFill>
                  <a:srgbClr val="161616"/>
                </a:solidFill>
                <a:effectLst/>
                <a:latin typeface="Quattrocento Sans" panose="020B0502050000020003" pitchFamily="34" charset="0"/>
              </a:rPr>
              <a:t> context to check the branch that triggered the workflow. If the branch is </a:t>
            </a:r>
            <a:r>
              <a:rPr lang="en-US" sz="1800" b="0" i="0" dirty="0">
                <a:solidFill>
                  <a:srgbClr val="161616"/>
                </a:solidFill>
                <a:effectLst/>
                <a:highlight>
                  <a:srgbClr val="C0C0C0"/>
                </a:highlight>
                <a:latin typeface="Roboto Mono" pitchFamily="49" charset="0"/>
                <a:ea typeface="Roboto Mono" pitchFamily="49" charset="0"/>
              </a:rPr>
              <a:t>main</a:t>
            </a:r>
            <a:r>
              <a:rPr lang="en-US" sz="2000" b="0" i="0" dirty="0">
                <a:solidFill>
                  <a:srgbClr val="161616"/>
                </a:solidFill>
                <a:effectLst/>
                <a:latin typeface="Quattrocento Sans" panose="020B0502050000020003" pitchFamily="34" charset="0"/>
              </a:rPr>
              <a:t>, the runner is executed and prints "Deploying to production server on branch $GITHUB_REF". The default environment variable </a:t>
            </a:r>
            <a:r>
              <a:rPr lang="en-US" sz="2000" b="0" i="0" dirty="0">
                <a:solidFill>
                  <a:srgbClr val="161616"/>
                </a:solidFill>
                <a:effectLst/>
                <a:highlight>
                  <a:srgbClr val="C0C0C0"/>
                </a:highlight>
                <a:latin typeface="Roboto Mono" pitchFamily="49" charset="0"/>
                <a:ea typeface="Roboto Mono" pitchFamily="49" charset="0"/>
              </a:rPr>
              <a:t>$GITHUB_REF</a:t>
            </a:r>
            <a:r>
              <a:rPr lang="en-US" sz="2000" b="0" i="0" dirty="0">
                <a:solidFill>
                  <a:srgbClr val="161616"/>
                </a:solidFill>
                <a:effectLst/>
                <a:latin typeface="Quattrocento Sans" panose="020B0502050000020003" pitchFamily="34" charset="0"/>
              </a:rPr>
              <a:t> is used in the runner to refer to the branch. Notice that default environment variables are all uppercase where context variables are all lowercase.</a:t>
            </a:r>
          </a:p>
        </p:txBody>
      </p:sp>
    </p:spTree>
    <p:extLst>
      <p:ext uri="{BB962C8B-B14F-4D97-AF65-F5344CB8AC3E}">
        <p14:creationId xmlns:p14="http://schemas.microsoft.com/office/powerpoint/2010/main" val="3435778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The contextual information available in a workflow</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7" name="Table 6">
            <a:extLst>
              <a:ext uri="{FF2B5EF4-FFF2-40B4-BE49-F238E27FC236}">
                <a16:creationId xmlns:a16="http://schemas.microsoft.com/office/drawing/2014/main" id="{734278F9-3C15-54C0-5D96-35A04924C298}"/>
              </a:ext>
            </a:extLst>
          </p:cNvPr>
          <p:cNvGraphicFramePr>
            <a:graphicFrameLocks noGrp="1"/>
          </p:cNvGraphicFramePr>
          <p:nvPr>
            <p:extLst>
              <p:ext uri="{D42A27DB-BD31-4B8C-83A1-F6EECF244321}">
                <p14:modId xmlns:p14="http://schemas.microsoft.com/office/powerpoint/2010/main" val="1607725132"/>
              </p:ext>
            </p:extLst>
          </p:nvPr>
        </p:nvGraphicFramePr>
        <p:xfrm>
          <a:off x="579438" y="1058201"/>
          <a:ext cx="11066136" cy="5328858"/>
        </p:xfrm>
        <a:graphic>
          <a:graphicData uri="http://schemas.openxmlformats.org/drawingml/2006/table">
            <a:tbl>
              <a:tblPr firstRow="1" bandRow="1">
                <a:tableStyleId>{5C22544A-7EE6-4342-B048-85BDC9FD1C3A}</a:tableStyleId>
              </a:tblPr>
              <a:tblGrid>
                <a:gridCol w="1272808">
                  <a:extLst>
                    <a:ext uri="{9D8B030D-6E8A-4147-A177-3AD203B41FA5}">
                      <a16:colId xmlns:a16="http://schemas.microsoft.com/office/drawing/2014/main" val="498529369"/>
                    </a:ext>
                  </a:extLst>
                </a:gridCol>
                <a:gridCol w="9793328">
                  <a:extLst>
                    <a:ext uri="{9D8B030D-6E8A-4147-A177-3AD203B41FA5}">
                      <a16:colId xmlns:a16="http://schemas.microsoft.com/office/drawing/2014/main" val="18106324"/>
                    </a:ext>
                  </a:extLst>
                </a:gridCol>
              </a:tblGrid>
              <a:tr h="374292">
                <a:tc>
                  <a:txBody>
                    <a:bodyPr/>
                    <a:lstStyle/>
                    <a:p>
                      <a:pPr algn="l" fontAlgn="t"/>
                      <a:r>
                        <a:rPr lang="en-US" dirty="0">
                          <a:solidFill>
                            <a:schemeClr val="tx1"/>
                          </a:solidFill>
                          <a:effectLst/>
                        </a:rPr>
                        <a:t>Context</a:t>
                      </a:r>
                    </a:p>
                  </a:txBody>
                  <a:tcPr anchor="b">
                    <a:lnR w="38100" cap="flat" cmpd="sng" algn="ctr">
                      <a:solidFill>
                        <a:schemeClr val="bg1">
                          <a:lumMod val="50000"/>
                        </a:schemeClr>
                      </a:solidFill>
                      <a:prstDash val="solid"/>
                      <a:round/>
                      <a:headEnd type="none" w="med" len="med"/>
                      <a:tailEnd type="none" w="med" len="med"/>
                    </a:lnR>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solidFill>
                            <a:schemeClr val="tx1"/>
                          </a:solidFill>
                          <a:effectLst/>
                          <a:latin typeface="Quattrocento Sans" panose="020B0502050000020003" pitchFamily="34" charset="0"/>
                        </a:rPr>
                        <a:t>Description</a:t>
                      </a:r>
                    </a:p>
                  </a:txBody>
                  <a:tcPr anchor="b">
                    <a:lnL w="38100" cap="flat" cmpd="sng" algn="ctr">
                      <a:solidFill>
                        <a:schemeClr val="bg1">
                          <a:lumMod val="50000"/>
                        </a:schemeClr>
                      </a:solidFill>
                      <a:prstDash val="solid"/>
                      <a:round/>
                      <a:headEnd type="none" w="med" len="med"/>
                      <a:tailEnd type="none" w="med" len="med"/>
                    </a:lnL>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09088968"/>
                  </a:ext>
                </a:extLst>
              </a:tr>
              <a:tr h="354908">
                <a:tc>
                  <a:txBody>
                    <a:bodyPr/>
                    <a:lstStyle/>
                    <a:p>
                      <a:pPr algn="l" fontAlgn="t"/>
                      <a:r>
                        <a:rPr lang="en-US">
                          <a:effectLst/>
                        </a:rPr>
                        <a:t>github</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Information about the workflow run. For more information, see</a:t>
                      </a:r>
                      <a:r>
                        <a:rPr lang="en-US" sz="1400" dirty="0">
                          <a:solidFill>
                            <a:srgbClr val="00B0F0"/>
                          </a:solidFill>
                          <a:effectLst/>
                          <a:latin typeface="Quattrocento Sans" panose="020B0502050000020003" pitchFamily="34" charset="0"/>
                        </a:rPr>
                        <a:t> </a:t>
                      </a:r>
                      <a:r>
                        <a:rPr lang="en-US" sz="140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github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72204707"/>
                  </a:ext>
                </a:extLst>
              </a:tr>
              <a:tr h="354908">
                <a:tc>
                  <a:txBody>
                    <a:bodyPr/>
                    <a:lstStyle/>
                    <a:p>
                      <a:pPr algn="l" fontAlgn="t"/>
                      <a:r>
                        <a:rPr lang="en-US">
                          <a:effectLst/>
                        </a:rPr>
                        <a:t>env</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Contains variables set in a workflow, job, or step. For more information, see </a:t>
                      </a:r>
                      <a:r>
                        <a:rPr lang="en-US" sz="1400" u="none" strike="noStrike" dirty="0">
                          <a:solidFill>
                            <a:srgbClr val="00B0F0"/>
                          </a:solidFill>
                          <a:effectLst/>
                          <a:latin typeface="Quattrocento Sans" panose="020B0502050000020003" pitchFamily="34" charset="0"/>
                          <a:hlinkClick r:id="rId4">
                            <a:extLst>
                              <a:ext uri="{A12FA001-AC4F-418D-AE19-62706E023703}">
                                <ahyp:hlinkClr xmlns:ahyp="http://schemas.microsoft.com/office/drawing/2018/hyperlinkcolor" val="tx"/>
                              </a:ext>
                            </a:extLst>
                          </a:hlinkClick>
                        </a:rPr>
                        <a:t>env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508494854"/>
                  </a:ext>
                </a:extLst>
              </a:tr>
              <a:tr h="434601">
                <a:tc>
                  <a:txBody>
                    <a:bodyPr/>
                    <a:lstStyle/>
                    <a:p>
                      <a:pPr algn="l" fontAlgn="t"/>
                      <a:r>
                        <a:rPr lang="en-US">
                          <a:effectLst/>
                        </a:rPr>
                        <a:t>vars</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Contains variables set at the repository, organization, or environment levels. For more information, see </a:t>
                      </a:r>
                      <a:r>
                        <a:rPr lang="en-US" sz="1400" u="none" strike="noStrike" dirty="0">
                          <a:solidFill>
                            <a:srgbClr val="00B0F0"/>
                          </a:solidFill>
                          <a:effectLst/>
                          <a:latin typeface="Quattrocento Sans" panose="020B0502050000020003" pitchFamily="34" charset="0"/>
                          <a:hlinkClick r:id="rId5">
                            <a:extLst>
                              <a:ext uri="{A12FA001-AC4F-418D-AE19-62706E023703}">
                                <ahyp:hlinkClr xmlns:ahyp="http://schemas.microsoft.com/office/drawing/2018/hyperlinkcolor" val="tx"/>
                              </a:ext>
                            </a:extLst>
                          </a:hlinkClick>
                        </a:rPr>
                        <a:t>vars context</a:t>
                      </a:r>
                      <a:r>
                        <a:rPr lang="en-US" sz="1400" dirty="0">
                          <a:solidFill>
                            <a:srgbClr val="00B0F0"/>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25349752"/>
                  </a:ext>
                </a:extLst>
              </a:tr>
              <a:tr h="354908">
                <a:tc>
                  <a:txBody>
                    <a:bodyPr/>
                    <a:lstStyle/>
                    <a:p>
                      <a:pPr algn="l" fontAlgn="t"/>
                      <a:r>
                        <a:rPr lang="en-US">
                          <a:effectLst/>
                        </a:rPr>
                        <a:t>job</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Information about the currently running job. For more information, see </a:t>
                      </a:r>
                      <a:r>
                        <a:rPr lang="en-US" sz="1400" u="none" strike="noStrike" dirty="0">
                          <a:solidFill>
                            <a:srgbClr val="00B0F0"/>
                          </a:solidFill>
                          <a:effectLst/>
                          <a:latin typeface="Quattrocento Sans" panose="020B0502050000020003" pitchFamily="34" charset="0"/>
                          <a:hlinkClick r:id="rId6">
                            <a:extLst>
                              <a:ext uri="{A12FA001-AC4F-418D-AE19-62706E023703}">
                                <ahyp:hlinkClr xmlns:ahyp="http://schemas.microsoft.com/office/drawing/2018/hyperlinkcolor" val="tx"/>
                              </a:ext>
                            </a:extLst>
                          </a:hlinkClick>
                        </a:rPr>
                        <a:t>job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12281739"/>
                  </a:ext>
                </a:extLst>
              </a:tr>
              <a:tr h="434601">
                <a:tc>
                  <a:txBody>
                    <a:bodyPr/>
                    <a:lstStyle/>
                    <a:p>
                      <a:pPr algn="l" fontAlgn="t"/>
                      <a:r>
                        <a:rPr lang="en-US">
                          <a:effectLst/>
                        </a:rPr>
                        <a:t>jobs</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For reusable workflows only, contains outputs of jobs from the reusable workflow. For more information, see </a:t>
                      </a:r>
                      <a:r>
                        <a:rPr lang="en-US" sz="1400" u="none" strike="noStrike" dirty="0">
                          <a:solidFill>
                            <a:srgbClr val="00B0F0"/>
                          </a:solidFill>
                          <a:effectLst/>
                          <a:latin typeface="Quattrocento Sans" panose="020B0502050000020003" pitchFamily="34" charset="0"/>
                          <a:hlinkClick r:id="rId7">
                            <a:extLst>
                              <a:ext uri="{A12FA001-AC4F-418D-AE19-62706E023703}">
                                <ahyp:hlinkClr xmlns:ahyp="http://schemas.microsoft.com/office/drawing/2018/hyperlinkcolor" val="tx"/>
                              </a:ext>
                            </a:extLst>
                          </a:hlinkClick>
                        </a:rPr>
                        <a:t>jobs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32931395"/>
                  </a:ext>
                </a:extLst>
              </a:tr>
              <a:tr h="354908">
                <a:tc>
                  <a:txBody>
                    <a:bodyPr/>
                    <a:lstStyle/>
                    <a:p>
                      <a:pPr algn="l" fontAlgn="t"/>
                      <a:r>
                        <a:rPr lang="en-US">
                          <a:effectLst/>
                        </a:rPr>
                        <a:t>steps</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Information about the steps that ran in the current job. For more information, see </a:t>
                      </a:r>
                      <a:r>
                        <a:rPr lang="en-US" sz="1400" u="none" strike="noStrike" dirty="0">
                          <a:solidFill>
                            <a:srgbClr val="00B0F0"/>
                          </a:solidFill>
                          <a:effectLst/>
                          <a:latin typeface="Quattrocento Sans" panose="020B0502050000020003" pitchFamily="34" charset="0"/>
                          <a:hlinkClick r:id="rId8">
                            <a:extLst>
                              <a:ext uri="{A12FA001-AC4F-418D-AE19-62706E023703}">
                                <ahyp:hlinkClr xmlns:ahyp="http://schemas.microsoft.com/office/drawing/2018/hyperlinkcolor" val="tx"/>
                              </a:ext>
                            </a:extLst>
                          </a:hlinkClick>
                        </a:rPr>
                        <a:t>steps context</a:t>
                      </a:r>
                      <a:r>
                        <a:rPr lang="en-US" sz="1400" dirty="0">
                          <a:solidFill>
                            <a:srgbClr val="00B0F0"/>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948854377"/>
                  </a:ext>
                </a:extLst>
              </a:tr>
              <a:tr h="354908">
                <a:tc>
                  <a:txBody>
                    <a:bodyPr/>
                    <a:lstStyle/>
                    <a:p>
                      <a:pPr algn="l" fontAlgn="t"/>
                      <a:r>
                        <a:rPr lang="en-US">
                          <a:effectLst/>
                        </a:rPr>
                        <a:t>runner</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Information about the runner that is running the current job. For more information, see </a:t>
                      </a:r>
                      <a:r>
                        <a:rPr lang="en-US" sz="1400" u="none" strike="noStrike" dirty="0">
                          <a:solidFill>
                            <a:srgbClr val="00B0F0"/>
                          </a:solidFill>
                          <a:effectLst/>
                          <a:latin typeface="Quattrocento Sans" panose="020B0502050000020003" pitchFamily="34" charset="0"/>
                          <a:hlinkClick r:id="rId9">
                            <a:extLst>
                              <a:ext uri="{A12FA001-AC4F-418D-AE19-62706E023703}">
                                <ahyp:hlinkClr xmlns:ahyp="http://schemas.microsoft.com/office/drawing/2018/hyperlinkcolor" val="tx"/>
                              </a:ext>
                            </a:extLst>
                          </a:hlinkClick>
                        </a:rPr>
                        <a:t>runner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20115829"/>
                  </a:ext>
                </a:extLst>
              </a:tr>
              <a:tr h="434601">
                <a:tc>
                  <a:txBody>
                    <a:bodyPr/>
                    <a:lstStyle/>
                    <a:p>
                      <a:pPr algn="l" fontAlgn="t"/>
                      <a:r>
                        <a:rPr lang="en-US">
                          <a:effectLst/>
                        </a:rPr>
                        <a:t>secrets</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Contains the names and values of secrets that are available to a workflow run. For more information, see </a:t>
                      </a:r>
                      <a:r>
                        <a:rPr lang="en-US" sz="1400" u="none" strike="noStrike" dirty="0">
                          <a:solidFill>
                            <a:srgbClr val="00B0F0"/>
                          </a:solidFill>
                          <a:effectLst/>
                          <a:latin typeface="Quattrocento Sans" panose="020B0502050000020003" pitchFamily="34" charset="0"/>
                          <a:hlinkClick r:id="rId10">
                            <a:extLst>
                              <a:ext uri="{A12FA001-AC4F-418D-AE19-62706E023703}">
                                <ahyp:hlinkClr xmlns:ahyp="http://schemas.microsoft.com/office/drawing/2018/hyperlinkcolor" val="tx"/>
                              </a:ext>
                            </a:extLst>
                          </a:hlinkClick>
                        </a:rPr>
                        <a:t>secrets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25042822"/>
                  </a:ext>
                </a:extLst>
              </a:tr>
              <a:tr h="434601">
                <a:tc>
                  <a:txBody>
                    <a:bodyPr/>
                    <a:lstStyle/>
                    <a:p>
                      <a:pPr algn="l" fontAlgn="t"/>
                      <a:r>
                        <a:rPr lang="en-US">
                          <a:effectLst/>
                        </a:rPr>
                        <a:t>strategy</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Information about the matrix execution strategy for the current job. For more information, see </a:t>
                      </a:r>
                      <a:r>
                        <a:rPr lang="en-US" sz="1400" u="none" strike="noStrike" dirty="0">
                          <a:solidFill>
                            <a:srgbClr val="00B0F0"/>
                          </a:solidFill>
                          <a:effectLst/>
                          <a:latin typeface="Quattrocento Sans" panose="020B0502050000020003" pitchFamily="34" charset="0"/>
                          <a:hlinkClick r:id="rId11">
                            <a:extLst>
                              <a:ext uri="{A12FA001-AC4F-418D-AE19-62706E023703}">
                                <ahyp:hlinkClr xmlns:ahyp="http://schemas.microsoft.com/office/drawing/2018/hyperlinkcolor" val="tx"/>
                              </a:ext>
                            </a:extLst>
                          </a:hlinkClick>
                        </a:rPr>
                        <a:t>strategy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789448784"/>
                  </a:ext>
                </a:extLst>
              </a:tr>
              <a:tr h="502786">
                <a:tc>
                  <a:txBody>
                    <a:bodyPr/>
                    <a:lstStyle/>
                    <a:p>
                      <a:pPr algn="l" fontAlgn="t"/>
                      <a:r>
                        <a:rPr lang="en-US">
                          <a:effectLst/>
                        </a:rPr>
                        <a:t>matrix</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Contains the matrix properties defined in the workflow that apply to the current job. For more information, see </a:t>
                      </a:r>
                      <a:r>
                        <a:rPr lang="en-US" sz="1400" u="none" strike="noStrike" dirty="0">
                          <a:solidFill>
                            <a:srgbClr val="00B0F0"/>
                          </a:solidFill>
                          <a:effectLst/>
                          <a:latin typeface="Quattrocento Sans" panose="020B0502050000020003" pitchFamily="34" charset="0"/>
                          <a:hlinkClick r:id="rId12">
                            <a:extLst>
                              <a:ext uri="{A12FA001-AC4F-418D-AE19-62706E023703}">
                                <ahyp:hlinkClr xmlns:ahyp="http://schemas.microsoft.com/office/drawing/2018/hyperlinkcolor" val="tx"/>
                              </a:ext>
                            </a:extLst>
                          </a:hlinkClick>
                        </a:rPr>
                        <a:t>matrix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477646199"/>
                  </a:ext>
                </a:extLst>
              </a:tr>
              <a:tr h="434601">
                <a:tc>
                  <a:txBody>
                    <a:bodyPr/>
                    <a:lstStyle/>
                    <a:p>
                      <a:pPr algn="l" fontAlgn="t"/>
                      <a:r>
                        <a:rPr lang="en-US">
                          <a:effectLst/>
                        </a:rPr>
                        <a:t>needs</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sz="1400" dirty="0">
                          <a:solidFill>
                            <a:schemeClr val="tx1"/>
                          </a:solidFill>
                          <a:effectLst/>
                          <a:latin typeface="Quattrocento Sans" panose="020B0502050000020003" pitchFamily="34" charset="0"/>
                        </a:rPr>
                        <a:t>Contains the outputs of all jobs that are defined as a dependency of the current job. For more information, see </a:t>
                      </a:r>
                      <a:r>
                        <a:rPr lang="en-US" sz="1400" u="none" strike="noStrike" dirty="0">
                          <a:solidFill>
                            <a:srgbClr val="00B0F0"/>
                          </a:solidFill>
                          <a:effectLst/>
                          <a:latin typeface="Quattrocento Sans" panose="020B0502050000020003" pitchFamily="34" charset="0"/>
                          <a:hlinkClick r:id="rId13">
                            <a:extLst>
                              <a:ext uri="{A12FA001-AC4F-418D-AE19-62706E023703}">
                                <ahyp:hlinkClr xmlns:ahyp="http://schemas.microsoft.com/office/drawing/2018/hyperlinkcolor" val="tx"/>
                              </a:ext>
                            </a:extLst>
                          </a:hlinkClick>
                        </a:rPr>
                        <a:t>needs context</a:t>
                      </a:r>
                      <a:r>
                        <a:rPr lang="en-US" sz="1400" dirty="0">
                          <a:solidFill>
                            <a:schemeClr val="tx1"/>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84429724"/>
                  </a:ext>
                </a:extLst>
              </a:tr>
              <a:tr h="434601">
                <a:tc>
                  <a:txBody>
                    <a:bodyPr/>
                    <a:lstStyle/>
                    <a:p>
                      <a:pPr algn="l" fontAlgn="t"/>
                      <a:r>
                        <a:rPr lang="en-US">
                          <a:effectLst/>
                        </a:rPr>
                        <a:t>inputs</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noFill/>
                  </a:tcPr>
                </a:tc>
                <a:tc>
                  <a:txBody>
                    <a:bodyPr/>
                    <a:lstStyle/>
                    <a:p>
                      <a:pPr algn="l" fontAlgn="t"/>
                      <a:r>
                        <a:rPr lang="en-US" sz="1400" dirty="0">
                          <a:solidFill>
                            <a:schemeClr val="tx1"/>
                          </a:solidFill>
                          <a:effectLst/>
                          <a:latin typeface="Quattrocento Sans" panose="020B0502050000020003" pitchFamily="34" charset="0"/>
                        </a:rPr>
                        <a:t>Contains the inputs of a reusable or manually triggered workflow. For more information, see </a:t>
                      </a:r>
                      <a:r>
                        <a:rPr lang="en-US" sz="1400" u="none" strike="noStrike" dirty="0">
                          <a:solidFill>
                            <a:srgbClr val="00B0F0"/>
                          </a:solidFill>
                          <a:effectLst/>
                          <a:latin typeface="Quattrocento Sans" panose="020B0502050000020003" pitchFamily="34" charset="0"/>
                          <a:hlinkClick r:id="rId14">
                            <a:extLst>
                              <a:ext uri="{A12FA001-AC4F-418D-AE19-62706E023703}">
                                <ahyp:hlinkClr xmlns:ahyp="http://schemas.microsoft.com/office/drawing/2018/hyperlinkcolor" val="tx"/>
                              </a:ext>
                            </a:extLst>
                          </a:hlinkClick>
                        </a:rPr>
                        <a:t>inputs context</a:t>
                      </a:r>
                      <a:r>
                        <a:rPr lang="en-US" sz="1400" dirty="0">
                          <a:solidFill>
                            <a:srgbClr val="00B0F0"/>
                          </a:solidFill>
                          <a:effectLst/>
                          <a:latin typeface="Quattrocento Sans" panose="020B0502050000020003" pitchFamily="34" charset="0"/>
                        </a:rPr>
                        <a:t>.</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397020161"/>
                  </a:ext>
                </a:extLst>
              </a:tr>
            </a:tbl>
          </a:graphicData>
        </a:graphic>
      </p:graphicFrame>
    </p:spTree>
    <p:extLst>
      <p:ext uri="{BB962C8B-B14F-4D97-AF65-F5344CB8AC3E}">
        <p14:creationId xmlns:p14="http://schemas.microsoft.com/office/powerpoint/2010/main" val="398097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10456354" cy="492443"/>
          </a:xfrm>
        </p:spPr>
        <p:txBody>
          <a:bodyPr>
            <a:normAutofit fontScale="90000"/>
          </a:bodyPr>
          <a:lstStyle/>
          <a:p>
            <a:r>
              <a:rPr lang="en-US" sz="3200" dirty="0">
                <a:latin typeface="Quattrocento Sans" panose="020B0502050000020003" pitchFamily="34" charset="0"/>
              </a:rPr>
              <a:t>The contextual information available in a workflow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4" name="Object 3">
            <a:extLst>
              <a:ext uri="{FF2B5EF4-FFF2-40B4-BE49-F238E27FC236}">
                <a16:creationId xmlns:a16="http://schemas.microsoft.com/office/drawing/2014/main" id="{E25F7965-3933-EF10-F680-664BD1DD02D8}"/>
              </a:ext>
            </a:extLst>
          </p:cNvPr>
          <p:cNvGraphicFramePr>
            <a:graphicFrameLocks noChangeAspect="1"/>
          </p:cNvGraphicFramePr>
          <p:nvPr>
            <p:extLst>
              <p:ext uri="{D42A27DB-BD31-4B8C-83A1-F6EECF244321}">
                <p14:modId xmlns:p14="http://schemas.microsoft.com/office/powerpoint/2010/main" val="3220123850"/>
              </p:ext>
            </p:extLst>
          </p:nvPr>
        </p:nvGraphicFramePr>
        <p:xfrm>
          <a:off x="714349" y="860224"/>
          <a:ext cx="10898213" cy="5560859"/>
        </p:xfrm>
        <a:graphic>
          <a:graphicData uri="http://schemas.openxmlformats.org/presentationml/2006/ole">
            <mc:AlternateContent xmlns:mc="http://schemas.openxmlformats.org/markup-compatibility/2006">
              <mc:Choice xmlns:v="urn:schemas-microsoft-com:vml" Requires="v">
                <p:oleObj name="Worksheet" r:id="rId3" imgW="12280900" imgH="7124700" progId="Excel.Sheet.12">
                  <p:embed/>
                </p:oleObj>
              </mc:Choice>
              <mc:Fallback>
                <p:oleObj name="Worksheet" r:id="rId3" imgW="12280900" imgH="7124700" progId="Excel.Sheet.12">
                  <p:embed/>
                  <p:pic>
                    <p:nvPicPr>
                      <p:cNvPr id="4" name="Object 3">
                        <a:extLst>
                          <a:ext uri="{FF2B5EF4-FFF2-40B4-BE49-F238E27FC236}">
                            <a16:creationId xmlns:a16="http://schemas.microsoft.com/office/drawing/2014/main" id="{E25F7965-3933-EF10-F680-664BD1DD02D8}"/>
                          </a:ext>
                        </a:extLst>
                      </p:cNvPr>
                      <p:cNvPicPr/>
                      <p:nvPr/>
                    </p:nvPicPr>
                    <p:blipFill>
                      <a:blip r:embed="rId4"/>
                      <a:stretch>
                        <a:fillRect/>
                      </a:stretch>
                    </p:blipFill>
                    <p:spPr>
                      <a:xfrm>
                        <a:off x="714349" y="860224"/>
                        <a:ext cx="10898213" cy="5560859"/>
                      </a:xfrm>
                      <a:prstGeom prst="rect">
                        <a:avLst/>
                      </a:prstGeom>
                    </p:spPr>
                  </p:pic>
                </p:oleObj>
              </mc:Fallback>
            </mc:AlternateContent>
          </a:graphicData>
        </a:graphic>
      </p:graphicFrame>
    </p:spTree>
    <p:extLst>
      <p:ext uri="{BB962C8B-B14F-4D97-AF65-F5344CB8AC3E}">
        <p14:creationId xmlns:p14="http://schemas.microsoft.com/office/powerpoint/2010/main" val="203283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Setting custom environment variables in a workflow</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2" y="1430656"/>
            <a:ext cx="10990521"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You can define environment variables that are scoped to the entire workflow utilizing </a:t>
            </a:r>
            <a:r>
              <a:rPr lang="en-US" sz="1800" b="0" i="0" dirty="0">
                <a:solidFill>
                  <a:srgbClr val="161616"/>
                </a:solidFill>
                <a:effectLst/>
                <a:highlight>
                  <a:srgbClr val="C0C0C0"/>
                </a:highlight>
                <a:latin typeface="Roboto Mono" pitchFamily="49" charset="0"/>
                <a:ea typeface="Roboto Mono" pitchFamily="49" charset="0"/>
              </a:rPr>
              <a:t>env</a:t>
            </a:r>
            <a:r>
              <a:rPr lang="en-US" sz="2000" b="0" i="0" dirty="0">
                <a:solidFill>
                  <a:srgbClr val="161616"/>
                </a:solidFill>
                <a:effectLst/>
                <a:latin typeface="Quattrocento Sans" panose="020B0502050000020003" pitchFamily="34" charset="0"/>
              </a:rPr>
              <a:t> at the top level of the workflow file. Scoping the contents of a job within a workflow using </a:t>
            </a:r>
            <a:r>
              <a:rPr lang="en-US" sz="1800" b="0" i="0" dirty="0">
                <a:solidFill>
                  <a:srgbClr val="161616"/>
                </a:solidFill>
                <a:effectLst/>
                <a:highlight>
                  <a:srgbClr val="C0C0C0"/>
                </a:highlight>
                <a:latin typeface="Roboto Mono" pitchFamily="49" charset="0"/>
                <a:ea typeface="Roboto Mono" pitchFamily="49" charset="0"/>
              </a:rPr>
              <a:t>jobs.&lt;</a:t>
            </a:r>
            <a:r>
              <a:rPr lang="en-US" sz="1800" b="0" i="0" dirty="0" err="1">
                <a:solidFill>
                  <a:srgbClr val="161616"/>
                </a:solidFill>
                <a:effectLst/>
                <a:highlight>
                  <a:srgbClr val="C0C0C0"/>
                </a:highlight>
                <a:latin typeface="Roboto Mono" pitchFamily="49" charset="0"/>
                <a:ea typeface="Roboto Mono" pitchFamily="49" charset="0"/>
              </a:rPr>
              <a:t>job_id</a:t>
            </a:r>
            <a:r>
              <a:rPr lang="en-US" sz="1800" b="0" i="0" dirty="0">
                <a:solidFill>
                  <a:srgbClr val="161616"/>
                </a:solidFill>
                <a:effectLst/>
                <a:highlight>
                  <a:srgbClr val="C0C0C0"/>
                </a:highlight>
                <a:latin typeface="Roboto Mono" pitchFamily="49" charset="0"/>
                <a:ea typeface="Roboto Mono" pitchFamily="49" charset="0"/>
              </a:rPr>
              <a:t>&gt;.env</a:t>
            </a:r>
            <a:r>
              <a:rPr lang="en-US" sz="2000" b="0" i="0" dirty="0">
                <a:solidFill>
                  <a:srgbClr val="161616"/>
                </a:solidFill>
                <a:effectLst/>
                <a:latin typeface="Quattrocento Sans" panose="020B0502050000020003" pitchFamily="34" charset="0"/>
              </a:rPr>
              <a:t>. As well you can scope an environment variable within at a specific step within a job utilizing </a:t>
            </a:r>
            <a:r>
              <a:rPr lang="en-US" sz="1800" b="0" i="0" dirty="0">
                <a:solidFill>
                  <a:srgbClr val="161616"/>
                </a:solidFill>
                <a:effectLst/>
                <a:highlight>
                  <a:srgbClr val="C0C0C0"/>
                </a:highlight>
                <a:latin typeface="Roboto Mono" pitchFamily="49" charset="0"/>
                <a:ea typeface="Roboto Mono" pitchFamily="49" charset="0"/>
              </a:rPr>
              <a:t>jobs.&lt;</a:t>
            </a:r>
            <a:r>
              <a:rPr lang="en-US" sz="1800" b="0" i="0" dirty="0" err="1">
                <a:solidFill>
                  <a:srgbClr val="161616"/>
                </a:solidFill>
                <a:effectLst/>
                <a:highlight>
                  <a:srgbClr val="C0C0C0"/>
                </a:highlight>
                <a:latin typeface="Roboto Mono" pitchFamily="49" charset="0"/>
                <a:ea typeface="Roboto Mono" pitchFamily="49" charset="0"/>
              </a:rPr>
              <a:t>job_id</a:t>
            </a:r>
            <a:r>
              <a:rPr lang="en-US" sz="1800" b="0" i="0" dirty="0">
                <a:solidFill>
                  <a:srgbClr val="161616"/>
                </a:solidFill>
                <a:effectLst/>
                <a:highlight>
                  <a:srgbClr val="C0C0C0"/>
                </a:highlight>
                <a:latin typeface="Roboto Mono" pitchFamily="49" charset="0"/>
                <a:ea typeface="Roboto Mono" pitchFamily="49" charset="0"/>
              </a:rPr>
              <a:t>&gt;.steps[*].env</a:t>
            </a:r>
            <a:r>
              <a:rPr lang="en-US" sz="2000" b="0" i="0" dirty="0">
                <a:solidFill>
                  <a:srgbClr val="161616"/>
                </a:solidFill>
                <a:effectLst/>
                <a:latin typeface="Quattrocento Sans" panose="020B0502050000020003" pitchFamily="34" charset="0"/>
              </a:rPr>
              <a:t>.</a:t>
            </a:r>
          </a:p>
          <a:p>
            <a:pPr marL="0" indent="0" algn="just">
              <a:buNone/>
            </a:pPr>
            <a:r>
              <a:rPr lang="en-US" sz="2000" b="0" i="0" dirty="0">
                <a:solidFill>
                  <a:srgbClr val="161616"/>
                </a:solidFill>
                <a:effectLst/>
                <a:latin typeface="Quattrocento Sans" panose="020B0502050000020003" pitchFamily="34" charset="0"/>
              </a:rPr>
              <a:t>Next is an example displaying all three scenarios in a workflow file: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2" y="2773180"/>
            <a:ext cx="9199062" cy="337906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7" y="2892444"/>
            <a:ext cx="9199062" cy="314053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name: </a:t>
            </a:r>
            <a:r>
              <a:rPr lang="en-US" sz="1400" dirty="0">
                <a:solidFill>
                  <a:srgbClr val="FC6E70"/>
                </a:solidFill>
                <a:latin typeface="Roboto Mono" pitchFamily="49" charset="0"/>
                <a:ea typeface="Roboto Mono" pitchFamily="49" charset="0"/>
              </a:rPr>
              <a:t>Greeting on variable day</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workflow_dispatch</a:t>
            </a:r>
            <a:endParaRPr lang="en-US" sz="1400" dirty="0">
              <a:solidFill>
                <a:srgbClr val="FC6E70"/>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env:</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DAY_OF_WEEK: </a:t>
            </a:r>
            <a:r>
              <a:rPr lang="en-US" sz="1400" dirty="0">
                <a:solidFill>
                  <a:srgbClr val="FC6E70"/>
                </a:solidFill>
                <a:latin typeface="Roboto Mono" pitchFamily="49" charset="0"/>
                <a:ea typeface="Roboto Mono" pitchFamily="49" charset="0"/>
              </a:rPr>
              <a:t>Monday</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chemeClr val="tx2">
                    <a:lumMod val="50000"/>
                    <a:lumOff val="50000"/>
                  </a:schemeClr>
                </a:solidFill>
                <a:latin typeface="Roboto Mono" pitchFamily="49" charset="0"/>
                <a:ea typeface="Roboto Mono" pitchFamily="49" charset="0"/>
              </a:rPr>
              <a:t>greeting_job</a:t>
            </a:r>
            <a:r>
              <a:rPr lang="en-US" sz="1400"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a:solidFill>
                  <a:srgbClr val="FC6E70"/>
                </a:solidFill>
                <a:latin typeface="Roboto Mono" pitchFamily="49" charset="0"/>
                <a:ea typeface="Roboto Mono" pitchFamily="49" charset="0"/>
              </a:rPr>
              <a:t>ubuntu-latest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env:</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Greeting: </a:t>
            </a:r>
            <a:r>
              <a:rPr lang="en-US" sz="1400" dirty="0">
                <a:solidFill>
                  <a:srgbClr val="FC6E70"/>
                </a:solidFill>
                <a:latin typeface="Roboto Mono" pitchFamily="49" charset="0"/>
                <a:ea typeface="Roboto Mono" pitchFamily="49" charset="0"/>
              </a:rPr>
              <a:t>Hello</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a:solidFill>
                  <a:srgbClr val="FC6E70"/>
                </a:solidFill>
                <a:latin typeface="Roboto Mono" pitchFamily="49" charset="0"/>
                <a:ea typeface="Roboto Mono" pitchFamily="49" charset="0"/>
              </a:rPr>
              <a:t>"Say Hello Mona it's Monday"</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r>
              <a:rPr lang="en-US" sz="1400" dirty="0">
                <a:solidFill>
                  <a:srgbClr val="FC6E70"/>
                </a:solidFill>
                <a:latin typeface="Roboto Mono" pitchFamily="49" charset="0"/>
                <a:ea typeface="Roboto Mono" pitchFamily="49" charset="0"/>
              </a:rPr>
              <a:t>echo "$Greeting $</a:t>
            </a:r>
            <a:r>
              <a:rPr lang="en-US" sz="1400" dirty="0" err="1">
                <a:solidFill>
                  <a:srgbClr val="FC6E70"/>
                </a:solidFill>
                <a:latin typeface="Roboto Mono" pitchFamily="49" charset="0"/>
                <a:ea typeface="Roboto Mono" pitchFamily="49" charset="0"/>
              </a:rPr>
              <a:t>First_Name</a:t>
            </a:r>
            <a:r>
              <a:rPr lang="en-US" sz="1400" dirty="0">
                <a:solidFill>
                  <a:srgbClr val="FC6E70"/>
                </a:solidFill>
                <a:latin typeface="Roboto Mono" pitchFamily="49" charset="0"/>
                <a:ea typeface="Roboto Mono" pitchFamily="49" charset="0"/>
              </a:rPr>
              <a:t>. Today is $DAY_OF_WEEK!"</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env:</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chemeClr val="tx2">
                    <a:lumMod val="50000"/>
                    <a:lumOff val="50000"/>
                  </a:schemeClr>
                </a:solidFill>
                <a:latin typeface="Roboto Mono" pitchFamily="49" charset="0"/>
                <a:ea typeface="Roboto Mono" pitchFamily="49" charset="0"/>
              </a:rPr>
              <a:t>First_Name</a:t>
            </a:r>
            <a:r>
              <a:rPr lang="en-US" sz="1400" dirty="0">
                <a:solidFill>
                  <a:schemeClr val="tx2">
                    <a:lumMod val="50000"/>
                    <a:lumOff val="50000"/>
                  </a:schemeClr>
                </a:solidFill>
                <a:latin typeface="Roboto Mono" pitchFamily="49" charset="0"/>
                <a:ea typeface="Roboto Mono" pitchFamily="49" charset="0"/>
              </a:rPr>
              <a:t>: </a:t>
            </a:r>
            <a:r>
              <a:rPr lang="en-US" sz="1400" dirty="0">
                <a:solidFill>
                  <a:srgbClr val="FC6E70"/>
                </a:solidFill>
                <a:latin typeface="Roboto Mono" pitchFamily="49" charset="0"/>
                <a:ea typeface="Roboto Mono" pitchFamily="49" charset="0"/>
              </a:rPr>
              <a:t>Mona</a:t>
            </a:r>
          </a:p>
        </p:txBody>
      </p:sp>
    </p:spTree>
    <p:extLst>
      <p:ext uri="{BB962C8B-B14F-4D97-AF65-F5344CB8AC3E}">
        <p14:creationId xmlns:p14="http://schemas.microsoft.com/office/powerpoint/2010/main" val="1917332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Use default context in a workflow</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2" y="1430656"/>
            <a:ext cx="10990521"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Default environment variables are set by GitHub and not defined in a workflow. They're available to use in a workflow in the appropriate context. Most of these variables, other than </a:t>
            </a:r>
            <a:r>
              <a:rPr lang="en-US" sz="1800" b="0" i="0" dirty="0">
                <a:solidFill>
                  <a:srgbClr val="161616"/>
                </a:solidFill>
                <a:effectLst/>
                <a:highlight>
                  <a:srgbClr val="C0C0C0"/>
                </a:highlight>
                <a:latin typeface="Roboto Mono" pitchFamily="49" charset="0"/>
                <a:ea typeface="Roboto Mono" pitchFamily="49" charset="0"/>
              </a:rPr>
              <a:t>CI</a:t>
            </a:r>
            <a:r>
              <a:rPr lang="en-US" sz="2000" b="0" i="0" dirty="0">
                <a:solidFill>
                  <a:srgbClr val="161616"/>
                </a:solidFill>
                <a:effectLst/>
                <a:latin typeface="Quattrocento Sans" panose="020B0502050000020003" pitchFamily="34" charset="0"/>
              </a:rPr>
              <a:t>, begin with </a:t>
            </a:r>
            <a:r>
              <a:rPr lang="en-US" sz="1800" b="0" i="0" dirty="0">
                <a:solidFill>
                  <a:srgbClr val="161616"/>
                </a:solidFill>
                <a:effectLst/>
                <a:highlight>
                  <a:srgbClr val="C0C0C0"/>
                </a:highlight>
                <a:latin typeface="Roboto Mono" pitchFamily="49" charset="0"/>
                <a:ea typeface="Roboto Mono" pitchFamily="49" charset="0"/>
              </a:rPr>
              <a:t>GITHUB_*</a:t>
            </a:r>
            <a:r>
              <a:rPr lang="en-US" sz="2000" b="0" i="0" dirty="0">
                <a:solidFill>
                  <a:srgbClr val="161616"/>
                </a:solidFill>
                <a:effectLst/>
                <a:latin typeface="Quattrocento Sans" panose="020B0502050000020003" pitchFamily="34" charset="0"/>
              </a:rPr>
              <a:t> or </a:t>
            </a:r>
            <a:r>
              <a:rPr lang="en-US" sz="1800" b="0" i="0" dirty="0">
                <a:solidFill>
                  <a:srgbClr val="161616"/>
                </a:solidFill>
                <a:effectLst/>
                <a:highlight>
                  <a:srgbClr val="C0C0C0"/>
                </a:highlight>
                <a:latin typeface="Roboto Mono" pitchFamily="49" charset="0"/>
                <a:ea typeface="Roboto Mono" pitchFamily="49" charset="0"/>
              </a:rPr>
              <a:t>RUNNER_*</a:t>
            </a:r>
            <a:r>
              <a:rPr lang="en-US" sz="2000" b="0" i="0" dirty="0">
                <a:solidFill>
                  <a:srgbClr val="161616"/>
                </a:solidFill>
                <a:effectLst/>
                <a:latin typeface="Quattrocento Sans" panose="020B0502050000020003" pitchFamily="34" charset="0"/>
              </a:rPr>
              <a:t>. The latter two types can't be overwritten. As well, these default variables have a corresponding, and similarly named, context property. For instance, the </a:t>
            </a:r>
            <a:r>
              <a:rPr lang="en-US" sz="1800" b="0" i="0" dirty="0">
                <a:solidFill>
                  <a:srgbClr val="161616"/>
                </a:solidFill>
                <a:effectLst/>
                <a:highlight>
                  <a:srgbClr val="C0C0C0"/>
                </a:highlight>
                <a:latin typeface="Roboto Mono" pitchFamily="49" charset="0"/>
                <a:ea typeface="Roboto Mono" pitchFamily="49" charset="0"/>
              </a:rPr>
              <a:t>RUNNER_*</a:t>
            </a:r>
            <a:r>
              <a:rPr lang="en-US" sz="2000" b="0" i="0" dirty="0">
                <a:solidFill>
                  <a:srgbClr val="161616"/>
                </a:solidFill>
                <a:effectLst/>
                <a:latin typeface="Quattrocento Sans" panose="020B0502050000020003" pitchFamily="34" charset="0"/>
              </a:rPr>
              <a:t> series of default variables have a matching context property of </a:t>
            </a:r>
            <a:r>
              <a:rPr lang="en-US" sz="1800" b="0" i="0" dirty="0">
                <a:solidFill>
                  <a:srgbClr val="161616"/>
                </a:solidFill>
                <a:effectLst/>
                <a:highlight>
                  <a:srgbClr val="C0C0C0"/>
                </a:highlight>
                <a:latin typeface="Roboto Mono" pitchFamily="49" charset="0"/>
                <a:ea typeface="Roboto Mono" pitchFamily="49" charset="0"/>
              </a:rPr>
              <a:t>runner.*</a:t>
            </a:r>
            <a:r>
              <a:rPr lang="en-US" sz="2000" b="0" i="0" dirty="0">
                <a:solidFill>
                  <a:srgbClr val="161616"/>
                </a:solidFill>
                <a:effectLst/>
                <a:latin typeface="Quattrocento Sans" panose="020B0502050000020003" pitchFamily="34" charset="0"/>
              </a:rPr>
              <a:t>. An example of accessing default variables in a workflow applying these methods can be viewed here: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2" y="2788170"/>
            <a:ext cx="10398276" cy="285440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7" y="2919334"/>
            <a:ext cx="10398276" cy="260397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on: </a:t>
            </a:r>
            <a:r>
              <a:rPr lang="en-US" sz="1400" dirty="0" err="1">
                <a:solidFill>
                  <a:srgbClr val="FC6E70"/>
                </a:solidFill>
                <a:latin typeface="Roboto Mono" pitchFamily="49" charset="0"/>
                <a:ea typeface="Roboto Mono" pitchFamily="49" charset="0"/>
              </a:rPr>
              <a:t>workflow_dispatch</a:t>
            </a:r>
            <a:endParaRPr lang="en-US" sz="1400" dirty="0">
              <a:solidFill>
                <a:srgbClr val="FC6E70"/>
              </a:solidFill>
              <a:latin typeface="Roboto Mono" pitchFamily="49" charset="0"/>
              <a:ea typeface="Roboto Mono" pitchFamily="49" charset="0"/>
            </a:endParaRPr>
          </a:p>
          <a:p>
            <a:pPr marL="0" indent="0">
              <a:spcBef>
                <a:spcPts val="0"/>
              </a:spcBef>
              <a:buNone/>
            </a:pPr>
            <a:endParaRPr lang="en-US" sz="14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if-Windows-else: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err="1">
                <a:solidFill>
                  <a:srgbClr val="FC6E70"/>
                </a:solidFill>
                <a:latin typeface="Roboto Mono" pitchFamily="49" charset="0"/>
                <a:ea typeface="Roboto Mono" pitchFamily="49" charset="0"/>
              </a:rPr>
              <a:t>macos</a:t>
            </a:r>
            <a:r>
              <a:rPr lang="en-US" sz="1400" dirty="0">
                <a:solidFill>
                  <a:srgbClr val="FC6E70"/>
                </a:solidFill>
                <a:latin typeface="Roboto Mono" pitchFamily="49" charset="0"/>
                <a:ea typeface="Roboto Mono" pitchFamily="49" charset="0"/>
              </a:rPr>
              <a:t>-latest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a:solidFill>
                  <a:srgbClr val="FC6E70"/>
                </a:solidFill>
                <a:latin typeface="Roboto Mono" pitchFamily="49" charset="0"/>
                <a:ea typeface="Roboto Mono" pitchFamily="49" charset="0"/>
              </a:rPr>
              <a:t>condition</a:t>
            </a:r>
            <a:r>
              <a:rPr lang="en-US" sz="1400" dirty="0">
                <a:solidFill>
                  <a:schemeClr val="tx2">
                    <a:lumMod val="50000"/>
                    <a:lumOff val="50000"/>
                  </a:schemeClr>
                </a:solidFill>
                <a:latin typeface="Roboto Mono" pitchFamily="49" charset="0"/>
                <a:ea typeface="Roboto Mono" pitchFamily="49" charset="0"/>
              </a:rPr>
              <a:t> 1</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if: </a:t>
            </a:r>
            <a:r>
              <a:rPr lang="en-US" sz="1400" dirty="0" err="1">
                <a:solidFill>
                  <a:srgbClr val="FC6E70"/>
                </a:solidFill>
                <a:latin typeface="Roboto Mono" pitchFamily="49" charset="0"/>
                <a:ea typeface="Roboto Mono" pitchFamily="49" charset="0"/>
              </a:rPr>
              <a:t>runner.os</a:t>
            </a:r>
            <a:r>
              <a:rPr lang="en-US" sz="1400" dirty="0">
                <a:solidFill>
                  <a:srgbClr val="FC6E70"/>
                </a:solidFill>
                <a:latin typeface="Roboto Mono" pitchFamily="49" charset="0"/>
                <a:ea typeface="Roboto Mono" pitchFamily="49" charset="0"/>
              </a:rPr>
              <a:t> == 'Windows'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r>
              <a:rPr lang="en-US" sz="1400" dirty="0">
                <a:solidFill>
                  <a:srgbClr val="FC6E70"/>
                </a:solidFill>
                <a:latin typeface="Roboto Mono" pitchFamily="49" charset="0"/>
                <a:ea typeface="Roboto Mono" pitchFamily="49" charset="0"/>
              </a:rPr>
              <a:t>echo "The operating system on the runner is $</a:t>
            </a:r>
            <a:r>
              <a:rPr lang="en-US" sz="1400" dirty="0" err="1">
                <a:solidFill>
                  <a:srgbClr val="FC6E70"/>
                </a:solidFill>
                <a:latin typeface="Roboto Mono" pitchFamily="49" charset="0"/>
                <a:ea typeface="Roboto Mono" pitchFamily="49" charset="0"/>
              </a:rPr>
              <a:t>env:RUNNER_OS</a:t>
            </a:r>
            <a:r>
              <a:rPr lang="en-US" sz="1400" dirty="0">
                <a:solidFill>
                  <a:srgbClr val="FC6E70"/>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a:solidFill>
                  <a:srgbClr val="FC6E70"/>
                </a:solidFill>
                <a:latin typeface="Roboto Mono" pitchFamily="49" charset="0"/>
                <a:ea typeface="Roboto Mono" pitchFamily="49" charset="0"/>
              </a:rPr>
              <a:t>condition</a:t>
            </a:r>
            <a:r>
              <a:rPr lang="en-US" sz="1400" dirty="0">
                <a:solidFill>
                  <a:schemeClr val="tx2">
                    <a:lumMod val="50000"/>
                    <a:lumOff val="50000"/>
                  </a:schemeClr>
                </a:solidFill>
                <a:latin typeface="Roboto Mono" pitchFamily="49" charset="0"/>
                <a:ea typeface="Roboto Mono" pitchFamily="49" charset="0"/>
              </a:rPr>
              <a:t> 2</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if: </a:t>
            </a:r>
            <a:r>
              <a:rPr lang="en-US" sz="1400" dirty="0" err="1">
                <a:solidFill>
                  <a:srgbClr val="FC6E70"/>
                </a:solidFill>
                <a:latin typeface="Roboto Mono" pitchFamily="49" charset="0"/>
                <a:ea typeface="Roboto Mono" pitchFamily="49" charset="0"/>
              </a:rPr>
              <a:t>runner.os</a:t>
            </a:r>
            <a:r>
              <a:rPr lang="en-US" sz="1400" dirty="0">
                <a:solidFill>
                  <a:srgbClr val="FC6E70"/>
                </a:solidFill>
                <a:latin typeface="Roboto Mono" pitchFamily="49" charset="0"/>
                <a:ea typeface="Roboto Mono" pitchFamily="49" charset="0"/>
              </a:rPr>
              <a:t> != 'Windows'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r>
              <a:rPr lang="en-US" sz="1400" dirty="0">
                <a:solidFill>
                  <a:srgbClr val="FC6E70"/>
                </a:solidFill>
                <a:latin typeface="Roboto Mono" pitchFamily="49" charset="0"/>
                <a:ea typeface="Roboto Mono" pitchFamily="49" charset="0"/>
              </a:rPr>
              <a:t>echo "The operating system on the runner is not Windows, it's $RUNNER_OS."</a:t>
            </a:r>
          </a:p>
        </p:txBody>
      </p:sp>
      <p:sp>
        <p:nvSpPr>
          <p:cNvPr id="5" name="Text Placeholder 2">
            <a:extLst>
              <a:ext uri="{FF2B5EF4-FFF2-40B4-BE49-F238E27FC236}">
                <a16:creationId xmlns:a16="http://schemas.microsoft.com/office/drawing/2014/main" id="{28F16684-D7E1-AF49-9859-7235B77BC474}"/>
              </a:ext>
            </a:extLst>
          </p:cNvPr>
          <p:cNvSpPr txBox="1">
            <a:spLocks/>
          </p:cNvSpPr>
          <p:nvPr/>
        </p:nvSpPr>
        <p:spPr>
          <a:xfrm>
            <a:off x="655051" y="5711931"/>
            <a:ext cx="10990521"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2000" b="0" i="0" dirty="0">
                <a:solidFill>
                  <a:srgbClr val="161616"/>
                </a:solidFill>
                <a:effectLst/>
                <a:latin typeface="Quattrocento Sans" panose="020B0502050000020003" pitchFamily="34" charset="0"/>
              </a:rPr>
              <a:t>For more information, see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Default environment variables</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in the GitHub user documentation.</a:t>
            </a:r>
          </a:p>
        </p:txBody>
      </p:sp>
    </p:spTree>
    <p:extLst>
      <p:ext uri="{BB962C8B-B14F-4D97-AF65-F5344CB8AC3E}">
        <p14:creationId xmlns:p14="http://schemas.microsoft.com/office/powerpoint/2010/main" val="334907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Pass custom environment variables to a workflow</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2" y="1998961"/>
            <a:ext cx="10990521"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You can pass customer environment variables from one step of a workflow job to subsequent steps within the job. Generate a value in one step of a job, and assign the value to an existing or new environment variable. Next, you write the variable/value pair to the GITHUB_ENV environment file. The environment file can be used by an action, or from a shell command in the workflow job by using the </a:t>
            </a:r>
            <a:r>
              <a:rPr lang="en-US" sz="1800" b="0" i="0" dirty="0">
                <a:solidFill>
                  <a:srgbClr val="161616"/>
                </a:solidFill>
                <a:effectLst/>
                <a:highlight>
                  <a:srgbClr val="C0C0C0"/>
                </a:highlight>
                <a:latin typeface="Roboto Mono" pitchFamily="49" charset="0"/>
                <a:ea typeface="Roboto Mono" pitchFamily="49" charset="0"/>
              </a:rPr>
              <a:t>run</a:t>
            </a:r>
            <a:r>
              <a:rPr lang="en-US" sz="2000" b="0" i="0" dirty="0">
                <a:solidFill>
                  <a:srgbClr val="161616"/>
                </a:solidFill>
                <a:effectLst/>
                <a:latin typeface="Quattrocento Sans" panose="020B0502050000020003" pitchFamily="34" charset="0"/>
              </a:rPr>
              <a:t> keyword.</a:t>
            </a:r>
          </a:p>
          <a:p>
            <a:pPr marL="0" indent="0" algn="just">
              <a:spcAft>
                <a:spcPts val="1200"/>
              </a:spcAft>
              <a:buNone/>
            </a:pPr>
            <a:r>
              <a:rPr lang="en-US" sz="2000" b="0" i="0" dirty="0">
                <a:solidFill>
                  <a:srgbClr val="161616"/>
                </a:solidFill>
                <a:effectLst/>
                <a:latin typeface="Quattrocento Sans" panose="020B0502050000020003" pitchFamily="34" charset="0"/>
              </a:rPr>
              <a:t>The step that creates or updates the environment variable doesn't have access to the new value, but all subsequent steps in a job have access.</a:t>
            </a:r>
          </a:p>
          <a:p>
            <a:pPr marL="0" indent="0" algn="just">
              <a:spcAft>
                <a:spcPts val="1200"/>
              </a:spcAft>
              <a:buNone/>
            </a:pPr>
            <a:r>
              <a:rPr lang="en-US" sz="2000" b="0" i="0" dirty="0">
                <a:solidFill>
                  <a:srgbClr val="161616"/>
                </a:solidFill>
                <a:effectLst/>
                <a:latin typeface="Quattrocento Sans" panose="020B0502050000020003" pitchFamily="34" charset="0"/>
              </a:rPr>
              <a:t>You can view an example here: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2" y="3897443"/>
            <a:ext cx="9199062" cy="230848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7" y="4016707"/>
            <a:ext cx="9199062" cy="203932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Set the value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id: </a:t>
            </a:r>
            <a:r>
              <a:rPr lang="en-US" sz="1400" dirty="0" err="1">
                <a:solidFill>
                  <a:schemeClr val="tx2">
                    <a:lumMod val="50000"/>
                    <a:lumOff val="50000"/>
                  </a:schemeClr>
                </a:solidFill>
                <a:latin typeface="Roboto Mono" pitchFamily="49" charset="0"/>
                <a:ea typeface="Roboto Mono" pitchFamily="49" charset="0"/>
              </a:rPr>
              <a:t>step_one</a:t>
            </a:r>
            <a:endParaRPr lang="en-US" sz="14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echo "</a:t>
            </a:r>
            <a:r>
              <a:rPr lang="en-US" sz="1400" dirty="0" err="1">
                <a:solidFill>
                  <a:schemeClr val="tx2">
                    <a:lumMod val="50000"/>
                    <a:lumOff val="50000"/>
                  </a:schemeClr>
                </a:solidFill>
                <a:latin typeface="Roboto Mono" pitchFamily="49" charset="0"/>
                <a:ea typeface="Roboto Mono" pitchFamily="49" charset="0"/>
              </a:rPr>
              <a:t>action_state</a:t>
            </a:r>
            <a:r>
              <a:rPr lang="en-US" sz="1400" dirty="0">
                <a:solidFill>
                  <a:schemeClr val="tx2">
                    <a:lumMod val="50000"/>
                    <a:lumOff val="50000"/>
                  </a:schemeClr>
                </a:solidFill>
                <a:latin typeface="Roboto Mono" pitchFamily="49" charset="0"/>
                <a:ea typeface="Roboto Mono" pitchFamily="49" charset="0"/>
              </a:rPr>
              <a:t>=yellow" &gt;&gt; "$GITHUB_ENV"</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Use the value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id: </a:t>
            </a:r>
            <a:r>
              <a:rPr lang="en-US" sz="1400" dirty="0" err="1">
                <a:solidFill>
                  <a:schemeClr val="tx2">
                    <a:lumMod val="50000"/>
                    <a:lumOff val="50000"/>
                  </a:schemeClr>
                </a:solidFill>
                <a:latin typeface="Roboto Mono" pitchFamily="49" charset="0"/>
                <a:ea typeface="Roboto Mono" pitchFamily="49" charset="0"/>
              </a:rPr>
              <a:t>step_two</a:t>
            </a:r>
            <a:endParaRPr lang="en-US" sz="14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chemeClr val="tx2">
                    <a:lumMod val="50000"/>
                    <a:lumOff val="50000"/>
                  </a:schemeClr>
                </a:solidFill>
                <a:latin typeface="Roboto Mono" pitchFamily="49" charset="0"/>
                <a:ea typeface="Roboto Mono" pitchFamily="49" charset="0"/>
              </a:rPr>
              <a:t>printf</a:t>
            </a:r>
            <a:r>
              <a:rPr lang="en-US" sz="1400" dirty="0">
                <a:solidFill>
                  <a:schemeClr val="tx2">
                    <a:lumMod val="50000"/>
                    <a:lumOff val="50000"/>
                  </a:schemeClr>
                </a:solidFill>
                <a:latin typeface="Roboto Mono" pitchFamily="49" charset="0"/>
                <a:ea typeface="Roboto Mono" pitchFamily="49" charset="0"/>
              </a:rPr>
              <a:t> '%s\n' "$</a:t>
            </a:r>
            <a:r>
              <a:rPr lang="en-US" sz="1400" dirty="0" err="1">
                <a:solidFill>
                  <a:schemeClr val="tx2">
                    <a:lumMod val="50000"/>
                    <a:lumOff val="50000"/>
                  </a:schemeClr>
                </a:solidFill>
                <a:latin typeface="Roboto Mono" pitchFamily="49" charset="0"/>
                <a:ea typeface="Roboto Mono" pitchFamily="49" charset="0"/>
              </a:rPr>
              <a:t>action_state</a:t>
            </a:r>
            <a:r>
              <a:rPr lang="en-US" sz="1400" dirty="0">
                <a:solidFill>
                  <a:schemeClr val="tx2">
                    <a:lumMod val="50000"/>
                    <a:lumOff val="50000"/>
                  </a:schemeClr>
                </a:solidFill>
                <a:latin typeface="Roboto Mono" pitchFamily="49" charset="0"/>
                <a:ea typeface="Roboto Mono" pitchFamily="49" charset="0"/>
              </a:rPr>
              <a:t>" # This will output 'yellow'</a:t>
            </a:r>
            <a:endParaRPr lang="en-US" sz="1400" dirty="0">
              <a:solidFill>
                <a:srgbClr val="FC6E70"/>
              </a:solidFill>
              <a:latin typeface="Roboto Mono" pitchFamily="49" charset="0"/>
              <a:ea typeface="Roboto Mono" pitchFamily="49" charset="0"/>
            </a:endParaRPr>
          </a:p>
        </p:txBody>
      </p:sp>
    </p:spTree>
    <p:extLst>
      <p:ext uri="{BB962C8B-B14F-4D97-AF65-F5344CB8AC3E}">
        <p14:creationId xmlns:p14="http://schemas.microsoft.com/office/powerpoint/2010/main" val="631245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Add environment protections</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481121" y="2434284"/>
            <a:ext cx="3273625" cy="124645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702730" y="2642875"/>
            <a:ext cx="2832205" cy="369332"/>
          </a:xfrm>
          <a:prstGeom prst="rect">
            <a:avLst/>
          </a:prstGeom>
          <a:noFill/>
        </p:spPr>
        <p:txBody>
          <a:bodyPr wrap="square" rtlCol="0">
            <a:spAutoFit/>
          </a:bodyPr>
          <a:lstStyle/>
          <a:p>
            <a:pPr>
              <a:spcAft>
                <a:spcPts val="600"/>
              </a:spcAft>
            </a:pPr>
            <a:r>
              <a:rPr lang="en-US" b="1" i="0" dirty="0">
                <a:solidFill>
                  <a:srgbClr val="161616"/>
                </a:solidFill>
                <a:effectLst/>
                <a:latin typeface="Quattrocento Sans" panose="020B0502050000020003" pitchFamily="34" charset="0"/>
              </a:rPr>
              <a:t>Click on Settings</a:t>
            </a:r>
          </a:p>
        </p:txBody>
      </p:sp>
      <p:sp>
        <p:nvSpPr>
          <p:cNvPr id="18" name="Rectangle 17">
            <a:extLst>
              <a:ext uri="{FF2B5EF4-FFF2-40B4-BE49-F238E27FC236}">
                <a16:creationId xmlns:a16="http://schemas.microsoft.com/office/drawing/2014/main" id="{D112965E-9E60-4F9C-A92E-602A93804B31}"/>
              </a:ext>
            </a:extLst>
          </p:cNvPr>
          <p:cNvSpPr>
            <a:spLocks/>
          </p:cNvSpPr>
          <p:nvPr/>
        </p:nvSpPr>
        <p:spPr>
          <a:xfrm>
            <a:off x="3995315" y="2434283"/>
            <a:ext cx="3439806" cy="4184775"/>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1" name="TextBox 20">
            <a:extLst>
              <a:ext uri="{FF2B5EF4-FFF2-40B4-BE49-F238E27FC236}">
                <a16:creationId xmlns:a16="http://schemas.microsoft.com/office/drawing/2014/main" id="{2E6695B6-E71F-2F9A-582E-2F4B8865116E}"/>
              </a:ext>
            </a:extLst>
          </p:cNvPr>
          <p:cNvSpPr txBox="1"/>
          <p:nvPr/>
        </p:nvSpPr>
        <p:spPr>
          <a:xfrm>
            <a:off x="4215125" y="2640755"/>
            <a:ext cx="3062617" cy="646331"/>
          </a:xfrm>
          <a:prstGeom prst="rect">
            <a:avLst/>
          </a:prstGeom>
          <a:noFill/>
        </p:spPr>
        <p:txBody>
          <a:bodyPr wrap="square" rtlCol="0">
            <a:spAutoFit/>
          </a:bodyPr>
          <a:lstStyle/>
          <a:p>
            <a:pPr>
              <a:spcAft>
                <a:spcPts val="600"/>
              </a:spcAft>
            </a:pPr>
            <a:r>
              <a:rPr lang="en-US" b="1" i="0" dirty="0">
                <a:solidFill>
                  <a:srgbClr val="161616"/>
                </a:solidFill>
                <a:effectLst/>
                <a:latin typeface="Quattrocento Sans" panose="020B0502050000020003" pitchFamily="34" charset="0"/>
              </a:rPr>
              <a:t>Click on Environment on the left panel.</a:t>
            </a:r>
          </a:p>
        </p:txBody>
      </p:sp>
      <p:sp>
        <p:nvSpPr>
          <p:cNvPr id="22" name="Rectangle 21">
            <a:extLst>
              <a:ext uri="{FF2B5EF4-FFF2-40B4-BE49-F238E27FC236}">
                <a16:creationId xmlns:a16="http://schemas.microsoft.com/office/drawing/2014/main" id="{5635AB01-1EA6-59E6-2D8F-EC1B1BE15C5D}"/>
              </a:ext>
            </a:extLst>
          </p:cNvPr>
          <p:cNvSpPr>
            <a:spLocks/>
          </p:cNvSpPr>
          <p:nvPr/>
        </p:nvSpPr>
        <p:spPr>
          <a:xfrm>
            <a:off x="7675690" y="2465038"/>
            <a:ext cx="4035189" cy="415401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4" name="TextBox 23">
            <a:extLst>
              <a:ext uri="{FF2B5EF4-FFF2-40B4-BE49-F238E27FC236}">
                <a16:creationId xmlns:a16="http://schemas.microsoft.com/office/drawing/2014/main" id="{951D0793-2928-1CED-F1CE-4F18A3B552CA}"/>
              </a:ext>
            </a:extLst>
          </p:cNvPr>
          <p:cNvSpPr txBox="1"/>
          <p:nvPr/>
        </p:nvSpPr>
        <p:spPr>
          <a:xfrm>
            <a:off x="7914807" y="2671510"/>
            <a:ext cx="3672704" cy="923330"/>
          </a:xfrm>
          <a:prstGeom prst="rect">
            <a:avLst/>
          </a:prstGeom>
          <a:noFill/>
        </p:spPr>
        <p:txBody>
          <a:bodyPr wrap="square" rtlCol="0">
            <a:spAutoFit/>
          </a:bodyPr>
          <a:lstStyle/>
          <a:p>
            <a:pPr>
              <a:spcAft>
                <a:spcPts val="1200"/>
              </a:spcAft>
            </a:pPr>
            <a:r>
              <a:rPr lang="en-US" i="0" dirty="0">
                <a:effectLst/>
                <a:latin typeface="Quattrocento Sans" panose="020B0502050000020003" pitchFamily="34" charset="0"/>
              </a:rPr>
              <a:t>Use the </a:t>
            </a:r>
            <a:r>
              <a:rPr lang="en-US" b="1" i="0" dirty="0">
                <a:effectLst/>
                <a:latin typeface="Quattrocento Sans" panose="020B0502050000020003" pitchFamily="34" charset="0"/>
              </a:rPr>
              <a:t>New environment </a:t>
            </a:r>
            <a:r>
              <a:rPr lang="en-US" i="0" dirty="0">
                <a:effectLst/>
                <a:latin typeface="Quattrocento Sans" panose="020B0502050000020003" pitchFamily="34" charset="0"/>
              </a:rPr>
              <a:t>button to add and configure an environment and add protections.</a:t>
            </a:r>
            <a:endParaRPr lang="en-US" sz="1600" i="0" dirty="0">
              <a:effectLst/>
              <a:latin typeface="Quattrocento Sans" panose="020B0502050000020003" pitchFamily="34" charset="0"/>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1034788"/>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effectLst/>
                <a:latin typeface="Quattrocento Sans" panose="020B0502050000020003" pitchFamily="34" charset="0"/>
              </a:rPr>
              <a:t>You can add protection rules for environments defined for your GitHub repository. To add an environment, in your repository:</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5362" name="Picture 2" descr="Navigation bar of a web interface with tabs like Code, Issues, and Wiki; 'Settings' is highlighted.&quot;">
            <a:extLst>
              <a:ext uri="{FF2B5EF4-FFF2-40B4-BE49-F238E27FC236}">
                <a16:creationId xmlns:a16="http://schemas.microsoft.com/office/drawing/2014/main" id="{1C522B32-4EA2-D419-74B2-48B91B7994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699427" y="3111977"/>
            <a:ext cx="2943501" cy="527912"/>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Screenshot of a settings menu under 'General' with sections for Access, Code and automation, Security, and Integrations. The 'Environments' option is highlighted in red.">
            <a:extLst>
              <a:ext uri="{FF2B5EF4-FFF2-40B4-BE49-F238E27FC236}">
                <a16:creationId xmlns:a16="http://schemas.microsoft.com/office/drawing/2014/main" id="{92152632-9830-4C6E-A54C-71EFA007E6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4215125" y="3304023"/>
            <a:ext cx="2934782" cy="3216048"/>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GitHub repository settings page showing the 'Environments' section with a message indicating no environments exist and a 'New environment' button highlighted.">
            <a:extLst>
              <a:ext uri="{FF2B5EF4-FFF2-40B4-BE49-F238E27FC236}">
                <a16:creationId xmlns:a16="http://schemas.microsoft.com/office/drawing/2014/main" id="{02E8DDFA-AB2A-D693-0254-2B6885A82EF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3697" r="-101861"/>
          <a:stretch/>
        </p:blipFill>
        <p:spPr bwMode="auto">
          <a:xfrm>
            <a:off x="7914807" y="2465039"/>
            <a:ext cx="7160911" cy="3956044"/>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1B2503DE-A03A-A10E-46CE-8D45F5B27BEB}"/>
              </a:ext>
            </a:extLst>
          </p:cNvPr>
          <p:cNvSpPr/>
          <p:nvPr/>
        </p:nvSpPr>
        <p:spPr>
          <a:xfrm>
            <a:off x="1735432" y="1749322"/>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Badge 1 with solid fill">
            <a:extLst>
              <a:ext uri="{FF2B5EF4-FFF2-40B4-BE49-F238E27FC236}">
                <a16:creationId xmlns:a16="http://schemas.microsoft.com/office/drawing/2014/main" id="{565CA1A4-726E-4552-8BCC-8BB200C9D82F}"/>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670190" y="1681587"/>
            <a:ext cx="727696" cy="727696"/>
          </a:xfrm>
          <a:prstGeom prst="rect">
            <a:avLst/>
          </a:prstGeom>
        </p:spPr>
      </p:pic>
      <p:sp>
        <p:nvSpPr>
          <p:cNvPr id="9" name="Oval 8">
            <a:extLst>
              <a:ext uri="{FF2B5EF4-FFF2-40B4-BE49-F238E27FC236}">
                <a16:creationId xmlns:a16="http://schemas.microsoft.com/office/drawing/2014/main" id="{9F11157D-5904-1733-48D1-47EEADA03E34}"/>
              </a:ext>
            </a:extLst>
          </p:cNvPr>
          <p:cNvSpPr/>
          <p:nvPr/>
        </p:nvSpPr>
        <p:spPr>
          <a:xfrm>
            <a:off x="5414295" y="1749322"/>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Badge with solid fill">
            <a:extLst>
              <a:ext uri="{FF2B5EF4-FFF2-40B4-BE49-F238E27FC236}">
                <a16:creationId xmlns:a16="http://schemas.microsoft.com/office/drawing/2014/main" id="{04585955-4A36-0A0F-E5A9-CC98D39BEE4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349053" y="1681587"/>
            <a:ext cx="727696" cy="727696"/>
          </a:xfrm>
          <a:prstGeom prst="rect">
            <a:avLst/>
          </a:prstGeom>
        </p:spPr>
      </p:pic>
      <p:sp>
        <p:nvSpPr>
          <p:cNvPr id="11" name="Oval 10">
            <a:extLst>
              <a:ext uri="{FF2B5EF4-FFF2-40B4-BE49-F238E27FC236}">
                <a16:creationId xmlns:a16="http://schemas.microsoft.com/office/drawing/2014/main" id="{346D63F7-2C26-B8B1-1B8D-9FA0A627E3FB}"/>
              </a:ext>
            </a:extLst>
          </p:cNvPr>
          <p:cNvSpPr/>
          <p:nvPr/>
        </p:nvSpPr>
        <p:spPr>
          <a:xfrm>
            <a:off x="9248003" y="1749322"/>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descr="Badge 3 with solid fill">
            <a:extLst>
              <a:ext uri="{FF2B5EF4-FFF2-40B4-BE49-F238E27FC236}">
                <a16:creationId xmlns:a16="http://schemas.microsoft.com/office/drawing/2014/main" id="{C60BD352-F372-B264-32CB-88BB7CB37F47}"/>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9182761" y="1681587"/>
            <a:ext cx="727696" cy="727696"/>
          </a:xfrm>
          <a:prstGeom prst="rect">
            <a:avLst/>
          </a:prstGeom>
        </p:spPr>
      </p:pic>
    </p:spTree>
    <p:extLst>
      <p:ext uri="{BB962C8B-B14F-4D97-AF65-F5344CB8AC3E}">
        <p14:creationId xmlns:p14="http://schemas.microsoft.com/office/powerpoint/2010/main" val="365643019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About environments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40997" y="2033882"/>
            <a:ext cx="10712804"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Environments are used to describe a general deployment target like production, staging, or development. When a GitHub Actions workflow deploys to an environment, the environment is displayed on the main page of the repository. You can use environments to require approval for a job to proceed, restrict which branches can trigger a workflow, gate deployments with custom deployment protection rules, or limit access to secrets.</a:t>
            </a:r>
          </a:p>
          <a:p>
            <a:pPr marL="0" indent="0" algn="just">
              <a:buNone/>
            </a:pPr>
            <a:endParaRPr lang="en-US" sz="2000" b="0" i="0" dirty="0">
              <a:solidFill>
                <a:srgbClr val="161616"/>
              </a:solidFill>
              <a:effectLst/>
              <a:latin typeface="Quattrocento Sans" panose="020B0502050000020003" pitchFamily="34" charset="0"/>
            </a:endParaRPr>
          </a:p>
          <a:p>
            <a:pPr marL="0" indent="0" algn="just">
              <a:buNone/>
            </a:pPr>
            <a:r>
              <a:rPr lang="en-US" sz="2000" b="0" i="0" dirty="0">
                <a:solidFill>
                  <a:srgbClr val="161616"/>
                </a:solidFill>
                <a:effectLst/>
                <a:latin typeface="Quattrocento Sans" panose="020B0502050000020003" pitchFamily="34" charset="0"/>
              </a:rPr>
              <a:t>Each job in a workflow can reference a single environment. Any protection rules configured for the environment must pass before a job referencing the environment is sent to a runner. The job can access the environment's secrets only after the job is sent to a runner.</a:t>
            </a:r>
          </a:p>
          <a:p>
            <a:pPr marL="0" indent="0" algn="just">
              <a:buNone/>
            </a:pPr>
            <a:endParaRPr lang="en-US" sz="2000" b="0" i="0" dirty="0">
              <a:solidFill>
                <a:srgbClr val="161616"/>
              </a:solidFill>
              <a:effectLst/>
              <a:latin typeface="Quattrocento Sans" panose="020B0502050000020003" pitchFamily="34" charset="0"/>
            </a:endParaRPr>
          </a:p>
          <a:p>
            <a:pPr marL="0" indent="0" algn="just">
              <a:buNone/>
            </a:pPr>
            <a:r>
              <a:rPr lang="en-US" sz="2000" b="0" i="0" dirty="0">
                <a:solidFill>
                  <a:srgbClr val="161616"/>
                </a:solidFill>
                <a:effectLst/>
                <a:latin typeface="Quattrocento Sans" panose="020B0502050000020003" pitchFamily="34" charset="0"/>
              </a:rPr>
              <a:t>When a workflow references an environment, the environment appears in the repository's deployments.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487346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Environment protection rules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42322" y="998697"/>
            <a:ext cx="10712804"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Environment deployment protection rules require specific conditions to pass before a job referencing the environment can proceed. You can use deployment protection rules to require a manual approval, delay a job, or restrict the environment to certain branches. You can also create and implement custom protection rules powered by GitHub Apps to use third-party systems to control deployments referencing environments configured on GitHub. Here's an explanation of these protection rules: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0EB8702F-C540-038C-8E58-5AC92E6B9AD7}"/>
              </a:ext>
            </a:extLst>
          </p:cNvPr>
          <p:cNvSpPr/>
          <p:nvPr/>
        </p:nvSpPr>
        <p:spPr>
          <a:xfrm>
            <a:off x="642322" y="2937920"/>
            <a:ext cx="10712804" cy="319324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93A3906-DB15-BE19-7812-F17896D8A0CA}"/>
              </a:ext>
            </a:extLst>
          </p:cNvPr>
          <p:cNvSpPr/>
          <p:nvPr/>
        </p:nvSpPr>
        <p:spPr>
          <a:xfrm>
            <a:off x="343716" y="4217163"/>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Badge 1 with solid fill">
            <a:extLst>
              <a:ext uri="{FF2B5EF4-FFF2-40B4-BE49-F238E27FC236}">
                <a16:creationId xmlns:a16="http://schemas.microsoft.com/office/drawing/2014/main" id="{5490F47A-7AA4-A49C-BE67-40FD5282218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78474" y="4149428"/>
            <a:ext cx="727696" cy="727696"/>
          </a:xfrm>
          <a:prstGeom prst="rect">
            <a:avLst/>
          </a:prstGeom>
        </p:spPr>
      </p:pic>
      <p:sp>
        <p:nvSpPr>
          <p:cNvPr id="6" name="Text Placeholder 2">
            <a:extLst>
              <a:ext uri="{FF2B5EF4-FFF2-40B4-BE49-F238E27FC236}">
                <a16:creationId xmlns:a16="http://schemas.microsoft.com/office/drawing/2014/main" id="{88516079-A78A-1E73-8BF5-AF15B4028A0C}"/>
              </a:ext>
            </a:extLst>
          </p:cNvPr>
          <p:cNvSpPr txBox="1">
            <a:spLocks/>
          </p:cNvSpPr>
          <p:nvPr/>
        </p:nvSpPr>
        <p:spPr>
          <a:xfrm>
            <a:off x="1037181" y="4042101"/>
            <a:ext cx="10117637"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1800" b="1" i="0" dirty="0">
                <a:solidFill>
                  <a:srgbClr val="161616"/>
                </a:solidFill>
                <a:effectLst/>
                <a:latin typeface="Quattrocento Sans" panose="020B0502050000020003" pitchFamily="34" charset="0"/>
                <a:ea typeface="Roboto Mono" pitchFamily="49" charset="0"/>
              </a:rPr>
              <a:t>Required reviewers protection rules:</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Use required reviewers to require a specific person or team to approve workflow jobs that reference the environment. You can list up to six users or teams as reviewers. The reviewers must have at least read access to the repository. Only one of the required reviewers needs to approve the job for it to proceed.</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You also have the option to prevent self-reviews for deployments to protected environments. If you enable this setting, users who initiate a deployment can't approve the deployment job, even if they're a required reviewer. By enabling self-reviews, it ensures that deployments to protected environments are always reviewed by more than one person.</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For more information on reviewing jobs that reference an environment with required reviewers, see </a:t>
            </a:r>
            <a:r>
              <a:rPr lang="en-US" b="0" i="0" dirty="0">
                <a:solidFill>
                  <a:srgbClr val="00B0F0"/>
                </a:solidFill>
                <a:effectLst/>
                <a:latin typeface="Quattrocento Sans" panose="020B0502050000020003" pitchFamily="34" charset="0"/>
                <a:ea typeface="Roboto Mono" pitchFamily="49" charset="0"/>
                <a:hlinkClick r:id="rId5">
                  <a:extLst>
                    <a:ext uri="{A12FA001-AC4F-418D-AE19-62706E023703}">
                      <ahyp:hlinkClr xmlns:ahyp="http://schemas.microsoft.com/office/drawing/2018/hyperlinkcolor" val="tx"/>
                    </a:ext>
                  </a:extLst>
                </a:hlinkClick>
              </a:rPr>
              <a:t>Reviewing deployments</a:t>
            </a:r>
            <a:r>
              <a:rPr lang="en-US" b="0" i="0" dirty="0">
                <a:solidFill>
                  <a:srgbClr val="161616"/>
                </a:solidFill>
                <a:effectLst/>
                <a:latin typeface="Quattrocento Sans" panose="020B0502050000020003" pitchFamily="34" charset="0"/>
                <a:ea typeface="Roboto Mono" pitchFamily="49" charset="0"/>
              </a:rPr>
              <a:t>.</a:t>
            </a:r>
          </a:p>
        </p:txBody>
      </p:sp>
    </p:spTree>
    <p:extLst>
      <p:ext uri="{BB962C8B-B14F-4D97-AF65-F5344CB8AC3E}">
        <p14:creationId xmlns:p14="http://schemas.microsoft.com/office/powerpoint/2010/main" val="335015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Environment protection rules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0EB8702F-C540-038C-8E58-5AC92E6B9AD7}"/>
              </a:ext>
            </a:extLst>
          </p:cNvPr>
          <p:cNvSpPr/>
          <p:nvPr/>
        </p:nvSpPr>
        <p:spPr>
          <a:xfrm>
            <a:off x="739598" y="1109121"/>
            <a:ext cx="10712804" cy="158758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93A3906-DB15-BE19-7812-F17896D8A0CA}"/>
              </a:ext>
            </a:extLst>
          </p:cNvPr>
          <p:cNvSpPr/>
          <p:nvPr/>
        </p:nvSpPr>
        <p:spPr>
          <a:xfrm>
            <a:off x="417260" y="1609100"/>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Badge with solid fill">
            <a:extLst>
              <a:ext uri="{FF2B5EF4-FFF2-40B4-BE49-F238E27FC236}">
                <a16:creationId xmlns:a16="http://schemas.microsoft.com/office/drawing/2014/main" id="{5490F47A-7AA4-A49C-BE67-40FD5282218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52018" y="1541365"/>
            <a:ext cx="727696" cy="727696"/>
          </a:xfrm>
          <a:prstGeom prst="rect">
            <a:avLst/>
          </a:prstGeom>
        </p:spPr>
      </p:pic>
      <p:sp>
        <p:nvSpPr>
          <p:cNvPr id="6" name="Text Placeholder 2">
            <a:extLst>
              <a:ext uri="{FF2B5EF4-FFF2-40B4-BE49-F238E27FC236}">
                <a16:creationId xmlns:a16="http://schemas.microsoft.com/office/drawing/2014/main" id="{88516079-A78A-1E73-8BF5-AF15B4028A0C}"/>
              </a:ext>
            </a:extLst>
          </p:cNvPr>
          <p:cNvSpPr txBox="1">
            <a:spLocks/>
          </p:cNvSpPr>
          <p:nvPr/>
        </p:nvSpPr>
        <p:spPr>
          <a:xfrm>
            <a:off x="1211950" y="1553546"/>
            <a:ext cx="9900336" cy="71551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1800" b="1" i="0" dirty="0">
                <a:solidFill>
                  <a:srgbClr val="161616"/>
                </a:solidFill>
                <a:effectLst/>
                <a:latin typeface="Quattrocento Sans" panose="020B0502050000020003" pitchFamily="34" charset="0"/>
                <a:ea typeface="Roboto Mono" pitchFamily="49" charset="0"/>
              </a:rPr>
              <a:t>Wait timer projection rules: </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You can use a wait timer protection rule to delay a job for a specific amount of time after the job is initially triggered before the environment deployment is allowed to proceed. The time (in minutes) must be an integer between 1 and 43,200 (30 days).The wait time won't count towards your billable time.</a:t>
            </a:r>
          </a:p>
        </p:txBody>
      </p:sp>
      <p:sp>
        <p:nvSpPr>
          <p:cNvPr id="7" name="Rectangle 6">
            <a:extLst>
              <a:ext uri="{FF2B5EF4-FFF2-40B4-BE49-F238E27FC236}">
                <a16:creationId xmlns:a16="http://schemas.microsoft.com/office/drawing/2014/main" id="{3CEFB0B1-5BA1-3942-66FA-6E97BFB08F19}"/>
              </a:ext>
            </a:extLst>
          </p:cNvPr>
          <p:cNvSpPr/>
          <p:nvPr/>
        </p:nvSpPr>
        <p:spPr>
          <a:xfrm>
            <a:off x="739598" y="2834660"/>
            <a:ext cx="10712804" cy="35189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BDA9A04-9442-036B-863B-232F5EB4DB24}"/>
              </a:ext>
            </a:extLst>
          </p:cNvPr>
          <p:cNvSpPr/>
          <p:nvPr/>
        </p:nvSpPr>
        <p:spPr>
          <a:xfrm>
            <a:off x="417260" y="4229031"/>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Badge 3 with solid fill">
            <a:extLst>
              <a:ext uri="{FF2B5EF4-FFF2-40B4-BE49-F238E27FC236}">
                <a16:creationId xmlns:a16="http://schemas.microsoft.com/office/drawing/2014/main" id="{9CE6260D-3FCC-A65A-D41B-208AD4CF81F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52018" y="4161296"/>
            <a:ext cx="727696" cy="727696"/>
          </a:xfrm>
          <a:prstGeom prst="rect">
            <a:avLst/>
          </a:prstGeom>
        </p:spPr>
      </p:pic>
      <p:sp>
        <p:nvSpPr>
          <p:cNvPr id="10" name="Text Placeholder 2">
            <a:extLst>
              <a:ext uri="{FF2B5EF4-FFF2-40B4-BE49-F238E27FC236}">
                <a16:creationId xmlns:a16="http://schemas.microsoft.com/office/drawing/2014/main" id="{69EBC0B7-FD3D-16A0-5FED-3FD4EDF07C53}"/>
              </a:ext>
            </a:extLst>
          </p:cNvPr>
          <p:cNvSpPr txBox="1">
            <a:spLocks/>
          </p:cNvSpPr>
          <p:nvPr/>
        </p:nvSpPr>
        <p:spPr>
          <a:xfrm>
            <a:off x="1211950" y="4273994"/>
            <a:ext cx="9900336" cy="71551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1800" b="1" i="0" dirty="0">
                <a:solidFill>
                  <a:srgbClr val="161616"/>
                </a:solidFill>
                <a:effectLst/>
                <a:latin typeface="Quattrocento Sans" panose="020B0502050000020003" pitchFamily="34" charset="0"/>
                <a:ea typeface="Roboto Mono" pitchFamily="49" charset="0"/>
              </a:rPr>
              <a:t>Branch and tag protection rules: </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You can use deployment branch and tag protection rules to restrict which branches and tags are utilized to deploy to the environment. You have several options for deployment branch and tag protection rules for an environment.</a:t>
            </a:r>
          </a:p>
          <a:p>
            <a:pPr marL="0" indent="0" algn="just">
              <a:spcAft>
                <a:spcPts val="600"/>
              </a:spcAft>
              <a:buNone/>
            </a:pPr>
            <a:r>
              <a:rPr lang="en-US" b="1" i="0" dirty="0">
                <a:solidFill>
                  <a:srgbClr val="161616"/>
                </a:solidFill>
                <a:effectLst/>
                <a:latin typeface="Quattrocento Sans" panose="020B0502050000020003" pitchFamily="34" charset="0"/>
                <a:ea typeface="Roboto Mono" pitchFamily="49" charset="0"/>
              </a:rPr>
              <a:t>No restriction </a:t>
            </a:r>
            <a:r>
              <a:rPr lang="en-US" b="0" i="0" dirty="0">
                <a:solidFill>
                  <a:srgbClr val="161616"/>
                </a:solidFill>
                <a:effectLst/>
                <a:latin typeface="Quattrocento Sans" panose="020B0502050000020003" pitchFamily="34" charset="0"/>
                <a:ea typeface="Roboto Mono" pitchFamily="49" charset="0"/>
              </a:rPr>
              <a:t>sets no restriction on which branch or tag can deploy to the environment. </a:t>
            </a:r>
            <a:r>
              <a:rPr lang="en-US" b="1" i="0" dirty="0">
                <a:solidFill>
                  <a:srgbClr val="161616"/>
                </a:solidFill>
                <a:effectLst/>
                <a:latin typeface="Quattrocento Sans" panose="020B0502050000020003" pitchFamily="34" charset="0"/>
                <a:ea typeface="Roboto Mono" pitchFamily="49" charset="0"/>
              </a:rPr>
              <a:t>Protected branches only </a:t>
            </a:r>
            <a:r>
              <a:rPr lang="en-US" b="0" i="0" dirty="0">
                <a:solidFill>
                  <a:srgbClr val="161616"/>
                </a:solidFill>
                <a:effectLst/>
                <a:latin typeface="Quattrocento Sans" panose="020B0502050000020003" pitchFamily="34" charset="0"/>
                <a:ea typeface="Roboto Mono" pitchFamily="49" charset="0"/>
              </a:rPr>
              <a:t>allows only branches with branch protection rules enabled to deploy to the environment. If no branch protection rules are defined for any branch in the repository, then all branches can deploy. The </a:t>
            </a:r>
            <a:r>
              <a:rPr lang="en-US" b="1" i="0" dirty="0">
                <a:solidFill>
                  <a:srgbClr val="161616"/>
                </a:solidFill>
                <a:effectLst/>
                <a:latin typeface="Quattrocento Sans" panose="020B0502050000020003" pitchFamily="34" charset="0"/>
                <a:ea typeface="Roboto Mono" pitchFamily="49" charset="0"/>
              </a:rPr>
              <a:t>Selected branches and tags </a:t>
            </a:r>
            <a:r>
              <a:rPr lang="en-US" b="0" i="0" dirty="0">
                <a:solidFill>
                  <a:srgbClr val="161616"/>
                </a:solidFill>
                <a:effectLst/>
                <a:latin typeface="Quattrocento Sans" panose="020B0502050000020003" pitchFamily="34" charset="0"/>
                <a:ea typeface="Roboto Mono" pitchFamily="49" charset="0"/>
              </a:rPr>
              <a:t>setting ensures Only branches and tags that match your specified name patterns can deploy to the environment.</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If you specify </a:t>
            </a:r>
            <a:r>
              <a:rPr lang="en-US" sz="1400" b="0" i="0" dirty="0">
                <a:solidFill>
                  <a:srgbClr val="161616"/>
                </a:solidFill>
                <a:effectLst/>
                <a:highlight>
                  <a:srgbClr val="C0C0C0"/>
                </a:highlight>
                <a:latin typeface="Roboto Mono" pitchFamily="49" charset="0"/>
                <a:ea typeface="Roboto Mono" pitchFamily="49" charset="0"/>
              </a:rPr>
              <a:t>releases/*</a:t>
            </a:r>
            <a:r>
              <a:rPr lang="en-US" b="0" i="0" dirty="0">
                <a:solidFill>
                  <a:srgbClr val="161616"/>
                </a:solidFill>
                <a:effectLst/>
                <a:latin typeface="Quattrocento Sans" panose="020B0502050000020003" pitchFamily="34" charset="0"/>
                <a:ea typeface="Roboto Mono" pitchFamily="49" charset="0"/>
              </a:rPr>
              <a:t> as a deployment branch or tag rule, only a branch or tag whose name begins with </a:t>
            </a:r>
            <a:r>
              <a:rPr lang="en-US" sz="1400" b="0" i="0" dirty="0">
                <a:solidFill>
                  <a:srgbClr val="161616"/>
                </a:solidFill>
                <a:effectLst/>
                <a:highlight>
                  <a:srgbClr val="C0C0C0"/>
                </a:highlight>
                <a:latin typeface="Roboto Mono" pitchFamily="49" charset="0"/>
                <a:ea typeface="Roboto Mono" pitchFamily="49" charset="0"/>
              </a:rPr>
              <a:t>releases/</a:t>
            </a:r>
            <a:r>
              <a:rPr lang="en-US" b="0" i="0" dirty="0">
                <a:solidFill>
                  <a:srgbClr val="161616"/>
                </a:solidFill>
                <a:effectLst/>
                <a:latin typeface="Quattrocento Sans" panose="020B0502050000020003" pitchFamily="34" charset="0"/>
                <a:ea typeface="Roboto Mono" pitchFamily="49" charset="0"/>
              </a:rPr>
              <a:t> can deploy to the environment. (Wildcard characters won't match </a:t>
            </a:r>
            <a:r>
              <a:rPr lang="en-US" sz="1400" b="0" i="0" dirty="0">
                <a:solidFill>
                  <a:srgbClr val="161616"/>
                </a:solidFill>
                <a:effectLst/>
                <a:highlight>
                  <a:srgbClr val="C0C0C0"/>
                </a:highlight>
                <a:latin typeface="Roboto Mono" pitchFamily="49" charset="0"/>
                <a:ea typeface="Roboto Mono" pitchFamily="49" charset="0"/>
              </a:rPr>
              <a:t>/</a:t>
            </a:r>
            <a:r>
              <a:rPr lang="en-US" b="0" i="0" dirty="0">
                <a:solidFill>
                  <a:srgbClr val="161616"/>
                </a:solidFill>
                <a:effectLst/>
                <a:latin typeface="Quattrocento Sans" panose="020B0502050000020003" pitchFamily="34" charset="0"/>
                <a:ea typeface="Roboto Mono" pitchFamily="49" charset="0"/>
              </a:rPr>
              <a:t>. To match branches or tags that begin with </a:t>
            </a:r>
            <a:r>
              <a:rPr lang="en-US" sz="1400" b="0" i="0" dirty="0">
                <a:solidFill>
                  <a:srgbClr val="161616"/>
                </a:solidFill>
                <a:effectLst/>
                <a:highlight>
                  <a:srgbClr val="C0C0C0"/>
                </a:highlight>
                <a:latin typeface="Roboto Mono" pitchFamily="49" charset="0"/>
                <a:ea typeface="Roboto Mono" pitchFamily="49" charset="0"/>
              </a:rPr>
              <a:t>release/</a:t>
            </a:r>
            <a:r>
              <a:rPr lang="en-US" b="0" i="0" dirty="0">
                <a:solidFill>
                  <a:srgbClr val="161616"/>
                </a:solidFill>
                <a:effectLst/>
                <a:latin typeface="Quattrocento Sans" panose="020B0502050000020003" pitchFamily="34" charset="0"/>
                <a:ea typeface="Roboto Mono" pitchFamily="49" charset="0"/>
              </a:rPr>
              <a:t> and contain an additional single slash, use </a:t>
            </a:r>
            <a:r>
              <a:rPr lang="en-US" sz="1400" b="0" i="0" dirty="0">
                <a:solidFill>
                  <a:srgbClr val="161616"/>
                </a:solidFill>
                <a:effectLst/>
                <a:highlight>
                  <a:srgbClr val="C0C0C0"/>
                </a:highlight>
                <a:latin typeface="Roboto Mono" pitchFamily="49" charset="0"/>
                <a:ea typeface="Roboto Mono" pitchFamily="49" charset="0"/>
              </a:rPr>
              <a:t>release/*/*</a:t>
            </a:r>
            <a:r>
              <a:rPr lang="en-US" b="0" i="0" dirty="0">
                <a:solidFill>
                  <a:srgbClr val="161616"/>
                </a:solidFill>
                <a:effectLst/>
                <a:latin typeface="Quattrocento Sans" panose="020B0502050000020003" pitchFamily="34" charset="0"/>
                <a:ea typeface="Roboto Mono" pitchFamily="49" charset="0"/>
              </a:rPr>
              <a:t>.) If you add </a:t>
            </a:r>
            <a:r>
              <a:rPr lang="en-US" sz="1400" b="0" i="0" dirty="0">
                <a:solidFill>
                  <a:srgbClr val="161616"/>
                </a:solidFill>
                <a:effectLst/>
                <a:highlight>
                  <a:srgbClr val="C0C0C0"/>
                </a:highlight>
                <a:latin typeface="Roboto Mono" pitchFamily="49" charset="0"/>
                <a:ea typeface="Roboto Mono" pitchFamily="49" charset="0"/>
              </a:rPr>
              <a:t>main</a:t>
            </a:r>
            <a:r>
              <a:rPr lang="en-US" b="0" i="0" dirty="0">
                <a:solidFill>
                  <a:srgbClr val="161616"/>
                </a:solidFill>
                <a:effectLst/>
                <a:latin typeface="Quattrocento Sans" panose="020B0502050000020003" pitchFamily="34" charset="0"/>
                <a:ea typeface="Roboto Mono" pitchFamily="49" charset="0"/>
              </a:rPr>
              <a:t> as a branch rule, a branch named </a:t>
            </a:r>
            <a:r>
              <a:rPr lang="en-US" sz="1400" b="0" i="0" dirty="0">
                <a:solidFill>
                  <a:srgbClr val="161616"/>
                </a:solidFill>
                <a:effectLst/>
                <a:latin typeface="Roboto Mono" pitchFamily="49" charset="0"/>
                <a:ea typeface="Roboto Mono" pitchFamily="49" charset="0"/>
              </a:rPr>
              <a:t>main</a:t>
            </a:r>
            <a:r>
              <a:rPr lang="en-US" b="0" i="0" dirty="0">
                <a:solidFill>
                  <a:srgbClr val="161616"/>
                </a:solidFill>
                <a:effectLst/>
                <a:latin typeface="Quattrocento Sans" panose="020B0502050000020003" pitchFamily="34" charset="0"/>
                <a:ea typeface="Roboto Mono" pitchFamily="49" charset="0"/>
              </a:rPr>
              <a:t> can also deploy to the environment.</a:t>
            </a:r>
          </a:p>
        </p:txBody>
      </p:sp>
    </p:spTree>
    <p:extLst>
      <p:ext uri="{BB962C8B-B14F-4D97-AF65-F5344CB8AC3E}">
        <p14:creationId xmlns:p14="http://schemas.microsoft.com/office/powerpoint/2010/main" val="1117996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Environment protection rules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0EB8702F-C540-038C-8E58-5AC92E6B9AD7}"/>
              </a:ext>
            </a:extLst>
          </p:cNvPr>
          <p:cNvSpPr/>
          <p:nvPr/>
        </p:nvSpPr>
        <p:spPr>
          <a:xfrm>
            <a:off x="739598" y="1109121"/>
            <a:ext cx="5072266" cy="35473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93A3906-DB15-BE19-7812-F17896D8A0CA}"/>
              </a:ext>
            </a:extLst>
          </p:cNvPr>
          <p:cNvSpPr/>
          <p:nvPr/>
        </p:nvSpPr>
        <p:spPr>
          <a:xfrm>
            <a:off x="440992" y="2461507"/>
            <a:ext cx="597211" cy="592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Badge 4 with solid fill">
            <a:extLst>
              <a:ext uri="{FF2B5EF4-FFF2-40B4-BE49-F238E27FC236}">
                <a16:creationId xmlns:a16="http://schemas.microsoft.com/office/drawing/2014/main" id="{5490F47A-7AA4-A49C-BE67-40FD5282218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75750" y="2393772"/>
            <a:ext cx="727696" cy="727696"/>
          </a:xfrm>
          <a:prstGeom prst="rect">
            <a:avLst/>
          </a:prstGeom>
        </p:spPr>
      </p:pic>
      <p:sp>
        <p:nvSpPr>
          <p:cNvPr id="6" name="Text Placeholder 2">
            <a:extLst>
              <a:ext uri="{FF2B5EF4-FFF2-40B4-BE49-F238E27FC236}">
                <a16:creationId xmlns:a16="http://schemas.microsoft.com/office/drawing/2014/main" id="{88516079-A78A-1E73-8BF5-AF15B4028A0C}"/>
              </a:ext>
            </a:extLst>
          </p:cNvPr>
          <p:cNvSpPr txBox="1">
            <a:spLocks/>
          </p:cNvSpPr>
          <p:nvPr/>
        </p:nvSpPr>
        <p:spPr>
          <a:xfrm>
            <a:off x="1079714" y="2517958"/>
            <a:ext cx="4420257" cy="71551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1800" b="1" i="0" dirty="0">
                <a:solidFill>
                  <a:srgbClr val="161616"/>
                </a:solidFill>
                <a:effectLst/>
                <a:latin typeface="Quattrocento Sans" panose="020B0502050000020003" pitchFamily="34" charset="0"/>
                <a:ea typeface="Roboto Mono" pitchFamily="49" charset="0"/>
              </a:rPr>
              <a:t>Custom deployment protection rules: </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You can enable your own custom protection rules to gate deployments with third-party services. For instance, you can use observability systems, change management systems, code quality systems, or other manual configurations that you use to assess readiness and provide automated approvals for deployments to GitHub.</a:t>
            </a:r>
          </a:p>
          <a:p>
            <a:pPr marL="0" indent="0" algn="just">
              <a:spcAft>
                <a:spcPts val="600"/>
              </a:spcAft>
              <a:buNone/>
            </a:pPr>
            <a:r>
              <a:rPr lang="en-US" b="0" i="0" dirty="0">
                <a:solidFill>
                  <a:srgbClr val="161616"/>
                </a:solidFill>
                <a:effectLst/>
                <a:latin typeface="Quattrocento Sans" panose="020B0502050000020003" pitchFamily="34" charset="0"/>
                <a:ea typeface="Roboto Mono" pitchFamily="49" charset="0"/>
              </a:rPr>
              <a:t>Once custom deployment protection rules are created and installed on a repository, you can enable the custom deployment protection rule for any environment in the repository.</a:t>
            </a:r>
          </a:p>
        </p:txBody>
      </p:sp>
      <p:pic>
        <p:nvPicPr>
          <p:cNvPr id="18434" name="Picture 2" descr="Settings page for configuring 'Environment1' with options for reviewers, wait timer, custom rules, and branch restrictions.">
            <a:extLst>
              <a:ext uri="{FF2B5EF4-FFF2-40B4-BE49-F238E27FC236}">
                <a16:creationId xmlns:a16="http://schemas.microsoft.com/office/drawing/2014/main" id="{DD5EE07D-7FDA-EC24-5A0D-A9B9AD9D9C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2914" y="1109121"/>
            <a:ext cx="5821826" cy="403631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2">
            <a:extLst>
              <a:ext uri="{FF2B5EF4-FFF2-40B4-BE49-F238E27FC236}">
                <a16:creationId xmlns:a16="http://schemas.microsoft.com/office/drawing/2014/main" id="{9A842457-88B2-E1E3-ABD3-985E1020F53B}"/>
              </a:ext>
            </a:extLst>
          </p:cNvPr>
          <p:cNvSpPr txBox="1">
            <a:spLocks/>
          </p:cNvSpPr>
          <p:nvPr/>
        </p:nvSpPr>
        <p:spPr>
          <a:xfrm>
            <a:off x="914401" y="5349776"/>
            <a:ext cx="10860339" cy="71551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1800" b="1" i="0" u="sng" dirty="0">
                <a:solidFill>
                  <a:srgbClr val="161616"/>
                </a:solidFill>
                <a:effectLst/>
                <a:latin typeface="Quattrocento Sans" panose="020B0502050000020003" pitchFamily="34" charset="0"/>
                <a:ea typeface="Roboto Mono" pitchFamily="49" charset="0"/>
              </a:rPr>
              <a:t>Note</a:t>
            </a:r>
            <a:r>
              <a:rPr lang="en-US" sz="1800" b="1" i="0" dirty="0">
                <a:solidFill>
                  <a:srgbClr val="161616"/>
                </a:solidFill>
                <a:effectLst/>
                <a:latin typeface="Quattrocento Sans" panose="020B0502050000020003" pitchFamily="34" charset="0"/>
                <a:ea typeface="Roboto Mono" pitchFamily="49" charset="0"/>
              </a:rPr>
              <a:t>: </a:t>
            </a:r>
            <a:r>
              <a:rPr lang="en-US" sz="1800" b="0" i="0" dirty="0">
                <a:solidFill>
                  <a:srgbClr val="161616"/>
                </a:solidFill>
                <a:effectLst/>
                <a:latin typeface="Quattrocento Sans" panose="020B0502050000020003" pitchFamily="34" charset="0"/>
                <a:ea typeface="Roboto Mono" pitchFamily="49" charset="0"/>
              </a:rPr>
              <a:t>If you are on a GitHub Free, GitHub Pro, or GitHub Team plan, the environment deployment projection rules are only available for public repositories; with the exception of branch &amp; tag protection rules. For users of GitHub Pro or GitHub Team plans, branch and tag protection rules are also available for private repositories.</a:t>
            </a:r>
          </a:p>
        </p:txBody>
      </p:sp>
      <p:cxnSp>
        <p:nvCxnSpPr>
          <p:cNvPr id="15" name="Straight Connector 14">
            <a:extLst>
              <a:ext uri="{FF2B5EF4-FFF2-40B4-BE49-F238E27FC236}">
                <a16:creationId xmlns:a16="http://schemas.microsoft.com/office/drawing/2014/main" id="{3ED5B041-EB80-BD0F-1CA8-4439D516F572}"/>
              </a:ext>
            </a:extLst>
          </p:cNvPr>
          <p:cNvCxnSpPr/>
          <p:nvPr/>
        </p:nvCxnSpPr>
        <p:spPr>
          <a:xfrm>
            <a:off x="770596" y="5349776"/>
            <a:ext cx="0" cy="715515"/>
          </a:xfrm>
          <a:prstGeom prst="line">
            <a:avLst/>
          </a:prstGeom>
          <a:ln w="38100">
            <a:solidFill>
              <a:srgbClr val="A296DE"/>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882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Scripts in your workflow</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1" y="1048842"/>
            <a:ext cx="10990521"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In the preceding workflow snippet examples, the </a:t>
            </a:r>
            <a:r>
              <a:rPr lang="en-US" sz="1800" b="0" i="0" dirty="0">
                <a:solidFill>
                  <a:srgbClr val="161616"/>
                </a:solidFill>
                <a:effectLst/>
                <a:highlight>
                  <a:srgbClr val="C0C0C0"/>
                </a:highlight>
                <a:latin typeface="Roboto Mono" pitchFamily="49" charset="0"/>
                <a:ea typeface="Roboto Mono" pitchFamily="49" charset="0"/>
              </a:rPr>
              <a:t>run</a:t>
            </a:r>
            <a:r>
              <a:rPr lang="en-US" sz="2000" b="0" i="0" dirty="0">
                <a:solidFill>
                  <a:srgbClr val="161616"/>
                </a:solidFill>
                <a:effectLst/>
                <a:latin typeface="Quattrocento Sans" panose="020B0502050000020003" pitchFamily="34" charset="0"/>
              </a:rPr>
              <a:t> keyword is used to print a string of text. Because the </a:t>
            </a:r>
            <a:r>
              <a:rPr lang="en-US" sz="1800" b="0" i="0" dirty="0">
                <a:solidFill>
                  <a:srgbClr val="161616"/>
                </a:solidFill>
                <a:effectLst/>
                <a:highlight>
                  <a:srgbClr val="C0C0C0"/>
                </a:highlight>
                <a:latin typeface="Roboto Mono" pitchFamily="49" charset="0"/>
                <a:ea typeface="Roboto Mono" pitchFamily="49" charset="0"/>
              </a:rPr>
              <a:t>run</a:t>
            </a:r>
            <a:r>
              <a:rPr lang="en-US" sz="2000" b="0" i="0" dirty="0">
                <a:solidFill>
                  <a:srgbClr val="161616"/>
                </a:solidFill>
                <a:effectLst/>
                <a:latin typeface="Quattrocento Sans" panose="020B0502050000020003" pitchFamily="34" charset="0"/>
              </a:rPr>
              <a:t> keyword tells the job to execute a command on the runner, you use the run keyword to </a:t>
            </a:r>
            <a:r>
              <a:rPr lang="en-US" sz="1800" b="0" i="0" dirty="0">
                <a:solidFill>
                  <a:srgbClr val="161616"/>
                </a:solidFill>
                <a:effectLst/>
                <a:highlight>
                  <a:srgbClr val="C0C0C0"/>
                </a:highlight>
                <a:latin typeface="Roboto Mono" pitchFamily="49" charset="0"/>
                <a:ea typeface="Roboto Mono" pitchFamily="49" charset="0"/>
              </a:rPr>
              <a:t>run</a:t>
            </a:r>
            <a:r>
              <a:rPr lang="en-US" sz="2000" b="0" i="0" dirty="0">
                <a:solidFill>
                  <a:srgbClr val="161616"/>
                </a:solidFill>
                <a:effectLst/>
                <a:latin typeface="Quattrocento Sans" panose="020B0502050000020003" pitchFamily="34" charset="0"/>
              </a:rPr>
              <a:t> actions or scripts.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1" y="1977688"/>
            <a:ext cx="4800351" cy="114839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6" y="2108852"/>
            <a:ext cx="4301600" cy="87775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example-job:</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run: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 install </a:t>
            </a:r>
            <a:r>
              <a:rPr lang="en-US" sz="1400" dirty="0">
                <a:solidFill>
                  <a:schemeClr val="tx2">
                    <a:lumMod val="50000"/>
                    <a:lumOff val="50000"/>
                  </a:schemeClr>
                </a:solidFill>
                <a:latin typeface="Roboto Mono" pitchFamily="49" charset="0"/>
                <a:ea typeface="Roboto Mono" pitchFamily="49" charset="0"/>
              </a:rPr>
              <a:t>-g </a:t>
            </a:r>
            <a:r>
              <a:rPr lang="en-US" sz="1400" dirty="0">
                <a:solidFill>
                  <a:srgbClr val="FC6E70"/>
                </a:solidFill>
                <a:latin typeface="Roboto Mono" pitchFamily="49" charset="0"/>
                <a:ea typeface="Roboto Mono" pitchFamily="49" charset="0"/>
              </a:rPr>
              <a:t>bats</a:t>
            </a:r>
          </a:p>
        </p:txBody>
      </p:sp>
      <p:sp>
        <p:nvSpPr>
          <p:cNvPr id="5" name="Text Placeholder 2">
            <a:extLst>
              <a:ext uri="{FF2B5EF4-FFF2-40B4-BE49-F238E27FC236}">
                <a16:creationId xmlns:a16="http://schemas.microsoft.com/office/drawing/2014/main" id="{28F16684-D7E1-AF49-9859-7235B77BC474}"/>
              </a:ext>
            </a:extLst>
          </p:cNvPr>
          <p:cNvSpPr txBox="1">
            <a:spLocks/>
          </p:cNvSpPr>
          <p:nvPr/>
        </p:nvSpPr>
        <p:spPr>
          <a:xfrm>
            <a:off x="655052" y="3517807"/>
            <a:ext cx="10990520"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In this example, you're using </a:t>
            </a:r>
            <a:r>
              <a:rPr lang="en-US" sz="2000" b="0" i="0" dirty="0" err="1">
                <a:solidFill>
                  <a:srgbClr val="161616"/>
                </a:solidFill>
                <a:effectLst/>
                <a:latin typeface="Quattrocento Sans" panose="020B0502050000020003" pitchFamily="34" charset="0"/>
              </a:rPr>
              <a:t>npm</a:t>
            </a:r>
            <a:r>
              <a:rPr lang="en-US" sz="2000" b="0" i="0" dirty="0">
                <a:solidFill>
                  <a:srgbClr val="161616"/>
                </a:solidFill>
                <a:effectLst/>
                <a:latin typeface="Quattrocento Sans" panose="020B0502050000020003" pitchFamily="34" charset="0"/>
              </a:rPr>
              <a:t> to install the </a:t>
            </a:r>
            <a:r>
              <a:rPr lang="en-US" sz="1800" b="0" i="0" dirty="0">
                <a:solidFill>
                  <a:srgbClr val="161616"/>
                </a:solidFill>
                <a:effectLst/>
                <a:highlight>
                  <a:srgbClr val="C0C0C0"/>
                </a:highlight>
                <a:latin typeface="Roboto Mono" pitchFamily="49" charset="0"/>
                <a:ea typeface="Roboto Mono" pitchFamily="49" charset="0"/>
              </a:rPr>
              <a:t>bats</a:t>
            </a:r>
            <a:r>
              <a:rPr lang="en-US" sz="2000" b="0" i="0" dirty="0">
                <a:solidFill>
                  <a:srgbClr val="161616"/>
                </a:solidFill>
                <a:effectLst/>
                <a:latin typeface="Quattrocento Sans" panose="020B0502050000020003" pitchFamily="34" charset="0"/>
              </a:rPr>
              <a:t> software testing package by using the </a:t>
            </a:r>
            <a:r>
              <a:rPr lang="en-US" sz="1800" b="0" i="0" dirty="0">
                <a:solidFill>
                  <a:srgbClr val="161616"/>
                </a:solidFill>
                <a:effectLst/>
                <a:highlight>
                  <a:srgbClr val="C0C0C0"/>
                </a:highlight>
                <a:latin typeface="Roboto Mono" pitchFamily="49" charset="0"/>
                <a:ea typeface="Roboto Mono" pitchFamily="49" charset="0"/>
              </a:rPr>
              <a:t>run</a:t>
            </a:r>
            <a:r>
              <a:rPr lang="en-US" sz="2000" b="0" i="0" dirty="0">
                <a:solidFill>
                  <a:srgbClr val="161616"/>
                </a:solidFill>
                <a:effectLst/>
                <a:latin typeface="Quattrocento Sans" panose="020B0502050000020003" pitchFamily="34" charset="0"/>
              </a:rPr>
              <a:t> keyword. You can also run a script as an action. You can store the script in your repository, often done in a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github</a:t>
            </a:r>
            <a:r>
              <a:rPr lang="en-US" sz="1800" b="0" i="0" dirty="0">
                <a:solidFill>
                  <a:srgbClr val="161616"/>
                </a:solidFill>
                <a:effectLst/>
                <a:highlight>
                  <a:srgbClr val="C0C0C0"/>
                </a:highlight>
                <a:latin typeface="Roboto Mono" pitchFamily="49" charset="0"/>
                <a:ea typeface="Roboto Mono" pitchFamily="49" charset="0"/>
              </a:rPr>
              <a:t>/scripts/ directory</a:t>
            </a:r>
            <a:r>
              <a:rPr lang="en-US" sz="2000" b="0" i="0" dirty="0">
                <a:solidFill>
                  <a:srgbClr val="161616"/>
                </a:solidFill>
                <a:effectLst/>
                <a:latin typeface="Quattrocento Sans" panose="020B0502050000020003" pitchFamily="34" charset="0"/>
              </a:rPr>
              <a:t>, and then supply the path and shell type using the </a:t>
            </a:r>
            <a:r>
              <a:rPr lang="en-US" sz="1800" b="0" i="0" dirty="0">
                <a:solidFill>
                  <a:srgbClr val="161616"/>
                </a:solidFill>
                <a:effectLst/>
                <a:highlight>
                  <a:srgbClr val="C0C0C0"/>
                </a:highlight>
                <a:latin typeface="Roboto Mono" pitchFamily="49" charset="0"/>
                <a:ea typeface="Roboto Mono" pitchFamily="49" charset="0"/>
              </a:rPr>
              <a:t>run</a:t>
            </a:r>
            <a:r>
              <a:rPr lang="en-US" sz="2000" b="0" i="0" dirty="0">
                <a:solidFill>
                  <a:srgbClr val="161616"/>
                </a:solidFill>
                <a:effectLst/>
                <a:latin typeface="Quattrocento Sans" panose="020B0502050000020003" pitchFamily="34" charset="0"/>
              </a:rPr>
              <a:t> keyword.</a:t>
            </a:r>
          </a:p>
        </p:txBody>
      </p:sp>
      <p:sp>
        <p:nvSpPr>
          <p:cNvPr id="6" name="Rectangle 5">
            <a:extLst>
              <a:ext uri="{FF2B5EF4-FFF2-40B4-BE49-F238E27FC236}">
                <a16:creationId xmlns:a16="http://schemas.microsoft.com/office/drawing/2014/main" id="{5E4E821D-5226-A821-F21B-133892EC2B46}"/>
              </a:ext>
            </a:extLst>
          </p:cNvPr>
          <p:cNvSpPr/>
          <p:nvPr/>
        </p:nvSpPr>
        <p:spPr>
          <a:xfrm>
            <a:off x="655051" y="4583981"/>
            <a:ext cx="4800351" cy="156884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2">
            <a:extLst>
              <a:ext uri="{FF2B5EF4-FFF2-40B4-BE49-F238E27FC236}">
                <a16:creationId xmlns:a16="http://schemas.microsoft.com/office/drawing/2014/main" id="{CED0C1DD-5916-948D-87B4-6CE492D902A8}"/>
              </a:ext>
            </a:extLst>
          </p:cNvPr>
          <p:cNvSpPr txBox="1">
            <a:spLocks/>
          </p:cNvSpPr>
          <p:nvPr/>
        </p:nvSpPr>
        <p:spPr>
          <a:xfrm>
            <a:off x="859336" y="4815768"/>
            <a:ext cx="4301600" cy="114839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example-job:</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a:solidFill>
                  <a:srgbClr val="FC6E70"/>
                </a:solidFill>
                <a:latin typeface="Roboto Mono" pitchFamily="49" charset="0"/>
                <a:ea typeface="Roboto Mono" pitchFamily="49" charset="0"/>
              </a:rPr>
              <a:t>Run build script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r>
              <a:rPr lang="en-US" sz="1400" dirty="0">
                <a:solidFill>
                  <a:srgbClr val="FC6E70"/>
                </a:solidFill>
                <a:latin typeface="Roboto Mono" pitchFamily="49" charset="0"/>
                <a:ea typeface="Roboto Mono" pitchFamily="49" charset="0"/>
              </a:rPr>
              <a:t>./.</a:t>
            </a:r>
            <a:r>
              <a:rPr lang="en-US" sz="1400" dirty="0" err="1">
                <a:solidFill>
                  <a:srgbClr val="FC6E70"/>
                </a:solidFill>
                <a:latin typeface="Roboto Mono" pitchFamily="49" charset="0"/>
                <a:ea typeface="Roboto Mono" pitchFamily="49" charset="0"/>
              </a:rPr>
              <a:t>github</a:t>
            </a:r>
            <a:r>
              <a:rPr lang="en-US" sz="1400" dirty="0">
                <a:solidFill>
                  <a:srgbClr val="FC6E70"/>
                </a:solidFill>
                <a:latin typeface="Roboto Mono" pitchFamily="49" charset="0"/>
                <a:ea typeface="Roboto Mono" pitchFamily="49" charset="0"/>
              </a:rPr>
              <a:t>/scripts/</a:t>
            </a:r>
            <a:r>
              <a:rPr lang="en-US" sz="1400" dirty="0" err="1">
                <a:solidFill>
                  <a:srgbClr val="FC6E70"/>
                </a:solidFill>
                <a:latin typeface="Roboto Mono" pitchFamily="49" charset="0"/>
                <a:ea typeface="Roboto Mono" pitchFamily="49" charset="0"/>
              </a:rPr>
              <a:t>build.sh</a:t>
            </a:r>
            <a:endParaRPr lang="en-US" sz="1400" dirty="0">
              <a:solidFill>
                <a:srgbClr val="FC6E70"/>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shell: </a:t>
            </a:r>
            <a:r>
              <a:rPr lang="en-US" sz="1400" dirty="0">
                <a:solidFill>
                  <a:srgbClr val="FC6E70"/>
                </a:solidFill>
                <a:latin typeface="Roboto Mono" pitchFamily="49" charset="0"/>
                <a:ea typeface="Roboto Mono" pitchFamily="49" charset="0"/>
              </a:rPr>
              <a:t>bash</a:t>
            </a:r>
          </a:p>
        </p:txBody>
      </p:sp>
    </p:spTree>
    <p:extLst>
      <p:ext uri="{BB962C8B-B14F-4D97-AF65-F5344CB8AC3E}">
        <p14:creationId xmlns:p14="http://schemas.microsoft.com/office/powerpoint/2010/main" val="1254425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Cache dependencies with the cache action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98133" y="1638120"/>
            <a:ext cx="10795733"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When building out a workflow, you'll often find the need to reuse the same outputs or download dependencies from one run to another. Instead of downloading these dependencies over and over again, you can cache them to make your workflow run faster and more efficiently. Caching dependencies reduces the time it takes to run certain steps in a workflow, because jobs on GitHub-hosted runners start in a clean virtual environment each time.</a:t>
            </a:r>
          </a:p>
          <a:p>
            <a:pPr marL="0" indent="0" algn="just">
              <a:buNone/>
            </a:pPr>
            <a:r>
              <a:rPr lang="en-US" sz="2000" b="0" i="0" dirty="0">
                <a:solidFill>
                  <a:srgbClr val="161616"/>
                </a:solidFill>
                <a:effectLst/>
                <a:latin typeface="Quattrocento Sans" panose="020B0502050000020003" pitchFamily="34" charset="0"/>
              </a:rPr>
              <a:t>To cache dependencies for a job, use GitHub's </a:t>
            </a:r>
            <a:r>
              <a:rPr lang="en-US" sz="1800" b="0" i="0" dirty="0">
                <a:solidFill>
                  <a:srgbClr val="161616"/>
                </a:solidFill>
                <a:effectLst/>
                <a:highlight>
                  <a:srgbClr val="C0C0C0"/>
                </a:highlight>
                <a:latin typeface="Roboto Mono" pitchFamily="49" charset="0"/>
                <a:ea typeface="Roboto Mono" pitchFamily="49" charset="0"/>
              </a:rPr>
              <a:t>cache</a:t>
            </a:r>
            <a:r>
              <a:rPr lang="en-US" sz="2000" b="0" i="0" dirty="0">
                <a:solidFill>
                  <a:srgbClr val="161616"/>
                </a:solidFill>
                <a:effectLst/>
                <a:latin typeface="Quattrocento Sans" panose="020B0502050000020003" pitchFamily="34" charset="0"/>
              </a:rPr>
              <a:t> action. This action retrieves a cache identified by a unique key that you provide. When the action finds the cache, it then retrieves the cached files to the path that you configure. To use the </a:t>
            </a:r>
            <a:r>
              <a:rPr lang="en-US" sz="1800" b="0" i="0" dirty="0">
                <a:solidFill>
                  <a:srgbClr val="161616"/>
                </a:solidFill>
                <a:effectLst/>
                <a:highlight>
                  <a:srgbClr val="C0C0C0"/>
                </a:highlight>
                <a:latin typeface="Roboto Mono" pitchFamily="49" charset="0"/>
                <a:ea typeface="Roboto Mono" pitchFamily="49" charset="0"/>
              </a:rPr>
              <a:t>cache</a:t>
            </a:r>
            <a:r>
              <a:rPr lang="en-US" sz="2000" b="0" i="0" dirty="0">
                <a:solidFill>
                  <a:srgbClr val="161616"/>
                </a:solidFill>
                <a:effectLst/>
                <a:latin typeface="Quattrocento Sans" panose="020B0502050000020003" pitchFamily="34" charset="0"/>
              </a:rPr>
              <a:t> action, you need to set a few specific parameters: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graphicFrame>
        <p:nvGraphicFramePr>
          <p:cNvPr id="7" name="Table 6">
            <a:extLst>
              <a:ext uri="{FF2B5EF4-FFF2-40B4-BE49-F238E27FC236}">
                <a16:creationId xmlns:a16="http://schemas.microsoft.com/office/drawing/2014/main" id="{D209035A-F198-E979-249D-037DBD7D461C}"/>
              </a:ext>
            </a:extLst>
          </p:cNvPr>
          <p:cNvGraphicFramePr>
            <a:graphicFrameLocks noGrp="1"/>
          </p:cNvGraphicFramePr>
          <p:nvPr>
            <p:extLst>
              <p:ext uri="{D42A27DB-BD31-4B8C-83A1-F6EECF244321}">
                <p14:modId xmlns:p14="http://schemas.microsoft.com/office/powerpoint/2010/main" val="245898109"/>
              </p:ext>
            </p:extLst>
          </p:nvPr>
        </p:nvGraphicFramePr>
        <p:xfrm>
          <a:off x="698133" y="4036416"/>
          <a:ext cx="10607175" cy="1752600"/>
        </p:xfrm>
        <a:graphic>
          <a:graphicData uri="http://schemas.openxmlformats.org/drawingml/2006/table">
            <a:tbl>
              <a:tblPr firstRow="1" bandRow="1">
                <a:tableStyleId>{5C22544A-7EE6-4342-B048-85BDC9FD1C3A}</a:tableStyleId>
              </a:tblPr>
              <a:tblGrid>
                <a:gridCol w="1574012">
                  <a:extLst>
                    <a:ext uri="{9D8B030D-6E8A-4147-A177-3AD203B41FA5}">
                      <a16:colId xmlns:a16="http://schemas.microsoft.com/office/drawing/2014/main" val="2731484690"/>
                    </a:ext>
                  </a:extLst>
                </a:gridCol>
                <a:gridCol w="7481455">
                  <a:extLst>
                    <a:ext uri="{9D8B030D-6E8A-4147-A177-3AD203B41FA5}">
                      <a16:colId xmlns:a16="http://schemas.microsoft.com/office/drawing/2014/main" val="207015959"/>
                    </a:ext>
                  </a:extLst>
                </a:gridCol>
                <a:gridCol w="1551708">
                  <a:extLst>
                    <a:ext uri="{9D8B030D-6E8A-4147-A177-3AD203B41FA5}">
                      <a16:colId xmlns:a16="http://schemas.microsoft.com/office/drawing/2014/main" val="973843757"/>
                    </a:ext>
                  </a:extLst>
                </a:gridCol>
              </a:tblGrid>
              <a:tr h="370840">
                <a:tc>
                  <a:txBody>
                    <a:bodyPr/>
                    <a:lstStyle/>
                    <a:p>
                      <a:pPr algn="l" fontAlgn="t"/>
                      <a:r>
                        <a:rPr lang="en-US" dirty="0">
                          <a:solidFill>
                            <a:schemeClr val="tx1"/>
                          </a:solidFill>
                          <a:effectLst/>
                        </a:rPr>
                        <a:t>Parameter</a:t>
                      </a:r>
                    </a:p>
                  </a:txBody>
                  <a:tcPr anchor="b">
                    <a:lnR w="38100" cap="flat" cmpd="sng" algn="ctr">
                      <a:solidFill>
                        <a:schemeClr val="bg1">
                          <a:lumMod val="50000"/>
                        </a:schemeClr>
                      </a:solidFill>
                      <a:prstDash val="solid"/>
                      <a:round/>
                      <a:headEnd type="none" w="med" len="med"/>
                      <a:tailEnd type="none" w="med" len="med"/>
                    </a:lnR>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Description</a:t>
                      </a:r>
                    </a:p>
                  </a:txBody>
                  <a:tcPr anchor="b">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Required</a:t>
                      </a:r>
                    </a:p>
                  </a:txBody>
                  <a:tcPr anchor="b">
                    <a:lnL w="38100" cap="flat" cmpd="sng" algn="ctr">
                      <a:solidFill>
                        <a:schemeClr val="bg1">
                          <a:lumMod val="50000"/>
                        </a:schemeClr>
                      </a:solidFill>
                      <a:prstDash val="solid"/>
                      <a:round/>
                      <a:headEnd type="none" w="med" len="med"/>
                      <a:tailEnd type="none" w="med" len="med"/>
                    </a:lnL>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44580167"/>
                  </a:ext>
                </a:extLst>
              </a:tr>
              <a:tr h="370840">
                <a:tc>
                  <a:txBody>
                    <a:bodyPr/>
                    <a:lstStyle/>
                    <a:p>
                      <a:pPr algn="l" fontAlgn="t"/>
                      <a:r>
                        <a:rPr lang="en-US">
                          <a:solidFill>
                            <a:schemeClr val="tx1"/>
                          </a:solidFill>
                          <a:effectLst/>
                        </a:rPr>
                        <a:t>Key</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Refers to the key identifier created when saving and searching for a cache.</a:t>
                      </a:r>
                    </a:p>
                  </a:txBody>
                  <a:tcPr anchor="b">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Yes</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3001362"/>
                  </a:ext>
                </a:extLst>
              </a:tr>
              <a:tr h="370840">
                <a:tc>
                  <a:txBody>
                    <a:bodyPr/>
                    <a:lstStyle/>
                    <a:p>
                      <a:pPr algn="l" fontAlgn="t"/>
                      <a:r>
                        <a:rPr lang="en-US">
                          <a:solidFill>
                            <a:schemeClr val="tx1"/>
                          </a:solidFill>
                          <a:effectLst/>
                        </a:rPr>
                        <a:t>Path</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Refers to the file path on the runner to cache or search.</a:t>
                      </a:r>
                    </a:p>
                  </a:txBody>
                  <a:tcPr anchor="b">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tc>
                  <a:txBody>
                    <a:bodyPr/>
                    <a:lstStyle/>
                    <a:p>
                      <a:pPr algn="l" fontAlgn="t"/>
                      <a:r>
                        <a:rPr lang="en-US">
                          <a:solidFill>
                            <a:schemeClr val="tx1"/>
                          </a:solidFill>
                          <a:effectLst/>
                        </a:rPr>
                        <a:t>Yes</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782053685"/>
                  </a:ext>
                </a:extLst>
              </a:tr>
              <a:tr h="370840">
                <a:tc>
                  <a:txBody>
                    <a:bodyPr/>
                    <a:lstStyle/>
                    <a:p>
                      <a:pPr algn="l" fontAlgn="t"/>
                      <a:r>
                        <a:rPr lang="en-US">
                          <a:solidFill>
                            <a:schemeClr val="tx1"/>
                          </a:solidFill>
                          <a:effectLst/>
                        </a:rPr>
                        <a:t>Restore-keys</a:t>
                      </a:r>
                    </a:p>
                  </a:txBody>
                  <a:tcPr anchor="b">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noFill/>
                  </a:tcPr>
                </a:tc>
                <a:tc>
                  <a:txBody>
                    <a:bodyPr/>
                    <a:lstStyle/>
                    <a:p>
                      <a:pPr algn="l" fontAlgn="t"/>
                      <a:r>
                        <a:rPr lang="en-US">
                          <a:solidFill>
                            <a:schemeClr val="tx1"/>
                          </a:solidFill>
                          <a:effectLst/>
                        </a:rPr>
                        <a:t>Consists of alternative existing keys to caches if the desired cache key isn't found.</a:t>
                      </a:r>
                    </a:p>
                  </a:txBody>
                  <a:tcPr anchor="b">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noFill/>
                  </a:tcPr>
                </a:tc>
                <a:tc>
                  <a:txBody>
                    <a:bodyPr/>
                    <a:lstStyle/>
                    <a:p>
                      <a:pPr algn="l" fontAlgn="t"/>
                      <a:r>
                        <a:rPr lang="en-US" dirty="0">
                          <a:solidFill>
                            <a:schemeClr val="tx1"/>
                          </a:solidFill>
                          <a:effectLst/>
                        </a:rPr>
                        <a:t>No</a:t>
                      </a:r>
                    </a:p>
                  </a:txBody>
                  <a:tcPr anchor="b">
                    <a:lnL w="38100" cap="flat" cmpd="sng" algn="ctr">
                      <a:solidFill>
                        <a:schemeClr val="bg1">
                          <a:lumMod val="50000"/>
                        </a:schemeClr>
                      </a:solidFill>
                      <a:prstDash val="solid"/>
                      <a:round/>
                      <a:headEnd type="none" w="med" len="med"/>
                      <a:tailEnd type="none" w="med" len="med"/>
                    </a:lnL>
                    <a:lnT w="38100"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3196914828"/>
                  </a:ext>
                </a:extLst>
              </a:tr>
            </a:tbl>
          </a:graphicData>
        </a:graphic>
      </p:graphicFrame>
    </p:spTree>
    <p:extLst>
      <p:ext uri="{BB962C8B-B14F-4D97-AF65-F5344CB8AC3E}">
        <p14:creationId xmlns:p14="http://schemas.microsoft.com/office/powerpoint/2010/main" val="424592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Cache dependencies with the cache action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5051" y="1276344"/>
            <a:ext cx="10990521"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In the following example, the </a:t>
            </a:r>
            <a:r>
              <a:rPr lang="en-US" sz="1800" b="0" i="0" dirty="0">
                <a:solidFill>
                  <a:srgbClr val="161616"/>
                </a:solidFill>
                <a:effectLst/>
                <a:highlight>
                  <a:srgbClr val="C0C0C0"/>
                </a:highlight>
                <a:latin typeface="Roboto Mono" pitchFamily="49" charset="0"/>
                <a:ea typeface="Roboto Mono" pitchFamily="49" charset="0"/>
              </a:rPr>
              <a:t>path</a:t>
            </a:r>
            <a:r>
              <a:rPr lang="en-US" sz="2000" b="0" i="0" dirty="0">
                <a:solidFill>
                  <a:srgbClr val="161616"/>
                </a:solidFill>
                <a:effectLst/>
                <a:latin typeface="Quattrocento Sans" panose="020B0502050000020003" pitchFamily="34" charset="0"/>
              </a:rPr>
              <a:t> is set to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npm</a:t>
            </a:r>
            <a:r>
              <a:rPr lang="en-US" sz="2000" b="0" i="0" dirty="0">
                <a:solidFill>
                  <a:srgbClr val="161616"/>
                </a:solidFill>
                <a:effectLst/>
                <a:latin typeface="Quattrocento Sans" panose="020B0502050000020003" pitchFamily="34" charset="0"/>
              </a:rPr>
              <a:t> and the </a:t>
            </a:r>
            <a:r>
              <a:rPr lang="en-US" sz="1800" b="0" i="0" dirty="0">
                <a:solidFill>
                  <a:srgbClr val="161616"/>
                </a:solidFill>
                <a:effectLst/>
                <a:highlight>
                  <a:srgbClr val="C0C0C0"/>
                </a:highlight>
                <a:latin typeface="Roboto Mono" pitchFamily="49" charset="0"/>
                <a:ea typeface="Roboto Mono" pitchFamily="49" charset="0"/>
              </a:rPr>
              <a:t>key</a:t>
            </a:r>
            <a:r>
              <a:rPr lang="en-US" sz="2000" b="0" i="0" dirty="0">
                <a:solidFill>
                  <a:srgbClr val="161616"/>
                </a:solidFill>
                <a:effectLst/>
                <a:latin typeface="Quattrocento Sans" panose="020B0502050000020003" pitchFamily="34" charset="0"/>
              </a:rPr>
              <a:t> includes the runner's operating system and the SHA-256 hash of the </a:t>
            </a:r>
            <a:r>
              <a:rPr lang="en-US" sz="1800" b="0" i="0" dirty="0">
                <a:solidFill>
                  <a:srgbClr val="161616"/>
                </a:solidFill>
                <a:effectLst/>
                <a:highlight>
                  <a:srgbClr val="C0C0C0"/>
                </a:highlight>
                <a:latin typeface="Roboto Mono" pitchFamily="49" charset="0"/>
                <a:ea typeface="Roboto Mono" pitchFamily="49" charset="0"/>
              </a:rPr>
              <a:t>package-</a:t>
            </a:r>
            <a:r>
              <a:rPr lang="en-US" sz="1800" b="0" i="0" dirty="0" err="1">
                <a:solidFill>
                  <a:srgbClr val="161616"/>
                </a:solidFill>
                <a:effectLst/>
                <a:highlight>
                  <a:srgbClr val="C0C0C0"/>
                </a:highlight>
                <a:latin typeface="Roboto Mono" pitchFamily="49" charset="0"/>
                <a:ea typeface="Roboto Mono" pitchFamily="49" charset="0"/>
              </a:rPr>
              <a:t>lock.json</a:t>
            </a:r>
            <a:r>
              <a:rPr lang="en-US" sz="2000" b="0" i="0" dirty="0">
                <a:solidFill>
                  <a:srgbClr val="161616"/>
                </a:solidFill>
                <a:effectLst/>
                <a:latin typeface="Quattrocento Sans" panose="020B0502050000020003" pitchFamily="34" charset="0"/>
              </a:rPr>
              <a:t> file. Prefixing the key with an ID (</a:t>
            </a:r>
            <a:r>
              <a:rPr lang="en-US" sz="1800" b="0" i="0" dirty="0" err="1">
                <a:solidFill>
                  <a:srgbClr val="161616"/>
                </a:solidFill>
                <a:effectLst/>
                <a:highlight>
                  <a:srgbClr val="C0C0C0"/>
                </a:highlight>
                <a:latin typeface="Roboto Mono" pitchFamily="49" charset="0"/>
                <a:ea typeface="Roboto Mono" pitchFamily="49" charset="0"/>
              </a:rPr>
              <a:t>npm</a:t>
            </a:r>
            <a:r>
              <a:rPr lang="en-US" sz="1800" b="0" i="0" dirty="0">
                <a:solidFill>
                  <a:srgbClr val="161616"/>
                </a:solidFill>
                <a:effectLst/>
                <a:highlight>
                  <a:srgbClr val="C0C0C0"/>
                </a:highlight>
                <a:latin typeface="Roboto Mono" pitchFamily="49" charset="0"/>
                <a:ea typeface="Roboto Mono" pitchFamily="49" charset="0"/>
              </a:rPr>
              <a:t>-cache</a:t>
            </a:r>
            <a:r>
              <a:rPr lang="en-US" sz="2000" b="0" i="0" dirty="0">
                <a:solidFill>
                  <a:srgbClr val="161616"/>
                </a:solidFill>
                <a:effectLst/>
                <a:latin typeface="Quattrocento Sans" panose="020B0502050000020003" pitchFamily="34" charset="0"/>
              </a:rPr>
              <a:t> in this example) is useful when you're using the </a:t>
            </a:r>
            <a:r>
              <a:rPr lang="en-US" sz="1800" b="0" i="0" dirty="0">
                <a:solidFill>
                  <a:srgbClr val="161616"/>
                </a:solidFill>
                <a:effectLst/>
                <a:highlight>
                  <a:srgbClr val="C0C0C0"/>
                </a:highlight>
                <a:latin typeface="Roboto Mono" pitchFamily="49" charset="0"/>
                <a:ea typeface="Roboto Mono" pitchFamily="49" charset="0"/>
              </a:rPr>
              <a:t>restore-keys</a:t>
            </a:r>
            <a:r>
              <a:rPr lang="en-US" sz="2000" b="0" i="0" dirty="0">
                <a:solidFill>
                  <a:srgbClr val="161616"/>
                </a:solidFill>
                <a:effectLst/>
                <a:latin typeface="Quattrocento Sans" panose="020B0502050000020003" pitchFamily="34" charset="0"/>
              </a:rPr>
              <a:t> fallback and have multiple caches.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55051" y="2332264"/>
            <a:ext cx="9029276" cy="271079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859335" y="2463428"/>
            <a:ext cx="8658737" cy="227482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actions/checkout@v2</a:t>
            </a:r>
          </a:p>
          <a:p>
            <a:pPr marL="0" indent="0">
              <a:spcBef>
                <a:spcPts val="0"/>
              </a:spcBef>
              <a:buNone/>
            </a:pPr>
            <a:endParaRPr lang="en-US" sz="14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a:solidFill>
                  <a:srgbClr val="FC6E70"/>
                </a:solidFill>
                <a:latin typeface="Roboto Mono" pitchFamily="49" charset="0"/>
                <a:ea typeface="Roboto Mono" pitchFamily="49" charset="0"/>
              </a:rPr>
              <a:t>Cache NPM dependencies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uses: </a:t>
            </a:r>
            <a:r>
              <a:rPr lang="en-US" sz="1400" dirty="0">
                <a:solidFill>
                  <a:srgbClr val="FC6E70"/>
                </a:solidFill>
                <a:latin typeface="Roboto Mono" pitchFamily="49" charset="0"/>
                <a:ea typeface="Roboto Mono" pitchFamily="49" charset="0"/>
              </a:rPr>
              <a:t>actions/cache@v2</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path: </a:t>
            </a:r>
            <a:r>
              <a:rPr lang="en-US" sz="1400" dirty="0">
                <a:solidFill>
                  <a:srgbClr val="FC6E70"/>
                </a:solidFill>
                <a:latin typeface="Roboto Mono" pitchFamily="49" charset="0"/>
                <a:ea typeface="Roboto Mono" pitchFamily="49" charset="0"/>
              </a:rPr>
              <a:t>~/.</a:t>
            </a:r>
            <a:r>
              <a:rPr lang="en-US" sz="1400" dirty="0" err="1">
                <a:solidFill>
                  <a:srgbClr val="FC6E70"/>
                </a:solidFill>
                <a:latin typeface="Roboto Mono" pitchFamily="49" charset="0"/>
                <a:ea typeface="Roboto Mono" pitchFamily="49" charset="0"/>
              </a:rPr>
              <a:t>npm</a:t>
            </a:r>
            <a:endParaRPr lang="en-US" sz="1400" dirty="0">
              <a:solidFill>
                <a:srgbClr val="FC6E70"/>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key: </a:t>
            </a:r>
            <a:r>
              <a:rPr lang="en-US" sz="1400" dirty="0">
                <a:solidFill>
                  <a:srgbClr val="FC6E70"/>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runner.os</a:t>
            </a:r>
            <a:r>
              <a:rPr lang="en-US" sz="1400" dirty="0">
                <a:solidFill>
                  <a:srgbClr val="FC6E70"/>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-cache-${{ </a:t>
            </a:r>
            <a:r>
              <a:rPr lang="en-US" sz="1400" dirty="0" err="1">
                <a:solidFill>
                  <a:srgbClr val="FC6E70"/>
                </a:solidFill>
                <a:latin typeface="Roboto Mono" pitchFamily="49" charset="0"/>
                <a:ea typeface="Roboto Mono" pitchFamily="49" charset="0"/>
              </a:rPr>
              <a:t>hashFiles</a:t>
            </a:r>
            <a:r>
              <a:rPr lang="en-US" sz="1400" dirty="0">
                <a:solidFill>
                  <a:srgbClr val="FC6E70"/>
                </a:solidFill>
                <a:latin typeface="Roboto Mono" pitchFamily="49" charset="0"/>
                <a:ea typeface="Roboto Mono" pitchFamily="49" charset="0"/>
              </a:rPr>
              <a:t>('**/package-</a:t>
            </a:r>
            <a:r>
              <a:rPr lang="en-US" sz="1400" dirty="0" err="1">
                <a:solidFill>
                  <a:srgbClr val="FC6E70"/>
                </a:solidFill>
                <a:latin typeface="Roboto Mono" pitchFamily="49" charset="0"/>
                <a:ea typeface="Roboto Mono" pitchFamily="49" charset="0"/>
              </a:rPr>
              <a:t>lock.json</a:t>
            </a:r>
            <a:r>
              <a:rPr lang="en-US" sz="1400" dirty="0">
                <a:solidFill>
                  <a:srgbClr val="FC6E70"/>
                </a:solidFill>
                <a:latin typeface="Roboto Mono" pitchFamily="49" charset="0"/>
                <a:ea typeface="Roboto Mono" pitchFamily="49" charset="0"/>
              </a:rPr>
              <a:t>')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restore-keys: </a:t>
            </a:r>
            <a:r>
              <a:rPr lang="en-US" sz="1400" dirty="0">
                <a:solidFill>
                  <a:srgbClr val="FC6E70"/>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a:solidFill>
                  <a:srgbClr val="FC6E70"/>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runner.os</a:t>
            </a:r>
            <a:r>
              <a:rPr lang="en-US" sz="1400" dirty="0">
                <a:solidFill>
                  <a:srgbClr val="FC6E70"/>
                </a:solidFill>
                <a:latin typeface="Roboto Mono" pitchFamily="49" charset="0"/>
                <a:ea typeface="Roboto Mono" pitchFamily="49" charset="0"/>
              </a:rPr>
              <a:t> }}-</a:t>
            </a:r>
            <a:r>
              <a:rPr lang="en-US" sz="1400" dirty="0" err="1">
                <a:solidFill>
                  <a:srgbClr val="FC6E70"/>
                </a:solidFill>
                <a:latin typeface="Roboto Mono" pitchFamily="49" charset="0"/>
                <a:ea typeface="Roboto Mono" pitchFamily="49" charset="0"/>
              </a:rPr>
              <a:t>npm</a:t>
            </a:r>
            <a:r>
              <a:rPr lang="en-US" sz="1400" dirty="0">
                <a:solidFill>
                  <a:srgbClr val="FC6E70"/>
                </a:solidFill>
                <a:latin typeface="Roboto Mono" pitchFamily="49" charset="0"/>
                <a:ea typeface="Roboto Mono" pitchFamily="49" charset="0"/>
              </a:rPr>
              <a:t>-cache-</a:t>
            </a:r>
          </a:p>
        </p:txBody>
      </p:sp>
    </p:spTree>
    <p:extLst>
      <p:ext uri="{BB962C8B-B14F-4D97-AF65-F5344CB8AC3E}">
        <p14:creationId xmlns:p14="http://schemas.microsoft.com/office/powerpoint/2010/main" val="53184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6" y="367781"/>
            <a:ext cx="9511973" cy="492443"/>
          </a:xfrm>
        </p:spPr>
        <p:txBody>
          <a:bodyPr>
            <a:normAutofit fontScale="90000"/>
          </a:bodyPr>
          <a:lstStyle/>
          <a:p>
            <a:r>
              <a:rPr lang="en-US" sz="3200" dirty="0">
                <a:latin typeface="Quattrocento Sans" panose="020B0502050000020003" pitchFamily="34" charset="0"/>
              </a:rPr>
              <a:t>Pass artifact data between jobs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48594" y="2227058"/>
            <a:ext cx="5813916"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1800" b="0" i="0" dirty="0">
                <a:solidFill>
                  <a:srgbClr val="161616"/>
                </a:solidFill>
                <a:effectLst/>
                <a:latin typeface="Quattrocento Sans" panose="020B0502050000020003" pitchFamily="34" charset="0"/>
              </a:rPr>
              <a:t>Similar to the idea of caching dependencies within your workflow, you can pass data between jobs within the same workflow. You can do this by using the </a:t>
            </a:r>
            <a:r>
              <a:rPr lang="en-US" b="0" i="0" dirty="0">
                <a:solidFill>
                  <a:srgbClr val="161616"/>
                </a:solidFill>
                <a:effectLst/>
                <a:highlight>
                  <a:srgbClr val="C0C0C0"/>
                </a:highlight>
                <a:latin typeface="Roboto Mono" pitchFamily="49" charset="0"/>
                <a:ea typeface="Roboto Mono" pitchFamily="49" charset="0"/>
              </a:rPr>
              <a:t>upload-artifact</a:t>
            </a:r>
            <a:r>
              <a:rPr lang="en-US" sz="1800" b="0" i="0" dirty="0">
                <a:solidFill>
                  <a:srgbClr val="161616"/>
                </a:solidFill>
                <a:effectLst/>
                <a:latin typeface="Quattrocento Sans" panose="020B0502050000020003" pitchFamily="34" charset="0"/>
              </a:rPr>
              <a:t> and </a:t>
            </a:r>
            <a:r>
              <a:rPr lang="en-US" b="0" i="0" dirty="0">
                <a:solidFill>
                  <a:srgbClr val="161616"/>
                </a:solidFill>
                <a:effectLst/>
                <a:highlight>
                  <a:srgbClr val="C0C0C0"/>
                </a:highlight>
                <a:latin typeface="Roboto Mono" pitchFamily="49" charset="0"/>
                <a:ea typeface="Roboto Mono" pitchFamily="49" charset="0"/>
              </a:rPr>
              <a:t>download-artifact</a:t>
            </a:r>
            <a:r>
              <a:rPr lang="en-US" sz="1800" b="0" i="0" dirty="0">
                <a:solidFill>
                  <a:srgbClr val="161616"/>
                </a:solidFill>
                <a:effectLst/>
                <a:latin typeface="Quattrocento Sans" panose="020B0502050000020003" pitchFamily="34" charset="0"/>
              </a:rPr>
              <a:t> actions. Jobs that are dependent on a previous job's artifacts must wait for the previous job to complete successfully before they can run. This is useful if you have a series of jobs that need to run sequentially based on artifacts uploaded from a previous job. For example, </a:t>
            </a:r>
            <a:r>
              <a:rPr lang="en-US" b="0" i="0" dirty="0">
                <a:solidFill>
                  <a:srgbClr val="161616"/>
                </a:solidFill>
                <a:effectLst/>
                <a:highlight>
                  <a:srgbClr val="C0C0C0"/>
                </a:highlight>
                <a:latin typeface="Roboto Mono" pitchFamily="49" charset="0"/>
                <a:ea typeface="Roboto Mono" pitchFamily="49" charset="0"/>
              </a:rPr>
              <a:t>job_2</a:t>
            </a:r>
            <a:r>
              <a:rPr lang="en-US" sz="1800" b="0" i="0" dirty="0">
                <a:solidFill>
                  <a:srgbClr val="161616"/>
                </a:solidFill>
                <a:effectLst/>
                <a:latin typeface="Quattrocento Sans" panose="020B0502050000020003" pitchFamily="34" charset="0"/>
              </a:rPr>
              <a:t> requires </a:t>
            </a:r>
            <a:r>
              <a:rPr lang="en-US" b="0" i="0" dirty="0">
                <a:solidFill>
                  <a:srgbClr val="161616"/>
                </a:solidFill>
                <a:effectLst/>
                <a:highlight>
                  <a:srgbClr val="C0C0C0"/>
                </a:highlight>
                <a:latin typeface="Roboto Mono" pitchFamily="49" charset="0"/>
                <a:ea typeface="Roboto Mono" pitchFamily="49" charset="0"/>
              </a:rPr>
              <a:t>job_1</a:t>
            </a:r>
            <a:r>
              <a:rPr lang="en-US" sz="1800" b="0" i="0" dirty="0">
                <a:solidFill>
                  <a:srgbClr val="161616"/>
                </a:solidFill>
                <a:effectLst/>
                <a:latin typeface="Quattrocento Sans" panose="020B0502050000020003" pitchFamily="34" charset="0"/>
              </a:rPr>
              <a:t> by using the </a:t>
            </a:r>
            <a:r>
              <a:rPr lang="en-US" b="0" i="0" dirty="0">
                <a:solidFill>
                  <a:srgbClr val="161616"/>
                </a:solidFill>
                <a:effectLst/>
                <a:highlight>
                  <a:srgbClr val="C0C0C0"/>
                </a:highlight>
                <a:latin typeface="Roboto Mono" pitchFamily="49" charset="0"/>
                <a:ea typeface="Roboto Mono" pitchFamily="49" charset="0"/>
              </a:rPr>
              <a:t>needs: job_1</a:t>
            </a:r>
            <a:r>
              <a:rPr lang="en-US" sz="1800" b="0" i="0" dirty="0">
                <a:solidFill>
                  <a:srgbClr val="161616"/>
                </a:solidFill>
                <a:effectLst/>
                <a:latin typeface="Quattrocento Sans" panose="020B0502050000020003" pitchFamily="34" charset="0"/>
              </a:rPr>
              <a:t> syntax.</a:t>
            </a:r>
          </a:p>
          <a:p>
            <a:pPr marL="0" indent="0" algn="just">
              <a:spcAft>
                <a:spcPts val="1200"/>
              </a:spcAft>
              <a:buNone/>
            </a:pPr>
            <a:endParaRPr lang="en-US" sz="2000" b="0" i="0" dirty="0">
              <a:solidFill>
                <a:srgbClr val="161616"/>
              </a:solidFill>
              <a:effectLst/>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BA7F49A9-800F-35F0-FF5A-B46F586D6EA6}"/>
              </a:ext>
            </a:extLst>
          </p:cNvPr>
          <p:cNvSpPr/>
          <p:nvPr/>
        </p:nvSpPr>
        <p:spPr>
          <a:xfrm>
            <a:off x="6761018" y="995592"/>
            <a:ext cx="4893176" cy="509377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15F387A9-C215-4F84-55AA-A3F58B0ABADB}"/>
              </a:ext>
            </a:extLst>
          </p:cNvPr>
          <p:cNvSpPr txBox="1">
            <a:spLocks/>
          </p:cNvSpPr>
          <p:nvPr/>
        </p:nvSpPr>
        <p:spPr>
          <a:xfrm>
            <a:off x="6957788" y="1123519"/>
            <a:ext cx="4654774" cy="483791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name: </a:t>
            </a:r>
            <a:r>
              <a:rPr lang="en-US" sz="1400" dirty="0">
                <a:solidFill>
                  <a:srgbClr val="FC6E70"/>
                </a:solidFill>
                <a:latin typeface="Roboto Mono" pitchFamily="49" charset="0"/>
                <a:ea typeface="Roboto Mono" pitchFamily="49" charset="0"/>
              </a:rPr>
              <a:t>Share data between jobs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on: </a:t>
            </a:r>
            <a:r>
              <a:rPr lang="en-US" sz="1400" dirty="0">
                <a:solidFill>
                  <a:srgbClr val="FC6E70"/>
                </a:solidFill>
                <a:latin typeface="Roboto Mono" pitchFamily="49" charset="0"/>
                <a:ea typeface="Roboto Mono" pitchFamily="49" charset="0"/>
              </a:rPr>
              <a:t>push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job_1:</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name: </a:t>
            </a:r>
            <a:r>
              <a:rPr lang="en-US" sz="1400" dirty="0">
                <a:solidFill>
                  <a:srgbClr val="FC6E70"/>
                </a:solidFill>
                <a:latin typeface="Roboto Mono" pitchFamily="49" charset="0"/>
                <a:ea typeface="Roboto Mono" pitchFamily="49" charset="0"/>
              </a:rPr>
              <a:t>Upload File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a:solidFill>
                  <a:srgbClr val="FC6E70"/>
                </a:solidFill>
                <a:latin typeface="Roboto Mono" pitchFamily="49" charset="0"/>
                <a:ea typeface="Roboto Mono" pitchFamily="49" charset="0"/>
              </a:rPr>
              <a:t>ubuntu-latest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run: </a:t>
            </a:r>
            <a:r>
              <a:rPr lang="en-US" sz="1400" dirty="0">
                <a:solidFill>
                  <a:srgbClr val="FC6E70"/>
                </a:solidFill>
                <a:latin typeface="Roboto Mono" pitchFamily="49" charset="0"/>
                <a:ea typeface="Roboto Mono" pitchFamily="49" charset="0"/>
              </a:rPr>
              <a:t>echo "Hello World" &gt; </a:t>
            </a:r>
            <a:r>
              <a:rPr lang="en-US" sz="1400" dirty="0" err="1">
                <a:solidFill>
                  <a:srgbClr val="FC6E70"/>
                </a:solidFill>
                <a:latin typeface="Roboto Mono" pitchFamily="49" charset="0"/>
                <a:ea typeface="Roboto Mono" pitchFamily="49" charset="0"/>
              </a:rPr>
              <a:t>file.txt</a:t>
            </a:r>
            <a:endParaRPr lang="en-US" sz="1400" dirty="0">
              <a:solidFill>
                <a:srgbClr val="FC6E70"/>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actions/upload-artifact@v2</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name: </a:t>
            </a:r>
            <a:r>
              <a:rPr lang="en-US" sz="1400" dirty="0">
                <a:solidFill>
                  <a:srgbClr val="FC6E70"/>
                </a:solidFill>
                <a:latin typeface="Roboto Mono" pitchFamily="49" charset="0"/>
                <a:ea typeface="Roboto Mono" pitchFamily="49" charset="0"/>
              </a:rPr>
              <a:t>file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path: </a:t>
            </a:r>
            <a:r>
              <a:rPr lang="en-US" sz="1400" dirty="0" err="1">
                <a:solidFill>
                  <a:srgbClr val="FC6E70"/>
                </a:solidFill>
                <a:latin typeface="Roboto Mono" pitchFamily="49" charset="0"/>
                <a:ea typeface="Roboto Mono" pitchFamily="49" charset="0"/>
              </a:rPr>
              <a:t>file.txt</a:t>
            </a:r>
            <a:endParaRPr lang="en-US" sz="1400" dirty="0">
              <a:solidFill>
                <a:srgbClr val="FC6E70"/>
              </a:solidFill>
              <a:latin typeface="Roboto Mono" pitchFamily="49" charset="0"/>
              <a:ea typeface="Roboto Mono" pitchFamily="49" charset="0"/>
            </a:endParaRPr>
          </a:p>
          <a:p>
            <a:pPr marL="0" indent="0">
              <a:spcBef>
                <a:spcPts val="0"/>
              </a:spcBef>
              <a:buNone/>
            </a:pPr>
            <a:endParaRPr lang="en-US" sz="14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job_2:</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name: </a:t>
            </a:r>
            <a:r>
              <a:rPr lang="en-US" sz="1400" dirty="0">
                <a:solidFill>
                  <a:srgbClr val="FC6E70"/>
                </a:solidFill>
                <a:latin typeface="Roboto Mono" pitchFamily="49" charset="0"/>
                <a:ea typeface="Roboto Mono" pitchFamily="49" charset="0"/>
              </a:rPr>
              <a:t>Download File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a:solidFill>
                  <a:srgbClr val="FC6E70"/>
                </a:solidFill>
                <a:latin typeface="Roboto Mono" pitchFamily="49" charset="0"/>
                <a:ea typeface="Roboto Mono" pitchFamily="49" charset="0"/>
              </a:rPr>
              <a:t>ubuntu-latest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needs: </a:t>
            </a:r>
            <a:r>
              <a:rPr lang="en-US" sz="1400" dirty="0">
                <a:solidFill>
                  <a:srgbClr val="FC6E70"/>
                </a:solidFill>
                <a:latin typeface="Roboto Mono" pitchFamily="49" charset="0"/>
                <a:ea typeface="Roboto Mono" pitchFamily="49" charset="0"/>
              </a:rPr>
              <a:t>job_1</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uses: </a:t>
            </a:r>
            <a:r>
              <a:rPr lang="en-US" sz="1400" dirty="0">
                <a:solidFill>
                  <a:srgbClr val="FC6E70"/>
                </a:solidFill>
                <a:latin typeface="Roboto Mono" pitchFamily="49" charset="0"/>
                <a:ea typeface="Roboto Mono" pitchFamily="49" charset="0"/>
              </a:rPr>
              <a:t>actions/download-artifact@v2</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name: </a:t>
            </a:r>
            <a:r>
              <a:rPr lang="en-US" sz="1400" dirty="0">
                <a:solidFill>
                  <a:srgbClr val="FC6E70"/>
                </a:solidFill>
                <a:latin typeface="Roboto Mono" pitchFamily="49" charset="0"/>
                <a:ea typeface="Roboto Mono" pitchFamily="49" charset="0"/>
              </a:rPr>
              <a:t>file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run: </a:t>
            </a:r>
            <a:r>
              <a:rPr lang="en-US" sz="1400" dirty="0">
                <a:solidFill>
                  <a:srgbClr val="FC6E70"/>
                </a:solidFill>
                <a:latin typeface="Roboto Mono" pitchFamily="49" charset="0"/>
                <a:ea typeface="Roboto Mono" pitchFamily="49" charset="0"/>
              </a:rPr>
              <a:t>cat </a:t>
            </a:r>
            <a:r>
              <a:rPr lang="en-US" sz="1400" dirty="0" err="1">
                <a:solidFill>
                  <a:srgbClr val="FC6E70"/>
                </a:solidFill>
                <a:latin typeface="Roboto Mono" pitchFamily="49" charset="0"/>
                <a:ea typeface="Roboto Mono" pitchFamily="49" charset="0"/>
              </a:rPr>
              <a:t>file.txt</a:t>
            </a:r>
            <a:endParaRPr lang="en-US" sz="1400" dirty="0">
              <a:solidFill>
                <a:srgbClr val="FC6E70"/>
              </a:solidFill>
              <a:latin typeface="Roboto Mono" pitchFamily="49" charset="0"/>
              <a:ea typeface="Roboto Mono" pitchFamily="49" charset="0"/>
            </a:endParaRPr>
          </a:p>
        </p:txBody>
      </p:sp>
      <p:sp>
        <p:nvSpPr>
          <p:cNvPr id="5" name="Text Placeholder 2">
            <a:extLst>
              <a:ext uri="{FF2B5EF4-FFF2-40B4-BE49-F238E27FC236}">
                <a16:creationId xmlns:a16="http://schemas.microsoft.com/office/drawing/2014/main" id="{44628198-AA6F-8890-D24C-0B7C3295FFAF}"/>
              </a:ext>
            </a:extLst>
          </p:cNvPr>
          <p:cNvSpPr txBox="1">
            <a:spLocks/>
          </p:cNvSpPr>
          <p:nvPr/>
        </p:nvSpPr>
        <p:spPr>
          <a:xfrm>
            <a:off x="648594" y="5010573"/>
            <a:ext cx="5813916" cy="639800"/>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1800" b="0" i="0" dirty="0">
                <a:solidFill>
                  <a:srgbClr val="161616"/>
                </a:solidFill>
                <a:effectLst/>
                <a:latin typeface="Quattrocento Sans" panose="020B0502050000020003" pitchFamily="34" charset="0"/>
              </a:rPr>
              <a:t>The preceding example has two jobs. </a:t>
            </a:r>
            <a:r>
              <a:rPr lang="en-US" b="0" i="0" dirty="0">
                <a:solidFill>
                  <a:srgbClr val="161616"/>
                </a:solidFill>
                <a:effectLst/>
                <a:highlight>
                  <a:srgbClr val="C0C0C0"/>
                </a:highlight>
                <a:latin typeface="Roboto Mono" pitchFamily="49" charset="0"/>
                <a:ea typeface="Roboto Mono" pitchFamily="49" charset="0"/>
              </a:rPr>
              <a:t>job_1</a:t>
            </a:r>
            <a:r>
              <a:rPr lang="en-US" sz="1800" b="0" i="0" dirty="0">
                <a:solidFill>
                  <a:srgbClr val="161616"/>
                </a:solidFill>
                <a:effectLst/>
                <a:latin typeface="Quattrocento Sans" panose="020B0502050000020003" pitchFamily="34" charset="0"/>
              </a:rPr>
              <a:t> writes some text into the file </a:t>
            </a:r>
            <a:r>
              <a:rPr lang="en-US" b="0" i="0" dirty="0" err="1">
                <a:solidFill>
                  <a:srgbClr val="161616"/>
                </a:solidFill>
                <a:effectLst/>
                <a:highlight>
                  <a:srgbClr val="C0C0C0"/>
                </a:highlight>
                <a:latin typeface="Roboto Mono" pitchFamily="49" charset="0"/>
                <a:ea typeface="Roboto Mono" pitchFamily="49" charset="0"/>
              </a:rPr>
              <a:t>file.txt</a:t>
            </a:r>
            <a:r>
              <a:rPr lang="en-US" sz="1800" b="0" i="0" dirty="0">
                <a:solidFill>
                  <a:srgbClr val="161616"/>
                </a:solidFill>
                <a:effectLst/>
                <a:latin typeface="Quattrocento Sans" panose="020B0502050000020003" pitchFamily="34" charset="0"/>
              </a:rPr>
              <a:t>. Then it uses the </a:t>
            </a:r>
            <a:r>
              <a:rPr lang="en-US" b="0" i="0" dirty="0">
                <a:solidFill>
                  <a:srgbClr val="161616"/>
                </a:solidFill>
                <a:effectLst/>
                <a:highlight>
                  <a:srgbClr val="C0C0C0"/>
                </a:highlight>
                <a:latin typeface="Roboto Mono" pitchFamily="49" charset="0"/>
                <a:ea typeface="Roboto Mono" pitchFamily="49" charset="0"/>
              </a:rPr>
              <a:t>actions/upload-artifact@v2</a:t>
            </a:r>
            <a:r>
              <a:rPr lang="en-US" b="0" i="0" dirty="0">
                <a:solidFill>
                  <a:srgbClr val="161616"/>
                </a:solidFill>
                <a:effectLst/>
                <a:latin typeface="Roboto Mono" pitchFamily="49" charset="0"/>
                <a:ea typeface="Roboto Mono" pitchFamily="49" charset="0"/>
              </a:rPr>
              <a:t> </a:t>
            </a:r>
            <a:r>
              <a:rPr lang="en-US" sz="1800" b="0" i="0" dirty="0">
                <a:solidFill>
                  <a:srgbClr val="161616"/>
                </a:solidFill>
                <a:effectLst/>
                <a:latin typeface="Quattrocento Sans" panose="020B0502050000020003" pitchFamily="34" charset="0"/>
              </a:rPr>
              <a:t>action to upload this artifact and store the data for future use within the workflow. </a:t>
            </a:r>
            <a:r>
              <a:rPr lang="en-US" b="0" i="0" dirty="0">
                <a:solidFill>
                  <a:srgbClr val="161616"/>
                </a:solidFill>
                <a:effectLst/>
                <a:highlight>
                  <a:srgbClr val="C0C0C0"/>
                </a:highlight>
                <a:latin typeface="Roboto Mono" pitchFamily="49" charset="0"/>
                <a:ea typeface="Roboto Mono" pitchFamily="49" charset="0"/>
              </a:rPr>
              <a:t>job_2</a:t>
            </a:r>
            <a:r>
              <a:rPr lang="en-US" sz="1800" b="0" i="0" dirty="0">
                <a:solidFill>
                  <a:srgbClr val="161616"/>
                </a:solidFill>
                <a:effectLst/>
                <a:latin typeface="Quattrocento Sans" panose="020B0502050000020003" pitchFamily="34" charset="0"/>
              </a:rPr>
              <a:t> requires </a:t>
            </a:r>
            <a:r>
              <a:rPr lang="en-US" b="0" i="0" dirty="0">
                <a:solidFill>
                  <a:srgbClr val="161616"/>
                </a:solidFill>
                <a:effectLst/>
                <a:highlight>
                  <a:srgbClr val="C0C0C0"/>
                </a:highlight>
                <a:latin typeface="Roboto Mono" pitchFamily="49" charset="0"/>
                <a:ea typeface="Roboto Mono" pitchFamily="49" charset="0"/>
              </a:rPr>
              <a:t>job_1</a:t>
            </a:r>
            <a:r>
              <a:rPr lang="en-US" sz="1800" b="0" i="0" dirty="0">
                <a:solidFill>
                  <a:srgbClr val="161616"/>
                </a:solidFill>
                <a:effectLst/>
                <a:latin typeface="Quattrocento Sans" panose="020B0502050000020003" pitchFamily="34" charset="0"/>
              </a:rPr>
              <a:t> to complete by using the </a:t>
            </a:r>
            <a:r>
              <a:rPr lang="en-US" b="0" i="0" dirty="0">
                <a:solidFill>
                  <a:srgbClr val="161616"/>
                </a:solidFill>
                <a:effectLst/>
                <a:highlight>
                  <a:srgbClr val="C0C0C0"/>
                </a:highlight>
                <a:latin typeface="Roboto Mono" pitchFamily="49" charset="0"/>
                <a:ea typeface="Roboto Mono" pitchFamily="49" charset="0"/>
              </a:rPr>
              <a:t>needs: job_1</a:t>
            </a:r>
            <a:r>
              <a:rPr lang="en-US" b="0" i="0" dirty="0">
                <a:solidFill>
                  <a:srgbClr val="161616"/>
                </a:solidFill>
                <a:effectLst/>
                <a:latin typeface="Roboto Mono" pitchFamily="49" charset="0"/>
                <a:ea typeface="Roboto Mono" pitchFamily="49" charset="0"/>
              </a:rPr>
              <a:t> </a:t>
            </a:r>
            <a:r>
              <a:rPr lang="en-US" sz="1800" b="0" i="0" dirty="0">
                <a:solidFill>
                  <a:srgbClr val="161616"/>
                </a:solidFill>
                <a:effectLst/>
                <a:latin typeface="Quattrocento Sans" panose="020B0502050000020003" pitchFamily="34" charset="0"/>
              </a:rPr>
              <a:t>syntax. It then uses the </a:t>
            </a:r>
            <a:r>
              <a:rPr lang="en-US" b="0" i="0" dirty="0">
                <a:solidFill>
                  <a:srgbClr val="161616"/>
                </a:solidFill>
                <a:effectLst/>
                <a:highlight>
                  <a:srgbClr val="C0C0C0"/>
                </a:highlight>
                <a:latin typeface="Roboto Mono" pitchFamily="49" charset="0"/>
                <a:ea typeface="Roboto Mono" pitchFamily="49" charset="0"/>
              </a:rPr>
              <a:t>actions/download-artifact@v2</a:t>
            </a:r>
            <a:r>
              <a:rPr lang="en-US" sz="1800" b="0" i="0" dirty="0">
                <a:solidFill>
                  <a:srgbClr val="161616"/>
                </a:solidFill>
                <a:effectLst/>
                <a:latin typeface="Quattrocento Sans" panose="020B0502050000020003" pitchFamily="34" charset="0"/>
              </a:rPr>
              <a:t> action to download that artifact, and then print the contents of </a:t>
            </a:r>
            <a:r>
              <a:rPr lang="en-US" b="0" i="0" dirty="0" err="1">
                <a:solidFill>
                  <a:srgbClr val="161616"/>
                </a:solidFill>
                <a:effectLst/>
                <a:highlight>
                  <a:srgbClr val="C0C0C0"/>
                </a:highlight>
                <a:latin typeface="Roboto Mono" pitchFamily="49" charset="0"/>
                <a:ea typeface="Roboto Mono" pitchFamily="49" charset="0"/>
              </a:rPr>
              <a:t>file.txt</a:t>
            </a:r>
            <a:r>
              <a:rPr lang="en-US" sz="1800" b="0" i="0" dirty="0">
                <a:solidFill>
                  <a:srgbClr val="161616"/>
                </a:solidFill>
                <a:effectLst/>
                <a:latin typeface="Quattrocento Sans" panose="020B0502050000020003" pitchFamily="34" charset="0"/>
              </a:rPr>
              <a:t>.</a:t>
            </a:r>
          </a:p>
          <a:p>
            <a:pPr marL="0" indent="0" algn="just">
              <a:spcAft>
                <a:spcPts val="1200"/>
              </a:spcAft>
              <a:buNone/>
            </a:pPr>
            <a:endParaRPr lang="en-US" sz="2000" b="0" i="0" dirty="0">
              <a:solidFill>
                <a:srgbClr val="161616"/>
              </a:solidFill>
              <a:effectLst/>
              <a:latin typeface="Quattrocento Sans" panose="020B0502050000020003" pitchFamily="34" charset="0"/>
            </a:endParaRPr>
          </a:p>
          <a:p>
            <a:pPr marL="0" indent="0" algn="just">
              <a:spcAft>
                <a:spcPts val="1200"/>
              </a:spcAft>
              <a:buNone/>
            </a:pPr>
            <a:endParaRPr lang="en-US" sz="2000" b="0" i="0" dirty="0">
              <a:solidFill>
                <a:srgbClr val="161616"/>
              </a:solidFill>
              <a:effectLst/>
              <a:latin typeface="Quattrocento Sans" panose="020B0502050000020003" pitchFamily="34" charset="0"/>
            </a:endParaRPr>
          </a:p>
        </p:txBody>
      </p:sp>
    </p:spTree>
    <p:extLst>
      <p:ext uri="{BB962C8B-B14F-4D97-AF65-F5344CB8AC3E}">
        <p14:creationId xmlns:p14="http://schemas.microsoft.com/office/powerpoint/2010/main" val="58221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Enable step debug logging in a workflow</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98134" y="1638120"/>
            <a:ext cx="10637524"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In some cases, the default workflow logs don’t provide enough detail to diagnose why a specific workflow run, job, or step fails. For these situations, you can enable additional debug logging for two options: runs and steps. Enable this diagnostic logging by setting two repository secrets that require </a:t>
            </a:r>
            <a:r>
              <a:rPr lang="en-US" sz="1800" b="0" i="0" dirty="0">
                <a:solidFill>
                  <a:srgbClr val="161616"/>
                </a:solidFill>
                <a:effectLst/>
                <a:highlight>
                  <a:srgbClr val="C0C0C0"/>
                </a:highlight>
                <a:latin typeface="Roboto Mono" pitchFamily="49" charset="0"/>
                <a:ea typeface="Roboto Mono" pitchFamily="49" charset="0"/>
              </a:rPr>
              <a:t>admin</a:t>
            </a:r>
            <a:r>
              <a:rPr lang="en-US" sz="2000" b="0" i="0" dirty="0">
                <a:solidFill>
                  <a:srgbClr val="161616"/>
                </a:solidFill>
                <a:effectLst/>
                <a:latin typeface="Quattrocento Sans" panose="020B0502050000020003" pitchFamily="34" charset="0"/>
              </a:rPr>
              <a:t> access to the repository to </a:t>
            </a:r>
            <a:r>
              <a:rPr lang="en-US" sz="1800" b="0" i="0" dirty="0">
                <a:solidFill>
                  <a:srgbClr val="161616"/>
                </a:solidFill>
                <a:effectLst/>
                <a:highlight>
                  <a:srgbClr val="C0C0C0"/>
                </a:highlight>
                <a:latin typeface="Roboto Mono" pitchFamily="49" charset="0"/>
                <a:ea typeface="Roboto Mono" pitchFamily="49" charset="0"/>
              </a:rPr>
              <a:t>true</a:t>
            </a:r>
            <a:r>
              <a:rPr lang="en-US" sz="2000" b="0" i="0" dirty="0">
                <a:solidFill>
                  <a:srgbClr val="161616"/>
                </a:solidFill>
                <a:effectLst/>
                <a:latin typeface="Quattrocento Sans" panose="020B0502050000020003" pitchFamily="34" charset="0"/>
              </a:rPr>
              <a:t>:</a:t>
            </a:r>
          </a:p>
          <a:p>
            <a:pPr algn="just">
              <a:spcAft>
                <a:spcPts val="1200"/>
              </a:spcAft>
            </a:pPr>
            <a:r>
              <a:rPr lang="en-US" sz="2000" b="0" i="0" dirty="0">
                <a:solidFill>
                  <a:srgbClr val="161616"/>
                </a:solidFill>
                <a:effectLst/>
                <a:latin typeface="Quattrocento Sans" panose="020B0502050000020003" pitchFamily="34" charset="0"/>
              </a:rPr>
              <a:t>To enable runner diagnostic logging, set the </a:t>
            </a:r>
            <a:r>
              <a:rPr lang="en-US" sz="1800" b="0" i="0" dirty="0">
                <a:solidFill>
                  <a:srgbClr val="161616"/>
                </a:solidFill>
                <a:effectLst/>
                <a:highlight>
                  <a:srgbClr val="C0C0C0"/>
                </a:highlight>
                <a:latin typeface="Roboto Mono" pitchFamily="49" charset="0"/>
                <a:ea typeface="Roboto Mono" pitchFamily="49" charset="0"/>
              </a:rPr>
              <a:t>ACTIONS_RUNNER_DEBUG</a:t>
            </a:r>
            <a:r>
              <a:rPr lang="en-US" sz="2000" b="0" i="0" dirty="0">
                <a:solidFill>
                  <a:srgbClr val="161616"/>
                </a:solidFill>
                <a:effectLst/>
                <a:latin typeface="Quattrocento Sans" panose="020B0502050000020003" pitchFamily="34" charset="0"/>
              </a:rPr>
              <a:t> secret in the repository that contains the workflow to </a:t>
            </a:r>
            <a:r>
              <a:rPr lang="en-US" sz="1800" b="0" i="0" dirty="0">
                <a:solidFill>
                  <a:srgbClr val="161616"/>
                </a:solidFill>
                <a:effectLst/>
                <a:highlight>
                  <a:srgbClr val="C0C0C0"/>
                </a:highlight>
                <a:latin typeface="Roboto Mono" pitchFamily="49" charset="0"/>
                <a:ea typeface="Roboto Mono" pitchFamily="49" charset="0"/>
              </a:rPr>
              <a:t>true</a:t>
            </a:r>
            <a:r>
              <a:rPr lang="en-US" sz="2000" b="0" i="0" dirty="0">
                <a:solidFill>
                  <a:srgbClr val="161616"/>
                </a:solidFill>
                <a:effectLst/>
                <a:latin typeface="Quattrocento Sans" panose="020B0502050000020003" pitchFamily="34" charset="0"/>
              </a:rPr>
              <a:t>.</a:t>
            </a:r>
          </a:p>
          <a:p>
            <a:pPr algn="just">
              <a:spcAft>
                <a:spcPts val="1200"/>
              </a:spcAft>
            </a:pPr>
            <a:r>
              <a:rPr lang="en-US" sz="2000" b="0" i="0" dirty="0">
                <a:solidFill>
                  <a:srgbClr val="161616"/>
                </a:solidFill>
                <a:effectLst/>
                <a:latin typeface="Quattrocento Sans" panose="020B0502050000020003" pitchFamily="34" charset="0"/>
              </a:rPr>
              <a:t>To enable step diagnostic logging, set the </a:t>
            </a:r>
            <a:r>
              <a:rPr lang="en-US" sz="1800" b="0" i="0" dirty="0">
                <a:solidFill>
                  <a:srgbClr val="161616"/>
                </a:solidFill>
                <a:effectLst/>
                <a:highlight>
                  <a:srgbClr val="C0C0C0"/>
                </a:highlight>
                <a:latin typeface="Roboto Mono" pitchFamily="49" charset="0"/>
                <a:ea typeface="Roboto Mono" pitchFamily="49" charset="0"/>
              </a:rPr>
              <a:t>ACTIONS_STEP_DEBUG</a:t>
            </a:r>
            <a:r>
              <a:rPr lang="en-US" sz="2000" b="0" i="0" dirty="0">
                <a:solidFill>
                  <a:srgbClr val="161616"/>
                </a:solidFill>
                <a:effectLst/>
                <a:latin typeface="Quattrocento Sans" panose="020B0502050000020003" pitchFamily="34" charset="0"/>
              </a:rPr>
              <a:t> secret in the repository that contains the workflow to </a:t>
            </a:r>
            <a:r>
              <a:rPr lang="en-US" sz="1800" b="0" i="0" dirty="0">
                <a:solidFill>
                  <a:srgbClr val="161616"/>
                </a:solidFill>
                <a:effectLst/>
                <a:highlight>
                  <a:srgbClr val="C0C0C0"/>
                </a:highlight>
                <a:latin typeface="Roboto Mono" pitchFamily="49" charset="0"/>
                <a:ea typeface="Roboto Mono" pitchFamily="49" charset="0"/>
              </a:rPr>
              <a:t>true</a:t>
            </a:r>
            <a:r>
              <a:rPr lang="en-US" sz="2000" b="0" i="0" dirty="0">
                <a:solidFill>
                  <a:srgbClr val="161616"/>
                </a:solidFill>
                <a:effectLst/>
                <a:latin typeface="Quattrocento Sans" panose="020B0502050000020003" pitchFamily="34" charset="0"/>
              </a:rPr>
              <a:t>.</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123764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Access the workflow logs from the user interface</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33226" y="2564142"/>
            <a:ext cx="10637524"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When you think about successful automation, you aim to spend the least amount of time looking at what's automated so you can focus your attention on what's relevant. However, sometimes things don't go as planned, and you need to review what happened. That debugging process can be frustrating. GitHub provides a clear layout structure that enables a quick way to navigate between the jobs, while keeping the context of the currently debugging step. To view the logs of a workflow run in GitHub, you can follow these steps:</a:t>
            </a:r>
          </a:p>
          <a:p>
            <a:pPr marL="457200" indent="-457200" algn="just">
              <a:spcAft>
                <a:spcPts val="600"/>
              </a:spcAft>
              <a:buFont typeface="+mj-lt"/>
              <a:buAutoNum type="arabicPeriod"/>
            </a:pPr>
            <a:r>
              <a:rPr lang="en-US" sz="2000" b="0" i="0" dirty="0">
                <a:solidFill>
                  <a:srgbClr val="161616"/>
                </a:solidFill>
                <a:effectLst/>
                <a:latin typeface="Quattrocento Sans" panose="020B0502050000020003" pitchFamily="34" charset="0"/>
              </a:rPr>
              <a:t>Navigate to the </a:t>
            </a:r>
            <a:r>
              <a:rPr lang="en-US" sz="2000" b="1" i="0" dirty="0">
                <a:solidFill>
                  <a:srgbClr val="161616"/>
                </a:solidFill>
                <a:effectLst/>
                <a:latin typeface="Quattrocento Sans" panose="020B0502050000020003" pitchFamily="34" charset="0"/>
              </a:rPr>
              <a:t>Actions</a:t>
            </a:r>
            <a:r>
              <a:rPr lang="en-US" sz="2000" b="0" i="0" dirty="0">
                <a:solidFill>
                  <a:srgbClr val="161616"/>
                </a:solidFill>
                <a:effectLst/>
                <a:latin typeface="Quattrocento Sans" panose="020B0502050000020003" pitchFamily="34" charset="0"/>
              </a:rPr>
              <a:t> tab in your repository.</a:t>
            </a:r>
          </a:p>
          <a:p>
            <a:pPr marL="457200" indent="-457200" algn="just">
              <a:spcAft>
                <a:spcPts val="600"/>
              </a:spcAft>
              <a:buFont typeface="+mj-lt"/>
              <a:buAutoNum type="arabicPeriod"/>
            </a:pPr>
            <a:r>
              <a:rPr lang="en-US" sz="2000" b="0" i="0" dirty="0">
                <a:solidFill>
                  <a:srgbClr val="161616"/>
                </a:solidFill>
                <a:effectLst/>
                <a:latin typeface="Quattrocento Sans" panose="020B0502050000020003" pitchFamily="34" charset="0"/>
              </a:rPr>
              <a:t>In the left sidebar, click the desired workflow.</a:t>
            </a:r>
          </a:p>
          <a:p>
            <a:pPr marL="457200" indent="-457200" algn="just">
              <a:spcAft>
                <a:spcPts val="600"/>
              </a:spcAft>
              <a:buFont typeface="+mj-lt"/>
              <a:buAutoNum type="arabicPeriod"/>
            </a:pPr>
            <a:r>
              <a:rPr lang="en-US" sz="2000" b="0" i="0" dirty="0">
                <a:solidFill>
                  <a:srgbClr val="161616"/>
                </a:solidFill>
                <a:effectLst/>
                <a:latin typeface="Quattrocento Sans" panose="020B0502050000020003" pitchFamily="34" charset="0"/>
              </a:rPr>
              <a:t>From the list of workflow runs, select the desired run.</a:t>
            </a:r>
          </a:p>
          <a:p>
            <a:pPr marL="457200" indent="-457200" algn="just">
              <a:spcAft>
                <a:spcPts val="600"/>
              </a:spcAft>
              <a:buFont typeface="+mj-lt"/>
              <a:buAutoNum type="arabicPeriod"/>
            </a:pPr>
            <a:r>
              <a:rPr lang="en-US" sz="2000" b="0" i="0" dirty="0">
                <a:solidFill>
                  <a:srgbClr val="161616"/>
                </a:solidFill>
                <a:effectLst/>
                <a:latin typeface="Quattrocento Sans" panose="020B0502050000020003" pitchFamily="34" charset="0"/>
              </a:rPr>
              <a:t>Under </a:t>
            </a:r>
            <a:r>
              <a:rPr lang="en-US" sz="2000" b="1" i="0" dirty="0">
                <a:solidFill>
                  <a:srgbClr val="161616"/>
                </a:solidFill>
                <a:effectLst/>
                <a:latin typeface="Quattrocento Sans" panose="020B0502050000020003" pitchFamily="34" charset="0"/>
              </a:rPr>
              <a:t>Jobs</a:t>
            </a:r>
            <a:r>
              <a:rPr lang="en-US" sz="2000" b="0" i="0" dirty="0">
                <a:solidFill>
                  <a:srgbClr val="161616"/>
                </a:solidFill>
                <a:effectLst/>
                <a:latin typeface="Quattrocento Sans" panose="020B0502050000020003" pitchFamily="34" charset="0"/>
              </a:rPr>
              <a:t>, select the desired job.</a:t>
            </a:r>
          </a:p>
          <a:p>
            <a:pPr marL="457200" indent="-457200" algn="just">
              <a:spcAft>
                <a:spcPts val="600"/>
              </a:spcAft>
              <a:buFont typeface="+mj-lt"/>
              <a:buAutoNum type="arabicPeriod"/>
            </a:pPr>
            <a:r>
              <a:rPr lang="en-US" sz="2000" b="0" i="0" dirty="0">
                <a:solidFill>
                  <a:srgbClr val="161616"/>
                </a:solidFill>
                <a:effectLst/>
                <a:latin typeface="Quattrocento Sans" panose="020B0502050000020003" pitchFamily="34" charset="0"/>
              </a:rPr>
              <a:t>Read the log output.</a:t>
            </a:r>
          </a:p>
          <a:p>
            <a:pPr marL="0" indent="0" algn="just">
              <a:spcAft>
                <a:spcPts val="1200"/>
              </a:spcAft>
              <a:buNone/>
            </a:pPr>
            <a:r>
              <a:rPr lang="en-US" sz="2000" b="0" i="0" dirty="0">
                <a:solidFill>
                  <a:srgbClr val="161616"/>
                </a:solidFill>
                <a:effectLst/>
                <a:latin typeface="Quattrocento Sans" panose="020B0502050000020003" pitchFamily="34" charset="0"/>
              </a:rPr>
              <a:t>If you have several runs within a workflow, you can also select the </a:t>
            </a:r>
            <a:r>
              <a:rPr lang="en-US" sz="2000" b="1" i="0" dirty="0">
                <a:solidFill>
                  <a:srgbClr val="161616"/>
                </a:solidFill>
                <a:effectLst/>
                <a:latin typeface="Quattrocento Sans" panose="020B0502050000020003" pitchFamily="34" charset="0"/>
              </a:rPr>
              <a:t>Status</a:t>
            </a:r>
            <a:r>
              <a:rPr lang="en-US" sz="2000" b="0" i="0" dirty="0">
                <a:solidFill>
                  <a:srgbClr val="161616"/>
                </a:solidFill>
                <a:effectLst/>
                <a:latin typeface="Quattrocento Sans" panose="020B0502050000020003" pitchFamily="34" charset="0"/>
              </a:rPr>
              <a:t> filter after choosing your workflow and set it to </a:t>
            </a:r>
            <a:r>
              <a:rPr lang="en-US" sz="2000" b="1" i="0" dirty="0">
                <a:solidFill>
                  <a:srgbClr val="161616"/>
                </a:solidFill>
                <a:effectLst/>
                <a:latin typeface="Quattrocento Sans" panose="020B0502050000020003" pitchFamily="34" charset="0"/>
              </a:rPr>
              <a:t>Failure</a:t>
            </a:r>
            <a:r>
              <a:rPr lang="en-US" sz="2000" b="0" i="0" dirty="0">
                <a:solidFill>
                  <a:srgbClr val="161616"/>
                </a:solidFill>
                <a:effectLst/>
                <a:latin typeface="Quattrocento Sans" panose="020B0502050000020003" pitchFamily="34" charset="0"/>
              </a:rPr>
              <a:t> to only display the failed runs within that workflow.</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08281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Access the workflow logs from the REST API</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27929" y="1175079"/>
            <a:ext cx="10817904"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In addition to viewing logs using GitHub, you can also use GitHub's REST API to view logs for workflow runs, re-run workflows, or even cancel workflow runs. To view a workflow run's log using the API, you need to send a </a:t>
            </a:r>
            <a:r>
              <a:rPr lang="en-US" sz="1800" b="0" i="0" dirty="0">
                <a:solidFill>
                  <a:srgbClr val="161616"/>
                </a:solidFill>
                <a:effectLst/>
                <a:highlight>
                  <a:srgbClr val="C0C0C0"/>
                </a:highlight>
                <a:latin typeface="Roboto Mono" pitchFamily="49" charset="0"/>
                <a:ea typeface="Roboto Mono" pitchFamily="49" charset="0"/>
              </a:rPr>
              <a:t>GET</a:t>
            </a:r>
            <a:r>
              <a:rPr lang="en-US" sz="2000" b="0" i="0" dirty="0">
                <a:solidFill>
                  <a:srgbClr val="161616"/>
                </a:solidFill>
                <a:effectLst/>
                <a:latin typeface="Quattrocento Sans" panose="020B0502050000020003" pitchFamily="34" charset="0"/>
              </a:rPr>
              <a:t> request to the logs endpoint. Keep in mind that anyone with read access to the repository can use this endpoint. If the repository is private, you must use an access token with the </a:t>
            </a:r>
            <a:r>
              <a:rPr lang="en-US" sz="1800" b="0" i="0" dirty="0">
                <a:solidFill>
                  <a:srgbClr val="161616"/>
                </a:solidFill>
                <a:effectLst/>
                <a:highlight>
                  <a:srgbClr val="C0C0C0"/>
                </a:highlight>
                <a:latin typeface="Roboto Mono" pitchFamily="49" charset="0"/>
                <a:ea typeface="Roboto Mono" pitchFamily="49" charset="0"/>
              </a:rPr>
              <a:t>repo</a:t>
            </a:r>
            <a:r>
              <a:rPr lang="en-US" sz="2000" b="0" i="0" dirty="0">
                <a:solidFill>
                  <a:srgbClr val="161616"/>
                </a:solidFill>
                <a:effectLst/>
                <a:latin typeface="Quattrocento Sans" panose="020B0502050000020003" pitchFamily="34" charset="0"/>
              </a:rPr>
              <a:t> scope.</a:t>
            </a:r>
          </a:p>
          <a:p>
            <a:pPr marL="0" indent="0" algn="just">
              <a:spcAft>
                <a:spcPts val="1200"/>
              </a:spcAft>
              <a:buNone/>
            </a:pPr>
            <a:r>
              <a:rPr lang="en-US" sz="2000" b="0" i="0" dirty="0">
                <a:solidFill>
                  <a:srgbClr val="161616"/>
                </a:solidFill>
                <a:effectLst/>
                <a:latin typeface="Quattrocento Sans" panose="020B0502050000020003" pitchFamily="34" charset="0"/>
              </a:rPr>
              <a:t>For example, a </a:t>
            </a:r>
            <a:r>
              <a:rPr lang="en-US" sz="1800" b="0" i="0" dirty="0">
                <a:solidFill>
                  <a:srgbClr val="161616"/>
                </a:solidFill>
                <a:effectLst/>
                <a:highlight>
                  <a:srgbClr val="C0C0C0"/>
                </a:highlight>
                <a:latin typeface="Roboto Mono" pitchFamily="49" charset="0"/>
                <a:ea typeface="Roboto Mono" pitchFamily="49" charset="0"/>
              </a:rPr>
              <a:t>GET</a:t>
            </a:r>
            <a:r>
              <a:rPr lang="en-US" sz="2000" b="0" i="0" dirty="0">
                <a:solidFill>
                  <a:srgbClr val="161616"/>
                </a:solidFill>
                <a:effectLst/>
                <a:latin typeface="Quattrocento Sans" panose="020B0502050000020003" pitchFamily="34" charset="0"/>
              </a:rPr>
              <a:t> request to view a specific workflow run log would follow this path:</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D6BDDC7C-9BC6-10E8-030C-F7B3101429C9}"/>
              </a:ext>
            </a:extLst>
          </p:cNvPr>
          <p:cNvSpPr/>
          <p:nvPr/>
        </p:nvSpPr>
        <p:spPr>
          <a:xfrm>
            <a:off x="627929" y="3096706"/>
            <a:ext cx="6313198" cy="59627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9A9B15CA-9D6E-D88E-F6AA-B54DD012AE7F}"/>
              </a:ext>
            </a:extLst>
          </p:cNvPr>
          <p:cNvSpPr txBox="1">
            <a:spLocks/>
          </p:cNvSpPr>
          <p:nvPr/>
        </p:nvSpPr>
        <p:spPr>
          <a:xfrm>
            <a:off x="832213" y="3227870"/>
            <a:ext cx="8658737" cy="36045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GET /repos/{owner}/{repo}/actions/runs/{</a:t>
            </a:r>
            <a:r>
              <a:rPr lang="en-US" sz="1400" dirty="0" err="1">
                <a:solidFill>
                  <a:schemeClr val="tx2">
                    <a:lumMod val="50000"/>
                    <a:lumOff val="50000"/>
                  </a:schemeClr>
                </a:solidFill>
                <a:latin typeface="Roboto Mono" pitchFamily="49" charset="0"/>
                <a:ea typeface="Roboto Mono" pitchFamily="49" charset="0"/>
              </a:rPr>
              <a:t>run_id</a:t>
            </a:r>
            <a:r>
              <a:rPr lang="en-US" sz="1400" dirty="0">
                <a:solidFill>
                  <a:schemeClr val="tx2">
                    <a:lumMod val="50000"/>
                    <a:lumOff val="50000"/>
                  </a:schemeClr>
                </a:solidFill>
                <a:latin typeface="Roboto Mono" pitchFamily="49" charset="0"/>
                <a:ea typeface="Roboto Mono" pitchFamily="49" charset="0"/>
              </a:rPr>
              <a:t>}/logs</a:t>
            </a:r>
          </a:p>
        </p:txBody>
      </p:sp>
    </p:spTree>
    <p:extLst>
      <p:ext uri="{BB962C8B-B14F-4D97-AF65-F5344CB8AC3E}">
        <p14:creationId xmlns:p14="http://schemas.microsoft.com/office/powerpoint/2010/main" val="110095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10135428" cy="492443"/>
          </a:xfrm>
        </p:spPr>
        <p:txBody>
          <a:bodyPr>
            <a:normAutofit fontScale="90000"/>
          </a:bodyPr>
          <a:lstStyle/>
          <a:p>
            <a:r>
              <a:rPr lang="en-US" sz="3200" dirty="0">
                <a:latin typeface="Quattrocento Sans" panose="020B0502050000020003" pitchFamily="34" charset="0"/>
              </a:rPr>
              <a:t>Identify when to use an installation token from a GitHub App</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7048" y="1109498"/>
            <a:ext cx="10817904" cy="1606771"/>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Once your GitHub App is installed on an account, you can authenticate it as an app installation using the 'installation access token' for REST and </a:t>
            </a:r>
            <a:r>
              <a:rPr lang="en-US" sz="2000" b="0" i="0" dirty="0" err="1">
                <a:solidFill>
                  <a:srgbClr val="161616"/>
                </a:solidFill>
                <a:effectLst/>
                <a:latin typeface="Quattrocento Sans" panose="020B0502050000020003" pitchFamily="34" charset="0"/>
              </a:rPr>
              <a:t>GraphQL</a:t>
            </a:r>
            <a:r>
              <a:rPr lang="en-US" sz="2000" b="0" i="0" dirty="0">
                <a:solidFill>
                  <a:srgbClr val="161616"/>
                </a:solidFill>
                <a:effectLst/>
                <a:latin typeface="Quattrocento Sans" panose="020B0502050000020003" pitchFamily="34" charset="0"/>
              </a:rPr>
              <a:t> API requests. This allows the app to access resources owned by the installation, assuming the app was granted the necessary repository access and permissions. REST or </a:t>
            </a:r>
            <a:r>
              <a:rPr lang="en-US" sz="2000" b="0" i="0" dirty="0" err="1">
                <a:solidFill>
                  <a:srgbClr val="161616"/>
                </a:solidFill>
                <a:effectLst/>
                <a:latin typeface="Quattrocento Sans" panose="020B0502050000020003" pitchFamily="34" charset="0"/>
              </a:rPr>
              <a:t>GraphQL</a:t>
            </a:r>
            <a:r>
              <a:rPr lang="en-US" sz="2000" b="0" i="0" dirty="0">
                <a:solidFill>
                  <a:srgbClr val="161616"/>
                </a:solidFill>
                <a:effectLst/>
                <a:latin typeface="Quattrocento Sans" panose="020B0502050000020003" pitchFamily="34" charset="0"/>
              </a:rPr>
              <a:t> API requests made by an app installation are attributed to the app. In the following example, you replace </a:t>
            </a:r>
            <a:r>
              <a:rPr lang="en-US" sz="1800" b="0" i="0" dirty="0">
                <a:solidFill>
                  <a:srgbClr val="161616"/>
                </a:solidFill>
                <a:effectLst/>
                <a:highlight>
                  <a:srgbClr val="C0C0C0"/>
                </a:highlight>
                <a:latin typeface="Roboto Mono" pitchFamily="49" charset="0"/>
                <a:ea typeface="Roboto Mono" pitchFamily="49" charset="0"/>
              </a:rPr>
              <a:t>INSTALLATION_ACCESS_TOKEN</a:t>
            </a:r>
            <a:r>
              <a:rPr lang="en-US" sz="2000" b="0" i="0" dirty="0">
                <a:solidFill>
                  <a:srgbClr val="161616"/>
                </a:solidFill>
                <a:effectLst/>
                <a:latin typeface="Quattrocento Sans" panose="020B0502050000020003" pitchFamily="34" charset="0"/>
              </a:rPr>
              <a:t> with the installation access token: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D6BDDC7C-9BC6-10E8-030C-F7B3101429C9}"/>
              </a:ext>
            </a:extLst>
          </p:cNvPr>
          <p:cNvSpPr/>
          <p:nvPr/>
        </p:nvSpPr>
        <p:spPr>
          <a:xfrm>
            <a:off x="687048" y="2999988"/>
            <a:ext cx="6936653" cy="128133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9A9B15CA-9D6E-D88E-F6AA-B54DD012AE7F}"/>
              </a:ext>
            </a:extLst>
          </p:cNvPr>
          <p:cNvSpPr txBox="1">
            <a:spLocks/>
          </p:cNvSpPr>
          <p:nvPr/>
        </p:nvSpPr>
        <p:spPr>
          <a:xfrm>
            <a:off x="891333" y="3131152"/>
            <a:ext cx="8658737" cy="102547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curl --request GET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a:t>
            </a:r>
            <a:r>
              <a:rPr lang="en-US" sz="1400" dirty="0" err="1">
                <a:solidFill>
                  <a:schemeClr val="tx2">
                    <a:lumMod val="50000"/>
                    <a:lumOff val="50000"/>
                  </a:schemeClr>
                </a:solidFill>
                <a:latin typeface="Roboto Mono" pitchFamily="49" charset="0"/>
                <a:ea typeface="Roboto Mono" pitchFamily="49" charset="0"/>
              </a:rPr>
              <a:t>url</a:t>
            </a:r>
            <a:r>
              <a:rPr lang="en-US" sz="1400" dirty="0">
                <a:solidFill>
                  <a:schemeClr val="tx2">
                    <a:lumMod val="50000"/>
                    <a:lumOff val="50000"/>
                  </a:schemeClr>
                </a:solidFill>
                <a:latin typeface="Roboto Mono" pitchFamily="49" charset="0"/>
                <a:ea typeface="Roboto Mono" pitchFamily="49" charset="0"/>
              </a:rPr>
              <a:t> "https://</a:t>
            </a:r>
            <a:r>
              <a:rPr lang="en-US" sz="1400" dirty="0" err="1">
                <a:solidFill>
                  <a:schemeClr val="tx2">
                    <a:lumMod val="50000"/>
                    <a:lumOff val="50000"/>
                  </a:schemeClr>
                </a:solidFill>
                <a:latin typeface="Roboto Mono" pitchFamily="49" charset="0"/>
                <a:ea typeface="Roboto Mono" pitchFamily="49" charset="0"/>
              </a:rPr>
              <a:t>api.github.com</a:t>
            </a:r>
            <a:r>
              <a:rPr lang="en-US" sz="1400" dirty="0">
                <a:solidFill>
                  <a:schemeClr val="tx2">
                    <a:lumMod val="50000"/>
                    <a:lumOff val="50000"/>
                  </a:schemeClr>
                </a:solidFill>
                <a:latin typeface="Roboto Mono" pitchFamily="49" charset="0"/>
                <a:ea typeface="Roboto Mono" pitchFamily="49" charset="0"/>
              </a:rPr>
              <a:t>/meta"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--header "Accept: application/</a:t>
            </a:r>
            <a:r>
              <a:rPr lang="en-US" sz="1400" dirty="0" err="1">
                <a:solidFill>
                  <a:schemeClr val="tx2">
                    <a:lumMod val="50000"/>
                    <a:lumOff val="50000"/>
                  </a:schemeClr>
                </a:solidFill>
                <a:latin typeface="Roboto Mono" pitchFamily="49" charset="0"/>
                <a:ea typeface="Roboto Mono" pitchFamily="49" charset="0"/>
              </a:rPr>
              <a:t>vnd.github+json</a:t>
            </a:r>
            <a:r>
              <a:rPr lang="en-US" sz="1400" dirty="0">
                <a:solidFill>
                  <a:schemeClr val="tx2">
                    <a:lumMod val="50000"/>
                    <a:lumOff val="50000"/>
                  </a:schemeClr>
                </a:solidFill>
                <a:latin typeface="Roboto Mono" pitchFamily="49" charset="0"/>
                <a:ea typeface="Roboto Mono" pitchFamily="49" charset="0"/>
              </a:rPr>
              <a:t>"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--header "Authorization: Bearer INSTALLATION_ACCESS_TOKEN" \</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--header "X-GitHub-</a:t>
            </a:r>
            <a:r>
              <a:rPr lang="en-US" sz="1400" dirty="0" err="1">
                <a:solidFill>
                  <a:schemeClr val="tx2">
                    <a:lumMod val="50000"/>
                    <a:lumOff val="50000"/>
                  </a:schemeClr>
                </a:solidFill>
                <a:latin typeface="Roboto Mono" pitchFamily="49" charset="0"/>
                <a:ea typeface="Roboto Mono" pitchFamily="49" charset="0"/>
              </a:rPr>
              <a:t>Api</a:t>
            </a:r>
            <a:r>
              <a:rPr lang="en-US" sz="1400" dirty="0">
                <a:solidFill>
                  <a:schemeClr val="tx2">
                    <a:lumMod val="50000"/>
                    <a:lumOff val="50000"/>
                  </a:schemeClr>
                </a:solidFill>
                <a:latin typeface="Roboto Mono" pitchFamily="49" charset="0"/>
                <a:ea typeface="Roboto Mono" pitchFamily="49" charset="0"/>
              </a:rPr>
              <a:t>-Version: 2022-11-28"</a:t>
            </a:r>
          </a:p>
        </p:txBody>
      </p:sp>
      <p:sp>
        <p:nvSpPr>
          <p:cNvPr id="5" name="Text Placeholder 2">
            <a:extLst>
              <a:ext uri="{FF2B5EF4-FFF2-40B4-BE49-F238E27FC236}">
                <a16:creationId xmlns:a16="http://schemas.microsoft.com/office/drawing/2014/main" id="{D1B73A8A-CC27-17A4-EBFA-52B9A2307BA3}"/>
              </a:ext>
            </a:extLst>
          </p:cNvPr>
          <p:cNvSpPr txBox="1">
            <a:spLocks/>
          </p:cNvSpPr>
          <p:nvPr/>
        </p:nvSpPr>
        <p:spPr>
          <a:xfrm>
            <a:off x="687048" y="4440151"/>
            <a:ext cx="10817904" cy="831763"/>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You can also use an installation access token to authenticate for HTTP-based Git access. Your app must have the 'Contents' repository permission. You can then use the installation access token as the HTTP password. You replace TOKEN in the example with the installation access token:</a:t>
            </a:r>
          </a:p>
        </p:txBody>
      </p:sp>
      <p:sp>
        <p:nvSpPr>
          <p:cNvPr id="6" name="Rectangle 5">
            <a:extLst>
              <a:ext uri="{FF2B5EF4-FFF2-40B4-BE49-F238E27FC236}">
                <a16:creationId xmlns:a16="http://schemas.microsoft.com/office/drawing/2014/main" id="{9E5D3DB2-E4DC-137C-4714-2FD5350D3B00}"/>
              </a:ext>
            </a:extLst>
          </p:cNvPr>
          <p:cNvSpPr/>
          <p:nvPr/>
        </p:nvSpPr>
        <p:spPr>
          <a:xfrm>
            <a:off x="687048" y="5413684"/>
            <a:ext cx="7556407" cy="59151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2">
            <a:extLst>
              <a:ext uri="{FF2B5EF4-FFF2-40B4-BE49-F238E27FC236}">
                <a16:creationId xmlns:a16="http://schemas.microsoft.com/office/drawing/2014/main" id="{FBB68F16-9E30-60E3-9EC4-299ECFB322BB}"/>
              </a:ext>
            </a:extLst>
          </p:cNvPr>
          <p:cNvSpPr txBox="1">
            <a:spLocks/>
          </p:cNvSpPr>
          <p:nvPr/>
        </p:nvSpPr>
        <p:spPr>
          <a:xfrm>
            <a:off x="891333" y="5544848"/>
            <a:ext cx="8658737" cy="33566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git clone https://</a:t>
            </a:r>
            <a:r>
              <a:rPr lang="en-US" sz="1400" dirty="0" err="1">
                <a:solidFill>
                  <a:schemeClr val="tx2">
                    <a:lumMod val="50000"/>
                    <a:lumOff val="50000"/>
                  </a:schemeClr>
                </a:solidFill>
                <a:latin typeface="Roboto Mono" pitchFamily="49" charset="0"/>
                <a:ea typeface="Roboto Mono" pitchFamily="49" charset="0"/>
              </a:rPr>
              <a:t>x-access-token:TOKEN@github.com</a:t>
            </a:r>
            <a:r>
              <a:rPr lang="en-US" sz="1400" dirty="0">
                <a:solidFill>
                  <a:schemeClr val="tx2">
                    <a:lumMod val="50000"/>
                    <a:lumOff val="50000"/>
                  </a:schemeClr>
                </a:solidFill>
                <a:latin typeface="Roboto Mono" pitchFamily="49" charset="0"/>
                <a:ea typeface="Roboto Mono" pitchFamily="49" charset="0"/>
              </a:rPr>
              <a:t>/owner/</a:t>
            </a:r>
            <a:r>
              <a:rPr lang="en-US" sz="1400" dirty="0" err="1">
                <a:solidFill>
                  <a:schemeClr val="tx2">
                    <a:lumMod val="50000"/>
                    <a:lumOff val="50000"/>
                  </a:schemeClr>
                </a:solidFill>
                <a:latin typeface="Roboto Mono" pitchFamily="49" charset="0"/>
                <a:ea typeface="Roboto Mono" pitchFamily="49" charset="0"/>
              </a:rPr>
              <a:t>repo.git</a:t>
            </a:r>
            <a:endParaRPr lang="en-US" sz="1400" dirty="0">
              <a:solidFill>
                <a:schemeClr val="tx2">
                  <a:lumMod val="50000"/>
                  <a:lumOff val="50000"/>
                </a:schemeClr>
              </a:solidFill>
              <a:latin typeface="Roboto Mono" pitchFamily="49" charset="0"/>
              <a:ea typeface="Roboto Mono" pitchFamily="49" charset="0"/>
            </a:endParaRPr>
          </a:p>
        </p:txBody>
      </p:sp>
    </p:spTree>
    <p:extLst>
      <p:ext uri="{BB962C8B-B14F-4D97-AF65-F5344CB8AC3E}">
        <p14:creationId xmlns:p14="http://schemas.microsoft.com/office/powerpoint/2010/main" val="112140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BB045C-A141-C3BC-E39E-7CBF5891AC97}"/>
              </a:ext>
            </a:extLst>
          </p:cNvPr>
          <p:cNvSpPr>
            <a:spLocks noGrp="1"/>
          </p:cNvSpPr>
          <p:nvPr>
            <p:ph type="title"/>
          </p:nvPr>
        </p:nvSpPr>
        <p:spPr>
          <a:xfrm>
            <a:off x="579437" y="782799"/>
            <a:ext cx="10331279" cy="492443"/>
          </a:xfrm>
        </p:spPr>
        <p:txBody>
          <a:bodyPr>
            <a:normAutofit fontScale="90000"/>
          </a:bodyPr>
          <a:lstStyle/>
          <a:p>
            <a:r>
              <a:rPr lang="en-US" sz="3200" dirty="0">
                <a:latin typeface="Quattrocento Sans" panose="020B0502050000020003" pitchFamily="34" charset="0"/>
              </a:rPr>
              <a:t>Exercise - Create the CI workflow on GitHub</a:t>
            </a:r>
          </a:p>
        </p:txBody>
      </p:sp>
      <p:sp>
        <p:nvSpPr>
          <p:cNvPr id="7" name="Text Placeholder 6">
            <a:extLst>
              <a:ext uri="{FF2B5EF4-FFF2-40B4-BE49-F238E27FC236}">
                <a16:creationId xmlns:a16="http://schemas.microsoft.com/office/drawing/2014/main" id="{3BFF5FF6-257E-D432-7A8E-0444D8E4A520}"/>
              </a:ext>
            </a:extLst>
          </p:cNvPr>
          <p:cNvSpPr>
            <a:spLocks noGrp="1"/>
          </p:cNvSpPr>
          <p:nvPr>
            <p:ph type="body" sz="quarter" idx="16"/>
          </p:nvPr>
        </p:nvSpPr>
        <p:spPr>
          <a:xfrm>
            <a:off x="579446" y="1270719"/>
            <a:ext cx="10930890" cy="2462213"/>
          </a:xfrm>
        </p:spPr>
        <p:txBody>
          <a:bodyPr>
            <a:noAutofit/>
          </a:bodyPr>
          <a:lstStyle/>
          <a:p>
            <a:pPr algn="just">
              <a:lnSpc>
                <a:spcPct val="100000"/>
              </a:lnSpc>
              <a:spcAft>
                <a:spcPts val="1200"/>
              </a:spcAft>
            </a:pPr>
            <a:r>
              <a:rPr lang="en-US" sz="1800" dirty="0">
                <a:latin typeface="Quattrocento Sans" panose="020B0502050000020003" pitchFamily="34" charset="0"/>
              </a:rPr>
              <a:t>This exercise checks your knowledge about how to create, customize, and test a continuous integration workflow for a project.</a:t>
            </a:r>
          </a:p>
          <a:p>
            <a:pPr algn="just">
              <a:lnSpc>
                <a:spcPct val="100000"/>
              </a:lnSpc>
              <a:spcAft>
                <a:spcPts val="1200"/>
              </a:spcAft>
            </a:pPr>
            <a:r>
              <a:rPr lang="en-US" sz="1800" dirty="0">
                <a:latin typeface="Quattrocento Sans" panose="020B0502050000020003" pitchFamily="34" charset="0"/>
              </a:rPr>
              <a:t>When you select the following Start the exercise on GitHub button, you'll go to a public GitHub template repository. That repository prompts you to complete a series of small challenges. Before starting the exercise, complete these tasks:</a:t>
            </a:r>
          </a:p>
        </p:txBody>
      </p:sp>
      <p:sp>
        <p:nvSpPr>
          <p:cNvPr id="2" name="Footer Placeholder 1">
            <a:extLst>
              <a:ext uri="{FF2B5EF4-FFF2-40B4-BE49-F238E27FC236}">
                <a16:creationId xmlns:a16="http://schemas.microsoft.com/office/drawing/2014/main" id="{C0053711-90A5-E597-3402-5753647D7092}"/>
              </a:ext>
            </a:extLst>
          </p:cNvPr>
          <p:cNvSpPr>
            <a:spLocks noGrp="1"/>
          </p:cNvSpPr>
          <p:nvPr>
            <p:ph type="ftr" sz="quarter" idx="3"/>
          </p:nvPr>
        </p:nvSpPr>
        <p:spPr>
          <a:xfrm>
            <a:off x="579438" y="6421083"/>
            <a:ext cx="4151312" cy="197976"/>
          </a:xfrm>
        </p:spPr>
        <p:txBody>
          <a:bodyPr/>
          <a:lstStyle/>
          <a:p>
            <a:r>
              <a:rPr lang="en-US" dirty="0"/>
              <a:t>© Copyright Microsoft Corporation. All rights reserved.</a:t>
            </a:r>
          </a:p>
        </p:txBody>
      </p:sp>
      <p:grpSp>
        <p:nvGrpSpPr>
          <p:cNvPr id="15" name="Group 14">
            <a:extLst>
              <a:ext uri="{FF2B5EF4-FFF2-40B4-BE49-F238E27FC236}">
                <a16:creationId xmlns:a16="http://schemas.microsoft.com/office/drawing/2014/main" id="{F62BDAA0-76B6-3949-9744-AD93E5069062}"/>
              </a:ext>
              <a:ext uri="{C183D7F6-B498-43B3-948B-1728B52AA6E4}">
                <adec:decorative xmlns:adec="http://schemas.microsoft.com/office/drawing/2017/decorative" val="1"/>
              </a:ext>
            </a:extLst>
          </p:cNvPr>
          <p:cNvGrpSpPr/>
          <p:nvPr/>
        </p:nvGrpSpPr>
        <p:grpSpPr>
          <a:xfrm>
            <a:off x="10729911" y="5491317"/>
            <a:ext cx="961231" cy="918055"/>
            <a:chOff x="5540700" y="2116300"/>
            <a:chExt cx="1110600" cy="1110600"/>
          </a:xfrm>
        </p:grpSpPr>
        <p:sp>
          <p:nvSpPr>
            <p:cNvPr id="17" name="Oval 16">
              <a:extLst>
                <a:ext uri="{FF2B5EF4-FFF2-40B4-BE49-F238E27FC236}">
                  <a16:creationId xmlns:a16="http://schemas.microsoft.com/office/drawing/2014/main" id="{AA7848C3-C239-9DAE-CD0E-735193B3F2F7}"/>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8" name="Picture 33">
              <a:extLst>
                <a:ext uri="{FF2B5EF4-FFF2-40B4-BE49-F238E27FC236}">
                  <a16:creationId xmlns:a16="http://schemas.microsoft.com/office/drawing/2014/main" id="{A230018B-D101-AED4-0493-7A695A9A936B}"/>
                </a:ext>
              </a:extLst>
            </p:cNvPr>
            <p:cNvPicPr/>
            <p:nvPr/>
          </p:nvPicPr>
          <p:blipFill>
            <a:blip r:embed="rId3">
              <a:extLst>
                <a:ext uri="{96DAC541-7B7A-43D3-8B79-37D633B846F1}">
                  <asvg:svgBlip xmlns:asvg="http://schemas.microsoft.com/office/drawing/2016/SVG/main" r:embed="rId4"/>
                </a:ext>
              </a:extLst>
            </a:blip>
            <a:srcRect/>
            <a:stretch/>
          </p:blipFill>
          <p:spPr>
            <a:xfrm>
              <a:off x="5749602" y="2325202"/>
              <a:ext cx="692796" cy="692796"/>
            </a:xfrm>
            <a:prstGeom prst="rect">
              <a:avLst/>
            </a:prstGeom>
            <a:noFill/>
          </p:spPr>
        </p:pic>
      </p:grpSp>
      <p:sp>
        <p:nvSpPr>
          <p:cNvPr id="8" name="Text Placeholder 6">
            <a:extLst>
              <a:ext uri="{FF2B5EF4-FFF2-40B4-BE49-F238E27FC236}">
                <a16:creationId xmlns:a16="http://schemas.microsoft.com/office/drawing/2014/main" id="{820A8282-92E7-A32E-A450-C6DE78A6D030}"/>
              </a:ext>
            </a:extLst>
          </p:cNvPr>
          <p:cNvSpPr txBox="1">
            <a:spLocks/>
          </p:cNvSpPr>
          <p:nvPr/>
        </p:nvSpPr>
        <p:spPr>
          <a:xfrm>
            <a:off x="681664" y="2989745"/>
            <a:ext cx="7401632" cy="246221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0"/>
              </a:spcBef>
              <a:buFont typeface="Arial" panose="020B0604020202020204" pitchFamily="34" charset="0"/>
              <a:buNone/>
              <a:defRPr sz="16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spcAft>
                <a:spcPts val="600"/>
              </a:spcAft>
              <a:buFont typeface="Arial" panose="020B0604020202020204" pitchFamily="34" charset="0"/>
              <a:buChar char="•"/>
            </a:pPr>
            <a:r>
              <a:rPr lang="en-US" sz="1800" b="0" i="0" dirty="0">
                <a:solidFill>
                  <a:srgbClr val="161616"/>
                </a:solidFill>
                <a:effectLst/>
                <a:latin typeface="Quattrocento Sans" panose="020B0502050000020003" pitchFamily="34" charset="0"/>
              </a:rPr>
              <a:t>Select the </a:t>
            </a:r>
            <a:r>
              <a:rPr lang="en-US" sz="1800" b="0" i="1" dirty="0">
                <a:solidFill>
                  <a:srgbClr val="161616"/>
                </a:solidFill>
                <a:effectLst/>
                <a:latin typeface="Quattrocento Sans" panose="020B0502050000020003" pitchFamily="34" charset="0"/>
              </a:rPr>
              <a:t>Start course</a:t>
            </a:r>
            <a:r>
              <a:rPr lang="en-US" sz="1800" b="0" i="0" dirty="0">
                <a:solidFill>
                  <a:srgbClr val="161616"/>
                </a:solidFill>
                <a:effectLst/>
                <a:latin typeface="Quattrocento Sans" panose="020B0502050000020003" pitchFamily="34" charset="0"/>
              </a:rPr>
              <a:t> button or the </a:t>
            </a:r>
            <a:r>
              <a:rPr lang="en-US" sz="1800" b="0" i="1" dirty="0">
                <a:solidFill>
                  <a:srgbClr val="161616"/>
                </a:solidFill>
                <a:effectLst/>
                <a:latin typeface="Quattrocento Sans" panose="020B0502050000020003" pitchFamily="34" charset="0"/>
              </a:rPr>
              <a:t>Use this template</a:t>
            </a:r>
            <a:r>
              <a:rPr lang="en-US" sz="1800" b="0" i="0" dirty="0">
                <a:solidFill>
                  <a:srgbClr val="161616"/>
                </a:solidFill>
                <a:effectLst/>
                <a:latin typeface="Quattrocento Sans" panose="020B0502050000020003" pitchFamily="34" charset="0"/>
              </a:rPr>
              <a:t> feature within the template repository. This action will prompt you to create a new repository. We recommend creating a public repository, as private repositories will have </a:t>
            </a:r>
            <a:r>
              <a:rPr lang="en-US" sz="1800" b="0" i="0" u="none" strike="noStrike" dirty="0">
                <a:solidFill>
                  <a:srgbClr val="00B0F0"/>
                </a:solidFill>
                <a:effectLst/>
                <a:latin typeface="Quattrocento Sans" panose="020B0502050000020003" pitchFamily="34" charset="0"/>
                <a:hlinkClick r:id="rId5">
                  <a:extLst>
                    <a:ext uri="{A12FA001-AC4F-418D-AE19-62706E023703}">
                      <ahyp:hlinkClr xmlns:ahyp="http://schemas.microsoft.com/office/drawing/2018/hyperlinkcolor" val="tx"/>
                    </a:ext>
                  </a:extLst>
                </a:hlinkClick>
              </a:rPr>
              <a:t>GitHub Actions minutes billed</a:t>
            </a:r>
            <a:r>
              <a:rPr lang="en-US" sz="1800" b="0" i="0" dirty="0">
                <a:solidFill>
                  <a:srgbClr val="161616"/>
                </a:solidFill>
                <a:effectLst/>
                <a:latin typeface="Quattrocento Sans" panose="020B0502050000020003" pitchFamily="34" charset="0"/>
              </a:rPr>
              <a:t>.</a:t>
            </a:r>
          </a:p>
          <a:p>
            <a:pPr marL="342900" indent="-342900" algn="just">
              <a:spcAft>
                <a:spcPts val="600"/>
              </a:spcAft>
              <a:buFont typeface="Arial" panose="020B0604020202020204" pitchFamily="34" charset="0"/>
              <a:buChar char="•"/>
            </a:pPr>
            <a:r>
              <a:rPr lang="en-US" sz="1800" b="0" i="0" dirty="0">
                <a:solidFill>
                  <a:srgbClr val="161616"/>
                </a:solidFill>
                <a:effectLst/>
                <a:latin typeface="Quattrocento Sans" panose="020B0502050000020003" pitchFamily="34" charset="0"/>
              </a:rPr>
              <a:t>After you make your own repository from the template, wait about 20 seconds and refresh.</a:t>
            </a:r>
          </a:p>
          <a:p>
            <a:pPr marL="342900" indent="-342900" algn="just">
              <a:spcAft>
                <a:spcPts val="600"/>
              </a:spcAft>
              <a:buFont typeface="Arial" panose="020B0604020202020204" pitchFamily="34" charset="0"/>
              <a:buChar char="•"/>
            </a:pPr>
            <a:r>
              <a:rPr lang="en-US" sz="1800" b="0" i="0" dirty="0">
                <a:solidFill>
                  <a:srgbClr val="161616"/>
                </a:solidFill>
                <a:effectLst/>
                <a:latin typeface="Quattrocento Sans" panose="020B0502050000020003" pitchFamily="34" charset="0"/>
              </a:rPr>
              <a:t>Follow the instructions in the repository's </a:t>
            </a:r>
            <a:r>
              <a:rPr lang="en-US" sz="1800" b="0" i="0" dirty="0" err="1">
                <a:solidFill>
                  <a:srgbClr val="161616"/>
                </a:solidFill>
                <a:effectLst/>
                <a:latin typeface="Quattrocento Sans" panose="020B0502050000020003" pitchFamily="34" charset="0"/>
              </a:rPr>
              <a:t>README.md</a:t>
            </a:r>
            <a:r>
              <a:rPr lang="en-US" sz="1800" b="0" i="0" dirty="0">
                <a:solidFill>
                  <a:srgbClr val="161616"/>
                </a:solidFill>
                <a:effectLst/>
                <a:latin typeface="Quattrocento Sans" panose="020B0502050000020003" pitchFamily="34" charset="0"/>
              </a:rPr>
              <a:t> to understand how the exercise works, its learning objectives, and how to successfully complete the exercise.</a:t>
            </a:r>
          </a:p>
        </p:txBody>
      </p:sp>
      <p:pic>
        <p:nvPicPr>
          <p:cNvPr id="4" name="Picture 3">
            <a:extLst>
              <a:ext uri="{FF2B5EF4-FFF2-40B4-BE49-F238E27FC236}">
                <a16:creationId xmlns:a16="http://schemas.microsoft.com/office/drawing/2014/main" id="{7781EBC0-5DDF-8CF3-4CB8-025150B33A02}"/>
              </a:ext>
            </a:extLst>
          </p:cNvPr>
          <p:cNvPicPr>
            <a:picLocks noChangeAspect="1"/>
          </p:cNvPicPr>
          <p:nvPr/>
        </p:nvPicPr>
        <p:blipFill>
          <a:blip r:embed="rId6"/>
          <a:stretch>
            <a:fillRect/>
          </a:stretch>
        </p:blipFill>
        <p:spPr>
          <a:xfrm>
            <a:off x="8412680" y="2668836"/>
            <a:ext cx="2128192" cy="2128192"/>
          </a:xfrm>
          <a:prstGeom prst="rect">
            <a:avLst/>
          </a:prstGeom>
          <a:effectLst>
            <a:outerShdw blurRad="59278" dist="38100" dir="2700000" algn="tl" rotWithShape="0">
              <a:schemeClr val="tx1">
                <a:alpha val="49000"/>
              </a:schemeClr>
            </a:outerShdw>
          </a:effectLst>
        </p:spPr>
      </p:pic>
    </p:spTree>
    <p:extLst>
      <p:ext uri="{BB962C8B-B14F-4D97-AF65-F5344CB8AC3E}">
        <p14:creationId xmlns:p14="http://schemas.microsoft.com/office/powerpoint/2010/main" val="1465804086"/>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BB045C-A141-C3BC-E39E-7CBF5891AC97}"/>
              </a:ext>
            </a:extLst>
          </p:cNvPr>
          <p:cNvSpPr>
            <a:spLocks noGrp="1"/>
          </p:cNvSpPr>
          <p:nvPr>
            <p:ph type="title"/>
          </p:nvPr>
        </p:nvSpPr>
        <p:spPr>
          <a:xfrm>
            <a:off x="579437" y="782799"/>
            <a:ext cx="10150473" cy="492443"/>
          </a:xfrm>
        </p:spPr>
        <p:txBody>
          <a:bodyPr>
            <a:normAutofit fontScale="90000"/>
          </a:bodyPr>
          <a:lstStyle/>
          <a:p>
            <a:r>
              <a:rPr lang="en-US" sz="3200" dirty="0">
                <a:latin typeface="Quattrocento Sans" panose="020B0502050000020003" pitchFamily="34" charset="0"/>
              </a:rPr>
              <a:t>Exercise - Create the CI workflow on GitHub (continued)</a:t>
            </a:r>
          </a:p>
        </p:txBody>
      </p:sp>
      <p:sp>
        <p:nvSpPr>
          <p:cNvPr id="7" name="Text Placeholder 6">
            <a:extLst>
              <a:ext uri="{FF2B5EF4-FFF2-40B4-BE49-F238E27FC236}">
                <a16:creationId xmlns:a16="http://schemas.microsoft.com/office/drawing/2014/main" id="{3BFF5FF6-257E-D432-7A8E-0444D8E4A520}"/>
              </a:ext>
            </a:extLst>
          </p:cNvPr>
          <p:cNvSpPr>
            <a:spLocks noGrp="1"/>
          </p:cNvSpPr>
          <p:nvPr>
            <p:ph type="body" sz="quarter" idx="16"/>
          </p:nvPr>
        </p:nvSpPr>
        <p:spPr>
          <a:xfrm>
            <a:off x="604420" y="3662270"/>
            <a:ext cx="11111696" cy="777139"/>
          </a:xfrm>
        </p:spPr>
        <p:txBody>
          <a:bodyPr>
            <a:noAutofit/>
          </a:bodyPr>
          <a:lstStyle/>
          <a:p>
            <a:pPr algn="just">
              <a:lnSpc>
                <a:spcPct val="100000"/>
              </a:lnSpc>
              <a:spcAft>
                <a:spcPts val="1200"/>
              </a:spcAft>
            </a:pPr>
            <a:r>
              <a:rPr lang="en-US" sz="1800" dirty="0">
                <a:latin typeface="Quattrocento Sans" panose="020B0502050000020003" pitchFamily="34" charset="0"/>
              </a:rPr>
              <a:t>Note: You don't need to modify any of the workflow files to complete this exercise. </a:t>
            </a:r>
            <a:r>
              <a:rPr lang="en-US" sz="1800" b="1" dirty="0">
                <a:latin typeface="Quattrocento Sans" panose="020B0502050000020003" pitchFamily="34" charset="0"/>
              </a:rPr>
              <a:t>Altering the contents in this workflow can break the exercise's ability to validate your actions, provide feedback, or grade the results.</a:t>
            </a:r>
          </a:p>
        </p:txBody>
      </p:sp>
      <p:sp>
        <p:nvSpPr>
          <p:cNvPr id="2" name="Footer Placeholder 1">
            <a:extLst>
              <a:ext uri="{FF2B5EF4-FFF2-40B4-BE49-F238E27FC236}">
                <a16:creationId xmlns:a16="http://schemas.microsoft.com/office/drawing/2014/main" id="{C0053711-90A5-E597-3402-5753647D7092}"/>
              </a:ext>
            </a:extLst>
          </p:cNvPr>
          <p:cNvSpPr>
            <a:spLocks noGrp="1"/>
          </p:cNvSpPr>
          <p:nvPr>
            <p:ph type="ftr" sz="quarter" idx="3"/>
          </p:nvPr>
        </p:nvSpPr>
        <p:spPr>
          <a:xfrm>
            <a:off x="579438" y="6421083"/>
            <a:ext cx="4151312" cy="197976"/>
          </a:xfrm>
        </p:spPr>
        <p:txBody>
          <a:bodyPr/>
          <a:lstStyle/>
          <a:p>
            <a:r>
              <a:rPr lang="en-US" dirty="0"/>
              <a:t>© Copyright Microsoft Corporation. All rights reserved.</a:t>
            </a:r>
          </a:p>
        </p:txBody>
      </p:sp>
      <p:sp>
        <p:nvSpPr>
          <p:cNvPr id="14" name="TextBox 13">
            <a:extLst>
              <a:ext uri="{FF2B5EF4-FFF2-40B4-BE49-F238E27FC236}">
                <a16:creationId xmlns:a16="http://schemas.microsoft.com/office/drawing/2014/main" id="{1802CE57-FED8-FF04-DEAA-BD4BF1FA0FEC}"/>
              </a:ext>
            </a:extLst>
          </p:cNvPr>
          <p:cNvSpPr txBox="1"/>
          <p:nvPr/>
        </p:nvSpPr>
        <p:spPr>
          <a:xfrm>
            <a:off x="559118" y="5950344"/>
            <a:ext cx="3160032" cy="307777"/>
          </a:xfrm>
          <a:prstGeom prst="rect">
            <a:avLst/>
          </a:prstGeom>
          <a:noFill/>
        </p:spPr>
        <p:txBody>
          <a:bodyPr wrap="none" lIns="0" tIns="0" rIns="0" bIns="0" rtlCol="0">
            <a:spAutoFit/>
          </a:bodyPr>
          <a:lstStyle/>
          <a:p>
            <a:pPr algn="l"/>
            <a:r>
              <a:rPr lang="en-US" sz="2000" dirty="0">
                <a:hlinkClick r:id="rId3"/>
              </a:rPr>
              <a:t>Start the exercise on GitHub.</a:t>
            </a:r>
            <a:endParaRPr lang="en-US" sz="2000" dirty="0"/>
          </a:p>
        </p:txBody>
      </p:sp>
      <p:grpSp>
        <p:nvGrpSpPr>
          <p:cNvPr id="15" name="Group 14">
            <a:extLst>
              <a:ext uri="{FF2B5EF4-FFF2-40B4-BE49-F238E27FC236}">
                <a16:creationId xmlns:a16="http://schemas.microsoft.com/office/drawing/2014/main" id="{F62BDAA0-76B6-3949-9744-AD93E5069062}"/>
              </a:ext>
              <a:ext uri="{C183D7F6-B498-43B3-948B-1728B52AA6E4}">
                <adec:decorative xmlns:adec="http://schemas.microsoft.com/office/drawing/2017/decorative" val="1"/>
              </a:ext>
            </a:extLst>
          </p:cNvPr>
          <p:cNvGrpSpPr/>
          <p:nvPr/>
        </p:nvGrpSpPr>
        <p:grpSpPr>
          <a:xfrm>
            <a:off x="10729911" y="5491317"/>
            <a:ext cx="961231" cy="918055"/>
            <a:chOff x="5540700" y="2116300"/>
            <a:chExt cx="1110600" cy="1110600"/>
          </a:xfrm>
        </p:grpSpPr>
        <p:sp>
          <p:nvSpPr>
            <p:cNvPr id="17" name="Oval 16">
              <a:extLst>
                <a:ext uri="{FF2B5EF4-FFF2-40B4-BE49-F238E27FC236}">
                  <a16:creationId xmlns:a16="http://schemas.microsoft.com/office/drawing/2014/main" id="{AA7848C3-C239-9DAE-CD0E-735193B3F2F7}"/>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8" name="Picture 33">
              <a:extLst>
                <a:ext uri="{FF2B5EF4-FFF2-40B4-BE49-F238E27FC236}">
                  <a16:creationId xmlns:a16="http://schemas.microsoft.com/office/drawing/2014/main" id="{A230018B-D101-AED4-0493-7A695A9A936B}"/>
                </a:ext>
              </a:extLst>
            </p:cNvPr>
            <p:cNvPicPr/>
            <p:nvPr/>
          </p:nvPicPr>
          <p:blipFill>
            <a:blip r:embed="rId4">
              <a:extLst>
                <a:ext uri="{96DAC541-7B7A-43D3-8B79-37D633B846F1}">
                  <asvg:svgBlip xmlns:asvg="http://schemas.microsoft.com/office/drawing/2016/SVG/main" r:embed="rId5"/>
                </a:ext>
              </a:extLst>
            </a:blip>
            <a:srcRect/>
            <a:stretch/>
          </p:blipFill>
          <p:spPr>
            <a:xfrm>
              <a:off x="5749602" y="2325202"/>
              <a:ext cx="692796" cy="692796"/>
            </a:xfrm>
            <a:prstGeom prst="rect">
              <a:avLst/>
            </a:prstGeom>
            <a:noFill/>
          </p:spPr>
        </p:pic>
      </p:grpSp>
      <p:cxnSp>
        <p:nvCxnSpPr>
          <p:cNvPr id="5" name="Straight Connector 4">
            <a:extLst>
              <a:ext uri="{FF2B5EF4-FFF2-40B4-BE49-F238E27FC236}">
                <a16:creationId xmlns:a16="http://schemas.microsoft.com/office/drawing/2014/main" id="{BB66656F-0D88-0998-A32F-828D6C17F0D7}"/>
              </a:ext>
            </a:extLst>
          </p:cNvPr>
          <p:cNvCxnSpPr/>
          <p:nvPr/>
        </p:nvCxnSpPr>
        <p:spPr>
          <a:xfrm>
            <a:off x="584092" y="3475144"/>
            <a:ext cx="0" cy="939637"/>
          </a:xfrm>
          <a:prstGeom prst="line">
            <a:avLst/>
          </a:prstGeom>
          <a:ln w="381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Text Placeholder 6">
            <a:extLst>
              <a:ext uri="{FF2B5EF4-FFF2-40B4-BE49-F238E27FC236}">
                <a16:creationId xmlns:a16="http://schemas.microsoft.com/office/drawing/2014/main" id="{EE198A98-41B8-534F-08CD-F54B2AC2B811}"/>
              </a:ext>
            </a:extLst>
          </p:cNvPr>
          <p:cNvSpPr txBox="1">
            <a:spLocks/>
          </p:cNvSpPr>
          <p:nvPr/>
        </p:nvSpPr>
        <p:spPr>
          <a:xfrm>
            <a:off x="604420" y="1636198"/>
            <a:ext cx="11111696" cy="246221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0"/>
              </a:spcBef>
              <a:buFont typeface="Arial" panose="020B0604020202020204" pitchFamily="34" charset="0"/>
              <a:buNone/>
              <a:defRPr sz="16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Aft>
                <a:spcPts val="1200"/>
              </a:spcAft>
            </a:pPr>
            <a:r>
              <a:rPr lang="en-US" sz="1800" dirty="0">
                <a:latin typeface="Quattrocento Sans" panose="020B0502050000020003" pitchFamily="34" charset="0"/>
              </a:rPr>
              <a:t>When you've finished the exercise in GitHub, return here for:</a:t>
            </a:r>
          </a:p>
          <a:p>
            <a:pPr marL="285750" indent="-285750" algn="just">
              <a:lnSpc>
                <a:spcPct val="100000"/>
              </a:lnSpc>
              <a:spcAft>
                <a:spcPts val="1200"/>
              </a:spcAft>
              <a:buFont typeface="Wingdings" pitchFamily="2" charset="2"/>
              <a:buChar char="ü"/>
            </a:pPr>
            <a:r>
              <a:rPr lang="en-US" sz="1800" dirty="0">
                <a:latin typeface="Quattrocento Sans" panose="020B0502050000020003" pitchFamily="34" charset="0"/>
              </a:rPr>
              <a:t>A quick knowledge check</a:t>
            </a:r>
          </a:p>
          <a:p>
            <a:pPr marL="285750" indent="-285750" algn="just">
              <a:lnSpc>
                <a:spcPct val="100000"/>
              </a:lnSpc>
              <a:spcAft>
                <a:spcPts val="1200"/>
              </a:spcAft>
              <a:buFont typeface="Wingdings" pitchFamily="2" charset="2"/>
              <a:buChar char="ü"/>
            </a:pPr>
            <a:r>
              <a:rPr lang="en-US" sz="1800" dirty="0">
                <a:latin typeface="Quattrocento Sans" panose="020B0502050000020003" pitchFamily="34" charset="0"/>
              </a:rPr>
              <a:t>A summary of what you've learned</a:t>
            </a:r>
          </a:p>
          <a:p>
            <a:pPr marL="285750" indent="-285750" algn="just">
              <a:lnSpc>
                <a:spcPct val="100000"/>
              </a:lnSpc>
              <a:spcAft>
                <a:spcPts val="1200"/>
              </a:spcAft>
              <a:buFont typeface="Wingdings" pitchFamily="2" charset="2"/>
              <a:buChar char="ü"/>
            </a:pPr>
            <a:r>
              <a:rPr lang="en-US" sz="1800" dirty="0">
                <a:latin typeface="Quattrocento Sans" panose="020B0502050000020003" pitchFamily="34" charset="0"/>
              </a:rPr>
              <a:t>To earn a badge for completing this module</a:t>
            </a:r>
          </a:p>
        </p:txBody>
      </p:sp>
    </p:spTree>
    <p:extLst>
      <p:ext uri="{BB962C8B-B14F-4D97-AF65-F5344CB8AC3E}">
        <p14:creationId xmlns:p14="http://schemas.microsoft.com/office/powerpoint/2010/main" val="3569236144"/>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442638"/>
            <a:ext cx="6345239" cy="557525"/>
          </a:xfrm>
        </p:spPr>
        <p:txBody>
          <a:bodyPr/>
          <a:lstStyle/>
          <a:p>
            <a:r>
              <a:rPr lang="en-US" dirty="0"/>
              <a:t>Knowledge Checks</a:t>
            </a:r>
          </a:p>
        </p:txBody>
      </p:sp>
      <p:sp>
        <p:nvSpPr>
          <p:cNvPr id="2" name="Rectangle 1">
            <a:extLst>
              <a:ext uri="{FF2B5EF4-FFF2-40B4-BE49-F238E27FC236}">
                <a16:creationId xmlns:a16="http://schemas.microsoft.com/office/drawing/2014/main" id="{AAB7FFCE-6487-F91B-58CE-9BC1E7AA76E9}"/>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52868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Build continuous integration (CI) workflows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Artifacts from a GitHub Actions workflow can be saved with what action?</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2369880"/>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The </a:t>
            </a:r>
            <a:r>
              <a:rPr lang="en-US" sz="1600" dirty="0">
                <a:highlight>
                  <a:srgbClr val="C0C0C0"/>
                </a:highlight>
                <a:latin typeface="Roboto Mono" pitchFamily="49" charset="0"/>
                <a:ea typeface="Roboto Mono" pitchFamily="49" charset="0"/>
              </a:rPr>
              <a:t>actions/upload-artifact</a:t>
            </a:r>
            <a:r>
              <a:rPr lang="en-US" dirty="0">
                <a:latin typeface="Quattrocento Sans" panose="020B0502050000020003" pitchFamily="34" charset="0"/>
              </a:rPr>
              <a:t> action</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The </a:t>
            </a:r>
            <a:r>
              <a:rPr lang="en-US" sz="1600" dirty="0">
                <a:highlight>
                  <a:srgbClr val="C0C0C0"/>
                </a:highlight>
                <a:latin typeface="Roboto Mono" pitchFamily="49" charset="0"/>
                <a:ea typeface="Roboto Mono" pitchFamily="49" charset="0"/>
              </a:rPr>
              <a:t>actions/checkout@v3</a:t>
            </a:r>
            <a:r>
              <a:rPr lang="en-US" sz="1600" dirty="0">
                <a:latin typeface="Roboto Mono" pitchFamily="49" charset="0"/>
                <a:ea typeface="Roboto Mono" pitchFamily="49" charset="0"/>
              </a:rPr>
              <a:t> </a:t>
            </a:r>
            <a:r>
              <a:rPr lang="en-US" dirty="0">
                <a:latin typeface="Quattrocento Sans" panose="020B0502050000020003" pitchFamily="34" charset="0"/>
              </a:rPr>
              <a:t>action</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The </a:t>
            </a:r>
            <a:r>
              <a:rPr lang="en-US" sz="1600" dirty="0">
                <a:highlight>
                  <a:srgbClr val="C0C0C0"/>
                </a:highlight>
                <a:latin typeface="Roboto Mono" pitchFamily="49" charset="0"/>
                <a:ea typeface="Roboto Mono" pitchFamily="49" charset="0"/>
              </a:rPr>
              <a:t>actions/download-artifact</a:t>
            </a:r>
            <a:r>
              <a:rPr lang="en-US" dirty="0">
                <a:latin typeface="Quattrocento Sans" panose="020B0502050000020003" pitchFamily="34" charset="0"/>
              </a:rPr>
              <a:t> action</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1 of 5</a:t>
            </a:r>
          </a:p>
        </p:txBody>
      </p:sp>
    </p:spTree>
    <p:extLst>
      <p:ext uri="{BB962C8B-B14F-4D97-AF65-F5344CB8AC3E}">
        <p14:creationId xmlns:p14="http://schemas.microsoft.com/office/powerpoint/2010/main" val="231917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Build continuous integration (CI) workflows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What is one way that GitHub Actions workflows can NOT be used?</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3508653"/>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To automatically run test suites on each push</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To kick off a review process</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To automate common repetitive tasks, such as welcoming new contributors to a repository.</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To upload a new secret to GitHub Secrets.</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2 of 5</a:t>
            </a:r>
          </a:p>
        </p:txBody>
      </p:sp>
    </p:spTree>
    <p:extLst>
      <p:ext uri="{BB962C8B-B14F-4D97-AF65-F5344CB8AC3E}">
        <p14:creationId xmlns:p14="http://schemas.microsoft.com/office/powerpoint/2010/main" val="56100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Build continuous integration (CI) workflows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Which action would you use to access a repository's code from the virtual machine provided by GitHub Actions?</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556847"/>
            <a:ext cx="8943975" cy="1938992"/>
          </a:xfrm>
          <a:prstGeom prst="rect">
            <a:avLst/>
          </a:prstGeom>
          <a:noFill/>
        </p:spPr>
        <p:txBody>
          <a:bodyPr wrap="square" rtlCol="0">
            <a:spAutoFit/>
          </a:bodyPr>
          <a:lstStyle/>
          <a:p>
            <a:pPr marL="342900" indent="-342900">
              <a:buFont typeface="+mj-lt"/>
              <a:buAutoNum type="alphaLcParenR"/>
            </a:pPr>
            <a:r>
              <a:rPr lang="en-US" sz="1600" dirty="0">
                <a:highlight>
                  <a:srgbClr val="C0C0C0"/>
                </a:highlight>
                <a:latin typeface="Roboto Mono" pitchFamily="49" charset="0"/>
                <a:ea typeface="Roboto Mono" pitchFamily="49" charset="0"/>
              </a:rPr>
              <a:t>actions/upload-artifact</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sz="1600" dirty="0">
                <a:highlight>
                  <a:srgbClr val="C0C0C0"/>
                </a:highlight>
                <a:latin typeface="Roboto Mono" pitchFamily="49" charset="0"/>
                <a:ea typeface="Roboto Mono" pitchFamily="49" charset="0"/>
              </a:rPr>
              <a:t>actions/checkout</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dirty="0" err="1">
                <a:highlight>
                  <a:srgbClr val="C0C0C0"/>
                </a:highlight>
                <a:latin typeface="Roboto Mono" pitchFamily="49" charset="0"/>
                <a:ea typeface="Roboto Mono" pitchFamily="49" charset="0"/>
              </a:rPr>
              <a:t>npm</a:t>
            </a:r>
            <a:r>
              <a:rPr lang="en-US" dirty="0">
                <a:highlight>
                  <a:srgbClr val="C0C0C0"/>
                </a:highlight>
                <a:latin typeface="Roboto Mono" pitchFamily="49" charset="0"/>
                <a:ea typeface="Roboto Mono" pitchFamily="49" charset="0"/>
              </a:rPr>
              <a:t> install</a:t>
            </a:r>
          </a:p>
          <a:p>
            <a:pPr marL="342900" indent="-342900">
              <a:buFont typeface="+mj-lt"/>
              <a:buAutoNum type="alphaLcParenR"/>
            </a:pPr>
            <a:endParaRPr lang="en-US" dirty="0">
              <a:latin typeface="Quattrocento Sans" panose="020B0502050000020003" pitchFamily="34" charset="0"/>
            </a:endParaRPr>
          </a:p>
          <a:p>
            <a:pPr marL="342900" indent="-342900">
              <a:buFont typeface="+mj-lt"/>
              <a:buAutoNum type="alphaLcParenR"/>
            </a:pPr>
            <a:r>
              <a:rPr lang="en-US" sz="1600" dirty="0">
                <a:highlight>
                  <a:srgbClr val="C0C0C0"/>
                </a:highlight>
                <a:latin typeface="Roboto Mono" pitchFamily="49" charset="0"/>
                <a:ea typeface="Roboto Mono" pitchFamily="49" charset="0"/>
              </a:rPr>
              <a:t>actions/setup-node</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3 of 5</a:t>
            </a:r>
          </a:p>
        </p:txBody>
      </p:sp>
    </p:spTree>
    <p:extLst>
      <p:ext uri="{BB962C8B-B14F-4D97-AF65-F5344CB8AC3E}">
        <p14:creationId xmlns:p14="http://schemas.microsoft.com/office/powerpoint/2010/main" val="181627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Build continuous integration (CI) workflows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How many builds will the following matrix produce? </a:t>
            </a:r>
            <a:r>
              <a:rPr lang="en-US" sz="1800" dirty="0" err="1">
                <a:highlight>
                  <a:srgbClr val="C0C0C0"/>
                </a:highlight>
                <a:latin typeface="Roboto Mono" pitchFamily="49" charset="0"/>
                <a:ea typeface="Roboto Mono" pitchFamily="49" charset="0"/>
              </a:rPr>
              <a:t>os</a:t>
            </a:r>
            <a:r>
              <a:rPr lang="en-US" sz="1800" dirty="0">
                <a:highlight>
                  <a:srgbClr val="C0C0C0"/>
                </a:highlight>
                <a:latin typeface="Roboto Mono" pitchFamily="49" charset="0"/>
                <a:ea typeface="Roboto Mono" pitchFamily="49" charset="0"/>
              </a:rPr>
              <a:t>: [ubuntu-latest, windows-latest] node-version: [14.x, 16.x, 18.x]</a:t>
            </a:r>
            <a:endParaRPr lang="en-US" sz="2000" dirty="0">
              <a:highlight>
                <a:srgbClr val="C0C0C0"/>
              </a:highlight>
              <a:latin typeface="Roboto Mono" pitchFamily="49" charset="0"/>
              <a:ea typeface="Roboto Mono" pitchFamily="49" charset="0"/>
            </a:endParaRP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2800767"/>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6</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3</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5</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4 of 5</a:t>
            </a:r>
          </a:p>
        </p:txBody>
      </p:sp>
    </p:spTree>
    <p:extLst>
      <p:ext uri="{BB962C8B-B14F-4D97-AF65-F5344CB8AC3E}">
        <p14:creationId xmlns:p14="http://schemas.microsoft.com/office/powerpoint/2010/main" val="308915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Build continuous integration (CI) workflows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How can you pass data between jobs in a GitHub Actions workflow?</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3231654"/>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By using the </a:t>
            </a:r>
            <a:r>
              <a:rPr lang="en-US" sz="1600" dirty="0">
                <a:highlight>
                  <a:srgbClr val="C0C0C0"/>
                </a:highlight>
                <a:latin typeface="Roboto Mono" pitchFamily="49" charset="0"/>
                <a:ea typeface="Roboto Mono" pitchFamily="49" charset="0"/>
              </a:rPr>
              <a:t>needs</a:t>
            </a:r>
            <a:r>
              <a:rPr lang="en-US" dirty="0">
                <a:latin typeface="Quattrocento Sans" panose="020B0502050000020003" pitchFamily="34" charset="0"/>
              </a:rPr>
              <a:t> keyword</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By using the </a:t>
            </a:r>
            <a:r>
              <a:rPr lang="en-US" sz="1600" dirty="0">
                <a:highlight>
                  <a:srgbClr val="C0C0C0"/>
                </a:highlight>
                <a:latin typeface="Roboto Mono" pitchFamily="49" charset="0"/>
                <a:ea typeface="Roboto Mono" pitchFamily="49" charset="0"/>
              </a:rPr>
              <a:t>outputs</a:t>
            </a:r>
            <a:r>
              <a:rPr lang="en-US" dirty="0">
                <a:latin typeface="Quattrocento Sans" panose="020B0502050000020003" pitchFamily="34" charset="0"/>
              </a:rPr>
              <a:t> keyword</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By using the </a:t>
            </a:r>
            <a:r>
              <a:rPr lang="en-US" sz="1600" dirty="0">
                <a:highlight>
                  <a:srgbClr val="C0C0C0"/>
                </a:highlight>
                <a:latin typeface="Roboto Mono" pitchFamily="49" charset="0"/>
                <a:ea typeface="Roboto Mono" pitchFamily="49" charset="0"/>
              </a:rPr>
              <a:t>env</a:t>
            </a:r>
            <a:r>
              <a:rPr lang="en-US" dirty="0">
                <a:latin typeface="Quattrocento Sans" panose="020B0502050000020003" pitchFamily="34" charset="0"/>
              </a:rPr>
              <a:t> keyword</a:t>
            </a:r>
          </a:p>
          <a:p>
            <a:pPr marL="342900" indent="-342900">
              <a:spcAft>
                <a:spcPts val="1200"/>
              </a:spcAft>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By using the </a:t>
            </a:r>
            <a:r>
              <a:rPr lang="en-US" sz="1600" dirty="0">
                <a:highlight>
                  <a:srgbClr val="C0C0C0"/>
                </a:highlight>
                <a:latin typeface="Roboto Mono" pitchFamily="49" charset="0"/>
                <a:ea typeface="Roboto Mono" pitchFamily="49" charset="0"/>
              </a:rPr>
              <a:t>secrets</a:t>
            </a:r>
            <a:r>
              <a:rPr lang="en-US" dirty="0">
                <a:latin typeface="Quattrocento Sans" panose="020B0502050000020003" pitchFamily="34" charset="0"/>
              </a:rPr>
              <a:t> keyword</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5 of 5</a:t>
            </a:r>
          </a:p>
        </p:txBody>
      </p:sp>
    </p:spTree>
    <p:extLst>
      <p:ext uri="{BB962C8B-B14F-4D97-AF65-F5344CB8AC3E}">
        <p14:creationId xmlns:p14="http://schemas.microsoft.com/office/powerpoint/2010/main" val="428544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C09F-F1BC-B030-ABA5-CCC4CB439AB9}"/>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D65ACD8-A3C0-1947-EE3F-EB8082717C0F}"/>
              </a:ext>
            </a:extLst>
          </p:cNvPr>
          <p:cNvSpPr>
            <a:spLocks noGrp="1"/>
          </p:cNvSpPr>
          <p:nvPr>
            <p:ph type="title"/>
          </p:nvPr>
        </p:nvSpPr>
        <p:spPr>
          <a:xfrm>
            <a:off x="588262" y="389165"/>
            <a:ext cx="8193024" cy="492443"/>
          </a:xfrm>
        </p:spPr>
        <p:txBody>
          <a:bodyPr>
            <a:normAutofit fontScale="90000"/>
          </a:bodyPr>
          <a:lstStyle/>
          <a:p>
            <a:r>
              <a:rPr lang="en-US" sz="3200" dirty="0">
                <a:latin typeface="Quattrocento Sans" panose="020B0502050000020003" pitchFamily="34" charset="0"/>
              </a:rPr>
              <a:t>Summary</a:t>
            </a:r>
          </a:p>
        </p:txBody>
      </p:sp>
      <p:sp>
        <p:nvSpPr>
          <p:cNvPr id="3" name="TextBox 2">
            <a:extLst>
              <a:ext uri="{FF2B5EF4-FFF2-40B4-BE49-F238E27FC236}">
                <a16:creationId xmlns:a16="http://schemas.microsoft.com/office/drawing/2014/main" id="{0E530E54-35F6-015B-2DB1-C388AC6F72E2}"/>
              </a:ext>
            </a:extLst>
          </p:cNvPr>
          <p:cNvSpPr txBox="1"/>
          <p:nvPr/>
        </p:nvSpPr>
        <p:spPr>
          <a:xfrm>
            <a:off x="588262" y="940256"/>
            <a:ext cx="11015476" cy="5155257"/>
          </a:xfrm>
          <a:prstGeom prst="rect">
            <a:avLst/>
          </a:prstGeom>
          <a:noFill/>
        </p:spPr>
        <p:txBody>
          <a:bodyPr wrap="square">
            <a:spAutoFit/>
          </a:bodyPr>
          <a:lstStyle/>
          <a:p>
            <a:pPr algn="l">
              <a:spcAft>
                <a:spcPts val="1200"/>
              </a:spcAft>
            </a:pPr>
            <a:r>
              <a:rPr lang="en-US" sz="2000" b="0" i="0" dirty="0">
                <a:solidFill>
                  <a:srgbClr val="161616"/>
                </a:solidFill>
                <a:effectLst/>
                <a:latin typeface="Quattrocento Sans" panose="020B0502050000020003" pitchFamily="34" charset="0"/>
              </a:rPr>
              <a:t>In this module, you learned how to implement a CI solution using GitHub Actions and workflows.</a:t>
            </a:r>
          </a:p>
          <a:p>
            <a:pPr algn="l">
              <a:spcAft>
                <a:spcPts val="1200"/>
              </a:spcAft>
            </a:pPr>
            <a:r>
              <a:rPr lang="en-US" sz="2000" b="0" i="0" dirty="0">
                <a:solidFill>
                  <a:srgbClr val="161616"/>
                </a:solidFill>
                <a:effectLst/>
                <a:latin typeface="Quattrocento Sans" panose="020B0502050000020003" pitchFamily="34" charset="0"/>
              </a:rPr>
              <a:t>You can now:</a:t>
            </a:r>
          </a:p>
          <a:p>
            <a:pPr marL="342900" indent="-342900" algn="l">
              <a:spcAft>
                <a:spcPts val="600"/>
              </a:spcAft>
              <a:buFont typeface="Arial" panose="020B0604020202020204" pitchFamily="34" charset="0"/>
              <a:buChar char="•"/>
            </a:pPr>
            <a:r>
              <a:rPr lang="en-US" sz="2000" b="0" i="0" dirty="0">
                <a:solidFill>
                  <a:srgbClr val="161616"/>
                </a:solidFill>
                <a:effectLst/>
                <a:latin typeface="Quattrocento Sans" panose="020B0502050000020003" pitchFamily="34" charset="0"/>
              </a:rPr>
              <a:t>Build and test a Node.js project by using GitHub Actions and a templated workflow.</a:t>
            </a:r>
          </a:p>
          <a:p>
            <a:pPr marL="342900" indent="-342900" algn="l">
              <a:spcAft>
                <a:spcPts val="600"/>
              </a:spcAft>
              <a:buFont typeface="Arial" panose="020B0604020202020204" pitchFamily="34" charset="0"/>
              <a:buChar char="•"/>
            </a:pPr>
            <a:r>
              <a:rPr lang="en-US" sz="2000" b="0" i="0" dirty="0">
                <a:solidFill>
                  <a:srgbClr val="161616"/>
                </a:solidFill>
                <a:effectLst/>
                <a:latin typeface="Quattrocento Sans" panose="020B0502050000020003" pitchFamily="34" charset="0"/>
              </a:rPr>
              <a:t>Debug a failed test using the GitHub Actions log.</a:t>
            </a:r>
          </a:p>
          <a:p>
            <a:pPr marL="342900" indent="-342900" algn="l">
              <a:spcAft>
                <a:spcPts val="600"/>
              </a:spcAft>
              <a:buFont typeface="Arial" panose="020B0604020202020204" pitchFamily="34" charset="0"/>
              <a:buChar char="•"/>
            </a:pPr>
            <a:r>
              <a:rPr lang="en-US" sz="2000" b="0" i="0" dirty="0">
                <a:solidFill>
                  <a:srgbClr val="161616"/>
                </a:solidFill>
                <a:effectLst/>
                <a:latin typeface="Quattrocento Sans" panose="020B0502050000020003" pitchFamily="34" charset="0"/>
              </a:rPr>
              <a:t>Customize your workflow with GitHub Actions to:</a:t>
            </a:r>
          </a:p>
          <a:p>
            <a:pPr marL="800100" lvl="1" indent="-342900">
              <a:spcAft>
                <a:spcPts val="600"/>
              </a:spcAft>
              <a:buFont typeface="Courier New" panose="02070309020205020404" pitchFamily="49" charset="0"/>
              <a:buChar char="o"/>
            </a:pPr>
            <a:r>
              <a:rPr lang="en-US" sz="2000" b="0" i="0" dirty="0">
                <a:solidFill>
                  <a:srgbClr val="161616"/>
                </a:solidFill>
                <a:effectLst/>
                <a:latin typeface="Quattrocento Sans" panose="020B0502050000020003" pitchFamily="34" charset="0"/>
              </a:rPr>
              <a:t>Create a build artifact and save it.</a:t>
            </a:r>
          </a:p>
          <a:p>
            <a:pPr marL="800100" lvl="1" indent="-342900">
              <a:spcAft>
                <a:spcPts val="600"/>
              </a:spcAft>
              <a:buFont typeface="Courier New" panose="02070309020205020404" pitchFamily="49" charset="0"/>
              <a:buChar char="o"/>
            </a:pPr>
            <a:r>
              <a:rPr lang="en-US" sz="2000" b="0" i="0" dirty="0">
                <a:solidFill>
                  <a:srgbClr val="161616"/>
                </a:solidFill>
                <a:effectLst/>
                <a:latin typeface="Quattrocento Sans" panose="020B0502050000020003" pitchFamily="34" charset="0"/>
              </a:rPr>
              <a:t>Get access to your build artifacts.</a:t>
            </a:r>
          </a:p>
          <a:p>
            <a:pPr marL="800100" lvl="1" indent="-342900">
              <a:spcAft>
                <a:spcPts val="600"/>
              </a:spcAft>
              <a:buFont typeface="Courier New" panose="02070309020205020404" pitchFamily="49" charset="0"/>
              <a:buChar char="o"/>
            </a:pPr>
            <a:r>
              <a:rPr lang="en-US" sz="2000" b="0" i="0" dirty="0">
                <a:solidFill>
                  <a:srgbClr val="161616"/>
                </a:solidFill>
                <a:effectLst/>
                <a:latin typeface="Quattrocento Sans" panose="020B0502050000020003" pitchFamily="34" charset="0"/>
              </a:rPr>
              <a:t>Test against multiple targets.</a:t>
            </a:r>
          </a:p>
          <a:p>
            <a:pPr marL="800100" lvl="1" indent="-342900">
              <a:spcAft>
                <a:spcPts val="600"/>
              </a:spcAft>
              <a:buFont typeface="Courier New" panose="02070309020205020404" pitchFamily="49" charset="0"/>
              <a:buChar char="o"/>
            </a:pPr>
            <a:r>
              <a:rPr lang="en-US" sz="2000" b="0" i="0" dirty="0">
                <a:solidFill>
                  <a:srgbClr val="161616"/>
                </a:solidFill>
                <a:effectLst/>
                <a:latin typeface="Quattrocento Sans" panose="020B0502050000020003" pitchFamily="34" charset="0"/>
              </a:rPr>
              <a:t>Add labels to your pull requests.</a:t>
            </a:r>
          </a:p>
          <a:p>
            <a:pPr algn="l">
              <a:spcAft>
                <a:spcPts val="1200"/>
              </a:spcAft>
            </a:pPr>
            <a:r>
              <a:rPr lang="en-US" sz="2400" b="0" i="0" dirty="0">
                <a:solidFill>
                  <a:srgbClr val="161616"/>
                </a:solidFill>
                <a:effectLst/>
                <a:latin typeface="Quattrocento Sans" panose="020B0502050000020003" pitchFamily="34" charset="0"/>
              </a:rPr>
              <a:t>Next Steps</a:t>
            </a:r>
          </a:p>
          <a:p>
            <a:pPr algn="l"/>
            <a:r>
              <a:rPr lang="en-US" sz="2000" b="0" i="0" dirty="0">
                <a:solidFill>
                  <a:srgbClr val="161616"/>
                </a:solidFill>
                <a:effectLst/>
                <a:latin typeface="Quattrocento Sans" panose="020B0502050000020003" pitchFamily="34" charset="0"/>
              </a:rPr>
              <a:t>To continue your journey with GitHub Actions, check out the next module on this learning path. </a:t>
            </a:r>
            <a:r>
              <a:rPr lang="en-US" sz="2000" b="0" i="0">
                <a:solidFill>
                  <a:srgbClr val="161616"/>
                </a:solidFill>
                <a:effectLst/>
                <a:latin typeface="Quattrocento Sans" panose="020B0502050000020003" pitchFamily="34" charset="0"/>
              </a:rPr>
              <a:t>You can expand on what you learned here and use GitHub Actions for continuous delivery and implementing infrastructure as code.</a:t>
            </a:r>
          </a:p>
        </p:txBody>
      </p:sp>
      <p:sp>
        <p:nvSpPr>
          <p:cNvPr id="2" name="Footer Placeholder 1">
            <a:extLst>
              <a:ext uri="{FF2B5EF4-FFF2-40B4-BE49-F238E27FC236}">
                <a16:creationId xmlns:a16="http://schemas.microsoft.com/office/drawing/2014/main" id="{96990959-42CE-847B-5D1A-63970468F3A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80943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18874</Words>
  <Application>Microsoft Office PowerPoint</Application>
  <PresentationFormat>Widescreen</PresentationFormat>
  <Paragraphs>1351</Paragraphs>
  <Slides>60</Slides>
  <Notes>60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70" baseType="lpstr">
      <vt:lpstr>Aptos</vt:lpstr>
      <vt:lpstr>Aptos Display</vt:lpstr>
      <vt:lpstr>Arial</vt:lpstr>
      <vt:lpstr>Courier New</vt:lpstr>
      <vt:lpstr>Quattrocento Sans</vt:lpstr>
      <vt:lpstr>Roboto Mono</vt:lpstr>
      <vt:lpstr>Segoe UI</vt:lpstr>
      <vt:lpstr>Wingdings</vt:lpstr>
      <vt:lpstr>Office Theme</vt:lpstr>
      <vt:lpstr>Worksheet</vt:lpstr>
      <vt:lpstr>GH-200: Automate your workflow with GitHub Actions Part 1 of 2</vt:lpstr>
      <vt:lpstr>Module 2:  Build continuous integration (CI) workflows by using GitHub Actions </vt:lpstr>
      <vt:lpstr>Introduction</vt:lpstr>
      <vt:lpstr>Create a workflow from a template</vt:lpstr>
      <vt:lpstr>Create a workflow from a template (continued)</vt:lpstr>
      <vt:lpstr>Workflow Breakdown: Key Attributes Explained</vt:lpstr>
      <vt:lpstr>Npm Documentation</vt:lpstr>
      <vt:lpstr>How to utilize reusable workflows to avoid duplication</vt:lpstr>
      <vt:lpstr>Reusable Workflows</vt:lpstr>
      <vt:lpstr>Closer Look: Reusable Workflows</vt:lpstr>
      <vt:lpstr>Identify the event that triggered a workflow from its effects</vt:lpstr>
      <vt:lpstr>Where to identify the trigger event?</vt:lpstr>
      <vt:lpstr>Infer the trigger from repository effects</vt:lpstr>
      <vt:lpstr>Summary</vt:lpstr>
      <vt:lpstr>Describe a workflow's effects from reading its configuration file</vt:lpstr>
      <vt:lpstr>Describe a workflow's effects from reading its configuration file (continued)</vt:lpstr>
      <vt:lpstr>Describe a workflow's effects from reading its configuration file (continued)</vt:lpstr>
      <vt:lpstr>Summary</vt:lpstr>
      <vt:lpstr>Diagnose a failed workflow run</vt:lpstr>
      <vt:lpstr>Diagnose a failed workflow run (continued)</vt:lpstr>
      <vt:lpstr>Identify ways to access the workflow logs from the user interface</vt:lpstr>
      <vt:lpstr>Identify ways to access the workflow logs from the user interface</vt:lpstr>
      <vt:lpstr>Summary</vt:lpstr>
      <vt:lpstr>Action logs for the build</vt:lpstr>
      <vt:lpstr>Customize workflow templates</vt:lpstr>
      <vt:lpstr>Customize workflow templates (continued)</vt:lpstr>
      <vt:lpstr>What are artifacts?</vt:lpstr>
      <vt:lpstr>Artifact storage (continued)</vt:lpstr>
      <vt:lpstr>Artifact storage (continued)</vt:lpstr>
      <vt:lpstr>Automate reviews in GitHub using workflows</vt:lpstr>
      <vt:lpstr>Customize your workflow with environment variables and artifact data</vt:lpstr>
      <vt:lpstr>Default environment variables and contexts</vt:lpstr>
      <vt:lpstr>Default environment variables and contexts (continued)</vt:lpstr>
      <vt:lpstr>The contextual information available in a workflow</vt:lpstr>
      <vt:lpstr>The contextual information available in a workflow  (continued)</vt:lpstr>
      <vt:lpstr>Setting custom environment variables in a workflow</vt:lpstr>
      <vt:lpstr>Use default context in a workflow</vt:lpstr>
      <vt:lpstr>Pass custom environment variables to a workflow</vt:lpstr>
      <vt:lpstr>Add environment protections</vt:lpstr>
      <vt:lpstr>About environments</vt:lpstr>
      <vt:lpstr>Environment protection rules</vt:lpstr>
      <vt:lpstr>Environment protection rules (continued)</vt:lpstr>
      <vt:lpstr>Environment protection rules (continued)</vt:lpstr>
      <vt:lpstr>Scripts in your workflow</vt:lpstr>
      <vt:lpstr>Cache dependencies with the cache action</vt:lpstr>
      <vt:lpstr>Cache dependencies with the cache action (continued)</vt:lpstr>
      <vt:lpstr>Pass artifact data between jobs</vt:lpstr>
      <vt:lpstr>Enable step debug logging in a workflow</vt:lpstr>
      <vt:lpstr>Access the workflow logs from the user interface</vt:lpstr>
      <vt:lpstr>Access the workflow logs from the REST API</vt:lpstr>
      <vt:lpstr>Identify when to use an installation token from a GitHub App</vt:lpstr>
      <vt:lpstr>Exercise - Create the CI workflow on GitHub</vt:lpstr>
      <vt:lpstr>Exercise - Create the CI workflow on GitHub (continued)</vt:lpstr>
      <vt:lpstr>Knowledge Checks</vt:lpstr>
      <vt:lpstr>Knowledge Check:  Build continuous integration (CI) workflows by using GitHub Actions </vt:lpstr>
      <vt:lpstr>Knowledge Check:  Build continuous integration (CI) workflows by using GitHub Actions </vt:lpstr>
      <vt:lpstr>Knowledge Check:  Build continuous integration (CI) workflows by using GitHub Actions </vt:lpstr>
      <vt:lpstr>Knowledge Check:  Build continuous integration (CI) workflows by using GitHub Actions </vt:lpstr>
      <vt:lpstr>Knowledge Check:  Build continuous integration (CI) workflows by using GitHub Actions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2025-06-12T13:47:09Z</dcterms:created>
  <dcterms:modified xsi:type="dcterms:W3CDTF">2025-06-12T13:47:27Z</dcterms:modified>
</cp:coreProperties>
</file>
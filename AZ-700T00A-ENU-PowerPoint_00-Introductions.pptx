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1746" r:id="rId5"/>
    <p:sldId id="1886" r:id="rId6"/>
    <p:sldId id="1750" r:id="rId7"/>
    <p:sldId id="1751" r:id="rId8"/>
    <p:sldId id="1889" r:id="rId9"/>
    <p:sldId id="1754" r:id="rId10"/>
    <p:sldId id="1753" r:id="rId11"/>
    <p:sldId id="1892" r:id="rId12"/>
    <p:sldId id="1873" r:id="rId13"/>
    <p:sldId id="1890" r:id="rId14"/>
    <p:sldId id="1885" r:id="rId15"/>
    <p:sldId id="1901" r:id="rId16"/>
    <p:sldId id="1896" r:id="rId17"/>
    <p:sldId id="1882" r:id="rId18"/>
    <p:sldId id="1883" r:id="rId19"/>
    <p:sldId id="189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14" autoAdjust="0"/>
    <p:restoredTop sz="66431" autoAdjust="0"/>
  </p:normalViewPr>
  <p:slideViewPr>
    <p:cSldViewPr snapToGrid="0">
      <p:cViewPr varScale="1">
        <p:scale>
          <a:sx n="61" d="100"/>
          <a:sy n="61" d="100"/>
        </p:scale>
        <p:origin x="90"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A79801-FB31-431A-98F5-716C56F25676}" type="datetimeFigureOut">
              <a:rPr lang="en-US" smtClean="0"/>
              <a:t>2/9/2022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33A655-50E7-4D5D-8F4B-4E747C8025DC}" type="slidenum">
              <a:rPr lang="en-US" smtClean="0"/>
              <a:t>‹#›</a:t>
            </a:fld>
            <a:endParaRPr lang="en-US" dirty="0"/>
          </a:p>
        </p:txBody>
      </p:sp>
    </p:spTree>
    <p:extLst>
      <p:ext uri="{BB962C8B-B14F-4D97-AF65-F5344CB8AC3E}">
        <p14:creationId xmlns:p14="http://schemas.microsoft.com/office/powerpoint/2010/main" val="3614031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microsoft.com/learn/browse/"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257945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906886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Consider altering this slide if you are delivering remote or in a hybrid scenario </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991139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sure to ask your students about their level of experience. Have they used Azure? Do they prefer command line or GUI for administrative tasks. </a:t>
            </a:r>
            <a:br>
              <a:rPr lang="en-US" dirty="0"/>
            </a:br>
            <a:endParaRPr lang="en-US" dirty="0"/>
          </a:p>
          <a:p>
            <a:r>
              <a:rPr lang="en-US" dirty="0"/>
              <a:t>Microsoft Learn has a series of Fundamental modules for Azure, networking, and security. More modules are added every day and can help students ramp up on Azure basics. https://docs.microsoft.com/learn/browse/?term=fundamentals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500194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year Microsoft reviews each role to determine what tasks are included in a typical day.  Ask students what areas are most important for their jobs. What are they most interested in?</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229783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fld id="{14FEC80D-91D6-4A7B-B9BD-16D88774DDB2}" type="slidenum">
              <a:rPr lang="en-US" smtClean="0"/>
              <a:t>8</a:t>
            </a:fld>
            <a:endParaRPr lang="en-US" dirty="0"/>
          </a:p>
        </p:txBody>
      </p:sp>
    </p:spTree>
    <p:extLst>
      <p:ext uri="{BB962C8B-B14F-4D97-AF65-F5344CB8AC3E}">
        <p14:creationId xmlns:p14="http://schemas.microsoft.com/office/powerpoint/2010/main" val="1955691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Az-700 exam page: https://docs.microsoft.com/learn/certifications/exams/az-700</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2/9/2022 7:29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3381700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Trainer Prep Guide for general information about how the course was structured. </a:t>
            </a:r>
          </a:p>
          <a:p>
            <a:endParaRPr lang="en-US" dirty="0"/>
          </a:p>
          <a:p>
            <a:r>
              <a:rPr lang="en-US" dirty="0"/>
              <a:t>Also, review the Change Log for anything that may have changed since the last time you taught the course.</a:t>
            </a:r>
          </a:p>
          <a:p>
            <a:endParaRPr lang="en-US" dirty="0"/>
          </a:p>
          <a:p>
            <a:r>
              <a:rPr lang="en-US" dirty="0"/>
              <a:t>Both documents are downloadable from the MCT Download Center. </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595520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 this slide to your teaching schedule. Consider using the last lab of the day as something to complete (homework) before the next training day. </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2/9/2022 7:29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643730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sz="1800" dirty="0">
              <a:solidFill>
                <a:srgbClr val="000000"/>
              </a:solidFill>
              <a:effectLst/>
              <a:latin typeface="Calibri" panose="020F0502020204030204" pitchFamily="34" charset="0"/>
              <a:ea typeface="Calibri" panose="020F0502020204030204"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1800" dirty="0">
                <a:solidFill>
                  <a:srgbClr val="000000"/>
                </a:solidFill>
                <a:effectLst/>
                <a:latin typeface="Calibri" panose="020F0502020204030204" pitchFamily="34" charset="0"/>
                <a:ea typeface="Calibri" panose="020F0502020204030204" pitchFamily="34" charset="0"/>
              </a:rPr>
              <a:t>A Learn Collection has been created for the course. Feel free to share the link with your students. This link provides direct access to the student content: https://docs.microsoft.com/learn/paths/design-implement-microsoft-azure-networking-solutions-az-700/</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1800" dirty="0">
              <a:solidFill>
                <a:srgbClr val="000000"/>
              </a:solidFill>
              <a:effectLst/>
              <a:latin typeface="Calibri" panose="020F0502020204030204" pitchFamily="34" charset="0"/>
              <a:ea typeface="Calibri" panose="020F0502020204030204" pitchFamily="34" charset="0"/>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1800" dirty="0">
                <a:solidFill>
                  <a:srgbClr val="000000"/>
                </a:solidFill>
                <a:effectLst/>
                <a:latin typeface="Calibri" panose="020F0502020204030204" pitchFamily="34" charset="0"/>
                <a:ea typeface="Calibri" panose="020F0502020204030204" pitchFamily="34" charset="0"/>
              </a:rPr>
              <a:t>Discuss the self-paced Learning Paths available from the exam page or by searching. Explain the course provides very high-level information. The Summary and Resources page gives links to additional Learn content. To fully prepare for the exam students should go through this additional content as much as possible. </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10472637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from Learn is logged and tracked. Corrections are made within just a few days. As you review the materials you can provide feedback. The best feedback is specific and actionable. For example, the virtual machine limits have changed and provide the documentation page.  </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1661781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AZ-700 lab repository - https://github.com/MicrosoftLearning/AZ-700-Designing-and-Implementing-Microsoft-Azure-Networking-Solutions</a:t>
            </a:r>
          </a:p>
          <a:p>
            <a:endParaRPr lang="en-US" dirty="0"/>
          </a:p>
          <a:p>
            <a:endParaRPr lang="en-US" dirty="0"/>
          </a:p>
          <a:p>
            <a:r>
              <a:rPr lang="en-US" dirty="0"/>
              <a:t>If you find something that needs corrected in the labs, submit an Issue on the repository. Also, you may want to review any recent Issues that have been submitted by other instructors. </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2/9/2022 7:29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9442288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000000"/>
                </a:solidFill>
                <a:effectLst/>
                <a:latin typeface="Consolas" panose="020B0609020204030204" pitchFamily="49" charset="0"/>
              </a:rPr>
              <a:t>Microsoft Learn - </a:t>
            </a:r>
            <a:r>
              <a:rPr lang="en-US" dirty="0">
                <a:hlinkClick r:id="rId3"/>
              </a:rPr>
              <a:t>https://docs.microsoft.com/learn/browse/</a:t>
            </a:r>
            <a:r>
              <a:rPr lang="en-US" b="0" dirty="0">
                <a:solidFill>
                  <a:srgbClr val="000000"/>
                </a:solidFill>
                <a:effectLst/>
                <a:latin typeface="Consolas" panose="020B0609020204030204" pitchFamily="49" charset="0"/>
              </a:rPr>
              <a:t> There is a summary slide at the end of each lesson with applicable online training modules.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Azure Documentation - </a:t>
            </a:r>
            <a:r>
              <a:rPr lang="en-US" b="0" dirty="0">
                <a:solidFill>
                  <a:srgbClr val="A31515"/>
                </a:solidFill>
                <a:effectLst/>
                <a:latin typeface="Consolas" panose="020B0609020204030204" pitchFamily="49" charset="0"/>
              </a:rPr>
              <a:t>https://docs.microsoft.com/azure/</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Stay informed on the latest products, tools, and features. Get information on pricing, partners, support, and solutions.</a:t>
            </a:r>
          </a:p>
          <a:p>
            <a:endParaRPr lang="en-US" b="0" dirty="0">
              <a:solidFill>
                <a:srgbClr val="0000FF"/>
              </a:solidFill>
              <a:effectLst/>
              <a:latin typeface="Consolas" panose="020B0609020204030204" pitchFamily="49" charset="0"/>
            </a:endParaRPr>
          </a:p>
          <a:p>
            <a:r>
              <a:rPr lang="en-US" b="0" dirty="0">
                <a:solidFill>
                  <a:srgbClr val="000000"/>
                </a:solidFill>
                <a:effectLst/>
                <a:latin typeface="Consolas" panose="020B0609020204030204" pitchFamily="49" charset="0"/>
              </a:rPr>
              <a:t>Azure forums</a:t>
            </a:r>
            <a:r>
              <a:rPr lang="en-US" b="0" dirty="0">
                <a:solidFill>
                  <a:srgbClr val="A31515"/>
                </a:solidFill>
                <a:effectLst/>
                <a:latin typeface="Consolas" panose="020B0609020204030204" pitchFamily="49" charset="0"/>
              </a:rPr>
              <a:t> https://docs.microsoft.com/answers/products/azure?product=all</a:t>
            </a:r>
          </a:p>
          <a:p>
            <a:r>
              <a:rPr lang="en-US" b="0" dirty="0">
                <a:solidFill>
                  <a:srgbClr val="000000"/>
                </a:solidFill>
                <a:effectLst/>
                <a:latin typeface="Consolas" panose="020B0609020204030204" pitchFamily="49" charset="0"/>
              </a:rPr>
              <a:t>The Azure forums are very active. You can search the threads for a specific area of interest. You can also browse categories like Azure Storage, Pricing and Billing, Azure Virtual Machines, and Azure Migrate. </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b="0" dirty="0">
              <a:solidFill>
                <a:srgbClr val="000000"/>
              </a:solidFill>
              <a:effectLst/>
              <a:latin typeface="Consolas" panose="020B0609020204030204" pitchFamily="49"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Microsoft Azure Blog - </a:t>
            </a:r>
            <a:r>
              <a:rPr lang="en-US" b="0" dirty="0">
                <a:solidFill>
                  <a:srgbClr val="A31515"/>
                </a:solidFill>
                <a:effectLst/>
                <a:latin typeface="Consolas" panose="020B0609020204030204" pitchFamily="49" charset="0"/>
              </a:rPr>
              <a:t>https://azure.microsoft.com/blog/</a:t>
            </a:r>
          </a:p>
          <a:p>
            <a:r>
              <a:rPr lang="en-US" b="0" dirty="0">
                <a:solidFill>
                  <a:srgbClr val="000000"/>
                </a:solidFill>
                <a:effectLst/>
                <a:latin typeface="Consolas" panose="020B0609020204030204" pitchFamily="49" charset="0"/>
              </a:rPr>
              <a:t>Keep current on what's happening in Azure, including what's now in preview, generally available, news &amp; updates, and more.</a:t>
            </a:r>
          </a:p>
          <a:p>
            <a:endParaRPr lang="en-US" b="0" dirty="0">
              <a:solidFill>
                <a:srgbClr val="0000FF"/>
              </a:solidFill>
              <a:effectLst/>
              <a:latin typeface="Consolas" panose="020B0609020204030204" pitchFamily="49" charset="0"/>
            </a:endParaRPr>
          </a:p>
          <a:p>
            <a:r>
              <a:rPr lang="en-US" b="0" dirty="0">
                <a:solidFill>
                  <a:srgbClr val="000000"/>
                </a:solidFill>
                <a:effectLst/>
                <a:latin typeface="Consolas" panose="020B0609020204030204" pitchFamily="49" charset="0"/>
              </a:rPr>
              <a:t>Microsoft Learning Community Blog – https://techcommunity.microsoft.com/t5/microsoft-learn-blog/bg-p/MicrosoftLearnBlog</a:t>
            </a:r>
          </a:p>
          <a:p>
            <a:r>
              <a:rPr lang="en-US" b="0" dirty="0">
                <a:solidFill>
                  <a:srgbClr val="000000"/>
                </a:solidFill>
                <a:effectLst/>
                <a:latin typeface="Consolas" panose="020B0609020204030204" pitchFamily="49" charset="0"/>
              </a:rPr>
              <a:t>Get the latest information about the certification tests and exam study groups.</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2/9/2022 7:32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978206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046D7-AC1D-43EB-9F7F-D82C478DCE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F1AD28-F8AF-4F84-BEA4-BDC46E2151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AA8647-3F16-4716-A3DE-381558483325}"/>
              </a:ext>
            </a:extLst>
          </p:cNvPr>
          <p:cNvSpPr>
            <a:spLocks noGrp="1"/>
          </p:cNvSpPr>
          <p:nvPr>
            <p:ph type="dt" sz="half" idx="10"/>
          </p:nvPr>
        </p:nvSpPr>
        <p:spPr/>
        <p:txBody>
          <a:bodyPr/>
          <a:lstStyle/>
          <a:p>
            <a:fld id="{B37DAFDB-45D3-46D4-B985-70F72D7B4919}" type="datetimeFigureOut">
              <a:rPr lang="en-US" smtClean="0"/>
              <a:t>2/9/2022</a:t>
            </a:fld>
            <a:endParaRPr lang="en-US" dirty="0"/>
          </a:p>
        </p:txBody>
      </p:sp>
      <p:sp>
        <p:nvSpPr>
          <p:cNvPr id="5" name="Footer Placeholder 4">
            <a:extLst>
              <a:ext uri="{FF2B5EF4-FFF2-40B4-BE49-F238E27FC236}">
                <a16:creationId xmlns:a16="http://schemas.microsoft.com/office/drawing/2014/main" id="{014B22B6-5855-4A69-AEF2-59C99C10CE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AA7ECA0-4642-4D17-A202-30EDFD7F39AB}"/>
              </a:ext>
            </a:extLst>
          </p:cNvPr>
          <p:cNvSpPr>
            <a:spLocks noGrp="1"/>
          </p:cNvSpPr>
          <p:nvPr>
            <p:ph type="sldNum" sz="quarter" idx="12"/>
          </p:nvPr>
        </p:nvSpPr>
        <p:spPr/>
        <p:txBody>
          <a:bodyPr/>
          <a:lstStyle/>
          <a:p>
            <a:fld id="{8EAFF56B-11D4-48D6-AF98-A3AE9B61457A}" type="slidenum">
              <a:rPr lang="en-US" smtClean="0"/>
              <a:t>‹#›</a:t>
            </a:fld>
            <a:endParaRPr lang="en-US" dirty="0"/>
          </a:p>
        </p:txBody>
      </p:sp>
    </p:spTree>
    <p:extLst>
      <p:ext uri="{BB962C8B-B14F-4D97-AF65-F5344CB8AC3E}">
        <p14:creationId xmlns:p14="http://schemas.microsoft.com/office/powerpoint/2010/main" val="482152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6E4B1-9D67-4067-BDC9-E6D287BD16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735419-E0EF-4F1B-B04D-0047DE51A2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D98203-E933-4370-978A-8980AC3C0CAC}"/>
              </a:ext>
            </a:extLst>
          </p:cNvPr>
          <p:cNvSpPr>
            <a:spLocks noGrp="1"/>
          </p:cNvSpPr>
          <p:nvPr>
            <p:ph type="dt" sz="half" idx="10"/>
          </p:nvPr>
        </p:nvSpPr>
        <p:spPr/>
        <p:txBody>
          <a:bodyPr/>
          <a:lstStyle/>
          <a:p>
            <a:fld id="{B37DAFDB-45D3-46D4-B985-70F72D7B4919}" type="datetimeFigureOut">
              <a:rPr lang="en-US" smtClean="0"/>
              <a:t>2/9/2022</a:t>
            </a:fld>
            <a:endParaRPr lang="en-US" dirty="0"/>
          </a:p>
        </p:txBody>
      </p:sp>
      <p:sp>
        <p:nvSpPr>
          <p:cNvPr id="5" name="Footer Placeholder 4">
            <a:extLst>
              <a:ext uri="{FF2B5EF4-FFF2-40B4-BE49-F238E27FC236}">
                <a16:creationId xmlns:a16="http://schemas.microsoft.com/office/drawing/2014/main" id="{AA3BD372-8FCA-4DCE-8D79-95A37711C96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D8A2869-C4FF-47D1-92A4-0C5060462BC1}"/>
              </a:ext>
            </a:extLst>
          </p:cNvPr>
          <p:cNvSpPr>
            <a:spLocks noGrp="1"/>
          </p:cNvSpPr>
          <p:nvPr>
            <p:ph type="sldNum" sz="quarter" idx="12"/>
          </p:nvPr>
        </p:nvSpPr>
        <p:spPr/>
        <p:txBody>
          <a:bodyPr/>
          <a:lstStyle/>
          <a:p>
            <a:fld id="{8EAFF56B-11D4-48D6-AF98-A3AE9B61457A}" type="slidenum">
              <a:rPr lang="en-US" smtClean="0"/>
              <a:t>‹#›</a:t>
            </a:fld>
            <a:endParaRPr lang="en-US" dirty="0"/>
          </a:p>
        </p:txBody>
      </p:sp>
    </p:spTree>
    <p:extLst>
      <p:ext uri="{BB962C8B-B14F-4D97-AF65-F5344CB8AC3E}">
        <p14:creationId xmlns:p14="http://schemas.microsoft.com/office/powerpoint/2010/main" val="2756446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A69F3-47F7-49E1-A15C-47E934D507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CF6B2A-6DC9-4F2A-8512-743A75AF69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20078C-CFC5-4774-95D0-62873F311A0D}"/>
              </a:ext>
            </a:extLst>
          </p:cNvPr>
          <p:cNvSpPr>
            <a:spLocks noGrp="1"/>
          </p:cNvSpPr>
          <p:nvPr>
            <p:ph type="dt" sz="half" idx="10"/>
          </p:nvPr>
        </p:nvSpPr>
        <p:spPr/>
        <p:txBody>
          <a:bodyPr/>
          <a:lstStyle/>
          <a:p>
            <a:fld id="{B37DAFDB-45D3-46D4-B985-70F72D7B4919}" type="datetimeFigureOut">
              <a:rPr lang="en-US" smtClean="0"/>
              <a:t>2/9/2022</a:t>
            </a:fld>
            <a:endParaRPr lang="en-US" dirty="0"/>
          </a:p>
        </p:txBody>
      </p:sp>
      <p:sp>
        <p:nvSpPr>
          <p:cNvPr id="5" name="Footer Placeholder 4">
            <a:extLst>
              <a:ext uri="{FF2B5EF4-FFF2-40B4-BE49-F238E27FC236}">
                <a16:creationId xmlns:a16="http://schemas.microsoft.com/office/drawing/2014/main" id="{686FAC7A-6488-4C43-8E63-E91D3D06E9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401E94-D233-4D30-B65E-28FD343151A5}"/>
              </a:ext>
            </a:extLst>
          </p:cNvPr>
          <p:cNvSpPr>
            <a:spLocks noGrp="1"/>
          </p:cNvSpPr>
          <p:nvPr>
            <p:ph type="sldNum" sz="quarter" idx="12"/>
          </p:nvPr>
        </p:nvSpPr>
        <p:spPr/>
        <p:txBody>
          <a:bodyPr/>
          <a:lstStyle/>
          <a:p>
            <a:fld id="{8EAFF56B-11D4-48D6-AF98-A3AE9B61457A}" type="slidenum">
              <a:rPr lang="en-US" smtClean="0"/>
              <a:t>‹#›</a:t>
            </a:fld>
            <a:endParaRPr lang="en-US" dirty="0"/>
          </a:p>
        </p:txBody>
      </p:sp>
    </p:spTree>
    <p:extLst>
      <p:ext uri="{BB962C8B-B14F-4D97-AF65-F5344CB8AC3E}">
        <p14:creationId xmlns:p14="http://schemas.microsoft.com/office/powerpoint/2010/main" val="11285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2898B-7376-4B31-89E5-1A2F0E6FEB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D7C49B-2245-49E3-A40A-188480B168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693B68-BEA9-41A4-AFA3-89433C3077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C6F9DB-77C6-41A5-8443-D56583171718}"/>
              </a:ext>
            </a:extLst>
          </p:cNvPr>
          <p:cNvSpPr>
            <a:spLocks noGrp="1"/>
          </p:cNvSpPr>
          <p:nvPr>
            <p:ph type="dt" sz="half" idx="10"/>
          </p:nvPr>
        </p:nvSpPr>
        <p:spPr/>
        <p:txBody>
          <a:bodyPr/>
          <a:lstStyle/>
          <a:p>
            <a:fld id="{B37DAFDB-45D3-46D4-B985-70F72D7B4919}" type="datetimeFigureOut">
              <a:rPr lang="en-US" smtClean="0"/>
              <a:t>2/9/2022</a:t>
            </a:fld>
            <a:endParaRPr lang="en-US" dirty="0"/>
          </a:p>
        </p:txBody>
      </p:sp>
      <p:sp>
        <p:nvSpPr>
          <p:cNvPr id="6" name="Footer Placeholder 5">
            <a:extLst>
              <a:ext uri="{FF2B5EF4-FFF2-40B4-BE49-F238E27FC236}">
                <a16:creationId xmlns:a16="http://schemas.microsoft.com/office/drawing/2014/main" id="{2CB78F89-B91B-4D7D-AB18-8ADE91AC0C1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DDBD455-EA57-4228-926B-A0FDE8B99A81}"/>
              </a:ext>
            </a:extLst>
          </p:cNvPr>
          <p:cNvSpPr>
            <a:spLocks noGrp="1"/>
          </p:cNvSpPr>
          <p:nvPr>
            <p:ph type="sldNum" sz="quarter" idx="12"/>
          </p:nvPr>
        </p:nvSpPr>
        <p:spPr/>
        <p:txBody>
          <a:bodyPr/>
          <a:lstStyle/>
          <a:p>
            <a:fld id="{8EAFF56B-11D4-48D6-AF98-A3AE9B61457A}" type="slidenum">
              <a:rPr lang="en-US" smtClean="0"/>
              <a:t>‹#›</a:t>
            </a:fld>
            <a:endParaRPr lang="en-US" dirty="0"/>
          </a:p>
        </p:txBody>
      </p:sp>
    </p:spTree>
    <p:extLst>
      <p:ext uri="{BB962C8B-B14F-4D97-AF65-F5344CB8AC3E}">
        <p14:creationId xmlns:p14="http://schemas.microsoft.com/office/powerpoint/2010/main" val="2588528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CF183-C3FF-4B75-8FD6-C272DF0811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E477E0-1487-4F5D-A125-618BE9B49F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EFE012-8462-4DE4-A2E8-7516517ED6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0382EE-AE32-49C0-B8B5-4261AF606D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F3F3B8-EE76-4609-80A4-1D7EE81609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83E2B9-7EB8-4BB3-B0DF-8E7363112F34}"/>
              </a:ext>
            </a:extLst>
          </p:cNvPr>
          <p:cNvSpPr>
            <a:spLocks noGrp="1"/>
          </p:cNvSpPr>
          <p:nvPr>
            <p:ph type="dt" sz="half" idx="10"/>
          </p:nvPr>
        </p:nvSpPr>
        <p:spPr/>
        <p:txBody>
          <a:bodyPr/>
          <a:lstStyle/>
          <a:p>
            <a:fld id="{B37DAFDB-45D3-46D4-B985-70F72D7B4919}" type="datetimeFigureOut">
              <a:rPr lang="en-US" smtClean="0"/>
              <a:t>2/9/2022</a:t>
            </a:fld>
            <a:endParaRPr lang="en-US" dirty="0"/>
          </a:p>
        </p:txBody>
      </p:sp>
      <p:sp>
        <p:nvSpPr>
          <p:cNvPr id="8" name="Footer Placeholder 7">
            <a:extLst>
              <a:ext uri="{FF2B5EF4-FFF2-40B4-BE49-F238E27FC236}">
                <a16:creationId xmlns:a16="http://schemas.microsoft.com/office/drawing/2014/main" id="{1060071F-E5AE-4743-A9C4-D96E3DA8FBB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7A10183-5304-4D9F-8CD0-0AFCB07E6849}"/>
              </a:ext>
            </a:extLst>
          </p:cNvPr>
          <p:cNvSpPr>
            <a:spLocks noGrp="1"/>
          </p:cNvSpPr>
          <p:nvPr>
            <p:ph type="sldNum" sz="quarter" idx="12"/>
          </p:nvPr>
        </p:nvSpPr>
        <p:spPr/>
        <p:txBody>
          <a:bodyPr/>
          <a:lstStyle/>
          <a:p>
            <a:fld id="{8EAFF56B-11D4-48D6-AF98-A3AE9B61457A}" type="slidenum">
              <a:rPr lang="en-US" smtClean="0"/>
              <a:t>‹#›</a:t>
            </a:fld>
            <a:endParaRPr lang="en-US" dirty="0"/>
          </a:p>
        </p:txBody>
      </p:sp>
    </p:spTree>
    <p:extLst>
      <p:ext uri="{BB962C8B-B14F-4D97-AF65-F5344CB8AC3E}">
        <p14:creationId xmlns:p14="http://schemas.microsoft.com/office/powerpoint/2010/main" val="2487241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91561-6BF6-4DF9-B4BC-46961FE2D6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EB29E3-C193-42D1-BA51-7BF694137F45}"/>
              </a:ext>
            </a:extLst>
          </p:cNvPr>
          <p:cNvSpPr>
            <a:spLocks noGrp="1"/>
          </p:cNvSpPr>
          <p:nvPr>
            <p:ph type="dt" sz="half" idx="10"/>
          </p:nvPr>
        </p:nvSpPr>
        <p:spPr/>
        <p:txBody>
          <a:bodyPr/>
          <a:lstStyle/>
          <a:p>
            <a:fld id="{B37DAFDB-45D3-46D4-B985-70F72D7B4919}" type="datetimeFigureOut">
              <a:rPr lang="en-US" smtClean="0"/>
              <a:t>2/9/2022</a:t>
            </a:fld>
            <a:endParaRPr lang="en-US" dirty="0"/>
          </a:p>
        </p:txBody>
      </p:sp>
      <p:sp>
        <p:nvSpPr>
          <p:cNvPr id="4" name="Footer Placeholder 3">
            <a:extLst>
              <a:ext uri="{FF2B5EF4-FFF2-40B4-BE49-F238E27FC236}">
                <a16:creationId xmlns:a16="http://schemas.microsoft.com/office/drawing/2014/main" id="{4701EDC1-E0EB-45E3-A26F-343798C75BB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AE1CD64-21B4-461A-9CFF-9EE890C8C644}"/>
              </a:ext>
            </a:extLst>
          </p:cNvPr>
          <p:cNvSpPr>
            <a:spLocks noGrp="1"/>
          </p:cNvSpPr>
          <p:nvPr>
            <p:ph type="sldNum" sz="quarter" idx="12"/>
          </p:nvPr>
        </p:nvSpPr>
        <p:spPr/>
        <p:txBody>
          <a:bodyPr/>
          <a:lstStyle/>
          <a:p>
            <a:fld id="{8EAFF56B-11D4-48D6-AF98-A3AE9B61457A}" type="slidenum">
              <a:rPr lang="en-US" smtClean="0"/>
              <a:t>‹#›</a:t>
            </a:fld>
            <a:endParaRPr lang="en-US" dirty="0"/>
          </a:p>
        </p:txBody>
      </p:sp>
    </p:spTree>
    <p:extLst>
      <p:ext uri="{BB962C8B-B14F-4D97-AF65-F5344CB8AC3E}">
        <p14:creationId xmlns:p14="http://schemas.microsoft.com/office/powerpoint/2010/main" val="493825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6CB31E-2D87-4434-A4B2-0C6FD1E85E3B}"/>
              </a:ext>
            </a:extLst>
          </p:cNvPr>
          <p:cNvSpPr>
            <a:spLocks noGrp="1"/>
          </p:cNvSpPr>
          <p:nvPr>
            <p:ph type="dt" sz="half" idx="10"/>
          </p:nvPr>
        </p:nvSpPr>
        <p:spPr/>
        <p:txBody>
          <a:bodyPr/>
          <a:lstStyle/>
          <a:p>
            <a:fld id="{B37DAFDB-45D3-46D4-B985-70F72D7B4919}" type="datetimeFigureOut">
              <a:rPr lang="en-US" smtClean="0"/>
              <a:t>2/9/2022</a:t>
            </a:fld>
            <a:endParaRPr lang="en-US" dirty="0"/>
          </a:p>
        </p:txBody>
      </p:sp>
      <p:sp>
        <p:nvSpPr>
          <p:cNvPr id="3" name="Footer Placeholder 2">
            <a:extLst>
              <a:ext uri="{FF2B5EF4-FFF2-40B4-BE49-F238E27FC236}">
                <a16:creationId xmlns:a16="http://schemas.microsoft.com/office/drawing/2014/main" id="{EDBCC5FD-DB37-4074-8449-5474411977F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408D5B9-5BA1-4206-BC19-B2AD15585D2E}"/>
              </a:ext>
            </a:extLst>
          </p:cNvPr>
          <p:cNvSpPr>
            <a:spLocks noGrp="1"/>
          </p:cNvSpPr>
          <p:nvPr>
            <p:ph type="sldNum" sz="quarter" idx="12"/>
          </p:nvPr>
        </p:nvSpPr>
        <p:spPr/>
        <p:txBody>
          <a:bodyPr/>
          <a:lstStyle/>
          <a:p>
            <a:fld id="{8EAFF56B-11D4-48D6-AF98-A3AE9B61457A}" type="slidenum">
              <a:rPr lang="en-US" smtClean="0"/>
              <a:t>‹#›</a:t>
            </a:fld>
            <a:endParaRPr lang="en-US" dirty="0"/>
          </a:p>
        </p:txBody>
      </p:sp>
    </p:spTree>
    <p:extLst>
      <p:ext uri="{BB962C8B-B14F-4D97-AF65-F5344CB8AC3E}">
        <p14:creationId xmlns:p14="http://schemas.microsoft.com/office/powerpoint/2010/main" val="1662644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09AA-CEE2-4409-9412-7F72780AB8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A71E39-09D8-47D8-86C6-9A7BEF1DC1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597BE7-D8D8-4479-BFA5-5B7A3A37F2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D3FF65-5DFC-4D88-A47C-EB3284B288BD}"/>
              </a:ext>
            </a:extLst>
          </p:cNvPr>
          <p:cNvSpPr>
            <a:spLocks noGrp="1"/>
          </p:cNvSpPr>
          <p:nvPr>
            <p:ph type="dt" sz="half" idx="10"/>
          </p:nvPr>
        </p:nvSpPr>
        <p:spPr/>
        <p:txBody>
          <a:bodyPr/>
          <a:lstStyle/>
          <a:p>
            <a:fld id="{B37DAFDB-45D3-46D4-B985-70F72D7B4919}" type="datetimeFigureOut">
              <a:rPr lang="en-US" smtClean="0"/>
              <a:t>2/9/2022</a:t>
            </a:fld>
            <a:endParaRPr lang="en-US" dirty="0"/>
          </a:p>
        </p:txBody>
      </p:sp>
      <p:sp>
        <p:nvSpPr>
          <p:cNvPr id="6" name="Footer Placeholder 5">
            <a:extLst>
              <a:ext uri="{FF2B5EF4-FFF2-40B4-BE49-F238E27FC236}">
                <a16:creationId xmlns:a16="http://schemas.microsoft.com/office/drawing/2014/main" id="{EB2E1EF3-4E3E-4908-8E5E-8E906ED4C26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1CF3E55-9860-4312-A348-B0562A342E7C}"/>
              </a:ext>
            </a:extLst>
          </p:cNvPr>
          <p:cNvSpPr>
            <a:spLocks noGrp="1"/>
          </p:cNvSpPr>
          <p:nvPr>
            <p:ph type="sldNum" sz="quarter" idx="12"/>
          </p:nvPr>
        </p:nvSpPr>
        <p:spPr/>
        <p:txBody>
          <a:bodyPr/>
          <a:lstStyle/>
          <a:p>
            <a:fld id="{8EAFF56B-11D4-48D6-AF98-A3AE9B61457A}" type="slidenum">
              <a:rPr lang="en-US" smtClean="0"/>
              <a:t>‹#›</a:t>
            </a:fld>
            <a:endParaRPr lang="en-US" dirty="0"/>
          </a:p>
        </p:txBody>
      </p:sp>
    </p:spTree>
    <p:extLst>
      <p:ext uri="{BB962C8B-B14F-4D97-AF65-F5344CB8AC3E}">
        <p14:creationId xmlns:p14="http://schemas.microsoft.com/office/powerpoint/2010/main" val="241651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DC57D-8CA2-4A6A-965D-ED1488A077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CDA267-2C2D-4725-866A-625A8800B3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5F55043-E1B4-4934-A6D5-F0EF333C42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D5607D-2EA9-49DB-9211-261F250D56C5}"/>
              </a:ext>
            </a:extLst>
          </p:cNvPr>
          <p:cNvSpPr>
            <a:spLocks noGrp="1"/>
          </p:cNvSpPr>
          <p:nvPr>
            <p:ph type="dt" sz="half" idx="10"/>
          </p:nvPr>
        </p:nvSpPr>
        <p:spPr/>
        <p:txBody>
          <a:bodyPr/>
          <a:lstStyle/>
          <a:p>
            <a:fld id="{B37DAFDB-45D3-46D4-B985-70F72D7B4919}" type="datetimeFigureOut">
              <a:rPr lang="en-US" smtClean="0"/>
              <a:t>2/9/2022</a:t>
            </a:fld>
            <a:endParaRPr lang="en-US" dirty="0"/>
          </a:p>
        </p:txBody>
      </p:sp>
      <p:sp>
        <p:nvSpPr>
          <p:cNvPr id="6" name="Footer Placeholder 5">
            <a:extLst>
              <a:ext uri="{FF2B5EF4-FFF2-40B4-BE49-F238E27FC236}">
                <a16:creationId xmlns:a16="http://schemas.microsoft.com/office/drawing/2014/main" id="{279AAB4A-3CB8-4133-8048-B44A8EAF43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976C3A4-4D25-4A1C-BECA-10B137804026}"/>
              </a:ext>
            </a:extLst>
          </p:cNvPr>
          <p:cNvSpPr>
            <a:spLocks noGrp="1"/>
          </p:cNvSpPr>
          <p:nvPr>
            <p:ph type="sldNum" sz="quarter" idx="12"/>
          </p:nvPr>
        </p:nvSpPr>
        <p:spPr/>
        <p:txBody>
          <a:bodyPr/>
          <a:lstStyle/>
          <a:p>
            <a:fld id="{8EAFF56B-11D4-48D6-AF98-A3AE9B61457A}" type="slidenum">
              <a:rPr lang="en-US" smtClean="0"/>
              <a:t>‹#›</a:t>
            </a:fld>
            <a:endParaRPr lang="en-US" dirty="0"/>
          </a:p>
        </p:txBody>
      </p:sp>
    </p:spTree>
    <p:extLst>
      <p:ext uri="{BB962C8B-B14F-4D97-AF65-F5344CB8AC3E}">
        <p14:creationId xmlns:p14="http://schemas.microsoft.com/office/powerpoint/2010/main" val="4236004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13A8F-DD53-450E-8F53-7D29D721F5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720E58-48B2-4054-AC30-17865511B8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AC5DA4-FD51-4160-B52B-CEB3D52BB8DC}"/>
              </a:ext>
            </a:extLst>
          </p:cNvPr>
          <p:cNvSpPr>
            <a:spLocks noGrp="1"/>
          </p:cNvSpPr>
          <p:nvPr>
            <p:ph type="dt" sz="half" idx="10"/>
          </p:nvPr>
        </p:nvSpPr>
        <p:spPr/>
        <p:txBody>
          <a:bodyPr/>
          <a:lstStyle/>
          <a:p>
            <a:fld id="{B37DAFDB-45D3-46D4-B985-70F72D7B4919}" type="datetimeFigureOut">
              <a:rPr lang="en-US" smtClean="0"/>
              <a:t>2/9/2022</a:t>
            </a:fld>
            <a:endParaRPr lang="en-US" dirty="0"/>
          </a:p>
        </p:txBody>
      </p:sp>
      <p:sp>
        <p:nvSpPr>
          <p:cNvPr id="5" name="Footer Placeholder 4">
            <a:extLst>
              <a:ext uri="{FF2B5EF4-FFF2-40B4-BE49-F238E27FC236}">
                <a16:creationId xmlns:a16="http://schemas.microsoft.com/office/drawing/2014/main" id="{2FB60695-54F8-4D63-A88B-631EA06DCC6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0AF7DAC-8A77-4857-A2BC-9129D72A46FE}"/>
              </a:ext>
            </a:extLst>
          </p:cNvPr>
          <p:cNvSpPr>
            <a:spLocks noGrp="1"/>
          </p:cNvSpPr>
          <p:nvPr>
            <p:ph type="sldNum" sz="quarter" idx="12"/>
          </p:nvPr>
        </p:nvSpPr>
        <p:spPr/>
        <p:txBody>
          <a:bodyPr/>
          <a:lstStyle/>
          <a:p>
            <a:fld id="{8EAFF56B-11D4-48D6-AF98-A3AE9B61457A}" type="slidenum">
              <a:rPr lang="en-US" smtClean="0"/>
              <a:t>‹#›</a:t>
            </a:fld>
            <a:endParaRPr lang="en-US" dirty="0"/>
          </a:p>
        </p:txBody>
      </p:sp>
    </p:spTree>
    <p:extLst>
      <p:ext uri="{BB962C8B-B14F-4D97-AF65-F5344CB8AC3E}">
        <p14:creationId xmlns:p14="http://schemas.microsoft.com/office/powerpoint/2010/main" val="375380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01AF84-414E-4C5E-8020-BCFA616388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E25DA3-400A-43D4-AB4D-29B809B974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6D923E-9789-4A53-88C7-769E7F776BA6}"/>
              </a:ext>
            </a:extLst>
          </p:cNvPr>
          <p:cNvSpPr>
            <a:spLocks noGrp="1"/>
          </p:cNvSpPr>
          <p:nvPr>
            <p:ph type="dt" sz="half" idx="10"/>
          </p:nvPr>
        </p:nvSpPr>
        <p:spPr/>
        <p:txBody>
          <a:bodyPr/>
          <a:lstStyle/>
          <a:p>
            <a:fld id="{B37DAFDB-45D3-46D4-B985-70F72D7B4919}" type="datetimeFigureOut">
              <a:rPr lang="en-US" smtClean="0"/>
              <a:t>2/9/2022</a:t>
            </a:fld>
            <a:endParaRPr lang="en-US" dirty="0"/>
          </a:p>
        </p:txBody>
      </p:sp>
      <p:sp>
        <p:nvSpPr>
          <p:cNvPr id="5" name="Footer Placeholder 4">
            <a:extLst>
              <a:ext uri="{FF2B5EF4-FFF2-40B4-BE49-F238E27FC236}">
                <a16:creationId xmlns:a16="http://schemas.microsoft.com/office/drawing/2014/main" id="{5E43989F-61E0-4E90-8434-760D7AACC3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9879F1-258A-48BC-84AD-2D97D3AB65BA}"/>
              </a:ext>
            </a:extLst>
          </p:cNvPr>
          <p:cNvSpPr>
            <a:spLocks noGrp="1"/>
          </p:cNvSpPr>
          <p:nvPr>
            <p:ph type="sldNum" sz="quarter" idx="12"/>
          </p:nvPr>
        </p:nvSpPr>
        <p:spPr/>
        <p:txBody>
          <a:bodyPr/>
          <a:lstStyle/>
          <a:p>
            <a:fld id="{8EAFF56B-11D4-48D6-AF98-A3AE9B61457A}" type="slidenum">
              <a:rPr lang="en-US" smtClean="0"/>
              <a:t>‹#›</a:t>
            </a:fld>
            <a:endParaRPr lang="en-US" dirty="0"/>
          </a:p>
        </p:txBody>
      </p:sp>
    </p:spTree>
    <p:extLst>
      <p:ext uri="{BB962C8B-B14F-4D97-AF65-F5344CB8AC3E}">
        <p14:creationId xmlns:p14="http://schemas.microsoft.com/office/powerpoint/2010/main" val="3703403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4">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endParaRPr lang="en-US"/>
          </a:p>
        </p:txBody>
      </p:sp>
      <p:pic>
        <p:nvPicPr>
          <p:cNvPr id="11" name="Picture 10" descr="Microsoft Azure logo">
            <a:extLst>
              <a:ext uri="{FF2B5EF4-FFF2-40B4-BE49-F238E27FC236}">
                <a16:creationId xmlns:a16="http://schemas.microsoft.com/office/drawing/2014/main" id="{AFDC29EE-BDE7-4363-B0FC-728521A3666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54169" y="439311"/>
            <a:ext cx="1335673" cy="188593"/>
          </a:xfrm>
          <a:prstGeom prst="rect">
            <a:avLst/>
          </a:prstGeom>
        </p:spPr>
      </p:pic>
      <p:sp>
        <p:nvSpPr>
          <p:cNvPr id="3" name="Footer Placeholder 1">
            <a:extLst>
              <a:ext uri="{FF2B5EF4-FFF2-40B4-BE49-F238E27FC236}">
                <a16:creationId xmlns:a16="http://schemas.microsoft.com/office/drawing/2014/main" id="{09EF93F2-5375-415F-A57E-76E392E44508}"/>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14662808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3" name="Footer Placeholder 1">
            <a:extLst>
              <a:ext uri="{FF2B5EF4-FFF2-40B4-BE49-F238E27FC236}">
                <a16:creationId xmlns:a16="http://schemas.microsoft.com/office/drawing/2014/main" id="{321C5BC6-3576-4A3E-899B-09DB91CBC4CB}"/>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140046579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179701"/>
            <a:ext cx="8892608" cy="49859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
        <p:nvSpPr>
          <p:cNvPr id="2" name="Footer Placeholder 1">
            <a:extLst>
              <a:ext uri="{FF2B5EF4-FFF2-40B4-BE49-F238E27FC236}">
                <a16:creationId xmlns:a16="http://schemas.microsoft.com/office/drawing/2014/main" id="{CAC636FD-8B7A-4800-AB08-3D6AA6585803}"/>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232502899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9F59A8-8383-418E-9777-7901F991A4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8B7245-11FE-44F5-9F0E-204FF8549B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2517F2-1DCD-4AB2-AFAE-D24914687D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7DAFDB-45D3-46D4-B985-70F72D7B4919}" type="datetimeFigureOut">
              <a:rPr lang="en-US" smtClean="0"/>
              <a:t>2/9/2022</a:t>
            </a:fld>
            <a:endParaRPr lang="en-US" dirty="0"/>
          </a:p>
        </p:txBody>
      </p:sp>
      <p:sp>
        <p:nvSpPr>
          <p:cNvPr id="5" name="Footer Placeholder 4">
            <a:extLst>
              <a:ext uri="{FF2B5EF4-FFF2-40B4-BE49-F238E27FC236}">
                <a16:creationId xmlns:a16="http://schemas.microsoft.com/office/drawing/2014/main" id="{785A0366-BB02-41B7-933A-6AFA1F44E9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1BA80D8-518E-41A0-B264-7E37752AD8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AFF56B-11D4-48D6-AF98-A3AE9B61457A}" type="slidenum">
              <a:rPr lang="en-US" smtClean="0"/>
              <a:t>‹#›</a:t>
            </a:fld>
            <a:endParaRPr lang="en-US" dirty="0"/>
          </a:p>
        </p:txBody>
      </p:sp>
    </p:spTree>
    <p:extLst>
      <p:ext uri="{BB962C8B-B14F-4D97-AF65-F5344CB8AC3E}">
        <p14:creationId xmlns:p14="http://schemas.microsoft.com/office/powerpoint/2010/main" val="11408996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6.emf"/><Relationship Id="rId4" Type="http://schemas.openxmlformats.org/officeDocument/2006/relationships/image" Target="../media/image5.emf"/></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image" Target="../media/image18.wmf"/><Relationship Id="rId3" Type="http://schemas.openxmlformats.org/officeDocument/2006/relationships/image" Target="../media/image8.wmf"/><Relationship Id="rId7" Type="http://schemas.openxmlformats.org/officeDocument/2006/relationships/image" Target="../media/image12.wmf"/><Relationship Id="rId12" Type="http://schemas.openxmlformats.org/officeDocument/2006/relationships/image" Target="../media/image17.wmf"/><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1.wmf"/><Relationship Id="rId11" Type="http://schemas.openxmlformats.org/officeDocument/2006/relationships/image" Target="../media/image16.wmf"/><Relationship Id="rId5" Type="http://schemas.openxmlformats.org/officeDocument/2006/relationships/image" Target="../media/image10.wmf"/><Relationship Id="rId10" Type="http://schemas.openxmlformats.org/officeDocument/2006/relationships/image" Target="../media/image15.wmf"/><Relationship Id="rId4" Type="http://schemas.openxmlformats.org/officeDocument/2006/relationships/image" Target="../media/image9.wmf"/><Relationship Id="rId9" Type="http://schemas.openxmlformats.org/officeDocument/2006/relationships/image" Target="../media/image14.wmf"/></Relationships>
</file>

<file path=ppt/slides/_rels/slide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s/_rels/slide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6.emf"/><Relationship Id="rId5" Type="http://schemas.openxmlformats.org/officeDocument/2006/relationships/image" Target="../media/image25.emf"/><Relationship Id="rId4" Type="http://schemas.openxmlformats.org/officeDocument/2006/relationships/image" Target="../media/image24.emf"/></Relationships>
</file>

<file path=ppt/slides/_rels/slide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29.emf"/><Relationship Id="rId4" Type="http://schemas.openxmlformats.org/officeDocument/2006/relationships/image" Target="../media/image28.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image" Target="../media/image30.wmf"/><Relationship Id="rId7" Type="http://schemas.openxmlformats.org/officeDocument/2006/relationships/image" Target="../media/image34.wmf"/><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33.wmf"/><Relationship Id="rId5" Type="http://schemas.openxmlformats.org/officeDocument/2006/relationships/image" Target="../media/image32.wmf"/><Relationship Id="rId4" Type="http://schemas.openxmlformats.org/officeDocument/2006/relationships/image" Target="../media/image31.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39.emf"/><Relationship Id="rId7" Type="http://schemas.openxmlformats.org/officeDocument/2006/relationships/image" Target="../media/image43.emf"/><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42.emf"/><Relationship Id="rId5" Type="http://schemas.openxmlformats.org/officeDocument/2006/relationships/image" Target="../media/image41.emf"/><Relationship Id="rId4" Type="http://schemas.openxmlformats.org/officeDocument/2006/relationships/image" Target="../media/image40.emf"/></Relationships>
</file>

<file path=ppt/slides/_rels/slide15.xml.rels><?xml version="1.0" encoding="UTF-8" standalone="yes"?>
<Relationships xmlns="http://schemas.openxmlformats.org/package/2006/relationships"><Relationship Id="rId8" Type="http://schemas.openxmlformats.org/officeDocument/2006/relationships/image" Target="../media/image49.emf"/><Relationship Id="rId3" Type="http://schemas.openxmlformats.org/officeDocument/2006/relationships/image" Target="../media/image44.emf"/><Relationship Id="rId7" Type="http://schemas.openxmlformats.org/officeDocument/2006/relationships/image" Target="../media/image48.emf"/><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47.emf"/><Relationship Id="rId5" Type="http://schemas.openxmlformats.org/officeDocument/2006/relationships/image" Target="../media/image46.emf"/><Relationship Id="rId4" Type="http://schemas.openxmlformats.org/officeDocument/2006/relationships/image" Target="../media/image45.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C7C3CA-ED0D-43F4-B388-221F872F5C1D}"/>
              </a:ext>
            </a:extLst>
          </p:cNvPr>
          <p:cNvSpPr>
            <a:spLocks noGrp="1"/>
          </p:cNvSpPr>
          <p:nvPr>
            <p:ph type="title"/>
          </p:nvPr>
        </p:nvSpPr>
        <p:spPr>
          <a:xfrm>
            <a:off x="437828" y="1912251"/>
            <a:ext cx="5428936" cy="2760768"/>
          </a:xfrm>
        </p:spPr>
        <p:txBody>
          <a:bodyPr>
            <a:normAutofit/>
          </a:bodyPr>
          <a:lstStyle/>
          <a:p>
            <a:r>
              <a:rPr lang="en-US" sz="4509" dirty="0"/>
              <a:t>AZ-700T00A</a:t>
            </a:r>
            <a:br>
              <a:rPr lang="en-US" sz="4509" dirty="0"/>
            </a:br>
            <a:r>
              <a:rPr lang="en-US" sz="4509" dirty="0"/>
              <a:t>Designing and Implementing Azure Networking Solutions</a:t>
            </a:r>
          </a:p>
        </p:txBody>
      </p:sp>
    </p:spTree>
    <p:extLst>
      <p:ext uri="{BB962C8B-B14F-4D97-AF65-F5344CB8AC3E}">
        <p14:creationId xmlns:p14="http://schemas.microsoft.com/office/powerpoint/2010/main" val="28110734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CACCE5-EE3E-4CAF-B118-E7F6481C5D8D}"/>
              </a:ext>
            </a:extLst>
          </p:cNvPr>
          <p:cNvSpPr>
            <a:spLocks noGrp="1"/>
          </p:cNvSpPr>
          <p:nvPr>
            <p:ph type="title"/>
          </p:nvPr>
        </p:nvSpPr>
        <p:spPr/>
        <p:txBody>
          <a:bodyPr/>
          <a:lstStyle/>
          <a:p>
            <a:r>
              <a:rPr lang="en-US" dirty="0"/>
              <a:t>Welcome</a:t>
            </a:r>
          </a:p>
        </p:txBody>
      </p:sp>
      <p:sp>
        <p:nvSpPr>
          <p:cNvPr id="7" name="Text Placeholder 9">
            <a:extLst>
              <a:ext uri="{FF2B5EF4-FFF2-40B4-BE49-F238E27FC236}">
                <a16:creationId xmlns:a16="http://schemas.microsoft.com/office/drawing/2014/main" id="{6FBD00D0-15B8-476A-A75A-6918D89F8AA5}"/>
              </a:ext>
            </a:extLst>
          </p:cNvPr>
          <p:cNvSpPr txBox="1">
            <a:spLocks/>
          </p:cNvSpPr>
          <p:nvPr/>
        </p:nvSpPr>
        <p:spPr>
          <a:xfrm>
            <a:off x="1" y="1182821"/>
            <a:ext cx="12191999" cy="575987"/>
          </a:xfrm>
          <a:prstGeom prst="rect">
            <a:avLst/>
          </a:prstGeom>
          <a:solidFill>
            <a:srgbClr val="243A5E"/>
          </a:solidFill>
        </p:spPr>
        <p:txBody>
          <a:bodyPr vert="horz" wrap="square" lIns="0" tIns="89642" rIns="143428" bIns="89642"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01506"/>
            <a:r>
              <a:rPr lang="en-US" sz="1961" dirty="0">
                <a:solidFill>
                  <a:schemeClr val="bg1"/>
                </a:solidFill>
              </a:rPr>
              <a:t>Thank you for joining us today </a:t>
            </a:r>
          </a:p>
        </p:txBody>
      </p:sp>
      <p:sp>
        <p:nvSpPr>
          <p:cNvPr id="8" name="Text Placeholder 8">
            <a:extLst>
              <a:ext uri="{FF2B5EF4-FFF2-40B4-BE49-F238E27FC236}">
                <a16:creationId xmlns:a16="http://schemas.microsoft.com/office/drawing/2014/main" id="{3E4E8B15-8431-4159-9945-2306026BEB9C}"/>
              </a:ext>
            </a:extLst>
          </p:cNvPr>
          <p:cNvSpPr txBox="1">
            <a:spLocks/>
          </p:cNvSpPr>
          <p:nvPr/>
        </p:nvSpPr>
        <p:spPr>
          <a:xfrm>
            <a:off x="423763" y="1768086"/>
            <a:ext cx="10731746" cy="995873"/>
          </a:xfrm>
          <a:prstGeom prst="rect">
            <a:avLst/>
          </a:prstGeom>
        </p:spPr>
        <p:txBody>
          <a:bodyPr vert="horz" wrap="square" lIns="0" tIns="89642" rIns="143428" bIns="89642" rtlCol="0" anchor="ctr">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765" spc="0" dirty="0">
                <a:solidFill>
                  <a:schemeClr val="tx1"/>
                </a:solidFill>
                <a:latin typeface="+mn-lt"/>
              </a:rPr>
              <a:t>We’ve worked together with the Microsoft Partner Network and Microsoft IT Academies to bring you a world-class learning experience. At the end of class, please complete an evaluation of today’s experience. We value your feedback! </a:t>
            </a:r>
          </a:p>
        </p:txBody>
      </p:sp>
      <p:pic>
        <p:nvPicPr>
          <p:cNvPr id="18" name="Picture 17" descr="Icon of a checkmark inside a badge">
            <a:extLst>
              <a:ext uri="{FF2B5EF4-FFF2-40B4-BE49-F238E27FC236}">
                <a16:creationId xmlns:a16="http://schemas.microsoft.com/office/drawing/2014/main" id="{A23F78E2-FC03-4C2D-AC40-6B1455FA7A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7647" y="2851917"/>
            <a:ext cx="772419" cy="772419"/>
          </a:xfrm>
          <a:prstGeom prst="rect">
            <a:avLst/>
          </a:prstGeom>
        </p:spPr>
      </p:pic>
      <p:sp>
        <p:nvSpPr>
          <p:cNvPr id="21" name="Text Placeholder 8">
            <a:extLst>
              <a:ext uri="{FF2B5EF4-FFF2-40B4-BE49-F238E27FC236}">
                <a16:creationId xmlns:a16="http://schemas.microsoft.com/office/drawing/2014/main" id="{B70E347B-36C7-48CD-8E2F-6F9763284868}"/>
              </a:ext>
            </a:extLst>
          </p:cNvPr>
          <p:cNvSpPr txBox="1">
            <a:spLocks/>
          </p:cNvSpPr>
          <p:nvPr/>
        </p:nvSpPr>
        <p:spPr>
          <a:xfrm>
            <a:off x="1354172" y="2803038"/>
            <a:ext cx="2380933" cy="841757"/>
          </a:xfrm>
          <a:prstGeom prst="rect">
            <a:avLst/>
          </a:prstGeom>
        </p:spPr>
        <p:txBody>
          <a:bodyPr vert="horz" wrap="square" lIns="0" tIns="89642" rIns="143428" bIns="89642"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765" spc="0" dirty="0">
                <a:solidFill>
                  <a:schemeClr val="tx2"/>
                </a:solidFill>
              </a:rPr>
              <a:t>Microsoft Certified Trainers + Instructors</a:t>
            </a:r>
          </a:p>
        </p:txBody>
      </p:sp>
      <p:sp>
        <p:nvSpPr>
          <p:cNvPr id="24" name="Text Placeholder 8">
            <a:extLst>
              <a:ext uri="{FF2B5EF4-FFF2-40B4-BE49-F238E27FC236}">
                <a16:creationId xmlns:a16="http://schemas.microsoft.com/office/drawing/2014/main" id="{9DDAAB3E-4CEF-4A38-BFC4-0601F6379DFD}"/>
              </a:ext>
            </a:extLst>
          </p:cNvPr>
          <p:cNvSpPr txBox="1">
            <a:spLocks/>
          </p:cNvSpPr>
          <p:nvPr/>
        </p:nvSpPr>
        <p:spPr>
          <a:xfrm>
            <a:off x="3959210" y="2803038"/>
            <a:ext cx="7814148" cy="841757"/>
          </a:xfrm>
          <a:prstGeom prst="rect">
            <a:avLst/>
          </a:prstGeom>
        </p:spPr>
        <p:txBody>
          <a:bodyPr vert="horz" wrap="square" lIns="0" tIns="89642" rIns="143428" bIns="89642"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68" spc="0" dirty="0">
                <a:solidFill>
                  <a:schemeClr val="tx1"/>
                </a:solidFill>
                <a:latin typeface="+mn-lt"/>
              </a:rPr>
              <a:t>Your instructor is a premier technical and instructional expert who meets ongoing certification requirements</a:t>
            </a:r>
          </a:p>
        </p:txBody>
      </p:sp>
      <p:cxnSp>
        <p:nvCxnSpPr>
          <p:cNvPr id="19" name="Straight Connector 18">
            <a:extLst>
              <a:ext uri="{FF2B5EF4-FFF2-40B4-BE49-F238E27FC236}">
                <a16:creationId xmlns:a16="http://schemas.microsoft.com/office/drawing/2014/main" id="{260F2520-1EEC-4F16-8BC0-3B587F7C9FD4}"/>
              </a:ext>
              <a:ext uri="{C183D7F6-B498-43B3-948B-1728B52AA6E4}">
                <adec:decorative xmlns:adec="http://schemas.microsoft.com/office/drawing/2017/decorative" val="1"/>
              </a:ext>
            </a:extLst>
          </p:cNvPr>
          <p:cNvCxnSpPr>
            <a:cxnSpLocks/>
          </p:cNvCxnSpPr>
          <p:nvPr/>
        </p:nvCxnSpPr>
        <p:spPr>
          <a:xfrm>
            <a:off x="1383768" y="3735334"/>
            <a:ext cx="1031244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0" name="Picture 19" descr="Icon of a person">
            <a:extLst>
              <a:ext uri="{FF2B5EF4-FFF2-40B4-BE49-F238E27FC236}">
                <a16:creationId xmlns:a16="http://schemas.microsoft.com/office/drawing/2014/main" id="{EE6E7DCA-7DDA-4511-9495-802011EE645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9881" y="3856980"/>
            <a:ext cx="772419" cy="772419"/>
          </a:xfrm>
          <a:prstGeom prst="rect">
            <a:avLst/>
          </a:prstGeom>
        </p:spPr>
      </p:pic>
      <p:sp>
        <p:nvSpPr>
          <p:cNvPr id="22" name="Text Placeholder 8">
            <a:extLst>
              <a:ext uri="{FF2B5EF4-FFF2-40B4-BE49-F238E27FC236}">
                <a16:creationId xmlns:a16="http://schemas.microsoft.com/office/drawing/2014/main" id="{BE7B9B6C-FA65-43A6-8E9B-F2D2563CC71B}"/>
              </a:ext>
            </a:extLst>
          </p:cNvPr>
          <p:cNvSpPr txBox="1">
            <a:spLocks/>
          </p:cNvSpPr>
          <p:nvPr/>
        </p:nvSpPr>
        <p:spPr>
          <a:xfrm>
            <a:off x="1354172" y="3826400"/>
            <a:ext cx="2380933" cy="841757"/>
          </a:xfrm>
          <a:prstGeom prst="rect">
            <a:avLst/>
          </a:prstGeom>
        </p:spPr>
        <p:txBody>
          <a:bodyPr vert="horz" wrap="square" lIns="0" tIns="89642" rIns="143428" bIns="89642"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765" spc="0" dirty="0">
                <a:solidFill>
                  <a:schemeClr val="tx2"/>
                </a:solidFill>
              </a:rPr>
              <a:t>Customer Satisfaction Guarantee</a:t>
            </a:r>
          </a:p>
        </p:txBody>
      </p:sp>
      <p:sp>
        <p:nvSpPr>
          <p:cNvPr id="25" name="Text Placeholder 8">
            <a:extLst>
              <a:ext uri="{FF2B5EF4-FFF2-40B4-BE49-F238E27FC236}">
                <a16:creationId xmlns:a16="http://schemas.microsoft.com/office/drawing/2014/main" id="{AC5A5D00-CF92-431B-9D14-A361B648BA82}"/>
              </a:ext>
            </a:extLst>
          </p:cNvPr>
          <p:cNvSpPr txBox="1">
            <a:spLocks/>
          </p:cNvSpPr>
          <p:nvPr/>
        </p:nvSpPr>
        <p:spPr>
          <a:xfrm>
            <a:off x="3959210" y="3826400"/>
            <a:ext cx="7814148" cy="841757"/>
          </a:xfrm>
          <a:prstGeom prst="rect">
            <a:avLst/>
          </a:prstGeom>
        </p:spPr>
        <p:txBody>
          <a:bodyPr vert="horz" wrap="square" lIns="0" tIns="89642" rIns="143428" bIns="89642"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68" spc="0" dirty="0">
                <a:solidFill>
                  <a:schemeClr val="tx1"/>
                </a:solidFill>
                <a:latin typeface="+mn-lt"/>
              </a:rPr>
              <a:t>Our partners offer a satisfaction guarantee, and we hold them accountable for it </a:t>
            </a:r>
          </a:p>
        </p:txBody>
      </p:sp>
      <p:cxnSp>
        <p:nvCxnSpPr>
          <p:cNvPr id="35" name="Straight Connector 34">
            <a:extLst>
              <a:ext uri="{FF2B5EF4-FFF2-40B4-BE49-F238E27FC236}">
                <a16:creationId xmlns:a16="http://schemas.microsoft.com/office/drawing/2014/main" id="{31FD7881-3357-4EF0-9269-0B073F8505A0}"/>
              </a:ext>
              <a:ext uri="{C183D7F6-B498-43B3-948B-1728B52AA6E4}">
                <adec:decorative xmlns:adec="http://schemas.microsoft.com/office/drawing/2017/decorative" val="1"/>
              </a:ext>
            </a:extLst>
          </p:cNvPr>
          <p:cNvCxnSpPr>
            <a:cxnSpLocks/>
          </p:cNvCxnSpPr>
          <p:nvPr/>
        </p:nvCxnSpPr>
        <p:spPr>
          <a:xfrm>
            <a:off x="1383768" y="4749750"/>
            <a:ext cx="1031244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3" name="Picture 72" descr="Icon of check mark enclosed by an arc">
            <a:extLst>
              <a:ext uri="{FF2B5EF4-FFF2-40B4-BE49-F238E27FC236}">
                <a16:creationId xmlns:a16="http://schemas.microsoft.com/office/drawing/2014/main" id="{3C5F836B-635F-4F74-A3FB-08FD554D96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9881" y="4871395"/>
            <a:ext cx="772419" cy="772419"/>
          </a:xfrm>
          <a:prstGeom prst="rect">
            <a:avLst/>
          </a:prstGeom>
        </p:spPr>
      </p:pic>
      <p:sp>
        <p:nvSpPr>
          <p:cNvPr id="23" name="Text Placeholder 8">
            <a:extLst>
              <a:ext uri="{FF2B5EF4-FFF2-40B4-BE49-F238E27FC236}">
                <a16:creationId xmlns:a16="http://schemas.microsoft.com/office/drawing/2014/main" id="{8017221B-3B34-4519-816D-131618EEC890}"/>
              </a:ext>
            </a:extLst>
          </p:cNvPr>
          <p:cNvSpPr txBox="1">
            <a:spLocks/>
          </p:cNvSpPr>
          <p:nvPr/>
        </p:nvSpPr>
        <p:spPr>
          <a:xfrm>
            <a:off x="1354172" y="4849763"/>
            <a:ext cx="2380933" cy="841757"/>
          </a:xfrm>
          <a:prstGeom prst="rect">
            <a:avLst/>
          </a:prstGeom>
        </p:spPr>
        <p:txBody>
          <a:bodyPr vert="horz" wrap="square" lIns="0" tIns="89642" rIns="143428" bIns="89642"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765" spc="0" dirty="0">
                <a:solidFill>
                  <a:schemeClr val="tx2"/>
                </a:solidFill>
              </a:rPr>
              <a:t>Certification Exam Benefits</a:t>
            </a:r>
          </a:p>
        </p:txBody>
      </p:sp>
      <p:sp>
        <p:nvSpPr>
          <p:cNvPr id="26" name="Text Placeholder 8">
            <a:extLst>
              <a:ext uri="{FF2B5EF4-FFF2-40B4-BE49-F238E27FC236}">
                <a16:creationId xmlns:a16="http://schemas.microsoft.com/office/drawing/2014/main" id="{F7C6FFA4-CA06-4DD1-9B21-E7D2E2685A98}"/>
              </a:ext>
            </a:extLst>
          </p:cNvPr>
          <p:cNvSpPr txBox="1">
            <a:spLocks/>
          </p:cNvSpPr>
          <p:nvPr/>
        </p:nvSpPr>
        <p:spPr>
          <a:xfrm>
            <a:off x="3959210" y="4849763"/>
            <a:ext cx="7814148" cy="841757"/>
          </a:xfrm>
          <a:prstGeom prst="rect">
            <a:avLst/>
          </a:prstGeom>
        </p:spPr>
        <p:txBody>
          <a:bodyPr vert="horz" wrap="square" lIns="0" tIns="89642" rIns="143428" bIns="89642"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68" spc="0" dirty="0">
                <a:solidFill>
                  <a:schemeClr val="tx1"/>
                </a:solidFill>
                <a:latin typeface="+mn-lt"/>
              </a:rPr>
              <a:t>After training, consider pursuing a Microsoft Certification to help distinguish your technical expertise and experience. Ask your instructor about available exam promotions and discounts</a:t>
            </a:r>
          </a:p>
        </p:txBody>
      </p:sp>
      <p:sp>
        <p:nvSpPr>
          <p:cNvPr id="27" name="Text Placeholder 9">
            <a:extLst>
              <a:ext uri="{FF2B5EF4-FFF2-40B4-BE49-F238E27FC236}">
                <a16:creationId xmlns:a16="http://schemas.microsoft.com/office/drawing/2014/main" id="{9F28C92E-1E3E-4718-9E02-9D4AC91E4EF5}"/>
              </a:ext>
            </a:extLst>
          </p:cNvPr>
          <p:cNvSpPr txBox="1">
            <a:spLocks/>
          </p:cNvSpPr>
          <p:nvPr/>
        </p:nvSpPr>
        <p:spPr>
          <a:xfrm>
            <a:off x="1" y="5789580"/>
            <a:ext cx="12191999" cy="475908"/>
          </a:xfrm>
          <a:prstGeom prst="rect">
            <a:avLst/>
          </a:prstGeom>
          <a:solidFill>
            <a:schemeClr val="bg1">
              <a:lumMod val="95000"/>
            </a:schemeClr>
          </a:solidFill>
        </p:spPr>
        <p:txBody>
          <a:bodyPr vert="horz" wrap="square" lIns="0" tIns="89642" rIns="143428" bIns="89642"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01506"/>
            <a:r>
              <a:rPr lang="en-US" sz="1765" spc="0" dirty="0">
                <a:solidFill>
                  <a:schemeClr val="tx1"/>
                </a:solidFill>
              </a:rPr>
              <a:t>We wish you a great learning experience and ongoing career success!</a:t>
            </a:r>
          </a:p>
        </p:txBody>
      </p:sp>
    </p:spTree>
    <p:extLst>
      <p:ext uri="{BB962C8B-B14F-4D97-AF65-F5344CB8AC3E}">
        <p14:creationId xmlns:p14="http://schemas.microsoft.com/office/powerpoint/2010/main" val="408697955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02E7D22-F34B-4859-852F-1B6C51D80AD5}"/>
              </a:ext>
            </a:extLst>
          </p:cNvPr>
          <p:cNvSpPr>
            <a:spLocks noGrp="1"/>
          </p:cNvSpPr>
          <p:nvPr>
            <p:ph type="title"/>
          </p:nvPr>
        </p:nvSpPr>
        <p:spPr/>
        <p:txBody>
          <a:bodyPr/>
          <a:lstStyle/>
          <a:p>
            <a:r>
              <a:rPr lang="en-US" dirty="0"/>
              <a:t>Hello! Instructor Introduction</a:t>
            </a:r>
          </a:p>
        </p:txBody>
      </p:sp>
      <p:sp>
        <p:nvSpPr>
          <p:cNvPr id="7" name="Rectangle 6">
            <a:extLst>
              <a:ext uri="{FF2B5EF4-FFF2-40B4-BE49-F238E27FC236}">
                <a16:creationId xmlns:a16="http://schemas.microsoft.com/office/drawing/2014/main" id="{CA8EA4D7-F0F2-4C36-8465-AADFA18DD1F4}"/>
              </a:ext>
              <a:ext uri="{C183D7F6-B498-43B3-948B-1728B52AA6E4}">
                <adec:decorative xmlns:adec="http://schemas.microsoft.com/office/drawing/2017/decorative" val="0"/>
              </a:ext>
            </a:extLst>
          </p:cNvPr>
          <p:cNvSpPr/>
          <p:nvPr/>
        </p:nvSpPr>
        <p:spPr bwMode="auto">
          <a:xfrm>
            <a:off x="426372" y="1519117"/>
            <a:ext cx="5351656" cy="4606939"/>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79285" rIns="179285" bIns="179285" numCol="1" spcCol="0" rtlCol="0" fromWordArt="0" anchor="t" anchorCtr="0" forceAA="0" compatLnSpc="1">
            <a:prstTxWarp prst="textNoShape">
              <a:avLst/>
            </a:prstTxWarp>
            <a:noAutofit/>
          </a:bodyPr>
          <a:lstStyle/>
          <a:p>
            <a:pPr>
              <a:spcBef>
                <a:spcPts val="1176"/>
              </a:spcBef>
            </a:pPr>
            <a:r>
              <a:rPr lang="en-US" sz="2549" dirty="0">
                <a:solidFill>
                  <a:schemeClr val="tx1"/>
                </a:solidFill>
                <a:latin typeface="+mj-lt"/>
              </a:rPr>
              <a:t>Instructor:</a:t>
            </a:r>
            <a:r>
              <a:rPr lang="en-US" sz="2549" dirty="0">
                <a:solidFill>
                  <a:schemeClr val="tx1"/>
                </a:solidFill>
              </a:rPr>
              <a:t> &lt;Name&gt;</a:t>
            </a:r>
          </a:p>
          <a:p>
            <a:pPr>
              <a:spcBef>
                <a:spcPts val="1176"/>
              </a:spcBef>
            </a:pPr>
            <a:r>
              <a:rPr lang="en-US" sz="2549" dirty="0">
                <a:solidFill>
                  <a:schemeClr val="tx1"/>
                </a:solidFill>
              </a:rPr>
              <a:t>&lt;Title or other credentials,</a:t>
            </a:r>
            <a:br>
              <a:rPr lang="en-US" sz="2549" dirty="0">
                <a:solidFill>
                  <a:schemeClr val="tx1"/>
                </a:solidFill>
              </a:rPr>
            </a:br>
            <a:r>
              <a:rPr lang="en-US" sz="2549" dirty="0">
                <a:solidFill>
                  <a:schemeClr val="tx1"/>
                </a:solidFill>
              </a:rPr>
              <a:t>e.g., Microsoft Certified Trainer&gt;</a:t>
            </a:r>
          </a:p>
          <a:p>
            <a:pPr>
              <a:spcBef>
                <a:spcPts val="1176"/>
              </a:spcBef>
            </a:pPr>
            <a:r>
              <a:rPr lang="en-US" sz="2549" dirty="0">
                <a:solidFill>
                  <a:schemeClr val="tx1"/>
                </a:solidFill>
              </a:rPr>
              <a:t>&lt;Affiliation/Company&gt;</a:t>
            </a:r>
          </a:p>
          <a:p>
            <a:pPr>
              <a:spcBef>
                <a:spcPts val="1176"/>
              </a:spcBef>
            </a:pPr>
            <a:r>
              <a:rPr lang="en-US" sz="2549" dirty="0">
                <a:solidFill>
                  <a:schemeClr val="tx1"/>
                </a:solidFill>
              </a:rPr>
              <a:t>&lt;A few words about my technical and professional experience</a:t>
            </a:r>
          </a:p>
        </p:txBody>
      </p:sp>
      <p:sp>
        <p:nvSpPr>
          <p:cNvPr id="6" name="Rectangle 5">
            <a:extLst>
              <a:ext uri="{FF2B5EF4-FFF2-40B4-BE49-F238E27FC236}">
                <a16:creationId xmlns:a16="http://schemas.microsoft.com/office/drawing/2014/main" id="{2F605BB6-25B9-45ED-948D-F0C22682897D}"/>
              </a:ext>
              <a:ext uri="{C183D7F6-B498-43B3-948B-1728B52AA6E4}">
                <adec:decorative xmlns:adec="http://schemas.microsoft.com/office/drawing/2017/decorative" val="1"/>
              </a:ext>
            </a:extLst>
          </p:cNvPr>
          <p:cNvSpPr/>
          <p:nvPr/>
        </p:nvSpPr>
        <p:spPr bwMode="auto">
          <a:xfrm>
            <a:off x="5919251" y="1519116"/>
            <a:ext cx="5854108" cy="4606939"/>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12" name="Picture 11" descr="Name tag with the word hello">
            <a:extLst>
              <a:ext uri="{FF2B5EF4-FFF2-40B4-BE49-F238E27FC236}">
                <a16:creationId xmlns:a16="http://schemas.microsoft.com/office/drawing/2014/main" id="{48413A4B-AD8D-4973-9CF4-C8D8F6C434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1840" y="2232789"/>
            <a:ext cx="4888927" cy="3179595"/>
          </a:xfrm>
          <a:prstGeom prst="rect">
            <a:avLst/>
          </a:prstGeom>
        </p:spPr>
      </p:pic>
    </p:spTree>
    <p:extLst>
      <p:ext uri="{BB962C8B-B14F-4D97-AF65-F5344CB8AC3E}">
        <p14:creationId xmlns:p14="http://schemas.microsoft.com/office/powerpoint/2010/main" val="276245240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E3F70-8B6D-4789-B751-3C77D08AB7FE}"/>
              </a:ext>
            </a:extLst>
          </p:cNvPr>
          <p:cNvSpPr>
            <a:spLocks noGrp="1"/>
          </p:cNvSpPr>
          <p:nvPr>
            <p:ph type="title"/>
          </p:nvPr>
        </p:nvSpPr>
        <p:spPr/>
        <p:txBody>
          <a:bodyPr/>
          <a:lstStyle/>
          <a:p>
            <a:r>
              <a:rPr lang="en-US" dirty="0"/>
              <a:t>Hello! Student Introductions</a:t>
            </a:r>
          </a:p>
        </p:txBody>
      </p:sp>
      <p:sp>
        <p:nvSpPr>
          <p:cNvPr id="10" name="Rectangle 9">
            <a:extLst>
              <a:ext uri="{FF2B5EF4-FFF2-40B4-BE49-F238E27FC236}">
                <a16:creationId xmlns:a16="http://schemas.microsoft.com/office/drawing/2014/main" id="{ECBA931F-6787-412A-BECF-EC5DA6AF2032}"/>
              </a:ext>
              <a:ext uri="{C183D7F6-B498-43B3-948B-1728B52AA6E4}">
                <adec:decorative xmlns:adec="http://schemas.microsoft.com/office/drawing/2017/decorative" val="0"/>
              </a:ext>
            </a:extLst>
          </p:cNvPr>
          <p:cNvSpPr/>
          <p:nvPr/>
        </p:nvSpPr>
        <p:spPr bwMode="auto">
          <a:xfrm>
            <a:off x="426372" y="1519117"/>
            <a:ext cx="5351656" cy="4606939"/>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34464" rIns="179285" bIns="134464" numCol="1" spcCol="0" rtlCol="0" fromWordArt="0" anchor="t" anchorCtr="0" forceAA="0" compatLnSpc="1">
            <a:prstTxWarp prst="textNoShape">
              <a:avLst/>
            </a:prstTxWarp>
            <a:noAutofit/>
          </a:bodyPr>
          <a:lstStyle/>
          <a:p>
            <a:pPr>
              <a:spcBef>
                <a:spcPts val="588"/>
              </a:spcBef>
              <a:spcAft>
                <a:spcPts val="1176"/>
              </a:spcAft>
            </a:pPr>
            <a:r>
              <a:rPr lang="en-US" sz="2745" dirty="0">
                <a:solidFill>
                  <a:schemeClr val="tx1"/>
                </a:solidFill>
              </a:rPr>
              <a:t>Your name</a:t>
            </a:r>
          </a:p>
          <a:p>
            <a:pPr>
              <a:spcBef>
                <a:spcPts val="588"/>
              </a:spcBef>
              <a:spcAft>
                <a:spcPts val="1176"/>
              </a:spcAft>
            </a:pPr>
            <a:r>
              <a:rPr lang="en-US" sz="2745" dirty="0">
                <a:solidFill>
                  <a:schemeClr val="tx1"/>
                </a:solidFill>
              </a:rPr>
              <a:t>Company affiliation</a:t>
            </a:r>
          </a:p>
          <a:p>
            <a:pPr>
              <a:spcBef>
                <a:spcPts val="588"/>
              </a:spcBef>
              <a:spcAft>
                <a:spcPts val="1176"/>
              </a:spcAft>
            </a:pPr>
            <a:r>
              <a:rPr lang="en-US" sz="2745" dirty="0">
                <a:solidFill>
                  <a:schemeClr val="tx1"/>
                </a:solidFill>
              </a:rPr>
              <a:t>Title/function</a:t>
            </a:r>
          </a:p>
          <a:p>
            <a:pPr>
              <a:spcBef>
                <a:spcPts val="588"/>
              </a:spcBef>
              <a:spcAft>
                <a:spcPts val="1176"/>
              </a:spcAft>
            </a:pPr>
            <a:r>
              <a:rPr lang="en-US" sz="2745" dirty="0">
                <a:solidFill>
                  <a:schemeClr val="tx1"/>
                </a:solidFill>
              </a:rPr>
              <a:t>Microsoft Azure experience</a:t>
            </a:r>
          </a:p>
          <a:p>
            <a:pPr>
              <a:spcBef>
                <a:spcPts val="588"/>
              </a:spcBef>
              <a:spcAft>
                <a:spcPts val="1176"/>
              </a:spcAft>
            </a:pPr>
            <a:r>
              <a:rPr lang="en-US" sz="2745" dirty="0">
                <a:solidFill>
                  <a:schemeClr val="tx1"/>
                </a:solidFill>
              </a:rPr>
              <a:t>Your expectations for the course</a:t>
            </a:r>
          </a:p>
        </p:txBody>
      </p:sp>
      <p:sp>
        <p:nvSpPr>
          <p:cNvPr id="9" name="Rectangle 8">
            <a:extLst>
              <a:ext uri="{FF2B5EF4-FFF2-40B4-BE49-F238E27FC236}">
                <a16:creationId xmlns:a16="http://schemas.microsoft.com/office/drawing/2014/main" id="{3A360786-6A15-405E-946F-CB9E24063B27}"/>
              </a:ext>
              <a:ext uri="{C183D7F6-B498-43B3-948B-1728B52AA6E4}">
                <adec:decorative xmlns:adec="http://schemas.microsoft.com/office/drawing/2017/decorative" val="1"/>
              </a:ext>
            </a:extLst>
          </p:cNvPr>
          <p:cNvSpPr/>
          <p:nvPr/>
        </p:nvSpPr>
        <p:spPr bwMode="auto">
          <a:xfrm>
            <a:off x="5919251" y="1519116"/>
            <a:ext cx="5854108" cy="4606939"/>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descr="Name tag with the word hello">
            <a:extLst>
              <a:ext uri="{FF2B5EF4-FFF2-40B4-BE49-F238E27FC236}">
                <a16:creationId xmlns:a16="http://schemas.microsoft.com/office/drawing/2014/main" id="{34018849-F290-4CFD-82DD-DD47B93F44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1840" y="2232789"/>
            <a:ext cx="4888927" cy="3179595"/>
          </a:xfrm>
          <a:prstGeom prst="rect">
            <a:avLst/>
          </a:prstGeom>
        </p:spPr>
      </p:pic>
    </p:spTree>
    <p:extLst>
      <p:ext uri="{BB962C8B-B14F-4D97-AF65-F5344CB8AC3E}">
        <p14:creationId xmlns:p14="http://schemas.microsoft.com/office/powerpoint/2010/main" val="36410158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E41BE-3F1A-4819-A406-26BDC1FFBDB5}"/>
              </a:ext>
            </a:extLst>
          </p:cNvPr>
          <p:cNvSpPr>
            <a:spLocks noGrp="1"/>
          </p:cNvSpPr>
          <p:nvPr>
            <p:ph type="title"/>
          </p:nvPr>
        </p:nvSpPr>
        <p:spPr/>
        <p:txBody>
          <a:bodyPr/>
          <a:lstStyle/>
          <a:p>
            <a:r>
              <a:rPr lang="en-US" dirty="0"/>
              <a:t>Classroom experience (</a:t>
            </a:r>
            <a:r>
              <a:rPr lang="en-US" dirty="0">
                <a:solidFill>
                  <a:srgbClr val="C00000"/>
                </a:solidFill>
              </a:rPr>
              <a:t>optional – adjust</a:t>
            </a:r>
            <a:r>
              <a:rPr lang="en-US" dirty="0"/>
              <a:t>)</a:t>
            </a:r>
          </a:p>
        </p:txBody>
      </p:sp>
      <p:pic>
        <p:nvPicPr>
          <p:cNvPr id="60" name="Picture 59" descr="Icon of a person sitting behind a table">
            <a:extLst>
              <a:ext uri="{FF2B5EF4-FFF2-40B4-BE49-F238E27FC236}">
                <a16:creationId xmlns:a16="http://schemas.microsoft.com/office/drawing/2014/main" id="{9ED55E8E-DC35-482A-A669-B52FB8AAE0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5651" y="1409154"/>
            <a:ext cx="732080" cy="732080"/>
          </a:xfrm>
          <a:prstGeom prst="rect">
            <a:avLst/>
          </a:prstGeom>
        </p:spPr>
      </p:pic>
      <p:sp>
        <p:nvSpPr>
          <p:cNvPr id="186" name="TextBox 185">
            <a:extLst>
              <a:ext uri="{FF2B5EF4-FFF2-40B4-BE49-F238E27FC236}">
                <a16:creationId xmlns:a16="http://schemas.microsoft.com/office/drawing/2014/main" id="{D656F44B-2617-405B-BDB8-929B67E699A6}"/>
              </a:ext>
            </a:extLst>
          </p:cNvPr>
          <p:cNvSpPr txBox="1"/>
          <p:nvPr/>
        </p:nvSpPr>
        <p:spPr>
          <a:xfrm>
            <a:off x="1308302" y="1631875"/>
            <a:ext cx="4392482" cy="268927"/>
          </a:xfrm>
          <a:prstGeom prst="rect">
            <a:avLst/>
          </a:prstGeom>
          <a:noFill/>
        </p:spPr>
        <p:txBody>
          <a:bodyPr wrap="none" lIns="0" tIns="0" rIns="0" bIns="0" rtlCol="0" anchor="ctr">
            <a:noAutofit/>
          </a:bodyPr>
          <a:lstStyle/>
          <a:p>
            <a:pPr>
              <a:spcAft>
                <a:spcPts val="588"/>
              </a:spcAft>
            </a:pPr>
            <a:r>
              <a:rPr lang="en-US" sz="1961" dirty="0"/>
              <a:t>Class hours</a:t>
            </a:r>
          </a:p>
        </p:txBody>
      </p:sp>
      <p:cxnSp>
        <p:nvCxnSpPr>
          <p:cNvPr id="218" name="Straight Connector 217">
            <a:extLst>
              <a:ext uri="{FF2B5EF4-FFF2-40B4-BE49-F238E27FC236}">
                <a16:creationId xmlns:a16="http://schemas.microsoft.com/office/drawing/2014/main" id="{B1B80FB9-24B1-48F1-AFD9-E9D66F90CBE5}"/>
              </a:ext>
              <a:ext uri="{C183D7F6-B498-43B3-948B-1728B52AA6E4}">
                <adec:decorative xmlns:adec="http://schemas.microsoft.com/office/drawing/2017/decorative" val="1"/>
              </a:ext>
            </a:extLst>
          </p:cNvPr>
          <p:cNvCxnSpPr>
            <a:cxnSpLocks/>
          </p:cNvCxnSpPr>
          <p:nvPr/>
        </p:nvCxnSpPr>
        <p:spPr>
          <a:xfrm>
            <a:off x="1298394" y="2188212"/>
            <a:ext cx="44501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70" name="Picture 269" descr="Icon of an apartment">
            <a:extLst>
              <a:ext uri="{FF2B5EF4-FFF2-40B4-BE49-F238E27FC236}">
                <a16:creationId xmlns:a16="http://schemas.microsoft.com/office/drawing/2014/main" id="{3FA2F31F-BDCA-48AB-A81C-82DA0C9597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5651" y="2237146"/>
            <a:ext cx="732080" cy="732080"/>
          </a:xfrm>
          <a:prstGeom prst="rect">
            <a:avLst/>
          </a:prstGeom>
        </p:spPr>
      </p:pic>
      <p:sp>
        <p:nvSpPr>
          <p:cNvPr id="279" name="TextBox 278">
            <a:extLst>
              <a:ext uri="{FF2B5EF4-FFF2-40B4-BE49-F238E27FC236}">
                <a16:creationId xmlns:a16="http://schemas.microsoft.com/office/drawing/2014/main" id="{31DF1651-6515-422D-8BF2-C2BF49F1BE86}"/>
              </a:ext>
            </a:extLst>
          </p:cNvPr>
          <p:cNvSpPr txBox="1"/>
          <p:nvPr/>
        </p:nvSpPr>
        <p:spPr>
          <a:xfrm>
            <a:off x="1308302" y="2459437"/>
            <a:ext cx="4392482" cy="268927"/>
          </a:xfrm>
          <a:prstGeom prst="rect">
            <a:avLst/>
          </a:prstGeom>
          <a:noFill/>
        </p:spPr>
        <p:txBody>
          <a:bodyPr wrap="none" lIns="0" tIns="0" rIns="0" bIns="0" rtlCol="0" anchor="ctr">
            <a:noAutofit/>
          </a:bodyPr>
          <a:lstStyle/>
          <a:p>
            <a:pPr>
              <a:spcAft>
                <a:spcPts val="588"/>
              </a:spcAft>
            </a:pPr>
            <a:r>
              <a:rPr lang="en-US" sz="1961" dirty="0"/>
              <a:t>Building hours</a:t>
            </a:r>
          </a:p>
        </p:txBody>
      </p:sp>
      <p:cxnSp>
        <p:nvCxnSpPr>
          <p:cNvPr id="308" name="Straight Connector 307">
            <a:extLst>
              <a:ext uri="{FF2B5EF4-FFF2-40B4-BE49-F238E27FC236}">
                <a16:creationId xmlns:a16="http://schemas.microsoft.com/office/drawing/2014/main" id="{D3116143-F74D-427E-9707-2C61DE6E60B8}"/>
              </a:ext>
              <a:ext uri="{C183D7F6-B498-43B3-948B-1728B52AA6E4}">
                <adec:decorative xmlns:adec="http://schemas.microsoft.com/office/drawing/2017/decorative" val="1"/>
              </a:ext>
            </a:extLst>
          </p:cNvPr>
          <p:cNvCxnSpPr>
            <a:cxnSpLocks/>
          </p:cNvCxnSpPr>
          <p:nvPr/>
        </p:nvCxnSpPr>
        <p:spPr>
          <a:xfrm>
            <a:off x="1298394" y="3016204"/>
            <a:ext cx="44501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5" name="Picture 24" descr="Icon of a car">
            <a:extLst>
              <a:ext uri="{FF2B5EF4-FFF2-40B4-BE49-F238E27FC236}">
                <a16:creationId xmlns:a16="http://schemas.microsoft.com/office/drawing/2014/main" id="{98328ACA-4A81-43AF-A68B-DE31A7B53DD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838" t="838" r="838" b="838"/>
          <a:stretch/>
        </p:blipFill>
        <p:spPr>
          <a:xfrm>
            <a:off x="400717" y="3075630"/>
            <a:ext cx="719814" cy="719814"/>
          </a:xfrm>
          <a:prstGeom prst="ellipse">
            <a:avLst/>
          </a:prstGeom>
        </p:spPr>
      </p:pic>
      <p:sp>
        <p:nvSpPr>
          <p:cNvPr id="672" name="TextBox 671">
            <a:extLst>
              <a:ext uri="{FF2B5EF4-FFF2-40B4-BE49-F238E27FC236}">
                <a16:creationId xmlns:a16="http://schemas.microsoft.com/office/drawing/2014/main" id="{83C73FEB-5EB5-42E9-83AC-121259957DF8}"/>
              </a:ext>
            </a:extLst>
          </p:cNvPr>
          <p:cNvSpPr txBox="1"/>
          <p:nvPr/>
        </p:nvSpPr>
        <p:spPr>
          <a:xfrm>
            <a:off x="1308302" y="3286999"/>
            <a:ext cx="4392482" cy="268927"/>
          </a:xfrm>
          <a:prstGeom prst="rect">
            <a:avLst/>
          </a:prstGeom>
          <a:noFill/>
        </p:spPr>
        <p:txBody>
          <a:bodyPr wrap="none" lIns="0" tIns="0" rIns="0" bIns="0" rtlCol="0" anchor="ctr">
            <a:noAutofit/>
          </a:bodyPr>
          <a:lstStyle/>
          <a:p>
            <a:pPr>
              <a:spcAft>
                <a:spcPts val="588"/>
              </a:spcAft>
            </a:pPr>
            <a:r>
              <a:rPr lang="en-US" sz="1961" dirty="0"/>
              <a:t>Parking</a:t>
            </a:r>
          </a:p>
        </p:txBody>
      </p:sp>
      <p:cxnSp>
        <p:nvCxnSpPr>
          <p:cNvPr id="673" name="Straight Connector 672">
            <a:extLst>
              <a:ext uri="{FF2B5EF4-FFF2-40B4-BE49-F238E27FC236}">
                <a16:creationId xmlns:a16="http://schemas.microsoft.com/office/drawing/2014/main" id="{1C2C293C-FE77-432A-A239-C7CF1FADAE68}"/>
              </a:ext>
              <a:ext uri="{C183D7F6-B498-43B3-948B-1728B52AA6E4}">
                <adec:decorative xmlns:adec="http://schemas.microsoft.com/office/drawing/2017/decorative" val="1"/>
              </a:ext>
            </a:extLst>
          </p:cNvPr>
          <p:cNvCxnSpPr>
            <a:cxnSpLocks/>
          </p:cNvCxnSpPr>
          <p:nvPr/>
        </p:nvCxnSpPr>
        <p:spPr>
          <a:xfrm>
            <a:off x="1298394" y="3844196"/>
            <a:ext cx="44501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695" name="Picture 694" descr="Icon of a building">
            <a:extLst>
              <a:ext uri="{FF2B5EF4-FFF2-40B4-BE49-F238E27FC236}">
                <a16:creationId xmlns:a16="http://schemas.microsoft.com/office/drawing/2014/main" id="{F5B5E4B7-D243-40D8-BE31-26DF59DC75FA}"/>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717" t="717" r="717" b="717"/>
          <a:stretch/>
        </p:blipFill>
        <p:spPr>
          <a:xfrm>
            <a:off x="405963" y="3896420"/>
            <a:ext cx="721589" cy="721589"/>
          </a:xfrm>
          <a:prstGeom prst="ellipse">
            <a:avLst/>
          </a:prstGeom>
        </p:spPr>
      </p:pic>
      <p:sp>
        <p:nvSpPr>
          <p:cNvPr id="696" name="TextBox 695">
            <a:extLst>
              <a:ext uri="{FF2B5EF4-FFF2-40B4-BE49-F238E27FC236}">
                <a16:creationId xmlns:a16="http://schemas.microsoft.com/office/drawing/2014/main" id="{D9A490EE-AEB2-43A1-846C-F16F736B415B}"/>
              </a:ext>
            </a:extLst>
          </p:cNvPr>
          <p:cNvSpPr txBox="1"/>
          <p:nvPr/>
        </p:nvSpPr>
        <p:spPr>
          <a:xfrm>
            <a:off x="1308302" y="4114560"/>
            <a:ext cx="4392482" cy="268927"/>
          </a:xfrm>
          <a:prstGeom prst="rect">
            <a:avLst/>
          </a:prstGeom>
          <a:noFill/>
        </p:spPr>
        <p:txBody>
          <a:bodyPr wrap="none" lIns="0" tIns="0" rIns="0" bIns="0" rtlCol="0" anchor="ctr">
            <a:noAutofit/>
          </a:bodyPr>
          <a:lstStyle/>
          <a:p>
            <a:pPr>
              <a:spcAft>
                <a:spcPts val="588"/>
              </a:spcAft>
            </a:pPr>
            <a:r>
              <a:rPr lang="en-US" sz="1961" dirty="0"/>
              <a:t>Restrooms</a:t>
            </a:r>
          </a:p>
        </p:txBody>
      </p:sp>
      <p:cxnSp>
        <p:nvCxnSpPr>
          <p:cNvPr id="697" name="Straight Connector 696">
            <a:extLst>
              <a:ext uri="{FF2B5EF4-FFF2-40B4-BE49-F238E27FC236}">
                <a16:creationId xmlns:a16="http://schemas.microsoft.com/office/drawing/2014/main" id="{AB619015-25B3-4A9C-9E46-3705A06356AE}"/>
              </a:ext>
              <a:ext uri="{C183D7F6-B498-43B3-948B-1728B52AA6E4}">
                <adec:decorative xmlns:adec="http://schemas.microsoft.com/office/drawing/2017/decorative" val="1"/>
              </a:ext>
            </a:extLst>
          </p:cNvPr>
          <p:cNvCxnSpPr>
            <a:cxnSpLocks/>
          </p:cNvCxnSpPr>
          <p:nvPr/>
        </p:nvCxnSpPr>
        <p:spPr>
          <a:xfrm>
            <a:off x="1298394" y="4672188"/>
            <a:ext cx="44501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698" name="Picture 697" descr="Icon of heart">
            <a:extLst>
              <a:ext uri="{FF2B5EF4-FFF2-40B4-BE49-F238E27FC236}">
                <a16:creationId xmlns:a16="http://schemas.microsoft.com/office/drawing/2014/main" id="{9D4C7EF8-4EBD-4F0C-9AA8-7856A95122C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5651" y="4720661"/>
            <a:ext cx="732080" cy="730586"/>
          </a:xfrm>
          <a:prstGeom prst="rect">
            <a:avLst/>
          </a:prstGeom>
        </p:spPr>
      </p:pic>
      <p:sp>
        <p:nvSpPr>
          <p:cNvPr id="699" name="TextBox 698">
            <a:extLst>
              <a:ext uri="{FF2B5EF4-FFF2-40B4-BE49-F238E27FC236}">
                <a16:creationId xmlns:a16="http://schemas.microsoft.com/office/drawing/2014/main" id="{33516423-180A-473E-BCE0-8504BB826DA2}"/>
              </a:ext>
            </a:extLst>
          </p:cNvPr>
          <p:cNvSpPr txBox="1"/>
          <p:nvPr/>
        </p:nvSpPr>
        <p:spPr>
          <a:xfrm>
            <a:off x="1308302" y="4942122"/>
            <a:ext cx="4392482" cy="268927"/>
          </a:xfrm>
          <a:prstGeom prst="rect">
            <a:avLst/>
          </a:prstGeom>
          <a:noFill/>
        </p:spPr>
        <p:txBody>
          <a:bodyPr wrap="none" lIns="0" tIns="0" rIns="0" bIns="0" rtlCol="0" anchor="ctr">
            <a:noAutofit/>
          </a:bodyPr>
          <a:lstStyle/>
          <a:p>
            <a:pPr>
              <a:spcAft>
                <a:spcPts val="588"/>
              </a:spcAft>
            </a:pPr>
            <a:r>
              <a:rPr lang="en-US" sz="1961" dirty="0"/>
              <a:t>Meals</a:t>
            </a:r>
          </a:p>
        </p:txBody>
      </p:sp>
      <p:cxnSp>
        <p:nvCxnSpPr>
          <p:cNvPr id="700" name="Straight Connector 699">
            <a:extLst>
              <a:ext uri="{FF2B5EF4-FFF2-40B4-BE49-F238E27FC236}">
                <a16:creationId xmlns:a16="http://schemas.microsoft.com/office/drawing/2014/main" id="{B3B128B5-C7F5-4BBC-A85E-C7A12892C9A3}"/>
              </a:ext>
              <a:ext uri="{C183D7F6-B498-43B3-948B-1728B52AA6E4}">
                <adec:decorative xmlns:adec="http://schemas.microsoft.com/office/drawing/2017/decorative" val="1"/>
              </a:ext>
            </a:extLst>
          </p:cNvPr>
          <p:cNvCxnSpPr>
            <a:cxnSpLocks/>
          </p:cNvCxnSpPr>
          <p:nvPr/>
        </p:nvCxnSpPr>
        <p:spPr>
          <a:xfrm>
            <a:off x="1298394" y="5500181"/>
            <a:ext cx="44501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01" name="Picture 700" descr="Icon of smartphone">
            <a:extLst>
              <a:ext uri="{FF2B5EF4-FFF2-40B4-BE49-F238E27FC236}">
                <a16:creationId xmlns:a16="http://schemas.microsoft.com/office/drawing/2014/main" id="{F5F7679A-25AA-4F93-9217-DC702D49A25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5651" y="5547160"/>
            <a:ext cx="732080" cy="732080"/>
          </a:xfrm>
          <a:prstGeom prst="rect">
            <a:avLst/>
          </a:prstGeom>
        </p:spPr>
      </p:pic>
      <p:sp>
        <p:nvSpPr>
          <p:cNvPr id="702" name="TextBox 701">
            <a:extLst>
              <a:ext uri="{FF2B5EF4-FFF2-40B4-BE49-F238E27FC236}">
                <a16:creationId xmlns:a16="http://schemas.microsoft.com/office/drawing/2014/main" id="{2A6A50DE-20B4-4200-BF0A-BAE5280DA456}"/>
              </a:ext>
            </a:extLst>
          </p:cNvPr>
          <p:cNvSpPr txBox="1"/>
          <p:nvPr/>
        </p:nvSpPr>
        <p:spPr>
          <a:xfrm>
            <a:off x="1308302" y="5769687"/>
            <a:ext cx="4392482" cy="268927"/>
          </a:xfrm>
          <a:prstGeom prst="rect">
            <a:avLst/>
          </a:prstGeom>
          <a:noFill/>
        </p:spPr>
        <p:txBody>
          <a:bodyPr wrap="none" lIns="0" tIns="0" rIns="0" bIns="0" rtlCol="0" anchor="ctr">
            <a:noAutofit/>
          </a:bodyPr>
          <a:lstStyle/>
          <a:p>
            <a:pPr>
              <a:spcAft>
                <a:spcPts val="588"/>
              </a:spcAft>
            </a:pPr>
            <a:r>
              <a:rPr lang="en-US" sz="1961" dirty="0"/>
              <a:t>Phones</a:t>
            </a:r>
          </a:p>
        </p:txBody>
      </p:sp>
      <p:pic>
        <p:nvPicPr>
          <p:cNvPr id="703" name="Picture 702" descr="Icon of chat message pop up">
            <a:extLst>
              <a:ext uri="{FF2B5EF4-FFF2-40B4-BE49-F238E27FC236}">
                <a16:creationId xmlns:a16="http://schemas.microsoft.com/office/drawing/2014/main" id="{D9BA42D6-74A4-4A1A-97D0-AB2BD4472B7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259171" y="1409154"/>
            <a:ext cx="730586" cy="732080"/>
          </a:xfrm>
          <a:prstGeom prst="rect">
            <a:avLst/>
          </a:prstGeom>
        </p:spPr>
      </p:pic>
      <p:sp>
        <p:nvSpPr>
          <p:cNvPr id="704" name="TextBox 703">
            <a:extLst>
              <a:ext uri="{FF2B5EF4-FFF2-40B4-BE49-F238E27FC236}">
                <a16:creationId xmlns:a16="http://schemas.microsoft.com/office/drawing/2014/main" id="{BF1D1D93-8677-46AC-8935-9C6A11D9FF66}"/>
              </a:ext>
            </a:extLst>
          </p:cNvPr>
          <p:cNvSpPr txBox="1"/>
          <p:nvPr/>
        </p:nvSpPr>
        <p:spPr>
          <a:xfrm>
            <a:off x="7167045" y="1631875"/>
            <a:ext cx="4392482" cy="268927"/>
          </a:xfrm>
          <a:prstGeom prst="rect">
            <a:avLst/>
          </a:prstGeom>
          <a:noFill/>
        </p:spPr>
        <p:txBody>
          <a:bodyPr wrap="none" lIns="0" tIns="0" rIns="0" bIns="0" rtlCol="0" anchor="ctr">
            <a:noAutofit/>
          </a:bodyPr>
          <a:lstStyle/>
          <a:p>
            <a:pPr>
              <a:spcAft>
                <a:spcPts val="588"/>
              </a:spcAft>
            </a:pPr>
            <a:r>
              <a:rPr lang="en-US" sz="1961" dirty="0"/>
              <a:t>Messages</a:t>
            </a:r>
          </a:p>
        </p:txBody>
      </p:sp>
      <p:cxnSp>
        <p:nvCxnSpPr>
          <p:cNvPr id="705" name="Straight Connector 704">
            <a:extLst>
              <a:ext uri="{FF2B5EF4-FFF2-40B4-BE49-F238E27FC236}">
                <a16:creationId xmlns:a16="http://schemas.microsoft.com/office/drawing/2014/main" id="{CDC58383-3396-4D7A-AB5E-92C85786E4B2}"/>
              </a:ext>
              <a:ext uri="{C183D7F6-B498-43B3-948B-1728B52AA6E4}">
                <adec:decorative xmlns:adec="http://schemas.microsoft.com/office/drawing/2017/decorative" val="1"/>
              </a:ext>
            </a:extLst>
          </p:cNvPr>
          <p:cNvCxnSpPr>
            <a:cxnSpLocks/>
          </p:cNvCxnSpPr>
          <p:nvPr/>
        </p:nvCxnSpPr>
        <p:spPr>
          <a:xfrm>
            <a:off x="7141829" y="2165482"/>
            <a:ext cx="44501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06" name="Picture 705" descr="Icon of two people">
            <a:extLst>
              <a:ext uri="{FF2B5EF4-FFF2-40B4-BE49-F238E27FC236}">
                <a16:creationId xmlns:a16="http://schemas.microsoft.com/office/drawing/2014/main" id="{1D990C8D-8803-468D-95F4-2A7EA3A9DDC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259171" y="2237146"/>
            <a:ext cx="730586" cy="732080"/>
          </a:xfrm>
          <a:prstGeom prst="rect">
            <a:avLst/>
          </a:prstGeom>
        </p:spPr>
      </p:pic>
      <p:sp>
        <p:nvSpPr>
          <p:cNvPr id="707" name="TextBox 706">
            <a:extLst>
              <a:ext uri="{FF2B5EF4-FFF2-40B4-BE49-F238E27FC236}">
                <a16:creationId xmlns:a16="http://schemas.microsoft.com/office/drawing/2014/main" id="{1CA56D8F-BAC2-4C3B-9F52-FCD4A424B9CE}"/>
              </a:ext>
            </a:extLst>
          </p:cNvPr>
          <p:cNvSpPr txBox="1"/>
          <p:nvPr/>
        </p:nvSpPr>
        <p:spPr>
          <a:xfrm>
            <a:off x="7167045" y="2459439"/>
            <a:ext cx="4392482" cy="268927"/>
          </a:xfrm>
          <a:prstGeom prst="rect">
            <a:avLst/>
          </a:prstGeom>
          <a:noFill/>
        </p:spPr>
        <p:txBody>
          <a:bodyPr wrap="none" lIns="0" tIns="0" rIns="0" bIns="0" rtlCol="0" anchor="ctr">
            <a:noAutofit/>
          </a:bodyPr>
          <a:lstStyle/>
          <a:p>
            <a:pPr>
              <a:spcAft>
                <a:spcPts val="588"/>
              </a:spcAft>
            </a:pPr>
            <a:r>
              <a:rPr lang="en-US" sz="1961" dirty="0"/>
              <a:t>Smoking</a:t>
            </a:r>
          </a:p>
        </p:txBody>
      </p:sp>
      <p:cxnSp>
        <p:nvCxnSpPr>
          <p:cNvPr id="708" name="Straight Connector 707">
            <a:extLst>
              <a:ext uri="{FF2B5EF4-FFF2-40B4-BE49-F238E27FC236}">
                <a16:creationId xmlns:a16="http://schemas.microsoft.com/office/drawing/2014/main" id="{1E391118-C8E3-4549-88AE-3BC0E80F7BCB}"/>
              </a:ext>
              <a:ext uri="{C183D7F6-B498-43B3-948B-1728B52AA6E4}">
                <adec:decorative xmlns:adec="http://schemas.microsoft.com/office/drawing/2017/decorative" val="1"/>
              </a:ext>
            </a:extLst>
          </p:cNvPr>
          <p:cNvCxnSpPr>
            <a:cxnSpLocks/>
          </p:cNvCxnSpPr>
          <p:nvPr/>
        </p:nvCxnSpPr>
        <p:spPr>
          <a:xfrm>
            <a:off x="7141829" y="3016204"/>
            <a:ext cx="44501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09" name="Picture 708" descr="Icon of gear with arrow">
            <a:extLst>
              <a:ext uri="{FF2B5EF4-FFF2-40B4-BE49-F238E27FC236}">
                <a16:creationId xmlns:a16="http://schemas.microsoft.com/office/drawing/2014/main" id="{EA765C36-0E9A-4A2B-98A2-60CB64DED0B7}"/>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595" t="595" r="595" b="595"/>
          <a:stretch/>
        </p:blipFill>
        <p:spPr>
          <a:xfrm>
            <a:off x="6263521" y="3069497"/>
            <a:ext cx="721887" cy="723363"/>
          </a:xfrm>
          <a:prstGeom prst="ellipse">
            <a:avLst/>
          </a:prstGeom>
        </p:spPr>
      </p:pic>
      <p:sp>
        <p:nvSpPr>
          <p:cNvPr id="710" name="TextBox 709">
            <a:extLst>
              <a:ext uri="{FF2B5EF4-FFF2-40B4-BE49-F238E27FC236}">
                <a16:creationId xmlns:a16="http://schemas.microsoft.com/office/drawing/2014/main" id="{E6E96485-9B78-4B67-804B-E31F048C4980}"/>
              </a:ext>
            </a:extLst>
          </p:cNvPr>
          <p:cNvSpPr txBox="1"/>
          <p:nvPr/>
        </p:nvSpPr>
        <p:spPr>
          <a:xfrm>
            <a:off x="7167045" y="3287003"/>
            <a:ext cx="4392482" cy="268927"/>
          </a:xfrm>
          <a:prstGeom prst="rect">
            <a:avLst/>
          </a:prstGeom>
          <a:noFill/>
        </p:spPr>
        <p:txBody>
          <a:bodyPr wrap="none" lIns="0" tIns="0" rIns="0" bIns="0" rtlCol="0" anchor="ctr">
            <a:noAutofit/>
          </a:bodyPr>
          <a:lstStyle/>
          <a:p>
            <a:pPr>
              <a:spcAft>
                <a:spcPts val="588"/>
              </a:spcAft>
            </a:pPr>
            <a:r>
              <a:rPr lang="en-US" sz="1961" dirty="0"/>
              <a:t>Internet access</a:t>
            </a:r>
          </a:p>
        </p:txBody>
      </p:sp>
      <p:cxnSp>
        <p:nvCxnSpPr>
          <p:cNvPr id="711" name="Straight Connector 710">
            <a:extLst>
              <a:ext uri="{FF2B5EF4-FFF2-40B4-BE49-F238E27FC236}">
                <a16:creationId xmlns:a16="http://schemas.microsoft.com/office/drawing/2014/main" id="{B9544AB6-1379-4E34-8508-9C254ACB04DB}"/>
              </a:ext>
              <a:ext uri="{C183D7F6-B498-43B3-948B-1728B52AA6E4}">
                <adec:decorative xmlns:adec="http://schemas.microsoft.com/office/drawing/2017/decorative" val="1"/>
              </a:ext>
            </a:extLst>
          </p:cNvPr>
          <p:cNvCxnSpPr>
            <a:cxnSpLocks/>
          </p:cNvCxnSpPr>
          <p:nvPr/>
        </p:nvCxnSpPr>
        <p:spPr>
          <a:xfrm>
            <a:off x="7141829" y="3844196"/>
            <a:ext cx="44501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12" name="Picture 711" descr="Icon of circle like arrow with timer inside">
            <a:extLst>
              <a:ext uri="{FF2B5EF4-FFF2-40B4-BE49-F238E27FC236}">
                <a16:creationId xmlns:a16="http://schemas.microsoft.com/office/drawing/2014/main" id="{3E80030A-F357-4079-AAEF-A659BC0C8D0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257677" y="3891175"/>
            <a:ext cx="732080" cy="732080"/>
          </a:xfrm>
          <a:prstGeom prst="rect">
            <a:avLst/>
          </a:prstGeom>
        </p:spPr>
      </p:pic>
      <p:sp>
        <p:nvSpPr>
          <p:cNvPr id="713" name="TextBox 712">
            <a:extLst>
              <a:ext uri="{FF2B5EF4-FFF2-40B4-BE49-F238E27FC236}">
                <a16:creationId xmlns:a16="http://schemas.microsoft.com/office/drawing/2014/main" id="{481BB8B4-7F22-490F-AF8D-FBC359357181}"/>
              </a:ext>
            </a:extLst>
          </p:cNvPr>
          <p:cNvSpPr txBox="1"/>
          <p:nvPr/>
        </p:nvSpPr>
        <p:spPr>
          <a:xfrm>
            <a:off x="7167045" y="4114566"/>
            <a:ext cx="4392482" cy="268927"/>
          </a:xfrm>
          <a:prstGeom prst="rect">
            <a:avLst/>
          </a:prstGeom>
          <a:noFill/>
        </p:spPr>
        <p:txBody>
          <a:bodyPr wrap="none" lIns="0" tIns="0" rIns="0" bIns="0" rtlCol="0" anchor="ctr">
            <a:noAutofit/>
          </a:bodyPr>
          <a:lstStyle/>
          <a:p>
            <a:pPr>
              <a:spcAft>
                <a:spcPts val="588"/>
              </a:spcAft>
            </a:pPr>
            <a:r>
              <a:rPr lang="en-US" sz="1961" dirty="0"/>
              <a:t>Recycling</a:t>
            </a:r>
          </a:p>
        </p:txBody>
      </p:sp>
      <p:cxnSp>
        <p:nvCxnSpPr>
          <p:cNvPr id="714" name="Straight Connector 713">
            <a:extLst>
              <a:ext uri="{FF2B5EF4-FFF2-40B4-BE49-F238E27FC236}">
                <a16:creationId xmlns:a16="http://schemas.microsoft.com/office/drawing/2014/main" id="{B41742C7-2E1D-4E29-8621-3AEECD1DD1A9}"/>
              </a:ext>
              <a:ext uri="{C183D7F6-B498-43B3-948B-1728B52AA6E4}">
                <adec:decorative xmlns:adec="http://schemas.microsoft.com/office/drawing/2017/decorative" val="1"/>
              </a:ext>
            </a:extLst>
          </p:cNvPr>
          <p:cNvCxnSpPr>
            <a:cxnSpLocks/>
          </p:cNvCxnSpPr>
          <p:nvPr/>
        </p:nvCxnSpPr>
        <p:spPr>
          <a:xfrm>
            <a:off x="7141829" y="4672188"/>
            <a:ext cx="44501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15" name="Picture 714" descr="Icon of a person  taking medical treatment">
            <a:extLst>
              <a:ext uri="{FF2B5EF4-FFF2-40B4-BE49-F238E27FC236}">
                <a16:creationId xmlns:a16="http://schemas.microsoft.com/office/drawing/2014/main" id="{32C4B546-3EFB-45DB-A0D3-AE7AD3E1E893}"/>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259633" y="4721122"/>
            <a:ext cx="730586" cy="730586"/>
          </a:xfrm>
          <a:prstGeom prst="rect">
            <a:avLst/>
          </a:prstGeom>
        </p:spPr>
      </p:pic>
      <p:sp>
        <p:nvSpPr>
          <p:cNvPr id="716" name="TextBox 715">
            <a:extLst>
              <a:ext uri="{FF2B5EF4-FFF2-40B4-BE49-F238E27FC236}">
                <a16:creationId xmlns:a16="http://schemas.microsoft.com/office/drawing/2014/main" id="{59004B0C-440E-46BD-A1B5-976A07685EC8}"/>
              </a:ext>
            </a:extLst>
          </p:cNvPr>
          <p:cNvSpPr txBox="1"/>
          <p:nvPr/>
        </p:nvSpPr>
        <p:spPr>
          <a:xfrm>
            <a:off x="7167045" y="4942126"/>
            <a:ext cx="4392482" cy="268927"/>
          </a:xfrm>
          <a:prstGeom prst="rect">
            <a:avLst/>
          </a:prstGeom>
          <a:noFill/>
        </p:spPr>
        <p:txBody>
          <a:bodyPr wrap="none" lIns="0" tIns="0" rIns="0" bIns="0" rtlCol="0" anchor="ctr">
            <a:noAutofit/>
          </a:bodyPr>
          <a:lstStyle/>
          <a:p>
            <a:pPr>
              <a:spcAft>
                <a:spcPts val="588"/>
              </a:spcAft>
            </a:pPr>
            <a:r>
              <a:rPr lang="en-US" sz="1961" dirty="0"/>
              <a:t>Emergency procedures</a:t>
            </a:r>
          </a:p>
        </p:txBody>
      </p:sp>
    </p:spTree>
    <p:extLst>
      <p:ext uri="{BB962C8B-B14F-4D97-AF65-F5344CB8AC3E}">
        <p14:creationId xmlns:p14="http://schemas.microsoft.com/office/powerpoint/2010/main" val="362405817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0E2B6-AFAA-4E5C-8F2F-83B5B23513F7}"/>
              </a:ext>
            </a:extLst>
          </p:cNvPr>
          <p:cNvSpPr>
            <a:spLocks noGrp="1"/>
          </p:cNvSpPr>
          <p:nvPr>
            <p:ph type="title"/>
          </p:nvPr>
        </p:nvSpPr>
        <p:spPr/>
        <p:txBody>
          <a:bodyPr/>
          <a:lstStyle/>
          <a:p>
            <a:r>
              <a:rPr lang="en-US" dirty="0"/>
              <a:t>About this course: Prerequisites</a:t>
            </a:r>
          </a:p>
        </p:txBody>
      </p:sp>
      <p:sp>
        <p:nvSpPr>
          <p:cNvPr id="39" name="Text Placeholder 3">
            <a:extLst>
              <a:ext uri="{FF2B5EF4-FFF2-40B4-BE49-F238E27FC236}">
                <a16:creationId xmlns:a16="http://schemas.microsoft.com/office/drawing/2014/main" id="{DE6F20BE-DC76-4473-8AF9-18624C288E8D}"/>
              </a:ext>
            </a:extLst>
          </p:cNvPr>
          <p:cNvSpPr txBox="1">
            <a:spLocks/>
          </p:cNvSpPr>
          <p:nvPr/>
        </p:nvSpPr>
        <p:spPr>
          <a:xfrm>
            <a:off x="1" y="1169262"/>
            <a:ext cx="12192000" cy="896425"/>
          </a:xfrm>
          <a:prstGeom prst="rect">
            <a:avLst/>
          </a:prstGeom>
          <a:solidFill>
            <a:srgbClr val="243A5E"/>
          </a:solidFill>
        </p:spPr>
        <p:txBody>
          <a:bodyPr lIns="89642" tIns="44821" rIns="89642" bIns="44821"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36145"/>
            <a:r>
              <a:rPr lang="en-US" sz="1961" spc="0" dirty="0">
                <a:solidFill>
                  <a:schemeClr val="bg1"/>
                </a:solidFill>
                <a:latin typeface="+mn-lt"/>
              </a:rPr>
              <a:t>Successful Azure Network Engineers start this role with fundamental networking experience like network topology, network interfaces, routers, and firewalls.  </a:t>
            </a:r>
          </a:p>
        </p:txBody>
      </p:sp>
      <p:pic>
        <p:nvPicPr>
          <p:cNvPr id="11" name="Picture 10" descr="Icon of building with cloud on top">
            <a:extLst>
              <a:ext uri="{FF2B5EF4-FFF2-40B4-BE49-F238E27FC236}">
                <a16:creationId xmlns:a16="http://schemas.microsoft.com/office/drawing/2014/main" id="{B708224C-4737-4DA4-B000-5BFA14F0C9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6870" y="2348265"/>
            <a:ext cx="856086" cy="856086"/>
          </a:xfrm>
          <a:prstGeom prst="rect">
            <a:avLst/>
          </a:prstGeom>
        </p:spPr>
      </p:pic>
      <p:sp>
        <p:nvSpPr>
          <p:cNvPr id="85" name="TextBox 84">
            <a:extLst>
              <a:ext uri="{FF2B5EF4-FFF2-40B4-BE49-F238E27FC236}">
                <a16:creationId xmlns:a16="http://schemas.microsoft.com/office/drawing/2014/main" id="{90F9132E-0A49-4D9C-86E6-04F0279A8574}"/>
              </a:ext>
            </a:extLst>
          </p:cNvPr>
          <p:cNvSpPr txBox="1"/>
          <p:nvPr/>
        </p:nvSpPr>
        <p:spPr>
          <a:xfrm>
            <a:off x="1503247" y="2416563"/>
            <a:ext cx="10257561" cy="717140"/>
          </a:xfrm>
          <a:prstGeom prst="rect">
            <a:avLst/>
          </a:prstGeom>
          <a:noFill/>
        </p:spPr>
        <p:txBody>
          <a:bodyPr wrap="square" lIns="0" tIns="0" rIns="0" bIns="0" rtlCol="0" anchor="ctr">
            <a:noAutofit/>
          </a:bodyPr>
          <a:lstStyle/>
          <a:p>
            <a:pPr>
              <a:spcBef>
                <a:spcPts val="588"/>
              </a:spcBef>
            </a:pPr>
            <a:r>
              <a:rPr lang="en-US" dirty="0">
                <a:latin typeface="Calibri" panose="020F0502020204030204" pitchFamily="34" charset="0"/>
                <a:cs typeface="Times New Roman" panose="02020603050405020304" pitchFamily="18" charset="0"/>
              </a:rPr>
              <a:t>Understanding of network configuration, including TCP/IP, Domain Name System (DNS), virtual private networks (VPNs), firewalls, and encryption technologies</a:t>
            </a:r>
          </a:p>
        </p:txBody>
      </p:sp>
      <p:cxnSp>
        <p:nvCxnSpPr>
          <p:cNvPr id="15" name="Straight Connector 14">
            <a:extLst>
              <a:ext uri="{FF2B5EF4-FFF2-40B4-BE49-F238E27FC236}">
                <a16:creationId xmlns:a16="http://schemas.microsoft.com/office/drawing/2014/main" id="{8904B8D0-FD4B-4FDA-B00E-867477790211}"/>
              </a:ext>
              <a:ext uri="{C183D7F6-B498-43B3-948B-1728B52AA6E4}">
                <adec:decorative xmlns:adec="http://schemas.microsoft.com/office/drawing/2017/decorative" val="1"/>
              </a:ext>
            </a:extLst>
          </p:cNvPr>
          <p:cNvCxnSpPr>
            <a:cxnSpLocks/>
          </p:cNvCxnSpPr>
          <p:nvPr/>
        </p:nvCxnSpPr>
        <p:spPr>
          <a:xfrm>
            <a:off x="1497598" y="3301495"/>
            <a:ext cx="102413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a wrench">
            <a:extLst>
              <a:ext uri="{FF2B5EF4-FFF2-40B4-BE49-F238E27FC236}">
                <a16:creationId xmlns:a16="http://schemas.microsoft.com/office/drawing/2014/main" id="{0D6B678E-E69D-43AF-A9F2-472A43CC80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6870" y="3400987"/>
            <a:ext cx="856086" cy="854592"/>
          </a:xfrm>
          <a:prstGeom prst="rect">
            <a:avLst/>
          </a:prstGeom>
        </p:spPr>
      </p:pic>
      <p:sp>
        <p:nvSpPr>
          <p:cNvPr id="86" name="TextBox 85">
            <a:extLst>
              <a:ext uri="{FF2B5EF4-FFF2-40B4-BE49-F238E27FC236}">
                <a16:creationId xmlns:a16="http://schemas.microsoft.com/office/drawing/2014/main" id="{8D7DB9CF-1D4D-41B7-98A0-E462CDE5F8A2}"/>
              </a:ext>
            </a:extLst>
          </p:cNvPr>
          <p:cNvSpPr txBox="1"/>
          <p:nvPr/>
        </p:nvSpPr>
        <p:spPr>
          <a:xfrm>
            <a:off x="1503247" y="3469285"/>
            <a:ext cx="10257561" cy="717140"/>
          </a:xfrm>
          <a:prstGeom prst="rect">
            <a:avLst/>
          </a:prstGeom>
          <a:noFill/>
        </p:spPr>
        <p:txBody>
          <a:bodyPr wrap="square" lIns="0" tIns="0" rIns="0" bIns="0" rtlCol="0" anchor="ctr">
            <a:noAutofit/>
          </a:bodyPr>
          <a:lstStyle/>
          <a:p>
            <a:pPr>
              <a:spcBef>
                <a:spcPts val="588"/>
              </a:spcBef>
            </a:pPr>
            <a:r>
              <a:rPr lang="en-US" dirty="0">
                <a:latin typeface="Calibri" panose="020F0502020204030204" pitchFamily="34" charset="0"/>
                <a:cs typeface="Times New Roman" panose="02020603050405020304" pitchFamily="18" charset="0"/>
              </a:rPr>
              <a:t>Understanding hybrid network connectivity methods, such as VPN </a:t>
            </a:r>
          </a:p>
        </p:txBody>
      </p:sp>
      <p:cxnSp>
        <p:nvCxnSpPr>
          <p:cNvPr id="19" name="Straight Connector 18">
            <a:extLst>
              <a:ext uri="{FF2B5EF4-FFF2-40B4-BE49-F238E27FC236}">
                <a16:creationId xmlns:a16="http://schemas.microsoft.com/office/drawing/2014/main" id="{2DD9C5AE-96CB-464C-881B-5D613571FCE2}"/>
              </a:ext>
              <a:ext uri="{C183D7F6-B498-43B3-948B-1728B52AA6E4}">
                <adec:decorative xmlns:adec="http://schemas.microsoft.com/office/drawing/2017/decorative" val="1"/>
              </a:ext>
            </a:extLst>
          </p:cNvPr>
          <p:cNvCxnSpPr>
            <a:cxnSpLocks/>
          </p:cNvCxnSpPr>
          <p:nvPr/>
        </p:nvCxnSpPr>
        <p:spPr>
          <a:xfrm>
            <a:off x="1497598" y="4354216"/>
            <a:ext cx="102413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9" name="Picture 8" descr="Icon of 4 small squares inside a big square shape">
            <a:extLst>
              <a:ext uri="{FF2B5EF4-FFF2-40B4-BE49-F238E27FC236}">
                <a16:creationId xmlns:a16="http://schemas.microsoft.com/office/drawing/2014/main" id="{07A46136-5868-4BD4-B414-F620DA3264F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6870" y="4453708"/>
            <a:ext cx="856086" cy="854592"/>
          </a:xfrm>
          <a:prstGeom prst="rect">
            <a:avLst/>
          </a:prstGeom>
        </p:spPr>
      </p:pic>
      <p:sp>
        <p:nvSpPr>
          <p:cNvPr id="87" name="TextBox 86">
            <a:extLst>
              <a:ext uri="{FF2B5EF4-FFF2-40B4-BE49-F238E27FC236}">
                <a16:creationId xmlns:a16="http://schemas.microsoft.com/office/drawing/2014/main" id="{8A8E17CE-5527-4D8A-A0DC-968DF750B3B9}"/>
              </a:ext>
            </a:extLst>
          </p:cNvPr>
          <p:cNvSpPr txBox="1"/>
          <p:nvPr/>
        </p:nvSpPr>
        <p:spPr>
          <a:xfrm>
            <a:off x="1503247" y="4522007"/>
            <a:ext cx="10257561" cy="717140"/>
          </a:xfrm>
          <a:prstGeom prst="rect">
            <a:avLst/>
          </a:prstGeom>
          <a:noFill/>
        </p:spPr>
        <p:txBody>
          <a:bodyPr wrap="square" lIns="0" tIns="0" rIns="0" bIns="0" rtlCol="0" anchor="ctr">
            <a:noAutofit/>
          </a:bodyPr>
          <a:lstStyle/>
          <a:p>
            <a:pPr>
              <a:spcBef>
                <a:spcPts val="588"/>
              </a:spcBef>
            </a:pPr>
            <a:r>
              <a:rPr lang="en-US" dirty="0">
                <a:latin typeface="Calibri" panose="020F0502020204030204" pitchFamily="34" charset="0"/>
                <a:cs typeface="Times New Roman" panose="02020603050405020304" pitchFamily="18" charset="0"/>
              </a:rPr>
              <a:t>Understanding of software defined networking </a:t>
            </a:r>
          </a:p>
        </p:txBody>
      </p:sp>
      <p:cxnSp>
        <p:nvCxnSpPr>
          <p:cNvPr id="20" name="Straight Connector 19">
            <a:extLst>
              <a:ext uri="{FF2B5EF4-FFF2-40B4-BE49-F238E27FC236}">
                <a16:creationId xmlns:a16="http://schemas.microsoft.com/office/drawing/2014/main" id="{3D518490-0795-4C84-A01C-6179E52C667E}"/>
              </a:ext>
              <a:ext uri="{C183D7F6-B498-43B3-948B-1728B52AA6E4}">
                <adec:decorative xmlns:adec="http://schemas.microsoft.com/office/drawing/2017/decorative" val="1"/>
              </a:ext>
            </a:extLst>
          </p:cNvPr>
          <p:cNvCxnSpPr>
            <a:cxnSpLocks/>
          </p:cNvCxnSpPr>
          <p:nvPr/>
        </p:nvCxnSpPr>
        <p:spPr>
          <a:xfrm>
            <a:off x="1497598" y="5406938"/>
            <a:ext cx="102413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8" name="Picture 7" descr="Icon of a cloud inside a rounded arrow">
            <a:extLst>
              <a:ext uri="{FF2B5EF4-FFF2-40B4-BE49-F238E27FC236}">
                <a16:creationId xmlns:a16="http://schemas.microsoft.com/office/drawing/2014/main" id="{95D0DBEA-179D-42EE-A980-D6D3A84C8B3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6870" y="5506429"/>
            <a:ext cx="856086" cy="856086"/>
          </a:xfrm>
          <a:prstGeom prst="rect">
            <a:avLst/>
          </a:prstGeom>
        </p:spPr>
      </p:pic>
      <p:sp>
        <p:nvSpPr>
          <p:cNvPr id="88" name="TextBox 87">
            <a:extLst>
              <a:ext uri="{FF2B5EF4-FFF2-40B4-BE49-F238E27FC236}">
                <a16:creationId xmlns:a16="http://schemas.microsoft.com/office/drawing/2014/main" id="{E106E04C-5033-4F19-92EA-A1E3F9355DFD}"/>
              </a:ext>
            </a:extLst>
          </p:cNvPr>
          <p:cNvSpPr txBox="1"/>
          <p:nvPr/>
        </p:nvSpPr>
        <p:spPr>
          <a:xfrm>
            <a:off x="1503247" y="5574728"/>
            <a:ext cx="10257561" cy="717140"/>
          </a:xfrm>
          <a:prstGeom prst="rect">
            <a:avLst/>
          </a:prstGeom>
          <a:noFill/>
        </p:spPr>
        <p:txBody>
          <a:bodyPr wrap="square" lIns="0" tIns="0" rIns="0" bIns="0" rtlCol="0" anchor="ctr">
            <a:noAutofit/>
          </a:bodyPr>
          <a:lstStyle/>
          <a:p>
            <a:pPr>
              <a:spcBef>
                <a:spcPts val="588"/>
              </a:spcBef>
            </a:pPr>
            <a:r>
              <a:rPr lang="en-US" dirty="0">
                <a:latin typeface="Calibri" panose="020F0502020204030204" pitchFamily="34" charset="0"/>
                <a:cs typeface="Times New Roman" panose="02020603050405020304" pitchFamily="18" charset="0"/>
              </a:rPr>
              <a:t>Understanding resilience and disaster recovery, including high availability and restore operations in regard to networking.</a:t>
            </a:r>
          </a:p>
        </p:txBody>
      </p:sp>
    </p:spTree>
    <p:extLst>
      <p:ext uri="{BB962C8B-B14F-4D97-AF65-F5344CB8AC3E}">
        <p14:creationId xmlns:p14="http://schemas.microsoft.com/office/powerpoint/2010/main" val="299106778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BCD97-3518-4421-90FF-8CA76EA109EF}"/>
              </a:ext>
            </a:extLst>
          </p:cNvPr>
          <p:cNvSpPr>
            <a:spLocks noGrp="1"/>
          </p:cNvSpPr>
          <p:nvPr>
            <p:ph type="title"/>
          </p:nvPr>
        </p:nvSpPr>
        <p:spPr/>
        <p:txBody>
          <a:bodyPr/>
          <a:lstStyle/>
          <a:p>
            <a:r>
              <a:rPr lang="en-US" dirty="0"/>
              <a:t>Network Engineer Role</a:t>
            </a:r>
          </a:p>
        </p:txBody>
      </p:sp>
      <p:pic>
        <p:nvPicPr>
          <p:cNvPr id="8" name="Picture 7" descr="Icon of cloud symbol">
            <a:extLst>
              <a:ext uri="{FF2B5EF4-FFF2-40B4-BE49-F238E27FC236}">
                <a16:creationId xmlns:a16="http://schemas.microsoft.com/office/drawing/2014/main" id="{12DFEC53-067B-4218-80FD-336681AC53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8335" y="1352238"/>
            <a:ext cx="1054793" cy="1054793"/>
          </a:xfrm>
          <a:prstGeom prst="rect">
            <a:avLst/>
          </a:prstGeom>
        </p:spPr>
      </p:pic>
      <p:sp>
        <p:nvSpPr>
          <p:cNvPr id="64" name="TextBox 63">
            <a:extLst>
              <a:ext uri="{FF2B5EF4-FFF2-40B4-BE49-F238E27FC236}">
                <a16:creationId xmlns:a16="http://schemas.microsoft.com/office/drawing/2014/main" id="{48CF135D-F78B-4F51-A550-1F30EA3C5B86}"/>
              </a:ext>
            </a:extLst>
          </p:cNvPr>
          <p:cNvSpPr txBox="1"/>
          <p:nvPr/>
        </p:nvSpPr>
        <p:spPr>
          <a:xfrm>
            <a:off x="1767951" y="1430497"/>
            <a:ext cx="9963387" cy="896425"/>
          </a:xfrm>
          <a:prstGeom prst="rect">
            <a:avLst/>
          </a:prstGeom>
          <a:noFill/>
        </p:spPr>
        <p:txBody>
          <a:bodyPr wrap="square" lIns="0" tIns="0" rIns="0" bIns="0" rtlCol="0" anchor="ctr">
            <a:noAutofit/>
          </a:bodyPr>
          <a:lstStyle/>
          <a:p>
            <a:pPr>
              <a:spcBef>
                <a:spcPts val="588"/>
              </a:spcBef>
            </a:pPr>
            <a:r>
              <a:rPr lang="en-US" dirty="0"/>
              <a:t>An Azure Network engineer designs and implements core Azure networking infrastructure, hybrid networking connections, routing, load balancing, private access to Azure services, network security and monitoring</a:t>
            </a:r>
          </a:p>
        </p:txBody>
      </p:sp>
      <p:cxnSp>
        <p:nvCxnSpPr>
          <p:cNvPr id="14" name="Straight Connector 13">
            <a:extLst>
              <a:ext uri="{FF2B5EF4-FFF2-40B4-BE49-F238E27FC236}">
                <a16:creationId xmlns:a16="http://schemas.microsoft.com/office/drawing/2014/main" id="{7ACCEA5E-C31B-4250-8985-A3660D8D640A}"/>
              </a:ext>
              <a:ext uri="{C183D7F6-B498-43B3-948B-1728B52AA6E4}">
                <adec:decorative xmlns:adec="http://schemas.microsoft.com/office/drawing/2017/decorative" val="1"/>
              </a:ext>
            </a:extLst>
          </p:cNvPr>
          <p:cNvCxnSpPr>
            <a:cxnSpLocks/>
          </p:cNvCxnSpPr>
          <p:nvPr/>
        </p:nvCxnSpPr>
        <p:spPr>
          <a:xfrm>
            <a:off x="1767948" y="2466730"/>
            <a:ext cx="984288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9" name="Picture 8" descr="Icon of a line drawn like a maze">
            <a:extLst>
              <a:ext uri="{FF2B5EF4-FFF2-40B4-BE49-F238E27FC236}">
                <a16:creationId xmlns:a16="http://schemas.microsoft.com/office/drawing/2014/main" id="{62D4D416-77B7-473D-84F4-06696176E19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8335" y="2528277"/>
            <a:ext cx="1054793" cy="1054793"/>
          </a:xfrm>
          <a:prstGeom prst="rect">
            <a:avLst/>
          </a:prstGeom>
        </p:spPr>
      </p:pic>
      <p:sp>
        <p:nvSpPr>
          <p:cNvPr id="69" name="TextBox 68">
            <a:extLst>
              <a:ext uri="{FF2B5EF4-FFF2-40B4-BE49-F238E27FC236}">
                <a16:creationId xmlns:a16="http://schemas.microsoft.com/office/drawing/2014/main" id="{3C06D201-3B4F-4579-B5A1-001EA7B2E7AE}"/>
              </a:ext>
            </a:extLst>
          </p:cNvPr>
          <p:cNvSpPr txBox="1"/>
          <p:nvPr/>
        </p:nvSpPr>
        <p:spPr>
          <a:xfrm>
            <a:off x="1767951" y="2606536"/>
            <a:ext cx="9963387" cy="896425"/>
          </a:xfrm>
          <a:prstGeom prst="rect">
            <a:avLst/>
          </a:prstGeom>
          <a:noFill/>
        </p:spPr>
        <p:txBody>
          <a:bodyPr wrap="square" lIns="0" tIns="0" rIns="0" bIns="0" rtlCol="0" anchor="ctr">
            <a:noAutofit/>
          </a:bodyPr>
          <a:lstStyle/>
          <a:p>
            <a:pPr>
              <a:spcBef>
                <a:spcPts val="588"/>
              </a:spcBef>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azure network engineer will manage networking solutions for optimal performance, resiliency, scale, and security. Candidates should have a strong understanding of core Azure services and hybrid cloud infrastructure concepts</a:t>
            </a:r>
            <a:endParaRPr lang="en-US" sz="1765" dirty="0"/>
          </a:p>
        </p:txBody>
      </p:sp>
      <p:cxnSp>
        <p:nvCxnSpPr>
          <p:cNvPr id="18" name="Straight Connector 17">
            <a:extLst>
              <a:ext uri="{FF2B5EF4-FFF2-40B4-BE49-F238E27FC236}">
                <a16:creationId xmlns:a16="http://schemas.microsoft.com/office/drawing/2014/main" id="{D35C8F55-F73B-4B59-8E24-FE0DEEFE66C0}"/>
              </a:ext>
              <a:ext uri="{C183D7F6-B498-43B3-948B-1728B52AA6E4}">
                <adec:decorative xmlns:adec="http://schemas.microsoft.com/office/drawing/2017/decorative" val="1"/>
              </a:ext>
            </a:extLst>
          </p:cNvPr>
          <p:cNvCxnSpPr>
            <a:cxnSpLocks/>
          </p:cNvCxnSpPr>
          <p:nvPr/>
        </p:nvCxnSpPr>
        <p:spPr>
          <a:xfrm>
            <a:off x="1767948" y="3642768"/>
            <a:ext cx="984288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4 rectangular shapes inside a square">
            <a:extLst>
              <a:ext uri="{FF2B5EF4-FFF2-40B4-BE49-F238E27FC236}">
                <a16:creationId xmlns:a16="http://schemas.microsoft.com/office/drawing/2014/main" id="{8996BBE4-1B05-44AE-AB38-49F191D1CEC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8335" y="3704316"/>
            <a:ext cx="1054793" cy="1054793"/>
          </a:xfrm>
          <a:prstGeom prst="rect">
            <a:avLst/>
          </a:prstGeom>
        </p:spPr>
      </p:pic>
      <p:sp>
        <p:nvSpPr>
          <p:cNvPr id="74" name="TextBox 73">
            <a:extLst>
              <a:ext uri="{FF2B5EF4-FFF2-40B4-BE49-F238E27FC236}">
                <a16:creationId xmlns:a16="http://schemas.microsoft.com/office/drawing/2014/main" id="{D1E74D83-04D8-42B5-B848-6C82609519A3}"/>
              </a:ext>
            </a:extLst>
          </p:cNvPr>
          <p:cNvSpPr txBox="1"/>
          <p:nvPr/>
        </p:nvSpPr>
        <p:spPr>
          <a:xfrm>
            <a:off x="1767951" y="3782575"/>
            <a:ext cx="9963387" cy="896425"/>
          </a:xfrm>
          <a:prstGeom prst="rect">
            <a:avLst/>
          </a:prstGeom>
          <a:noFill/>
        </p:spPr>
        <p:txBody>
          <a:bodyPr wrap="square" lIns="0" tIns="0" rIns="0" bIns="0" rtlCol="0" anchor="ctr">
            <a:noAutofit/>
          </a:bodyPr>
          <a:lstStyle/>
          <a:p>
            <a:pPr>
              <a:spcBef>
                <a:spcPts val="588"/>
              </a:spcBef>
            </a:pPr>
            <a:r>
              <a:rPr lang="en-US" dirty="0">
                <a:latin typeface="Calibri" panose="020F0502020204030204" pitchFamily="34" charset="0"/>
                <a:cs typeface="Times New Roman" panose="02020603050405020304" pitchFamily="18" charset="0"/>
              </a:rPr>
              <a:t>Azure network engineers use the Azure Portal and other methods, including PowerShell, Azure Command-Line Interface (CLI), and Azure Resource Manager (ARM) templates to implement and manage solutions</a:t>
            </a:r>
          </a:p>
        </p:txBody>
      </p:sp>
      <p:cxnSp>
        <p:nvCxnSpPr>
          <p:cNvPr id="19" name="Straight Connector 18">
            <a:extLst>
              <a:ext uri="{FF2B5EF4-FFF2-40B4-BE49-F238E27FC236}">
                <a16:creationId xmlns:a16="http://schemas.microsoft.com/office/drawing/2014/main" id="{C0179853-B9BC-4C71-9078-CE4AC9E47682}"/>
              </a:ext>
              <a:ext uri="{C183D7F6-B498-43B3-948B-1728B52AA6E4}">
                <adec:decorative xmlns:adec="http://schemas.microsoft.com/office/drawing/2017/decorative" val="1"/>
              </a:ext>
            </a:extLst>
          </p:cNvPr>
          <p:cNvCxnSpPr>
            <a:cxnSpLocks/>
          </p:cNvCxnSpPr>
          <p:nvPr/>
        </p:nvCxnSpPr>
        <p:spPr>
          <a:xfrm>
            <a:off x="1767948" y="4818807"/>
            <a:ext cx="984288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1" name="Picture 10" descr="Icon of a cloud with 5 lines on bottom glowing downwards">
            <a:extLst>
              <a:ext uri="{FF2B5EF4-FFF2-40B4-BE49-F238E27FC236}">
                <a16:creationId xmlns:a16="http://schemas.microsoft.com/office/drawing/2014/main" id="{7A175A5E-8BEA-4FBD-8BF3-9207EE9BEF9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8335" y="4880355"/>
            <a:ext cx="1054793" cy="1054793"/>
          </a:xfrm>
          <a:prstGeom prst="rect">
            <a:avLst/>
          </a:prstGeom>
        </p:spPr>
      </p:pic>
      <p:sp>
        <p:nvSpPr>
          <p:cNvPr id="78" name="TextBox 77">
            <a:extLst>
              <a:ext uri="{FF2B5EF4-FFF2-40B4-BE49-F238E27FC236}">
                <a16:creationId xmlns:a16="http://schemas.microsoft.com/office/drawing/2014/main" id="{A9FCFEAE-033A-4DA0-BC18-753963990FA7}"/>
              </a:ext>
            </a:extLst>
          </p:cNvPr>
          <p:cNvSpPr txBox="1"/>
          <p:nvPr/>
        </p:nvSpPr>
        <p:spPr>
          <a:xfrm>
            <a:off x="1767951" y="4958614"/>
            <a:ext cx="9963387" cy="896425"/>
          </a:xfrm>
          <a:prstGeom prst="rect">
            <a:avLst/>
          </a:prstGeom>
          <a:noFill/>
        </p:spPr>
        <p:txBody>
          <a:bodyPr wrap="square" lIns="0" tIns="0" rIns="0" bIns="0" rtlCol="0" anchor="ctr">
            <a:noAutofit/>
          </a:bodyPr>
          <a:lstStyle/>
          <a:p>
            <a:pPr>
              <a:spcBef>
                <a:spcPts val="588"/>
              </a:spcBef>
            </a:pPr>
            <a:r>
              <a:rPr lang="en-US" sz="1765" dirty="0"/>
              <a:t>Successful Azure network engineers </a:t>
            </a:r>
            <a:r>
              <a:rPr lang="en-US" sz="1800" dirty="0">
                <a:effectLst/>
                <a:latin typeface="Calibri" panose="020F0502020204030204" pitchFamily="34" charset="0"/>
                <a:ea typeface="Calibri" panose="020F0502020204030204" pitchFamily="34" charset="0"/>
                <a:cs typeface="Times New Roman" panose="02020603050405020304" pitchFamily="18" charset="0"/>
              </a:rPr>
              <a:t>should have expert Azure administration skills, in addition to extensive experience and knowledge of networking, hybrid connections, and network security.</a:t>
            </a:r>
          </a:p>
        </p:txBody>
      </p:sp>
    </p:spTree>
    <p:extLst>
      <p:ext uri="{BB962C8B-B14F-4D97-AF65-F5344CB8AC3E}">
        <p14:creationId xmlns:p14="http://schemas.microsoft.com/office/powerpoint/2010/main" val="351593867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D72E36-A855-44E9-9231-67CF285354DB}"/>
              </a:ext>
            </a:extLst>
          </p:cNvPr>
          <p:cNvSpPr>
            <a:spLocks noGrp="1"/>
          </p:cNvSpPr>
          <p:nvPr>
            <p:ph type="title"/>
          </p:nvPr>
        </p:nvSpPr>
        <p:spPr/>
        <p:txBody>
          <a:bodyPr/>
          <a:lstStyle/>
          <a:p>
            <a:r>
              <a:rPr lang="en-US" dirty="0"/>
              <a:t>Microsoft Certifications </a:t>
            </a:r>
            <a:r>
              <a:rPr lang="en-US" dirty="0">
                <a:solidFill>
                  <a:srgbClr val="C00000"/>
                </a:solidFill>
              </a:rPr>
              <a:t>(optional)</a:t>
            </a:r>
          </a:p>
        </p:txBody>
      </p:sp>
      <p:sp>
        <p:nvSpPr>
          <p:cNvPr id="25" name="Text Placeholder 3">
            <a:extLst>
              <a:ext uri="{FF2B5EF4-FFF2-40B4-BE49-F238E27FC236}">
                <a16:creationId xmlns:a16="http://schemas.microsoft.com/office/drawing/2014/main" id="{9B3A1C4F-ED80-4D99-8864-4A7B389C8598}"/>
              </a:ext>
            </a:extLst>
          </p:cNvPr>
          <p:cNvSpPr txBox="1">
            <a:spLocks/>
          </p:cNvSpPr>
          <p:nvPr/>
        </p:nvSpPr>
        <p:spPr>
          <a:xfrm>
            <a:off x="1" y="1169262"/>
            <a:ext cx="12192000" cy="896425"/>
          </a:xfrm>
          <a:prstGeom prst="rect">
            <a:avLst/>
          </a:prstGeom>
          <a:solidFill>
            <a:srgbClr val="243A5E"/>
          </a:solidFill>
        </p:spPr>
        <p:txBody>
          <a:bodyPr lIns="89642" tIns="44821" rIns="89642" bIns="44821"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36145"/>
            <a:r>
              <a:rPr lang="en-US" sz="1961" spc="0" dirty="0">
                <a:solidFill>
                  <a:schemeClr val="bg1"/>
                </a:solidFill>
                <a:latin typeface="+mn-lt"/>
              </a:rPr>
              <a:t>Certifications give you a professional edge by providing globally recognized industry endorsed evidence of skills mastery, demonstrating your abilities and willingness to embrace new technologies</a:t>
            </a:r>
          </a:p>
        </p:txBody>
      </p:sp>
      <p:pic>
        <p:nvPicPr>
          <p:cNvPr id="7" name="Picture 6" descr="Azure Fundamentals badge">
            <a:extLst>
              <a:ext uri="{FF2B5EF4-FFF2-40B4-BE49-F238E27FC236}">
                <a16:creationId xmlns:a16="http://schemas.microsoft.com/office/drawing/2014/main" id="{BDC6FF16-980E-4E20-BD05-138A5E7E58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545" y="2718040"/>
            <a:ext cx="856086" cy="854592"/>
          </a:xfrm>
          <a:prstGeom prst="rect">
            <a:avLst/>
          </a:prstGeom>
        </p:spPr>
      </p:pic>
      <p:sp>
        <p:nvSpPr>
          <p:cNvPr id="28" name="Rectangle 27">
            <a:extLst>
              <a:ext uri="{FF2B5EF4-FFF2-40B4-BE49-F238E27FC236}">
                <a16:creationId xmlns:a16="http://schemas.microsoft.com/office/drawing/2014/main" id="{6ACE96FD-21F9-46DE-9A48-E0A651AF6E90}"/>
              </a:ext>
            </a:extLst>
          </p:cNvPr>
          <p:cNvSpPr/>
          <p:nvPr/>
        </p:nvSpPr>
        <p:spPr>
          <a:xfrm>
            <a:off x="418644" y="3625871"/>
            <a:ext cx="3078871" cy="807875"/>
          </a:xfrm>
          <a:prstGeom prst="rect">
            <a:avLst/>
          </a:prstGeom>
        </p:spPr>
        <p:txBody>
          <a:bodyPr wrap="square" lIns="0" tIns="0" rIns="0" bIns="0" anchor="ctr">
            <a:noAutofit/>
          </a:bodyPr>
          <a:lstStyle/>
          <a:p>
            <a:r>
              <a:rPr lang="pt-BR" sz="1961">
                <a:latin typeface="+mj-lt"/>
              </a:rPr>
              <a:t>Exam AZ-900: Microsoft Azure </a:t>
            </a:r>
            <a:r>
              <a:rPr lang="pt-BR" sz="1961">
                <a:solidFill>
                  <a:schemeClr val="tx2"/>
                </a:solidFill>
                <a:latin typeface="+mj-lt"/>
              </a:rPr>
              <a:t>Fundamentals</a:t>
            </a:r>
            <a:endParaRPr lang="en-US" sz="1961" dirty="0">
              <a:solidFill>
                <a:schemeClr val="tx2"/>
              </a:solidFill>
              <a:latin typeface="+mj-lt"/>
            </a:endParaRPr>
          </a:p>
        </p:txBody>
      </p:sp>
      <p:sp>
        <p:nvSpPr>
          <p:cNvPr id="27" name="Rectangle 26">
            <a:extLst>
              <a:ext uri="{FF2B5EF4-FFF2-40B4-BE49-F238E27FC236}">
                <a16:creationId xmlns:a16="http://schemas.microsoft.com/office/drawing/2014/main" id="{90BE9F8E-5036-4CB9-A6E2-23B2F289C5AC}"/>
              </a:ext>
            </a:extLst>
          </p:cNvPr>
          <p:cNvSpPr/>
          <p:nvPr/>
        </p:nvSpPr>
        <p:spPr>
          <a:xfrm>
            <a:off x="418644" y="4433744"/>
            <a:ext cx="3078871" cy="1423074"/>
          </a:xfrm>
          <a:prstGeom prst="rect">
            <a:avLst/>
          </a:prstGeom>
        </p:spPr>
        <p:txBody>
          <a:bodyPr wrap="square" lIns="0" tIns="0" rIns="0" bIns="0">
            <a:noAutofit/>
          </a:bodyPr>
          <a:lstStyle/>
          <a:p>
            <a:r>
              <a:rPr lang="en-US" sz="1765" dirty="0"/>
              <a:t>Designed for candidates looking to demonstrate foundational level knowledge of cloud services and how those services are provided</a:t>
            </a:r>
          </a:p>
        </p:txBody>
      </p:sp>
      <p:sp>
        <p:nvSpPr>
          <p:cNvPr id="43" name="arrow_15" descr="Arrow pointing right">
            <a:extLst>
              <a:ext uri="{FF2B5EF4-FFF2-40B4-BE49-F238E27FC236}">
                <a16:creationId xmlns:a16="http://schemas.microsoft.com/office/drawing/2014/main" id="{2C48E4AE-231E-491F-A5CB-6DAF220151F2}"/>
              </a:ext>
            </a:extLst>
          </p:cNvPr>
          <p:cNvSpPr>
            <a:spLocks noChangeAspect="1" noEditPoints="1"/>
          </p:cNvSpPr>
          <p:nvPr/>
        </p:nvSpPr>
        <p:spPr bwMode="auto">
          <a:xfrm>
            <a:off x="3666833" y="3850521"/>
            <a:ext cx="360207" cy="358570"/>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noFill/>
          <a:ln w="15875" cap="sq">
            <a:solidFill>
              <a:schemeClr val="tx1"/>
            </a:solidFill>
            <a:prstDash val="solid"/>
            <a:miter lim="800000"/>
            <a:headEnd/>
            <a:tailEnd/>
          </a:ln>
        </p:spPr>
        <p:txBody>
          <a:bodyPr vert="horz" wrap="square" lIns="89642" tIns="44821" rIns="89642" bIns="44821" numCol="1" anchor="t" anchorCtr="0" compatLnSpc="1">
            <a:prstTxWarp prst="textNoShape">
              <a:avLst/>
            </a:prstTxWarp>
          </a:bodyPr>
          <a:lstStyle/>
          <a:p>
            <a:endParaRPr lang="en-US" sz="882" dirty="0">
              <a:gradFill>
                <a:gsLst>
                  <a:gs pos="0">
                    <a:srgbClr val="505050"/>
                  </a:gs>
                  <a:gs pos="100000">
                    <a:srgbClr val="505050"/>
                  </a:gs>
                </a:gsLst>
                <a:lin ang="5400000" scaled="1"/>
              </a:gradFill>
            </a:endParaRPr>
          </a:p>
        </p:txBody>
      </p:sp>
      <p:pic>
        <p:nvPicPr>
          <p:cNvPr id="8" name="Picture 7" descr="Azure Administrator Associate badge ">
            <a:extLst>
              <a:ext uri="{FF2B5EF4-FFF2-40B4-BE49-F238E27FC236}">
                <a16:creationId xmlns:a16="http://schemas.microsoft.com/office/drawing/2014/main" id="{76EA0364-30C5-43A7-9D79-DB11A64AA8B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3945" y="2718040"/>
            <a:ext cx="856086" cy="854592"/>
          </a:xfrm>
          <a:prstGeom prst="rect">
            <a:avLst/>
          </a:prstGeom>
        </p:spPr>
      </p:pic>
      <p:sp>
        <p:nvSpPr>
          <p:cNvPr id="46" name="Rectangle 45">
            <a:extLst>
              <a:ext uri="{FF2B5EF4-FFF2-40B4-BE49-F238E27FC236}">
                <a16:creationId xmlns:a16="http://schemas.microsoft.com/office/drawing/2014/main" id="{B45E7F53-E297-4518-A96A-AFEC1000A803}"/>
              </a:ext>
            </a:extLst>
          </p:cNvPr>
          <p:cNvSpPr/>
          <p:nvPr/>
        </p:nvSpPr>
        <p:spPr>
          <a:xfrm>
            <a:off x="4556566" y="3625869"/>
            <a:ext cx="3078871" cy="807875"/>
          </a:xfrm>
          <a:prstGeom prst="rect">
            <a:avLst/>
          </a:prstGeom>
        </p:spPr>
        <p:txBody>
          <a:bodyPr wrap="square" lIns="0" tIns="0" rIns="0" bIns="0" anchor="ctr">
            <a:noAutofit/>
          </a:bodyPr>
          <a:lstStyle/>
          <a:p>
            <a:r>
              <a:rPr lang="en-US" sz="1961" dirty="0">
                <a:latin typeface="+mj-lt"/>
              </a:rPr>
              <a:t>Microsoft Certified: Azure Administrator </a:t>
            </a:r>
            <a:r>
              <a:rPr lang="en-US" sz="1961" dirty="0">
                <a:solidFill>
                  <a:schemeClr val="tx2"/>
                </a:solidFill>
                <a:latin typeface="+mj-lt"/>
              </a:rPr>
              <a:t>Associate</a:t>
            </a:r>
          </a:p>
        </p:txBody>
      </p:sp>
      <p:sp>
        <p:nvSpPr>
          <p:cNvPr id="45" name="Rectangle 44">
            <a:extLst>
              <a:ext uri="{FF2B5EF4-FFF2-40B4-BE49-F238E27FC236}">
                <a16:creationId xmlns:a16="http://schemas.microsoft.com/office/drawing/2014/main" id="{5BA384C6-50FC-45A3-8931-D6A4BD2C1578}"/>
              </a:ext>
            </a:extLst>
          </p:cNvPr>
          <p:cNvSpPr/>
          <p:nvPr/>
        </p:nvSpPr>
        <p:spPr>
          <a:xfrm>
            <a:off x="4556566" y="4433744"/>
            <a:ext cx="3078871" cy="1423074"/>
          </a:xfrm>
          <a:prstGeom prst="rect">
            <a:avLst/>
          </a:prstGeom>
        </p:spPr>
        <p:txBody>
          <a:bodyPr wrap="square" lIns="0" tIns="0" rIns="0" bIns="0">
            <a:noAutofit/>
          </a:bodyPr>
          <a:lstStyle/>
          <a:p>
            <a:r>
              <a:rPr lang="en-US" sz="1765" dirty="0"/>
              <a:t>Designed for Azure Administrators who implement, monitor, and maintain compute, storage, network, and security</a:t>
            </a:r>
          </a:p>
        </p:txBody>
      </p:sp>
      <p:sp>
        <p:nvSpPr>
          <p:cNvPr id="47" name="arrow_15" descr="Arrow pointing right">
            <a:extLst>
              <a:ext uri="{FF2B5EF4-FFF2-40B4-BE49-F238E27FC236}">
                <a16:creationId xmlns:a16="http://schemas.microsoft.com/office/drawing/2014/main" id="{5AEACCE0-BC74-4AD8-ABF2-312D6B86E670}"/>
              </a:ext>
            </a:extLst>
          </p:cNvPr>
          <p:cNvSpPr>
            <a:spLocks noChangeAspect="1" noEditPoints="1"/>
          </p:cNvSpPr>
          <p:nvPr/>
        </p:nvSpPr>
        <p:spPr bwMode="auto">
          <a:xfrm>
            <a:off x="7984859" y="3850521"/>
            <a:ext cx="360207" cy="358570"/>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noFill/>
          <a:ln w="15875" cap="sq">
            <a:solidFill>
              <a:schemeClr val="tx1"/>
            </a:solidFill>
            <a:prstDash val="solid"/>
            <a:miter lim="800000"/>
            <a:headEnd/>
            <a:tailEnd/>
          </a:ln>
        </p:spPr>
        <p:txBody>
          <a:bodyPr vert="horz" wrap="square" lIns="89642" tIns="44821" rIns="89642" bIns="44821" numCol="1" anchor="t" anchorCtr="0" compatLnSpc="1">
            <a:prstTxWarp prst="textNoShape">
              <a:avLst/>
            </a:prstTxWarp>
          </a:bodyPr>
          <a:lstStyle/>
          <a:p>
            <a:endParaRPr lang="en-US" sz="882" dirty="0">
              <a:gradFill>
                <a:gsLst>
                  <a:gs pos="0">
                    <a:srgbClr val="505050"/>
                  </a:gs>
                  <a:gs pos="100000">
                    <a:srgbClr val="505050"/>
                  </a:gs>
                </a:gsLst>
                <a:lin ang="5400000" scaled="1"/>
              </a:gradFill>
            </a:endParaRPr>
          </a:p>
        </p:txBody>
      </p:sp>
      <p:pic>
        <p:nvPicPr>
          <p:cNvPr id="9" name="Picture 8" descr="Azure Architect Expert badge">
            <a:extLst>
              <a:ext uri="{FF2B5EF4-FFF2-40B4-BE49-F238E27FC236}">
                <a16:creationId xmlns:a16="http://schemas.microsoft.com/office/drawing/2014/main" id="{96306D17-C37C-48E7-9E8B-1348F171493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10572" y="2718040"/>
            <a:ext cx="856086" cy="854592"/>
          </a:xfrm>
          <a:prstGeom prst="rect">
            <a:avLst/>
          </a:prstGeom>
        </p:spPr>
      </p:pic>
      <p:sp>
        <p:nvSpPr>
          <p:cNvPr id="49" name="Rectangle 48" descr="Microsoft Certified: Azure Solutions Architect Expert&#10;">
            <a:extLst>
              <a:ext uri="{FF2B5EF4-FFF2-40B4-BE49-F238E27FC236}">
                <a16:creationId xmlns:a16="http://schemas.microsoft.com/office/drawing/2014/main" id="{73983C21-C006-4FF3-A573-3FCEF025AC61}"/>
              </a:ext>
            </a:extLst>
          </p:cNvPr>
          <p:cNvSpPr/>
          <p:nvPr/>
        </p:nvSpPr>
        <p:spPr>
          <a:xfrm>
            <a:off x="8694488" y="3625871"/>
            <a:ext cx="3078871" cy="807875"/>
          </a:xfrm>
          <a:prstGeom prst="rect">
            <a:avLst/>
          </a:prstGeom>
        </p:spPr>
        <p:txBody>
          <a:bodyPr wrap="square" lIns="0" tIns="0" rIns="0" bIns="0" anchor="ctr">
            <a:noAutofit/>
          </a:bodyPr>
          <a:lstStyle/>
          <a:p>
            <a:r>
              <a:rPr lang="en-US" sz="1961" dirty="0">
                <a:latin typeface="+mj-lt"/>
              </a:rPr>
              <a:t>Microsoft Certified: Azure Solutions Architect </a:t>
            </a:r>
            <a:r>
              <a:rPr lang="en-US" sz="1961" dirty="0">
                <a:solidFill>
                  <a:schemeClr val="tx2"/>
                </a:solidFill>
                <a:latin typeface="+mj-lt"/>
              </a:rPr>
              <a:t>Expert</a:t>
            </a:r>
          </a:p>
        </p:txBody>
      </p:sp>
      <p:sp>
        <p:nvSpPr>
          <p:cNvPr id="50" name="Rectangle 49">
            <a:extLst>
              <a:ext uri="{FF2B5EF4-FFF2-40B4-BE49-F238E27FC236}">
                <a16:creationId xmlns:a16="http://schemas.microsoft.com/office/drawing/2014/main" id="{9F9671E6-D149-4B6E-82A4-7FDE984847A2}"/>
              </a:ext>
            </a:extLst>
          </p:cNvPr>
          <p:cNvSpPr/>
          <p:nvPr/>
        </p:nvSpPr>
        <p:spPr>
          <a:xfrm>
            <a:off x="8694488" y="4433744"/>
            <a:ext cx="3078871" cy="1423074"/>
          </a:xfrm>
          <a:prstGeom prst="rect">
            <a:avLst/>
          </a:prstGeom>
        </p:spPr>
        <p:txBody>
          <a:bodyPr wrap="square" lIns="0" tIns="0" rIns="0" bIns="0">
            <a:noAutofit/>
          </a:bodyPr>
          <a:lstStyle/>
          <a:p>
            <a:r>
              <a:rPr lang="en-US" sz="1765" dirty="0"/>
              <a:t>Designed for Azure Solutions Architects who create solutions for compute, network, storage, and security</a:t>
            </a:r>
          </a:p>
        </p:txBody>
      </p:sp>
    </p:spTree>
    <p:extLst>
      <p:ext uri="{BB962C8B-B14F-4D97-AF65-F5344CB8AC3E}">
        <p14:creationId xmlns:p14="http://schemas.microsoft.com/office/powerpoint/2010/main" val="186168706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7E612-0557-4697-BDA6-FA91E09ED0E8}"/>
              </a:ext>
            </a:extLst>
          </p:cNvPr>
          <p:cNvSpPr>
            <a:spLocks noGrp="1"/>
          </p:cNvSpPr>
          <p:nvPr>
            <p:ph type="title"/>
          </p:nvPr>
        </p:nvSpPr>
        <p:spPr/>
        <p:txBody>
          <a:bodyPr/>
          <a:lstStyle/>
          <a:p>
            <a:r>
              <a:rPr lang="en-US" dirty="0"/>
              <a:t>AZ-700 Certification Areas </a:t>
            </a:r>
          </a:p>
        </p:txBody>
      </p:sp>
      <p:graphicFrame>
        <p:nvGraphicFramePr>
          <p:cNvPr id="10" name="Table 9">
            <a:extLst>
              <a:ext uri="{FF2B5EF4-FFF2-40B4-BE49-F238E27FC236}">
                <a16:creationId xmlns:a16="http://schemas.microsoft.com/office/drawing/2014/main" id="{D24406BE-7C0C-4B0B-A9AB-6397860C3576}"/>
              </a:ext>
            </a:extLst>
          </p:cNvPr>
          <p:cNvGraphicFramePr>
            <a:graphicFrameLocks noGrp="1"/>
          </p:cNvGraphicFramePr>
          <p:nvPr>
            <p:extLst>
              <p:ext uri="{D42A27DB-BD31-4B8C-83A1-F6EECF244321}">
                <p14:modId xmlns:p14="http://schemas.microsoft.com/office/powerpoint/2010/main" val="2903460438"/>
              </p:ext>
            </p:extLst>
          </p:nvPr>
        </p:nvGraphicFramePr>
        <p:xfrm>
          <a:off x="418642" y="1444416"/>
          <a:ext cx="11354716" cy="3203916"/>
        </p:xfrm>
        <a:graphic>
          <a:graphicData uri="http://schemas.openxmlformats.org/drawingml/2006/table">
            <a:tbl>
              <a:tblPr firstRow="1" firstCol="1" bandRow="1">
                <a:tableStyleId>{B301B821-A1FF-4177-AEE7-76D212191A09}</a:tableStyleId>
              </a:tblPr>
              <a:tblGrid>
                <a:gridCol w="5669577">
                  <a:extLst>
                    <a:ext uri="{9D8B030D-6E8A-4147-A177-3AD203B41FA5}">
                      <a16:colId xmlns:a16="http://schemas.microsoft.com/office/drawing/2014/main" val="1345882144"/>
                    </a:ext>
                  </a:extLst>
                </a:gridCol>
                <a:gridCol w="5685139">
                  <a:extLst>
                    <a:ext uri="{9D8B030D-6E8A-4147-A177-3AD203B41FA5}">
                      <a16:colId xmlns:a16="http://schemas.microsoft.com/office/drawing/2014/main" val="1086091707"/>
                    </a:ext>
                  </a:extLst>
                </a:gridCol>
              </a:tblGrid>
              <a:tr h="552795">
                <a:tc>
                  <a:txBody>
                    <a:bodyPr/>
                    <a:lstStyle/>
                    <a:p>
                      <a:pPr marL="0" marR="0" algn="l">
                        <a:lnSpc>
                          <a:spcPct val="100000"/>
                        </a:lnSpc>
                        <a:spcBef>
                          <a:spcPts val="0"/>
                        </a:spcBef>
                        <a:spcAft>
                          <a:spcPts val="0"/>
                        </a:spcAft>
                      </a:pPr>
                      <a:r>
                        <a:rPr lang="en-US" sz="2200" b="0" dirty="0">
                          <a:solidFill>
                            <a:schemeClr val="bg1"/>
                          </a:solidFill>
                          <a:effectLst/>
                          <a:latin typeface="+mj-lt"/>
                          <a:cs typeface="Segoe UI Semilight"/>
                        </a:rPr>
                        <a:t>Study Areas</a:t>
                      </a:r>
                      <a:endParaRPr lang="en-US" sz="2200" b="0" dirty="0">
                        <a:solidFill>
                          <a:schemeClr val="bg1"/>
                        </a:solidFill>
                        <a:effectLst/>
                        <a:latin typeface="+mj-lt"/>
                        <a:ea typeface="Calibri" panose="020F0502020204030204" pitchFamily="34" charset="0"/>
                        <a:cs typeface="Segoe UI Semilight"/>
                      </a:endParaRPr>
                    </a:p>
                  </a:txBody>
                  <a:tcPr marL="134464" marR="134464" marT="134464" marB="89642"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pPr marL="0" marR="0" algn="ctr">
                        <a:lnSpc>
                          <a:spcPct val="100000"/>
                        </a:lnSpc>
                        <a:spcBef>
                          <a:spcPts val="0"/>
                        </a:spcBef>
                        <a:spcAft>
                          <a:spcPts val="0"/>
                        </a:spcAft>
                      </a:pPr>
                      <a:r>
                        <a:rPr lang="en-US" sz="2200" b="0" dirty="0">
                          <a:solidFill>
                            <a:schemeClr val="bg1"/>
                          </a:solidFill>
                          <a:effectLst/>
                          <a:latin typeface="+mj-lt"/>
                          <a:cs typeface="Segoe UI Semilight"/>
                        </a:rPr>
                        <a:t>Weights</a:t>
                      </a:r>
                      <a:endParaRPr lang="en-US" sz="2200" b="0" dirty="0">
                        <a:solidFill>
                          <a:schemeClr val="bg1"/>
                        </a:solidFill>
                        <a:effectLst/>
                        <a:latin typeface="+mj-lt"/>
                        <a:ea typeface="Calibri" panose="020F0502020204030204" pitchFamily="34" charset="0"/>
                        <a:cs typeface="Segoe UI Semilight"/>
                      </a:endParaRPr>
                    </a:p>
                  </a:txBody>
                  <a:tcPr marL="179285" marR="134464" marT="134464" marB="89642"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389416738"/>
                  </a:ext>
                </a:extLst>
              </a:tr>
              <a:tr h="522914">
                <a:tc>
                  <a:txBody>
                    <a:bodyPr/>
                    <a:lstStyle/>
                    <a:p>
                      <a:pPr algn="l"/>
                      <a:r>
                        <a:rPr lang="en-US" sz="2000" b="0" dirty="0">
                          <a:solidFill>
                            <a:schemeClr val="tx1"/>
                          </a:solidFill>
                          <a:effectLst/>
                        </a:rPr>
                        <a:t>Design, Implement, and Manage Hybrid Networking</a:t>
                      </a:r>
                    </a:p>
                  </a:txBody>
                  <a:tcPr marL="134464" marR="134464" marT="134464"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2000" b="0" dirty="0">
                          <a:solidFill>
                            <a:schemeClr val="tx1"/>
                          </a:solidFill>
                          <a:effectLst/>
                        </a:rPr>
                        <a:t>10–15%</a:t>
                      </a:r>
                      <a:endParaRPr lang="en-US" sz="2000" dirty="0">
                        <a:solidFill>
                          <a:schemeClr val="tx1"/>
                        </a:solidFill>
                        <a:effectLst/>
                      </a:endParaRPr>
                    </a:p>
                  </a:txBody>
                  <a:tcPr marL="179285" marR="134464" marT="134464"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86577190"/>
                  </a:ext>
                </a:extLst>
              </a:tr>
              <a:tr h="522914">
                <a:tc>
                  <a:txBody>
                    <a:bodyPr/>
                    <a:lstStyle/>
                    <a:p>
                      <a:r>
                        <a:rPr lang="en-US" sz="1800" b="0" kern="1200" dirty="0">
                          <a:solidFill>
                            <a:schemeClr val="dk1"/>
                          </a:solidFill>
                          <a:effectLst/>
                          <a:latin typeface="+mn-lt"/>
                          <a:ea typeface="+mn-ea"/>
                          <a:cs typeface="+mn-cs"/>
                        </a:rPr>
                        <a:t>Design and Implement Core Networking Infrastructure</a:t>
                      </a:r>
                      <a:endParaRPr lang="en-US" sz="1800" b="1" kern="1200" dirty="0">
                        <a:solidFill>
                          <a:schemeClr val="dk1"/>
                        </a:solidFill>
                        <a:effectLst/>
                        <a:latin typeface="+mn-lt"/>
                        <a:ea typeface="+mn-ea"/>
                        <a:cs typeface="+mn-cs"/>
                      </a:endParaRPr>
                    </a:p>
                  </a:txBody>
                  <a:tcPr marL="134464" marR="134464" marT="134464"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2000" b="0" kern="1200" dirty="0">
                          <a:solidFill>
                            <a:schemeClr val="dk1"/>
                          </a:solidFill>
                          <a:effectLst/>
                          <a:latin typeface="+mn-lt"/>
                          <a:ea typeface="+mn-ea"/>
                          <a:cs typeface="+mn-cs"/>
                        </a:rPr>
                        <a:t>20–25%</a:t>
                      </a:r>
                      <a:endParaRPr lang="en-US" sz="2000" dirty="0">
                        <a:solidFill>
                          <a:schemeClr val="tx1"/>
                        </a:solidFill>
                        <a:effectLst/>
                      </a:endParaRPr>
                    </a:p>
                  </a:txBody>
                  <a:tcPr marL="179285" marR="134464" marT="134464"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5524992"/>
                  </a:ext>
                </a:extLst>
              </a:tr>
              <a:tr h="522914">
                <a:tc>
                  <a:txBody>
                    <a:bodyPr/>
                    <a:lstStyle/>
                    <a:p>
                      <a:r>
                        <a:rPr lang="en-US" sz="1800" b="0" kern="1200" dirty="0">
                          <a:solidFill>
                            <a:schemeClr val="dk1"/>
                          </a:solidFill>
                          <a:effectLst/>
                          <a:latin typeface="+mn-lt"/>
                          <a:ea typeface="+mn-ea"/>
                          <a:cs typeface="+mn-cs"/>
                        </a:rPr>
                        <a:t>Design and Implement Routing</a:t>
                      </a:r>
                      <a:endParaRPr lang="en-US" sz="1800" b="1" kern="1200" dirty="0">
                        <a:solidFill>
                          <a:schemeClr val="dk1"/>
                        </a:solidFill>
                        <a:effectLst/>
                        <a:latin typeface="+mn-lt"/>
                        <a:ea typeface="+mn-ea"/>
                        <a:cs typeface="+mn-cs"/>
                      </a:endParaRPr>
                    </a:p>
                  </a:txBody>
                  <a:tcPr marL="134464" marR="134464" marT="134464"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2000" b="0" kern="1200" dirty="0">
                          <a:solidFill>
                            <a:schemeClr val="dk1"/>
                          </a:solidFill>
                          <a:effectLst/>
                          <a:latin typeface="+mn-lt"/>
                          <a:ea typeface="+mn-ea"/>
                          <a:cs typeface="+mn-cs"/>
                        </a:rPr>
                        <a:t>25–30%</a:t>
                      </a:r>
                      <a:endParaRPr lang="en-US" sz="2000" dirty="0">
                        <a:solidFill>
                          <a:schemeClr val="tx1"/>
                        </a:solidFill>
                        <a:effectLst/>
                      </a:endParaRPr>
                    </a:p>
                  </a:txBody>
                  <a:tcPr marL="179285" marR="134464" marT="134464"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98150387"/>
                  </a:ext>
                </a:extLst>
              </a:tr>
              <a:tr h="522914">
                <a:tc>
                  <a:txBody>
                    <a:bodyPr/>
                    <a:lstStyle/>
                    <a:p>
                      <a:r>
                        <a:rPr lang="en-US" sz="1800" b="0" kern="1200" dirty="0">
                          <a:solidFill>
                            <a:schemeClr val="dk1"/>
                          </a:solidFill>
                          <a:effectLst/>
                          <a:latin typeface="+mn-lt"/>
                          <a:ea typeface="+mn-ea"/>
                          <a:cs typeface="+mn-cs"/>
                        </a:rPr>
                        <a:t>Secure and Monitor Networks</a:t>
                      </a:r>
                      <a:endParaRPr lang="en-US" sz="1800" b="1" kern="1200" dirty="0">
                        <a:solidFill>
                          <a:schemeClr val="dk1"/>
                        </a:solidFill>
                        <a:effectLst/>
                        <a:latin typeface="+mn-lt"/>
                        <a:ea typeface="+mn-ea"/>
                        <a:cs typeface="+mn-cs"/>
                      </a:endParaRPr>
                    </a:p>
                  </a:txBody>
                  <a:tcPr marL="134464" marR="134464" marT="134464"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2000" b="0" kern="1200" dirty="0">
                          <a:solidFill>
                            <a:schemeClr val="dk1"/>
                          </a:solidFill>
                          <a:effectLst/>
                          <a:latin typeface="+mn-lt"/>
                          <a:ea typeface="+mn-ea"/>
                          <a:cs typeface="+mn-cs"/>
                        </a:rPr>
                        <a:t>15–20%</a:t>
                      </a:r>
                      <a:endParaRPr lang="en-US" sz="2000" dirty="0">
                        <a:solidFill>
                          <a:schemeClr val="tx1"/>
                        </a:solidFill>
                        <a:effectLst/>
                      </a:endParaRPr>
                    </a:p>
                  </a:txBody>
                  <a:tcPr marL="179285" marR="134464" marT="134464"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613303"/>
                  </a:ext>
                </a:extLst>
              </a:tr>
              <a:tr h="522914">
                <a:tc>
                  <a:txBody>
                    <a:bodyPr/>
                    <a:lstStyle/>
                    <a:p>
                      <a:r>
                        <a:rPr lang="en-US" sz="1800" b="0" kern="1200" dirty="0">
                          <a:solidFill>
                            <a:schemeClr val="dk1"/>
                          </a:solidFill>
                          <a:effectLst/>
                          <a:latin typeface="+mn-lt"/>
                          <a:ea typeface="+mn-ea"/>
                          <a:cs typeface="+mn-cs"/>
                        </a:rPr>
                        <a:t>Design and Implement Private Access to Azure Services</a:t>
                      </a:r>
                      <a:endParaRPr lang="en-US" sz="1800" b="1" kern="1200" dirty="0">
                        <a:solidFill>
                          <a:schemeClr val="dk1"/>
                        </a:solidFill>
                        <a:effectLst/>
                        <a:latin typeface="+mn-lt"/>
                        <a:ea typeface="+mn-ea"/>
                        <a:cs typeface="+mn-cs"/>
                      </a:endParaRPr>
                    </a:p>
                  </a:txBody>
                  <a:tcPr marL="134464" marR="134464" marT="134464" marB="89642"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2000" b="0" kern="1200" dirty="0">
                          <a:solidFill>
                            <a:schemeClr val="dk1"/>
                          </a:solidFill>
                          <a:effectLst/>
                          <a:latin typeface="+mn-lt"/>
                          <a:ea typeface="+mn-ea"/>
                          <a:cs typeface="+mn-cs"/>
                        </a:rPr>
                        <a:t>10–15%</a:t>
                      </a:r>
                      <a:endParaRPr lang="en-US" sz="2000" dirty="0">
                        <a:solidFill>
                          <a:schemeClr val="tx1"/>
                        </a:solidFill>
                        <a:effectLst/>
                      </a:endParaRPr>
                    </a:p>
                  </a:txBody>
                  <a:tcPr marL="179285" marR="134464" marT="134464" marB="89642"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62945303"/>
                  </a:ext>
                </a:extLst>
              </a:tr>
            </a:tbl>
          </a:graphicData>
        </a:graphic>
      </p:graphicFrame>
      <p:sp>
        <p:nvSpPr>
          <p:cNvPr id="6" name="Text Placeholder 2">
            <a:extLst>
              <a:ext uri="{FF2B5EF4-FFF2-40B4-BE49-F238E27FC236}">
                <a16:creationId xmlns:a16="http://schemas.microsoft.com/office/drawing/2014/main" id="{2DE0C923-3A47-492D-9738-E45068B137DF}"/>
              </a:ext>
            </a:extLst>
          </p:cNvPr>
          <p:cNvSpPr txBox="1">
            <a:spLocks/>
          </p:cNvSpPr>
          <p:nvPr/>
        </p:nvSpPr>
        <p:spPr>
          <a:xfrm>
            <a:off x="418642" y="4765156"/>
            <a:ext cx="5608037" cy="1145765"/>
          </a:xfrm>
          <a:prstGeom prst="rect">
            <a:avLst/>
          </a:prstGeom>
          <a:solidFill>
            <a:schemeClr val="bg1">
              <a:lumMod val="95000"/>
            </a:schemeClr>
          </a:solidFill>
          <a:ln>
            <a:noFill/>
          </a:ln>
        </p:spPr>
        <p:txBody>
          <a:bodyPr vert="horz" wrap="square" lIns="179285" tIns="44821" rIns="179285" bIns="44821"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1176"/>
              </a:spcBef>
            </a:pPr>
            <a:r>
              <a:rPr lang="en-US" altLang="en-US" sz="1961" spc="0" dirty="0">
                <a:solidFill>
                  <a:schemeClr val="tx1"/>
                </a:solidFill>
                <a:latin typeface="+mn-lt"/>
              </a:rPr>
              <a:t>Percentages indicate the relative</a:t>
            </a:r>
            <a:br>
              <a:rPr lang="en-US" altLang="en-US" sz="1961" spc="0" dirty="0">
                <a:solidFill>
                  <a:schemeClr val="tx1"/>
                </a:solidFill>
                <a:latin typeface="+mn-lt"/>
              </a:rPr>
            </a:br>
            <a:r>
              <a:rPr lang="en-US" altLang="en-US" sz="1961" spc="0" dirty="0">
                <a:solidFill>
                  <a:schemeClr val="tx1"/>
                </a:solidFill>
                <a:latin typeface="+mn-lt"/>
              </a:rPr>
              <a:t>weight of each area on the exam</a:t>
            </a:r>
          </a:p>
        </p:txBody>
      </p:sp>
      <p:sp>
        <p:nvSpPr>
          <p:cNvPr id="7" name="Text Placeholder 2">
            <a:extLst>
              <a:ext uri="{FF2B5EF4-FFF2-40B4-BE49-F238E27FC236}">
                <a16:creationId xmlns:a16="http://schemas.microsoft.com/office/drawing/2014/main" id="{1768AD20-C249-45DF-A678-28310EAAC8EF}"/>
              </a:ext>
            </a:extLst>
          </p:cNvPr>
          <p:cNvSpPr txBox="1">
            <a:spLocks/>
          </p:cNvSpPr>
          <p:nvPr/>
        </p:nvSpPr>
        <p:spPr>
          <a:xfrm>
            <a:off x="6165320" y="4765156"/>
            <a:ext cx="5608037" cy="1145765"/>
          </a:xfrm>
          <a:prstGeom prst="rect">
            <a:avLst/>
          </a:prstGeom>
          <a:solidFill>
            <a:schemeClr val="bg1">
              <a:lumMod val="95000"/>
            </a:schemeClr>
          </a:solidFill>
          <a:ln>
            <a:noFill/>
          </a:ln>
        </p:spPr>
        <p:txBody>
          <a:bodyPr vert="horz" wrap="square" lIns="179285" tIns="44821" rIns="179285" bIns="44821" rtlCol="0" anchor="ctr">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1176"/>
              </a:spcBef>
            </a:pPr>
            <a:r>
              <a:rPr lang="en-US" altLang="en-US" sz="1961" spc="0" dirty="0">
                <a:solidFill>
                  <a:schemeClr val="tx1"/>
                </a:solidFill>
                <a:latin typeface="+mn-lt"/>
              </a:rPr>
              <a:t>The higher the percentage, the more questions you are likely to see in that area</a:t>
            </a:r>
          </a:p>
        </p:txBody>
      </p:sp>
    </p:spTree>
    <p:extLst>
      <p:ext uri="{BB962C8B-B14F-4D97-AF65-F5344CB8AC3E}">
        <p14:creationId xmlns:p14="http://schemas.microsoft.com/office/powerpoint/2010/main" val="217631505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8F3C-18A2-46F0-B569-D338E06E0809}"/>
              </a:ext>
            </a:extLst>
          </p:cNvPr>
          <p:cNvSpPr>
            <a:spLocks noGrp="1"/>
          </p:cNvSpPr>
          <p:nvPr>
            <p:ph type="title"/>
          </p:nvPr>
        </p:nvSpPr>
        <p:spPr>
          <a:xfrm>
            <a:off x="362175" y="558399"/>
            <a:ext cx="6158438" cy="256522"/>
          </a:xfrm>
        </p:spPr>
        <p:txBody>
          <a:bodyPr/>
          <a:lstStyle/>
          <a:p>
            <a:r>
              <a:rPr lang="en-US" dirty="0"/>
              <a:t>About this course: Course Outline</a:t>
            </a:r>
          </a:p>
        </p:txBody>
      </p:sp>
      <p:pic>
        <p:nvPicPr>
          <p:cNvPr id="67" name="Picture 66" descr="Icon of a person inside square shape box">
            <a:extLst>
              <a:ext uri="{FF2B5EF4-FFF2-40B4-BE49-F238E27FC236}">
                <a16:creationId xmlns:a16="http://schemas.microsoft.com/office/drawing/2014/main" id="{45792455-C9DD-4D86-AC33-ED120288A3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5593" y="1405151"/>
            <a:ext cx="458228" cy="459179"/>
          </a:xfrm>
          <a:prstGeom prst="rect">
            <a:avLst/>
          </a:prstGeom>
        </p:spPr>
      </p:pic>
      <p:sp>
        <p:nvSpPr>
          <p:cNvPr id="132" name="TextBox 131">
            <a:extLst>
              <a:ext uri="{FF2B5EF4-FFF2-40B4-BE49-F238E27FC236}">
                <a16:creationId xmlns:a16="http://schemas.microsoft.com/office/drawing/2014/main" id="{A014B532-9FAF-42CF-A186-B172BAE9E547}"/>
              </a:ext>
            </a:extLst>
          </p:cNvPr>
          <p:cNvSpPr txBox="1"/>
          <p:nvPr/>
        </p:nvSpPr>
        <p:spPr>
          <a:xfrm>
            <a:off x="1181751" y="1630526"/>
            <a:ext cx="4183811" cy="91833"/>
          </a:xfrm>
          <a:prstGeom prst="rect">
            <a:avLst/>
          </a:prstGeom>
          <a:noFill/>
        </p:spPr>
        <p:txBody>
          <a:bodyPr wrap="square" lIns="0" tIns="0" rIns="0" bIns="0" rtlCol="0" anchor="ctr">
            <a:noAutofit/>
          </a:bodyPr>
          <a:lstStyle/>
          <a:p>
            <a:pPr>
              <a:spcAft>
                <a:spcPts val="588"/>
              </a:spcAft>
            </a:pPr>
            <a:r>
              <a:rPr lang="en-US" sz="1765" dirty="0"/>
              <a:t>Module 01: Introduction to Azure Virtual Networks </a:t>
            </a:r>
          </a:p>
        </p:txBody>
      </p:sp>
      <p:pic>
        <p:nvPicPr>
          <p:cNvPr id="209" name="Picture 208" descr="Icon of 5 circles join in a line">
            <a:extLst>
              <a:ext uri="{FF2B5EF4-FFF2-40B4-BE49-F238E27FC236}">
                <a16:creationId xmlns:a16="http://schemas.microsoft.com/office/drawing/2014/main" id="{7E547B55-522E-4994-BD01-943F638D8A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5593" y="2230494"/>
            <a:ext cx="458228" cy="458228"/>
          </a:xfrm>
          <a:prstGeom prst="rect">
            <a:avLst/>
          </a:prstGeom>
        </p:spPr>
      </p:pic>
      <p:sp>
        <p:nvSpPr>
          <p:cNvPr id="219" name="TextBox 218">
            <a:extLst>
              <a:ext uri="{FF2B5EF4-FFF2-40B4-BE49-F238E27FC236}">
                <a16:creationId xmlns:a16="http://schemas.microsoft.com/office/drawing/2014/main" id="{724D4C3C-EA88-44EB-BB57-7187F2745E13}"/>
              </a:ext>
            </a:extLst>
          </p:cNvPr>
          <p:cNvSpPr txBox="1"/>
          <p:nvPr/>
        </p:nvSpPr>
        <p:spPr>
          <a:xfrm>
            <a:off x="1181751" y="2423345"/>
            <a:ext cx="4549198" cy="286796"/>
          </a:xfrm>
          <a:prstGeom prst="rect">
            <a:avLst/>
          </a:prstGeom>
          <a:noFill/>
        </p:spPr>
        <p:txBody>
          <a:bodyPr wrap="square" lIns="0" tIns="0" rIns="0" bIns="0" rtlCol="0" anchor="ctr">
            <a:noAutofit/>
          </a:bodyPr>
          <a:lstStyle/>
          <a:p>
            <a:pPr>
              <a:spcAft>
                <a:spcPts val="588"/>
              </a:spcAft>
            </a:pPr>
            <a:r>
              <a:rPr lang="en-US" sz="1765" dirty="0"/>
              <a:t>Module 02: Designing and Implementing Hybrid Networking  </a:t>
            </a:r>
          </a:p>
        </p:txBody>
      </p:sp>
      <p:cxnSp>
        <p:nvCxnSpPr>
          <p:cNvPr id="246" name="Straight Connector 245">
            <a:extLst>
              <a:ext uri="{FF2B5EF4-FFF2-40B4-BE49-F238E27FC236}">
                <a16:creationId xmlns:a16="http://schemas.microsoft.com/office/drawing/2014/main" id="{DF5E1B7C-663A-49F1-A396-F4015DCA71B5}"/>
              </a:ext>
              <a:ext uri="{C183D7F6-B498-43B3-948B-1728B52AA6E4}">
                <adec:decorative xmlns:adec="http://schemas.microsoft.com/office/drawing/2017/decorative" val="1"/>
              </a:ext>
            </a:extLst>
          </p:cNvPr>
          <p:cNvCxnSpPr>
            <a:cxnSpLocks/>
          </p:cNvCxnSpPr>
          <p:nvPr/>
        </p:nvCxnSpPr>
        <p:spPr>
          <a:xfrm>
            <a:off x="1208977" y="3003004"/>
            <a:ext cx="305467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288" name="Picture 287" descr="Icon of two buildings and a cloud on top of them">
            <a:extLst>
              <a:ext uri="{FF2B5EF4-FFF2-40B4-BE49-F238E27FC236}">
                <a16:creationId xmlns:a16="http://schemas.microsoft.com/office/drawing/2014/main" id="{AE6A68B5-5056-4B39-A3E8-4561ACAF66F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649" t="649" r="649" b="649"/>
          <a:stretch/>
        </p:blipFill>
        <p:spPr>
          <a:xfrm>
            <a:off x="476867" y="3060526"/>
            <a:ext cx="452275" cy="453213"/>
          </a:xfrm>
          <a:prstGeom prst="ellipse">
            <a:avLst/>
          </a:prstGeom>
        </p:spPr>
      </p:pic>
      <p:sp>
        <p:nvSpPr>
          <p:cNvPr id="369" name="TextBox 368">
            <a:extLst>
              <a:ext uri="{FF2B5EF4-FFF2-40B4-BE49-F238E27FC236}">
                <a16:creationId xmlns:a16="http://schemas.microsoft.com/office/drawing/2014/main" id="{8D105FB9-7DF5-401F-9DD3-9228B929B73B}"/>
              </a:ext>
            </a:extLst>
          </p:cNvPr>
          <p:cNvSpPr txBox="1"/>
          <p:nvPr/>
        </p:nvSpPr>
        <p:spPr>
          <a:xfrm>
            <a:off x="1181751" y="3281212"/>
            <a:ext cx="4549198" cy="453199"/>
          </a:xfrm>
          <a:prstGeom prst="rect">
            <a:avLst/>
          </a:prstGeom>
          <a:noFill/>
        </p:spPr>
        <p:txBody>
          <a:bodyPr wrap="square" lIns="0" tIns="0" rIns="0" bIns="0" rtlCol="0" anchor="ctr">
            <a:noAutofit/>
          </a:bodyPr>
          <a:lstStyle/>
          <a:p>
            <a:pPr>
              <a:spcAft>
                <a:spcPts val="588"/>
              </a:spcAft>
            </a:pPr>
            <a:r>
              <a:rPr lang="en-US" sz="1765" dirty="0"/>
              <a:t>Module 03: Designing and Implementing Azure ExpressRoute</a:t>
            </a:r>
          </a:p>
        </p:txBody>
      </p:sp>
      <p:cxnSp>
        <p:nvCxnSpPr>
          <p:cNvPr id="392" name="Straight Connector 391">
            <a:extLst>
              <a:ext uri="{FF2B5EF4-FFF2-40B4-BE49-F238E27FC236}">
                <a16:creationId xmlns:a16="http://schemas.microsoft.com/office/drawing/2014/main" id="{E1053AC9-8D6F-40D3-9D60-E86BA3C7EC44}"/>
              </a:ext>
              <a:ext uri="{C183D7F6-B498-43B3-948B-1728B52AA6E4}">
                <adec:decorative xmlns:adec="http://schemas.microsoft.com/office/drawing/2017/decorative" val="1"/>
              </a:ext>
            </a:extLst>
          </p:cNvPr>
          <p:cNvCxnSpPr>
            <a:cxnSpLocks/>
          </p:cNvCxnSpPr>
          <p:nvPr/>
        </p:nvCxnSpPr>
        <p:spPr>
          <a:xfrm>
            <a:off x="1199294" y="3828347"/>
            <a:ext cx="304308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429" name="Picture 428" descr="Icon of a 3 lines forming hierarchy">
            <a:extLst>
              <a:ext uri="{FF2B5EF4-FFF2-40B4-BE49-F238E27FC236}">
                <a16:creationId xmlns:a16="http://schemas.microsoft.com/office/drawing/2014/main" id="{03F07974-54CF-4CCA-B8AB-517029E8F2C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6135" y="3932068"/>
            <a:ext cx="459179" cy="459179"/>
          </a:xfrm>
          <a:prstGeom prst="rect">
            <a:avLst/>
          </a:prstGeom>
        </p:spPr>
      </p:pic>
      <p:sp>
        <p:nvSpPr>
          <p:cNvPr id="437" name="TextBox 436">
            <a:extLst>
              <a:ext uri="{FF2B5EF4-FFF2-40B4-BE49-F238E27FC236}">
                <a16:creationId xmlns:a16="http://schemas.microsoft.com/office/drawing/2014/main" id="{1CC681B9-33F7-4C3E-B941-1B4A7D18117C}"/>
              </a:ext>
            </a:extLst>
          </p:cNvPr>
          <p:cNvSpPr txBox="1"/>
          <p:nvPr/>
        </p:nvSpPr>
        <p:spPr>
          <a:xfrm>
            <a:off x="1181751" y="4106555"/>
            <a:ext cx="4549198" cy="359116"/>
          </a:xfrm>
          <a:prstGeom prst="rect">
            <a:avLst/>
          </a:prstGeom>
          <a:noFill/>
        </p:spPr>
        <p:txBody>
          <a:bodyPr wrap="square" lIns="0" tIns="0" rIns="0" bIns="0" rtlCol="0" anchor="ctr">
            <a:noAutofit/>
          </a:bodyPr>
          <a:lstStyle/>
          <a:p>
            <a:pPr>
              <a:spcAft>
                <a:spcPts val="588"/>
              </a:spcAft>
            </a:pPr>
            <a:r>
              <a:rPr lang="en-US" sz="1765" dirty="0"/>
              <a:t>Module 04: Load balance non-HTTP(S) traffic in Azure </a:t>
            </a:r>
          </a:p>
        </p:txBody>
      </p:sp>
      <p:cxnSp>
        <p:nvCxnSpPr>
          <p:cNvPr id="458" name="Straight Connector 457">
            <a:extLst>
              <a:ext uri="{FF2B5EF4-FFF2-40B4-BE49-F238E27FC236}">
                <a16:creationId xmlns:a16="http://schemas.microsoft.com/office/drawing/2014/main" id="{89AC1A95-EF4E-4AF3-8128-41C997ECE54E}"/>
              </a:ext>
              <a:ext uri="{C183D7F6-B498-43B3-948B-1728B52AA6E4}">
                <adec:decorative xmlns:adec="http://schemas.microsoft.com/office/drawing/2017/decorative" val="1"/>
              </a:ext>
            </a:extLst>
          </p:cNvPr>
          <p:cNvCxnSpPr>
            <a:cxnSpLocks/>
          </p:cNvCxnSpPr>
          <p:nvPr/>
        </p:nvCxnSpPr>
        <p:spPr>
          <a:xfrm>
            <a:off x="1199294" y="4653690"/>
            <a:ext cx="31299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F6DEA762-2204-49DA-AC8B-4BF9AB6BF2EA}"/>
              </a:ext>
              <a:ext uri="{C183D7F6-B498-43B3-948B-1728B52AA6E4}">
                <adec:decorative xmlns:adec="http://schemas.microsoft.com/office/drawing/2017/decorative" val="1"/>
              </a:ext>
            </a:extLst>
          </p:cNvPr>
          <p:cNvCxnSpPr>
            <a:cxnSpLocks/>
          </p:cNvCxnSpPr>
          <p:nvPr/>
        </p:nvCxnSpPr>
        <p:spPr>
          <a:xfrm>
            <a:off x="6789153" y="2925824"/>
            <a:ext cx="248693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4" name="Picture 3" descr="Icon of a server with cloud ">
            <a:extLst>
              <a:ext uri="{FF2B5EF4-FFF2-40B4-BE49-F238E27FC236}">
                <a16:creationId xmlns:a16="http://schemas.microsoft.com/office/drawing/2014/main" id="{AAB03882-AC58-4854-83C6-189FD7821DF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32734" y="3030416"/>
            <a:ext cx="468386" cy="468386"/>
          </a:xfrm>
          <a:prstGeom prst="rect">
            <a:avLst/>
          </a:prstGeom>
        </p:spPr>
      </p:pic>
      <p:sp>
        <p:nvSpPr>
          <p:cNvPr id="5" name="TextBox 4">
            <a:extLst>
              <a:ext uri="{FF2B5EF4-FFF2-40B4-BE49-F238E27FC236}">
                <a16:creationId xmlns:a16="http://schemas.microsoft.com/office/drawing/2014/main" id="{A35D09D4-CDE4-4C85-87EB-3236169C47E0}"/>
              </a:ext>
            </a:extLst>
          </p:cNvPr>
          <p:cNvSpPr txBox="1"/>
          <p:nvPr/>
        </p:nvSpPr>
        <p:spPr>
          <a:xfrm>
            <a:off x="6763348" y="3247707"/>
            <a:ext cx="4307762" cy="355181"/>
          </a:xfrm>
          <a:prstGeom prst="rect">
            <a:avLst/>
          </a:prstGeom>
          <a:noFill/>
        </p:spPr>
        <p:txBody>
          <a:bodyPr wrap="square" lIns="0" tIns="0" rIns="0" bIns="0" rtlCol="0" anchor="ctr">
            <a:noAutofit/>
          </a:bodyPr>
          <a:lstStyle/>
          <a:p>
            <a:pPr>
              <a:spcAft>
                <a:spcPts val="600"/>
              </a:spcAft>
            </a:pPr>
            <a:r>
              <a:rPr lang="en-US" sz="1765" dirty="0"/>
              <a:t>Module 07: Design and Implement private access to Azure Services</a:t>
            </a:r>
          </a:p>
        </p:txBody>
      </p:sp>
      <p:cxnSp>
        <p:nvCxnSpPr>
          <p:cNvPr id="6" name="Straight Connector 5">
            <a:extLst>
              <a:ext uri="{FF2B5EF4-FFF2-40B4-BE49-F238E27FC236}">
                <a16:creationId xmlns:a16="http://schemas.microsoft.com/office/drawing/2014/main" id="{99D11CE4-6AF0-4089-85F6-022FB39BD49B}"/>
              </a:ext>
              <a:ext uri="{C183D7F6-B498-43B3-948B-1728B52AA6E4}">
                <adec:decorative xmlns:adec="http://schemas.microsoft.com/office/drawing/2017/decorative" val="1"/>
              </a:ext>
            </a:extLst>
          </p:cNvPr>
          <p:cNvCxnSpPr>
            <a:cxnSpLocks/>
          </p:cNvCxnSpPr>
          <p:nvPr/>
        </p:nvCxnSpPr>
        <p:spPr>
          <a:xfrm>
            <a:off x="6776453" y="3805817"/>
            <a:ext cx="248693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3094E40-6A84-496D-9C1D-635886B3854E}"/>
              </a:ext>
            </a:extLst>
          </p:cNvPr>
          <p:cNvSpPr txBox="1"/>
          <p:nvPr/>
        </p:nvSpPr>
        <p:spPr>
          <a:xfrm>
            <a:off x="6702487" y="1645398"/>
            <a:ext cx="4206518" cy="400433"/>
          </a:xfrm>
          <a:prstGeom prst="rect">
            <a:avLst/>
          </a:prstGeom>
          <a:noFill/>
        </p:spPr>
        <p:txBody>
          <a:bodyPr wrap="square" lIns="0" tIns="0" rIns="0" bIns="0" rtlCol="0" anchor="ctr">
            <a:noAutofit/>
          </a:bodyPr>
          <a:lstStyle/>
          <a:p>
            <a:pPr>
              <a:spcAft>
                <a:spcPts val="588"/>
              </a:spcAft>
            </a:pPr>
            <a:r>
              <a:rPr lang="en-US" sz="1765" dirty="0"/>
              <a:t>Module 05: Load balance HTTP(S) traffic in Azure  </a:t>
            </a:r>
          </a:p>
        </p:txBody>
      </p:sp>
      <p:cxnSp>
        <p:nvCxnSpPr>
          <p:cNvPr id="8" name="Straight Connector 7">
            <a:extLst>
              <a:ext uri="{FF2B5EF4-FFF2-40B4-BE49-F238E27FC236}">
                <a16:creationId xmlns:a16="http://schemas.microsoft.com/office/drawing/2014/main" id="{F349005E-E67A-4D66-8A03-6839FB393628}"/>
              </a:ext>
              <a:ext uri="{C183D7F6-B498-43B3-948B-1728B52AA6E4}">
                <adec:decorative xmlns:adec="http://schemas.microsoft.com/office/drawing/2017/decorative" val="1"/>
              </a:ext>
            </a:extLst>
          </p:cNvPr>
          <p:cNvCxnSpPr>
            <a:cxnSpLocks/>
          </p:cNvCxnSpPr>
          <p:nvPr/>
        </p:nvCxnSpPr>
        <p:spPr>
          <a:xfrm>
            <a:off x="6682085" y="2192534"/>
            <a:ext cx="243804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9" name="Picture 8" descr="Icon of two arrows pointing up and down with traffic light in between">
            <a:extLst>
              <a:ext uri="{FF2B5EF4-FFF2-40B4-BE49-F238E27FC236}">
                <a16:creationId xmlns:a16="http://schemas.microsoft.com/office/drawing/2014/main" id="{CC72F270-969F-4AF7-9B1B-F32381FD6CD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006958" y="2243417"/>
            <a:ext cx="458228" cy="459179"/>
          </a:xfrm>
          <a:prstGeom prst="rect">
            <a:avLst/>
          </a:prstGeom>
        </p:spPr>
      </p:pic>
      <p:sp>
        <p:nvSpPr>
          <p:cNvPr id="10" name="TextBox 9">
            <a:extLst>
              <a:ext uri="{FF2B5EF4-FFF2-40B4-BE49-F238E27FC236}">
                <a16:creationId xmlns:a16="http://schemas.microsoft.com/office/drawing/2014/main" id="{191DFDCA-E942-48D6-8F1F-3A3C74D38C7E}"/>
              </a:ext>
            </a:extLst>
          </p:cNvPr>
          <p:cNvSpPr txBox="1"/>
          <p:nvPr/>
        </p:nvSpPr>
        <p:spPr>
          <a:xfrm>
            <a:off x="6702487" y="2470738"/>
            <a:ext cx="4307762" cy="217984"/>
          </a:xfrm>
          <a:prstGeom prst="rect">
            <a:avLst/>
          </a:prstGeom>
          <a:noFill/>
        </p:spPr>
        <p:txBody>
          <a:bodyPr wrap="square" lIns="0" tIns="0" rIns="0" bIns="0" rtlCol="0" anchor="ctr">
            <a:noAutofit/>
          </a:bodyPr>
          <a:lstStyle/>
          <a:p>
            <a:pPr>
              <a:spcAft>
                <a:spcPts val="588"/>
              </a:spcAft>
            </a:pPr>
            <a:r>
              <a:rPr lang="en-US" sz="1765" dirty="0"/>
              <a:t>Module 06: Design and Implement Network Security </a:t>
            </a:r>
          </a:p>
        </p:txBody>
      </p:sp>
      <p:pic>
        <p:nvPicPr>
          <p:cNvPr id="11" name="Picture 10" descr="Icon of a server with cloud ">
            <a:extLst>
              <a:ext uri="{FF2B5EF4-FFF2-40B4-BE49-F238E27FC236}">
                <a16:creationId xmlns:a16="http://schemas.microsoft.com/office/drawing/2014/main" id="{A563FD2A-1E5F-47AE-A0F4-7EF3E501300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18369" y="1433678"/>
            <a:ext cx="459179" cy="459179"/>
          </a:xfrm>
          <a:prstGeom prst="rect">
            <a:avLst/>
          </a:prstGeom>
        </p:spPr>
      </p:pic>
      <p:pic>
        <p:nvPicPr>
          <p:cNvPr id="47" name="Picture 46" descr="Icon of two buildings and a cloud on top of them">
            <a:extLst>
              <a:ext uri="{FF2B5EF4-FFF2-40B4-BE49-F238E27FC236}">
                <a16:creationId xmlns:a16="http://schemas.microsoft.com/office/drawing/2014/main" id="{2CE9ECFB-59E8-4AA9-BD00-E9D1C036D16D}"/>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649" t="649" r="649" b="649"/>
          <a:stretch/>
        </p:blipFill>
        <p:spPr>
          <a:xfrm>
            <a:off x="6010588" y="3887126"/>
            <a:ext cx="452275" cy="453213"/>
          </a:xfrm>
          <a:prstGeom prst="ellipse">
            <a:avLst/>
          </a:prstGeom>
        </p:spPr>
      </p:pic>
      <p:sp>
        <p:nvSpPr>
          <p:cNvPr id="49" name="TextBox 48">
            <a:extLst>
              <a:ext uri="{FF2B5EF4-FFF2-40B4-BE49-F238E27FC236}">
                <a16:creationId xmlns:a16="http://schemas.microsoft.com/office/drawing/2014/main" id="{284BB21C-4A34-4F4E-89CE-5E69DD3421F8}"/>
              </a:ext>
            </a:extLst>
          </p:cNvPr>
          <p:cNvSpPr txBox="1"/>
          <p:nvPr/>
        </p:nvSpPr>
        <p:spPr>
          <a:xfrm>
            <a:off x="6750326" y="4099973"/>
            <a:ext cx="4307762" cy="365695"/>
          </a:xfrm>
          <a:prstGeom prst="rect">
            <a:avLst/>
          </a:prstGeom>
          <a:noFill/>
        </p:spPr>
        <p:txBody>
          <a:bodyPr wrap="square" lIns="0" tIns="0" rIns="0" bIns="0" rtlCol="0" anchor="ctr">
            <a:noAutofit/>
          </a:bodyPr>
          <a:lstStyle/>
          <a:p>
            <a:pPr>
              <a:spcAft>
                <a:spcPts val="600"/>
              </a:spcAft>
            </a:pPr>
            <a:r>
              <a:rPr lang="en-US" sz="1765" dirty="0"/>
              <a:t>Module 08: Design and Implement Network Monitoring </a:t>
            </a:r>
          </a:p>
        </p:txBody>
      </p:sp>
      <p:cxnSp>
        <p:nvCxnSpPr>
          <p:cNvPr id="50" name="Straight Connector 49">
            <a:extLst>
              <a:ext uri="{FF2B5EF4-FFF2-40B4-BE49-F238E27FC236}">
                <a16:creationId xmlns:a16="http://schemas.microsoft.com/office/drawing/2014/main" id="{AE91C72D-C964-4949-BAD3-145755F314D9}"/>
              </a:ext>
              <a:ext uri="{C183D7F6-B498-43B3-948B-1728B52AA6E4}">
                <adec:decorative xmlns:adec="http://schemas.microsoft.com/office/drawing/2017/decorative" val="1"/>
              </a:ext>
            </a:extLst>
          </p:cNvPr>
          <p:cNvCxnSpPr>
            <a:cxnSpLocks/>
          </p:cNvCxnSpPr>
          <p:nvPr/>
        </p:nvCxnSpPr>
        <p:spPr>
          <a:xfrm>
            <a:off x="6674196" y="4719990"/>
            <a:ext cx="31299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52FC37AA-CCFB-4A4D-9705-13C13DBB6461}"/>
              </a:ext>
              <a:ext uri="{C183D7F6-B498-43B3-948B-1728B52AA6E4}">
                <adec:decorative xmlns:adec="http://schemas.microsoft.com/office/drawing/2017/decorative" val="1"/>
              </a:ext>
            </a:extLst>
          </p:cNvPr>
          <p:cNvCxnSpPr>
            <a:cxnSpLocks/>
          </p:cNvCxnSpPr>
          <p:nvPr/>
        </p:nvCxnSpPr>
        <p:spPr>
          <a:xfrm>
            <a:off x="1199293" y="2094510"/>
            <a:ext cx="31299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280223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1CD2A-1218-42D0-BA18-760E21D2792E}"/>
              </a:ext>
            </a:extLst>
          </p:cNvPr>
          <p:cNvSpPr>
            <a:spLocks noGrp="1"/>
          </p:cNvSpPr>
          <p:nvPr>
            <p:ph type="title"/>
          </p:nvPr>
        </p:nvSpPr>
        <p:spPr/>
        <p:txBody>
          <a:bodyPr/>
          <a:lstStyle/>
          <a:p>
            <a:r>
              <a:rPr lang="en-US" dirty="0"/>
              <a:t>Course schedule </a:t>
            </a:r>
            <a:r>
              <a:rPr lang="en-US" dirty="0">
                <a:solidFill>
                  <a:srgbClr val="C00000"/>
                </a:solidFill>
              </a:rPr>
              <a:t>(optional – adjust as needed)</a:t>
            </a:r>
          </a:p>
        </p:txBody>
      </p:sp>
      <p:sp>
        <p:nvSpPr>
          <p:cNvPr id="53" name="TextBox 52">
            <a:extLst>
              <a:ext uri="{FF2B5EF4-FFF2-40B4-BE49-F238E27FC236}">
                <a16:creationId xmlns:a16="http://schemas.microsoft.com/office/drawing/2014/main" id="{9F205561-4B35-47F1-95AC-41820425BB8B}"/>
              </a:ext>
            </a:extLst>
          </p:cNvPr>
          <p:cNvSpPr txBox="1"/>
          <p:nvPr/>
        </p:nvSpPr>
        <p:spPr>
          <a:xfrm>
            <a:off x="1471801" y="1355519"/>
            <a:ext cx="611898" cy="271815"/>
          </a:xfrm>
          <a:prstGeom prst="rect">
            <a:avLst/>
          </a:prstGeom>
          <a:noFill/>
          <a:ln>
            <a:noFill/>
          </a:ln>
        </p:spPr>
        <p:txBody>
          <a:bodyPr wrap="none" lIns="0" tIns="0" rIns="0" bIns="0">
            <a:noAutofit/>
          </a:bodyPr>
          <a:lstStyle/>
          <a:p>
            <a:r>
              <a:rPr lang="en-US" sz="1765" dirty="0">
                <a:latin typeface="+mj-lt"/>
                <a:ea typeface="Segoe UI" pitchFamily="34" charset="0"/>
                <a:cs typeface="Segoe UI" pitchFamily="34" charset="0"/>
              </a:rPr>
              <a:t>Day 1 </a:t>
            </a:r>
            <a:endParaRPr lang="en-US" sz="1765" dirty="0">
              <a:latin typeface="+mj-lt"/>
            </a:endParaRPr>
          </a:p>
        </p:txBody>
      </p:sp>
      <p:sp>
        <p:nvSpPr>
          <p:cNvPr id="45" name="Rectangle 44">
            <a:extLst>
              <a:ext uri="{FF2B5EF4-FFF2-40B4-BE49-F238E27FC236}">
                <a16:creationId xmlns:a16="http://schemas.microsoft.com/office/drawing/2014/main" id="{52DA6A3D-3C01-41BA-8C4D-15BBEF176411}"/>
              </a:ext>
              <a:ext uri="{C183D7F6-B498-43B3-948B-1728B52AA6E4}">
                <adec:decorative xmlns:adec="http://schemas.microsoft.com/office/drawing/2017/decorative" val="1"/>
              </a:ext>
            </a:extLst>
          </p:cNvPr>
          <p:cNvSpPr/>
          <p:nvPr/>
        </p:nvSpPr>
        <p:spPr bwMode="auto">
          <a:xfrm>
            <a:off x="418644" y="1768436"/>
            <a:ext cx="2718210" cy="4217922"/>
          </a:xfrm>
          <a:prstGeom prst="rect">
            <a:avLst/>
          </a:prstGeom>
          <a:solidFill>
            <a:schemeClr val="bg1">
              <a:lumMod val="95000"/>
            </a:schemeClr>
          </a:solidFill>
          <a:ln w="6350">
            <a:no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64A8DB42-C0E7-4A3D-A9D3-1F5FECE91299}"/>
              </a:ext>
            </a:extLst>
          </p:cNvPr>
          <p:cNvSpPr/>
          <p:nvPr/>
        </p:nvSpPr>
        <p:spPr bwMode="auto">
          <a:xfrm>
            <a:off x="566414" y="1911632"/>
            <a:ext cx="2422671" cy="78992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r>
              <a:rPr lang="en-US" sz="1568" dirty="0">
                <a:solidFill>
                  <a:schemeClr val="bg1"/>
                </a:solidFill>
                <a:ea typeface="Segoe UI" pitchFamily="34" charset="0"/>
                <a:cs typeface="Segoe UI" pitchFamily="34" charset="0"/>
              </a:rPr>
              <a:t>0 – Welcome</a:t>
            </a:r>
          </a:p>
        </p:txBody>
      </p:sp>
      <p:sp>
        <p:nvSpPr>
          <p:cNvPr id="24" name="Rectangle 23">
            <a:extLst>
              <a:ext uri="{FF2B5EF4-FFF2-40B4-BE49-F238E27FC236}">
                <a16:creationId xmlns:a16="http://schemas.microsoft.com/office/drawing/2014/main" id="{EBA9DD96-150C-475F-B2F4-1E52D79ADC81}"/>
              </a:ext>
            </a:extLst>
          </p:cNvPr>
          <p:cNvSpPr/>
          <p:nvPr/>
        </p:nvSpPr>
        <p:spPr bwMode="auto">
          <a:xfrm>
            <a:off x="566414" y="2811161"/>
            <a:ext cx="2422671" cy="78992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r>
              <a:rPr lang="en-US" sz="1568" dirty="0">
                <a:solidFill>
                  <a:schemeClr val="bg1"/>
                </a:solidFill>
                <a:ea typeface="Segoe UI" pitchFamily="34" charset="0"/>
                <a:cs typeface="Segoe UI" pitchFamily="34" charset="0"/>
              </a:rPr>
              <a:t>Introduction to Azure Virtual Networks</a:t>
            </a:r>
          </a:p>
        </p:txBody>
      </p:sp>
      <p:sp>
        <p:nvSpPr>
          <p:cNvPr id="29" name="Rectangle 28">
            <a:extLst>
              <a:ext uri="{FF2B5EF4-FFF2-40B4-BE49-F238E27FC236}">
                <a16:creationId xmlns:a16="http://schemas.microsoft.com/office/drawing/2014/main" id="{E4B0EF24-D6D1-4307-9324-6268D4E1F4C3}"/>
              </a:ext>
            </a:extLst>
          </p:cNvPr>
          <p:cNvSpPr/>
          <p:nvPr/>
        </p:nvSpPr>
        <p:spPr bwMode="auto">
          <a:xfrm>
            <a:off x="566414" y="3710690"/>
            <a:ext cx="2422671" cy="364037"/>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r>
              <a:rPr lang="en-US" sz="1568" dirty="0">
                <a:solidFill>
                  <a:schemeClr val="bg1"/>
                </a:solidFill>
                <a:ea typeface="Segoe UI" pitchFamily="34" charset="0"/>
                <a:cs typeface="Segoe UI" pitchFamily="34" charset="0"/>
              </a:rPr>
              <a:t>Lunch/Lab</a:t>
            </a:r>
          </a:p>
        </p:txBody>
      </p:sp>
      <p:sp>
        <p:nvSpPr>
          <p:cNvPr id="4" name="Rectangle 3">
            <a:extLst>
              <a:ext uri="{FF2B5EF4-FFF2-40B4-BE49-F238E27FC236}">
                <a16:creationId xmlns:a16="http://schemas.microsoft.com/office/drawing/2014/main" id="{C4FA4748-5347-476E-B2EB-16DB0252FBD5}"/>
              </a:ext>
            </a:extLst>
          </p:cNvPr>
          <p:cNvSpPr/>
          <p:nvPr/>
        </p:nvSpPr>
        <p:spPr bwMode="auto">
          <a:xfrm>
            <a:off x="566414" y="4184333"/>
            <a:ext cx="2422671" cy="78992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r>
              <a:rPr lang="en-US" sz="1568" dirty="0">
                <a:solidFill>
                  <a:schemeClr val="bg1"/>
                </a:solidFill>
                <a:ea typeface="Segoe UI" pitchFamily="34" charset="0"/>
                <a:cs typeface="Segoe UI" pitchFamily="34" charset="0"/>
              </a:rPr>
              <a:t>Design and Implement Hybrid Networking </a:t>
            </a:r>
          </a:p>
        </p:txBody>
      </p:sp>
      <p:sp>
        <p:nvSpPr>
          <p:cNvPr id="6" name="Rectangle 5">
            <a:extLst>
              <a:ext uri="{FF2B5EF4-FFF2-40B4-BE49-F238E27FC236}">
                <a16:creationId xmlns:a16="http://schemas.microsoft.com/office/drawing/2014/main" id="{B102D359-4A28-492E-A2AF-A45D61C4C9FC}"/>
              </a:ext>
            </a:extLst>
          </p:cNvPr>
          <p:cNvSpPr/>
          <p:nvPr/>
        </p:nvSpPr>
        <p:spPr bwMode="auto">
          <a:xfrm>
            <a:off x="566414" y="5083863"/>
            <a:ext cx="2422671" cy="78992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r>
              <a:rPr lang="en-US" sz="1568" dirty="0">
                <a:solidFill>
                  <a:schemeClr val="bg1"/>
                </a:solidFill>
                <a:ea typeface="Segoe UI" pitchFamily="34" charset="0"/>
                <a:cs typeface="Segoe UI" pitchFamily="34" charset="0"/>
              </a:rPr>
              <a:t>Design and Implement ExpressRoute </a:t>
            </a:r>
          </a:p>
        </p:txBody>
      </p:sp>
      <p:sp>
        <p:nvSpPr>
          <p:cNvPr id="55" name="TextBox 54">
            <a:extLst>
              <a:ext uri="{FF2B5EF4-FFF2-40B4-BE49-F238E27FC236}">
                <a16:creationId xmlns:a16="http://schemas.microsoft.com/office/drawing/2014/main" id="{0C3382B9-A022-4CB4-9793-5505A046F631}"/>
              </a:ext>
            </a:extLst>
          </p:cNvPr>
          <p:cNvSpPr txBox="1"/>
          <p:nvPr/>
        </p:nvSpPr>
        <p:spPr>
          <a:xfrm>
            <a:off x="4333332" y="2252132"/>
            <a:ext cx="646504" cy="271815"/>
          </a:xfrm>
          <a:prstGeom prst="rect">
            <a:avLst/>
          </a:prstGeom>
          <a:noFill/>
          <a:ln>
            <a:noFill/>
          </a:ln>
        </p:spPr>
        <p:txBody>
          <a:bodyPr wrap="none" lIns="0" tIns="0" rIns="0" bIns="0">
            <a:noAutofit/>
          </a:bodyPr>
          <a:lstStyle/>
          <a:p>
            <a:r>
              <a:rPr lang="en-US" sz="1765" dirty="0">
                <a:latin typeface="+mj-lt"/>
                <a:ea typeface="Segoe UI" pitchFamily="34" charset="0"/>
                <a:cs typeface="Segoe UI" pitchFamily="34" charset="0"/>
              </a:rPr>
              <a:t>Day 2 </a:t>
            </a:r>
            <a:endParaRPr lang="en-US" sz="1765" dirty="0">
              <a:latin typeface="+mj-lt"/>
            </a:endParaRPr>
          </a:p>
        </p:txBody>
      </p:sp>
      <p:sp>
        <p:nvSpPr>
          <p:cNvPr id="47" name="Rectangle 46">
            <a:extLst>
              <a:ext uri="{FF2B5EF4-FFF2-40B4-BE49-F238E27FC236}">
                <a16:creationId xmlns:a16="http://schemas.microsoft.com/office/drawing/2014/main" id="{52AC8ED7-BFC8-4CD7-88EA-5714BEE26DD3}"/>
              </a:ext>
              <a:ext uri="{C183D7F6-B498-43B3-948B-1728B52AA6E4}">
                <adec:decorative xmlns:adec="http://schemas.microsoft.com/office/drawing/2017/decorative" val="1"/>
              </a:ext>
            </a:extLst>
          </p:cNvPr>
          <p:cNvSpPr/>
          <p:nvPr/>
        </p:nvSpPr>
        <p:spPr bwMode="auto">
          <a:xfrm>
            <a:off x="3297479" y="2664861"/>
            <a:ext cx="2718210" cy="3321497"/>
          </a:xfrm>
          <a:prstGeom prst="rect">
            <a:avLst/>
          </a:prstGeom>
          <a:solidFill>
            <a:schemeClr val="bg1">
              <a:lumMod val="95000"/>
            </a:schemeClr>
          </a:solidFill>
          <a:ln w="6350">
            <a:no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8" name="Rectangle 7">
            <a:extLst>
              <a:ext uri="{FF2B5EF4-FFF2-40B4-BE49-F238E27FC236}">
                <a16:creationId xmlns:a16="http://schemas.microsoft.com/office/drawing/2014/main" id="{3AC0B99E-AC60-4ADE-A0DD-2D519549D257}"/>
              </a:ext>
            </a:extLst>
          </p:cNvPr>
          <p:cNvSpPr/>
          <p:nvPr/>
        </p:nvSpPr>
        <p:spPr bwMode="auto">
          <a:xfrm>
            <a:off x="3445249" y="2811161"/>
            <a:ext cx="2422671" cy="78992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r>
              <a:rPr lang="en-US" sz="1568" dirty="0">
                <a:solidFill>
                  <a:schemeClr val="bg1"/>
                </a:solidFill>
                <a:ea typeface="Segoe UI" pitchFamily="34" charset="0"/>
                <a:cs typeface="Segoe UI" pitchFamily="34" charset="0"/>
              </a:rPr>
              <a:t>Load balance non-HTTP(S) traffic </a:t>
            </a:r>
          </a:p>
        </p:txBody>
      </p:sp>
      <p:sp>
        <p:nvSpPr>
          <p:cNvPr id="61" name="Rectangle 60">
            <a:extLst>
              <a:ext uri="{FF2B5EF4-FFF2-40B4-BE49-F238E27FC236}">
                <a16:creationId xmlns:a16="http://schemas.microsoft.com/office/drawing/2014/main" id="{99BD85A5-8C48-4652-B162-108EB47614D9}"/>
              </a:ext>
            </a:extLst>
          </p:cNvPr>
          <p:cNvSpPr/>
          <p:nvPr/>
        </p:nvSpPr>
        <p:spPr bwMode="auto">
          <a:xfrm>
            <a:off x="3445247" y="4563612"/>
            <a:ext cx="2422671" cy="364037"/>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r>
              <a:rPr lang="en-US" sz="1568" dirty="0">
                <a:solidFill>
                  <a:schemeClr val="bg1"/>
                </a:solidFill>
                <a:ea typeface="Segoe UI" pitchFamily="34" charset="0"/>
                <a:cs typeface="Segoe UI" pitchFamily="34" charset="0"/>
              </a:rPr>
              <a:t>Lunch/Exercises</a:t>
            </a:r>
          </a:p>
        </p:txBody>
      </p:sp>
      <p:sp>
        <p:nvSpPr>
          <p:cNvPr id="10" name="Rectangle 9">
            <a:extLst>
              <a:ext uri="{FF2B5EF4-FFF2-40B4-BE49-F238E27FC236}">
                <a16:creationId xmlns:a16="http://schemas.microsoft.com/office/drawing/2014/main" id="{B55D23FA-AB86-4A74-9822-F53C49C88752}"/>
              </a:ext>
            </a:extLst>
          </p:cNvPr>
          <p:cNvSpPr/>
          <p:nvPr/>
        </p:nvSpPr>
        <p:spPr bwMode="auto">
          <a:xfrm>
            <a:off x="3445248" y="3676197"/>
            <a:ext cx="2422671" cy="78992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r>
              <a:rPr lang="en-US" sz="1568" dirty="0">
                <a:solidFill>
                  <a:schemeClr val="bg1"/>
                </a:solidFill>
                <a:ea typeface="Segoe UI" pitchFamily="34" charset="0"/>
                <a:cs typeface="Segoe UI" pitchFamily="34" charset="0"/>
              </a:rPr>
              <a:t>Load balance HTTP(S) traffic </a:t>
            </a:r>
          </a:p>
        </p:txBody>
      </p:sp>
      <p:sp>
        <p:nvSpPr>
          <p:cNvPr id="12" name="Rectangle 11">
            <a:extLst>
              <a:ext uri="{FF2B5EF4-FFF2-40B4-BE49-F238E27FC236}">
                <a16:creationId xmlns:a16="http://schemas.microsoft.com/office/drawing/2014/main" id="{1F93CF59-41DA-407B-83FC-C44EE863036C}"/>
              </a:ext>
            </a:extLst>
          </p:cNvPr>
          <p:cNvSpPr/>
          <p:nvPr/>
        </p:nvSpPr>
        <p:spPr bwMode="auto">
          <a:xfrm>
            <a:off x="3445249" y="5083863"/>
            <a:ext cx="2422671" cy="78992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r>
              <a:rPr lang="en-US" sz="1400" dirty="0"/>
              <a:t>Design and Implement Network Security</a:t>
            </a:r>
            <a:endParaRPr lang="en-US" sz="1400" dirty="0">
              <a:solidFill>
                <a:schemeClr val="bg1"/>
              </a:solidFill>
              <a:ea typeface="Segoe UI" pitchFamily="34" charset="0"/>
              <a:cs typeface="Segoe UI" pitchFamily="34" charset="0"/>
            </a:endParaRPr>
          </a:p>
        </p:txBody>
      </p:sp>
      <p:sp>
        <p:nvSpPr>
          <p:cNvPr id="57" name="TextBox 56">
            <a:extLst>
              <a:ext uri="{FF2B5EF4-FFF2-40B4-BE49-F238E27FC236}">
                <a16:creationId xmlns:a16="http://schemas.microsoft.com/office/drawing/2014/main" id="{E6D3B166-3EC0-470E-8181-2075044FBDF4}"/>
              </a:ext>
            </a:extLst>
          </p:cNvPr>
          <p:cNvSpPr txBox="1"/>
          <p:nvPr/>
        </p:nvSpPr>
        <p:spPr>
          <a:xfrm>
            <a:off x="7212168" y="2261375"/>
            <a:ext cx="646504" cy="271815"/>
          </a:xfrm>
          <a:prstGeom prst="rect">
            <a:avLst/>
          </a:prstGeom>
          <a:noFill/>
          <a:ln>
            <a:noFill/>
          </a:ln>
        </p:spPr>
        <p:txBody>
          <a:bodyPr wrap="none" lIns="0" tIns="0" rIns="0" bIns="0">
            <a:noAutofit/>
          </a:bodyPr>
          <a:lstStyle/>
          <a:p>
            <a:r>
              <a:rPr lang="en-US" sz="1765" dirty="0">
                <a:latin typeface="+mj-lt"/>
                <a:ea typeface="Segoe UI" pitchFamily="34" charset="0"/>
                <a:cs typeface="Segoe UI" pitchFamily="34" charset="0"/>
              </a:rPr>
              <a:t>Day 3 </a:t>
            </a:r>
            <a:endParaRPr lang="en-US" sz="1765" dirty="0">
              <a:latin typeface="+mj-lt"/>
            </a:endParaRPr>
          </a:p>
        </p:txBody>
      </p:sp>
      <p:sp>
        <p:nvSpPr>
          <p:cNvPr id="49" name="Rectangle 48">
            <a:extLst>
              <a:ext uri="{FF2B5EF4-FFF2-40B4-BE49-F238E27FC236}">
                <a16:creationId xmlns:a16="http://schemas.microsoft.com/office/drawing/2014/main" id="{5AFD53F0-2EED-4801-B13E-FEEDB2789EE7}"/>
              </a:ext>
              <a:ext uri="{C183D7F6-B498-43B3-948B-1728B52AA6E4}">
                <adec:decorative xmlns:adec="http://schemas.microsoft.com/office/drawing/2017/decorative" val="1"/>
              </a:ext>
            </a:extLst>
          </p:cNvPr>
          <p:cNvSpPr/>
          <p:nvPr/>
        </p:nvSpPr>
        <p:spPr bwMode="auto">
          <a:xfrm>
            <a:off x="6176314" y="2664861"/>
            <a:ext cx="2718210" cy="3321497"/>
          </a:xfrm>
          <a:prstGeom prst="rect">
            <a:avLst/>
          </a:prstGeom>
          <a:solidFill>
            <a:schemeClr val="bg1">
              <a:lumMod val="95000"/>
            </a:schemeClr>
          </a:solidFill>
          <a:ln w="6350">
            <a:no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7AF6A21F-01A4-4C35-ACCC-137B31FEDD22}"/>
              </a:ext>
            </a:extLst>
          </p:cNvPr>
          <p:cNvSpPr/>
          <p:nvPr/>
        </p:nvSpPr>
        <p:spPr bwMode="auto">
          <a:xfrm>
            <a:off x="6352287" y="2811161"/>
            <a:ext cx="2422671" cy="78992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r>
              <a:rPr lang="en-US" sz="1400" dirty="0"/>
              <a:t>Design and Implement private access to Azure Services</a:t>
            </a:r>
            <a:endParaRPr lang="en-US" sz="1400" dirty="0">
              <a:solidFill>
                <a:schemeClr val="bg1"/>
              </a:solidFill>
              <a:ea typeface="Segoe UI" pitchFamily="34" charset="0"/>
              <a:cs typeface="Segoe UI" pitchFamily="34" charset="0"/>
            </a:endParaRPr>
          </a:p>
        </p:txBody>
      </p:sp>
      <p:sp>
        <p:nvSpPr>
          <p:cNvPr id="63" name="Rectangle 62">
            <a:extLst>
              <a:ext uri="{FF2B5EF4-FFF2-40B4-BE49-F238E27FC236}">
                <a16:creationId xmlns:a16="http://schemas.microsoft.com/office/drawing/2014/main" id="{83066B4B-FB80-4AD8-8BFE-4548BE188A7F}"/>
              </a:ext>
            </a:extLst>
          </p:cNvPr>
          <p:cNvSpPr/>
          <p:nvPr/>
        </p:nvSpPr>
        <p:spPr bwMode="auto">
          <a:xfrm>
            <a:off x="6352285" y="4587092"/>
            <a:ext cx="2422671" cy="364037"/>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r>
              <a:rPr lang="en-US" sz="1568" dirty="0">
                <a:solidFill>
                  <a:schemeClr val="bg1"/>
                </a:solidFill>
                <a:ea typeface="Segoe UI" pitchFamily="34" charset="0"/>
                <a:cs typeface="Segoe UI" pitchFamily="34" charset="0"/>
              </a:rPr>
              <a:t>Lunch/Exercise</a:t>
            </a:r>
          </a:p>
        </p:txBody>
      </p:sp>
      <p:sp>
        <p:nvSpPr>
          <p:cNvPr id="16" name="Rectangle 15">
            <a:extLst>
              <a:ext uri="{FF2B5EF4-FFF2-40B4-BE49-F238E27FC236}">
                <a16:creationId xmlns:a16="http://schemas.microsoft.com/office/drawing/2014/main" id="{DAE5E580-7ED2-485B-A61E-053CCA2A587C}"/>
              </a:ext>
            </a:extLst>
          </p:cNvPr>
          <p:cNvSpPr/>
          <p:nvPr/>
        </p:nvSpPr>
        <p:spPr bwMode="auto">
          <a:xfrm>
            <a:off x="6352284" y="3676197"/>
            <a:ext cx="2422671" cy="78992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r>
              <a:rPr lang="en-US" sz="1600" dirty="0"/>
              <a:t>Exercises</a:t>
            </a:r>
            <a:endParaRPr lang="en-US" sz="1568" dirty="0">
              <a:solidFill>
                <a:schemeClr val="bg1"/>
              </a:soli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9262D2A-FB95-4ECC-86B9-62FE7A20D5F7}"/>
              </a:ext>
            </a:extLst>
          </p:cNvPr>
          <p:cNvSpPr/>
          <p:nvPr/>
        </p:nvSpPr>
        <p:spPr bwMode="auto">
          <a:xfrm>
            <a:off x="6352285" y="5083863"/>
            <a:ext cx="2422671" cy="789923"/>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32293" fontAlgn="base">
              <a:spcBef>
                <a:spcPct val="0"/>
              </a:spcBef>
              <a:spcAft>
                <a:spcPct val="0"/>
              </a:spcAft>
            </a:pPr>
            <a:r>
              <a:rPr lang="en-US" sz="1568" dirty="0">
                <a:solidFill>
                  <a:schemeClr val="bg1"/>
                </a:solidFill>
                <a:ea typeface="Segoe UI" pitchFamily="34" charset="0"/>
                <a:cs typeface="Segoe UI" pitchFamily="34" charset="0"/>
              </a:rPr>
              <a:t>Design and Implement Network Monitoring </a:t>
            </a:r>
          </a:p>
        </p:txBody>
      </p:sp>
    </p:spTree>
    <p:extLst>
      <p:ext uri="{BB962C8B-B14F-4D97-AF65-F5344CB8AC3E}">
        <p14:creationId xmlns:p14="http://schemas.microsoft.com/office/powerpoint/2010/main" val="321035254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0308-D707-4FA9-814D-CFE397427579}"/>
              </a:ext>
            </a:extLst>
          </p:cNvPr>
          <p:cNvSpPr>
            <a:spLocks noGrp="1"/>
          </p:cNvSpPr>
          <p:nvPr>
            <p:ph type="title"/>
          </p:nvPr>
        </p:nvSpPr>
        <p:spPr/>
        <p:txBody>
          <a:bodyPr/>
          <a:lstStyle/>
          <a:p>
            <a:r>
              <a:rPr lang="en-US" dirty="0"/>
              <a:t>Student materials on Learn (</a:t>
            </a:r>
            <a:r>
              <a:rPr lang="en-US" dirty="0">
                <a:solidFill>
                  <a:srgbClr val="FF0000"/>
                </a:solidFill>
              </a:rPr>
              <a:t>optional</a:t>
            </a:r>
            <a:r>
              <a:rPr lang="en-US" dirty="0"/>
              <a:t>)</a:t>
            </a:r>
          </a:p>
        </p:txBody>
      </p:sp>
      <p:pic>
        <p:nvPicPr>
          <p:cNvPr id="11" name="Picture 10" descr="screenshot of AZ-700 learning path on MS Learn website ">
            <a:extLst>
              <a:ext uri="{FF2B5EF4-FFF2-40B4-BE49-F238E27FC236}">
                <a16:creationId xmlns:a16="http://schemas.microsoft.com/office/drawing/2014/main" id="{67072194-7615-46D9-B4BF-7750BEFB1B0B}"/>
              </a:ext>
            </a:extLst>
          </p:cNvPr>
          <p:cNvPicPr>
            <a:picLocks noChangeAspect="1"/>
          </p:cNvPicPr>
          <p:nvPr/>
        </p:nvPicPr>
        <p:blipFill>
          <a:blip r:embed="rId3"/>
          <a:stretch>
            <a:fillRect/>
          </a:stretch>
        </p:blipFill>
        <p:spPr>
          <a:xfrm>
            <a:off x="1282193" y="2286000"/>
            <a:ext cx="9892484" cy="3016397"/>
          </a:xfrm>
          <a:prstGeom prst="rect">
            <a:avLst/>
          </a:prstGeom>
          <a:ln>
            <a:solidFill>
              <a:schemeClr val="bg1">
                <a:lumMod val="50000"/>
              </a:schemeClr>
            </a:solidFill>
          </a:ln>
        </p:spPr>
      </p:pic>
    </p:spTree>
    <p:extLst>
      <p:ext uri="{BB962C8B-B14F-4D97-AF65-F5344CB8AC3E}">
        <p14:creationId xmlns:p14="http://schemas.microsoft.com/office/powerpoint/2010/main" val="291350820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FC581-F09E-4C47-B32F-CD31DF4EB636}"/>
              </a:ext>
            </a:extLst>
          </p:cNvPr>
          <p:cNvSpPr>
            <a:spLocks noGrp="1"/>
          </p:cNvSpPr>
          <p:nvPr>
            <p:ph type="title"/>
          </p:nvPr>
        </p:nvSpPr>
        <p:spPr/>
        <p:txBody>
          <a:bodyPr/>
          <a:lstStyle/>
          <a:p>
            <a:r>
              <a:rPr lang="en-US" dirty="0"/>
              <a:t>Student content feedback on Learn (</a:t>
            </a:r>
            <a:r>
              <a:rPr lang="en-US" dirty="0">
                <a:solidFill>
                  <a:srgbClr val="FF0000"/>
                </a:solidFill>
              </a:rPr>
              <a:t>optional</a:t>
            </a:r>
            <a:r>
              <a:rPr lang="en-US" dirty="0"/>
              <a:t>)</a:t>
            </a:r>
          </a:p>
        </p:txBody>
      </p:sp>
      <p:pic>
        <p:nvPicPr>
          <p:cNvPr id="21" name="Picture 20" descr="Screenshot of Learn feedback page. ">
            <a:extLst>
              <a:ext uri="{FF2B5EF4-FFF2-40B4-BE49-F238E27FC236}">
                <a16:creationId xmlns:a16="http://schemas.microsoft.com/office/drawing/2014/main" id="{0CF3BF1D-ECD8-4053-9755-2D3FF1288CE7}"/>
              </a:ext>
            </a:extLst>
          </p:cNvPr>
          <p:cNvPicPr>
            <a:picLocks noChangeAspect="1"/>
          </p:cNvPicPr>
          <p:nvPr/>
        </p:nvPicPr>
        <p:blipFill>
          <a:blip r:embed="rId3"/>
          <a:stretch>
            <a:fillRect/>
          </a:stretch>
        </p:blipFill>
        <p:spPr>
          <a:xfrm>
            <a:off x="1275729" y="2693319"/>
            <a:ext cx="9449812" cy="3174838"/>
          </a:xfrm>
          <a:prstGeom prst="rect">
            <a:avLst/>
          </a:prstGeom>
          <a:ln>
            <a:solidFill>
              <a:schemeClr val="tx1"/>
            </a:solidFill>
          </a:ln>
        </p:spPr>
      </p:pic>
      <p:pic>
        <p:nvPicPr>
          <p:cNvPr id="23" name="Picture 22" descr="Feedback link at the bottom of the Learn page .">
            <a:extLst>
              <a:ext uri="{FF2B5EF4-FFF2-40B4-BE49-F238E27FC236}">
                <a16:creationId xmlns:a16="http://schemas.microsoft.com/office/drawing/2014/main" id="{011E0DBA-D2B0-402E-92A6-68EE2ED3E0B4}"/>
              </a:ext>
            </a:extLst>
          </p:cNvPr>
          <p:cNvPicPr>
            <a:picLocks noChangeAspect="1"/>
          </p:cNvPicPr>
          <p:nvPr/>
        </p:nvPicPr>
        <p:blipFill>
          <a:blip r:embed="rId4"/>
          <a:stretch>
            <a:fillRect/>
          </a:stretch>
        </p:blipFill>
        <p:spPr>
          <a:xfrm>
            <a:off x="442766" y="1581108"/>
            <a:ext cx="7572922" cy="429537"/>
          </a:xfrm>
          <a:prstGeom prst="rect">
            <a:avLst/>
          </a:prstGeom>
        </p:spPr>
      </p:pic>
      <p:sp>
        <p:nvSpPr>
          <p:cNvPr id="24" name="Rectangle 23">
            <a:extLst>
              <a:ext uri="{FF2B5EF4-FFF2-40B4-BE49-F238E27FC236}">
                <a16:creationId xmlns:a16="http://schemas.microsoft.com/office/drawing/2014/main" id="{3A381DA5-115A-4191-BD7A-D920E37C8B84}"/>
              </a:ext>
              <a:ext uri="{C183D7F6-B498-43B3-948B-1728B52AA6E4}">
                <adec:decorative xmlns:adec="http://schemas.microsoft.com/office/drawing/2017/decorative" val="1"/>
              </a:ext>
            </a:extLst>
          </p:cNvPr>
          <p:cNvSpPr/>
          <p:nvPr/>
        </p:nvSpPr>
        <p:spPr bwMode="auto">
          <a:xfrm>
            <a:off x="6255902" y="1678901"/>
            <a:ext cx="1478147" cy="331744"/>
          </a:xfrm>
          <a:prstGeom prst="rect">
            <a:avLst/>
          </a:prstGeom>
          <a:noFill/>
          <a:ln w="1905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cxnSp>
        <p:nvCxnSpPr>
          <p:cNvPr id="26" name="Connector: Elbow 25">
            <a:extLst>
              <a:ext uri="{FF2B5EF4-FFF2-40B4-BE49-F238E27FC236}">
                <a16:creationId xmlns:a16="http://schemas.microsoft.com/office/drawing/2014/main" id="{7721055F-CA20-4E95-A7B7-3045AE8C40AA}"/>
              </a:ext>
              <a:ext uri="{C183D7F6-B498-43B3-948B-1728B52AA6E4}">
                <adec:decorative xmlns:adec="http://schemas.microsoft.com/office/drawing/2017/decorative" val="1"/>
              </a:ext>
            </a:extLst>
          </p:cNvPr>
          <p:cNvCxnSpPr>
            <a:cxnSpLocks/>
            <a:stCxn id="24" idx="2"/>
            <a:endCxn id="21" idx="0"/>
          </p:cNvCxnSpPr>
          <p:nvPr/>
        </p:nvCxnSpPr>
        <p:spPr>
          <a:xfrm rot="5400000">
            <a:off x="6156470" y="1854812"/>
            <a:ext cx="682674" cy="994340"/>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10C6A27-20A5-4A2B-9FB3-9D158ABE86B6}"/>
              </a:ext>
            </a:extLst>
          </p:cNvPr>
          <p:cNvSpPr txBox="1"/>
          <p:nvPr/>
        </p:nvSpPr>
        <p:spPr>
          <a:xfrm>
            <a:off x="302949" y="1021659"/>
            <a:ext cx="5091572" cy="534083"/>
          </a:xfrm>
          <a:prstGeom prst="rect">
            <a:avLst/>
          </a:prstGeom>
          <a:noFill/>
        </p:spPr>
        <p:txBody>
          <a:bodyPr wrap="none" lIns="179285" tIns="143428" rIns="179285" bIns="143428" rtlCol="0">
            <a:spAutoFit/>
          </a:bodyPr>
          <a:lstStyle/>
          <a:p>
            <a:pPr>
              <a:lnSpc>
                <a:spcPct val="90000"/>
              </a:lnSpc>
              <a:spcAft>
                <a:spcPts val="588"/>
              </a:spcAft>
            </a:pPr>
            <a:r>
              <a:rPr lang="en-US" sz="1765" i="1" dirty="0">
                <a:gradFill>
                  <a:gsLst>
                    <a:gs pos="2917">
                      <a:schemeClr val="tx1"/>
                    </a:gs>
                    <a:gs pos="30000">
                      <a:schemeClr val="tx1"/>
                    </a:gs>
                  </a:gsLst>
                  <a:lin ang="5400000" scaled="0"/>
                </a:gradFill>
                <a:highlight>
                  <a:srgbClr val="FFFF00"/>
                </a:highlight>
              </a:rPr>
              <a:t>Scroll to the bottom of the online page – be specific </a:t>
            </a:r>
          </a:p>
        </p:txBody>
      </p:sp>
    </p:spTree>
    <p:extLst>
      <p:ext uri="{BB962C8B-B14F-4D97-AF65-F5344CB8AC3E}">
        <p14:creationId xmlns:p14="http://schemas.microsoft.com/office/powerpoint/2010/main" val="325437139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2835D-35B0-41C7-876E-D14281CC1CC6}"/>
              </a:ext>
            </a:extLst>
          </p:cNvPr>
          <p:cNvSpPr>
            <a:spLocks noGrp="1"/>
          </p:cNvSpPr>
          <p:nvPr>
            <p:ph type="title"/>
          </p:nvPr>
        </p:nvSpPr>
        <p:spPr/>
        <p:txBody>
          <a:bodyPr/>
          <a:lstStyle/>
          <a:p>
            <a:r>
              <a:rPr lang="en-US" dirty="0"/>
              <a:t>Hands-on Labs </a:t>
            </a:r>
            <a:r>
              <a:rPr lang="en-US" dirty="0">
                <a:solidFill>
                  <a:srgbClr val="C00000"/>
                </a:solidFill>
              </a:rPr>
              <a:t>(optional)</a:t>
            </a:r>
          </a:p>
        </p:txBody>
      </p:sp>
      <p:pic>
        <p:nvPicPr>
          <p:cNvPr id="72" name="Picture 71" descr="Icon of a security lock">
            <a:extLst>
              <a:ext uri="{FF2B5EF4-FFF2-40B4-BE49-F238E27FC236}">
                <a16:creationId xmlns:a16="http://schemas.microsoft.com/office/drawing/2014/main" id="{F8122FF1-9A6E-4141-A4BF-F3D43FB85F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4068" y="1439169"/>
            <a:ext cx="776902" cy="775407"/>
          </a:xfrm>
          <a:prstGeom prst="rect">
            <a:avLst/>
          </a:prstGeom>
        </p:spPr>
      </p:pic>
      <p:sp>
        <p:nvSpPr>
          <p:cNvPr id="9" name="Rectangle 8">
            <a:extLst>
              <a:ext uri="{FF2B5EF4-FFF2-40B4-BE49-F238E27FC236}">
                <a16:creationId xmlns:a16="http://schemas.microsoft.com/office/drawing/2014/main" id="{C27CCAD6-BD5D-4784-9ADD-DB78B753C3BE}"/>
              </a:ext>
            </a:extLst>
          </p:cNvPr>
          <p:cNvSpPr/>
          <p:nvPr/>
        </p:nvSpPr>
        <p:spPr bwMode="auto">
          <a:xfrm>
            <a:off x="1468830" y="1390266"/>
            <a:ext cx="10293633" cy="8964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You will use a Microsoft Learning Azure Pass to provide access to Microsoft Azure</a:t>
            </a:r>
          </a:p>
        </p:txBody>
      </p:sp>
      <p:cxnSp>
        <p:nvCxnSpPr>
          <p:cNvPr id="15" name="Straight Connector 14">
            <a:extLst>
              <a:ext uri="{FF2B5EF4-FFF2-40B4-BE49-F238E27FC236}">
                <a16:creationId xmlns:a16="http://schemas.microsoft.com/office/drawing/2014/main" id="{823AB78B-29FF-42E9-BF93-BF02F8EE2D60}"/>
              </a:ext>
              <a:ext uri="{C183D7F6-B498-43B3-948B-1728B52AA6E4}">
                <adec:decorative xmlns:adec="http://schemas.microsoft.com/office/drawing/2017/decorative" val="1"/>
              </a:ext>
            </a:extLst>
          </p:cNvPr>
          <p:cNvCxnSpPr>
            <a:cxnSpLocks/>
          </p:cNvCxnSpPr>
          <p:nvPr/>
        </p:nvCxnSpPr>
        <p:spPr>
          <a:xfrm>
            <a:off x="1468831" y="2329596"/>
            <a:ext cx="102413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1" name="Picture 70" descr="Icon of dollar sign inside circle">
            <a:extLst>
              <a:ext uri="{FF2B5EF4-FFF2-40B4-BE49-F238E27FC236}">
                <a16:creationId xmlns:a16="http://schemas.microsoft.com/office/drawing/2014/main" id="{B325A6DA-8ED2-484F-8A30-A4838A7BDC8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4068" y="2424058"/>
            <a:ext cx="776902" cy="775407"/>
          </a:xfrm>
          <a:prstGeom prst="rect">
            <a:avLst/>
          </a:prstGeom>
        </p:spPr>
      </p:pic>
      <p:sp>
        <p:nvSpPr>
          <p:cNvPr id="10" name="Rectangle 9">
            <a:extLst>
              <a:ext uri="{FF2B5EF4-FFF2-40B4-BE49-F238E27FC236}">
                <a16:creationId xmlns:a16="http://schemas.microsoft.com/office/drawing/2014/main" id="{6CE54E97-FBDB-4EA8-BC1F-C332D12BFB6D}"/>
              </a:ext>
            </a:extLst>
          </p:cNvPr>
          <p:cNvSpPr/>
          <p:nvPr/>
        </p:nvSpPr>
        <p:spPr bwMode="auto">
          <a:xfrm>
            <a:off x="1468830" y="2372502"/>
            <a:ext cx="10293633" cy="8964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Check the dollar balance of you Azure Pass within Microsoft Azure once you have set up your subscription</a:t>
            </a:r>
          </a:p>
        </p:txBody>
      </p:sp>
      <p:cxnSp>
        <p:nvCxnSpPr>
          <p:cNvPr id="20" name="Straight Connector 19">
            <a:extLst>
              <a:ext uri="{FF2B5EF4-FFF2-40B4-BE49-F238E27FC236}">
                <a16:creationId xmlns:a16="http://schemas.microsoft.com/office/drawing/2014/main" id="{4B250F98-98F3-4819-9B85-D2E225C35FBE}"/>
              </a:ext>
              <a:ext uri="{C183D7F6-B498-43B3-948B-1728B52AA6E4}">
                <adec:decorative xmlns:adec="http://schemas.microsoft.com/office/drawing/2017/decorative" val="1"/>
              </a:ext>
            </a:extLst>
          </p:cNvPr>
          <p:cNvCxnSpPr>
            <a:cxnSpLocks/>
          </p:cNvCxnSpPr>
          <p:nvPr/>
        </p:nvCxnSpPr>
        <p:spPr>
          <a:xfrm>
            <a:off x="1468831" y="3311832"/>
            <a:ext cx="102413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70" name="Picture 69" descr="Icon of letter I inside circle">
            <a:extLst>
              <a:ext uri="{FF2B5EF4-FFF2-40B4-BE49-F238E27FC236}">
                <a16:creationId xmlns:a16="http://schemas.microsoft.com/office/drawing/2014/main" id="{5DF04029-5F2D-4B0B-805D-27B0EEFC0F0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4068" y="3415768"/>
            <a:ext cx="776902" cy="775407"/>
          </a:xfrm>
          <a:prstGeom prst="rect">
            <a:avLst/>
          </a:prstGeom>
        </p:spPr>
      </p:pic>
      <p:sp>
        <p:nvSpPr>
          <p:cNvPr id="13" name="Rectangle 12">
            <a:extLst>
              <a:ext uri="{FF2B5EF4-FFF2-40B4-BE49-F238E27FC236}">
                <a16:creationId xmlns:a16="http://schemas.microsoft.com/office/drawing/2014/main" id="{0D814D71-E629-4CFC-B3E6-069CE973D3F4}"/>
              </a:ext>
            </a:extLst>
          </p:cNvPr>
          <p:cNvSpPr/>
          <p:nvPr/>
        </p:nvSpPr>
        <p:spPr bwMode="auto">
          <a:xfrm>
            <a:off x="1468830" y="3354738"/>
            <a:ext cx="10346547" cy="8964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Be aware of how much you are consuming and do not allow Microsoft Azure components to run overnight or for extended periods</a:t>
            </a:r>
          </a:p>
        </p:txBody>
      </p:sp>
      <p:cxnSp>
        <p:nvCxnSpPr>
          <p:cNvPr id="21" name="Straight Connector 20">
            <a:extLst>
              <a:ext uri="{FF2B5EF4-FFF2-40B4-BE49-F238E27FC236}">
                <a16:creationId xmlns:a16="http://schemas.microsoft.com/office/drawing/2014/main" id="{03C45F82-ECB3-48EE-8348-7C9FB8E128FC}"/>
              </a:ext>
              <a:ext uri="{C183D7F6-B498-43B3-948B-1728B52AA6E4}">
                <adec:decorative xmlns:adec="http://schemas.microsoft.com/office/drawing/2017/decorative" val="1"/>
              </a:ext>
            </a:extLst>
          </p:cNvPr>
          <p:cNvCxnSpPr>
            <a:cxnSpLocks/>
          </p:cNvCxnSpPr>
          <p:nvPr/>
        </p:nvCxnSpPr>
        <p:spPr>
          <a:xfrm>
            <a:off x="1468831" y="4294069"/>
            <a:ext cx="102413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69" name="Picture 68" descr="Icon of a lab flask">
            <a:extLst>
              <a:ext uri="{FF2B5EF4-FFF2-40B4-BE49-F238E27FC236}">
                <a16:creationId xmlns:a16="http://schemas.microsoft.com/office/drawing/2014/main" id="{AA4CD8DA-AB72-46FA-AA7C-22ABB7B7807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4068" y="4393838"/>
            <a:ext cx="776902" cy="775407"/>
          </a:xfrm>
          <a:prstGeom prst="rect">
            <a:avLst/>
          </a:prstGeom>
        </p:spPr>
      </p:pic>
      <p:sp>
        <p:nvSpPr>
          <p:cNvPr id="11" name="Rectangle 10">
            <a:extLst>
              <a:ext uri="{FF2B5EF4-FFF2-40B4-BE49-F238E27FC236}">
                <a16:creationId xmlns:a16="http://schemas.microsoft.com/office/drawing/2014/main" id="{6B6FF3FF-B8EE-4CA6-8325-9BEC0D240FE3}"/>
              </a:ext>
            </a:extLst>
          </p:cNvPr>
          <p:cNvSpPr/>
          <p:nvPr/>
        </p:nvSpPr>
        <p:spPr bwMode="auto">
          <a:xfrm>
            <a:off x="1468830" y="4336974"/>
            <a:ext cx="10293633" cy="8964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Lab instructions are in a GitHub repository. For this class use the </a:t>
            </a:r>
            <a:r>
              <a:rPr lang="en-US" sz="1961" dirty="0">
                <a:solidFill>
                  <a:srgbClr val="C00000"/>
                </a:solidFill>
              </a:rPr>
              <a:t>&lt;your region&gt; </a:t>
            </a:r>
            <a:r>
              <a:rPr lang="en-US" sz="1961" dirty="0">
                <a:solidFill>
                  <a:schemeClr val="tx1"/>
                </a:solidFill>
              </a:rPr>
              <a:t>location</a:t>
            </a:r>
          </a:p>
        </p:txBody>
      </p:sp>
      <p:cxnSp>
        <p:nvCxnSpPr>
          <p:cNvPr id="22" name="Straight Connector 21">
            <a:extLst>
              <a:ext uri="{FF2B5EF4-FFF2-40B4-BE49-F238E27FC236}">
                <a16:creationId xmlns:a16="http://schemas.microsoft.com/office/drawing/2014/main" id="{D898B631-3181-4B9E-9B9B-E86C7D5CEA86}"/>
              </a:ext>
              <a:ext uri="{C183D7F6-B498-43B3-948B-1728B52AA6E4}">
                <adec:decorative xmlns:adec="http://schemas.microsoft.com/office/drawing/2017/decorative" val="1"/>
              </a:ext>
            </a:extLst>
          </p:cNvPr>
          <p:cNvCxnSpPr>
            <a:cxnSpLocks/>
          </p:cNvCxnSpPr>
          <p:nvPr/>
        </p:nvCxnSpPr>
        <p:spPr>
          <a:xfrm>
            <a:off x="1468831" y="5276305"/>
            <a:ext cx="102413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9" name="Picture 38" descr="Icon of four square box arrange within square line">
            <a:extLst>
              <a:ext uri="{FF2B5EF4-FFF2-40B4-BE49-F238E27FC236}">
                <a16:creationId xmlns:a16="http://schemas.microsoft.com/office/drawing/2014/main" id="{96678EEB-111E-45D4-A970-615DCB6E890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24068" y="5378724"/>
            <a:ext cx="776902" cy="775407"/>
          </a:xfrm>
          <a:prstGeom prst="rect">
            <a:avLst/>
          </a:prstGeom>
        </p:spPr>
      </p:pic>
      <p:sp>
        <p:nvSpPr>
          <p:cNvPr id="12" name="Rectangle 11">
            <a:extLst>
              <a:ext uri="{FF2B5EF4-FFF2-40B4-BE49-F238E27FC236}">
                <a16:creationId xmlns:a16="http://schemas.microsoft.com/office/drawing/2014/main" id="{4191457C-432E-4298-AEE3-F4B4378FED97}"/>
              </a:ext>
            </a:extLst>
          </p:cNvPr>
          <p:cNvSpPr/>
          <p:nvPr/>
        </p:nvSpPr>
        <p:spPr bwMode="auto">
          <a:xfrm>
            <a:off x="1468830" y="5319210"/>
            <a:ext cx="10293633" cy="89642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Each lab creates a new resource group. To minimize costs, remove the resource group at the end of the lab</a:t>
            </a:r>
          </a:p>
        </p:txBody>
      </p:sp>
    </p:spTree>
    <p:extLst>
      <p:ext uri="{BB962C8B-B14F-4D97-AF65-F5344CB8AC3E}">
        <p14:creationId xmlns:p14="http://schemas.microsoft.com/office/powerpoint/2010/main" val="48119188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65F2-B5F1-4E3A-A3FE-38CCA7D92347}"/>
              </a:ext>
            </a:extLst>
          </p:cNvPr>
          <p:cNvSpPr>
            <a:spLocks noGrp="1"/>
          </p:cNvSpPr>
          <p:nvPr>
            <p:ph type="title"/>
          </p:nvPr>
        </p:nvSpPr>
        <p:spPr/>
        <p:txBody>
          <a:bodyPr/>
          <a:lstStyle/>
          <a:p>
            <a:r>
              <a:rPr lang="en-US" dirty="0"/>
              <a:t>Additional Resources </a:t>
            </a:r>
            <a:r>
              <a:rPr lang="en-US" dirty="0">
                <a:solidFill>
                  <a:srgbClr val="C00000"/>
                </a:solidFill>
              </a:rPr>
              <a:t>(optional)</a:t>
            </a:r>
          </a:p>
        </p:txBody>
      </p:sp>
      <p:pic>
        <p:nvPicPr>
          <p:cNvPr id="1797" name="Picture 1796" descr="Icon of a web page browser">
            <a:extLst>
              <a:ext uri="{FF2B5EF4-FFF2-40B4-BE49-F238E27FC236}">
                <a16:creationId xmlns:a16="http://schemas.microsoft.com/office/drawing/2014/main" id="{2F68659E-F5EC-48A2-B77F-6C7453BB1A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459" y="1272555"/>
            <a:ext cx="772419" cy="773913"/>
          </a:xfrm>
          <a:prstGeom prst="rect">
            <a:avLst/>
          </a:prstGeom>
        </p:spPr>
      </p:pic>
      <p:sp>
        <p:nvSpPr>
          <p:cNvPr id="7" name="Rectangle 6">
            <a:extLst>
              <a:ext uri="{FF2B5EF4-FFF2-40B4-BE49-F238E27FC236}">
                <a16:creationId xmlns:a16="http://schemas.microsoft.com/office/drawing/2014/main" id="{FAC2A725-E9F7-45A4-9C46-21A2597EACD5}"/>
              </a:ext>
            </a:extLst>
          </p:cNvPr>
          <p:cNvSpPr/>
          <p:nvPr/>
        </p:nvSpPr>
        <p:spPr bwMode="auto">
          <a:xfrm>
            <a:off x="1517728" y="1377794"/>
            <a:ext cx="3640793" cy="6064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Microsoft Learn </a:t>
            </a:r>
          </a:p>
        </p:txBody>
      </p:sp>
      <p:cxnSp>
        <p:nvCxnSpPr>
          <p:cNvPr id="25" name="Straight Connector 24">
            <a:extLst>
              <a:ext uri="{FF2B5EF4-FFF2-40B4-BE49-F238E27FC236}">
                <a16:creationId xmlns:a16="http://schemas.microsoft.com/office/drawing/2014/main" id="{23C8696D-B7E4-487E-A483-3D357C9FBDB6}"/>
              </a:ext>
              <a:ext uri="{C183D7F6-B498-43B3-948B-1728B52AA6E4}">
                <adec:decorative xmlns:adec="http://schemas.microsoft.com/office/drawing/2017/decorative" val="1"/>
              </a:ext>
            </a:extLst>
          </p:cNvPr>
          <p:cNvCxnSpPr>
            <a:cxnSpLocks/>
          </p:cNvCxnSpPr>
          <p:nvPr/>
        </p:nvCxnSpPr>
        <p:spPr>
          <a:xfrm>
            <a:off x="1497598" y="2177012"/>
            <a:ext cx="427313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796" name="Picture 1795" descr="Icon of tick mark on a paper">
            <a:extLst>
              <a:ext uri="{FF2B5EF4-FFF2-40B4-BE49-F238E27FC236}">
                <a16:creationId xmlns:a16="http://schemas.microsoft.com/office/drawing/2014/main" id="{B5E5573C-3EE5-4B76-969A-943CEA7892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4459" y="2264549"/>
            <a:ext cx="772419" cy="773913"/>
          </a:xfrm>
          <a:prstGeom prst="rect">
            <a:avLst/>
          </a:prstGeom>
        </p:spPr>
      </p:pic>
      <p:sp>
        <p:nvSpPr>
          <p:cNvPr id="6" name="Rectangle 5">
            <a:extLst>
              <a:ext uri="{FF2B5EF4-FFF2-40B4-BE49-F238E27FC236}">
                <a16:creationId xmlns:a16="http://schemas.microsoft.com/office/drawing/2014/main" id="{FE541FE8-D323-49EB-B62A-A6800BE0036D}"/>
              </a:ext>
            </a:extLst>
          </p:cNvPr>
          <p:cNvSpPr/>
          <p:nvPr/>
        </p:nvSpPr>
        <p:spPr bwMode="auto">
          <a:xfrm>
            <a:off x="1517728" y="2369787"/>
            <a:ext cx="3640793" cy="6064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Azure Documentation</a:t>
            </a:r>
          </a:p>
        </p:txBody>
      </p:sp>
      <p:cxnSp>
        <p:nvCxnSpPr>
          <p:cNvPr id="34" name="Straight Connector 33">
            <a:extLst>
              <a:ext uri="{FF2B5EF4-FFF2-40B4-BE49-F238E27FC236}">
                <a16:creationId xmlns:a16="http://schemas.microsoft.com/office/drawing/2014/main" id="{7BEF953B-96EF-407A-ADDC-AD63FEAED38F}"/>
              </a:ext>
              <a:ext uri="{C183D7F6-B498-43B3-948B-1728B52AA6E4}">
                <adec:decorative xmlns:adec="http://schemas.microsoft.com/office/drawing/2017/decorative" val="1"/>
              </a:ext>
            </a:extLst>
          </p:cNvPr>
          <p:cNvCxnSpPr>
            <a:cxnSpLocks/>
          </p:cNvCxnSpPr>
          <p:nvPr/>
        </p:nvCxnSpPr>
        <p:spPr>
          <a:xfrm>
            <a:off x="1497598" y="3169005"/>
            <a:ext cx="427313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795" name="Picture 1794" descr="Icon of chat message pop up">
            <a:extLst>
              <a:ext uri="{FF2B5EF4-FFF2-40B4-BE49-F238E27FC236}">
                <a16:creationId xmlns:a16="http://schemas.microsoft.com/office/drawing/2014/main" id="{8210CD22-1AF3-4528-B800-0F389DD0535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4459" y="3256542"/>
            <a:ext cx="772419" cy="772419"/>
          </a:xfrm>
          <a:prstGeom prst="rect">
            <a:avLst/>
          </a:prstGeom>
        </p:spPr>
      </p:pic>
      <p:sp>
        <p:nvSpPr>
          <p:cNvPr id="10" name="Rectangle 9">
            <a:extLst>
              <a:ext uri="{FF2B5EF4-FFF2-40B4-BE49-F238E27FC236}">
                <a16:creationId xmlns:a16="http://schemas.microsoft.com/office/drawing/2014/main" id="{A7E57C26-643C-4D15-870D-437851D99D6C}"/>
              </a:ext>
            </a:extLst>
          </p:cNvPr>
          <p:cNvSpPr/>
          <p:nvPr/>
        </p:nvSpPr>
        <p:spPr bwMode="auto">
          <a:xfrm>
            <a:off x="1517728" y="3361781"/>
            <a:ext cx="3640793" cy="6064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Azure Forum</a:t>
            </a:r>
          </a:p>
        </p:txBody>
      </p:sp>
      <p:cxnSp>
        <p:nvCxnSpPr>
          <p:cNvPr id="35" name="Straight Connector 34">
            <a:extLst>
              <a:ext uri="{FF2B5EF4-FFF2-40B4-BE49-F238E27FC236}">
                <a16:creationId xmlns:a16="http://schemas.microsoft.com/office/drawing/2014/main" id="{E7F7E80A-CEE2-4EAE-AF23-65C2BD947F12}"/>
              </a:ext>
              <a:ext uri="{C183D7F6-B498-43B3-948B-1728B52AA6E4}">
                <adec:decorative xmlns:adec="http://schemas.microsoft.com/office/drawing/2017/decorative" val="1"/>
              </a:ext>
            </a:extLst>
          </p:cNvPr>
          <p:cNvCxnSpPr>
            <a:cxnSpLocks/>
          </p:cNvCxnSpPr>
          <p:nvPr/>
        </p:nvCxnSpPr>
        <p:spPr>
          <a:xfrm>
            <a:off x="1497598" y="4160999"/>
            <a:ext cx="427313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99F076B-3DEC-4AA8-861B-68489BBC82B7}"/>
              </a:ext>
            </a:extLst>
          </p:cNvPr>
          <p:cNvSpPr/>
          <p:nvPr/>
        </p:nvSpPr>
        <p:spPr bwMode="auto">
          <a:xfrm>
            <a:off x="7365935" y="1340835"/>
            <a:ext cx="4129749" cy="6064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Azure Fridays with Scott Hanselman</a:t>
            </a:r>
          </a:p>
        </p:txBody>
      </p:sp>
      <p:pic>
        <p:nvPicPr>
          <p:cNvPr id="1801" name="Picture 1800" descr="Icon of lines with rounded tip spreading outside from the centre circle">
            <a:extLst>
              <a:ext uri="{FF2B5EF4-FFF2-40B4-BE49-F238E27FC236}">
                <a16:creationId xmlns:a16="http://schemas.microsoft.com/office/drawing/2014/main" id="{0AF58701-BBBD-46C5-B2BA-90A96058558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01431" y="1272555"/>
            <a:ext cx="772419" cy="773913"/>
          </a:xfrm>
          <a:prstGeom prst="rect">
            <a:avLst/>
          </a:prstGeom>
        </p:spPr>
      </p:pic>
      <p:cxnSp>
        <p:nvCxnSpPr>
          <p:cNvPr id="37" name="Straight Connector 36">
            <a:extLst>
              <a:ext uri="{FF2B5EF4-FFF2-40B4-BE49-F238E27FC236}">
                <a16:creationId xmlns:a16="http://schemas.microsoft.com/office/drawing/2014/main" id="{3DE6B178-B8FC-4427-AB9B-8BE4EAEBC6CF}"/>
              </a:ext>
              <a:ext uri="{C183D7F6-B498-43B3-948B-1728B52AA6E4}">
                <adec:decorative xmlns:adec="http://schemas.microsoft.com/office/drawing/2017/decorative" val="1"/>
              </a:ext>
            </a:extLst>
          </p:cNvPr>
          <p:cNvCxnSpPr>
            <a:cxnSpLocks/>
          </p:cNvCxnSpPr>
          <p:nvPr/>
        </p:nvCxnSpPr>
        <p:spPr>
          <a:xfrm>
            <a:off x="7365935" y="2177012"/>
            <a:ext cx="427313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800" name="Picture 1799" descr="Icon of a document">
            <a:extLst>
              <a:ext uri="{FF2B5EF4-FFF2-40B4-BE49-F238E27FC236}">
                <a16:creationId xmlns:a16="http://schemas.microsoft.com/office/drawing/2014/main" id="{FF2167BF-97D3-48CE-91F7-1509B476634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301431" y="2264548"/>
            <a:ext cx="772419" cy="773913"/>
          </a:xfrm>
          <a:prstGeom prst="rect">
            <a:avLst/>
          </a:prstGeom>
        </p:spPr>
      </p:pic>
      <p:sp>
        <p:nvSpPr>
          <p:cNvPr id="11" name="Rectangle 10">
            <a:extLst>
              <a:ext uri="{FF2B5EF4-FFF2-40B4-BE49-F238E27FC236}">
                <a16:creationId xmlns:a16="http://schemas.microsoft.com/office/drawing/2014/main" id="{96423ECF-0CBD-43A9-9379-EBB0FD73C571}"/>
              </a:ext>
            </a:extLst>
          </p:cNvPr>
          <p:cNvSpPr/>
          <p:nvPr/>
        </p:nvSpPr>
        <p:spPr bwMode="auto">
          <a:xfrm>
            <a:off x="7412926" y="2369786"/>
            <a:ext cx="4140403" cy="6064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Microsoft Azure Blog</a:t>
            </a:r>
          </a:p>
        </p:txBody>
      </p:sp>
      <p:cxnSp>
        <p:nvCxnSpPr>
          <p:cNvPr id="38" name="Straight Connector 37">
            <a:extLst>
              <a:ext uri="{FF2B5EF4-FFF2-40B4-BE49-F238E27FC236}">
                <a16:creationId xmlns:a16="http://schemas.microsoft.com/office/drawing/2014/main" id="{48EBF645-809F-444B-993A-45580D9C1E8A}"/>
              </a:ext>
              <a:ext uri="{C183D7F6-B498-43B3-948B-1728B52AA6E4}">
                <adec:decorative xmlns:adec="http://schemas.microsoft.com/office/drawing/2017/decorative" val="1"/>
              </a:ext>
            </a:extLst>
          </p:cNvPr>
          <p:cNvCxnSpPr>
            <a:cxnSpLocks/>
          </p:cNvCxnSpPr>
          <p:nvPr/>
        </p:nvCxnSpPr>
        <p:spPr>
          <a:xfrm>
            <a:off x="7365935" y="3169005"/>
            <a:ext cx="427313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799" name="Picture 1798" descr="Icon of a book">
            <a:extLst>
              <a:ext uri="{FF2B5EF4-FFF2-40B4-BE49-F238E27FC236}">
                <a16:creationId xmlns:a16="http://schemas.microsoft.com/office/drawing/2014/main" id="{317282F4-0E23-481E-9C77-8CF9455522E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301431" y="3256540"/>
            <a:ext cx="772419" cy="772419"/>
          </a:xfrm>
          <a:prstGeom prst="rect">
            <a:avLst/>
          </a:prstGeom>
        </p:spPr>
      </p:pic>
      <p:sp>
        <p:nvSpPr>
          <p:cNvPr id="14" name="Rectangle 13">
            <a:extLst>
              <a:ext uri="{FF2B5EF4-FFF2-40B4-BE49-F238E27FC236}">
                <a16:creationId xmlns:a16="http://schemas.microsoft.com/office/drawing/2014/main" id="{53E17F31-0E64-43E8-8CFA-7789338BEB64}"/>
              </a:ext>
            </a:extLst>
          </p:cNvPr>
          <p:cNvSpPr/>
          <p:nvPr/>
        </p:nvSpPr>
        <p:spPr bwMode="auto">
          <a:xfrm>
            <a:off x="7412926" y="3361781"/>
            <a:ext cx="4140403" cy="60644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1961" dirty="0">
                <a:solidFill>
                  <a:schemeClr val="tx1"/>
                </a:solidFill>
              </a:rPr>
              <a:t>Microsoft Learning Community Blog</a:t>
            </a:r>
          </a:p>
        </p:txBody>
      </p:sp>
      <p:cxnSp>
        <p:nvCxnSpPr>
          <p:cNvPr id="39" name="Straight Connector 38">
            <a:extLst>
              <a:ext uri="{FF2B5EF4-FFF2-40B4-BE49-F238E27FC236}">
                <a16:creationId xmlns:a16="http://schemas.microsoft.com/office/drawing/2014/main" id="{D7C129AD-00E6-4F0F-92E1-537C59F5D9E4}"/>
              </a:ext>
              <a:ext uri="{C183D7F6-B498-43B3-948B-1728B52AA6E4}">
                <adec:decorative xmlns:adec="http://schemas.microsoft.com/office/drawing/2017/decorative" val="1"/>
              </a:ext>
            </a:extLst>
          </p:cNvPr>
          <p:cNvCxnSpPr>
            <a:cxnSpLocks/>
          </p:cNvCxnSpPr>
          <p:nvPr/>
        </p:nvCxnSpPr>
        <p:spPr>
          <a:xfrm>
            <a:off x="7365935" y="4160999"/>
            <a:ext cx="427313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408937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B4F3F-CDE4-4DFF-AA15-D699813BE349}"/>
              </a:ext>
            </a:extLst>
          </p:cNvPr>
          <p:cNvSpPr>
            <a:spLocks noGrp="1"/>
          </p:cNvSpPr>
          <p:nvPr>
            <p:ph type="title"/>
          </p:nvPr>
        </p:nvSpPr>
        <p:spPr/>
        <p:txBody>
          <a:bodyPr/>
          <a:lstStyle/>
          <a:p>
            <a:r>
              <a:rPr lang="en-US" dirty="0"/>
              <a:t>End of presentation</a:t>
            </a:r>
          </a:p>
        </p:txBody>
      </p:sp>
    </p:spTree>
    <p:extLst>
      <p:ext uri="{BB962C8B-B14F-4D97-AF65-F5344CB8AC3E}">
        <p14:creationId xmlns:p14="http://schemas.microsoft.com/office/powerpoint/2010/main" val="1043983413"/>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9163849240324E9E04492C11FECC70" ma:contentTypeVersion="15" ma:contentTypeDescription="Create a new document." ma:contentTypeScope="" ma:versionID="8f9d8de33abc71b2d05badd92e2b5931">
  <xsd:schema xmlns:xsd="http://www.w3.org/2001/XMLSchema" xmlns:xs="http://www.w3.org/2001/XMLSchema" xmlns:p="http://schemas.microsoft.com/office/2006/metadata/properties" xmlns:ns1="http://schemas.microsoft.com/sharepoint/v3" xmlns:ns2="e8bab37c-6053-4066-b569-fd9fbae908bd" xmlns:ns3="1d16016b-1e11-4dbd-8bd0-b44cb6539c58" targetNamespace="http://schemas.microsoft.com/office/2006/metadata/properties" ma:root="true" ma:fieldsID="fce38079b6a51eb356cb81d02c0f0cc5" ns1:_="" ns2:_="" ns3:_="">
    <xsd:import namespace="http://schemas.microsoft.com/sharepoint/v3"/>
    <xsd:import namespace="e8bab37c-6053-4066-b569-fd9fbae908bd"/>
    <xsd:import namespace="1d16016b-1e11-4dbd-8bd0-b44cb6539c5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DateTaken" minOccurs="0"/>
                <xsd:element ref="ns2:MediaServiceAutoTags" minOccurs="0"/>
                <xsd:element ref="ns1:_ip_UnifiedCompliancePolicyProperties" minOccurs="0"/>
                <xsd:element ref="ns1:_ip_UnifiedCompliancePolicyUIAction" minOccurs="0"/>
                <xsd:element ref="ns2:MediaServiceGenerationTime" minOccurs="0"/>
                <xsd:element ref="ns2:MediaServiceEventHashCode" minOccurs="0"/>
                <xsd:element ref="ns2:Descrip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bab37c-6053-4066-b569-fd9fbae908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Description" ma:index="19" nillable="true" ma:displayName="Description" ma:format="Dropdown" ma:internalName="Description">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d16016b-1e11-4dbd-8bd0-b44cb6539c58"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escription xmlns="e8bab37c-6053-4066-b569-fd9fbae908bd"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2614ED0E-D299-4294-A9D4-46221ACD9A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8bab37c-6053-4066-b569-fd9fbae908bd"/>
    <ds:schemaRef ds:uri="1d16016b-1e11-4dbd-8bd0-b44cb6539c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772FA08-DAA9-4520-A2AB-E8F94F450FF8}">
  <ds:schemaRefs>
    <ds:schemaRef ds:uri="http://schemas.microsoft.com/sharepoint/v3/contenttype/forms"/>
  </ds:schemaRefs>
</ds:datastoreItem>
</file>

<file path=customXml/itemProps3.xml><?xml version="1.0" encoding="utf-8"?>
<ds:datastoreItem xmlns:ds="http://schemas.openxmlformats.org/officeDocument/2006/customXml" ds:itemID="{37E3178B-6CCB-4891-B65D-F2D1F0FBCCFD}">
  <ds:schemaRefs>
    <ds:schemaRef ds:uri="e8bab37c-6053-4066-b569-fd9fbae908bd"/>
    <ds:schemaRef ds:uri="http://schemas.openxmlformats.org/package/2006/metadata/core-properties"/>
    <ds:schemaRef ds:uri="http://purl.org/dc/terms/"/>
    <ds:schemaRef ds:uri="http://purl.org/dc/dcmitype/"/>
    <ds:schemaRef ds:uri="http://schemas.microsoft.com/office/2006/documentManagement/types"/>
    <ds:schemaRef ds:uri="1d16016b-1e11-4dbd-8bd0-b44cb6539c58"/>
    <ds:schemaRef ds:uri="http://www.w3.org/XML/1998/namespace"/>
    <ds:schemaRef ds:uri="http://schemas.microsoft.com/sharepoint/v3"/>
    <ds:schemaRef ds:uri="http://schemas.microsoft.com/office/infopath/2007/PartnerControls"/>
    <ds:schemaRef ds:uri="http://schemas.microsoft.com/office/2006/metadata/properties"/>
    <ds:schemaRef ds:uri="http://purl.org/dc/elements/1.1/"/>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122</TotalTime>
  <Words>1674</Words>
  <Application>Microsoft Office PowerPoint</Application>
  <PresentationFormat>Widescreen</PresentationFormat>
  <Paragraphs>173</Paragraphs>
  <Slides>16</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Consolas</vt:lpstr>
      <vt:lpstr>Segoe UI</vt:lpstr>
      <vt:lpstr>Wingdings</vt:lpstr>
      <vt:lpstr>Office Theme</vt:lpstr>
      <vt:lpstr>AZ-700T00A Designing and Implementing Azure Networking Solutions</vt:lpstr>
      <vt:lpstr>Welcome</vt:lpstr>
      <vt:lpstr>Hello! Instructor Introduction</vt:lpstr>
      <vt:lpstr>Hello! Student Introductions</vt:lpstr>
      <vt:lpstr>Classroom experience (optional – adjust)</vt:lpstr>
      <vt:lpstr>About this course: Prerequisites</vt:lpstr>
      <vt:lpstr>Network Engineer Role</vt:lpstr>
      <vt:lpstr>Microsoft Certifications (optional)</vt:lpstr>
      <vt:lpstr>AZ-700 Certification Areas </vt:lpstr>
      <vt:lpstr>About this course: Course Outline</vt:lpstr>
      <vt:lpstr>Course schedule (optional – adjust as needed)</vt:lpstr>
      <vt:lpstr>Student materials on Learn (optional)</vt:lpstr>
      <vt:lpstr>Student content feedback on Learn (optional)</vt:lpstr>
      <vt:lpstr>Hands-on Labs (optional)</vt:lpstr>
      <vt:lpstr>Additional Resources (optional)</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Jill Leary</dc:creator>
  <cp:lastModifiedBy>Jill Leary</cp:lastModifiedBy>
  <cp:revision>6</cp:revision>
  <dcterms:created xsi:type="dcterms:W3CDTF">2021-03-31T15:13:12Z</dcterms:created>
  <dcterms:modified xsi:type="dcterms:W3CDTF">2022-02-10T03:50:59Z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0x010100329163849240324E9E04492C11FECC70</vt:lpwstr>
  </property>
</Properties>
</file>
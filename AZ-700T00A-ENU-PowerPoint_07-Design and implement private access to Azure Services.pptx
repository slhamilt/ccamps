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4" r:id="rId5"/>
  </p:sldMasterIdLst>
  <p:notesMasterIdLst>
    <p:notesMasterId r:id="rId47"/>
  </p:notesMasterIdLst>
  <p:sldIdLst>
    <p:sldId id="1746" r:id="rId6"/>
    <p:sldId id="1771" r:id="rId7"/>
    <p:sldId id="2076137766" r:id="rId8"/>
    <p:sldId id="1780" r:id="rId9"/>
    <p:sldId id="2524" r:id="rId10"/>
    <p:sldId id="2525" r:id="rId11"/>
    <p:sldId id="1762" r:id="rId12"/>
    <p:sldId id="2076137768" r:id="rId13"/>
    <p:sldId id="1865" r:id="rId14"/>
    <p:sldId id="1779" r:id="rId15"/>
    <p:sldId id="2528" r:id="rId16"/>
    <p:sldId id="2076137771" r:id="rId17"/>
    <p:sldId id="2076137776" r:id="rId18"/>
    <p:sldId id="2076137795" r:id="rId19"/>
    <p:sldId id="2076137792" r:id="rId20"/>
    <p:sldId id="2076137797" r:id="rId21"/>
    <p:sldId id="2241" r:id="rId22"/>
    <p:sldId id="2076137761" r:id="rId23"/>
    <p:sldId id="2076137798" r:id="rId24"/>
    <p:sldId id="2076137780" r:id="rId25"/>
    <p:sldId id="2076137781" r:id="rId26"/>
    <p:sldId id="2076137782" r:id="rId27"/>
    <p:sldId id="2076137783" r:id="rId28"/>
    <p:sldId id="2076137785" r:id="rId29"/>
    <p:sldId id="2076137786" r:id="rId30"/>
    <p:sldId id="2076137770" r:id="rId31"/>
    <p:sldId id="2076137764" r:id="rId32"/>
    <p:sldId id="2076137794" r:id="rId33"/>
    <p:sldId id="2076137769" r:id="rId34"/>
    <p:sldId id="2076137765" r:id="rId35"/>
    <p:sldId id="2076137793" r:id="rId36"/>
    <p:sldId id="2076137767" r:id="rId37"/>
    <p:sldId id="2076137763" r:id="rId38"/>
    <p:sldId id="2076137775" r:id="rId39"/>
    <p:sldId id="2076137787" r:id="rId40"/>
    <p:sldId id="2076137788" r:id="rId41"/>
    <p:sldId id="2076137789" r:id="rId42"/>
    <p:sldId id="2076137790" r:id="rId43"/>
    <p:sldId id="2076137791" r:id="rId44"/>
    <p:sldId id="2076137772" r:id="rId45"/>
    <p:sldId id="1891"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AA38527-8D5C-CB09-2F5E-EA8CC4B339B4}" name="Dieter Rauscher" initials="DR" userId="S::dirausch@microsoft.com::b2d00f3c-a835-495f-9ea3-b5a0ba5013b9" providerId="AD"/>
  <p188:author id="{AE79C155-DF3C-0EFE-49F1-65E667979CC4}" name="Jill Leary" initials="JL" userId="S::jileary@microsoft.com::5a04458c-cc82-4fe6-9cc3-6fbb3d3c426f"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2686" autoAdjust="0"/>
  </p:normalViewPr>
  <p:slideViewPr>
    <p:cSldViewPr snapToGrid="0">
      <p:cViewPr varScale="1">
        <p:scale>
          <a:sx n="77" d="100"/>
          <a:sy n="77" d="100"/>
        </p:scale>
        <p:origin x="64"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viewProps" Target="view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customXml" Target="../customXml/item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F4C573-DDE7-4816-8239-79FB69BB613D}" type="datetimeFigureOut">
              <a:rPr lang="en-US" smtClean="0"/>
              <a:t>4/25/2022</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B9185C-5C72-45C2-88F0-D7DF9039278A}" type="slidenum">
              <a:rPr lang="en-US" smtClean="0"/>
              <a:t>‹#›</a:t>
            </a:fld>
            <a:endParaRPr lang="en-US" dirty="0"/>
          </a:p>
        </p:txBody>
      </p:sp>
    </p:spTree>
    <p:extLst>
      <p:ext uri="{BB962C8B-B14F-4D97-AF65-F5344CB8AC3E}">
        <p14:creationId xmlns:p14="http://schemas.microsoft.com/office/powerpoint/2010/main" val="34272309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ocs.microsoft.com/en-us/azure/virtual-network/virtual-network-service-endpoints-overview#provisioning"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ocs.microsoft.com/en-us/azure/virtual-network/tutorial-restrict-network-access-to-resources"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microsoft.com/en-us/azure/private-link/private-link-service-overview"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microsoft.com/en-us/azure/private-link/create-private-link-service-portal" TargetMode="External"/><Relationship Id="rId2" Type="http://schemas.openxmlformats.org/officeDocument/2006/relationships/slide" Target="../slides/slide16.xml"/><Relationship Id="rId1" Type="http://schemas.openxmlformats.org/officeDocument/2006/relationships/notesMaster" Target="../notesMasters/notesMaster1.xml"/><Relationship Id="rId4" Type="http://schemas.openxmlformats.org/officeDocument/2006/relationships/hyperlink" Target="https://docs.microsoft.com/en-us/azure/private-link/create-private-endpoint-portal" TargetMode="Externa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3" Type="http://schemas.openxmlformats.org/officeDocument/2006/relationships/hyperlink" Target="https://docs.microsoft.com/en-us/azure/private-link/private-endpoint-dns"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3" Type="http://schemas.openxmlformats.org/officeDocument/2006/relationships/hyperlink" Target="https://docs.microsoft.com/en-us/azure/private-link/private-endpoint-dns"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3" Type="http://schemas.openxmlformats.org/officeDocument/2006/relationships/hyperlink" Target="https://docs.microsoft.com/en-us/azure/private-link/private-endpoint-dns"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3" Type="http://schemas.openxmlformats.org/officeDocument/2006/relationships/hyperlink" Target="https://microsoftlearning.github.io/AZ-700-Designing-and-Implementing-Microsoft-Azure-Networking-Solutions/"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docs.microsoft.com/en-us/azure/app-service/web-sites-integrate-with-vnet"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s://kubernetes.io/docs/concepts/cluster-administration/network-plugins/#kubenet" TargetMode="External"/><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and Implement Private Access to Azure Services (10–15%) </a:t>
            </a:r>
          </a:p>
          <a:p>
            <a:endParaRPr lang="en-US" dirty="0"/>
          </a:p>
          <a:p>
            <a:r>
              <a:rPr lang="en-US" dirty="0"/>
              <a:t>Design and implement Azure Private Link service and Azure Private Endpoint</a:t>
            </a:r>
          </a:p>
          <a:p>
            <a:r>
              <a:rPr lang="en-US" dirty="0"/>
              <a:t>  create a Private Link service  plan private endpoints</a:t>
            </a:r>
          </a:p>
          <a:p>
            <a:r>
              <a:rPr lang="en-US" dirty="0"/>
              <a:t>  create private endpoints</a:t>
            </a:r>
          </a:p>
          <a:p>
            <a:r>
              <a:rPr lang="en-US" dirty="0"/>
              <a:t>  configure access to private endpoints</a:t>
            </a:r>
          </a:p>
          <a:p>
            <a:r>
              <a:rPr lang="en-US" dirty="0"/>
              <a:t>  integrate Private Link with DNS</a:t>
            </a:r>
          </a:p>
          <a:p>
            <a:r>
              <a:rPr lang="en-US" dirty="0"/>
              <a:t>  integrate a Private Link service with on-premises clients </a:t>
            </a:r>
          </a:p>
          <a:p>
            <a:endParaRPr lang="en-US" dirty="0"/>
          </a:p>
          <a:p>
            <a:r>
              <a:rPr lang="en-US" dirty="0"/>
              <a:t>Design and implement service endpoints</a:t>
            </a:r>
          </a:p>
          <a:p>
            <a:r>
              <a:rPr lang="en-US" dirty="0"/>
              <a:t>  create service endpoints </a:t>
            </a:r>
          </a:p>
          <a:p>
            <a:r>
              <a:rPr lang="en-US" dirty="0"/>
              <a:t> configure service endpoint policies </a:t>
            </a:r>
          </a:p>
          <a:p>
            <a:r>
              <a:rPr lang="en-US" dirty="0"/>
              <a:t> configure service tags </a:t>
            </a:r>
          </a:p>
          <a:p>
            <a:r>
              <a:rPr lang="en-US" dirty="0"/>
              <a:t> configure access to service endpoints </a:t>
            </a:r>
          </a:p>
          <a:p>
            <a:endParaRPr lang="en-US" dirty="0"/>
          </a:p>
          <a:p>
            <a:r>
              <a:rPr lang="en-US" dirty="0"/>
              <a:t>Configure VNet integration for dedicated platform as a service (PaaS) services</a:t>
            </a:r>
          </a:p>
          <a:p>
            <a:r>
              <a:rPr lang="en-US" dirty="0"/>
              <a:t>  configure App Service for regional VNet integration</a:t>
            </a:r>
          </a:p>
          <a:p>
            <a:r>
              <a:rPr lang="en-US" dirty="0"/>
              <a:t>  configure Azure Kubernetes Service (AKS) for regional VNet integration </a:t>
            </a:r>
          </a:p>
          <a:p>
            <a:r>
              <a:rPr lang="en-US" dirty="0"/>
              <a:t> configure clients to access App Service Environment</a:t>
            </a:r>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a:t>
            </a:fld>
            <a:endParaRPr lang="en-US" dirty="0"/>
          </a:p>
        </p:txBody>
      </p:sp>
    </p:spTree>
    <p:extLst>
      <p:ext uri="{BB962C8B-B14F-4D97-AF65-F5344CB8AC3E}">
        <p14:creationId xmlns:p14="http://schemas.microsoft.com/office/powerpoint/2010/main" val="12579459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Design and Implement Private Access to Azure Services (10–15%) </a:t>
            </a:r>
          </a:p>
          <a:p>
            <a:endParaRPr lang="en-US" altLang="zh-CN" dirty="0"/>
          </a:p>
          <a:p>
            <a:r>
              <a:rPr lang="en-US" altLang="zh-CN" dirty="0"/>
              <a:t>Design and implement Azure Private Link service and Azure Private Endpoint</a:t>
            </a:r>
          </a:p>
          <a:p>
            <a:r>
              <a:rPr lang="en-US" altLang="zh-CN" dirty="0"/>
              <a:t>  create a Private Link service</a:t>
            </a:r>
          </a:p>
          <a:p>
            <a:r>
              <a:rPr lang="en-US" altLang="zh-CN" dirty="0"/>
              <a:t>  plan private endpoints</a:t>
            </a:r>
          </a:p>
          <a:p>
            <a:r>
              <a:rPr lang="en-US" altLang="zh-CN" dirty="0"/>
              <a:t>  create private endpoints</a:t>
            </a:r>
          </a:p>
          <a:p>
            <a:r>
              <a:rPr lang="en-US" altLang="zh-CN" dirty="0"/>
              <a:t>  configure access to private endpoints</a:t>
            </a:r>
          </a:p>
          <a:p>
            <a:r>
              <a:rPr lang="en-US" altLang="zh-CN" dirty="0"/>
              <a:t>  integrate Private Link with DNS</a:t>
            </a:r>
          </a:p>
          <a:p>
            <a:r>
              <a:rPr lang="en-US" altLang="zh-CN" dirty="0"/>
              <a:t>  integrate a Private Link service with on-premises clients </a:t>
            </a:r>
          </a:p>
          <a:p>
            <a:endParaRPr lang="en-US" altLang="zh-CN" dirty="0"/>
          </a:p>
          <a:p>
            <a:r>
              <a:rPr lang="en-US" altLang="zh-CN" dirty="0"/>
              <a:t>Design and implement service endpoints</a:t>
            </a:r>
          </a:p>
          <a:p>
            <a:r>
              <a:rPr lang="en-US" altLang="zh-CN" dirty="0"/>
              <a:t> create service endpoints </a:t>
            </a:r>
          </a:p>
          <a:p>
            <a:r>
              <a:rPr lang="en-US" altLang="zh-CN" dirty="0"/>
              <a:t> configure service endpoint policies </a:t>
            </a:r>
          </a:p>
          <a:p>
            <a:r>
              <a:rPr lang="en-US" altLang="zh-CN" dirty="0"/>
              <a:t> configure service tags </a:t>
            </a:r>
          </a:p>
          <a:p>
            <a:r>
              <a:rPr lang="en-US" altLang="zh-CN" dirty="0"/>
              <a:t> configure access to service endpoints </a:t>
            </a:r>
          </a:p>
          <a:p>
            <a:endParaRPr lang="en-US" altLang="zh-CN" dirty="0"/>
          </a:p>
          <a:p>
            <a:r>
              <a:rPr lang="en-US" altLang="zh-CN" dirty="0"/>
              <a:t>Configure VNet integration for dedicated platform as a service (PaaS) services</a:t>
            </a:r>
          </a:p>
          <a:p>
            <a:r>
              <a:rPr lang="en-US" altLang="zh-CN" dirty="0"/>
              <a:t>  configure App Service for regional VNet integration</a:t>
            </a:r>
          </a:p>
          <a:p>
            <a:r>
              <a:rPr lang="en-US" altLang="zh-CN" dirty="0"/>
              <a:t>  configure Azure Kubernetes Service (AKS) for regional VNet integration </a:t>
            </a:r>
          </a:p>
          <a:p>
            <a:r>
              <a:rPr lang="en-US" altLang="zh-CN" dirty="0"/>
              <a:t> configure clients to access App Service Environment</a:t>
            </a:r>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2:12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486677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2:12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13343806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Virtual Network (VNet) service endpoint provides secure and direct connectivity to Azure services over an optimized route over the Azure backbone network. Endpoints allow you to secure your critical Azure service resources to only your virtual networks. Service Endpoints enables private IP addresses in the VNet to reach the endpoint of an Azure service without needing a public IP address on the VNet.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Another example using Service Endpoints with SQL Diagram: https://docs.microsoft.com/azure/virtual-network/vnet-integration-for-azure-services#service-endpoints</a:t>
            </a:r>
          </a:p>
          <a:p>
            <a:endParaRPr lang="en-US" dirty="0"/>
          </a:p>
          <a:p>
            <a:r>
              <a:rPr lang="en-US" dirty="0"/>
              <a:t>Virtual network service endpoints - https://docs.microsoft.com/Azure/virtual-network/virtual-network-service-endpoints-overview</a:t>
            </a:r>
          </a:p>
          <a:p>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r>
              <a:rPr lang="en-US" sz="1800" dirty="0">
                <a:effectLst/>
                <a:latin typeface="Calibri" panose="020F0502020204030204" pitchFamily="34" charset="0"/>
                <a:ea typeface="Calibri" panose="020F0502020204030204" pitchFamily="34" charset="0"/>
                <a:cs typeface="Times New Roman" panose="02020603050405020304" pitchFamily="18" charset="0"/>
              </a:rPr>
              <a:t>Use virtual network Service Endpoints to extend your private address space in Azure by providing a direct connection to your Azure services. Service Endpoints let you secure your Azure resources to only your virtual network. Service traffic will remain on the Azure backbone and doesn't go out to the internet.</a:t>
            </a:r>
          </a:p>
          <a:p>
            <a:endParaRPr lang="en-US" dirty="0"/>
          </a:p>
          <a:p>
            <a:endParaRPr lang="en-US" dirty="0">
              <a:cs typeface="Calibri"/>
            </a:endParaRPr>
          </a:p>
        </p:txBody>
      </p:sp>
      <p:sp>
        <p:nvSpPr>
          <p:cNvPr id="4" name="Slide Number Placeholder 3"/>
          <p:cNvSpPr>
            <a:spLocks noGrp="1"/>
          </p:cNvSpPr>
          <p:nvPr>
            <p:ph type="sldNum" sz="quarter" idx="5"/>
          </p:nvPr>
        </p:nvSpPr>
        <p:spPr/>
        <p:txBody>
          <a:bodyPr/>
          <a:lstStyle/>
          <a:p>
            <a:fld id="{8507DC7E-BC41-4478-BA30-CBCC3A644F0A}" type="slidenum">
              <a:rPr lang="en-US" smtClean="0"/>
              <a:t>5</a:t>
            </a:fld>
            <a:endParaRPr lang="en-US" dirty="0"/>
          </a:p>
        </p:txBody>
      </p:sp>
    </p:spTree>
    <p:extLst>
      <p:ext uri="{BB962C8B-B14F-4D97-AF65-F5344CB8AC3E}">
        <p14:creationId xmlns:p14="http://schemas.microsoft.com/office/powerpoint/2010/main" val="3132168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0" i="0" dirty="0">
                <a:solidFill>
                  <a:srgbClr val="171717"/>
                </a:solidFill>
                <a:effectLst/>
                <a:latin typeface="Segoe UI" panose="020B0502040204020203" pitchFamily="34" charset="0"/>
              </a:rPr>
              <a:t>Demo in your Azure portal – view subnet to add service endpoint </a:t>
            </a:r>
          </a:p>
          <a:p>
            <a:pPr algn="l">
              <a:buFont typeface="Arial" panose="020B0604020202020204" pitchFamily="34" charset="0"/>
              <a:buChar char="•"/>
            </a:pPr>
            <a:endParaRPr lang="en-US" b="0" i="0" dirty="0">
              <a:solidFill>
                <a:srgbClr val="171717"/>
              </a:solidFill>
              <a:effectLst/>
              <a:latin typeface="Segoe UI" panose="020B0502040204020203" pitchFamily="34" charset="0"/>
            </a:endParaRPr>
          </a:p>
          <a:p>
            <a:pPr algn="l">
              <a:buFont typeface="Arial" panose="020B0604020202020204" pitchFamily="34" charset="0"/>
              <a:buChar char="•"/>
            </a:pPr>
            <a:r>
              <a:rPr lang="en-US" b="0" i="0" dirty="0">
                <a:solidFill>
                  <a:srgbClr val="171717"/>
                </a:solidFill>
                <a:effectLst/>
                <a:latin typeface="Segoe UI" panose="020B0502040204020203" pitchFamily="34" charset="0"/>
              </a:rPr>
              <a:t>Configure service endpoints on a subnet in a virtual network. Endpoints work with any type of compute instances running within that subnet.</a:t>
            </a:r>
          </a:p>
          <a:p>
            <a:pPr algn="l">
              <a:buFont typeface="Arial" panose="020B0604020202020204" pitchFamily="34" charset="0"/>
              <a:buChar char="•"/>
            </a:pPr>
            <a:r>
              <a:rPr lang="en-US" b="0" i="0" dirty="0">
                <a:solidFill>
                  <a:srgbClr val="171717"/>
                </a:solidFill>
                <a:effectLst/>
                <a:latin typeface="Segoe UI" panose="020B0502040204020203" pitchFamily="34" charset="0"/>
              </a:rPr>
              <a:t>You can configure multiple service endpoints for all supported Azure services (Azure Storage or Azure SQL Database, for example) on a subnet.</a:t>
            </a:r>
          </a:p>
          <a:p>
            <a:pPr algn="l">
              <a:buFont typeface="Arial" panose="020B0604020202020204" pitchFamily="34" charset="0"/>
              <a:buChar char="•"/>
            </a:pPr>
            <a:r>
              <a:rPr lang="en-US" b="0" i="0" dirty="0">
                <a:solidFill>
                  <a:srgbClr val="171717"/>
                </a:solidFill>
                <a:effectLst/>
                <a:latin typeface="Segoe UI" panose="020B0502040204020203" pitchFamily="34" charset="0"/>
              </a:rPr>
              <a:t>For Azure SQL Database, virtual networks must be in the same region as the Azure service resource. If using GRS and RA-GRS Azure Storage accounts, the primary account must be in the same region as the virtual network. For all other services, you can secure Azure service resources to virtual networks in any region.</a:t>
            </a:r>
          </a:p>
          <a:p>
            <a:pPr algn="l">
              <a:buFont typeface="Arial" panose="020B0604020202020204" pitchFamily="34" charset="0"/>
              <a:buChar char="•"/>
            </a:pPr>
            <a:r>
              <a:rPr lang="en-US" b="0" i="0" dirty="0">
                <a:solidFill>
                  <a:srgbClr val="171717"/>
                </a:solidFill>
                <a:effectLst/>
                <a:latin typeface="Segoe UI" panose="020B0502040204020203" pitchFamily="34" charset="0"/>
              </a:rPr>
              <a:t>The virtual network where the endpoint is configured can be in the same or different subscription than the Azure service resource. For more information on permissions required for setting up endpoints and securing Azure services, see </a:t>
            </a:r>
            <a:r>
              <a:rPr lang="en-US" b="0" i="0" u="none" strike="noStrike" dirty="0">
                <a:solidFill>
                  <a:srgbClr val="171717"/>
                </a:solidFill>
                <a:effectLst/>
                <a:latin typeface="Segoe UI" panose="020B0502040204020203" pitchFamily="34" charset="0"/>
                <a:hlinkClick r:id="rId3"/>
              </a:rPr>
              <a:t>Provisioning</a:t>
            </a:r>
            <a:r>
              <a:rPr lang="en-US" b="0" i="0" dirty="0">
                <a:solidFill>
                  <a:srgbClr val="171717"/>
                </a:solidFill>
                <a:effectLst/>
                <a:latin typeface="Segoe UI" panose="020B0502040204020203" pitchFamily="34" charset="0"/>
              </a:rPr>
              <a:t>.</a:t>
            </a:r>
          </a:p>
          <a:p>
            <a:pPr algn="l">
              <a:buFont typeface="Arial" panose="020B0604020202020204" pitchFamily="34" charset="0"/>
              <a:buChar char="•"/>
            </a:pPr>
            <a:r>
              <a:rPr lang="en-US" b="0" i="0" dirty="0">
                <a:solidFill>
                  <a:srgbClr val="171717"/>
                </a:solidFill>
                <a:effectLst/>
                <a:latin typeface="Segoe UI" panose="020B0502040204020203" pitchFamily="34" charset="0"/>
              </a:rPr>
              <a:t>For supported services, you can secure new or existing resources to virtual networks using service endpoints.</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6</a:t>
            </a:fld>
            <a:endParaRPr lang="en-US" dirty="0"/>
          </a:p>
        </p:txBody>
      </p:sp>
    </p:spTree>
    <p:extLst>
      <p:ext uri="{BB962C8B-B14F-4D97-AF65-F5344CB8AC3E}">
        <p14:creationId xmlns:p14="http://schemas.microsoft.com/office/powerpoint/2010/main" val="35145818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Restrict access to PaaS resources - tutorial - Azure portal | Microsoft Docs</a:t>
            </a:r>
            <a:endParaRPr lang="en-US" dirty="0"/>
          </a:p>
          <a:p>
            <a:r>
              <a:rPr lang="en-US" dirty="0"/>
              <a:t>https://docs.microsoft.com/azure/virtual-network/tutorial-restrict-network-access-to-resources</a:t>
            </a:r>
          </a:p>
          <a:p>
            <a:endParaRPr lang="en-US" dirty="0"/>
          </a:p>
          <a:p>
            <a:pPr algn="l"/>
            <a:r>
              <a:rPr lang="en-US" b="0" i="0" dirty="0">
                <a:solidFill>
                  <a:srgbClr val="171717"/>
                </a:solidFill>
                <a:effectLst/>
                <a:latin typeface="Segoe UI" panose="020B0502040204020203" pitchFamily="34" charset="0"/>
              </a:rPr>
              <a:t>Virtual network service endpoints enable you to limit network access to some Azure service resources to a virtual network subnet. You can also remove internet access to the resources. Service endpoints provide direct connection from your virtual network to supported Azure services, allowing you to use your virtual network's private address space to access the Azure services. Traffic destined to Azure resources through service endpoints always stays on the Microsoft Azure backbone network. In this tutorial, you learn how to:</a:t>
            </a:r>
          </a:p>
          <a:p>
            <a:pPr algn="l">
              <a:buFont typeface="Arial" panose="020B0604020202020204" pitchFamily="34" charset="0"/>
              <a:buChar char="•"/>
            </a:pPr>
            <a:r>
              <a:rPr lang="en-US" b="0" i="0" dirty="0">
                <a:solidFill>
                  <a:srgbClr val="171717"/>
                </a:solidFill>
                <a:effectLst/>
                <a:latin typeface="Segoe UI" panose="020B0502040204020203" pitchFamily="34" charset="0"/>
              </a:rPr>
              <a:t>Create a virtual network with one subnet</a:t>
            </a:r>
          </a:p>
          <a:p>
            <a:pPr algn="l">
              <a:buFont typeface="Arial" panose="020B0604020202020204" pitchFamily="34" charset="0"/>
              <a:buChar char="•"/>
            </a:pPr>
            <a:r>
              <a:rPr lang="en-US" b="0" i="0" dirty="0">
                <a:solidFill>
                  <a:srgbClr val="171717"/>
                </a:solidFill>
                <a:effectLst/>
                <a:latin typeface="Segoe UI" panose="020B0502040204020203" pitchFamily="34" charset="0"/>
              </a:rPr>
              <a:t>Add a subnet and enable a service endpoint</a:t>
            </a:r>
          </a:p>
          <a:p>
            <a:pPr algn="l">
              <a:buFont typeface="Arial" panose="020B0604020202020204" pitchFamily="34" charset="0"/>
              <a:buChar char="•"/>
            </a:pPr>
            <a:r>
              <a:rPr lang="en-US" b="0" i="0" dirty="0">
                <a:solidFill>
                  <a:srgbClr val="171717"/>
                </a:solidFill>
                <a:effectLst/>
                <a:latin typeface="Segoe UI" panose="020B0502040204020203" pitchFamily="34" charset="0"/>
              </a:rPr>
              <a:t>Create an Azure resource and allow network access to it from only a subnet</a:t>
            </a:r>
          </a:p>
          <a:p>
            <a:pPr algn="l">
              <a:buFont typeface="Arial" panose="020B0604020202020204" pitchFamily="34" charset="0"/>
              <a:buChar char="•"/>
            </a:pPr>
            <a:r>
              <a:rPr lang="en-US" b="0" i="0" dirty="0">
                <a:solidFill>
                  <a:srgbClr val="171717"/>
                </a:solidFill>
                <a:effectLst/>
                <a:latin typeface="Segoe UI" panose="020B0502040204020203" pitchFamily="34" charset="0"/>
              </a:rPr>
              <a:t>Deploy a virtual machine (VM) to each subnet</a:t>
            </a:r>
          </a:p>
          <a:p>
            <a:pPr algn="l">
              <a:buFont typeface="Arial" panose="020B0604020202020204" pitchFamily="34" charset="0"/>
              <a:buChar char="•"/>
            </a:pPr>
            <a:r>
              <a:rPr lang="en-US" b="0" i="0" dirty="0">
                <a:solidFill>
                  <a:srgbClr val="171717"/>
                </a:solidFill>
                <a:effectLst/>
                <a:latin typeface="Segoe UI" panose="020B0502040204020203" pitchFamily="34" charset="0"/>
              </a:rPr>
              <a:t>Confirm access to a resource from a subnet</a:t>
            </a:r>
          </a:p>
          <a:p>
            <a:pPr algn="l">
              <a:buFont typeface="Arial" panose="020B0604020202020204" pitchFamily="34" charset="0"/>
              <a:buChar char="•"/>
            </a:pPr>
            <a:r>
              <a:rPr lang="en-US" b="0" i="0" dirty="0">
                <a:solidFill>
                  <a:srgbClr val="171717"/>
                </a:solidFill>
                <a:effectLst/>
                <a:latin typeface="Segoe UI" panose="020B0502040204020203" pitchFamily="34" charset="0"/>
              </a:rPr>
              <a:t>Confirm access is denied to a resource from a subnet and the internet</a:t>
            </a:r>
          </a:p>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2:12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947507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8</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l">
              <a:spcBef>
                <a:spcPts val="0"/>
              </a:spcBef>
              <a:spcAft>
                <a:spcPts val="0"/>
              </a:spcAft>
            </a:pPr>
            <a:r>
              <a:rPr lang="en-US" sz="1800" b="0" i="0" dirty="0">
                <a:solidFill>
                  <a:srgbClr val="201F1E"/>
                </a:solidFill>
                <a:effectLst/>
                <a:latin typeface="Calibri" panose="020F0502020204030204" pitchFamily="34" charset="0"/>
              </a:rPr>
              <a:t> </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4148104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2:12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11810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32742" rtl="0" eaLnBrk="1" fontAlgn="auto" latinLnBrk="0" hangingPunct="1">
              <a:lnSpc>
                <a:spcPct val="90000"/>
              </a:lnSpc>
              <a:spcBef>
                <a:spcPts val="0"/>
              </a:spcBef>
              <a:spcAft>
                <a:spcPts val="340"/>
              </a:spcAft>
              <a:buClrTx/>
              <a:buSzTx/>
              <a:buFontTx/>
              <a:buNone/>
              <a:tabLst/>
              <a:defRPr/>
            </a:pPr>
            <a:r>
              <a:rPr lang="en-US" dirty="0"/>
              <a:t>Private Link Documentation - https://docs.microsoft.com/Azure/private-link/</a:t>
            </a:r>
          </a:p>
          <a:p>
            <a:endParaRPr lang="en-US" dirty="0"/>
          </a:p>
          <a:p>
            <a:pPr algn="l"/>
            <a:r>
              <a:rPr lang="en-US" b="0" i="0" dirty="0">
                <a:solidFill>
                  <a:srgbClr val="171717"/>
                </a:solidFill>
                <a:effectLst/>
                <a:latin typeface="Segoe UI" panose="020B0502040204020203" pitchFamily="34" charset="0"/>
              </a:rPr>
              <a:t>Azure Private Link provides the following benefits:</a:t>
            </a:r>
          </a:p>
          <a:p>
            <a:pPr algn="l">
              <a:buFont typeface="Arial" panose="020B0604020202020204" pitchFamily="34" charset="0"/>
              <a:buChar char="•"/>
            </a:pPr>
            <a:r>
              <a:rPr lang="en-US" b="1" i="0" dirty="0">
                <a:solidFill>
                  <a:srgbClr val="171717"/>
                </a:solidFill>
                <a:effectLst/>
                <a:latin typeface="Segoe UI" panose="020B0502040204020203" pitchFamily="34" charset="0"/>
              </a:rPr>
              <a:t>Privately access services on the Azure platform</a:t>
            </a:r>
            <a:r>
              <a:rPr lang="en-US" b="0" i="0" dirty="0">
                <a:solidFill>
                  <a:srgbClr val="171717"/>
                </a:solidFill>
                <a:effectLst/>
                <a:latin typeface="Segoe UI" panose="020B0502040204020203" pitchFamily="34" charset="0"/>
              </a:rPr>
              <a:t>: Connect your virtual network to services in Azure without a public IP address at the source or destination. Service providers can render their services in their own virtual network and consumers can access those services in their local virtual network. The Private Link platform will handle the connectivity between the consumer and services over the Azure backbone network.</a:t>
            </a:r>
          </a:p>
          <a:p>
            <a:pPr algn="l">
              <a:buFont typeface="Arial" panose="020B0604020202020204" pitchFamily="34" charset="0"/>
              <a:buChar char="•"/>
            </a:pPr>
            <a:r>
              <a:rPr lang="en-US" b="1" i="0" dirty="0">
                <a:solidFill>
                  <a:srgbClr val="171717"/>
                </a:solidFill>
                <a:effectLst/>
                <a:latin typeface="Segoe UI" panose="020B0502040204020203" pitchFamily="34" charset="0"/>
              </a:rPr>
              <a:t>On-premises and peered networks</a:t>
            </a:r>
            <a:r>
              <a:rPr lang="en-US" b="0" i="0" dirty="0">
                <a:solidFill>
                  <a:srgbClr val="171717"/>
                </a:solidFill>
                <a:effectLst/>
                <a:latin typeface="Segoe UI" panose="020B0502040204020203" pitchFamily="34" charset="0"/>
              </a:rPr>
              <a:t>: Access services running in Azure from on-premises over ExpressRoute private peering, VPN tunnels, and peered virtual networks using private endpoints. There's no need to configure ExpressRoute Microsoft peering or traverse the internet to reach the service. Private Link provides a secure way to migrate workloads to Azure.</a:t>
            </a:r>
          </a:p>
          <a:p>
            <a:pPr algn="l">
              <a:buFont typeface="Arial" panose="020B0604020202020204" pitchFamily="34" charset="0"/>
              <a:buChar char="•"/>
            </a:pPr>
            <a:r>
              <a:rPr lang="en-US" b="1" i="0" dirty="0">
                <a:solidFill>
                  <a:srgbClr val="171717"/>
                </a:solidFill>
                <a:effectLst/>
                <a:latin typeface="Segoe UI" panose="020B0502040204020203" pitchFamily="34" charset="0"/>
              </a:rPr>
              <a:t>Protection against data leakage</a:t>
            </a:r>
            <a:r>
              <a:rPr lang="en-US" b="0" i="0" dirty="0">
                <a:solidFill>
                  <a:srgbClr val="171717"/>
                </a:solidFill>
                <a:effectLst/>
                <a:latin typeface="Segoe UI" panose="020B0502040204020203" pitchFamily="34" charset="0"/>
              </a:rPr>
              <a:t>: A private endpoint is mapped to an instance of a PaaS resource instead of the entire service. Consumers can only connect to the specific resource. Access to any other resource in the service is blocked. This mechanism provides protection against data leakage risks.</a:t>
            </a:r>
          </a:p>
          <a:p>
            <a:pPr algn="l">
              <a:buFont typeface="Arial" panose="020B0604020202020204" pitchFamily="34" charset="0"/>
              <a:buChar char="•"/>
            </a:pPr>
            <a:r>
              <a:rPr lang="en-US" b="1" i="0" dirty="0">
                <a:solidFill>
                  <a:srgbClr val="171717"/>
                </a:solidFill>
                <a:effectLst/>
                <a:latin typeface="Segoe UI" panose="020B0502040204020203" pitchFamily="34" charset="0"/>
              </a:rPr>
              <a:t>Global reach</a:t>
            </a:r>
            <a:r>
              <a:rPr lang="en-US" b="0" i="0" dirty="0">
                <a:solidFill>
                  <a:srgbClr val="171717"/>
                </a:solidFill>
                <a:effectLst/>
                <a:latin typeface="Segoe UI" panose="020B0502040204020203" pitchFamily="34" charset="0"/>
              </a:rPr>
              <a:t>: Connect privately to services running in other regions. The consumer's virtual network could be in region A and it can connect to services behind Private Link in region B.</a:t>
            </a:r>
          </a:p>
          <a:p>
            <a:pPr algn="l">
              <a:buFont typeface="Arial" panose="020B0604020202020204" pitchFamily="34" charset="0"/>
              <a:buChar char="•"/>
            </a:pPr>
            <a:r>
              <a:rPr lang="en-US" b="1" i="0" dirty="0">
                <a:solidFill>
                  <a:srgbClr val="171717"/>
                </a:solidFill>
                <a:effectLst/>
                <a:latin typeface="Segoe UI" panose="020B0502040204020203" pitchFamily="34" charset="0"/>
              </a:rPr>
              <a:t>Extend to your own services</a:t>
            </a:r>
            <a:r>
              <a:rPr lang="en-US" b="0" i="0" dirty="0">
                <a:solidFill>
                  <a:srgbClr val="171717"/>
                </a:solidFill>
                <a:effectLst/>
                <a:latin typeface="Segoe UI" panose="020B0502040204020203" pitchFamily="34" charset="0"/>
              </a:rPr>
              <a:t>: Enable the same experience and functionality to render your service privately to consumers in Azure. By placing your service behind a standard Azure Load Balancer, you can enable it for Private Link. The consumer can then connect directly to your service using a private endpoint in their own virtual network. You can manage the connection requests using an approval call flow. Azure Private Link works for consumers and services belonging to different Azure Active Directory tenants.</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35765377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Private Endpoint is the key technology behind Private Link. Private Endpoint is a network interface that enables a private and secure connection between your virtual network and an Azure service. In other words, Private Endpoint is the network interface that replaces the resource's public endpoint.</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Private Link provides secure access to Azure services. Private Link achieves that security by replacing a resource's public endpoint with a private network interface. Private Endpoint uses a private IP address from the VNet to bring the service into the VNet. </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There are three key points to consider with this new architecture: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Azure resource becomes, in a sense, a part of your virtual network.</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connection to the resource now uses the Microsoft Azure backbone network instead of the public internet.</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configure the Azure resource to no longer expose its public IP address, which eliminates that potential security risk</a:t>
            </a:r>
          </a:p>
          <a:p>
            <a:pPr marL="342900" marR="0" lvl="0" indent="-342900">
              <a:spcBef>
                <a:spcPts val="0"/>
              </a:spcBef>
              <a:spcAft>
                <a:spcPts val="1000"/>
              </a:spcAft>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1000"/>
              </a:spcAft>
              <a:buFont typeface="Symbol" panose="05050102010706020507" pitchFamily="18" charset="2"/>
              <a:buChar cha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Another diagram to show private endpoint: https://docs.microsoft.com/azure/virtual-network/vnet-integration-for-azure-services#private-link-and-private-endpoints</a:t>
            </a:r>
          </a:p>
          <a:p>
            <a:endParaRPr lang="en-US"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357653771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Private Link service is the reference to your own service that is powered by Azure Private Link. Your service that is running behind Azure standard load balancer can be enabled for Private Link access so that consumers to your service can access it privately from their own VNets. Your customers can create a private endpoint inside their VNet and map it to this service. A Private Link service receives connections from multiple private endpoints. A private endpoint connects to one Private Link service.</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13</a:t>
            </a:fld>
            <a:endParaRPr lang="en-US" dirty="0"/>
          </a:p>
        </p:txBody>
      </p:sp>
    </p:spTree>
    <p:extLst>
      <p:ext uri="{BB962C8B-B14F-4D97-AF65-F5344CB8AC3E}">
        <p14:creationId xmlns:p14="http://schemas.microsoft.com/office/powerpoint/2010/main" val="12120136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What is Azure Private Link service? | Microsoft Docs</a:t>
            </a:r>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14</a:t>
            </a:fld>
            <a:endParaRPr lang="en-US" dirty="0"/>
          </a:p>
        </p:txBody>
      </p:sp>
    </p:spTree>
    <p:extLst>
      <p:ext uri="{BB962C8B-B14F-4D97-AF65-F5344CB8AC3E}">
        <p14:creationId xmlns:p14="http://schemas.microsoft.com/office/powerpoint/2010/main" val="15131173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Before creating a Private Endpoint, you should consider the Private Endpoint properties and collect data about specific needs to be addressed. These include: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unique name with a resource group</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subnet to deploy and allocate private IP addresses from a virtual network</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Private Link resource to connect using resource ID or alias, from the list of available types. A unique network identifier will be generated for all traffic sent to this resource.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sub resource to connect. Each Private Link resource type has different options to select based on preference.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An automatic or manual connection approval method. Based on Azure role-based access control (Azure RBAC) permissions, your Private Endpoint can be approved automatically. If you try to connect to a Private Link resource without Azure RBAC, use the manual method to allow the owner of the resource to approve the connection.</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 specific request message for requested connections to be approved manually. This message can be used to identify a specific request.</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Connection status, A read-only property that specifies if the Private Endpoint is active. Only Private Endpoints in an approved state can be used to send traffic.</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15</a:t>
            </a:fld>
            <a:endParaRPr lang="en-US" dirty="0"/>
          </a:p>
        </p:txBody>
      </p:sp>
    </p:spTree>
    <p:extLst>
      <p:ext uri="{BB962C8B-B14F-4D97-AF65-F5344CB8AC3E}">
        <p14:creationId xmlns:p14="http://schemas.microsoft.com/office/powerpoint/2010/main" val="37683518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Quickstart - Create a Private Link service by using the Azure portal | Microsoft Docs</a:t>
            </a:r>
            <a:endParaRPr lang="en-US" dirty="0"/>
          </a:p>
          <a:p>
            <a:r>
              <a:rPr lang="en-US" dirty="0">
                <a:hlinkClick r:id="rId4"/>
              </a:rPr>
              <a:t>https://docs.microsoft.com/azure/private-link/create-private-link-service-portal</a:t>
            </a:r>
          </a:p>
          <a:p>
            <a:endParaRPr lang="en-US" dirty="0">
              <a:hlinkClick r:id="rId4"/>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Additional demos: Private endpoint </a:t>
            </a:r>
          </a:p>
          <a:p>
            <a:endParaRPr lang="en-US" dirty="0">
              <a:hlinkClick r:id="rId4"/>
            </a:endParaRPr>
          </a:p>
          <a:p>
            <a:r>
              <a:rPr lang="en-US" dirty="0">
                <a:hlinkClick r:id="rId4"/>
              </a:rPr>
              <a:t>Quickstart - Create a Private Endpoint using the Azure portal | Microsoft Docs</a:t>
            </a:r>
            <a:endParaRPr lang="en-US" dirty="0"/>
          </a:p>
          <a:p>
            <a:endParaRPr lang="en-US" dirty="0"/>
          </a:p>
          <a:p>
            <a:r>
              <a:rPr lang="en-US" dirty="0"/>
              <a:t>https://docs.microsoft.com/azure/private-link/create-private-endpoint-portal</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16</a:t>
            </a:fld>
            <a:endParaRPr lang="en-US" dirty="0"/>
          </a:p>
        </p:txBody>
      </p:sp>
    </p:spTree>
    <p:extLst>
      <p:ext uri="{BB962C8B-B14F-4D97-AF65-F5344CB8AC3E}">
        <p14:creationId xmlns:p14="http://schemas.microsoft.com/office/powerpoint/2010/main" val="12637169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https://docs.microsoft.com/Azure/private-link/private-link-overview</a:t>
            </a:r>
          </a:p>
          <a:p>
            <a:endParaRPr lang="en-US" dirty="0"/>
          </a:p>
          <a:p>
            <a:r>
              <a:rPr lang="en-US" dirty="0"/>
              <a:t>https://docs.microsoft.com/Azure/private-link/private-endpoint-overview</a:t>
            </a:r>
          </a:p>
        </p:txBody>
      </p:sp>
      <p:sp>
        <p:nvSpPr>
          <p:cNvPr id="4" name="Slide Number Placeholder 3"/>
          <p:cNvSpPr>
            <a:spLocks noGrp="1"/>
          </p:cNvSpPr>
          <p:nvPr>
            <p:ph type="sldNum" sz="quarter" idx="5"/>
          </p:nvPr>
        </p:nvSpPr>
        <p:spPr/>
        <p:txBody>
          <a:bodyPr/>
          <a:lstStyle/>
          <a:p>
            <a:fld id="{8507DC7E-BC41-4478-BA30-CBCC3A644F0A}" type="slidenum">
              <a:rPr lang="en-US" smtClean="0"/>
              <a:t>17</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11"/>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dirty="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C9F26854-F9AE-4E32-B2A5-59EE421C280D}"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4/25/2022 2:12 PM</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13"/>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37118103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Private DNS zones are typically hosted centrally in the same Azure subscription where the hub VNet is deployed. This central hosting practice is driven by cross-premises DNS name resolution and other needs for central DNS resolution such as Active Directory. In most cases, only networking/identity admins have permissions to manage DNS records in these zones.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Application teams do have permissions to create Azure resource in their own subscription. They do not have any permissions in the central networking connectivity subscription, which includes managing DNS records in the private DNS zones. This access limitation means they do not have the possibility to create the DNS records required when deploying Azure PaaS services with Private Endpoints.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following diagram shows a typical high-level architecture for enterprise environments with central DNS resolution and where name resolution for Private Link resources is done via Azure Private DNS:</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From the previous diagram, it is important to highlight that:</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On-premises DNS servers have conditional forwarders configured for each Private Endpoint public DNS zone forwarder pointing to the DNS forwarders (10.100.2.4 and 10.100.2.5) hosted in the hub VNet.</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DNS servers 10.100.2.4 and 10.100.2.5 hosted in the hub VNet use the Azure-provided DNS resolver (168.63.129.16) as a forwarder.</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All Azure VNets have the DNS forwarders (10.100.2.4 and 10.100.2.5) configured as the primary and secondary DNS servers.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are two conditions that must be true to allow application teams the freedom to create any required Azure PaaS resources in their subscription:</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Central networking and/or central platform team must ensure that application teams can only deploy and access Azure PaaS services via Private Endpoints.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Central networking and/or central platform teams must ensure that whenever Private Endpoints are created, the corresponding records are automatically created in the centralized private DNS zone that matches the service created.</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DNS record needs to follow the lifecycle of the Private Endpoint and automatically remove the DNS record when the Private Endpoint is deleted.</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20</a:t>
            </a:fld>
            <a:endParaRPr lang="en-US" dirty="0"/>
          </a:p>
        </p:txBody>
      </p:sp>
    </p:spTree>
    <p:extLst>
      <p:ext uri="{BB962C8B-B14F-4D97-AF65-F5344CB8AC3E}">
        <p14:creationId xmlns:p14="http://schemas.microsoft.com/office/powerpoint/2010/main" val="6827253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IP is not accessible from on prem networks  </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IP address 168.63.129.16 is a virtual public IP address that is used to facilitate a communication channel to Azure platform resources. Customers can define any address space for their private virtual network in Azure. The Azure platform resources must be presented as a unique public IP address. This virtual public IP address facilitates the following things: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Enables the VM Agent to communicate with the Azure platform to signal that it is in a "Ready" state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Enables communication with the DNS virtual server to provide filtered name resolution to the resources (such as VM) that do not have a custom DNS server. This filtering makes sure that customers can resolve only the hostnames of their resources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Enables health probes from Azure load balancer to determine the health state of VMs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Enables the VM to obtain a dynamic IP address from the DHCP service in Azure</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Enables Guest Agent heartbeat messages for the PaaS role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 a non-virtual network scenario (Classic), a private IP address is used instead of 168.63.129.16. This private IP address is dynamically discovered through DHCP. Firewall rules specific to 168.63.129.16 need to be adjusted as appropriate.</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21</a:t>
            </a:fld>
            <a:endParaRPr lang="en-US" dirty="0"/>
          </a:p>
        </p:txBody>
      </p:sp>
    </p:spTree>
    <p:extLst>
      <p:ext uri="{BB962C8B-B14F-4D97-AF65-F5344CB8AC3E}">
        <p14:creationId xmlns:p14="http://schemas.microsoft.com/office/powerpoint/2010/main" val="2411897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lang="en-US" sz="1800" u="none" strike="noStrike" dirty="0">
                <a:effectLst/>
              </a:rPr>
              <a:t>privatelink.[Service].core.windows.net – [add any service ]</a:t>
            </a:r>
            <a:endParaRPr lang="en-US" sz="1800" b="0" i="0" u="none" strike="noStrike" dirty="0">
              <a:effectLst/>
              <a:latin typeface="Arial" panose="020B0604020202020204" pitchFamily="34"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creates a canonical name DNS record (CNAME) on the public DNS. The CNAME record redirects the resolution to the private domain name. You can override the resolution with the private IP address of your Private Endpoints.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Your applications don't need to change the connection URL. When resolving to a public DNS service, the DNS server will resolve to your Private Endpoints. The process doesn't affect your existing applications.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Private networks already using the private DNS zone for a given type, can only connect to public resources if they don't have any Private Endpoint connections, otherwise a corresponding DNS configuration is required on the private DNS zone in order to complete the DNS resolution sequence.</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22</a:t>
            </a:fld>
            <a:endParaRPr lang="en-US" dirty="0"/>
          </a:p>
        </p:txBody>
      </p:sp>
    </p:spTree>
    <p:extLst>
      <p:ext uri="{BB962C8B-B14F-4D97-AF65-F5344CB8AC3E}">
        <p14:creationId xmlns:p14="http://schemas.microsoft.com/office/powerpoint/2010/main" val="381731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fr-FR" sz="2800" dirty="0">
                <a:hlinkClick r:id="rId3"/>
              </a:rPr>
              <a:t>Azure Private Endpoint DNS configuration | Microsoft Docs</a:t>
            </a:r>
            <a:endParaRPr lang="fr-FR" sz="2800" dirty="0"/>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configuration is appropriate for virtual network workloads without a custom DNS server. In this scenario, the client queries for the Private Endpoint IP address to the Azure-provided DNS service 168.63.129.16. Azure DNS will be responsible for DNS resolution of the private DNS zones.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scenario uses the Azure SQL Database-recommended private DNS zone. For other services, you can adjust the model using the following reference: Azure services DNS zone configuration.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To configure properly, you need the following resources: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Client virtual network</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Private DNS zone privatelink.database.windows.net with type A record</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Private Endpoint information (FQDN record name and private IP address)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following screenshot illustrates the DNS resolution sequence from virtual network workloads using the private DNS zone:</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23</a:t>
            </a:fld>
            <a:endParaRPr lang="en-US" dirty="0"/>
          </a:p>
        </p:txBody>
      </p:sp>
    </p:spTree>
    <p:extLst>
      <p:ext uri="{BB962C8B-B14F-4D97-AF65-F5344CB8AC3E}">
        <p14:creationId xmlns:p14="http://schemas.microsoft.com/office/powerpoint/2010/main" val="3035448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fr-FR" sz="2800" dirty="0">
                <a:hlinkClick r:id="rId3"/>
              </a:rPr>
              <a:t>Azure Private Endpoint DNS configuration | Microsoft Docs</a:t>
            </a:r>
            <a:endParaRPr lang="en-US" sz="1800" dirty="0">
              <a:effectLst/>
              <a:latin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on-premises workloads to resolve the FQDN of a Private Endpoint, use a DNS forwarder to resolve the Azure service public DNS zone in Azure. A DNS forwarder is a Virtual Machine running on the Virtual Network linked to the Private DNS Zone that can proxy DNS queries coming from other Virtual Networks or from on-premises. This is required as the query must be originated from the Virtual Network to Azure DNS. A few options for DNS proxies are: Windows running DNS services, Linux running DNS services, Azure Firewall.</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following scenario is for an on-premises network that has a DNS forwarder in Azure. This forwarder resolves DNS queries via a server-level forwarder to the Azure provided DNS </a:t>
            </a:r>
            <a:r>
              <a:rPr lang="en-US" sz="1800" b="0" dirty="0">
                <a:solidFill>
                  <a:srgbClr val="C00000"/>
                </a:solidFill>
                <a:effectLst/>
                <a:latin typeface="Consolas" panose="020B0609020204030204" pitchFamily="49" charset="0"/>
                <a:ea typeface="Calibri" panose="020F0502020204030204" pitchFamily="34" charset="0"/>
                <a:cs typeface="Times New Roman" panose="02020603050405020304" pitchFamily="18" charset="0"/>
              </a:rPr>
              <a:t>168.63.129.16</a:t>
            </a:r>
            <a:r>
              <a:rPr lang="en-US" sz="1800" dirty="0">
                <a:effectLst/>
                <a:latin typeface="Calibri" panose="020F0502020204030204" pitchFamily="34" charset="0"/>
                <a:ea typeface="Calibri" panose="020F0502020204030204" pitchFamily="34" charset="0"/>
                <a:cs typeface="Times New Roman" panose="02020603050405020304" pitchFamily="18" charset="0"/>
              </a:rPr>
              <a:t>.</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scenario uses the Azure SQL Database-recommended private DNS zone. For other services, you can adjust the model using the following reference: Azure services DNS zone configuration.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To configure properly, you need the following resources: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On-premises network</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Virtual network connected to on-premises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DNS forwarder deployed in Azure </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Private DNS zones privatelink.database.windows.net with type A record</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Private Endpoint information (FQDN record name and private IP address)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following diagram illustrates the DNS resolution sequence from an on-premises network. The configuration uses a DNS forwarder deployed in Azure. The resolution is made by a private DNS zone linked to a virtual network:</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24</a:t>
            </a:fld>
            <a:endParaRPr lang="en-US" dirty="0"/>
          </a:p>
        </p:txBody>
      </p:sp>
    </p:spTree>
    <p:extLst>
      <p:ext uri="{BB962C8B-B14F-4D97-AF65-F5344CB8AC3E}">
        <p14:creationId xmlns:p14="http://schemas.microsoft.com/office/powerpoint/2010/main" val="37188317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fr-FR" sz="2800" dirty="0">
                <a:hlinkClick r:id="rId3"/>
              </a:rPr>
              <a:t>Azure Private Endpoint DNS configuration | Microsoft Docs</a:t>
            </a:r>
            <a:endParaRPr lang="fr-FR" sz="2800" dirty="0"/>
          </a:p>
          <a:p>
            <a:pPr marL="0" marR="0">
              <a:spcBef>
                <a:spcPts val="0"/>
              </a:spcBef>
              <a:spcAft>
                <a:spcPts val="1000"/>
              </a:spcAft>
            </a:pPr>
            <a:endParaRPr lang="fr-FR"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For workloads accessing a Private Endpoint from virtual and on-premises networks, use a DNS forwarder to resolve the Azure service public DNS zone deployed in Azure.</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following scenario is for an on-premises network with virtual networks in Azure. Both networks access the Private Endpoint located in a shared hub network.</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DNS forwarder is responsible for resolving all the DNS queries via a server-level forwarder to the Azure-provided DNS service 168.63.129.16.</a:t>
            </a:r>
          </a:p>
          <a:p>
            <a:pPr marL="0" marR="0">
              <a:spcBef>
                <a:spcPts val="0"/>
              </a:spcBef>
              <a:spcAft>
                <a:spcPts val="1000"/>
              </a:spcAft>
            </a:pPr>
            <a:r>
              <a:rPr lang="en-US" sz="1800" dirty="0">
                <a:solidFill>
                  <a:srgbClr val="FF0000"/>
                </a:solidFill>
                <a:effectLst/>
                <a:latin typeface="Segoe UI Semibold" panose="020B0702040204020203" pitchFamily="34" charset="0"/>
                <a:ea typeface="Calibri" panose="020F0502020204030204" pitchFamily="34" charset="0"/>
                <a:cs typeface="Times New Roman" panose="02020603050405020304" pitchFamily="18" charset="0"/>
              </a:rPr>
              <a:t>A single private DNS zone is required for this configuration. All client connections made from on-premises and peered virtual networks must also use the same private DNS zone.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This scenario uses the Azure SQL Database-recommended private DNS zone. For other services, you can adjust the model using the following reference: Azure services DNS zone configuration.</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To configure properly, you need the following resources: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On-premises network</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Virtual network connected to on-premises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Peered virtual network </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DNS forwarder deployed in Azure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Private DNS zones privatelink.database.windows.net  with type A record</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Private Endpoint information (FQDN record name and private IP address)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following diagram shows the DNS resolution for both networks, on-premises and virtual networks. The resolution is using a DNS forwarder. The resolution is made by a private DNS zone linked to a virtual network:</a:t>
            </a:r>
          </a:p>
        </p:txBody>
      </p:sp>
      <p:sp>
        <p:nvSpPr>
          <p:cNvPr id="4" name="Slide Number Placeholder 3"/>
          <p:cNvSpPr>
            <a:spLocks noGrp="1"/>
          </p:cNvSpPr>
          <p:nvPr>
            <p:ph type="sldNum" sz="quarter" idx="5"/>
          </p:nvPr>
        </p:nvSpPr>
        <p:spPr/>
        <p:txBody>
          <a:bodyPr/>
          <a:lstStyle/>
          <a:p>
            <a:fld id="{89B9185C-5C72-45C2-88F0-D7DF9039278A}" type="slidenum">
              <a:rPr lang="en-US" smtClean="0"/>
              <a:t>25</a:t>
            </a:fld>
            <a:endParaRPr lang="en-US" dirty="0"/>
          </a:p>
        </p:txBody>
      </p:sp>
    </p:spTree>
    <p:extLst>
      <p:ext uri="{BB962C8B-B14F-4D97-AF65-F5344CB8AC3E}">
        <p14:creationId xmlns:p14="http://schemas.microsoft.com/office/powerpoint/2010/main" val="371883177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 - https://docs.microsoft.com/learn/browse/</a:t>
            </a:r>
          </a:p>
          <a:p>
            <a:endParaRPr lang="en-US" dirty="0"/>
          </a:p>
          <a:p>
            <a:r>
              <a:rPr lang="en-US" dirty="0"/>
              <a:t>Control and organize Azure resources with Azure Resource Manager - https://docs.microsoft.com/learn/modules/control-and-organize-with-Azure-resource-manager/</a:t>
            </a:r>
          </a:p>
          <a:p>
            <a:r>
              <a:rPr lang="en-US" dirty="0"/>
              <a:t>Describe core Azure architectural components - https://docs.microsoft.com/learn/modules/Azure-architecture-fundamentals/</a:t>
            </a:r>
          </a:p>
          <a:p>
            <a:endParaRPr lang="en-US" dirty="0"/>
          </a:p>
          <a:p>
            <a:r>
              <a:rPr lang="en-US" dirty="0"/>
              <a:t>References</a:t>
            </a:r>
          </a:p>
          <a:p>
            <a:r>
              <a:rPr lang="en-US" dirty="0"/>
              <a:t>What are Management Groups - https://docs.microsoft.com/Azure/governance/management-groups/overview</a:t>
            </a:r>
          </a:p>
          <a:p>
            <a:r>
              <a:rPr lang="en-US" dirty="0"/>
              <a:t>What is Azure Resource Manager - https://docs.microsoft.com/Azure/Azure-resource-manager/management/overview</a:t>
            </a:r>
          </a:p>
        </p:txBody>
      </p:sp>
      <p:sp>
        <p:nvSpPr>
          <p:cNvPr id="4" name="Slide Number Placeholder 3"/>
          <p:cNvSpPr>
            <a:spLocks noGrp="1"/>
          </p:cNvSpPr>
          <p:nvPr>
            <p:ph type="sldNum" sz="quarter" idx="5"/>
          </p:nvPr>
        </p:nvSpPr>
        <p:spPr/>
        <p:txBody>
          <a:bodyPr/>
          <a:lstStyle/>
          <a:p>
            <a:fld id="{8507DC7E-BC41-4478-BA30-CBCC3A644F0A}" type="slidenum">
              <a:rPr lang="en-US" smtClean="0"/>
              <a:t>26</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hlinkClick r:id="rId3"/>
              </a:rPr>
              <a:t>AZ-700-Designing-and-Implementing-Microsoft-Azure-Networking-Solutions (microsoftlearning.github.io)</a:t>
            </a:r>
            <a:endParaRPr lang="en-US" dirty="0"/>
          </a:p>
          <a:p>
            <a:endParaRPr lang="en-US" dirty="0"/>
          </a:p>
          <a:p>
            <a:r>
              <a:rPr lang="en-US" dirty="0"/>
              <a:t>https://microsoftlearning.github.io/AZ-700-Designing-and-Implementing-Microsoft-Azure-Networking-Solutions/</a:t>
            </a:r>
          </a:p>
        </p:txBody>
      </p:sp>
      <p:sp>
        <p:nvSpPr>
          <p:cNvPr id="4" name="Slide Number Placeholder 3"/>
          <p:cNvSpPr>
            <a:spLocks noGrp="1"/>
          </p:cNvSpPr>
          <p:nvPr>
            <p:ph type="sldNum" sz="quarter" idx="5"/>
          </p:nvPr>
        </p:nvSpPr>
        <p:spPr/>
        <p:txBody>
          <a:bodyPr/>
          <a:lstStyle/>
          <a:p>
            <a:fld id="{89B9185C-5C72-45C2-88F0-D7DF9039278A}" type="slidenum">
              <a:rPr lang="en-US" smtClean="0"/>
              <a:t>28</a:t>
            </a:fld>
            <a:endParaRPr lang="en-US" dirty="0"/>
          </a:p>
        </p:txBody>
      </p:sp>
    </p:spTree>
    <p:extLst>
      <p:ext uri="{BB962C8B-B14F-4D97-AF65-F5344CB8AC3E}">
        <p14:creationId xmlns:p14="http://schemas.microsoft.com/office/powerpoint/2010/main" val="37710434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29</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https://microsoftlearning.github.io/AZ-700-Designing-and-Implementing-Microsoft-Azure-Networking-Solutions/</a:t>
            </a:r>
          </a:p>
          <a:p>
            <a:br>
              <a:rPr lang="en-US" dirty="0"/>
            </a:br>
            <a:r>
              <a:rPr lang="en-US" dirty="0"/>
              <a:t>Task 1: Create a resource groupTask 2: Create a virtual network and bastion hostTask 3: Create a test virtual machineTask 4: Create a Private EndpointTask 5: Configure the private DNS zoneTask 6: Test connectivity to the Private EndpointTask 7: Clean up resources</a:t>
            </a:r>
          </a:p>
        </p:txBody>
      </p:sp>
      <p:sp>
        <p:nvSpPr>
          <p:cNvPr id="4" name="Slide Number Placeholder 3"/>
          <p:cNvSpPr>
            <a:spLocks noGrp="1"/>
          </p:cNvSpPr>
          <p:nvPr>
            <p:ph type="sldNum" sz="quarter" idx="5"/>
          </p:nvPr>
        </p:nvSpPr>
        <p:spPr/>
        <p:txBody>
          <a:bodyPr/>
          <a:lstStyle/>
          <a:p>
            <a:fld id="{89B9185C-5C72-45C2-88F0-D7DF9039278A}" type="slidenum">
              <a:rPr lang="en-US" smtClean="0"/>
              <a:t>31</a:t>
            </a:fld>
            <a:endParaRPr lang="en-US" dirty="0"/>
          </a:p>
        </p:txBody>
      </p:sp>
    </p:spTree>
    <p:extLst>
      <p:ext uri="{BB962C8B-B14F-4D97-AF65-F5344CB8AC3E}">
        <p14:creationId xmlns:p14="http://schemas.microsoft.com/office/powerpoint/2010/main" val="81686665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32</a:t>
            </a:fld>
            <a:endParaRPr lang="en-US" dirty="0"/>
          </a:p>
        </p:txBody>
      </p:sp>
    </p:spTree>
    <p:extLst>
      <p:ext uri="{BB962C8B-B14F-4D97-AF65-F5344CB8AC3E}">
        <p14:creationId xmlns:p14="http://schemas.microsoft.com/office/powerpoint/2010/main" val="29526231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Configure VNet integration for dedicated platform as a service (PaaS) services</a:t>
            </a:r>
          </a:p>
          <a:p>
            <a:r>
              <a:rPr lang="en-US" dirty="0"/>
              <a:t>  configure App Service for regional VNet integration</a:t>
            </a:r>
          </a:p>
          <a:p>
            <a:r>
              <a:rPr lang="en-US" dirty="0"/>
              <a:t>  configure Azure Kubernetes Service (AKS) for regional VNet integration </a:t>
            </a:r>
          </a:p>
          <a:p>
            <a:r>
              <a:rPr lang="en-US" dirty="0"/>
              <a:t> configure clients to access App Service Environment</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33</a:t>
            </a:fld>
            <a:endParaRPr lang="en-US" dirty="0"/>
          </a:p>
        </p:txBody>
      </p:sp>
    </p:spTree>
    <p:extLst>
      <p:ext uri="{BB962C8B-B14F-4D97-AF65-F5344CB8AC3E}">
        <p14:creationId xmlns:p14="http://schemas.microsoft.com/office/powerpoint/2010/main" val="26155271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Header Placeholder 3"/>
          <p:cNvSpPr>
            <a:spLocks noGrp="1"/>
          </p:cNvSpPr>
          <p:nvPr>
            <p:ph type="hdr" sz="quarter"/>
          </p:nvPr>
        </p:nvSpPr>
        <p:spPr/>
        <p:txBody>
          <a:bodyPr/>
          <a:lstStyle/>
          <a:p>
            <a:endParaRPr lang="en-US" dirty="0"/>
          </a:p>
        </p:txBody>
      </p:sp>
      <p:sp>
        <p:nvSpPr>
          <p:cNvPr id="5" name="Footer Placeholder 4"/>
          <p:cNvSpPr>
            <a:spLocks noGrp="1"/>
          </p:cNvSpPr>
          <p:nvPr>
            <p:ph type="ftr" sz="quarter" idx="4"/>
          </p:nvPr>
        </p:nvSpPr>
        <p:spPr/>
        <p:txBody>
          <a:body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34</a:t>
            </a:fld>
            <a:endParaRPr lang="en-US" dirty="0"/>
          </a:p>
        </p:txBody>
      </p:sp>
    </p:spTree>
    <p:extLst>
      <p:ext uri="{BB962C8B-B14F-4D97-AF65-F5344CB8AC3E}">
        <p14:creationId xmlns:p14="http://schemas.microsoft.com/office/powerpoint/2010/main" val="33398155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lang="en-US" sz="2800" dirty="0">
                <a:solidFill>
                  <a:schemeClr val="tx1"/>
                </a:solidFill>
              </a:rPr>
              <a:t>VNet Integration gives your app access to resources in your VNet, but it doesn't grant inbound private access to your app from the Vnet (subnet delegation ) </a:t>
            </a:r>
          </a:p>
          <a:p>
            <a:pPr marL="0" marR="0" lvl="0" indent="0" algn="l" defTabSz="914400" rtl="0" eaLnBrk="1" fontAlgn="auto" latinLnBrk="0" hangingPunct="1">
              <a:lnSpc>
                <a:spcPct val="100000"/>
              </a:lnSpc>
              <a:spcBef>
                <a:spcPts val="0"/>
              </a:spcBef>
              <a:spcAft>
                <a:spcPts val="1000"/>
              </a:spcAft>
              <a:buClrTx/>
              <a:buSzTx/>
              <a:buFontTx/>
              <a:buNone/>
              <a:tabLst/>
              <a:defRPr/>
            </a:pPr>
            <a:r>
              <a:rPr lang="en-US" sz="2800" dirty="0">
                <a:solidFill>
                  <a:schemeClr val="tx1"/>
                </a:solidFill>
              </a:rPr>
              <a:t>Using Private Link to access a specific instance of the service from your virtual network and from on-premises networks.</a:t>
            </a:r>
          </a:p>
          <a:p>
            <a:pPr marL="0" marR="0" lvl="0" indent="0" algn="l" defTabSz="914400" rtl="0" eaLnBrk="1" fontAlgn="auto" latinLnBrk="0" hangingPunct="1">
              <a:lnSpc>
                <a:spcPct val="100000"/>
              </a:lnSpc>
              <a:spcBef>
                <a:spcPts val="0"/>
              </a:spcBef>
              <a:spcAft>
                <a:spcPts val="1000"/>
              </a:spcAft>
              <a:buClrTx/>
              <a:buSzTx/>
              <a:buFontTx/>
              <a:buNone/>
              <a:tabLst/>
              <a:defRPr/>
            </a:pPr>
            <a:r>
              <a:rPr lang="en-US" sz="2800" dirty="0">
                <a:solidFill>
                  <a:schemeClr val="tx1"/>
                </a:solidFill>
              </a:rPr>
              <a:t>Using public endpoints by extending a virtual network to the service, through Service Endpoints. Service Endpoints allow service resources to be secured to the virtual network.</a:t>
            </a:r>
          </a:p>
          <a:p>
            <a:pPr marL="0" marR="0">
              <a:spcBef>
                <a:spcPts val="0"/>
              </a:spcBef>
              <a:spcAft>
                <a:spcPts val="1000"/>
              </a:spcAft>
            </a:pPr>
            <a:endParaRPr lang="en-US" sz="2800" dirty="0">
              <a:hlinkClick r:id="rId3"/>
            </a:endParaRPr>
          </a:p>
          <a:p>
            <a:pPr marL="0" marR="0">
              <a:spcBef>
                <a:spcPts val="0"/>
              </a:spcBef>
              <a:spcAft>
                <a:spcPts val="1000"/>
              </a:spcAft>
            </a:pPr>
            <a:endParaRPr lang="en-US" sz="2800" dirty="0">
              <a:hlinkClick r:id="rId3"/>
            </a:endParaRPr>
          </a:p>
          <a:p>
            <a:pPr marL="0" marR="0">
              <a:spcBef>
                <a:spcPts val="0"/>
              </a:spcBef>
              <a:spcAft>
                <a:spcPts val="1000"/>
              </a:spcAft>
            </a:pPr>
            <a:endParaRPr lang="en-US" sz="2800" dirty="0">
              <a:hlinkClick r:id="rId3"/>
            </a:endParaRPr>
          </a:p>
          <a:p>
            <a:pPr marL="0" marR="0">
              <a:spcBef>
                <a:spcPts val="0"/>
              </a:spcBef>
              <a:spcAft>
                <a:spcPts val="1000"/>
              </a:spcAft>
            </a:pPr>
            <a:r>
              <a:rPr lang="en-US" sz="2800" dirty="0">
                <a:hlinkClick r:id="rId3"/>
              </a:rPr>
              <a:t>Integrate app with Azure Virtual Network - Azure App Service | Microsoft Docs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Integrating Azure services to an Azure virtual network enables private access to the service from virtual machines or compute resources in the virtual network. You can integrate Azure services in your virtual network with the following options: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Deploying dedicated instances of the service into a virtual network. The services can then be privately accessed within the virtual network and from on-premises networks.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Using Private Link to access privately a specific instance of the service from your virtual network and from on-premises networks.</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You can also access the service using public endpoints by extending a virtual network to the service, through Service Endpoints. Service Endpoints allow service resources to be secured to the virtual network.</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35</a:t>
            </a:fld>
            <a:endParaRPr lang="en-US" dirty="0"/>
          </a:p>
        </p:txBody>
      </p:sp>
    </p:spTree>
    <p:extLst>
      <p:ext uri="{BB962C8B-B14F-4D97-AF65-F5344CB8AC3E}">
        <p14:creationId xmlns:p14="http://schemas.microsoft.com/office/powerpoint/2010/main" val="10921545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With Azure Virtual Network (VNets), you can place many of your Azure resources in a non-internet-routable network. The VNet Integration feature enables your apps to access resources in or through a VNet. VNet Integration doesn't enable your apps to be accessed privately.</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Azure App Service has two variations on the VNet Integration feature: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multitenant systems that support the full range of pricing plans except Isolated.</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App Service Environment, which deploys into your VNet and supports Isolated pricing plan apps.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VNet Integration feature is used in multitenant apps. If your app is in App Service Environment, then it's already in a VNet and doesn't require use of the VNet Integration feature to reach resources in the same VNet. For more information on all the networking features, see App Service networking features.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VNet Integration gives your app access to resources in your VNet, but it doesn't grant inbound private access to your app from the VNet. Private site access refers to making an app accessible only from a private network, such as from within an Azure virtual network. VNet Integration is used only to make outbound calls from your app into your VNet. The VNet Integration feature behaves differently when it's used with VNet in the same region and with VNet in other regions. The VNet Integration feature has two variations: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Regional VNet Integration: When you connect to Azure Resource Manager virtual networks in the same region, you must have a dedicated subnet in the VNet you are integrating with.</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Gateway-required VNet Integration: When you connect to VNet in other regions or to a classic virtual network in the same region, you need an Azure Virtual Network gateway provisioned in the target VNet.</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VNet Integration features: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Require a Standard, Premium, PremiumV2, PremiumV3, or Elastic Premium pricing plan.</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Support TCP and UDP.</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Work with Azure App Service apps and function apps.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 are some things that VNet Integration does not support, like: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Mounting a drive.</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Active Directory integration.</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NetBIOS.</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36</a:t>
            </a:fld>
            <a:endParaRPr lang="en-US" dirty="0"/>
          </a:p>
        </p:txBody>
      </p:sp>
    </p:spTree>
    <p:extLst>
      <p:ext uri="{BB962C8B-B14F-4D97-AF65-F5344CB8AC3E}">
        <p14:creationId xmlns:p14="http://schemas.microsoft.com/office/powerpoint/2010/main" val="20579081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Demo will have app service with vnet integration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drop-down list contains all of the Azure Resource Manager virtual networks in your subscription in the same region. Underneath that is a list of the Resource Manager virtual networks in all other regions. Select the VNet you want to integrate with.</a:t>
            </a:r>
          </a:p>
          <a:p>
            <a:endParaRPr lang="en-US" dirty="0"/>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If the VNet is in the same region, either create a new subnet or select an empty preexisting subnet.</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To select a VNet in another region, you must have a VNet gateway provisioned with point to site enabled.</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To integrate with a classic VNet, instead of selecting the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Virtual Network</a:t>
            </a:r>
            <a:r>
              <a:rPr lang="en-US" sz="1800" dirty="0">
                <a:effectLst/>
                <a:latin typeface="Calibri" panose="020F0502020204030204" pitchFamily="34" charset="0"/>
                <a:ea typeface="Calibri" panose="020F0502020204030204" pitchFamily="34" charset="0"/>
                <a:cs typeface="Times New Roman" panose="02020603050405020304" pitchFamily="18" charset="0"/>
              </a:rPr>
              <a:t> drop-down list, select </a:t>
            </a:r>
            <a:r>
              <a:rPr lang="en-US" sz="1800" b="1" dirty="0">
                <a:effectLst/>
                <a:latin typeface="Calibri" panose="020F0502020204030204" pitchFamily="34" charset="0"/>
                <a:ea typeface="Calibri" panose="020F0502020204030204" pitchFamily="34" charset="0"/>
                <a:cs typeface="Times New Roman" panose="02020603050405020304" pitchFamily="18" charset="0"/>
              </a:rPr>
              <a:t>Click here to connect to a Classic VNet</a:t>
            </a:r>
            <a:r>
              <a:rPr lang="en-US" sz="1800" dirty="0">
                <a:effectLst/>
                <a:latin typeface="Calibri" panose="020F0502020204030204" pitchFamily="34" charset="0"/>
                <a:ea typeface="Calibri" panose="020F0502020204030204" pitchFamily="34" charset="0"/>
                <a:cs typeface="Times New Roman" panose="02020603050405020304" pitchFamily="18" charset="0"/>
              </a:rPr>
              <a:t>. Select the classic virtual network you want. The target VNet must already have a Virtual Network gateway provisioned with point-to-site enabled.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During the integration, your app is restarted. When integration is finished, you will see details on the VNet you're integrated with.</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37</a:t>
            </a:fld>
            <a:endParaRPr lang="en-US" dirty="0"/>
          </a:p>
        </p:txBody>
      </p:sp>
    </p:spTree>
    <p:extLst>
      <p:ext uri="{BB962C8B-B14F-4D97-AF65-F5344CB8AC3E}">
        <p14:creationId xmlns:p14="http://schemas.microsoft.com/office/powerpoint/2010/main" val="180371107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Using regional VNet Integration enables your app to access: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Resources in a VNet in the same region as your app.</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Resources in VNets peered to the VNet your app is integrated with.</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Service Endpoint secured services.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Resources across Azure ExpressRoute connections.</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Resources in the VNet you are integrated with.</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Resources across peered connections, which include Azure ExpressRoute connections.</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Private Endpoints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When you use VNet Integration with VNets in the same region, you can use the following Azure networking features:</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Network security groups (NSGs): You can block outbound traffic with an NSG that is placed on your integration subnet. The inbound rules do not apply because you can't use VNet Integration to provide inbound access to your app.</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Route tables (UDRs): You can place a route table on the integration subnet to send outbound traffic where you want.</a:t>
            </a: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38</a:t>
            </a:fld>
            <a:endParaRPr lang="en-US" dirty="0"/>
          </a:p>
        </p:txBody>
      </p:sp>
    </p:spTree>
    <p:extLst>
      <p:ext uri="{BB962C8B-B14F-4D97-AF65-F5344CB8AC3E}">
        <p14:creationId xmlns:p14="http://schemas.microsoft.com/office/powerpoint/2010/main" val="22906646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1000"/>
              </a:spcAft>
              <a:buClrTx/>
              <a:buSzTx/>
              <a:buFontTx/>
              <a:buNone/>
              <a:tabLst/>
              <a:defRPr/>
            </a:pPr>
            <a:r>
              <a:rPr lang="en-US" sz="1800" dirty="0"/>
              <a:t>  configure Azure Kubernetes Service (AKS) for regional VNet integration </a:t>
            </a: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marR="0">
              <a:spcBef>
                <a:spcPts val="0"/>
              </a:spcBef>
              <a:spcAft>
                <a:spcPts val="1000"/>
              </a:spcAft>
            </a:pPr>
            <a:r>
              <a:rPr lang="en-US" sz="1800" dirty="0">
                <a:effectLst/>
                <a:latin typeface="Calibri" panose="020F0502020204030204" pitchFamily="34" charset="0"/>
                <a:ea typeface="Calibri" panose="020F0502020204030204" pitchFamily="34" charset="0"/>
                <a:cs typeface="Times New Roman" panose="02020603050405020304" pitchFamily="18" charset="0"/>
              </a:rPr>
              <a:t>By default, AKS clusters use </a:t>
            </a:r>
            <a:r>
              <a:rPr lang="en-US" sz="1800" u="sng" dirty="0">
                <a:solidFill>
                  <a:srgbClr val="4472C4"/>
                </a:solidFill>
                <a:effectLst/>
                <a:latin typeface="Calibri" panose="020F0502020204030204" pitchFamily="34" charset="0"/>
                <a:ea typeface="Calibri" panose="020F0502020204030204" pitchFamily="34" charset="0"/>
                <a:cs typeface="Times New Roman" panose="02020603050405020304" pitchFamily="18" charset="0"/>
                <a:hlinkClick r:id="rId3"/>
              </a:rPr>
              <a:t>kubenet</a:t>
            </a:r>
            <a:r>
              <a:rPr lang="en-US" sz="1800" dirty="0">
                <a:effectLst/>
                <a:latin typeface="Calibri" panose="020F0502020204030204" pitchFamily="34" charset="0"/>
                <a:ea typeface="Calibri" panose="020F0502020204030204" pitchFamily="34" charset="0"/>
                <a:cs typeface="Times New Roman" panose="02020603050405020304" pitchFamily="18" charset="0"/>
              </a:rPr>
              <a:t>, and an Azure virtual network and subnet are created for you. With </a:t>
            </a:r>
            <a:r>
              <a:rPr lang="en-US" sz="1800" i="1" dirty="0">
                <a:effectLst/>
                <a:latin typeface="Calibri" panose="020F0502020204030204" pitchFamily="34" charset="0"/>
                <a:ea typeface="Calibri" panose="020F0502020204030204" pitchFamily="34" charset="0"/>
                <a:cs typeface="Times New Roman" panose="02020603050405020304" pitchFamily="18" charset="0"/>
              </a:rPr>
              <a:t>kubenet</a:t>
            </a:r>
            <a:r>
              <a:rPr lang="en-US" sz="1800" dirty="0">
                <a:effectLst/>
                <a:latin typeface="Calibri" panose="020F0502020204030204" pitchFamily="34" charset="0"/>
                <a:ea typeface="Calibri" panose="020F0502020204030204" pitchFamily="34" charset="0"/>
                <a:cs typeface="Times New Roman" panose="02020603050405020304" pitchFamily="18" charset="0"/>
              </a:rPr>
              <a:t>, nodes get an IP address from the Azure virtual network subnet. Pods receive an IP address from a logically different address space to the Azure virtual network subnet of the nodes. Network address translation (NAT) is then configured so that the pods can reach resources on the Azure virtual network. </a:t>
            </a:r>
          </a:p>
          <a:p>
            <a:pPr marL="0" marR="0">
              <a:spcBef>
                <a:spcPts val="0"/>
              </a:spcBef>
              <a:spcAft>
                <a:spcPts val="1000"/>
              </a:spcAft>
            </a:pPr>
            <a:r>
              <a:rPr lang="en-US" sz="1800" b="1" dirty="0">
                <a:effectLst/>
                <a:latin typeface="Calibri" panose="020F0502020204030204" pitchFamily="34" charset="0"/>
                <a:ea typeface="Calibri" panose="020F0502020204030204" pitchFamily="34" charset="0"/>
                <a:cs typeface="Times New Roman" panose="02020603050405020304" pitchFamily="18" charset="0"/>
              </a:rPr>
              <a:t>Prerequisites</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virtual network for the AKS cluster must allow outbound internet connectivity.</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Don't create more than one AKS cluster in the same subnet.</a:t>
            </a:r>
          </a:p>
          <a:p>
            <a:pPr marL="342900" marR="0" lvl="0" indent="-342900">
              <a:spcBef>
                <a:spcPts val="0"/>
              </a:spcBef>
              <a:spcAft>
                <a:spcPts val="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AKS clusters may not use 169.254.0.0/16, 172.30.0.0/16, 172.31.0.0/16, or 192.0.2.0/24 for the Kubernetes service address range, pod address range or cluster virtual network address range.</a:t>
            </a:r>
          </a:p>
          <a:p>
            <a:pPr marL="342900" marR="0" lvl="0" indent="-342900">
              <a:spcBef>
                <a:spcPts val="0"/>
              </a:spcBef>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cluster identity used by the AKS cluster must have at least Network Contributor role on the subnet within your virtual network. You must also have the appropriate permissions, such as the subscription owner, to create a cluster identity and assign it permissions. If you wish to define a custom role instead of using the built-in Network Contributor role, the following permissions are required: </a:t>
            </a:r>
          </a:p>
          <a:p>
            <a:pPr marL="342900" marR="0" lvl="0" indent="-342900">
              <a:spcBef>
                <a:spcPts val="0"/>
              </a:spcBef>
              <a:spcAft>
                <a:spcPts val="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Microsoft.Network/virtualNetworks/subnets/join/action</a:t>
            </a:r>
          </a:p>
          <a:p>
            <a:pPr marL="342900" marR="0" lvl="0" indent="-342900">
              <a:spcBef>
                <a:spcPts val="0"/>
              </a:spcBef>
              <a:spcAft>
                <a:spcPts val="1000"/>
              </a:spcAft>
              <a:buFont typeface="Courier New" panose="02070309020205020404" pitchFamily="49" charset="0"/>
              <a:buChar char="o"/>
            </a:pPr>
            <a:r>
              <a:rPr lang="en-US" sz="1800" dirty="0">
                <a:effectLst/>
                <a:latin typeface="Calibri" panose="020F0502020204030204" pitchFamily="34" charset="0"/>
                <a:ea typeface="Calibri" panose="020F0502020204030204" pitchFamily="34" charset="0"/>
                <a:cs typeface="Times New Roman" panose="02020603050405020304" pitchFamily="18" charset="0"/>
              </a:rPr>
              <a:t>Microsoft. Network/virtualNetworks/subnets/read</a:t>
            </a:r>
          </a:p>
          <a:p>
            <a:endParaRPr lang="en-US" dirty="0"/>
          </a:p>
        </p:txBody>
      </p:sp>
      <p:sp>
        <p:nvSpPr>
          <p:cNvPr id="4" name="Slide Number Placeholder 3"/>
          <p:cNvSpPr>
            <a:spLocks noGrp="1"/>
          </p:cNvSpPr>
          <p:nvPr>
            <p:ph type="sldNum" sz="quarter" idx="5"/>
          </p:nvPr>
        </p:nvSpPr>
        <p:spPr/>
        <p:txBody>
          <a:bodyPr/>
          <a:lstStyle/>
          <a:p>
            <a:fld id="{89B9185C-5C72-45C2-88F0-D7DF9039278A}" type="slidenum">
              <a:rPr lang="en-US" smtClean="0"/>
              <a:t>39</a:t>
            </a:fld>
            <a:endParaRPr lang="en-US" dirty="0"/>
          </a:p>
        </p:txBody>
      </p:sp>
    </p:spTree>
    <p:extLst>
      <p:ext uri="{BB962C8B-B14F-4D97-AF65-F5344CB8AC3E}">
        <p14:creationId xmlns:p14="http://schemas.microsoft.com/office/powerpoint/2010/main" val="3829227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07DC7E-BC41-4478-BA30-CBCC3A644F0A}" type="slidenum">
              <a:rPr lang="en-US" smtClean="0"/>
              <a:t>40</a:t>
            </a:fld>
            <a:endParaRPr lang="en-US" dirty="0"/>
          </a:p>
        </p:txBody>
      </p:sp>
    </p:spTree>
    <p:extLst>
      <p:ext uri="{BB962C8B-B14F-4D97-AF65-F5344CB8AC3E}">
        <p14:creationId xmlns:p14="http://schemas.microsoft.com/office/powerpoint/2010/main" val="29526231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1_Title slide 4">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p:nvPr>
        </p:nvSpPr>
        <p:spPr>
          <a:xfrm>
            <a:off x="428681" y="2532448"/>
            <a:ext cx="5428936" cy="1793104"/>
          </a:xfrm>
          <a:prstGeom prst="rect">
            <a:avLst/>
          </a:prstGeom>
          <a:noFill/>
        </p:spPr>
        <p:txBody>
          <a:bodyPr lIns="0" tIns="0" rIns="0" bIns="182880" anchor="b" anchorCtr="0"/>
          <a:lstStyle>
            <a:lvl1pPr>
              <a:defRPr sz="4705" strike="noStrike" spc="-49" baseline="0">
                <a:solidFill>
                  <a:srgbClr val="000000"/>
                </a:solidFill>
              </a:defRPr>
            </a:lvl1pPr>
          </a:lstStyle>
          <a:p>
            <a:endParaRPr lang="en-US"/>
          </a:p>
        </p:txBody>
      </p:sp>
      <p:pic>
        <p:nvPicPr>
          <p:cNvPr id="11" name="Picture 10" descr="Microsoft Azure logo">
            <a:extLst>
              <a:ext uri="{FF2B5EF4-FFF2-40B4-BE49-F238E27FC236}">
                <a16:creationId xmlns:a16="http://schemas.microsoft.com/office/drawing/2014/main" id="{AFDC29EE-BDE7-4363-B0FC-728521A36665}"/>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a:stretch/>
        </p:blipFill>
        <p:spPr>
          <a:xfrm>
            <a:off x="454169" y="439311"/>
            <a:ext cx="1335673" cy="188593"/>
          </a:xfrm>
          <a:prstGeom prst="rect">
            <a:avLst/>
          </a:prstGeom>
        </p:spPr>
      </p:pic>
      <p:sp>
        <p:nvSpPr>
          <p:cNvPr id="3" name="Footer Placeholder 1">
            <a:extLst>
              <a:ext uri="{FF2B5EF4-FFF2-40B4-BE49-F238E27FC236}">
                <a16:creationId xmlns:a16="http://schemas.microsoft.com/office/drawing/2014/main" id="{09EF93F2-5375-415F-A57E-76E392E44508}"/>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119845313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5995" y="3227821"/>
            <a:ext cx="2457386" cy="402359"/>
          </a:xfrm>
          <a:prstGeom prst="rect">
            <a:avLst/>
          </a:prstGeom>
        </p:spPr>
        <p:txBody>
          <a:bodyPr wrap="square" lIns="0" tIns="0" rIns="0" bIns="0" anchor="ctr">
            <a:spAutoFit/>
          </a:bodyPr>
          <a:lstStyle>
            <a:lvl1pPr>
              <a:lnSpc>
                <a:spcPts val="3137"/>
              </a:lnSpc>
              <a:defRPr sz="2745" strike="noStrike">
                <a:solidFill>
                  <a:schemeClr val="bg1"/>
                </a:solidFill>
              </a:defRPr>
            </a:lvl1pPr>
          </a:lstStyle>
          <a:p>
            <a:r>
              <a:rPr lang="en-US"/>
              <a:t>Title</a:t>
            </a:r>
          </a:p>
        </p:txBody>
      </p:sp>
      <p:sp>
        <p:nvSpPr>
          <p:cNvPr id="4" name="Footer Placeholder 1">
            <a:extLst>
              <a:ext uri="{FF2B5EF4-FFF2-40B4-BE49-F238E27FC236}">
                <a16:creationId xmlns:a16="http://schemas.microsoft.com/office/drawing/2014/main" id="{B85E15FC-4FFB-43C7-B139-E2613D72881B}"/>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1286012564"/>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585217" y="3179701"/>
            <a:ext cx="8892608" cy="498598"/>
          </a:xfrm>
          <a:noFill/>
        </p:spPr>
        <p:txBody>
          <a:bodyPr wrap="square" lIns="0" tIns="0" rIns="0" bIns="0" anchor="ctr" anchorCtr="0">
            <a:spAutoFit/>
          </a:bodyPr>
          <a:lstStyle>
            <a:lvl1pPr algn="l" defTabSz="932563" rtl="0" eaLnBrk="1" latinLnBrk="0" hangingPunct="1">
              <a:lnSpc>
                <a:spcPct val="90000"/>
              </a:lnSpc>
              <a:spcBef>
                <a:spcPct val="0"/>
              </a:spcBef>
              <a:buNone/>
              <a:defRPr lang="en-US" sz="3529" b="0" kern="1200" cap="none" spc="-50" baseline="0" dirty="0">
                <a:ln w="3175">
                  <a:noFill/>
                </a:ln>
                <a:solidFill>
                  <a:schemeClr val="bg1"/>
                </a:solidFill>
                <a:effectLst/>
                <a:latin typeface="+mj-lt"/>
                <a:ea typeface="+mn-ea"/>
                <a:cs typeface="Segoe UI" pitchFamily="34" charset="0"/>
              </a:defRPr>
            </a:lvl1pPr>
          </a:lstStyle>
          <a:p>
            <a:r>
              <a:rPr lang="en-US"/>
              <a:t>Section title</a:t>
            </a:r>
          </a:p>
        </p:txBody>
      </p:sp>
      <p:sp>
        <p:nvSpPr>
          <p:cNvPr id="2" name="Footer Placeholder 1">
            <a:extLst>
              <a:ext uri="{FF2B5EF4-FFF2-40B4-BE49-F238E27FC236}">
                <a16:creationId xmlns:a16="http://schemas.microsoft.com/office/drawing/2014/main" id="{7A88F767-C524-4EB1-8396-3C478E23A2A1}"/>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542037270"/>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cSld name="Tit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24090" y="463300"/>
            <a:ext cx="11343820" cy="403137"/>
          </a:xfrm>
          <a:prstGeom prst="rect">
            <a:avLst/>
          </a:prstGeom>
        </p:spPr>
        <p:txBody>
          <a:bodyPr wrap="square" lIns="0" tIns="0" rIns="0" bIns="0">
            <a:spAutoFit/>
          </a:bodyPr>
          <a:lstStyle>
            <a:lvl1pPr>
              <a:lnSpc>
                <a:spcPts val="3137"/>
              </a:lnSpc>
              <a:defRPr sz="2745" strike="noStrike">
                <a:solidFill>
                  <a:srgbClr val="000000"/>
                </a:solidFill>
              </a:defRPr>
            </a:lvl1pPr>
          </a:lstStyle>
          <a:p>
            <a:r>
              <a:rPr lang="en-US"/>
              <a:t>Title</a:t>
            </a:r>
          </a:p>
        </p:txBody>
      </p:sp>
      <p:sp>
        <p:nvSpPr>
          <p:cNvPr id="4" name="Footer Placeholder 1">
            <a:extLst>
              <a:ext uri="{FF2B5EF4-FFF2-40B4-BE49-F238E27FC236}">
                <a16:creationId xmlns:a16="http://schemas.microsoft.com/office/drawing/2014/main" id="{B48AA0CF-DFAD-4DF5-AF33-6EDC3354EC6F}"/>
              </a:ext>
            </a:extLst>
          </p:cNvPr>
          <p:cNvSpPr txBox="1">
            <a:spLocks/>
          </p:cNvSpPr>
          <p:nvPr userDrawn="1"/>
        </p:nvSpPr>
        <p:spPr>
          <a:xfrm>
            <a:off x="8946915" y="6455230"/>
            <a:ext cx="3245085" cy="135796"/>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sz="882" dirty="0"/>
              <a:t>© Copyright Microsoft Corporation. All rights reserved.</a:t>
            </a:r>
          </a:p>
        </p:txBody>
      </p:sp>
    </p:spTree>
    <p:extLst>
      <p:ext uri="{BB962C8B-B14F-4D97-AF65-F5344CB8AC3E}">
        <p14:creationId xmlns:p14="http://schemas.microsoft.com/office/powerpoint/2010/main" val="3694242468"/>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48613"/>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175058"/>
            <a:ext cx="7695070" cy="896552"/>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401503"/>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627948"/>
            <a:ext cx="7695070" cy="896552"/>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6" name="Footer Placeholder 1">
            <a:extLst>
              <a:ext uri="{FF2B5EF4-FFF2-40B4-BE49-F238E27FC236}">
                <a16:creationId xmlns:a16="http://schemas.microsoft.com/office/drawing/2014/main" id="{2A601E66-ACB9-41E6-B7CB-F4F28DD37183}"/>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0943488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743200"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195667"/>
            <a:ext cx="7695069" cy="675889"/>
          </a:xfrm>
          <a:prstGeom prst="rect">
            <a:avLst/>
          </a:prstGeo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24986"/>
            <a:ext cx="7695069" cy="675889"/>
          </a:xfrm>
          <a:prstGeom prst="rect">
            <a:avLst/>
          </a:prstGeo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654305"/>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383624"/>
            <a:ext cx="7695069" cy="675889"/>
          </a:xfrm>
          <a:prstGeom prst="rect">
            <a:avLst/>
          </a:prstGeo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112943"/>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842261"/>
            <a:ext cx="7695069" cy="675889"/>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6" name="Footer Placeholder 1">
            <a:extLst>
              <a:ext uri="{FF2B5EF4-FFF2-40B4-BE49-F238E27FC236}">
                <a16:creationId xmlns:a16="http://schemas.microsoft.com/office/drawing/2014/main" id="{0E805036-ED99-4D06-B338-B8D2F2944F46}"/>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44863444"/>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403101" y="2006473"/>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168159"/>
            <a:ext cx="10383899" cy="387891"/>
          </a:xfrm>
          <a:prstGeom prst="rect">
            <a:avLst/>
          </a:prstGeo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403101" y="271773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2879422"/>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403101" y="3428999"/>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590685"/>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403101" y="4140262"/>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301948"/>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403101" y="485152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013213"/>
            <a:ext cx="10383899" cy="387891"/>
          </a:xfrm>
          <a:prstGeom prst="rect">
            <a:avLst/>
          </a:prstGeo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EB1E284F-9162-46B6-B477-B48009211F19}"/>
              </a:ext>
            </a:extLst>
          </p:cNvPr>
          <p:cNvSpPr txBox="1">
            <a:spLocks/>
          </p:cNvSpPr>
          <p:nvPr userDrawn="1"/>
        </p:nvSpPr>
        <p:spPr>
          <a:xfrm>
            <a:off x="8077200" y="6598894"/>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896973475"/>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09FF898-DEE1-477D-8ACE-3F1D91FA32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8643AD7-D9EA-42F1-9388-61BAB9C2A6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F073340-414E-47F2-B1A6-BB01CEBC29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7236BE-BE1E-41A4-81E4-12E311102204}" type="datetimeFigureOut">
              <a:rPr lang="en-US" smtClean="0"/>
              <a:t>4/25/2022</a:t>
            </a:fld>
            <a:endParaRPr lang="en-US" dirty="0"/>
          </a:p>
        </p:txBody>
      </p:sp>
      <p:sp>
        <p:nvSpPr>
          <p:cNvPr id="5" name="Footer Placeholder 4">
            <a:extLst>
              <a:ext uri="{FF2B5EF4-FFF2-40B4-BE49-F238E27FC236}">
                <a16:creationId xmlns:a16="http://schemas.microsoft.com/office/drawing/2014/main" id="{4F50716D-66A0-4E9B-AFE8-DFED252AAFD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B4751632-0E63-450E-9BA6-A4FF0361EED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B77433-B1D6-4140-98AE-D060540B36D1}" type="slidenum">
              <a:rPr lang="en-US" smtClean="0"/>
              <a:t>‹#›</a:t>
            </a:fld>
            <a:endParaRPr lang="en-US" dirty="0"/>
          </a:p>
        </p:txBody>
      </p:sp>
    </p:spTree>
    <p:extLst>
      <p:ext uri="{BB962C8B-B14F-4D97-AF65-F5344CB8AC3E}">
        <p14:creationId xmlns:p14="http://schemas.microsoft.com/office/powerpoint/2010/main" val="2828749614"/>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3" name="Text Placeholder 2">
            <a:extLst>
              <a:ext uri="{FF2B5EF4-FFF2-40B4-BE49-F238E27FC236}">
                <a16:creationId xmlns:a16="http://schemas.microsoft.com/office/drawing/2014/main" id="{472DFCB5-8236-4BBB-9AAC-3DEE722A5948}"/>
              </a:ext>
            </a:extLst>
          </p:cNvPr>
          <p:cNvSpPr>
            <a:spLocks noGrp="1"/>
          </p:cNvSpPr>
          <p:nvPr>
            <p:ph type="body" idx="1"/>
          </p:nvPr>
        </p:nvSpPr>
        <p:spPr>
          <a:xfrm>
            <a:off x="418643" y="1457325"/>
            <a:ext cx="11341264" cy="1808637"/>
          </a:xfrm>
          <a:prstGeom prst="rect">
            <a:avLst/>
          </a:prstGeom>
        </p:spPr>
        <p:txBody>
          <a:bodyPr vert="horz" lIns="91440" tIns="45720" rIns="91440" bIns="4572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Box 12">
            <a:extLst>
              <a:ext uri="{FF2B5EF4-FFF2-40B4-BE49-F238E27FC236}">
                <a16:creationId xmlns:a16="http://schemas.microsoft.com/office/drawing/2014/main" id="{1361B38E-CC75-4B74-AC2B-C0E9D3C55653}"/>
              </a:ext>
            </a:extLst>
          </p:cNvPr>
          <p:cNvSpPr txBox="1"/>
          <p:nvPr userDrawn="1"/>
        </p:nvSpPr>
        <p:spPr>
          <a:xfrm rot="16200000">
            <a:off x="-543855" y="6162563"/>
            <a:ext cx="743793" cy="193899"/>
          </a:xfrm>
          <a:prstGeom prst="rect">
            <a:avLst/>
          </a:prstGeom>
          <a:noFill/>
        </p:spPr>
        <p:txBody>
          <a:bodyPr wrap="none" lIns="0" tIns="0" rIns="0" bIns="0" rtlCol="0" anchor="ctr">
            <a:spAutoFit/>
          </a:bodyPr>
          <a:lstStyle/>
          <a:p>
            <a:pPr algn="ctr">
              <a:lnSpc>
                <a:spcPct val="90000"/>
              </a:lnSpc>
              <a:spcAft>
                <a:spcPts val="600"/>
              </a:spcAft>
            </a:pPr>
            <a:r>
              <a:rPr lang="en-US" sz="700" dirty="0">
                <a:solidFill>
                  <a:schemeClr val="bg1">
                    <a:lumMod val="75000"/>
                  </a:schemeClr>
                </a:solidFill>
              </a:rPr>
              <a:t>Closed captioning</a:t>
            </a:r>
            <a:br>
              <a:rPr lang="en-US" sz="700" dirty="0">
                <a:solidFill>
                  <a:schemeClr val="bg1">
                    <a:lumMod val="75000"/>
                  </a:schemeClr>
                </a:solidFill>
              </a:rPr>
            </a:br>
            <a:r>
              <a:rPr lang="en-US" sz="700" dirty="0">
                <a:solidFill>
                  <a:schemeClr val="bg1">
                    <a:lumMod val="75000"/>
                  </a:schemeClr>
                </a:solidFill>
              </a:rPr>
              <a:t>space demarcation</a:t>
            </a:r>
          </a:p>
        </p:txBody>
      </p:sp>
      <p:cxnSp>
        <p:nvCxnSpPr>
          <p:cNvPr id="16" name="Straight Connector 15">
            <a:extLst>
              <a:ext uri="{FF2B5EF4-FFF2-40B4-BE49-F238E27FC236}">
                <a16:creationId xmlns:a16="http://schemas.microsoft.com/office/drawing/2014/main" id="{C5D3B4B0-D7E4-452E-9052-467D1A357B58}"/>
              </a:ext>
            </a:extLst>
          </p:cNvPr>
          <p:cNvCxnSpPr>
            <a:cxnSpLocks/>
          </p:cNvCxnSpPr>
          <p:nvPr userDrawn="1"/>
        </p:nvCxnSpPr>
        <p:spPr>
          <a:xfrm>
            <a:off x="-97630" y="5670550"/>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3" name="Straight Connector 22">
            <a:extLst>
              <a:ext uri="{FF2B5EF4-FFF2-40B4-BE49-F238E27FC236}">
                <a16:creationId xmlns:a16="http://schemas.microsoft.com/office/drawing/2014/main" id="{F3819C2B-33CD-4727-8D19-9778546E3FEE}"/>
              </a:ext>
            </a:extLst>
          </p:cNvPr>
          <p:cNvCxnSpPr>
            <a:cxnSpLocks/>
          </p:cNvCxnSpPr>
          <p:nvPr userDrawn="1"/>
        </p:nvCxnSpPr>
        <p:spPr>
          <a:xfrm>
            <a:off x="-97630" y="6848475"/>
            <a:ext cx="90487" cy="0"/>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cxnSp>
        <p:nvCxnSpPr>
          <p:cNvPr id="20" name="Straight Connector 19">
            <a:extLst>
              <a:ext uri="{FF2B5EF4-FFF2-40B4-BE49-F238E27FC236}">
                <a16:creationId xmlns:a16="http://schemas.microsoft.com/office/drawing/2014/main" id="{888E9C55-8D94-473F-8786-1C75C667BCFC}"/>
              </a:ext>
            </a:extLst>
          </p:cNvPr>
          <p:cNvCxnSpPr>
            <a:cxnSpLocks/>
          </p:cNvCxnSpPr>
          <p:nvPr userDrawn="1"/>
        </p:nvCxnSpPr>
        <p:spPr>
          <a:xfrm>
            <a:off x="-52387" y="5670550"/>
            <a:ext cx="0" cy="1177925"/>
          </a:xfrm>
          <a:prstGeom prst="line">
            <a:avLst/>
          </a:prstGeom>
          <a:noFill/>
          <a:ln cap="sq">
            <a:solidFill>
              <a:srgbClr val="FF0000"/>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cxnSp>
      <p:grpSp>
        <p:nvGrpSpPr>
          <p:cNvPr id="9" name="Group 8">
            <a:extLst>
              <a:ext uri="{FF2B5EF4-FFF2-40B4-BE49-F238E27FC236}">
                <a16:creationId xmlns:a16="http://schemas.microsoft.com/office/drawing/2014/main" id="{EA917D29-CA57-449D-A8E9-0E701C224DA1}"/>
              </a:ext>
            </a:extLst>
          </p:cNvPr>
          <p:cNvGrpSpPr/>
          <p:nvPr userDrawn="1"/>
        </p:nvGrpSpPr>
        <p:grpSpPr>
          <a:xfrm rot="5400000">
            <a:off x="9114924" y="3156600"/>
            <a:ext cx="6843276" cy="530076"/>
            <a:chOff x="-2857775" y="8147048"/>
            <a:chExt cx="11623156" cy="1498603"/>
          </a:xfrm>
        </p:grpSpPr>
        <p:sp>
          <p:nvSpPr>
            <p:cNvPr id="10" name="Rectangle 9">
              <a:extLst>
                <a:ext uri="{FF2B5EF4-FFF2-40B4-BE49-F238E27FC236}">
                  <a16:creationId xmlns:a16="http://schemas.microsoft.com/office/drawing/2014/main" id="{D2C5D111-E096-49EA-AEE3-EB0914371B58}"/>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1" name="Rectangle 10">
              <a:extLst>
                <a:ext uri="{FF2B5EF4-FFF2-40B4-BE49-F238E27FC236}">
                  <a16:creationId xmlns:a16="http://schemas.microsoft.com/office/drawing/2014/main" id="{5039965E-5253-4C55-AB99-1693A37AE765}"/>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2" name="Rectangle 11">
              <a:extLst>
                <a:ext uri="{FF2B5EF4-FFF2-40B4-BE49-F238E27FC236}">
                  <a16:creationId xmlns:a16="http://schemas.microsoft.com/office/drawing/2014/main" id="{AF311DF9-B4D5-4E0A-A6D1-44E590AD6C5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4" name="Group 13">
              <a:extLst>
                <a:ext uri="{FF2B5EF4-FFF2-40B4-BE49-F238E27FC236}">
                  <a16:creationId xmlns:a16="http://schemas.microsoft.com/office/drawing/2014/main" id="{5C9B25FA-E6F8-40AF-93F8-58C7AF6BEB8A}"/>
                </a:ext>
              </a:extLst>
            </p:cNvPr>
            <p:cNvGrpSpPr/>
            <p:nvPr userDrawn="1"/>
          </p:nvGrpSpPr>
          <p:grpSpPr>
            <a:xfrm>
              <a:off x="-2857775" y="8147048"/>
              <a:ext cx="3321653" cy="1498596"/>
              <a:chOff x="-2857775" y="8250837"/>
              <a:chExt cx="3321653" cy="1394819"/>
            </a:xfrm>
          </p:grpSpPr>
          <p:sp>
            <p:nvSpPr>
              <p:cNvPr id="15" name="Rectangle 14">
                <a:extLst>
                  <a:ext uri="{FF2B5EF4-FFF2-40B4-BE49-F238E27FC236}">
                    <a16:creationId xmlns:a16="http://schemas.microsoft.com/office/drawing/2014/main" id="{D3D95A63-B9A0-4F7F-AFB5-98BD9D5D7C57}"/>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7" name="Rectangle 16">
                <a:extLst>
                  <a:ext uri="{FF2B5EF4-FFF2-40B4-BE49-F238E27FC236}">
                    <a16:creationId xmlns:a16="http://schemas.microsoft.com/office/drawing/2014/main" id="{0CC1517B-C8FA-41CB-889A-1B74C78210A7}"/>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Tree>
    <p:extLst>
      <p:ext uri="{BB962C8B-B14F-4D97-AF65-F5344CB8AC3E}">
        <p14:creationId xmlns:p14="http://schemas.microsoft.com/office/powerpoint/2010/main" val="3984273892"/>
      </p:ext>
    </p:extLst>
  </p:cSld>
  <p:clrMap bg1="lt1" tx1="dk1" bg2="lt2" tx2="dk2" accent1="accent1" accent2="accent2" accent3="accent3" accent4="accent4" accent5="accent5" accent6="accent6" hlink="hlink" folHlink="folHlink"/>
  <p:sldLayoutIdLst>
    <p:sldLayoutId id="2147483681" r:id="rId1"/>
    <p:sldLayoutId id="2147483683" r:id="rId2"/>
    <p:sldLayoutId id="2147483710" r:id="rId3"/>
  </p:sldLayoutIdLst>
  <p:transition>
    <p:fade/>
  </p:transition>
  <p:hf sldNum="0" hd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200"/>
        </a:spcBef>
        <a:spcAft>
          <a:spcPts val="40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200"/>
        </a:spcBef>
        <a:spcAft>
          <a:spcPts val="400"/>
        </a:spcAft>
        <a:buClrTx/>
        <a:buSzPct val="90000"/>
        <a:buFontTx/>
        <a:buNone/>
        <a:tabLst/>
        <a:defRPr sz="2000" kern="1200" spc="0" baseline="0">
          <a:solidFill>
            <a:schemeClr val="tx1"/>
          </a:solidFill>
          <a:latin typeface="+mn-lt"/>
          <a:ea typeface="+mn-ea"/>
          <a:cs typeface="+mn-cs"/>
        </a:defRPr>
      </a:lvl2pPr>
      <a:lvl3pPr marL="3429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3pPr>
      <a:lvl4pPr marL="685800" marR="0" indent="-228600" algn="l" defTabSz="914367" rtl="0" eaLnBrk="1" fontAlgn="auto" latinLnBrk="0" hangingPunct="1">
        <a:lnSpc>
          <a:spcPct val="100000"/>
        </a:lnSpc>
        <a:spcBef>
          <a:spcPts val="200"/>
        </a:spcBef>
        <a:spcAft>
          <a:spcPts val="400"/>
        </a:spcAft>
        <a:buClrTx/>
        <a:buSzPct val="100000"/>
        <a:buFont typeface="Arial" panose="020B0604020202020204" pitchFamily="34" charset="0"/>
        <a:buChar char="‒"/>
        <a:tabLst/>
        <a:defRPr sz="1800" kern="1200" spc="0" baseline="0">
          <a:solidFill>
            <a:schemeClr val="tx1"/>
          </a:solidFill>
          <a:latin typeface="+mn-lt"/>
          <a:ea typeface="+mn-ea"/>
          <a:cs typeface="+mn-cs"/>
        </a:defRPr>
      </a:lvl4pPr>
      <a:lvl5pPr marL="685800" marR="0" indent="0" algn="l" defTabSz="914367" rtl="0" eaLnBrk="1" fontAlgn="auto" latinLnBrk="0" hangingPunct="1">
        <a:lnSpc>
          <a:spcPct val="100000"/>
        </a:lnSpc>
        <a:spcBef>
          <a:spcPts val="200"/>
        </a:spcBef>
        <a:spcAft>
          <a:spcPts val="400"/>
        </a:spcAft>
        <a:buClrTx/>
        <a:buSzPct val="100000"/>
        <a:buFont typeface="Arial" panose="020B0604020202020204" pitchFamily="34" charset="0"/>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4" orient="horz" pos="3690">
          <p15:clr>
            <a:srgbClr val="5ACBF0"/>
          </p15:clr>
        </p15:guide>
        <p15:guide id="55" orient="horz" pos="918">
          <p15:clr>
            <a:srgbClr val="F26B43"/>
          </p15:clr>
        </p15:guide>
        <p15:guide id="56" orient="horz" pos="3480">
          <p15:clr>
            <a:srgbClr val="F26B43"/>
          </p15:clr>
        </p15:guide>
        <p15:guide id="57" orient="horz" pos="3572">
          <p15:clr>
            <a:srgbClr val="00000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0.emf"/><Relationship Id="rId3" Type="http://schemas.openxmlformats.org/officeDocument/2006/relationships/image" Target="../media/image5.emf"/><Relationship Id="rId7" Type="http://schemas.openxmlformats.org/officeDocument/2006/relationships/image" Target="../media/image9.emf"/><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emf"/><Relationship Id="rId5" Type="http://schemas.openxmlformats.org/officeDocument/2006/relationships/image" Target="../media/image7.emf"/><Relationship Id="rId4" Type="http://schemas.openxmlformats.org/officeDocument/2006/relationships/image" Target="../media/image6.emf"/></Relationships>
</file>

<file path=ppt/slides/_rels/slide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8.emf"/><Relationship Id="rId5" Type="http://schemas.openxmlformats.org/officeDocument/2006/relationships/image" Target="../media/image11.emf"/><Relationship Id="rId4" Type="http://schemas.openxmlformats.org/officeDocument/2006/relationships/image" Target="../media/image6.emf"/></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hyperlink" Target="https://docs.microsoft.com/en-us/azure/virtual-network/virtual-network-service-endpoints-overview"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5.emf"/><Relationship Id="rId7" Type="http://schemas.openxmlformats.org/officeDocument/2006/relationships/image" Target="../media/image15.emf"/><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8.emf"/><Relationship Id="rId5" Type="http://schemas.openxmlformats.org/officeDocument/2006/relationships/image" Target="../media/image11.emf"/><Relationship Id="rId4" Type="http://schemas.openxmlformats.org/officeDocument/2006/relationships/image" Target="../media/image6.emf"/><Relationship Id="rId9" Type="http://schemas.openxmlformats.org/officeDocument/2006/relationships/image" Target="../media/image10.emf"/></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image" Target="../media/image22.wmf"/><Relationship Id="rId4" Type="http://schemas.openxmlformats.org/officeDocument/2006/relationships/image" Target="../media/image21.wmf"/></Relationships>
</file>

<file path=ppt/slides/_rels/slide17.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hyperlink" Target="https://docs.microsoft.com/en-us/azure/private-link/private-endpoint-overview" TargetMode="External"/><Relationship Id="rId4" Type="http://schemas.openxmlformats.org/officeDocument/2006/relationships/hyperlink" Target="https://docs.microsoft.com/en-us/azure/private-link/private-link-overview" TargetMode="Externa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5.emf"/><Relationship Id="rId7" Type="http://schemas.openxmlformats.org/officeDocument/2006/relationships/image" Target="../media/image15.emf"/><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8.emf"/><Relationship Id="rId5" Type="http://schemas.openxmlformats.org/officeDocument/2006/relationships/image" Target="../media/image11.emf"/><Relationship Id="rId4" Type="http://schemas.openxmlformats.org/officeDocument/2006/relationships/image" Target="../media/image6.emf"/><Relationship Id="rId9" Type="http://schemas.openxmlformats.org/officeDocument/2006/relationships/image" Target="../media/image10.emf"/></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hyperlink" Target="https://docs.microsoft.com/en-us/azure/private-link/private-endpoint-dns" TargetMode="External"/></Relationships>
</file>

<file path=ppt/slides/_rels/slide2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hyperlink" Target="https://docs.microsoft.com/en-us/azure/virtual-network/virtual-network-service-endpoints-overview"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hyperlink" Target="https://docs.microsoft.com/en-us/azure/private-link/create-private-endpoint-portal"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8" Type="http://schemas.openxmlformats.org/officeDocument/2006/relationships/image" Target="../media/image34.wmf"/><Relationship Id="rId3" Type="http://schemas.openxmlformats.org/officeDocument/2006/relationships/image" Target="../media/image29.wmf"/><Relationship Id="rId7" Type="http://schemas.openxmlformats.org/officeDocument/2006/relationships/image" Target="../media/image33.wmf"/><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2.wmf"/><Relationship Id="rId5" Type="http://schemas.openxmlformats.org/officeDocument/2006/relationships/image" Target="../media/image31.wmf"/><Relationship Id="rId4" Type="http://schemas.openxmlformats.org/officeDocument/2006/relationships/image" Target="../media/image30.wmf"/></Relationships>
</file>

<file path=ppt/slides/_rels/slide3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hyperlink" Target="https://docs.microsoft.com/en-us/azure/app-service/web-sites-integrate-with-vnet"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15C7C3CA-ED0D-43F4-B388-221F872F5C1D}"/>
              </a:ext>
            </a:extLst>
          </p:cNvPr>
          <p:cNvSpPr>
            <a:spLocks noGrp="1"/>
          </p:cNvSpPr>
          <p:nvPr>
            <p:ph type="title"/>
          </p:nvPr>
        </p:nvSpPr>
        <p:spPr>
          <a:xfrm>
            <a:off x="507119" y="1989274"/>
            <a:ext cx="5428936" cy="2879453"/>
          </a:xfrm>
        </p:spPr>
        <p:txBody>
          <a:bodyPr>
            <a:normAutofit fontScale="90000"/>
          </a:bodyPr>
          <a:lstStyle/>
          <a:p>
            <a:r>
              <a:rPr lang="en-US" sz="4509" dirty="0">
                <a:latin typeface="Segoe UI Semibold" panose="020B0702040204020203" pitchFamily="34" charset="0"/>
                <a:cs typeface="Segoe UI Semibold" panose="020B0702040204020203" pitchFamily="34" charset="0"/>
              </a:rPr>
              <a:t>AZ-700T00A</a:t>
            </a:r>
            <a:br>
              <a:rPr lang="en-US" sz="4509" dirty="0">
                <a:latin typeface="Segoe UI Semibold" panose="020B0702040204020203" pitchFamily="34" charset="0"/>
                <a:cs typeface="Segoe UI Semibold" panose="020B0702040204020203" pitchFamily="34" charset="0"/>
              </a:rPr>
            </a:br>
            <a:r>
              <a:rPr lang="en-US" sz="4509" dirty="0">
                <a:latin typeface="Segoe UI Semibold" panose="020B0702040204020203" pitchFamily="34" charset="0"/>
                <a:cs typeface="Segoe UI Semibold" panose="020B0702040204020203" pitchFamily="34" charset="0"/>
              </a:rPr>
              <a:t>Module 07: Design and implement private access to Azure Services</a:t>
            </a:r>
          </a:p>
        </p:txBody>
      </p:sp>
    </p:spTree>
    <p:extLst>
      <p:ext uri="{BB962C8B-B14F-4D97-AF65-F5344CB8AC3E}">
        <p14:creationId xmlns:p14="http://schemas.microsoft.com/office/powerpoint/2010/main" val="281107349"/>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Design and implement private access to Azure Services</a:t>
            </a:r>
          </a:p>
        </p:txBody>
      </p:sp>
      <p:sp>
        <p:nvSpPr>
          <p:cNvPr id="6" name="Text Placeholder 5"/>
          <p:cNvSpPr>
            <a:spLocks noGrp="1"/>
          </p:cNvSpPr>
          <p:nvPr>
            <p:ph type="body" sz="quarter" idx="11"/>
          </p:nvPr>
        </p:nvSpPr>
        <p:spPr/>
        <p:txBody>
          <a:bodyPr/>
          <a:lstStyle/>
          <a:p>
            <a:pPr lvl="1"/>
            <a:r>
              <a:rPr lang="en-US" dirty="0"/>
              <a:t>Lesson 01: Explain Virtual Network Service Endpoints</a:t>
            </a:r>
          </a:p>
        </p:txBody>
      </p:sp>
      <p:sp>
        <p:nvSpPr>
          <p:cNvPr id="2" name="Text Placeholder 1"/>
          <p:cNvSpPr>
            <a:spLocks noGrp="1"/>
          </p:cNvSpPr>
          <p:nvPr>
            <p:ph type="body" sz="quarter" idx="15"/>
          </p:nvPr>
        </p:nvSpPr>
        <p:spPr/>
        <p:txBody>
          <a:bodyPr/>
          <a:lstStyle/>
          <a:p>
            <a:pPr lvl="1"/>
            <a:r>
              <a:rPr lang="en-US" dirty="0"/>
              <a:t>Lesson 02: Define Private Link Services and Private Endpoints</a:t>
            </a:r>
          </a:p>
        </p:txBody>
      </p:sp>
      <p:sp>
        <p:nvSpPr>
          <p:cNvPr id="3" name="Text Placeholder 2"/>
          <p:cNvSpPr>
            <a:spLocks noGrp="1"/>
          </p:cNvSpPr>
          <p:nvPr>
            <p:ph type="body" sz="quarter" idx="17"/>
          </p:nvPr>
        </p:nvSpPr>
        <p:spPr/>
        <p:txBody>
          <a:bodyPr/>
          <a:lstStyle/>
          <a:p>
            <a:pPr lvl="1"/>
            <a:r>
              <a:rPr lang="en-US" dirty="0"/>
              <a:t>Lesson 03: Integrate Private Endpoint with DNS</a:t>
            </a:r>
          </a:p>
        </p:txBody>
      </p:sp>
      <p:sp>
        <p:nvSpPr>
          <p:cNvPr id="4" name="Text Placeholder 3"/>
          <p:cNvSpPr>
            <a:spLocks noGrp="1"/>
          </p:cNvSpPr>
          <p:nvPr>
            <p:ph type="body" sz="quarter" idx="19"/>
          </p:nvPr>
        </p:nvSpPr>
        <p:spPr/>
        <p:txBody>
          <a:bodyPr/>
          <a:lstStyle/>
          <a:p>
            <a:pPr lvl="1"/>
            <a:r>
              <a:rPr lang="en-US" dirty="0"/>
              <a:t>Lesson 04: Exercise - Restrict network access to PaaS resources with virtual network service endpoints</a:t>
            </a:r>
          </a:p>
        </p:txBody>
      </p:sp>
      <p:sp>
        <p:nvSpPr>
          <p:cNvPr id="5" name="Text Placeholder 4"/>
          <p:cNvSpPr>
            <a:spLocks noGrp="1"/>
          </p:cNvSpPr>
          <p:nvPr>
            <p:ph type="body" sz="quarter" idx="21"/>
          </p:nvPr>
        </p:nvSpPr>
        <p:spPr/>
        <p:txBody>
          <a:bodyPr/>
          <a:lstStyle/>
          <a:p>
            <a:pPr lvl="1"/>
            <a:r>
              <a:rPr lang="en-US" dirty="0"/>
              <a:t>Lesson 05: Exercise - Create an Azure Private Endpoint using Azure PowerShell</a:t>
            </a:r>
          </a:p>
        </p:txBody>
      </p:sp>
      <p:grpSp>
        <p:nvGrpSpPr>
          <p:cNvPr id="10" name="Group 9">
            <a:extLst>
              <a:ext uri="{FF2B5EF4-FFF2-40B4-BE49-F238E27FC236}">
                <a16:creationId xmlns:a16="http://schemas.microsoft.com/office/drawing/2014/main" id="{D7E2EF7A-EAAF-4CC4-8FBC-87411AE7AF73}"/>
              </a:ext>
              <a:ext uri="{C183D7F6-B498-43B3-948B-1728B52AA6E4}">
                <adec:decorative xmlns:adec="http://schemas.microsoft.com/office/drawing/2017/decorative" val="1"/>
              </a:ext>
            </a:extLst>
          </p:cNvPr>
          <p:cNvGrpSpPr/>
          <p:nvPr/>
        </p:nvGrpSpPr>
        <p:grpSpPr>
          <a:xfrm>
            <a:off x="418643" y="1327923"/>
            <a:ext cx="657590" cy="4202155"/>
            <a:chOff x="418643" y="1327923"/>
            <a:chExt cx="657590" cy="4202155"/>
          </a:xfrm>
        </p:grpSpPr>
        <p:grpSp>
          <p:nvGrpSpPr>
            <p:cNvPr id="143" name="Group 142">
              <a:extLst>
                <a:ext uri="{FF2B5EF4-FFF2-40B4-BE49-F238E27FC236}">
                  <a16:creationId xmlns:a16="http://schemas.microsoft.com/office/drawing/2014/main" id="{5A721221-D290-4C43-B29D-D99E98B5F1DD}"/>
                </a:ext>
              </a:extLst>
            </p:cNvPr>
            <p:cNvGrpSpPr/>
            <p:nvPr/>
          </p:nvGrpSpPr>
          <p:grpSpPr>
            <a:xfrm>
              <a:off x="418643" y="1327923"/>
              <a:ext cx="657589" cy="657683"/>
              <a:chOff x="418643" y="1487929"/>
              <a:chExt cx="717140" cy="717242"/>
            </a:xfrm>
          </p:grpSpPr>
          <p:grpSp>
            <p:nvGrpSpPr>
              <p:cNvPr id="144" name="Group 143">
                <a:extLst>
                  <a:ext uri="{FF2B5EF4-FFF2-40B4-BE49-F238E27FC236}">
                    <a16:creationId xmlns:a16="http://schemas.microsoft.com/office/drawing/2014/main" id="{EC5942FA-C28E-4591-91D7-3B37FD60DC14}"/>
                  </a:ext>
                </a:extLst>
              </p:cNvPr>
              <p:cNvGrpSpPr/>
              <p:nvPr/>
            </p:nvGrpSpPr>
            <p:grpSpPr>
              <a:xfrm>
                <a:off x="418643" y="1487929"/>
                <a:ext cx="717140" cy="717242"/>
                <a:chOff x="418643" y="1487929"/>
                <a:chExt cx="717140" cy="717242"/>
              </a:xfrm>
            </p:grpSpPr>
            <p:sp>
              <p:nvSpPr>
                <p:cNvPr id="146" name="Freeform 5">
                  <a:extLst>
                    <a:ext uri="{FF2B5EF4-FFF2-40B4-BE49-F238E27FC236}">
                      <a16:creationId xmlns:a16="http://schemas.microsoft.com/office/drawing/2014/main" id="{CBEC25E8-6BC8-498F-8F36-A485B2553866}"/>
                    </a:ext>
                  </a:extLst>
                </p:cNvPr>
                <p:cNvSpPr>
                  <a:spLocks/>
                </p:cNvSpPr>
                <p:nvPr/>
              </p:nvSpPr>
              <p:spPr bwMode="auto">
                <a:xfrm>
                  <a:off x="418643" y="148792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47" name="Freeform 6">
                  <a:extLst>
                    <a:ext uri="{FF2B5EF4-FFF2-40B4-BE49-F238E27FC236}">
                      <a16:creationId xmlns:a16="http://schemas.microsoft.com/office/drawing/2014/main" id="{B5EA914D-8F5F-4661-9320-F00996B16202}"/>
                    </a:ext>
                  </a:extLst>
                </p:cNvPr>
                <p:cNvSpPr>
                  <a:spLocks noEditPoints="1"/>
                </p:cNvSpPr>
                <p:nvPr/>
              </p:nvSpPr>
              <p:spPr bwMode="auto">
                <a:xfrm>
                  <a:off x="467961" y="153783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45" name="Picture 144" descr="Icon of three concentric arcs">
                <a:extLst>
                  <a:ext uri="{FF2B5EF4-FFF2-40B4-BE49-F238E27FC236}">
                    <a16:creationId xmlns:a16="http://schemas.microsoft.com/office/drawing/2014/main" id="{D84FD271-2BC1-4580-8EE8-50A1BF2FD740}"/>
                  </a:ext>
                </a:extLst>
              </p:cNvPr>
              <p:cNvPicPr>
                <a:picLocks noChangeAspect="1"/>
              </p:cNvPicPr>
              <p:nvPr/>
            </p:nvPicPr>
            <p:blipFill>
              <a:blip r:embed="rId3"/>
              <a:stretch>
                <a:fillRect/>
              </a:stretch>
            </p:blipFill>
            <p:spPr>
              <a:xfrm>
                <a:off x="546738" y="1616076"/>
                <a:ext cx="460952" cy="460950"/>
              </a:xfrm>
              <a:prstGeom prst="rect">
                <a:avLst/>
              </a:prstGeom>
            </p:spPr>
          </p:pic>
        </p:grpSp>
        <p:grpSp>
          <p:nvGrpSpPr>
            <p:cNvPr id="148" name="Group 147">
              <a:extLst>
                <a:ext uri="{FF2B5EF4-FFF2-40B4-BE49-F238E27FC236}">
                  <a16:creationId xmlns:a16="http://schemas.microsoft.com/office/drawing/2014/main" id="{3F2A8E00-A8AA-4E8E-A362-DA4365CFE716}"/>
                </a:ext>
              </a:extLst>
            </p:cNvPr>
            <p:cNvGrpSpPr/>
            <p:nvPr/>
          </p:nvGrpSpPr>
          <p:grpSpPr>
            <a:xfrm>
              <a:off x="418643" y="2036817"/>
              <a:ext cx="657589" cy="657683"/>
              <a:chOff x="418643" y="2533089"/>
              <a:chExt cx="717140" cy="717242"/>
            </a:xfrm>
          </p:grpSpPr>
          <p:grpSp>
            <p:nvGrpSpPr>
              <p:cNvPr id="149" name="Group 148">
                <a:extLst>
                  <a:ext uri="{FF2B5EF4-FFF2-40B4-BE49-F238E27FC236}">
                    <a16:creationId xmlns:a16="http://schemas.microsoft.com/office/drawing/2014/main" id="{843D04BD-714E-49CC-AD9A-128660ADD3A7}"/>
                  </a:ext>
                  <a:ext uri="{C183D7F6-B498-43B3-948B-1728B52AA6E4}">
                    <adec:decorative xmlns:adec="http://schemas.microsoft.com/office/drawing/2017/decorative" val="1"/>
                  </a:ext>
                </a:extLst>
              </p:cNvPr>
              <p:cNvGrpSpPr/>
              <p:nvPr/>
            </p:nvGrpSpPr>
            <p:grpSpPr>
              <a:xfrm>
                <a:off x="418643" y="2533089"/>
                <a:ext cx="717140" cy="717242"/>
                <a:chOff x="7962901" y="3032919"/>
                <a:chExt cx="981074" cy="981076"/>
              </a:xfrm>
            </p:grpSpPr>
            <p:sp>
              <p:nvSpPr>
                <p:cNvPr id="151" name="Freeform 5">
                  <a:extLst>
                    <a:ext uri="{FF2B5EF4-FFF2-40B4-BE49-F238E27FC236}">
                      <a16:creationId xmlns:a16="http://schemas.microsoft.com/office/drawing/2014/main" id="{C1CFB453-6CA9-47D2-950C-93172CE88271}"/>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52" name="Freeform 6">
                  <a:extLst>
                    <a:ext uri="{FF2B5EF4-FFF2-40B4-BE49-F238E27FC236}">
                      <a16:creationId xmlns:a16="http://schemas.microsoft.com/office/drawing/2014/main" id="{FB853C75-2653-4BA3-87EC-1B429E4E603E}"/>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50" name="Picture 149" descr="Icon of a arrow in a circular path with a timer inside the circle">
                <a:extLst>
                  <a:ext uri="{FF2B5EF4-FFF2-40B4-BE49-F238E27FC236}">
                    <a16:creationId xmlns:a16="http://schemas.microsoft.com/office/drawing/2014/main" id="{19559A71-8F43-4051-AAE6-4A9183AD824F}"/>
                  </a:ext>
                </a:extLst>
              </p:cNvPr>
              <p:cNvPicPr>
                <a:picLocks noChangeAspect="1"/>
              </p:cNvPicPr>
              <p:nvPr/>
            </p:nvPicPr>
            <p:blipFill>
              <a:blip r:embed="rId4"/>
              <a:stretch>
                <a:fillRect/>
              </a:stretch>
            </p:blipFill>
            <p:spPr>
              <a:xfrm>
                <a:off x="566791" y="2681289"/>
                <a:ext cx="420846" cy="420844"/>
              </a:xfrm>
              <a:prstGeom prst="rect">
                <a:avLst/>
              </a:prstGeom>
            </p:spPr>
          </p:pic>
        </p:grpSp>
        <p:grpSp>
          <p:nvGrpSpPr>
            <p:cNvPr id="153" name="Group 152">
              <a:extLst>
                <a:ext uri="{FF2B5EF4-FFF2-40B4-BE49-F238E27FC236}">
                  <a16:creationId xmlns:a16="http://schemas.microsoft.com/office/drawing/2014/main" id="{5F248BB5-91A0-45AF-924E-81D964AA9D13}"/>
                </a:ext>
              </a:extLst>
            </p:cNvPr>
            <p:cNvGrpSpPr/>
            <p:nvPr/>
          </p:nvGrpSpPr>
          <p:grpSpPr>
            <a:xfrm>
              <a:off x="418643" y="2745711"/>
              <a:ext cx="657589" cy="657683"/>
              <a:chOff x="418643" y="3578249"/>
              <a:chExt cx="717140" cy="717242"/>
            </a:xfrm>
          </p:grpSpPr>
          <p:grpSp>
            <p:nvGrpSpPr>
              <p:cNvPr id="154" name="Group 153">
                <a:extLst>
                  <a:ext uri="{FF2B5EF4-FFF2-40B4-BE49-F238E27FC236}">
                    <a16:creationId xmlns:a16="http://schemas.microsoft.com/office/drawing/2014/main" id="{A2B33149-E359-464E-84EA-B7DE8856F425}"/>
                  </a:ext>
                  <a:ext uri="{C183D7F6-B498-43B3-948B-1728B52AA6E4}">
                    <adec:decorative xmlns:adec="http://schemas.microsoft.com/office/drawing/2017/decorative" val="1"/>
                  </a:ext>
                </a:extLst>
              </p:cNvPr>
              <p:cNvGrpSpPr/>
              <p:nvPr/>
            </p:nvGrpSpPr>
            <p:grpSpPr>
              <a:xfrm>
                <a:off x="418643" y="3578249"/>
                <a:ext cx="717140" cy="717242"/>
                <a:chOff x="7962901" y="3032919"/>
                <a:chExt cx="981074" cy="981076"/>
              </a:xfrm>
            </p:grpSpPr>
            <p:sp>
              <p:nvSpPr>
                <p:cNvPr id="156" name="Freeform 5">
                  <a:extLst>
                    <a:ext uri="{FF2B5EF4-FFF2-40B4-BE49-F238E27FC236}">
                      <a16:creationId xmlns:a16="http://schemas.microsoft.com/office/drawing/2014/main" id="{883931CA-A0C5-42EB-B5B3-0911D7DD8D8C}"/>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57" name="Freeform 6">
                  <a:extLst>
                    <a:ext uri="{FF2B5EF4-FFF2-40B4-BE49-F238E27FC236}">
                      <a16:creationId xmlns:a16="http://schemas.microsoft.com/office/drawing/2014/main" id="{BF884F11-C4AF-4865-9EE5-B64D795B0A39}"/>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55" name="Picture 154" descr="Icon of three dots and outward pointing chevrons on left and right">
                <a:extLst>
                  <a:ext uri="{FF2B5EF4-FFF2-40B4-BE49-F238E27FC236}">
                    <a16:creationId xmlns:a16="http://schemas.microsoft.com/office/drawing/2014/main" id="{3F75EDFE-0265-4B38-B866-9B89AD835ECF}"/>
                  </a:ext>
                </a:extLst>
              </p:cNvPr>
              <p:cNvPicPr>
                <a:picLocks noChangeAspect="1"/>
              </p:cNvPicPr>
              <p:nvPr/>
            </p:nvPicPr>
            <p:blipFill>
              <a:blip r:embed="rId5"/>
              <a:stretch>
                <a:fillRect/>
              </a:stretch>
            </p:blipFill>
            <p:spPr>
              <a:xfrm>
                <a:off x="532902" y="3829050"/>
                <a:ext cx="488622" cy="215640"/>
              </a:xfrm>
              <a:prstGeom prst="rect">
                <a:avLst/>
              </a:prstGeom>
            </p:spPr>
          </p:pic>
        </p:grpSp>
        <p:grpSp>
          <p:nvGrpSpPr>
            <p:cNvPr id="158" name="Group 157">
              <a:extLst>
                <a:ext uri="{FF2B5EF4-FFF2-40B4-BE49-F238E27FC236}">
                  <a16:creationId xmlns:a16="http://schemas.microsoft.com/office/drawing/2014/main" id="{E277D676-31EC-449C-B6AE-DE7E1244ECBE}"/>
                </a:ext>
              </a:extLst>
            </p:cNvPr>
            <p:cNvGrpSpPr/>
            <p:nvPr/>
          </p:nvGrpSpPr>
          <p:grpSpPr>
            <a:xfrm>
              <a:off x="418643" y="3454605"/>
              <a:ext cx="657589" cy="657683"/>
              <a:chOff x="418643" y="4623409"/>
              <a:chExt cx="717140" cy="717242"/>
            </a:xfrm>
          </p:grpSpPr>
          <p:grpSp>
            <p:nvGrpSpPr>
              <p:cNvPr id="159" name="Group 158">
                <a:extLst>
                  <a:ext uri="{FF2B5EF4-FFF2-40B4-BE49-F238E27FC236}">
                    <a16:creationId xmlns:a16="http://schemas.microsoft.com/office/drawing/2014/main" id="{6B4B1914-E7A9-4941-90D5-9ECE5DC84B2F}"/>
                  </a:ext>
                  <a:ext uri="{C183D7F6-B498-43B3-948B-1728B52AA6E4}">
                    <adec:decorative xmlns:adec="http://schemas.microsoft.com/office/drawing/2017/decorative" val="1"/>
                  </a:ext>
                </a:extLst>
              </p:cNvPr>
              <p:cNvGrpSpPr/>
              <p:nvPr/>
            </p:nvGrpSpPr>
            <p:grpSpPr>
              <a:xfrm>
                <a:off x="418643" y="4623409"/>
                <a:ext cx="717140" cy="717242"/>
                <a:chOff x="7962901" y="3032919"/>
                <a:chExt cx="981074" cy="981076"/>
              </a:xfrm>
            </p:grpSpPr>
            <p:sp>
              <p:nvSpPr>
                <p:cNvPr id="161" name="Freeform 5">
                  <a:extLst>
                    <a:ext uri="{FF2B5EF4-FFF2-40B4-BE49-F238E27FC236}">
                      <a16:creationId xmlns:a16="http://schemas.microsoft.com/office/drawing/2014/main" id="{D7043563-F009-4EDA-BD74-151271708C65}"/>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62" name="Freeform 6">
                  <a:extLst>
                    <a:ext uri="{FF2B5EF4-FFF2-40B4-BE49-F238E27FC236}">
                      <a16:creationId xmlns:a16="http://schemas.microsoft.com/office/drawing/2014/main" id="{406D6CCB-B585-48DC-820D-74D747A4D34E}"/>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60" name="Picture 159" descr="Icon of a bulb">
                <a:extLst>
                  <a:ext uri="{FF2B5EF4-FFF2-40B4-BE49-F238E27FC236}">
                    <a16:creationId xmlns:a16="http://schemas.microsoft.com/office/drawing/2014/main" id="{C70152E8-8832-4C94-A0F9-4727DF7000A9}"/>
                  </a:ext>
                </a:extLst>
              </p:cNvPr>
              <p:cNvPicPr>
                <a:picLocks noChangeAspect="1"/>
              </p:cNvPicPr>
              <p:nvPr/>
            </p:nvPicPr>
            <p:blipFill>
              <a:blip r:embed="rId6"/>
              <a:stretch>
                <a:fillRect/>
              </a:stretch>
            </p:blipFill>
            <p:spPr>
              <a:xfrm>
                <a:off x="619369" y="4762500"/>
                <a:ext cx="315688" cy="439060"/>
              </a:xfrm>
              <a:prstGeom prst="rect">
                <a:avLst/>
              </a:prstGeom>
            </p:spPr>
          </p:pic>
        </p:grpSp>
        <p:grpSp>
          <p:nvGrpSpPr>
            <p:cNvPr id="163" name="Group 162">
              <a:extLst>
                <a:ext uri="{FF2B5EF4-FFF2-40B4-BE49-F238E27FC236}">
                  <a16:creationId xmlns:a16="http://schemas.microsoft.com/office/drawing/2014/main" id="{58BC019D-DFAC-4E5A-B2F8-1DCE6B95E915}"/>
                </a:ext>
              </a:extLst>
            </p:cNvPr>
            <p:cNvGrpSpPr/>
            <p:nvPr/>
          </p:nvGrpSpPr>
          <p:grpSpPr>
            <a:xfrm>
              <a:off x="418643" y="4163499"/>
              <a:ext cx="657589" cy="657683"/>
              <a:chOff x="418643" y="4842674"/>
              <a:chExt cx="717140" cy="717242"/>
            </a:xfrm>
          </p:grpSpPr>
          <p:grpSp>
            <p:nvGrpSpPr>
              <p:cNvPr id="164" name="Group 163">
                <a:extLst>
                  <a:ext uri="{FF2B5EF4-FFF2-40B4-BE49-F238E27FC236}">
                    <a16:creationId xmlns:a16="http://schemas.microsoft.com/office/drawing/2014/main" id="{E79284B8-DDAF-42B8-9C5C-0FA2E21D7D82}"/>
                  </a:ext>
                  <a:ext uri="{C183D7F6-B498-43B3-948B-1728B52AA6E4}">
                    <adec:decorative xmlns:adec="http://schemas.microsoft.com/office/drawing/2017/decorative" val="1"/>
                  </a:ext>
                </a:extLst>
              </p:cNvPr>
              <p:cNvGrpSpPr/>
              <p:nvPr/>
            </p:nvGrpSpPr>
            <p:grpSpPr>
              <a:xfrm>
                <a:off x="418643" y="4842674"/>
                <a:ext cx="717140" cy="717242"/>
                <a:chOff x="7962901" y="3032919"/>
                <a:chExt cx="981074" cy="981076"/>
              </a:xfrm>
            </p:grpSpPr>
            <p:sp>
              <p:nvSpPr>
                <p:cNvPr id="166" name="Freeform 5">
                  <a:extLst>
                    <a:ext uri="{FF2B5EF4-FFF2-40B4-BE49-F238E27FC236}">
                      <a16:creationId xmlns:a16="http://schemas.microsoft.com/office/drawing/2014/main" id="{508CC8C3-A6D3-4EC3-92A4-146179C76587}"/>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67" name="Freeform 6">
                  <a:extLst>
                    <a:ext uri="{FF2B5EF4-FFF2-40B4-BE49-F238E27FC236}">
                      <a16:creationId xmlns:a16="http://schemas.microsoft.com/office/drawing/2014/main" id="{35D08CD9-5275-4DD9-B6B2-E78365CACE5A}"/>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65" name="Picture 164" descr="Icon of coding brackets">
                <a:extLst>
                  <a:ext uri="{FF2B5EF4-FFF2-40B4-BE49-F238E27FC236}">
                    <a16:creationId xmlns:a16="http://schemas.microsoft.com/office/drawing/2014/main" id="{C637C22D-2E10-48E4-98AE-75ACEA1D44A6}"/>
                  </a:ext>
                </a:extLst>
              </p:cNvPr>
              <p:cNvPicPr>
                <a:picLocks noChangeAspect="1"/>
              </p:cNvPicPr>
              <p:nvPr/>
            </p:nvPicPr>
            <p:blipFill>
              <a:blip r:embed="rId7"/>
              <a:stretch>
                <a:fillRect/>
              </a:stretch>
            </p:blipFill>
            <p:spPr>
              <a:xfrm>
                <a:off x="568446" y="4992528"/>
                <a:ext cx="417534" cy="417534"/>
              </a:xfrm>
              <a:prstGeom prst="rect">
                <a:avLst/>
              </a:prstGeom>
            </p:spPr>
          </p:pic>
        </p:grpSp>
        <p:grpSp>
          <p:nvGrpSpPr>
            <p:cNvPr id="9" name="Group 8">
              <a:extLst>
                <a:ext uri="{FF2B5EF4-FFF2-40B4-BE49-F238E27FC236}">
                  <a16:creationId xmlns:a16="http://schemas.microsoft.com/office/drawing/2014/main" id="{68E64322-3632-46D1-92FE-52285AB337C2}"/>
                </a:ext>
              </a:extLst>
            </p:cNvPr>
            <p:cNvGrpSpPr/>
            <p:nvPr/>
          </p:nvGrpSpPr>
          <p:grpSpPr>
            <a:xfrm>
              <a:off x="418644" y="4872395"/>
              <a:ext cx="657589" cy="657683"/>
              <a:chOff x="418644" y="4872395"/>
              <a:chExt cx="657589" cy="657683"/>
            </a:xfrm>
          </p:grpSpPr>
          <p:grpSp>
            <p:nvGrpSpPr>
              <p:cNvPr id="170" name="Group 169">
                <a:extLst>
                  <a:ext uri="{FF2B5EF4-FFF2-40B4-BE49-F238E27FC236}">
                    <a16:creationId xmlns:a16="http://schemas.microsoft.com/office/drawing/2014/main" id="{4471DB0A-3371-4597-9B25-856CFD59B8BC}"/>
                  </a:ext>
                  <a:ext uri="{C183D7F6-B498-43B3-948B-1728B52AA6E4}">
                    <adec:decorative xmlns:adec="http://schemas.microsoft.com/office/drawing/2017/decorative" val="1"/>
                  </a:ext>
                </a:extLst>
              </p:cNvPr>
              <p:cNvGrpSpPr/>
              <p:nvPr/>
            </p:nvGrpSpPr>
            <p:grpSpPr>
              <a:xfrm>
                <a:off x="418644" y="4872395"/>
                <a:ext cx="657589" cy="657683"/>
                <a:chOff x="7962901" y="3032919"/>
                <a:chExt cx="981074" cy="981076"/>
              </a:xfrm>
            </p:grpSpPr>
            <p:sp>
              <p:nvSpPr>
                <p:cNvPr id="172" name="Freeform 5">
                  <a:extLst>
                    <a:ext uri="{FF2B5EF4-FFF2-40B4-BE49-F238E27FC236}">
                      <a16:creationId xmlns:a16="http://schemas.microsoft.com/office/drawing/2014/main" id="{3C1E0ADD-8AC2-4836-83F6-94D0370C302E}"/>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73" name="Freeform 6">
                  <a:extLst>
                    <a:ext uri="{FF2B5EF4-FFF2-40B4-BE49-F238E27FC236}">
                      <a16:creationId xmlns:a16="http://schemas.microsoft.com/office/drawing/2014/main" id="{E0BDDCD2-3C8D-4B44-B93A-D9F005BD0DDC}"/>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8" name="Picture 7" descr="Icon of a screen with a square enclosed by outward pointing chevrons on left and right">
                <a:extLst>
                  <a:ext uri="{FF2B5EF4-FFF2-40B4-BE49-F238E27FC236}">
                    <a16:creationId xmlns:a16="http://schemas.microsoft.com/office/drawing/2014/main" id="{07116490-361F-4FC8-AB17-14CB314CAF43}"/>
                  </a:ext>
                </a:extLst>
              </p:cNvPr>
              <p:cNvPicPr>
                <a:picLocks noChangeAspect="1"/>
              </p:cNvPicPr>
              <p:nvPr/>
            </p:nvPicPr>
            <p:blipFill>
              <a:blip r:embed="rId8"/>
              <a:stretch>
                <a:fillRect/>
              </a:stretch>
            </p:blipFill>
            <p:spPr>
              <a:xfrm>
                <a:off x="558289" y="5059297"/>
                <a:ext cx="378298" cy="283878"/>
              </a:xfrm>
              <a:prstGeom prst="rect">
                <a:avLst/>
              </a:prstGeom>
            </p:spPr>
          </p:pic>
        </p:grpSp>
      </p:grpSp>
      <p:sp>
        <p:nvSpPr>
          <p:cNvPr id="7" name="Text Placeholder 6">
            <a:extLst>
              <a:ext uri="{FF2B5EF4-FFF2-40B4-BE49-F238E27FC236}">
                <a16:creationId xmlns:a16="http://schemas.microsoft.com/office/drawing/2014/main" id="{F614785D-84F2-4E5E-8457-0AB1E0C75508}"/>
              </a:ext>
            </a:extLst>
          </p:cNvPr>
          <p:cNvSpPr>
            <a:spLocks noGrp="1"/>
          </p:cNvSpPr>
          <p:nvPr>
            <p:ph type="body" sz="quarter" idx="30"/>
          </p:nvPr>
        </p:nvSpPr>
        <p:spPr/>
        <p:txBody>
          <a:bodyPr/>
          <a:lstStyle/>
          <a:p>
            <a:pPr lvl="1"/>
            <a:r>
              <a:rPr lang="en-US" dirty="0"/>
              <a:t>Lesson 06: Integrate your App Service with Azure Virtual Networks </a:t>
            </a:r>
          </a:p>
        </p:txBody>
      </p:sp>
    </p:spTree>
    <p:extLst>
      <p:ext uri="{BB962C8B-B14F-4D97-AF65-F5344CB8AC3E}">
        <p14:creationId xmlns:p14="http://schemas.microsoft.com/office/powerpoint/2010/main" val="38486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3AF917B-5B52-4F42-907A-1ECDBF6B9454}"/>
              </a:ext>
            </a:extLst>
          </p:cNvPr>
          <p:cNvSpPr>
            <a:spLocks noGrp="1"/>
          </p:cNvSpPr>
          <p:nvPr>
            <p:ph type="title"/>
          </p:nvPr>
        </p:nvSpPr>
        <p:spPr>
          <a:xfrm>
            <a:off x="585217" y="2930402"/>
            <a:ext cx="8892608" cy="997196"/>
          </a:xfrm>
        </p:spPr>
        <p:txBody>
          <a:bodyPr/>
          <a:lstStyle/>
          <a:p>
            <a:r>
              <a:rPr lang="en-US" dirty="0"/>
              <a:t>Lesson 01: </a:t>
            </a:r>
            <a:r>
              <a:rPr lang="en-US" sz="3600" dirty="0"/>
              <a:t>Explain Virtual Network Service Endpoints</a:t>
            </a:r>
            <a:endParaRPr lang="en-US" dirty="0"/>
          </a:p>
        </p:txBody>
      </p:sp>
      <p:grpSp>
        <p:nvGrpSpPr>
          <p:cNvPr id="4" name="Group 3">
            <a:extLst>
              <a:ext uri="{FF2B5EF4-FFF2-40B4-BE49-F238E27FC236}">
                <a16:creationId xmlns:a16="http://schemas.microsoft.com/office/drawing/2014/main" id="{83C35E76-A4F3-4D9B-8DFB-7C8329B059CD}"/>
              </a:ext>
              <a:ext uri="{C183D7F6-B498-43B3-948B-1728B52AA6E4}">
                <adec:decorative xmlns:adec="http://schemas.microsoft.com/office/drawing/2017/decorative" val="1"/>
              </a:ext>
            </a:extLst>
          </p:cNvPr>
          <p:cNvGrpSpPr/>
          <p:nvPr/>
        </p:nvGrpSpPr>
        <p:grpSpPr>
          <a:xfrm>
            <a:off x="10328187" y="3100158"/>
            <a:ext cx="657589" cy="657683"/>
            <a:chOff x="418643" y="3578249"/>
            <a:chExt cx="717140" cy="717242"/>
          </a:xfrm>
        </p:grpSpPr>
        <p:grpSp>
          <p:nvGrpSpPr>
            <p:cNvPr id="5" name="Group 4">
              <a:extLst>
                <a:ext uri="{FF2B5EF4-FFF2-40B4-BE49-F238E27FC236}">
                  <a16:creationId xmlns:a16="http://schemas.microsoft.com/office/drawing/2014/main" id="{FBFBA34B-E4F9-44A4-97DE-9754C008D1B4}"/>
                </a:ext>
                <a:ext uri="{C183D7F6-B498-43B3-948B-1728B52AA6E4}">
                  <adec:decorative xmlns:adec="http://schemas.microsoft.com/office/drawing/2017/decorative" val="1"/>
                </a:ext>
              </a:extLst>
            </p:cNvPr>
            <p:cNvGrpSpPr/>
            <p:nvPr/>
          </p:nvGrpSpPr>
          <p:grpSpPr>
            <a:xfrm>
              <a:off x="418643" y="3578249"/>
              <a:ext cx="717140" cy="717242"/>
              <a:chOff x="7962901" y="3032919"/>
              <a:chExt cx="981074" cy="981076"/>
            </a:xfrm>
          </p:grpSpPr>
          <p:sp>
            <p:nvSpPr>
              <p:cNvPr id="7" name="Freeform 5">
                <a:extLst>
                  <a:ext uri="{FF2B5EF4-FFF2-40B4-BE49-F238E27FC236}">
                    <a16:creationId xmlns:a16="http://schemas.microsoft.com/office/drawing/2014/main" id="{EE6D126E-A8A4-4EB7-8CCA-48BCC89B5162}"/>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BC915FA7-6554-4EE1-9A73-10ED75B32AF9}"/>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6" name="Picture 5" descr="Icon of three dots and outward pointing chevrons on left and right">
              <a:extLst>
                <a:ext uri="{FF2B5EF4-FFF2-40B4-BE49-F238E27FC236}">
                  <a16:creationId xmlns:a16="http://schemas.microsoft.com/office/drawing/2014/main" id="{884CEA22-CFBF-4BE1-95BE-0E68B03341EE}"/>
                </a:ext>
              </a:extLst>
            </p:cNvPr>
            <p:cNvPicPr>
              <a:picLocks noChangeAspect="1"/>
            </p:cNvPicPr>
            <p:nvPr/>
          </p:nvPicPr>
          <p:blipFill>
            <a:blip r:embed="rId2"/>
            <a:stretch>
              <a:fillRect/>
            </a:stretch>
          </p:blipFill>
          <p:spPr>
            <a:xfrm>
              <a:off x="532902" y="3829050"/>
              <a:ext cx="488622" cy="215640"/>
            </a:xfrm>
            <a:prstGeom prst="rect">
              <a:avLst/>
            </a:prstGeom>
          </p:spPr>
        </p:pic>
      </p:grpSp>
    </p:spTree>
    <p:extLst>
      <p:ext uri="{BB962C8B-B14F-4D97-AF65-F5344CB8AC3E}">
        <p14:creationId xmlns:p14="http://schemas.microsoft.com/office/powerpoint/2010/main" val="349877145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Explain Virtual Network Service Endpoints overview</a:t>
            </a:r>
          </a:p>
        </p:txBody>
      </p:sp>
      <p:sp>
        <p:nvSpPr>
          <p:cNvPr id="6" name="Text Placeholder 5"/>
          <p:cNvSpPr>
            <a:spLocks noGrp="1"/>
          </p:cNvSpPr>
          <p:nvPr>
            <p:ph type="body" sz="quarter" idx="11"/>
          </p:nvPr>
        </p:nvSpPr>
        <p:spPr/>
        <p:txBody>
          <a:bodyPr/>
          <a:lstStyle/>
          <a:p>
            <a:pPr lvl="1"/>
            <a:r>
              <a:rPr lang="en-US" dirty="0"/>
              <a:t>What is a Service Endpoint? </a:t>
            </a:r>
          </a:p>
        </p:txBody>
      </p:sp>
      <p:sp>
        <p:nvSpPr>
          <p:cNvPr id="2" name="Text Placeholder 1"/>
          <p:cNvSpPr>
            <a:spLocks noGrp="1"/>
          </p:cNvSpPr>
          <p:nvPr>
            <p:ph type="body" sz="quarter" idx="15"/>
          </p:nvPr>
        </p:nvSpPr>
        <p:spPr/>
        <p:txBody>
          <a:bodyPr/>
          <a:lstStyle/>
          <a:p>
            <a:pPr lvl="1"/>
            <a:r>
              <a:rPr lang="en-US" dirty="0"/>
              <a:t>Add Service Endpoints to a subnet</a:t>
            </a:r>
          </a:p>
        </p:txBody>
      </p:sp>
      <p:sp>
        <p:nvSpPr>
          <p:cNvPr id="3" name="Text Placeholder 2"/>
          <p:cNvSpPr>
            <a:spLocks noGrp="1"/>
          </p:cNvSpPr>
          <p:nvPr>
            <p:ph type="body" sz="quarter" idx="17"/>
          </p:nvPr>
        </p:nvSpPr>
        <p:spPr/>
        <p:txBody>
          <a:bodyPr/>
          <a:lstStyle/>
          <a:p>
            <a:pPr lvl="1"/>
            <a:r>
              <a:rPr lang="en-US" dirty="0"/>
              <a:t>Demonstration </a:t>
            </a:r>
          </a:p>
        </p:txBody>
      </p:sp>
      <p:sp>
        <p:nvSpPr>
          <p:cNvPr id="4" name="Text Placeholder 3">
            <a:extLst>
              <a:ext uri="{FF2B5EF4-FFF2-40B4-BE49-F238E27FC236}">
                <a16:creationId xmlns:a16="http://schemas.microsoft.com/office/drawing/2014/main" id="{5314F318-BBD2-4B03-8429-65A4F541D189}"/>
              </a:ext>
            </a:extLst>
          </p:cNvPr>
          <p:cNvSpPr>
            <a:spLocks noGrp="1"/>
          </p:cNvSpPr>
          <p:nvPr>
            <p:ph type="body" sz="quarter" idx="21"/>
          </p:nvPr>
        </p:nvSpPr>
        <p:spPr/>
        <p:txBody>
          <a:bodyPr/>
          <a:lstStyle/>
          <a:p>
            <a:pPr lvl="1"/>
            <a:r>
              <a:rPr lang="en-US" dirty="0"/>
              <a:t>Review </a:t>
            </a:r>
          </a:p>
        </p:txBody>
      </p:sp>
      <p:grpSp>
        <p:nvGrpSpPr>
          <p:cNvPr id="5" name="Group 4">
            <a:extLst>
              <a:ext uri="{FF2B5EF4-FFF2-40B4-BE49-F238E27FC236}">
                <a16:creationId xmlns:a16="http://schemas.microsoft.com/office/drawing/2014/main" id="{44562E1D-EDEE-4544-A9F7-99063EDF678E}"/>
              </a:ext>
              <a:ext uri="{C183D7F6-B498-43B3-948B-1728B52AA6E4}">
                <adec:decorative xmlns:adec="http://schemas.microsoft.com/office/drawing/2017/decorative" val="1"/>
              </a:ext>
            </a:extLst>
          </p:cNvPr>
          <p:cNvGrpSpPr/>
          <p:nvPr/>
        </p:nvGrpSpPr>
        <p:grpSpPr>
          <a:xfrm>
            <a:off x="3031668" y="1045773"/>
            <a:ext cx="702132" cy="4381567"/>
            <a:chOff x="3031668" y="1045773"/>
            <a:chExt cx="702132" cy="4381567"/>
          </a:xfrm>
        </p:grpSpPr>
        <p:grpSp>
          <p:nvGrpSpPr>
            <p:cNvPr id="15" name="Group 14">
              <a:extLst>
                <a:ext uri="{FF2B5EF4-FFF2-40B4-BE49-F238E27FC236}">
                  <a16:creationId xmlns:a16="http://schemas.microsoft.com/office/drawing/2014/main" id="{7403CD60-83C2-4F7E-BCA7-2B7C55B1FFAC}"/>
                </a:ext>
              </a:extLst>
            </p:cNvPr>
            <p:cNvGrpSpPr/>
            <p:nvPr/>
          </p:nvGrpSpPr>
          <p:grpSpPr>
            <a:xfrm>
              <a:off x="3031668" y="1045773"/>
              <a:ext cx="702132" cy="702232"/>
              <a:chOff x="3031668" y="1045773"/>
              <a:chExt cx="702132" cy="702232"/>
            </a:xfrm>
          </p:grpSpPr>
          <p:grpSp>
            <p:nvGrpSpPr>
              <p:cNvPr id="11" name="Group 10">
                <a:extLst>
                  <a:ext uri="{FF2B5EF4-FFF2-40B4-BE49-F238E27FC236}">
                    <a16:creationId xmlns:a16="http://schemas.microsoft.com/office/drawing/2014/main" id="{438E17F6-4130-4B22-967F-3025A3FB14F0}"/>
                  </a:ext>
                </a:extLst>
              </p:cNvPr>
              <p:cNvGrpSpPr/>
              <p:nvPr/>
            </p:nvGrpSpPr>
            <p:grpSpPr>
              <a:xfrm>
                <a:off x="3031668" y="1045773"/>
                <a:ext cx="702132" cy="702232"/>
                <a:chOff x="3031668" y="1045773"/>
                <a:chExt cx="702132" cy="702232"/>
              </a:xfrm>
            </p:grpSpPr>
            <p:sp>
              <p:nvSpPr>
                <p:cNvPr id="39" name="Freeform 5">
                  <a:extLst>
                    <a:ext uri="{FF2B5EF4-FFF2-40B4-BE49-F238E27FC236}">
                      <a16:creationId xmlns:a16="http://schemas.microsoft.com/office/drawing/2014/main" id="{0ACE14DD-2FF6-43F0-A08C-5CD4C0B7BF1C}"/>
                    </a:ext>
                  </a:extLst>
                </p:cNvPr>
                <p:cNvSpPr>
                  <a:spLocks/>
                </p:cNvSpPr>
                <p:nvPr/>
              </p:nvSpPr>
              <p:spPr bwMode="auto">
                <a:xfrm>
                  <a:off x="3031668" y="1045773"/>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40" name="Freeform 6">
                  <a:extLst>
                    <a:ext uri="{FF2B5EF4-FFF2-40B4-BE49-F238E27FC236}">
                      <a16:creationId xmlns:a16="http://schemas.microsoft.com/office/drawing/2014/main" id="{F37E8C3B-2DF2-4F1B-8FD6-36506ADCCE3D}"/>
                    </a:ext>
                  </a:extLst>
                </p:cNvPr>
                <p:cNvSpPr>
                  <a:spLocks noEditPoints="1"/>
                </p:cNvSpPr>
                <p:nvPr/>
              </p:nvSpPr>
              <p:spPr bwMode="auto">
                <a:xfrm>
                  <a:off x="3080522" y="1095771"/>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8652296A-D3A2-448E-819B-C8C32005F581}"/>
                  </a:ext>
                </a:extLst>
              </p:cNvPr>
              <p:cNvPicPr>
                <a:picLocks noChangeAspect="1"/>
              </p:cNvPicPr>
              <p:nvPr/>
            </p:nvPicPr>
            <p:blipFill>
              <a:blip r:embed="rId3"/>
              <a:stretch>
                <a:fillRect/>
              </a:stretch>
            </p:blipFill>
            <p:spPr>
              <a:xfrm>
                <a:off x="3196572" y="1210727"/>
                <a:ext cx="372325" cy="372325"/>
              </a:xfrm>
              <a:prstGeom prst="rect">
                <a:avLst/>
              </a:prstGeom>
            </p:spPr>
          </p:pic>
        </p:grpSp>
        <p:grpSp>
          <p:nvGrpSpPr>
            <p:cNvPr id="16" name="Group 15">
              <a:extLst>
                <a:ext uri="{FF2B5EF4-FFF2-40B4-BE49-F238E27FC236}">
                  <a16:creationId xmlns:a16="http://schemas.microsoft.com/office/drawing/2014/main" id="{B342EB39-18E2-43D8-8590-8D580CE3CAD7}"/>
                </a:ext>
              </a:extLst>
            </p:cNvPr>
            <p:cNvGrpSpPr/>
            <p:nvPr/>
          </p:nvGrpSpPr>
          <p:grpSpPr>
            <a:xfrm>
              <a:off x="3031668" y="2272218"/>
              <a:ext cx="702132" cy="702232"/>
              <a:chOff x="3031668" y="2272218"/>
              <a:chExt cx="702132" cy="702232"/>
            </a:xfrm>
          </p:grpSpPr>
          <p:grpSp>
            <p:nvGrpSpPr>
              <p:cNvPr id="12" name="Group 11">
                <a:extLst>
                  <a:ext uri="{FF2B5EF4-FFF2-40B4-BE49-F238E27FC236}">
                    <a16:creationId xmlns:a16="http://schemas.microsoft.com/office/drawing/2014/main" id="{28351FB6-3E23-4C63-9B46-683ECBA5ECEB}"/>
                  </a:ext>
                </a:extLst>
              </p:cNvPr>
              <p:cNvGrpSpPr/>
              <p:nvPr/>
            </p:nvGrpSpPr>
            <p:grpSpPr>
              <a:xfrm>
                <a:off x="3031668" y="2272218"/>
                <a:ext cx="702132" cy="702232"/>
                <a:chOff x="3031668" y="2272218"/>
                <a:chExt cx="702132" cy="702232"/>
              </a:xfrm>
            </p:grpSpPr>
            <p:sp>
              <p:nvSpPr>
                <p:cNvPr id="55" name="Freeform 5">
                  <a:extLst>
                    <a:ext uri="{FF2B5EF4-FFF2-40B4-BE49-F238E27FC236}">
                      <a16:creationId xmlns:a16="http://schemas.microsoft.com/office/drawing/2014/main" id="{C38D0AF8-061C-4F9F-9491-28BBF70A89E9}"/>
                    </a:ext>
                  </a:extLst>
                </p:cNvPr>
                <p:cNvSpPr>
                  <a:spLocks/>
                </p:cNvSpPr>
                <p:nvPr/>
              </p:nvSpPr>
              <p:spPr bwMode="auto">
                <a:xfrm>
                  <a:off x="3031668" y="227221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56" name="Freeform 6">
                  <a:extLst>
                    <a:ext uri="{FF2B5EF4-FFF2-40B4-BE49-F238E27FC236}">
                      <a16:creationId xmlns:a16="http://schemas.microsoft.com/office/drawing/2014/main" id="{34FEA54E-4069-4201-BAA1-B8D61035BBB0}"/>
                    </a:ext>
                  </a:extLst>
                </p:cNvPr>
                <p:cNvSpPr>
                  <a:spLocks noEditPoints="1"/>
                </p:cNvSpPr>
                <p:nvPr/>
              </p:nvSpPr>
              <p:spPr bwMode="auto">
                <a:xfrm>
                  <a:off x="3080522" y="232221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8" name="Picture 7" descr="Icon of a arrow in a circular path with a timer inside the circle">
                <a:extLst>
                  <a:ext uri="{FF2B5EF4-FFF2-40B4-BE49-F238E27FC236}">
                    <a16:creationId xmlns:a16="http://schemas.microsoft.com/office/drawing/2014/main" id="{F74D1AD5-AD28-4530-8E05-5F445670A21C}"/>
                  </a:ext>
                </a:extLst>
              </p:cNvPr>
              <p:cNvPicPr>
                <a:picLocks noChangeAspect="1"/>
              </p:cNvPicPr>
              <p:nvPr/>
            </p:nvPicPr>
            <p:blipFill>
              <a:blip r:embed="rId4"/>
              <a:stretch>
                <a:fillRect/>
              </a:stretch>
            </p:blipFill>
            <p:spPr>
              <a:xfrm>
                <a:off x="3196572" y="2437172"/>
                <a:ext cx="372325" cy="372325"/>
              </a:xfrm>
              <a:prstGeom prst="rect">
                <a:avLst/>
              </a:prstGeom>
            </p:spPr>
          </p:pic>
        </p:grpSp>
        <p:grpSp>
          <p:nvGrpSpPr>
            <p:cNvPr id="18" name="Group 17">
              <a:extLst>
                <a:ext uri="{FF2B5EF4-FFF2-40B4-BE49-F238E27FC236}">
                  <a16:creationId xmlns:a16="http://schemas.microsoft.com/office/drawing/2014/main" id="{C7B39E84-E8FE-4BED-9C9C-E5905E0B3F06}"/>
                </a:ext>
              </a:extLst>
            </p:cNvPr>
            <p:cNvGrpSpPr/>
            <p:nvPr/>
          </p:nvGrpSpPr>
          <p:grpSpPr>
            <a:xfrm>
              <a:off x="3031668" y="3498663"/>
              <a:ext cx="702132" cy="702232"/>
              <a:chOff x="3031668" y="3498663"/>
              <a:chExt cx="702132" cy="702232"/>
            </a:xfrm>
          </p:grpSpPr>
          <p:grpSp>
            <p:nvGrpSpPr>
              <p:cNvPr id="13" name="Group 12">
                <a:extLst>
                  <a:ext uri="{FF2B5EF4-FFF2-40B4-BE49-F238E27FC236}">
                    <a16:creationId xmlns:a16="http://schemas.microsoft.com/office/drawing/2014/main" id="{F23DFA05-31C9-446E-8AE4-77D0991F3CC4}"/>
                  </a:ext>
                </a:extLst>
              </p:cNvPr>
              <p:cNvGrpSpPr/>
              <p:nvPr/>
            </p:nvGrpSpPr>
            <p:grpSpPr>
              <a:xfrm>
                <a:off x="3031668" y="3498663"/>
                <a:ext cx="702132" cy="702232"/>
                <a:chOff x="3031668" y="3498663"/>
                <a:chExt cx="702132" cy="702232"/>
              </a:xfrm>
            </p:grpSpPr>
            <p:sp>
              <p:nvSpPr>
                <p:cNvPr id="62" name="Freeform 5">
                  <a:extLst>
                    <a:ext uri="{FF2B5EF4-FFF2-40B4-BE49-F238E27FC236}">
                      <a16:creationId xmlns:a16="http://schemas.microsoft.com/office/drawing/2014/main" id="{5006225B-4396-4525-AB55-9913674500E5}"/>
                    </a:ext>
                  </a:extLst>
                </p:cNvPr>
                <p:cNvSpPr>
                  <a:spLocks/>
                </p:cNvSpPr>
                <p:nvPr/>
              </p:nvSpPr>
              <p:spPr bwMode="auto">
                <a:xfrm>
                  <a:off x="3031668" y="3498663"/>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63" name="Freeform 6">
                  <a:extLst>
                    <a:ext uri="{FF2B5EF4-FFF2-40B4-BE49-F238E27FC236}">
                      <a16:creationId xmlns:a16="http://schemas.microsoft.com/office/drawing/2014/main" id="{AB3EFC98-34E6-4B81-BA39-77E612CE99DB}"/>
                    </a:ext>
                  </a:extLst>
                </p:cNvPr>
                <p:cNvSpPr>
                  <a:spLocks noEditPoints="1"/>
                </p:cNvSpPr>
                <p:nvPr/>
              </p:nvSpPr>
              <p:spPr bwMode="auto">
                <a:xfrm>
                  <a:off x="3080522" y="3548661"/>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9" name="Picture 8" descr="Icon of a gear inside a circle">
                <a:extLst>
                  <a:ext uri="{FF2B5EF4-FFF2-40B4-BE49-F238E27FC236}">
                    <a16:creationId xmlns:a16="http://schemas.microsoft.com/office/drawing/2014/main" id="{2F30D263-79FE-4058-94AE-F1CA909DAE0A}"/>
                  </a:ext>
                </a:extLst>
              </p:cNvPr>
              <p:cNvPicPr>
                <a:picLocks noChangeAspect="1"/>
              </p:cNvPicPr>
              <p:nvPr/>
            </p:nvPicPr>
            <p:blipFill>
              <a:blip r:embed="rId5"/>
              <a:stretch>
                <a:fillRect/>
              </a:stretch>
            </p:blipFill>
            <p:spPr>
              <a:xfrm>
                <a:off x="3196572" y="3663617"/>
                <a:ext cx="372325" cy="372325"/>
              </a:xfrm>
              <a:prstGeom prst="rect">
                <a:avLst/>
              </a:prstGeom>
            </p:spPr>
          </p:pic>
        </p:grpSp>
        <p:grpSp>
          <p:nvGrpSpPr>
            <p:cNvPr id="19" name="Group 18">
              <a:extLst>
                <a:ext uri="{FF2B5EF4-FFF2-40B4-BE49-F238E27FC236}">
                  <a16:creationId xmlns:a16="http://schemas.microsoft.com/office/drawing/2014/main" id="{04EA41AE-66FC-4562-BD52-83262BF29AAF}"/>
                </a:ext>
              </a:extLst>
            </p:cNvPr>
            <p:cNvGrpSpPr/>
            <p:nvPr/>
          </p:nvGrpSpPr>
          <p:grpSpPr>
            <a:xfrm>
              <a:off x="3031668" y="4725108"/>
              <a:ext cx="702132" cy="702232"/>
              <a:chOff x="3031668" y="4725108"/>
              <a:chExt cx="702132" cy="702232"/>
            </a:xfrm>
          </p:grpSpPr>
          <p:grpSp>
            <p:nvGrpSpPr>
              <p:cNvPr id="14" name="Group 13">
                <a:extLst>
                  <a:ext uri="{FF2B5EF4-FFF2-40B4-BE49-F238E27FC236}">
                    <a16:creationId xmlns:a16="http://schemas.microsoft.com/office/drawing/2014/main" id="{F73677D7-9B45-4357-A08F-C849E68113A6}"/>
                  </a:ext>
                </a:extLst>
              </p:cNvPr>
              <p:cNvGrpSpPr/>
              <p:nvPr/>
            </p:nvGrpSpPr>
            <p:grpSpPr>
              <a:xfrm>
                <a:off x="3031668" y="4725108"/>
                <a:ext cx="702132" cy="702232"/>
                <a:chOff x="3031668" y="4725108"/>
                <a:chExt cx="702132" cy="702232"/>
              </a:xfrm>
            </p:grpSpPr>
            <p:sp>
              <p:nvSpPr>
                <p:cNvPr id="25" name="Freeform 5">
                  <a:extLst>
                    <a:ext uri="{FF2B5EF4-FFF2-40B4-BE49-F238E27FC236}">
                      <a16:creationId xmlns:a16="http://schemas.microsoft.com/office/drawing/2014/main" id="{176F770A-F08D-4439-952C-9F4034E2A163}"/>
                    </a:ext>
                  </a:extLst>
                </p:cNvPr>
                <p:cNvSpPr>
                  <a:spLocks/>
                </p:cNvSpPr>
                <p:nvPr/>
              </p:nvSpPr>
              <p:spPr bwMode="auto">
                <a:xfrm>
                  <a:off x="3031668" y="4725108"/>
                  <a:ext cx="702132" cy="70223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26" name="Freeform 6">
                  <a:extLst>
                    <a:ext uri="{FF2B5EF4-FFF2-40B4-BE49-F238E27FC236}">
                      <a16:creationId xmlns:a16="http://schemas.microsoft.com/office/drawing/2014/main" id="{B4A5B2AA-4B40-4633-8696-F894CB71F10E}"/>
                    </a:ext>
                  </a:extLst>
                </p:cNvPr>
                <p:cNvSpPr>
                  <a:spLocks noEditPoints="1"/>
                </p:cNvSpPr>
                <p:nvPr/>
              </p:nvSpPr>
              <p:spPr bwMode="auto">
                <a:xfrm>
                  <a:off x="3080522" y="4775106"/>
                  <a:ext cx="605561" cy="60451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0" name="Picture 9" descr="Icon of a bulb">
                <a:extLst>
                  <a:ext uri="{FF2B5EF4-FFF2-40B4-BE49-F238E27FC236}">
                    <a16:creationId xmlns:a16="http://schemas.microsoft.com/office/drawing/2014/main" id="{BD8A27FC-C3FC-4D9B-AED7-5D4C9191B0AA}"/>
                  </a:ext>
                </a:extLst>
              </p:cNvPr>
              <p:cNvPicPr>
                <a:picLocks noChangeAspect="1"/>
              </p:cNvPicPr>
              <p:nvPr/>
            </p:nvPicPr>
            <p:blipFill>
              <a:blip r:embed="rId6"/>
              <a:stretch>
                <a:fillRect/>
              </a:stretch>
            </p:blipFill>
            <p:spPr>
              <a:xfrm>
                <a:off x="3248882" y="4890062"/>
                <a:ext cx="267705" cy="372325"/>
              </a:xfrm>
              <a:prstGeom prst="rect">
                <a:avLst/>
              </a:prstGeom>
            </p:spPr>
          </p:pic>
        </p:grpSp>
      </p:grpSp>
    </p:spTree>
    <p:extLst>
      <p:ext uri="{BB962C8B-B14F-4D97-AF65-F5344CB8AC3E}">
        <p14:creationId xmlns:p14="http://schemas.microsoft.com/office/powerpoint/2010/main" val="123936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FB8E0-B03B-4F79-B486-579B098B3916}"/>
              </a:ext>
            </a:extLst>
          </p:cNvPr>
          <p:cNvSpPr>
            <a:spLocks noGrp="1"/>
          </p:cNvSpPr>
          <p:nvPr>
            <p:ph type="title"/>
          </p:nvPr>
        </p:nvSpPr>
        <p:spPr/>
        <p:txBody>
          <a:bodyPr/>
          <a:lstStyle/>
          <a:p>
            <a:r>
              <a:rPr lang="en-US" dirty="0"/>
              <a:t>What is Service Endpoint?</a:t>
            </a:r>
          </a:p>
        </p:txBody>
      </p:sp>
      <p:sp>
        <p:nvSpPr>
          <p:cNvPr id="4" name="Rectangle 3">
            <a:extLst>
              <a:ext uri="{FF2B5EF4-FFF2-40B4-BE49-F238E27FC236}">
                <a16:creationId xmlns:a16="http://schemas.microsoft.com/office/drawing/2014/main" id="{602976CB-139D-4D17-A901-4C1ABEA6B8C9}"/>
              </a:ext>
            </a:extLst>
          </p:cNvPr>
          <p:cNvSpPr/>
          <p:nvPr/>
        </p:nvSpPr>
        <p:spPr>
          <a:xfrm>
            <a:off x="418645" y="1280513"/>
            <a:ext cx="5007786" cy="130712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000" dirty="0">
                <a:solidFill>
                  <a:srgbClr val="171717"/>
                </a:solidFill>
                <a:latin typeface="Segoe UI" panose="020B0502040204020203" pitchFamily="34" charset="0"/>
              </a:rPr>
              <a:t>Secure and direct connectivity to Azure services over an optimized route over the Azure backbone network</a:t>
            </a:r>
            <a:endParaRPr lang="en-US" sz="1961" dirty="0">
              <a:solidFill>
                <a:schemeClr val="tx1"/>
              </a:solidFill>
            </a:endParaRPr>
          </a:p>
        </p:txBody>
      </p:sp>
      <p:sp>
        <p:nvSpPr>
          <p:cNvPr id="5" name="Rectangle 4">
            <a:extLst>
              <a:ext uri="{FF2B5EF4-FFF2-40B4-BE49-F238E27FC236}">
                <a16:creationId xmlns:a16="http://schemas.microsoft.com/office/drawing/2014/main" id="{88B6BE5B-4111-497D-88F4-111E8C9F5203}"/>
              </a:ext>
            </a:extLst>
          </p:cNvPr>
          <p:cNvSpPr/>
          <p:nvPr/>
        </p:nvSpPr>
        <p:spPr>
          <a:xfrm>
            <a:off x="418645" y="2793145"/>
            <a:ext cx="5007786" cy="1397986"/>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2000" i="0" dirty="0">
                <a:solidFill>
                  <a:srgbClr val="171717"/>
                </a:solidFill>
                <a:effectLst/>
                <a:latin typeface="Segoe UI" panose="020B0502040204020203" pitchFamily="34" charset="0"/>
              </a:rPr>
              <a:t>Optimal routing for Azure service traffic from your virtual network</a:t>
            </a:r>
            <a:endParaRPr lang="en-US" sz="1961" dirty="0">
              <a:solidFill>
                <a:schemeClr val="tx1"/>
              </a:solidFill>
              <a:cs typeface="Segoe UI Semilight"/>
            </a:endParaRPr>
          </a:p>
        </p:txBody>
      </p:sp>
      <p:sp>
        <p:nvSpPr>
          <p:cNvPr id="3" name="Rectangle 2">
            <a:extLst>
              <a:ext uri="{FF2B5EF4-FFF2-40B4-BE49-F238E27FC236}">
                <a16:creationId xmlns:a16="http://schemas.microsoft.com/office/drawing/2014/main" id="{584A70EB-A21A-4597-80ED-2F954A8E4126}"/>
              </a:ext>
              <a:ext uri="{C183D7F6-B498-43B3-948B-1728B52AA6E4}">
                <adec:decorative xmlns:adec="http://schemas.microsoft.com/office/drawing/2017/decorative" val="1"/>
              </a:ext>
            </a:extLst>
          </p:cNvPr>
          <p:cNvSpPr/>
          <p:nvPr/>
        </p:nvSpPr>
        <p:spPr bwMode="auto">
          <a:xfrm>
            <a:off x="5578814" y="1169264"/>
            <a:ext cx="6194543" cy="506791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pic>
        <p:nvPicPr>
          <p:cNvPr id="9" name="Picture 8" descr="A virtual machine is using an endpoint to access a storage account">
            <a:extLst>
              <a:ext uri="{FF2B5EF4-FFF2-40B4-BE49-F238E27FC236}">
                <a16:creationId xmlns:a16="http://schemas.microsoft.com/office/drawing/2014/main" id="{834DC45D-1478-470F-896E-8B5B933F47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5783" y="1280512"/>
            <a:ext cx="5460605" cy="4758675"/>
          </a:xfrm>
          <a:prstGeom prst="rect">
            <a:avLst/>
          </a:prstGeom>
        </p:spPr>
      </p:pic>
    </p:spTree>
    <p:extLst>
      <p:ext uri="{BB962C8B-B14F-4D97-AF65-F5344CB8AC3E}">
        <p14:creationId xmlns:p14="http://schemas.microsoft.com/office/powerpoint/2010/main" val="204361824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8DC09-5266-4087-96CA-B5D189023FEA}"/>
              </a:ext>
            </a:extLst>
          </p:cNvPr>
          <p:cNvSpPr>
            <a:spLocks noGrp="1"/>
          </p:cNvSpPr>
          <p:nvPr>
            <p:ph type="title"/>
          </p:nvPr>
        </p:nvSpPr>
        <p:spPr/>
        <p:txBody>
          <a:bodyPr/>
          <a:lstStyle/>
          <a:p>
            <a:r>
              <a:rPr lang="en-US" dirty="0"/>
              <a:t> Add Service Endpoints to a subnet</a:t>
            </a:r>
          </a:p>
        </p:txBody>
      </p:sp>
      <p:sp>
        <p:nvSpPr>
          <p:cNvPr id="3" name="Rectangle 2">
            <a:extLst>
              <a:ext uri="{FF2B5EF4-FFF2-40B4-BE49-F238E27FC236}">
                <a16:creationId xmlns:a16="http://schemas.microsoft.com/office/drawing/2014/main" id="{AA0476E9-98E2-48EB-ADA2-B6FD4FCCBB5B}"/>
              </a:ext>
            </a:extLst>
          </p:cNvPr>
          <p:cNvSpPr/>
          <p:nvPr/>
        </p:nvSpPr>
        <p:spPr>
          <a:xfrm>
            <a:off x="601767" y="1478931"/>
            <a:ext cx="5698108" cy="72782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There are many services that support endpoints</a:t>
            </a:r>
          </a:p>
        </p:txBody>
      </p:sp>
      <p:sp>
        <p:nvSpPr>
          <p:cNvPr id="4" name="Rectangle 3">
            <a:extLst>
              <a:ext uri="{FF2B5EF4-FFF2-40B4-BE49-F238E27FC236}">
                <a16:creationId xmlns:a16="http://schemas.microsoft.com/office/drawing/2014/main" id="{663842B7-76A9-4758-B206-B7E2C253EBDD}"/>
              </a:ext>
            </a:extLst>
          </p:cNvPr>
          <p:cNvSpPr/>
          <p:nvPr/>
        </p:nvSpPr>
        <p:spPr>
          <a:xfrm>
            <a:off x="601767" y="2575447"/>
            <a:ext cx="5698108" cy="72782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rPr>
              <a:t>Adding service endpoints can take up to 15 minutes to complete</a:t>
            </a:r>
          </a:p>
        </p:txBody>
      </p:sp>
      <p:pic>
        <p:nvPicPr>
          <p:cNvPr id="5" name="Picture 4" descr="Screenshot of the add service endpoints pane">
            <a:extLst>
              <a:ext uri="{FF2B5EF4-FFF2-40B4-BE49-F238E27FC236}">
                <a16:creationId xmlns:a16="http://schemas.microsoft.com/office/drawing/2014/main" id="{B351C1EC-CC57-4904-869B-23D2C6B310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79787" y="1358824"/>
            <a:ext cx="3244872" cy="4497994"/>
          </a:xfrm>
          <a:prstGeom prst="rect">
            <a:avLst/>
          </a:prstGeom>
          <a:ln>
            <a:noFill/>
          </a:ln>
        </p:spPr>
      </p:pic>
      <p:sp>
        <p:nvSpPr>
          <p:cNvPr id="6" name="Rectangle 5">
            <a:extLst>
              <a:ext uri="{FF2B5EF4-FFF2-40B4-BE49-F238E27FC236}">
                <a16:creationId xmlns:a16="http://schemas.microsoft.com/office/drawing/2014/main" id="{FEFF7C38-987C-4DBB-8D5F-5EC3655BF562}"/>
              </a:ext>
              <a:ext uri="{C183D7F6-B498-43B3-948B-1728B52AA6E4}">
                <adec:decorative xmlns:adec="http://schemas.microsoft.com/office/drawing/2017/decorative" val="1"/>
              </a:ext>
            </a:extLst>
          </p:cNvPr>
          <p:cNvSpPr/>
          <p:nvPr/>
        </p:nvSpPr>
        <p:spPr bwMode="auto">
          <a:xfrm>
            <a:off x="6598684" y="1169263"/>
            <a:ext cx="5174674" cy="4687555"/>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522066843"/>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Demonstration - Create a Service Endpoint service </a:t>
            </a:r>
          </a:p>
        </p:txBody>
      </p:sp>
      <p:sp>
        <p:nvSpPr>
          <p:cNvPr id="6" name="Text Placeholder 5"/>
          <p:cNvSpPr>
            <a:spLocks noGrp="1"/>
          </p:cNvSpPr>
          <p:nvPr>
            <p:ph type="body" sz="quarter" idx="11"/>
          </p:nvPr>
        </p:nvSpPr>
        <p:spPr/>
        <p:txBody>
          <a:bodyPr/>
          <a:lstStyle/>
          <a:p>
            <a:pPr lvl="1"/>
            <a:r>
              <a:rPr lang="en-US" dirty="0"/>
              <a:t>Create a virtual network with one subnet</a:t>
            </a:r>
          </a:p>
        </p:txBody>
      </p:sp>
      <p:sp>
        <p:nvSpPr>
          <p:cNvPr id="2" name="Text Placeholder 1"/>
          <p:cNvSpPr>
            <a:spLocks noGrp="1"/>
          </p:cNvSpPr>
          <p:nvPr>
            <p:ph type="body" sz="quarter" idx="15"/>
          </p:nvPr>
        </p:nvSpPr>
        <p:spPr/>
        <p:txBody>
          <a:bodyPr/>
          <a:lstStyle/>
          <a:p>
            <a:pPr lvl="1"/>
            <a:r>
              <a:rPr lang="en-US" dirty="0"/>
              <a:t>Add a subnet and enable a service endpoint</a:t>
            </a:r>
          </a:p>
        </p:txBody>
      </p:sp>
      <p:sp>
        <p:nvSpPr>
          <p:cNvPr id="3" name="Text Placeholder 2"/>
          <p:cNvSpPr>
            <a:spLocks noGrp="1"/>
          </p:cNvSpPr>
          <p:nvPr>
            <p:ph type="body" sz="quarter" idx="17"/>
          </p:nvPr>
        </p:nvSpPr>
        <p:spPr/>
        <p:txBody>
          <a:bodyPr/>
          <a:lstStyle/>
          <a:p>
            <a:pPr lvl="1"/>
            <a:r>
              <a:rPr lang="en-US" dirty="0"/>
              <a:t>Create an Azure resource and allow network access to it from only a subnet</a:t>
            </a:r>
          </a:p>
        </p:txBody>
      </p:sp>
      <p:sp>
        <p:nvSpPr>
          <p:cNvPr id="4" name="Text Placeholder 3"/>
          <p:cNvSpPr>
            <a:spLocks noGrp="1"/>
          </p:cNvSpPr>
          <p:nvPr>
            <p:ph type="body" sz="quarter" idx="19"/>
          </p:nvPr>
        </p:nvSpPr>
        <p:spPr/>
        <p:txBody>
          <a:bodyPr/>
          <a:lstStyle/>
          <a:p>
            <a:pPr lvl="1"/>
            <a:r>
              <a:rPr lang="en-US" dirty="0"/>
              <a:t>Deploy a virtual machine (VM) to each subnet</a:t>
            </a:r>
          </a:p>
        </p:txBody>
      </p:sp>
      <p:sp>
        <p:nvSpPr>
          <p:cNvPr id="5" name="Text Placeholder 4"/>
          <p:cNvSpPr>
            <a:spLocks noGrp="1"/>
          </p:cNvSpPr>
          <p:nvPr>
            <p:ph type="body" sz="quarter" idx="21"/>
          </p:nvPr>
        </p:nvSpPr>
        <p:spPr/>
        <p:txBody>
          <a:bodyPr/>
          <a:lstStyle/>
          <a:p>
            <a:pPr lvl="1"/>
            <a:r>
              <a:rPr lang="en-US" dirty="0"/>
              <a:t>Confirm access to a resource from a subnet</a:t>
            </a:r>
          </a:p>
        </p:txBody>
      </p:sp>
      <p:grpSp>
        <p:nvGrpSpPr>
          <p:cNvPr id="14" name="Group 13">
            <a:extLst>
              <a:ext uri="{FF2B5EF4-FFF2-40B4-BE49-F238E27FC236}">
                <a16:creationId xmlns:a16="http://schemas.microsoft.com/office/drawing/2014/main" id="{48F3E17F-DDDA-477F-AE26-391AF6FC6DEE}"/>
              </a:ext>
              <a:ext uri="{C183D7F6-B498-43B3-948B-1728B52AA6E4}">
                <adec:decorative xmlns:adec="http://schemas.microsoft.com/office/drawing/2017/decorative" val="1"/>
              </a:ext>
            </a:extLst>
          </p:cNvPr>
          <p:cNvGrpSpPr/>
          <p:nvPr/>
        </p:nvGrpSpPr>
        <p:grpSpPr>
          <a:xfrm>
            <a:off x="418643" y="1324257"/>
            <a:ext cx="648157" cy="4207025"/>
            <a:chOff x="418643" y="1324257"/>
            <a:chExt cx="648157" cy="4207025"/>
          </a:xfrm>
        </p:grpSpPr>
        <p:grpSp>
          <p:nvGrpSpPr>
            <p:cNvPr id="8" name="Group 7">
              <a:extLst>
                <a:ext uri="{FF2B5EF4-FFF2-40B4-BE49-F238E27FC236}">
                  <a16:creationId xmlns:a16="http://schemas.microsoft.com/office/drawing/2014/main" id="{B0478ED6-8026-4BE3-B53F-6AAFE819B09D}"/>
                </a:ext>
              </a:extLst>
            </p:cNvPr>
            <p:cNvGrpSpPr/>
            <p:nvPr/>
          </p:nvGrpSpPr>
          <p:grpSpPr>
            <a:xfrm>
              <a:off x="418643" y="1324257"/>
              <a:ext cx="648157" cy="648249"/>
              <a:chOff x="418643" y="1324257"/>
              <a:chExt cx="648157" cy="648249"/>
            </a:xfrm>
          </p:grpSpPr>
          <p:sp>
            <p:nvSpPr>
              <p:cNvPr id="31" name="Freeform 5">
                <a:extLst>
                  <a:ext uri="{FF2B5EF4-FFF2-40B4-BE49-F238E27FC236}">
                    <a16:creationId xmlns:a16="http://schemas.microsoft.com/office/drawing/2014/main" id="{D616F46A-8C8E-475E-91F4-D968F21F5186}"/>
                  </a:ext>
                </a:extLst>
              </p:cNvPr>
              <p:cNvSpPr>
                <a:spLocks/>
              </p:cNvSpPr>
              <p:nvPr/>
            </p:nvSpPr>
            <p:spPr bwMode="auto">
              <a:xfrm>
                <a:off x="418643" y="1324257"/>
                <a:ext cx="648157" cy="648249"/>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Segoe UI"/>
                    <a:ea typeface="+mn-ea"/>
                    <a:cs typeface="+mn-cs"/>
                  </a:rPr>
                  <a:t>1</a:t>
                </a:r>
              </a:p>
            </p:txBody>
          </p:sp>
          <p:sp>
            <p:nvSpPr>
              <p:cNvPr id="34" name="Freeform 6">
                <a:extLst>
                  <a:ext uri="{FF2B5EF4-FFF2-40B4-BE49-F238E27FC236}">
                    <a16:creationId xmlns:a16="http://schemas.microsoft.com/office/drawing/2014/main" id="{3931DC69-4D5C-40B4-80D2-7FDE66A622D0}"/>
                  </a:ext>
                </a:extLst>
              </p:cNvPr>
              <p:cNvSpPr>
                <a:spLocks noEditPoints="1"/>
              </p:cNvSpPr>
              <p:nvPr/>
            </p:nvSpPr>
            <p:spPr bwMode="auto">
              <a:xfrm>
                <a:off x="463741" y="1370411"/>
                <a:ext cx="559009" cy="558039"/>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9" name="Group 8">
              <a:extLst>
                <a:ext uri="{FF2B5EF4-FFF2-40B4-BE49-F238E27FC236}">
                  <a16:creationId xmlns:a16="http://schemas.microsoft.com/office/drawing/2014/main" id="{1963DD64-10CA-4184-9EA1-2DD7B76DCC3E}"/>
                </a:ext>
              </a:extLst>
            </p:cNvPr>
            <p:cNvGrpSpPr/>
            <p:nvPr/>
          </p:nvGrpSpPr>
          <p:grpSpPr>
            <a:xfrm>
              <a:off x="418643" y="2036012"/>
              <a:ext cx="648157" cy="648249"/>
              <a:chOff x="418643" y="2036012"/>
              <a:chExt cx="648157" cy="648249"/>
            </a:xfrm>
          </p:grpSpPr>
          <p:sp>
            <p:nvSpPr>
              <p:cNvPr id="36" name="Freeform 5">
                <a:extLst>
                  <a:ext uri="{FF2B5EF4-FFF2-40B4-BE49-F238E27FC236}">
                    <a16:creationId xmlns:a16="http://schemas.microsoft.com/office/drawing/2014/main" id="{3F8F9610-0EC3-452C-8CD8-3BB282908543}"/>
                  </a:ext>
                </a:extLst>
              </p:cNvPr>
              <p:cNvSpPr>
                <a:spLocks/>
              </p:cNvSpPr>
              <p:nvPr/>
            </p:nvSpPr>
            <p:spPr bwMode="auto">
              <a:xfrm>
                <a:off x="418643" y="2036012"/>
                <a:ext cx="648157" cy="648249"/>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Segoe UI"/>
                    <a:ea typeface="+mn-ea"/>
                    <a:cs typeface="+mn-cs"/>
                  </a:rPr>
                  <a:t>2</a:t>
                </a:r>
              </a:p>
            </p:txBody>
          </p:sp>
          <p:sp>
            <p:nvSpPr>
              <p:cNvPr id="37" name="Freeform 6">
                <a:extLst>
                  <a:ext uri="{FF2B5EF4-FFF2-40B4-BE49-F238E27FC236}">
                    <a16:creationId xmlns:a16="http://schemas.microsoft.com/office/drawing/2014/main" id="{E126B067-1DDD-4966-9349-1E5FD0A6CBB1}"/>
                  </a:ext>
                </a:extLst>
              </p:cNvPr>
              <p:cNvSpPr>
                <a:spLocks noEditPoints="1"/>
              </p:cNvSpPr>
              <p:nvPr/>
            </p:nvSpPr>
            <p:spPr bwMode="auto">
              <a:xfrm>
                <a:off x="463741" y="2082166"/>
                <a:ext cx="559009" cy="558039"/>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10" name="Group 9">
              <a:extLst>
                <a:ext uri="{FF2B5EF4-FFF2-40B4-BE49-F238E27FC236}">
                  <a16:creationId xmlns:a16="http://schemas.microsoft.com/office/drawing/2014/main" id="{FDAC28BD-E619-45AF-9376-20197FB75F19}"/>
                </a:ext>
              </a:extLst>
            </p:cNvPr>
            <p:cNvGrpSpPr/>
            <p:nvPr/>
          </p:nvGrpSpPr>
          <p:grpSpPr>
            <a:xfrm>
              <a:off x="418643" y="2747767"/>
              <a:ext cx="648157" cy="648249"/>
              <a:chOff x="418643" y="2747767"/>
              <a:chExt cx="648157" cy="648249"/>
            </a:xfrm>
          </p:grpSpPr>
          <p:sp>
            <p:nvSpPr>
              <p:cNvPr id="44" name="Freeform 5">
                <a:extLst>
                  <a:ext uri="{FF2B5EF4-FFF2-40B4-BE49-F238E27FC236}">
                    <a16:creationId xmlns:a16="http://schemas.microsoft.com/office/drawing/2014/main" id="{68545A57-D254-4040-9131-B81B012B454C}"/>
                  </a:ext>
                </a:extLst>
              </p:cNvPr>
              <p:cNvSpPr>
                <a:spLocks/>
              </p:cNvSpPr>
              <p:nvPr/>
            </p:nvSpPr>
            <p:spPr bwMode="auto">
              <a:xfrm>
                <a:off x="418643" y="2747767"/>
                <a:ext cx="648157" cy="648249"/>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Segoe UI"/>
                    <a:ea typeface="+mn-ea"/>
                    <a:cs typeface="+mn-cs"/>
                  </a:rPr>
                  <a:t>3</a:t>
                </a:r>
              </a:p>
            </p:txBody>
          </p:sp>
          <p:sp>
            <p:nvSpPr>
              <p:cNvPr id="45" name="Freeform 6">
                <a:extLst>
                  <a:ext uri="{FF2B5EF4-FFF2-40B4-BE49-F238E27FC236}">
                    <a16:creationId xmlns:a16="http://schemas.microsoft.com/office/drawing/2014/main" id="{A37A0F79-C2EA-4568-BF05-E46B9DFE0A0D}"/>
                  </a:ext>
                </a:extLst>
              </p:cNvPr>
              <p:cNvSpPr>
                <a:spLocks noEditPoints="1"/>
              </p:cNvSpPr>
              <p:nvPr/>
            </p:nvSpPr>
            <p:spPr bwMode="auto">
              <a:xfrm>
                <a:off x="463741" y="2793921"/>
                <a:ext cx="559009" cy="558039"/>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11" name="Group 10">
              <a:extLst>
                <a:ext uri="{FF2B5EF4-FFF2-40B4-BE49-F238E27FC236}">
                  <a16:creationId xmlns:a16="http://schemas.microsoft.com/office/drawing/2014/main" id="{67992B72-4233-4997-8FEC-0CFC78804E3C}"/>
                </a:ext>
              </a:extLst>
            </p:cNvPr>
            <p:cNvGrpSpPr/>
            <p:nvPr/>
          </p:nvGrpSpPr>
          <p:grpSpPr>
            <a:xfrm>
              <a:off x="418643" y="3459522"/>
              <a:ext cx="648157" cy="648249"/>
              <a:chOff x="418643" y="3459522"/>
              <a:chExt cx="648157" cy="648249"/>
            </a:xfrm>
          </p:grpSpPr>
          <p:sp>
            <p:nvSpPr>
              <p:cNvPr id="47" name="Freeform 5">
                <a:extLst>
                  <a:ext uri="{FF2B5EF4-FFF2-40B4-BE49-F238E27FC236}">
                    <a16:creationId xmlns:a16="http://schemas.microsoft.com/office/drawing/2014/main" id="{EE426091-81A5-4C83-B971-0E4C7836EA9C}"/>
                  </a:ext>
                </a:extLst>
              </p:cNvPr>
              <p:cNvSpPr>
                <a:spLocks/>
              </p:cNvSpPr>
              <p:nvPr/>
            </p:nvSpPr>
            <p:spPr bwMode="auto">
              <a:xfrm>
                <a:off x="418643" y="3459522"/>
                <a:ext cx="648157" cy="648249"/>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Segoe UI"/>
                    <a:ea typeface="+mn-ea"/>
                    <a:cs typeface="+mn-cs"/>
                  </a:rPr>
                  <a:t>4</a:t>
                </a:r>
              </a:p>
            </p:txBody>
          </p:sp>
          <p:sp>
            <p:nvSpPr>
              <p:cNvPr id="48" name="Freeform 6">
                <a:extLst>
                  <a:ext uri="{FF2B5EF4-FFF2-40B4-BE49-F238E27FC236}">
                    <a16:creationId xmlns:a16="http://schemas.microsoft.com/office/drawing/2014/main" id="{6D78DFDA-B99F-48DB-8360-BBE231FD1B0D}"/>
                  </a:ext>
                </a:extLst>
              </p:cNvPr>
              <p:cNvSpPr>
                <a:spLocks noEditPoints="1"/>
              </p:cNvSpPr>
              <p:nvPr/>
            </p:nvSpPr>
            <p:spPr bwMode="auto">
              <a:xfrm>
                <a:off x="463741" y="3505676"/>
                <a:ext cx="559009" cy="558039"/>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12" name="Group 11">
              <a:extLst>
                <a:ext uri="{FF2B5EF4-FFF2-40B4-BE49-F238E27FC236}">
                  <a16:creationId xmlns:a16="http://schemas.microsoft.com/office/drawing/2014/main" id="{035CC166-51BD-4721-AF07-C7123CD5C2D1}"/>
                </a:ext>
              </a:extLst>
            </p:cNvPr>
            <p:cNvGrpSpPr/>
            <p:nvPr/>
          </p:nvGrpSpPr>
          <p:grpSpPr>
            <a:xfrm>
              <a:off x="418643" y="4171277"/>
              <a:ext cx="648157" cy="648249"/>
              <a:chOff x="418643" y="4171277"/>
              <a:chExt cx="648157" cy="648249"/>
            </a:xfrm>
          </p:grpSpPr>
          <p:sp>
            <p:nvSpPr>
              <p:cNvPr id="40" name="Freeform 5">
                <a:extLst>
                  <a:ext uri="{FF2B5EF4-FFF2-40B4-BE49-F238E27FC236}">
                    <a16:creationId xmlns:a16="http://schemas.microsoft.com/office/drawing/2014/main" id="{EE591048-FE3E-4BBB-9B74-4D1457A943C5}"/>
                  </a:ext>
                </a:extLst>
              </p:cNvPr>
              <p:cNvSpPr>
                <a:spLocks/>
              </p:cNvSpPr>
              <p:nvPr/>
            </p:nvSpPr>
            <p:spPr bwMode="auto">
              <a:xfrm>
                <a:off x="418643" y="4171277"/>
                <a:ext cx="648157" cy="648249"/>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Segoe UI"/>
                    <a:ea typeface="+mn-ea"/>
                    <a:cs typeface="+mn-cs"/>
                  </a:rPr>
                  <a:t>5</a:t>
                </a:r>
              </a:p>
            </p:txBody>
          </p:sp>
          <p:sp>
            <p:nvSpPr>
              <p:cNvPr id="41" name="Freeform 6">
                <a:extLst>
                  <a:ext uri="{FF2B5EF4-FFF2-40B4-BE49-F238E27FC236}">
                    <a16:creationId xmlns:a16="http://schemas.microsoft.com/office/drawing/2014/main" id="{B548A959-8EF5-4E51-9214-6733CD71D2F2}"/>
                  </a:ext>
                </a:extLst>
              </p:cNvPr>
              <p:cNvSpPr>
                <a:spLocks noEditPoints="1"/>
              </p:cNvSpPr>
              <p:nvPr/>
            </p:nvSpPr>
            <p:spPr bwMode="auto">
              <a:xfrm>
                <a:off x="463741" y="4217431"/>
                <a:ext cx="559009" cy="558039"/>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grpSp>
          <p:nvGrpSpPr>
            <p:cNvPr id="13" name="Group 12">
              <a:extLst>
                <a:ext uri="{FF2B5EF4-FFF2-40B4-BE49-F238E27FC236}">
                  <a16:creationId xmlns:a16="http://schemas.microsoft.com/office/drawing/2014/main" id="{24B57491-15FC-47E0-ADD3-A8374292ACFB}"/>
                </a:ext>
              </a:extLst>
            </p:cNvPr>
            <p:cNvGrpSpPr/>
            <p:nvPr/>
          </p:nvGrpSpPr>
          <p:grpSpPr>
            <a:xfrm>
              <a:off x="418643" y="4883033"/>
              <a:ext cx="648157" cy="648249"/>
              <a:chOff x="418643" y="4883033"/>
              <a:chExt cx="648157" cy="648249"/>
            </a:xfrm>
          </p:grpSpPr>
          <p:sp>
            <p:nvSpPr>
              <p:cNvPr id="50" name="Freeform 5">
                <a:extLst>
                  <a:ext uri="{FF2B5EF4-FFF2-40B4-BE49-F238E27FC236}">
                    <a16:creationId xmlns:a16="http://schemas.microsoft.com/office/drawing/2014/main" id="{E53034CF-BF65-4193-8652-189DF5C3D834}"/>
                  </a:ext>
                </a:extLst>
              </p:cNvPr>
              <p:cNvSpPr>
                <a:spLocks/>
              </p:cNvSpPr>
              <p:nvPr/>
            </p:nvSpPr>
            <p:spPr bwMode="auto">
              <a:xfrm>
                <a:off x="418643" y="4883033"/>
                <a:ext cx="648157" cy="648249"/>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367"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000000"/>
                    </a:solidFill>
                    <a:effectLst/>
                    <a:uLnTx/>
                    <a:uFillTx/>
                    <a:latin typeface="Segoe UI"/>
                    <a:ea typeface="+mn-ea"/>
                    <a:cs typeface="+mn-cs"/>
                  </a:rPr>
                  <a:t>6</a:t>
                </a:r>
              </a:p>
            </p:txBody>
          </p:sp>
          <p:sp>
            <p:nvSpPr>
              <p:cNvPr id="51" name="Freeform 6">
                <a:extLst>
                  <a:ext uri="{FF2B5EF4-FFF2-40B4-BE49-F238E27FC236}">
                    <a16:creationId xmlns:a16="http://schemas.microsoft.com/office/drawing/2014/main" id="{A19EE93C-F92D-422C-9B04-4241CDEDFABF}"/>
                  </a:ext>
                </a:extLst>
              </p:cNvPr>
              <p:cNvSpPr>
                <a:spLocks noEditPoints="1"/>
              </p:cNvSpPr>
              <p:nvPr/>
            </p:nvSpPr>
            <p:spPr bwMode="auto">
              <a:xfrm>
                <a:off x="463741" y="4929187"/>
                <a:ext cx="559009" cy="558039"/>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grpSp>
      <p:sp>
        <p:nvSpPr>
          <p:cNvPr id="7" name="Text Placeholder 6">
            <a:extLst>
              <a:ext uri="{FF2B5EF4-FFF2-40B4-BE49-F238E27FC236}">
                <a16:creationId xmlns:a16="http://schemas.microsoft.com/office/drawing/2014/main" id="{F614785D-84F2-4E5E-8457-0AB1E0C75508}"/>
              </a:ext>
            </a:extLst>
          </p:cNvPr>
          <p:cNvSpPr>
            <a:spLocks noGrp="1"/>
          </p:cNvSpPr>
          <p:nvPr>
            <p:ph type="body" sz="quarter" idx="30"/>
          </p:nvPr>
        </p:nvSpPr>
        <p:spPr/>
        <p:txBody>
          <a:bodyPr/>
          <a:lstStyle/>
          <a:p>
            <a:pPr lvl="1"/>
            <a:r>
              <a:rPr lang="en-US" dirty="0"/>
              <a:t>Confirm access is denied to a resource from a subnet and the internet</a:t>
            </a:r>
          </a:p>
        </p:txBody>
      </p:sp>
    </p:spTree>
    <p:extLst>
      <p:ext uri="{BB962C8B-B14F-4D97-AF65-F5344CB8AC3E}">
        <p14:creationId xmlns:p14="http://schemas.microsoft.com/office/powerpoint/2010/main" val="2065408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424090" y="466096"/>
            <a:ext cx="11343820" cy="397545"/>
          </a:xfrm>
        </p:spPr>
        <p:txBody>
          <a:bodyPr/>
          <a:lstStyle/>
          <a:p>
            <a:r>
              <a:rPr lang="en-US" dirty="0">
                <a:solidFill>
                  <a:schemeClr val="tx1"/>
                </a:solidFill>
              </a:rPr>
              <a:t>Summary – </a:t>
            </a:r>
            <a:r>
              <a:rPr lang="en-US" sz="2800" dirty="0"/>
              <a:t>Explain virtual network Service endpoints</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FE0EFBE2-3036-4689-95FE-0E46B1F52D98}"/>
              </a:ext>
            </a:extLst>
          </p:cNvPr>
          <p:cNvSpPr txBox="1"/>
          <p:nvPr/>
        </p:nvSpPr>
        <p:spPr>
          <a:xfrm>
            <a:off x="4172422" y="2243583"/>
            <a:ext cx="6093994" cy="369332"/>
          </a:xfrm>
          <a:prstGeom prst="rect">
            <a:avLst/>
          </a:prstGeom>
          <a:noFill/>
        </p:spPr>
        <p:txBody>
          <a:bodyPr wrap="square">
            <a:spAutoFit/>
          </a:bodyPr>
          <a:lstStyle/>
          <a:p>
            <a:r>
              <a:rPr lang="en-US" dirty="0">
                <a:hlinkClick r:id="rId4"/>
              </a:rPr>
              <a:t>Azure virtual network service endpoints | Microsoft Docs</a:t>
            </a:r>
            <a:endParaRPr lang="en-US" dirty="0"/>
          </a:p>
        </p:txBody>
      </p:sp>
    </p:spTree>
    <p:extLst>
      <p:ext uri="{BB962C8B-B14F-4D97-AF65-F5344CB8AC3E}">
        <p14:creationId xmlns:p14="http://schemas.microsoft.com/office/powerpoint/2010/main" val="383405751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CD8665D-5A50-4F07-9D33-48CCD3FD74C7}"/>
              </a:ext>
            </a:extLst>
          </p:cNvPr>
          <p:cNvSpPr>
            <a:spLocks noGrp="1"/>
          </p:cNvSpPr>
          <p:nvPr>
            <p:ph type="title"/>
          </p:nvPr>
        </p:nvSpPr>
        <p:spPr>
          <a:xfrm>
            <a:off x="585217" y="2930402"/>
            <a:ext cx="8892608" cy="997196"/>
          </a:xfrm>
        </p:spPr>
        <p:txBody>
          <a:bodyPr/>
          <a:lstStyle/>
          <a:p>
            <a:r>
              <a:rPr lang="en-US" dirty="0"/>
              <a:t>Lesson 02: </a:t>
            </a:r>
            <a:r>
              <a:rPr lang="en-US" sz="3600" dirty="0"/>
              <a:t>Define Private Link Services and Private Endpoints</a:t>
            </a:r>
            <a:endParaRPr lang="en-US" dirty="0"/>
          </a:p>
        </p:txBody>
      </p:sp>
      <p:grpSp>
        <p:nvGrpSpPr>
          <p:cNvPr id="5" name="Group 4">
            <a:extLst>
              <a:ext uri="{FF2B5EF4-FFF2-40B4-BE49-F238E27FC236}">
                <a16:creationId xmlns:a16="http://schemas.microsoft.com/office/drawing/2014/main" id="{07C8FA53-D406-4B7E-AF11-E4038F7A1240}"/>
              </a:ext>
              <a:ext uri="{C183D7F6-B498-43B3-948B-1728B52AA6E4}">
                <adec:decorative xmlns:adec="http://schemas.microsoft.com/office/drawing/2017/decorative" val="1"/>
              </a:ext>
            </a:extLst>
          </p:cNvPr>
          <p:cNvGrpSpPr/>
          <p:nvPr/>
        </p:nvGrpSpPr>
        <p:grpSpPr>
          <a:xfrm>
            <a:off x="10402615" y="3100158"/>
            <a:ext cx="657589" cy="657683"/>
            <a:chOff x="418643" y="1487929"/>
            <a:chExt cx="717140" cy="717242"/>
          </a:xfrm>
        </p:grpSpPr>
        <p:grpSp>
          <p:nvGrpSpPr>
            <p:cNvPr id="6" name="Group 5">
              <a:extLst>
                <a:ext uri="{FF2B5EF4-FFF2-40B4-BE49-F238E27FC236}">
                  <a16:creationId xmlns:a16="http://schemas.microsoft.com/office/drawing/2014/main" id="{3A6C9731-B170-4A86-887F-E64974B61746}"/>
                </a:ext>
              </a:extLst>
            </p:cNvPr>
            <p:cNvGrpSpPr/>
            <p:nvPr/>
          </p:nvGrpSpPr>
          <p:grpSpPr>
            <a:xfrm>
              <a:off x="418643" y="1487929"/>
              <a:ext cx="717140" cy="717242"/>
              <a:chOff x="418643" y="1487929"/>
              <a:chExt cx="717140" cy="717242"/>
            </a:xfrm>
          </p:grpSpPr>
          <p:sp>
            <p:nvSpPr>
              <p:cNvPr id="8" name="Freeform 5">
                <a:extLst>
                  <a:ext uri="{FF2B5EF4-FFF2-40B4-BE49-F238E27FC236}">
                    <a16:creationId xmlns:a16="http://schemas.microsoft.com/office/drawing/2014/main" id="{12241F17-FA32-40DF-9C64-C4C421A5F601}"/>
                  </a:ext>
                </a:extLst>
              </p:cNvPr>
              <p:cNvSpPr>
                <a:spLocks/>
              </p:cNvSpPr>
              <p:nvPr/>
            </p:nvSpPr>
            <p:spPr bwMode="auto">
              <a:xfrm>
                <a:off x="418643" y="1487929"/>
                <a:ext cx="717140" cy="717242"/>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9" name="Freeform 6">
                <a:extLst>
                  <a:ext uri="{FF2B5EF4-FFF2-40B4-BE49-F238E27FC236}">
                    <a16:creationId xmlns:a16="http://schemas.microsoft.com/office/drawing/2014/main" id="{859ECFFE-EAC0-46BB-9752-32C56769F42B}"/>
                  </a:ext>
                </a:extLst>
              </p:cNvPr>
              <p:cNvSpPr>
                <a:spLocks noEditPoints="1"/>
              </p:cNvSpPr>
              <p:nvPr/>
            </p:nvSpPr>
            <p:spPr bwMode="auto">
              <a:xfrm>
                <a:off x="467961" y="1537835"/>
                <a:ext cx="618505" cy="617431"/>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7" name="Picture 6" descr="Icon of three concentric arcs">
              <a:extLst>
                <a:ext uri="{FF2B5EF4-FFF2-40B4-BE49-F238E27FC236}">
                  <a16:creationId xmlns:a16="http://schemas.microsoft.com/office/drawing/2014/main" id="{3E4AC6FB-108F-448B-B81E-AA3CA61CB4C5}"/>
                </a:ext>
              </a:extLst>
            </p:cNvPr>
            <p:cNvPicPr>
              <a:picLocks noChangeAspect="1"/>
            </p:cNvPicPr>
            <p:nvPr/>
          </p:nvPicPr>
          <p:blipFill>
            <a:blip r:embed="rId3"/>
            <a:stretch>
              <a:fillRect/>
            </a:stretch>
          </p:blipFill>
          <p:spPr>
            <a:xfrm>
              <a:off x="546738" y="1616076"/>
              <a:ext cx="460952" cy="460950"/>
            </a:xfrm>
            <a:prstGeom prst="rect">
              <a:avLst/>
            </a:prstGeom>
          </p:spPr>
        </p:pic>
      </p:grpSp>
    </p:spTree>
    <p:extLst>
      <p:ext uri="{BB962C8B-B14F-4D97-AF65-F5344CB8AC3E}">
        <p14:creationId xmlns:p14="http://schemas.microsoft.com/office/powerpoint/2010/main" val="3332933065"/>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2" y="3088902"/>
            <a:ext cx="2328687" cy="680196"/>
          </a:xfrm>
        </p:spPr>
        <p:txBody>
          <a:bodyPr/>
          <a:lstStyle/>
          <a:p>
            <a:r>
              <a:rPr lang="en-US" dirty="0"/>
              <a:t>Define Private Link Services and Private Endpoints overview </a:t>
            </a:r>
          </a:p>
        </p:txBody>
      </p:sp>
      <p:sp>
        <p:nvSpPr>
          <p:cNvPr id="6" name="Text Placeholder 5"/>
          <p:cNvSpPr>
            <a:spLocks noGrp="1"/>
          </p:cNvSpPr>
          <p:nvPr>
            <p:ph type="body" sz="quarter" idx="11"/>
          </p:nvPr>
        </p:nvSpPr>
        <p:spPr/>
        <p:txBody>
          <a:bodyPr/>
          <a:lstStyle/>
          <a:p>
            <a:pPr lvl="1"/>
            <a:r>
              <a:rPr lang="en-US" dirty="0"/>
              <a:t>What is Azure Private Link?</a:t>
            </a:r>
          </a:p>
        </p:txBody>
      </p:sp>
      <p:sp>
        <p:nvSpPr>
          <p:cNvPr id="2" name="Text Placeholder 1"/>
          <p:cNvSpPr>
            <a:spLocks noGrp="1"/>
          </p:cNvSpPr>
          <p:nvPr>
            <p:ph type="body" sz="quarter" idx="15"/>
          </p:nvPr>
        </p:nvSpPr>
        <p:spPr/>
        <p:txBody>
          <a:bodyPr/>
          <a:lstStyle/>
          <a:p>
            <a:pPr lvl="1"/>
            <a:r>
              <a:rPr lang="en-US" dirty="0"/>
              <a:t>What is Azure Private endpoint?</a:t>
            </a:r>
          </a:p>
        </p:txBody>
      </p:sp>
      <p:sp>
        <p:nvSpPr>
          <p:cNvPr id="3" name="Text Placeholder 2"/>
          <p:cNvSpPr>
            <a:spLocks noGrp="1"/>
          </p:cNvSpPr>
          <p:nvPr>
            <p:ph type="body" sz="quarter" idx="17"/>
          </p:nvPr>
        </p:nvSpPr>
        <p:spPr/>
        <p:txBody>
          <a:bodyPr/>
          <a:lstStyle/>
          <a:p>
            <a:pPr lvl="1"/>
            <a:r>
              <a:rPr lang="en-US" dirty="0"/>
              <a:t>What is Azure private Link service?</a:t>
            </a:r>
          </a:p>
        </p:txBody>
      </p:sp>
      <p:sp>
        <p:nvSpPr>
          <p:cNvPr id="4" name="Text Placeholder 3"/>
          <p:cNvSpPr>
            <a:spLocks noGrp="1"/>
          </p:cNvSpPr>
          <p:nvPr>
            <p:ph type="body" sz="quarter" idx="19"/>
          </p:nvPr>
        </p:nvSpPr>
        <p:spPr/>
        <p:txBody>
          <a:bodyPr/>
          <a:lstStyle/>
          <a:p>
            <a:pPr lvl="1"/>
            <a:r>
              <a:rPr lang="en-US" dirty="0"/>
              <a:t>Private Link service workflow </a:t>
            </a:r>
          </a:p>
        </p:txBody>
      </p:sp>
      <p:sp>
        <p:nvSpPr>
          <p:cNvPr id="5" name="Text Placeholder 4"/>
          <p:cNvSpPr>
            <a:spLocks noGrp="1"/>
          </p:cNvSpPr>
          <p:nvPr>
            <p:ph type="body" sz="quarter" idx="21"/>
          </p:nvPr>
        </p:nvSpPr>
        <p:spPr/>
        <p:txBody>
          <a:bodyPr/>
          <a:lstStyle/>
          <a:p>
            <a:pPr lvl="1"/>
            <a:r>
              <a:rPr lang="en-US" dirty="0"/>
              <a:t>Private endpoint properties </a:t>
            </a:r>
          </a:p>
        </p:txBody>
      </p:sp>
      <p:sp>
        <p:nvSpPr>
          <p:cNvPr id="7" name="Text Placeholder 6">
            <a:extLst>
              <a:ext uri="{FF2B5EF4-FFF2-40B4-BE49-F238E27FC236}">
                <a16:creationId xmlns:a16="http://schemas.microsoft.com/office/drawing/2014/main" id="{F614785D-84F2-4E5E-8457-0AB1E0C75508}"/>
              </a:ext>
            </a:extLst>
          </p:cNvPr>
          <p:cNvSpPr>
            <a:spLocks noGrp="1"/>
          </p:cNvSpPr>
          <p:nvPr>
            <p:ph type="body" sz="quarter" idx="22"/>
          </p:nvPr>
        </p:nvSpPr>
        <p:spPr/>
        <p:txBody>
          <a:bodyPr/>
          <a:lstStyle/>
          <a:p>
            <a:pPr lvl="1"/>
            <a:r>
              <a:rPr lang="en-US" dirty="0"/>
              <a:t>Demonstration </a:t>
            </a:r>
          </a:p>
        </p:txBody>
      </p:sp>
      <p:sp>
        <p:nvSpPr>
          <p:cNvPr id="32" name="Text Placeholder 31">
            <a:extLst>
              <a:ext uri="{FF2B5EF4-FFF2-40B4-BE49-F238E27FC236}">
                <a16:creationId xmlns:a16="http://schemas.microsoft.com/office/drawing/2014/main" id="{0EABA8D5-0A1B-4505-8E5A-DF6F2BF63FC3}"/>
              </a:ext>
            </a:extLst>
          </p:cNvPr>
          <p:cNvSpPr>
            <a:spLocks noGrp="1"/>
          </p:cNvSpPr>
          <p:nvPr>
            <p:ph type="body" sz="quarter" idx="23"/>
          </p:nvPr>
        </p:nvSpPr>
        <p:spPr/>
        <p:txBody>
          <a:bodyPr/>
          <a:lstStyle/>
          <a:p>
            <a:pPr lvl="1"/>
            <a:r>
              <a:rPr lang="en-US" dirty="0"/>
              <a:t>Review </a:t>
            </a:r>
          </a:p>
        </p:txBody>
      </p:sp>
      <p:grpSp>
        <p:nvGrpSpPr>
          <p:cNvPr id="15" name="Group 14">
            <a:extLst>
              <a:ext uri="{FF2B5EF4-FFF2-40B4-BE49-F238E27FC236}">
                <a16:creationId xmlns:a16="http://schemas.microsoft.com/office/drawing/2014/main" id="{1F3DFCEF-830B-4C9C-93E9-5EAAF2BDBAB1}"/>
              </a:ext>
              <a:ext uri="{C183D7F6-B498-43B3-948B-1728B52AA6E4}">
                <adec:decorative xmlns:adec="http://schemas.microsoft.com/office/drawing/2017/decorative" val="1"/>
              </a:ext>
            </a:extLst>
          </p:cNvPr>
          <p:cNvGrpSpPr/>
          <p:nvPr/>
        </p:nvGrpSpPr>
        <p:grpSpPr>
          <a:xfrm>
            <a:off x="3088645" y="480082"/>
            <a:ext cx="648329" cy="5024333"/>
            <a:chOff x="3088645" y="480082"/>
            <a:chExt cx="648329" cy="5024333"/>
          </a:xfrm>
        </p:grpSpPr>
        <p:grpSp>
          <p:nvGrpSpPr>
            <p:cNvPr id="25" name="Group 24">
              <a:extLst>
                <a:ext uri="{FF2B5EF4-FFF2-40B4-BE49-F238E27FC236}">
                  <a16:creationId xmlns:a16="http://schemas.microsoft.com/office/drawing/2014/main" id="{22D9ADD6-F6B0-4B5D-B1E7-4FAE29F3C87F}"/>
                </a:ext>
              </a:extLst>
            </p:cNvPr>
            <p:cNvGrpSpPr/>
            <p:nvPr/>
          </p:nvGrpSpPr>
          <p:grpSpPr>
            <a:xfrm>
              <a:off x="3088645" y="480082"/>
              <a:ext cx="648328" cy="648421"/>
              <a:chOff x="3088645" y="480082"/>
              <a:chExt cx="648328" cy="648421"/>
            </a:xfrm>
          </p:grpSpPr>
          <p:grpSp>
            <p:nvGrpSpPr>
              <p:cNvPr id="23" name="Group 22">
                <a:extLst>
                  <a:ext uri="{FF2B5EF4-FFF2-40B4-BE49-F238E27FC236}">
                    <a16:creationId xmlns:a16="http://schemas.microsoft.com/office/drawing/2014/main" id="{487252BB-E014-404B-A18B-AE3FFC133111}"/>
                  </a:ext>
                </a:extLst>
              </p:cNvPr>
              <p:cNvGrpSpPr/>
              <p:nvPr/>
            </p:nvGrpSpPr>
            <p:grpSpPr>
              <a:xfrm>
                <a:off x="3088645" y="480082"/>
                <a:ext cx="648328" cy="648421"/>
                <a:chOff x="3088645" y="480082"/>
                <a:chExt cx="648328" cy="648421"/>
              </a:xfrm>
            </p:grpSpPr>
            <p:sp>
              <p:nvSpPr>
                <p:cNvPr id="140" name="Freeform 5">
                  <a:extLst>
                    <a:ext uri="{FF2B5EF4-FFF2-40B4-BE49-F238E27FC236}">
                      <a16:creationId xmlns:a16="http://schemas.microsoft.com/office/drawing/2014/main" id="{DE8AF025-2E98-4B44-A38C-BC241F037DD7}"/>
                    </a:ext>
                  </a:extLst>
                </p:cNvPr>
                <p:cNvSpPr>
                  <a:spLocks/>
                </p:cNvSpPr>
                <p:nvPr/>
              </p:nvSpPr>
              <p:spPr bwMode="auto">
                <a:xfrm>
                  <a:off x="3088645" y="480082"/>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41" name="Freeform 6">
                  <a:extLst>
                    <a:ext uri="{FF2B5EF4-FFF2-40B4-BE49-F238E27FC236}">
                      <a16:creationId xmlns:a16="http://schemas.microsoft.com/office/drawing/2014/main" id="{7A727523-B56D-47D9-AA13-3FECAE967935}"/>
                    </a:ext>
                  </a:extLst>
                </p:cNvPr>
                <p:cNvSpPr>
                  <a:spLocks noEditPoints="1"/>
                </p:cNvSpPr>
                <p:nvPr/>
              </p:nvSpPr>
              <p:spPr bwMode="auto">
                <a:xfrm>
                  <a:off x="3133231" y="525199"/>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8506289D-CBBD-4B48-A547-C4E511F8A6A5}"/>
                  </a:ext>
                </a:extLst>
              </p:cNvPr>
              <p:cNvPicPr>
                <a:picLocks noChangeAspect="1"/>
              </p:cNvPicPr>
              <p:nvPr/>
            </p:nvPicPr>
            <p:blipFill>
              <a:blip r:embed="rId3"/>
              <a:stretch>
                <a:fillRect/>
              </a:stretch>
            </p:blipFill>
            <p:spPr>
              <a:xfrm>
                <a:off x="3241436" y="633445"/>
                <a:ext cx="343794" cy="343794"/>
              </a:xfrm>
              <a:prstGeom prst="rect">
                <a:avLst/>
              </a:prstGeom>
            </p:spPr>
          </p:pic>
        </p:grpSp>
        <p:grpSp>
          <p:nvGrpSpPr>
            <p:cNvPr id="26" name="Group 25">
              <a:extLst>
                <a:ext uri="{FF2B5EF4-FFF2-40B4-BE49-F238E27FC236}">
                  <a16:creationId xmlns:a16="http://schemas.microsoft.com/office/drawing/2014/main" id="{1AD2D33C-6D93-452C-8019-D0903D89CC87}"/>
                </a:ext>
              </a:extLst>
            </p:cNvPr>
            <p:cNvGrpSpPr/>
            <p:nvPr/>
          </p:nvGrpSpPr>
          <p:grpSpPr>
            <a:xfrm>
              <a:off x="3088645" y="1209401"/>
              <a:ext cx="648328" cy="648421"/>
              <a:chOff x="3088645" y="1209401"/>
              <a:chExt cx="648328" cy="648421"/>
            </a:xfrm>
          </p:grpSpPr>
          <p:grpSp>
            <p:nvGrpSpPr>
              <p:cNvPr id="24" name="Group 23">
                <a:extLst>
                  <a:ext uri="{FF2B5EF4-FFF2-40B4-BE49-F238E27FC236}">
                    <a16:creationId xmlns:a16="http://schemas.microsoft.com/office/drawing/2014/main" id="{0D57C996-6806-4E9F-834B-818FEDEA0E03}"/>
                  </a:ext>
                </a:extLst>
              </p:cNvPr>
              <p:cNvGrpSpPr/>
              <p:nvPr/>
            </p:nvGrpSpPr>
            <p:grpSpPr>
              <a:xfrm>
                <a:off x="3088645" y="1209401"/>
                <a:ext cx="648328" cy="648421"/>
                <a:chOff x="3088645" y="1209401"/>
                <a:chExt cx="648328" cy="648421"/>
              </a:xfrm>
            </p:grpSpPr>
            <p:sp>
              <p:nvSpPr>
                <p:cNvPr id="153" name="Freeform 5">
                  <a:extLst>
                    <a:ext uri="{FF2B5EF4-FFF2-40B4-BE49-F238E27FC236}">
                      <a16:creationId xmlns:a16="http://schemas.microsoft.com/office/drawing/2014/main" id="{46ED99BD-CDF6-4126-AC63-CC6947FF46CB}"/>
                    </a:ext>
                  </a:extLst>
                </p:cNvPr>
                <p:cNvSpPr>
                  <a:spLocks/>
                </p:cNvSpPr>
                <p:nvPr/>
              </p:nvSpPr>
              <p:spPr bwMode="auto">
                <a:xfrm>
                  <a:off x="3088645" y="1209401"/>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54" name="Freeform 6">
                  <a:extLst>
                    <a:ext uri="{FF2B5EF4-FFF2-40B4-BE49-F238E27FC236}">
                      <a16:creationId xmlns:a16="http://schemas.microsoft.com/office/drawing/2014/main" id="{AB179D2D-51C2-4D79-8395-7BB633939BA6}"/>
                    </a:ext>
                  </a:extLst>
                </p:cNvPr>
                <p:cNvSpPr>
                  <a:spLocks noEditPoints="1"/>
                </p:cNvSpPr>
                <p:nvPr/>
              </p:nvSpPr>
              <p:spPr bwMode="auto">
                <a:xfrm>
                  <a:off x="3133231" y="1254518"/>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DECEC8E4-1C93-4D14-8D9C-B9E0F9962EFD}"/>
                  </a:ext>
                </a:extLst>
              </p:cNvPr>
              <p:cNvPicPr>
                <a:picLocks noChangeAspect="1"/>
              </p:cNvPicPr>
              <p:nvPr/>
            </p:nvPicPr>
            <p:blipFill>
              <a:blip r:embed="rId4"/>
              <a:stretch>
                <a:fillRect/>
              </a:stretch>
            </p:blipFill>
            <p:spPr>
              <a:xfrm>
                <a:off x="3240912" y="1361714"/>
                <a:ext cx="343794" cy="343794"/>
              </a:xfrm>
              <a:prstGeom prst="rect">
                <a:avLst/>
              </a:prstGeom>
            </p:spPr>
          </p:pic>
        </p:grpSp>
        <p:grpSp>
          <p:nvGrpSpPr>
            <p:cNvPr id="29" name="Group 28">
              <a:extLst>
                <a:ext uri="{FF2B5EF4-FFF2-40B4-BE49-F238E27FC236}">
                  <a16:creationId xmlns:a16="http://schemas.microsoft.com/office/drawing/2014/main" id="{5F3A4ACE-4E4D-472B-AE1D-23E2E88B8BBE}"/>
                </a:ext>
              </a:extLst>
            </p:cNvPr>
            <p:cNvGrpSpPr/>
            <p:nvPr/>
          </p:nvGrpSpPr>
          <p:grpSpPr>
            <a:xfrm>
              <a:off x="3088645" y="1938720"/>
              <a:ext cx="648328" cy="648421"/>
              <a:chOff x="3088645" y="1938720"/>
              <a:chExt cx="648328" cy="648421"/>
            </a:xfrm>
          </p:grpSpPr>
          <p:grpSp>
            <p:nvGrpSpPr>
              <p:cNvPr id="21" name="Group 20">
                <a:extLst>
                  <a:ext uri="{FF2B5EF4-FFF2-40B4-BE49-F238E27FC236}">
                    <a16:creationId xmlns:a16="http://schemas.microsoft.com/office/drawing/2014/main" id="{1C4A1083-D448-46B3-93FF-8AD131110189}"/>
                  </a:ext>
                </a:extLst>
              </p:cNvPr>
              <p:cNvGrpSpPr/>
              <p:nvPr/>
            </p:nvGrpSpPr>
            <p:grpSpPr>
              <a:xfrm>
                <a:off x="3088645" y="1938720"/>
                <a:ext cx="648328" cy="648421"/>
                <a:chOff x="3088645" y="1938720"/>
                <a:chExt cx="648328" cy="648421"/>
              </a:xfrm>
            </p:grpSpPr>
            <p:sp>
              <p:nvSpPr>
                <p:cNvPr id="160" name="Freeform 5">
                  <a:extLst>
                    <a:ext uri="{FF2B5EF4-FFF2-40B4-BE49-F238E27FC236}">
                      <a16:creationId xmlns:a16="http://schemas.microsoft.com/office/drawing/2014/main" id="{522F9478-7E82-4490-8F10-BE0EDAB7924A}"/>
                    </a:ext>
                  </a:extLst>
                </p:cNvPr>
                <p:cNvSpPr>
                  <a:spLocks/>
                </p:cNvSpPr>
                <p:nvPr/>
              </p:nvSpPr>
              <p:spPr bwMode="auto">
                <a:xfrm>
                  <a:off x="3088645" y="1938720"/>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61" name="Freeform 6">
                  <a:extLst>
                    <a:ext uri="{FF2B5EF4-FFF2-40B4-BE49-F238E27FC236}">
                      <a16:creationId xmlns:a16="http://schemas.microsoft.com/office/drawing/2014/main" id="{849B0907-1A59-46CF-8A32-AAEA6C32F03E}"/>
                    </a:ext>
                  </a:extLst>
                </p:cNvPr>
                <p:cNvSpPr>
                  <a:spLocks noEditPoints="1"/>
                </p:cNvSpPr>
                <p:nvPr/>
              </p:nvSpPr>
              <p:spPr bwMode="auto">
                <a:xfrm>
                  <a:off x="3133231" y="1983837"/>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C6D1CD6F-A4C9-4FB9-9845-6349BC117CE4}"/>
                  </a:ext>
                </a:extLst>
              </p:cNvPr>
              <p:cNvPicPr>
                <a:picLocks noChangeAspect="1"/>
              </p:cNvPicPr>
              <p:nvPr/>
            </p:nvPicPr>
            <p:blipFill>
              <a:blip r:embed="rId5"/>
              <a:stretch>
                <a:fillRect/>
              </a:stretch>
            </p:blipFill>
            <p:spPr>
              <a:xfrm>
                <a:off x="3240912" y="2091033"/>
                <a:ext cx="343794" cy="343794"/>
              </a:xfrm>
              <a:prstGeom prst="rect">
                <a:avLst/>
              </a:prstGeom>
            </p:spPr>
          </p:pic>
        </p:grpSp>
        <p:grpSp>
          <p:nvGrpSpPr>
            <p:cNvPr id="30" name="Group 29">
              <a:extLst>
                <a:ext uri="{FF2B5EF4-FFF2-40B4-BE49-F238E27FC236}">
                  <a16:creationId xmlns:a16="http://schemas.microsoft.com/office/drawing/2014/main" id="{386BC80C-13C3-48C1-B8A0-CB1818C4B28B}"/>
                </a:ext>
              </a:extLst>
            </p:cNvPr>
            <p:cNvGrpSpPr/>
            <p:nvPr/>
          </p:nvGrpSpPr>
          <p:grpSpPr>
            <a:xfrm>
              <a:off x="3088645" y="2668039"/>
              <a:ext cx="648328" cy="648421"/>
              <a:chOff x="3088645" y="2668039"/>
              <a:chExt cx="648328" cy="648421"/>
            </a:xfrm>
          </p:grpSpPr>
          <p:grpSp>
            <p:nvGrpSpPr>
              <p:cNvPr id="28" name="Group 27">
                <a:extLst>
                  <a:ext uri="{FF2B5EF4-FFF2-40B4-BE49-F238E27FC236}">
                    <a16:creationId xmlns:a16="http://schemas.microsoft.com/office/drawing/2014/main" id="{90B6DB06-A21C-4370-AA75-9444BE3ACCB9}"/>
                  </a:ext>
                </a:extLst>
              </p:cNvPr>
              <p:cNvGrpSpPr/>
              <p:nvPr/>
            </p:nvGrpSpPr>
            <p:grpSpPr>
              <a:xfrm>
                <a:off x="3088645" y="2668039"/>
                <a:ext cx="648328" cy="648421"/>
                <a:chOff x="3088645" y="2668039"/>
                <a:chExt cx="648328" cy="648421"/>
              </a:xfrm>
            </p:grpSpPr>
            <p:sp>
              <p:nvSpPr>
                <p:cNvPr id="173" name="Freeform 5">
                  <a:extLst>
                    <a:ext uri="{FF2B5EF4-FFF2-40B4-BE49-F238E27FC236}">
                      <a16:creationId xmlns:a16="http://schemas.microsoft.com/office/drawing/2014/main" id="{3D4F9CBC-E9AC-4281-96C3-BFB5FEE97E7E}"/>
                    </a:ext>
                  </a:extLst>
                </p:cNvPr>
                <p:cNvSpPr>
                  <a:spLocks/>
                </p:cNvSpPr>
                <p:nvPr/>
              </p:nvSpPr>
              <p:spPr bwMode="auto">
                <a:xfrm>
                  <a:off x="3088645" y="2668039"/>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74" name="Freeform 6">
                  <a:extLst>
                    <a:ext uri="{FF2B5EF4-FFF2-40B4-BE49-F238E27FC236}">
                      <a16:creationId xmlns:a16="http://schemas.microsoft.com/office/drawing/2014/main" id="{DDA8F4C3-1DE2-4CF2-B4A6-08572A50AD69}"/>
                    </a:ext>
                  </a:extLst>
                </p:cNvPr>
                <p:cNvSpPr>
                  <a:spLocks noEditPoints="1"/>
                </p:cNvSpPr>
                <p:nvPr/>
              </p:nvSpPr>
              <p:spPr bwMode="auto">
                <a:xfrm>
                  <a:off x="3133231" y="2713156"/>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F2CCC079-C0AA-4EB6-B85B-1E14898C8737}"/>
                  </a:ext>
                </a:extLst>
              </p:cNvPr>
              <p:cNvPicPr>
                <a:picLocks noChangeAspect="1"/>
              </p:cNvPicPr>
              <p:nvPr/>
            </p:nvPicPr>
            <p:blipFill>
              <a:blip r:embed="rId6"/>
              <a:stretch>
                <a:fillRect/>
              </a:stretch>
            </p:blipFill>
            <p:spPr>
              <a:xfrm>
                <a:off x="3289214" y="2820352"/>
                <a:ext cx="247191" cy="343794"/>
              </a:xfrm>
              <a:prstGeom prst="rect">
                <a:avLst/>
              </a:prstGeom>
            </p:spPr>
          </p:pic>
        </p:grpSp>
        <p:grpSp>
          <p:nvGrpSpPr>
            <p:cNvPr id="31" name="Group 30">
              <a:extLst>
                <a:ext uri="{FF2B5EF4-FFF2-40B4-BE49-F238E27FC236}">
                  <a16:creationId xmlns:a16="http://schemas.microsoft.com/office/drawing/2014/main" id="{7D80C3C3-9306-46CE-AEC2-3E77179C221C}"/>
                </a:ext>
              </a:extLst>
            </p:cNvPr>
            <p:cNvGrpSpPr/>
            <p:nvPr/>
          </p:nvGrpSpPr>
          <p:grpSpPr>
            <a:xfrm>
              <a:off x="3088645" y="3397358"/>
              <a:ext cx="648328" cy="648421"/>
              <a:chOff x="3088645" y="3397358"/>
              <a:chExt cx="648328" cy="648421"/>
            </a:xfrm>
          </p:grpSpPr>
          <p:grpSp>
            <p:nvGrpSpPr>
              <p:cNvPr id="19" name="Group 18">
                <a:extLst>
                  <a:ext uri="{FF2B5EF4-FFF2-40B4-BE49-F238E27FC236}">
                    <a16:creationId xmlns:a16="http://schemas.microsoft.com/office/drawing/2014/main" id="{95117CE3-0E9B-4447-A3C8-E159CB3F92E5}"/>
                  </a:ext>
                </a:extLst>
              </p:cNvPr>
              <p:cNvGrpSpPr/>
              <p:nvPr/>
            </p:nvGrpSpPr>
            <p:grpSpPr>
              <a:xfrm>
                <a:off x="3088645" y="3397358"/>
                <a:ext cx="648328" cy="648421"/>
                <a:chOff x="3088645" y="3397358"/>
                <a:chExt cx="648328" cy="648421"/>
              </a:xfrm>
            </p:grpSpPr>
            <p:sp>
              <p:nvSpPr>
                <p:cNvPr id="107" name="Freeform 5">
                  <a:extLst>
                    <a:ext uri="{FF2B5EF4-FFF2-40B4-BE49-F238E27FC236}">
                      <a16:creationId xmlns:a16="http://schemas.microsoft.com/office/drawing/2014/main" id="{9474CA11-8D78-4EC6-A276-679EF16D3D96}"/>
                    </a:ext>
                  </a:extLst>
                </p:cNvPr>
                <p:cNvSpPr>
                  <a:spLocks/>
                </p:cNvSpPr>
                <p:nvPr/>
              </p:nvSpPr>
              <p:spPr bwMode="auto">
                <a:xfrm>
                  <a:off x="3088645" y="3397358"/>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8" name="Freeform 6">
                  <a:extLst>
                    <a:ext uri="{FF2B5EF4-FFF2-40B4-BE49-F238E27FC236}">
                      <a16:creationId xmlns:a16="http://schemas.microsoft.com/office/drawing/2014/main" id="{9B2D8782-888C-4CF5-9681-D1A1887683D0}"/>
                    </a:ext>
                  </a:extLst>
                </p:cNvPr>
                <p:cNvSpPr>
                  <a:spLocks noEditPoints="1"/>
                </p:cNvSpPr>
                <p:nvPr/>
              </p:nvSpPr>
              <p:spPr bwMode="auto">
                <a:xfrm>
                  <a:off x="3133231" y="3442475"/>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490EA50-A693-4AC6-84FD-4D2DB9090CBD}"/>
                  </a:ext>
                </a:extLst>
              </p:cNvPr>
              <p:cNvPicPr>
                <a:picLocks noChangeAspect="1"/>
              </p:cNvPicPr>
              <p:nvPr/>
            </p:nvPicPr>
            <p:blipFill>
              <a:blip r:embed="rId7"/>
              <a:stretch>
                <a:fillRect/>
              </a:stretch>
            </p:blipFill>
            <p:spPr>
              <a:xfrm>
                <a:off x="3243943" y="3594850"/>
                <a:ext cx="337732" cy="253437"/>
              </a:xfrm>
              <a:prstGeom prst="rect">
                <a:avLst/>
              </a:prstGeom>
            </p:spPr>
          </p:pic>
        </p:grpSp>
        <p:grpSp>
          <p:nvGrpSpPr>
            <p:cNvPr id="33" name="Group 32">
              <a:extLst>
                <a:ext uri="{FF2B5EF4-FFF2-40B4-BE49-F238E27FC236}">
                  <a16:creationId xmlns:a16="http://schemas.microsoft.com/office/drawing/2014/main" id="{90917E78-AD9A-4BD2-A0DE-1468FBEFD828}"/>
                </a:ext>
              </a:extLst>
            </p:cNvPr>
            <p:cNvGrpSpPr/>
            <p:nvPr/>
          </p:nvGrpSpPr>
          <p:grpSpPr>
            <a:xfrm>
              <a:off x="3088645" y="4126677"/>
              <a:ext cx="648328" cy="648421"/>
              <a:chOff x="3088645" y="4126677"/>
              <a:chExt cx="648328" cy="648421"/>
            </a:xfrm>
          </p:grpSpPr>
          <p:grpSp>
            <p:nvGrpSpPr>
              <p:cNvPr id="18" name="Group 17">
                <a:extLst>
                  <a:ext uri="{FF2B5EF4-FFF2-40B4-BE49-F238E27FC236}">
                    <a16:creationId xmlns:a16="http://schemas.microsoft.com/office/drawing/2014/main" id="{5D3BD2C7-2A7D-4F86-9D6E-B86CB2DBFE6A}"/>
                  </a:ext>
                </a:extLst>
              </p:cNvPr>
              <p:cNvGrpSpPr/>
              <p:nvPr/>
            </p:nvGrpSpPr>
            <p:grpSpPr>
              <a:xfrm>
                <a:off x="3088645" y="4126677"/>
                <a:ext cx="648328" cy="648421"/>
                <a:chOff x="3088645" y="4126677"/>
                <a:chExt cx="648328" cy="648421"/>
              </a:xfrm>
            </p:grpSpPr>
            <p:sp>
              <p:nvSpPr>
                <p:cNvPr id="133" name="Freeform 5">
                  <a:extLst>
                    <a:ext uri="{FF2B5EF4-FFF2-40B4-BE49-F238E27FC236}">
                      <a16:creationId xmlns:a16="http://schemas.microsoft.com/office/drawing/2014/main" id="{61B7FE4E-A54C-4AB3-B855-6A86D033CE0F}"/>
                    </a:ext>
                  </a:extLst>
                </p:cNvPr>
                <p:cNvSpPr>
                  <a:spLocks/>
                </p:cNvSpPr>
                <p:nvPr/>
              </p:nvSpPr>
              <p:spPr bwMode="auto">
                <a:xfrm>
                  <a:off x="3088645" y="4126677"/>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34" name="Freeform 6">
                  <a:extLst>
                    <a:ext uri="{FF2B5EF4-FFF2-40B4-BE49-F238E27FC236}">
                      <a16:creationId xmlns:a16="http://schemas.microsoft.com/office/drawing/2014/main" id="{212CD6A7-0C2A-4CB7-B2D0-E7E7F037253C}"/>
                    </a:ext>
                  </a:extLst>
                </p:cNvPr>
                <p:cNvSpPr>
                  <a:spLocks noEditPoints="1"/>
                </p:cNvSpPr>
                <p:nvPr/>
              </p:nvSpPr>
              <p:spPr bwMode="auto">
                <a:xfrm>
                  <a:off x="3133231" y="4171794"/>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3" name="Picture 12" descr="Icon of coding brackets">
                <a:extLst>
                  <a:ext uri="{FF2B5EF4-FFF2-40B4-BE49-F238E27FC236}">
                    <a16:creationId xmlns:a16="http://schemas.microsoft.com/office/drawing/2014/main" id="{7AA290B3-ADDF-431A-9250-5322DBA77ED6}"/>
                  </a:ext>
                </a:extLst>
              </p:cNvPr>
              <p:cNvPicPr>
                <a:picLocks noChangeAspect="1"/>
              </p:cNvPicPr>
              <p:nvPr/>
            </p:nvPicPr>
            <p:blipFill>
              <a:blip r:embed="rId8"/>
              <a:stretch>
                <a:fillRect/>
              </a:stretch>
            </p:blipFill>
            <p:spPr>
              <a:xfrm>
                <a:off x="3241292" y="4279370"/>
                <a:ext cx="343035" cy="343035"/>
              </a:xfrm>
              <a:prstGeom prst="rect">
                <a:avLst/>
              </a:prstGeom>
            </p:spPr>
          </p:pic>
        </p:grpSp>
        <p:grpSp>
          <p:nvGrpSpPr>
            <p:cNvPr id="34" name="Group 33">
              <a:extLst>
                <a:ext uri="{FF2B5EF4-FFF2-40B4-BE49-F238E27FC236}">
                  <a16:creationId xmlns:a16="http://schemas.microsoft.com/office/drawing/2014/main" id="{AC684AC9-6518-4DC6-A1AA-30095D06C456}"/>
                </a:ext>
              </a:extLst>
            </p:cNvPr>
            <p:cNvGrpSpPr/>
            <p:nvPr/>
          </p:nvGrpSpPr>
          <p:grpSpPr>
            <a:xfrm>
              <a:off x="3088645" y="4855994"/>
              <a:ext cx="648329" cy="648421"/>
              <a:chOff x="3088645" y="4855994"/>
              <a:chExt cx="648329" cy="648421"/>
            </a:xfrm>
          </p:grpSpPr>
          <p:grpSp>
            <p:nvGrpSpPr>
              <p:cNvPr id="16" name="Group 15">
                <a:extLst>
                  <a:ext uri="{FF2B5EF4-FFF2-40B4-BE49-F238E27FC236}">
                    <a16:creationId xmlns:a16="http://schemas.microsoft.com/office/drawing/2014/main" id="{3F7D0CAC-211F-459F-B1EB-52595A1A6323}"/>
                  </a:ext>
                </a:extLst>
              </p:cNvPr>
              <p:cNvGrpSpPr/>
              <p:nvPr/>
            </p:nvGrpSpPr>
            <p:grpSpPr>
              <a:xfrm>
                <a:off x="3088645" y="4855994"/>
                <a:ext cx="648329" cy="648421"/>
                <a:chOff x="3088645" y="4855994"/>
                <a:chExt cx="648329" cy="648421"/>
              </a:xfrm>
            </p:grpSpPr>
            <p:sp>
              <p:nvSpPr>
                <p:cNvPr id="94" name="Freeform 5">
                  <a:extLst>
                    <a:ext uri="{FF2B5EF4-FFF2-40B4-BE49-F238E27FC236}">
                      <a16:creationId xmlns:a16="http://schemas.microsoft.com/office/drawing/2014/main" id="{2B5E6A94-C6D5-42AF-B89B-310056DC042A}"/>
                    </a:ext>
                  </a:extLst>
                </p:cNvPr>
                <p:cNvSpPr>
                  <a:spLocks/>
                </p:cNvSpPr>
                <p:nvPr/>
              </p:nvSpPr>
              <p:spPr bwMode="auto">
                <a:xfrm>
                  <a:off x="3088645" y="485599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95" name="Freeform 6">
                  <a:extLst>
                    <a:ext uri="{FF2B5EF4-FFF2-40B4-BE49-F238E27FC236}">
                      <a16:creationId xmlns:a16="http://schemas.microsoft.com/office/drawing/2014/main" id="{1D0893B1-8F26-4D9A-AEE0-0CF8243D6CB2}"/>
                    </a:ext>
                  </a:extLst>
                </p:cNvPr>
                <p:cNvSpPr>
                  <a:spLocks noEditPoints="1"/>
                </p:cNvSpPr>
                <p:nvPr/>
              </p:nvSpPr>
              <p:spPr bwMode="auto">
                <a:xfrm>
                  <a:off x="3133230" y="4901111"/>
                  <a:ext cx="559158"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4" name="Picture 13" descr="Icon of a screen with a square enclosed by outward pointing chevrons on left and right">
                <a:extLst>
                  <a:ext uri="{FF2B5EF4-FFF2-40B4-BE49-F238E27FC236}">
                    <a16:creationId xmlns:a16="http://schemas.microsoft.com/office/drawing/2014/main" id="{A0B80851-ACFB-44ED-90C5-B1BDCD71114F}"/>
                  </a:ext>
                </a:extLst>
              </p:cNvPr>
              <p:cNvPicPr>
                <a:picLocks noChangeAspect="1"/>
              </p:cNvPicPr>
              <p:nvPr/>
            </p:nvPicPr>
            <p:blipFill>
              <a:blip r:embed="rId9"/>
              <a:stretch>
                <a:fillRect/>
              </a:stretch>
            </p:blipFill>
            <p:spPr>
              <a:xfrm>
                <a:off x="3231869" y="5044425"/>
                <a:ext cx="361881" cy="271559"/>
              </a:xfrm>
              <a:prstGeom prst="rect">
                <a:avLst/>
              </a:prstGeom>
            </p:spPr>
          </p:pic>
        </p:grpSp>
      </p:grpSp>
    </p:spTree>
    <p:extLst>
      <p:ext uri="{BB962C8B-B14F-4D97-AF65-F5344CB8AC3E}">
        <p14:creationId xmlns:p14="http://schemas.microsoft.com/office/powerpoint/2010/main" val="30752167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8DC09-5266-4087-96CA-B5D189023FEA}"/>
              </a:ext>
            </a:extLst>
          </p:cNvPr>
          <p:cNvSpPr>
            <a:spLocks noGrp="1"/>
          </p:cNvSpPr>
          <p:nvPr>
            <p:ph type="title"/>
          </p:nvPr>
        </p:nvSpPr>
        <p:spPr/>
        <p:txBody>
          <a:bodyPr/>
          <a:lstStyle/>
          <a:p>
            <a:r>
              <a:rPr lang="en-US" dirty="0"/>
              <a:t>What is Azure Private Link ? </a:t>
            </a:r>
          </a:p>
        </p:txBody>
      </p:sp>
      <p:sp>
        <p:nvSpPr>
          <p:cNvPr id="6" name="Freeform: Shape 5">
            <a:extLst>
              <a:ext uri="{FF2B5EF4-FFF2-40B4-BE49-F238E27FC236}">
                <a16:creationId xmlns:a16="http://schemas.microsoft.com/office/drawing/2014/main" id="{4215F9F2-831F-4D82-A70C-DBBFCFFDE57F}"/>
              </a:ext>
            </a:extLst>
          </p:cNvPr>
          <p:cNvSpPr/>
          <p:nvPr/>
        </p:nvSpPr>
        <p:spPr>
          <a:xfrm>
            <a:off x="204592" y="1102338"/>
            <a:ext cx="3675342" cy="1292289"/>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cs typeface="Segoe UI Semilight"/>
              </a:rPr>
              <a:t>Integration with on-premises and peered networks</a:t>
            </a:r>
          </a:p>
        </p:txBody>
      </p:sp>
      <p:sp>
        <p:nvSpPr>
          <p:cNvPr id="4" name="Freeform: Shape 3">
            <a:extLst>
              <a:ext uri="{FF2B5EF4-FFF2-40B4-BE49-F238E27FC236}">
                <a16:creationId xmlns:a16="http://schemas.microsoft.com/office/drawing/2014/main" id="{1AB74C13-9E21-4897-8227-D25D4A95FB0E}"/>
              </a:ext>
            </a:extLst>
          </p:cNvPr>
          <p:cNvSpPr/>
          <p:nvPr/>
        </p:nvSpPr>
        <p:spPr>
          <a:xfrm>
            <a:off x="204592" y="3023611"/>
            <a:ext cx="3675342" cy="1292289"/>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cs typeface="Segoe UI Semilight"/>
              </a:rPr>
              <a:t>In the event of a security incident within your network, only the mapped resource would be accessible</a:t>
            </a:r>
          </a:p>
        </p:txBody>
      </p:sp>
      <p:sp>
        <p:nvSpPr>
          <p:cNvPr id="5" name="Freeform: Shape 4">
            <a:extLst>
              <a:ext uri="{FF2B5EF4-FFF2-40B4-BE49-F238E27FC236}">
                <a16:creationId xmlns:a16="http://schemas.microsoft.com/office/drawing/2014/main" id="{4B1EAF5E-A4C6-414F-8635-53DB5D06089A}"/>
              </a:ext>
            </a:extLst>
          </p:cNvPr>
          <p:cNvSpPr/>
          <p:nvPr/>
        </p:nvSpPr>
        <p:spPr>
          <a:xfrm>
            <a:off x="204592" y="4944885"/>
            <a:ext cx="3675342" cy="1292289"/>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cs typeface="Segoe UI Semilight"/>
              </a:rPr>
              <a:t>Private connectivity to services on Azure. Traffic remains on the Microsoft network, with</a:t>
            </a:r>
            <a:br>
              <a:rPr lang="en-US" sz="1961" dirty="0">
                <a:solidFill>
                  <a:schemeClr val="tx1"/>
                </a:solidFill>
                <a:cs typeface="Segoe UI Semilight"/>
              </a:rPr>
            </a:br>
            <a:r>
              <a:rPr lang="en-US" sz="1961" dirty="0">
                <a:solidFill>
                  <a:schemeClr val="tx1"/>
                </a:solidFill>
                <a:cs typeface="Segoe UI Semilight"/>
              </a:rPr>
              <a:t>no public internet access</a:t>
            </a:r>
          </a:p>
        </p:txBody>
      </p:sp>
      <p:pic>
        <p:nvPicPr>
          <p:cNvPr id="8" name="Picture 7" descr="Diagram of azure private link with Azure private link service and private endpoint ">
            <a:extLst>
              <a:ext uri="{FF2B5EF4-FFF2-40B4-BE49-F238E27FC236}">
                <a16:creationId xmlns:a16="http://schemas.microsoft.com/office/drawing/2014/main" id="{698B5B1C-8085-4325-A50A-3C33543169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45145" y="1268284"/>
            <a:ext cx="7574627" cy="4418532"/>
          </a:xfrm>
          <a:prstGeom prst="rect">
            <a:avLst/>
          </a:prstGeom>
        </p:spPr>
      </p:pic>
      <p:sp>
        <p:nvSpPr>
          <p:cNvPr id="3" name="Rectangle 2">
            <a:extLst>
              <a:ext uri="{FF2B5EF4-FFF2-40B4-BE49-F238E27FC236}">
                <a16:creationId xmlns:a16="http://schemas.microsoft.com/office/drawing/2014/main" id="{BC899DB6-F872-4B75-86CE-F63B1E3B0235}"/>
              </a:ext>
              <a:ext uri="{C183D7F6-B498-43B3-948B-1728B52AA6E4}">
                <adec:decorative xmlns:adec="http://schemas.microsoft.com/office/drawing/2017/decorative" val="1"/>
              </a:ext>
            </a:extLst>
          </p:cNvPr>
          <p:cNvSpPr/>
          <p:nvPr/>
        </p:nvSpPr>
        <p:spPr bwMode="auto">
          <a:xfrm>
            <a:off x="4484318" y="699201"/>
            <a:ext cx="7503090" cy="553797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35667359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8DC09-5266-4087-96CA-B5D189023FEA}"/>
              </a:ext>
            </a:extLst>
          </p:cNvPr>
          <p:cNvSpPr>
            <a:spLocks noGrp="1"/>
          </p:cNvSpPr>
          <p:nvPr>
            <p:ph type="title"/>
          </p:nvPr>
        </p:nvSpPr>
        <p:spPr/>
        <p:txBody>
          <a:bodyPr/>
          <a:lstStyle/>
          <a:p>
            <a:r>
              <a:rPr lang="en-US" dirty="0"/>
              <a:t>What is Azure Private Endpoint ? </a:t>
            </a:r>
          </a:p>
        </p:txBody>
      </p:sp>
      <p:sp>
        <p:nvSpPr>
          <p:cNvPr id="3" name="Rectangle 2">
            <a:extLst>
              <a:ext uri="{FF2B5EF4-FFF2-40B4-BE49-F238E27FC236}">
                <a16:creationId xmlns:a16="http://schemas.microsoft.com/office/drawing/2014/main" id="{BC899DB6-F872-4B75-86CE-F63B1E3B0235}"/>
              </a:ext>
              <a:ext uri="{C183D7F6-B498-43B3-948B-1728B52AA6E4}">
                <adec:decorative xmlns:adec="http://schemas.microsoft.com/office/drawing/2017/decorative" val="1"/>
              </a:ext>
            </a:extLst>
          </p:cNvPr>
          <p:cNvSpPr/>
          <p:nvPr/>
        </p:nvSpPr>
        <p:spPr bwMode="auto">
          <a:xfrm>
            <a:off x="418644" y="1169263"/>
            <a:ext cx="11354714" cy="3602818"/>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
        <p:nvSpPr>
          <p:cNvPr id="5" name="Freeform: Shape 4">
            <a:extLst>
              <a:ext uri="{FF2B5EF4-FFF2-40B4-BE49-F238E27FC236}">
                <a16:creationId xmlns:a16="http://schemas.microsoft.com/office/drawing/2014/main" id="{4B1EAF5E-A4C6-414F-8635-53DB5D06089A}"/>
              </a:ext>
            </a:extLst>
          </p:cNvPr>
          <p:cNvSpPr/>
          <p:nvPr/>
        </p:nvSpPr>
        <p:spPr>
          <a:xfrm>
            <a:off x="418644" y="4944885"/>
            <a:ext cx="3675342" cy="1292289"/>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cs typeface="Segoe UI Semilight"/>
              </a:rPr>
              <a:t>The Azure resource becomes, in a sense, a part of your virtual network.</a:t>
            </a:r>
          </a:p>
        </p:txBody>
      </p:sp>
      <p:sp>
        <p:nvSpPr>
          <p:cNvPr id="6" name="Freeform: Shape 5">
            <a:extLst>
              <a:ext uri="{FF2B5EF4-FFF2-40B4-BE49-F238E27FC236}">
                <a16:creationId xmlns:a16="http://schemas.microsoft.com/office/drawing/2014/main" id="{4215F9F2-831F-4D82-A70C-DBBFCFFDE57F}"/>
              </a:ext>
            </a:extLst>
          </p:cNvPr>
          <p:cNvSpPr/>
          <p:nvPr/>
        </p:nvSpPr>
        <p:spPr>
          <a:xfrm>
            <a:off x="4259106" y="4944885"/>
            <a:ext cx="3675342" cy="1292289"/>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ctr"/>
            <a:r>
              <a:rPr lang="en-US" sz="1961" dirty="0">
                <a:solidFill>
                  <a:schemeClr val="tx1"/>
                </a:solidFill>
                <a:cs typeface="Segoe UI Semilight"/>
              </a:rPr>
              <a:t>The connection to the resource now uses the Microsoft Azure backbone network instead of the public internet</a:t>
            </a:r>
          </a:p>
        </p:txBody>
      </p:sp>
      <p:sp>
        <p:nvSpPr>
          <p:cNvPr id="4" name="Freeform: Shape 3">
            <a:extLst>
              <a:ext uri="{FF2B5EF4-FFF2-40B4-BE49-F238E27FC236}">
                <a16:creationId xmlns:a16="http://schemas.microsoft.com/office/drawing/2014/main" id="{1AB74C13-9E21-4897-8227-D25D4A95FB0E}"/>
              </a:ext>
            </a:extLst>
          </p:cNvPr>
          <p:cNvSpPr/>
          <p:nvPr/>
        </p:nvSpPr>
        <p:spPr>
          <a:xfrm>
            <a:off x="8099570" y="4944885"/>
            <a:ext cx="3675342" cy="1292289"/>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Configure the Azure resource to no longer expose its public IP address, which eliminates that potential security risk.</a:t>
            </a:r>
          </a:p>
        </p:txBody>
      </p:sp>
      <p:pic>
        <p:nvPicPr>
          <p:cNvPr id="7" name="Picture 3" descr="An Azure Private Link connects a NSG Private endpoint with SQL database. A direct connection is cancel out ">
            <a:extLst>
              <a:ext uri="{FF2B5EF4-FFF2-40B4-BE49-F238E27FC236}">
                <a16:creationId xmlns:a16="http://schemas.microsoft.com/office/drawing/2014/main" id="{D67A3295-6C52-4F5B-AA6E-DAC42C846F9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7806" y="1285148"/>
            <a:ext cx="9556390" cy="3408397"/>
          </a:xfrm>
          <a:prstGeom prst="rect">
            <a:avLst/>
          </a:prstGeom>
        </p:spPr>
      </p:pic>
    </p:spTree>
    <p:extLst>
      <p:ext uri="{BB962C8B-B14F-4D97-AF65-F5344CB8AC3E}">
        <p14:creationId xmlns:p14="http://schemas.microsoft.com/office/powerpoint/2010/main" val="110862350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7A54D1-16C7-4764-B178-CF3F7B7740C2}"/>
              </a:ext>
            </a:extLst>
          </p:cNvPr>
          <p:cNvSpPr>
            <a:spLocks noGrp="1"/>
          </p:cNvSpPr>
          <p:nvPr>
            <p:ph type="title"/>
          </p:nvPr>
        </p:nvSpPr>
        <p:spPr/>
        <p:txBody>
          <a:bodyPr/>
          <a:lstStyle/>
          <a:p>
            <a:r>
              <a:rPr lang="en-US" sz="2800" dirty="0">
                <a:cs typeface="Segoe UI Semilight"/>
              </a:rPr>
              <a:t>What is Azure Private Link service?</a:t>
            </a:r>
          </a:p>
        </p:txBody>
      </p:sp>
      <p:sp>
        <p:nvSpPr>
          <p:cNvPr id="5" name="Rectangle 4">
            <a:extLst>
              <a:ext uri="{FF2B5EF4-FFF2-40B4-BE49-F238E27FC236}">
                <a16:creationId xmlns:a16="http://schemas.microsoft.com/office/drawing/2014/main" id="{EEB2183D-898E-47C2-8145-85F7C2C40356}"/>
              </a:ext>
              <a:ext uri="{C183D7F6-B498-43B3-948B-1728B52AA6E4}">
                <adec:decorative xmlns:adec="http://schemas.microsoft.com/office/drawing/2017/decorative" val="1"/>
              </a:ext>
            </a:extLst>
          </p:cNvPr>
          <p:cNvSpPr/>
          <p:nvPr/>
        </p:nvSpPr>
        <p:spPr bwMode="auto">
          <a:xfrm>
            <a:off x="264696" y="1169264"/>
            <a:ext cx="11508662" cy="5075125"/>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pic>
        <p:nvPicPr>
          <p:cNvPr id="6" name="Picture 5" descr="Private link service workflow">
            <a:extLst>
              <a:ext uri="{FF2B5EF4-FFF2-40B4-BE49-F238E27FC236}">
                <a16:creationId xmlns:a16="http://schemas.microsoft.com/office/drawing/2014/main" id="{BD8D1100-3757-23D6-2F32-37E7ADED3F33}"/>
              </a:ext>
            </a:extLst>
          </p:cNvPr>
          <p:cNvPicPr>
            <a:picLocks noChangeAspect="1"/>
          </p:cNvPicPr>
          <p:nvPr/>
        </p:nvPicPr>
        <p:blipFill>
          <a:blip r:embed="rId3"/>
          <a:stretch>
            <a:fillRect/>
          </a:stretch>
        </p:blipFill>
        <p:spPr>
          <a:xfrm>
            <a:off x="973741" y="1540860"/>
            <a:ext cx="10244518" cy="4430754"/>
          </a:xfrm>
          <a:prstGeom prst="rect">
            <a:avLst/>
          </a:prstGeom>
        </p:spPr>
      </p:pic>
    </p:spTree>
    <p:extLst>
      <p:ext uri="{BB962C8B-B14F-4D97-AF65-F5344CB8AC3E}">
        <p14:creationId xmlns:p14="http://schemas.microsoft.com/office/powerpoint/2010/main" val="3717965542"/>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2AF23-9A0E-4241-AAB6-90744E27FE23}"/>
              </a:ext>
            </a:extLst>
          </p:cNvPr>
          <p:cNvSpPr>
            <a:spLocks noGrp="1"/>
          </p:cNvSpPr>
          <p:nvPr>
            <p:ph type="title"/>
          </p:nvPr>
        </p:nvSpPr>
        <p:spPr/>
        <p:txBody>
          <a:bodyPr/>
          <a:lstStyle/>
          <a:p>
            <a:r>
              <a:rPr lang="en-US" dirty="0"/>
              <a:t>Private Link service workflow </a:t>
            </a:r>
          </a:p>
        </p:txBody>
      </p:sp>
      <p:pic>
        <p:nvPicPr>
          <p:cNvPr id="1026" name="Picture 2" descr="private link workflow between service customer and service provider ">
            <a:extLst>
              <a:ext uri="{FF2B5EF4-FFF2-40B4-BE49-F238E27FC236}">
                <a16:creationId xmlns:a16="http://schemas.microsoft.com/office/drawing/2014/main" id="{00CF1723-B996-4D18-B79A-3A17214F2D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0795" y="1327823"/>
            <a:ext cx="10594885" cy="4826847"/>
          </a:xfrm>
          <a:prstGeom prst="rect">
            <a:avLst/>
          </a:prstGeom>
          <a:noFill/>
        </p:spPr>
      </p:pic>
      <p:sp>
        <p:nvSpPr>
          <p:cNvPr id="3" name="Rectangle 2">
            <a:extLst>
              <a:ext uri="{FF2B5EF4-FFF2-40B4-BE49-F238E27FC236}">
                <a16:creationId xmlns:a16="http://schemas.microsoft.com/office/drawing/2014/main" id="{98A086C2-EF16-4014-9D0F-BE7AEEC45D34}"/>
              </a:ext>
              <a:ext uri="{C183D7F6-B498-43B3-948B-1728B52AA6E4}">
                <adec:decorative xmlns:adec="http://schemas.microsoft.com/office/drawing/2017/decorative" val="1"/>
              </a:ext>
            </a:extLst>
          </p:cNvPr>
          <p:cNvSpPr/>
          <p:nvPr/>
        </p:nvSpPr>
        <p:spPr bwMode="auto">
          <a:xfrm>
            <a:off x="424090" y="1169264"/>
            <a:ext cx="11349267" cy="513528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42205827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41FDB-D0FD-493B-8C88-5C2BBD14DEBF}"/>
              </a:ext>
            </a:extLst>
          </p:cNvPr>
          <p:cNvSpPr>
            <a:spLocks noGrp="1"/>
          </p:cNvSpPr>
          <p:nvPr>
            <p:ph type="title"/>
          </p:nvPr>
        </p:nvSpPr>
        <p:spPr/>
        <p:txBody>
          <a:bodyPr/>
          <a:lstStyle/>
          <a:p>
            <a:r>
              <a:rPr lang="en-US" dirty="0"/>
              <a:t>Private Endpoint properties</a:t>
            </a:r>
          </a:p>
        </p:txBody>
      </p:sp>
      <p:graphicFrame>
        <p:nvGraphicFramePr>
          <p:cNvPr id="4" name="Table 3">
            <a:extLst>
              <a:ext uri="{FF2B5EF4-FFF2-40B4-BE49-F238E27FC236}">
                <a16:creationId xmlns:a16="http://schemas.microsoft.com/office/drawing/2014/main" id="{7A3E1B7C-631B-41AA-96B7-9D057ED3A195}"/>
              </a:ext>
            </a:extLst>
          </p:cNvPr>
          <p:cNvGraphicFramePr/>
          <p:nvPr>
            <p:extLst>
              <p:ext uri="{D42A27DB-BD31-4B8C-83A1-F6EECF244321}">
                <p14:modId xmlns:p14="http://schemas.microsoft.com/office/powerpoint/2010/main" val="3851323994"/>
              </p:ext>
            </p:extLst>
          </p:nvPr>
        </p:nvGraphicFramePr>
        <p:xfrm>
          <a:off x="424090" y="938732"/>
          <a:ext cx="10822487" cy="5642744"/>
        </p:xfrm>
        <a:graphic>
          <a:graphicData uri="http://schemas.openxmlformats.org/drawingml/2006/table">
            <a:tbl>
              <a:tblPr firstRow="1">
                <a:tableStyleId>{5C22544A-7EE6-4342-B048-85BDC9FD1C3A}</a:tableStyleId>
              </a:tblPr>
              <a:tblGrid>
                <a:gridCol w="1930803">
                  <a:extLst>
                    <a:ext uri="{9D8B030D-6E8A-4147-A177-3AD203B41FA5}">
                      <a16:colId xmlns:a16="http://schemas.microsoft.com/office/drawing/2014/main" val="917886407"/>
                    </a:ext>
                  </a:extLst>
                </a:gridCol>
                <a:gridCol w="8891684">
                  <a:extLst>
                    <a:ext uri="{9D8B030D-6E8A-4147-A177-3AD203B41FA5}">
                      <a16:colId xmlns:a16="http://schemas.microsoft.com/office/drawing/2014/main" val="1521009343"/>
                    </a:ext>
                  </a:extLst>
                </a:gridCol>
              </a:tblGrid>
              <a:tr h="334357">
                <a:tc>
                  <a:txBody>
                    <a:bodyPr/>
                    <a:lstStyle/>
                    <a:p>
                      <a:pPr algn="l" fontAlgn="t">
                        <a:spcBef>
                          <a:spcPts val="0"/>
                        </a:spcBef>
                        <a:spcAft>
                          <a:spcPts val="0"/>
                        </a:spcAft>
                      </a:pPr>
                      <a:r>
                        <a:rPr lang="en-US" sz="1600" b="1" u="none" strike="noStrike" dirty="0">
                          <a:effectLst/>
                        </a:rPr>
                        <a:t>Property</a:t>
                      </a:r>
                      <a:endParaRPr lang="en-US" sz="1600" b="1" i="0" u="none" strike="noStrike" dirty="0">
                        <a:effectLst/>
                        <a:latin typeface="Arial" panose="020B0604020202020204" pitchFamily="34" charset="0"/>
                      </a:endParaRPr>
                    </a:p>
                  </a:txBody>
                  <a:tcPr marL="21757" marR="21757" marT="10878" marB="10878"/>
                </a:tc>
                <a:tc>
                  <a:txBody>
                    <a:bodyPr/>
                    <a:lstStyle/>
                    <a:p>
                      <a:pPr algn="l" fontAlgn="t">
                        <a:spcBef>
                          <a:spcPts val="0"/>
                        </a:spcBef>
                        <a:spcAft>
                          <a:spcPts val="0"/>
                        </a:spcAft>
                      </a:pPr>
                      <a:r>
                        <a:rPr lang="en-US" sz="1600" u="none" strike="noStrike" dirty="0">
                          <a:effectLst/>
                        </a:rPr>
                        <a:t>Description</a:t>
                      </a:r>
                      <a:endParaRPr lang="en-US" sz="1600" b="0" i="0" u="none" strike="noStrike" dirty="0">
                        <a:effectLst/>
                        <a:latin typeface="Arial" panose="020B0604020202020204" pitchFamily="34" charset="0"/>
                      </a:endParaRPr>
                    </a:p>
                  </a:txBody>
                  <a:tcPr marL="21757" marR="21757" marT="10878" marB="10878"/>
                </a:tc>
                <a:extLst>
                  <a:ext uri="{0D108BD9-81ED-4DB2-BD59-A6C34878D82A}">
                    <a16:rowId xmlns:a16="http://schemas.microsoft.com/office/drawing/2014/main" val="3828907927"/>
                  </a:ext>
                </a:extLst>
              </a:tr>
              <a:tr h="430451">
                <a:tc>
                  <a:txBody>
                    <a:bodyPr/>
                    <a:lstStyle/>
                    <a:p>
                      <a:pPr algn="l" fontAlgn="t">
                        <a:spcBef>
                          <a:spcPts val="0"/>
                        </a:spcBef>
                        <a:spcAft>
                          <a:spcPts val="0"/>
                        </a:spcAft>
                      </a:pPr>
                      <a:r>
                        <a:rPr lang="en-US" sz="1600" b="1" u="none" strike="noStrike" dirty="0">
                          <a:effectLst/>
                        </a:rPr>
                        <a:t>Name</a:t>
                      </a:r>
                      <a:endParaRPr lang="en-US" sz="1600" b="1" i="0" u="none" strike="noStrike" dirty="0">
                        <a:effectLst/>
                        <a:latin typeface="Arial" panose="020B0604020202020204" pitchFamily="34" charset="0"/>
                      </a:endParaRPr>
                    </a:p>
                  </a:txBody>
                  <a:tcPr marL="21757" marR="21757" marT="10878" marB="10878"/>
                </a:tc>
                <a:tc>
                  <a:txBody>
                    <a:bodyPr/>
                    <a:lstStyle/>
                    <a:p>
                      <a:pPr algn="l" fontAlgn="t">
                        <a:spcBef>
                          <a:spcPts val="0"/>
                        </a:spcBef>
                        <a:spcAft>
                          <a:spcPts val="0"/>
                        </a:spcAft>
                      </a:pPr>
                      <a:r>
                        <a:rPr lang="en-US" sz="1600" u="none" strike="noStrike" dirty="0">
                          <a:effectLst/>
                        </a:rPr>
                        <a:t>A unique name within the resource group.</a:t>
                      </a:r>
                      <a:endParaRPr lang="en-US" sz="1600" b="0" i="0" u="none" strike="noStrike" dirty="0">
                        <a:effectLst/>
                        <a:latin typeface="Arial" panose="020B0604020202020204" pitchFamily="34" charset="0"/>
                      </a:endParaRPr>
                    </a:p>
                  </a:txBody>
                  <a:tcPr marL="21757" marR="21757" marT="10878" marB="10878"/>
                </a:tc>
                <a:extLst>
                  <a:ext uri="{0D108BD9-81ED-4DB2-BD59-A6C34878D82A}">
                    <a16:rowId xmlns:a16="http://schemas.microsoft.com/office/drawing/2014/main" val="3757380560"/>
                  </a:ext>
                </a:extLst>
              </a:tr>
              <a:tr h="476652">
                <a:tc>
                  <a:txBody>
                    <a:bodyPr/>
                    <a:lstStyle/>
                    <a:p>
                      <a:pPr algn="l" fontAlgn="t">
                        <a:spcBef>
                          <a:spcPts val="0"/>
                        </a:spcBef>
                        <a:spcAft>
                          <a:spcPts val="0"/>
                        </a:spcAft>
                      </a:pPr>
                      <a:r>
                        <a:rPr lang="en-US" sz="1600" b="1" u="none" strike="noStrike" dirty="0">
                          <a:effectLst/>
                        </a:rPr>
                        <a:t>Subnet</a:t>
                      </a:r>
                      <a:endParaRPr lang="en-US" sz="1600" b="1" i="0" u="none" strike="noStrike" dirty="0">
                        <a:effectLst/>
                        <a:latin typeface="Arial" panose="020B0604020202020204" pitchFamily="34" charset="0"/>
                      </a:endParaRPr>
                    </a:p>
                  </a:txBody>
                  <a:tcPr marL="21757" marR="21757" marT="10878" marB="10878"/>
                </a:tc>
                <a:tc>
                  <a:txBody>
                    <a:bodyPr/>
                    <a:lstStyle/>
                    <a:p>
                      <a:pPr algn="l" fontAlgn="t">
                        <a:spcBef>
                          <a:spcPts val="0"/>
                        </a:spcBef>
                        <a:spcAft>
                          <a:spcPts val="0"/>
                        </a:spcAft>
                      </a:pPr>
                      <a:r>
                        <a:rPr lang="en-US" sz="1600" u="none" strike="noStrike" dirty="0">
                          <a:effectLst/>
                        </a:rPr>
                        <a:t>The subnet to deploy and allocate private IP addresses from a virtual network</a:t>
                      </a:r>
                      <a:endParaRPr lang="en-US" sz="1600" b="0" i="0" u="none" strike="noStrike" dirty="0">
                        <a:effectLst/>
                        <a:latin typeface="Arial" panose="020B0604020202020204" pitchFamily="34" charset="0"/>
                      </a:endParaRPr>
                    </a:p>
                  </a:txBody>
                  <a:tcPr marL="21757" marR="21757" marT="10878" marB="10878"/>
                </a:tc>
                <a:extLst>
                  <a:ext uri="{0D108BD9-81ED-4DB2-BD59-A6C34878D82A}">
                    <a16:rowId xmlns:a16="http://schemas.microsoft.com/office/drawing/2014/main" val="82852934"/>
                  </a:ext>
                </a:extLst>
              </a:tr>
              <a:tr h="476652">
                <a:tc>
                  <a:txBody>
                    <a:bodyPr/>
                    <a:lstStyle/>
                    <a:p>
                      <a:pPr algn="l" fontAlgn="t">
                        <a:spcBef>
                          <a:spcPts val="0"/>
                        </a:spcBef>
                        <a:spcAft>
                          <a:spcPts val="0"/>
                        </a:spcAft>
                      </a:pPr>
                      <a:r>
                        <a:rPr lang="en-US" sz="1600" b="1" u="none" strike="noStrike" dirty="0">
                          <a:effectLst/>
                        </a:rPr>
                        <a:t>Private Link Resource</a:t>
                      </a:r>
                      <a:endParaRPr lang="en-US" sz="1600" b="1" i="0" u="none" strike="noStrike" dirty="0">
                        <a:effectLst/>
                        <a:latin typeface="Arial" panose="020B0604020202020204" pitchFamily="34" charset="0"/>
                      </a:endParaRPr>
                    </a:p>
                  </a:txBody>
                  <a:tcPr marL="21757" marR="21757" marT="10878" marB="10878"/>
                </a:tc>
                <a:tc>
                  <a:txBody>
                    <a:bodyPr/>
                    <a:lstStyle/>
                    <a:p>
                      <a:pPr algn="l" fontAlgn="t">
                        <a:spcBef>
                          <a:spcPts val="0"/>
                        </a:spcBef>
                        <a:spcAft>
                          <a:spcPts val="0"/>
                        </a:spcAft>
                      </a:pPr>
                      <a:r>
                        <a:rPr lang="en-US" sz="1600" u="none" strike="noStrike" dirty="0">
                          <a:effectLst/>
                        </a:rPr>
                        <a:t>The private link resource to connect using resource ID or alias, from the list of available types. A unique network identifier will be generated for all traffic sent to this resource.</a:t>
                      </a:r>
                      <a:endParaRPr lang="en-US" sz="1600" b="0" i="0" u="none" strike="noStrike" dirty="0">
                        <a:effectLst/>
                        <a:latin typeface="Arial" panose="020B0604020202020204" pitchFamily="34" charset="0"/>
                      </a:endParaRPr>
                    </a:p>
                  </a:txBody>
                  <a:tcPr marL="21757" marR="21757" marT="10878" marB="10878"/>
                </a:tc>
                <a:extLst>
                  <a:ext uri="{0D108BD9-81ED-4DB2-BD59-A6C34878D82A}">
                    <a16:rowId xmlns:a16="http://schemas.microsoft.com/office/drawing/2014/main" val="2571383064"/>
                  </a:ext>
                </a:extLst>
              </a:tr>
              <a:tr h="476652">
                <a:tc>
                  <a:txBody>
                    <a:bodyPr/>
                    <a:lstStyle/>
                    <a:p>
                      <a:pPr algn="l" fontAlgn="t">
                        <a:spcBef>
                          <a:spcPts val="0"/>
                        </a:spcBef>
                        <a:spcAft>
                          <a:spcPts val="0"/>
                        </a:spcAft>
                      </a:pPr>
                      <a:r>
                        <a:rPr lang="en-US" sz="1600" b="1" u="none" strike="noStrike" dirty="0">
                          <a:effectLst/>
                        </a:rPr>
                        <a:t>Target subresource</a:t>
                      </a:r>
                      <a:endParaRPr lang="en-US" sz="1600" b="1" i="0" u="none" strike="noStrike" dirty="0">
                        <a:effectLst/>
                        <a:latin typeface="Arial" panose="020B0604020202020204" pitchFamily="34" charset="0"/>
                      </a:endParaRPr>
                    </a:p>
                  </a:txBody>
                  <a:tcPr marL="21757" marR="21757" marT="10878" marB="10878"/>
                </a:tc>
                <a:tc>
                  <a:txBody>
                    <a:bodyPr/>
                    <a:lstStyle/>
                    <a:p>
                      <a:pPr algn="l" fontAlgn="t">
                        <a:spcBef>
                          <a:spcPts val="0"/>
                        </a:spcBef>
                        <a:spcAft>
                          <a:spcPts val="0"/>
                        </a:spcAft>
                      </a:pPr>
                      <a:r>
                        <a:rPr lang="en-US" sz="1600" u="none" strike="noStrike" dirty="0">
                          <a:effectLst/>
                        </a:rPr>
                        <a:t>The subresource to connect. Each private link resource type has different options to select based on preference.</a:t>
                      </a:r>
                      <a:endParaRPr lang="en-US" sz="1600" b="0" i="0" u="none" strike="noStrike" dirty="0">
                        <a:effectLst/>
                        <a:latin typeface="Arial" panose="020B0604020202020204" pitchFamily="34" charset="0"/>
                      </a:endParaRPr>
                    </a:p>
                  </a:txBody>
                  <a:tcPr marL="21757" marR="21757" marT="10878" marB="10878"/>
                </a:tc>
                <a:extLst>
                  <a:ext uri="{0D108BD9-81ED-4DB2-BD59-A6C34878D82A}">
                    <a16:rowId xmlns:a16="http://schemas.microsoft.com/office/drawing/2014/main" val="2837956093"/>
                  </a:ext>
                </a:extLst>
              </a:tr>
              <a:tr h="704800">
                <a:tc>
                  <a:txBody>
                    <a:bodyPr/>
                    <a:lstStyle/>
                    <a:p>
                      <a:pPr algn="l" fontAlgn="t">
                        <a:spcBef>
                          <a:spcPts val="0"/>
                        </a:spcBef>
                        <a:spcAft>
                          <a:spcPts val="0"/>
                        </a:spcAft>
                      </a:pPr>
                      <a:r>
                        <a:rPr lang="en-US" sz="1600" b="1" u="none" strike="noStrike" dirty="0">
                          <a:effectLst/>
                        </a:rPr>
                        <a:t>Connection approval method</a:t>
                      </a:r>
                      <a:endParaRPr lang="en-US" sz="1600" b="1" i="0" u="none" strike="noStrike" dirty="0">
                        <a:effectLst/>
                        <a:latin typeface="Arial" panose="020B0604020202020204" pitchFamily="34" charset="0"/>
                      </a:endParaRPr>
                    </a:p>
                  </a:txBody>
                  <a:tcPr marL="21757" marR="21757" marT="10878" marB="10878"/>
                </a:tc>
                <a:tc>
                  <a:txBody>
                    <a:bodyPr/>
                    <a:lstStyle/>
                    <a:p>
                      <a:pPr algn="l" fontAlgn="t">
                        <a:spcBef>
                          <a:spcPts val="0"/>
                        </a:spcBef>
                        <a:spcAft>
                          <a:spcPts val="0"/>
                        </a:spcAft>
                      </a:pPr>
                      <a:r>
                        <a:rPr lang="en-US" sz="1600" u="none" strike="noStrike" dirty="0">
                          <a:effectLst/>
                        </a:rPr>
                        <a:t>Automatic or manual. Based on Azure role-based access control (Azure RBAC) permissions, your private endpoint can be approved automatically. If you try to connect to a private link resource without Azure RBAC, use the manual method to allow the owner of the resource to approve the connection.</a:t>
                      </a:r>
                      <a:endParaRPr lang="en-US" sz="1600" b="0" i="0" u="none" strike="noStrike" dirty="0">
                        <a:effectLst/>
                        <a:latin typeface="Arial" panose="020B0604020202020204" pitchFamily="34" charset="0"/>
                      </a:endParaRPr>
                    </a:p>
                  </a:txBody>
                  <a:tcPr marL="21757" marR="21757" marT="10878" marB="10878"/>
                </a:tc>
                <a:extLst>
                  <a:ext uri="{0D108BD9-81ED-4DB2-BD59-A6C34878D82A}">
                    <a16:rowId xmlns:a16="http://schemas.microsoft.com/office/drawing/2014/main" val="3062209907"/>
                  </a:ext>
                </a:extLst>
              </a:tr>
              <a:tr h="476652">
                <a:tc>
                  <a:txBody>
                    <a:bodyPr/>
                    <a:lstStyle/>
                    <a:p>
                      <a:pPr algn="l" fontAlgn="t">
                        <a:spcBef>
                          <a:spcPts val="0"/>
                        </a:spcBef>
                        <a:spcAft>
                          <a:spcPts val="0"/>
                        </a:spcAft>
                      </a:pPr>
                      <a:r>
                        <a:rPr lang="en-US" sz="1600" b="1" u="none" strike="noStrike" dirty="0">
                          <a:effectLst/>
                        </a:rPr>
                        <a:t>Request Message</a:t>
                      </a:r>
                      <a:endParaRPr lang="en-US" sz="1600" b="1" i="0" u="none" strike="noStrike" dirty="0">
                        <a:effectLst/>
                        <a:latin typeface="Arial" panose="020B0604020202020204" pitchFamily="34" charset="0"/>
                      </a:endParaRPr>
                    </a:p>
                  </a:txBody>
                  <a:tcPr marL="21757" marR="21757" marT="10878" marB="10878"/>
                </a:tc>
                <a:tc>
                  <a:txBody>
                    <a:bodyPr/>
                    <a:lstStyle/>
                    <a:p>
                      <a:pPr algn="l" fontAlgn="t">
                        <a:spcBef>
                          <a:spcPts val="0"/>
                        </a:spcBef>
                        <a:spcAft>
                          <a:spcPts val="0"/>
                        </a:spcAft>
                      </a:pPr>
                      <a:r>
                        <a:rPr lang="en-US" sz="1600" u="none" strike="noStrike" dirty="0">
                          <a:effectLst/>
                        </a:rPr>
                        <a:t>You can specify a message for requested connections to be approved manually. This message can be used to identify a specific request.</a:t>
                      </a:r>
                      <a:endParaRPr lang="en-US" sz="1600" b="0" i="0" u="none" strike="noStrike" dirty="0">
                        <a:effectLst/>
                        <a:latin typeface="Arial" panose="020B0604020202020204" pitchFamily="34" charset="0"/>
                      </a:endParaRPr>
                    </a:p>
                  </a:txBody>
                  <a:tcPr marL="21757" marR="21757" marT="10878" marB="10878"/>
                </a:tc>
                <a:extLst>
                  <a:ext uri="{0D108BD9-81ED-4DB2-BD59-A6C34878D82A}">
                    <a16:rowId xmlns:a16="http://schemas.microsoft.com/office/drawing/2014/main" val="2952915953"/>
                  </a:ext>
                </a:extLst>
              </a:tr>
              <a:tr h="2119700">
                <a:tc>
                  <a:txBody>
                    <a:bodyPr/>
                    <a:lstStyle/>
                    <a:p>
                      <a:pPr algn="l" fontAlgn="t">
                        <a:spcBef>
                          <a:spcPts val="0"/>
                        </a:spcBef>
                        <a:spcAft>
                          <a:spcPts val="0"/>
                        </a:spcAft>
                      </a:pPr>
                      <a:r>
                        <a:rPr lang="en-US" sz="1600" b="1" u="none" strike="noStrike" dirty="0">
                          <a:effectLst/>
                        </a:rPr>
                        <a:t>Connection status</a:t>
                      </a:r>
                      <a:endParaRPr lang="en-US" sz="1600" b="1" i="0" u="none" strike="noStrike" dirty="0">
                        <a:effectLst/>
                        <a:latin typeface="Arial" panose="020B0604020202020204" pitchFamily="34" charset="0"/>
                      </a:endParaRPr>
                    </a:p>
                  </a:txBody>
                  <a:tcPr marL="21757" marR="21757" marT="10878" marB="10878"/>
                </a:tc>
                <a:tc>
                  <a:txBody>
                    <a:bodyPr/>
                    <a:lstStyle/>
                    <a:p>
                      <a:pPr algn="l" fontAlgn="t">
                        <a:spcBef>
                          <a:spcPts val="0"/>
                        </a:spcBef>
                        <a:spcAft>
                          <a:spcPts val="0"/>
                        </a:spcAft>
                      </a:pPr>
                      <a:r>
                        <a:rPr lang="en-US" sz="1600" u="none" strike="noStrike" dirty="0">
                          <a:effectLst/>
                        </a:rPr>
                        <a:t>A read-only property that specifies if the private endpoint is active. Only private endpoints in an approved state can be used to send traffic. Additional states available:</a:t>
                      </a:r>
                    </a:p>
                    <a:p>
                      <a:pPr algn="l" fontAlgn="t">
                        <a:spcBef>
                          <a:spcPts val="0"/>
                        </a:spcBef>
                        <a:spcAft>
                          <a:spcPts val="0"/>
                        </a:spcAft>
                      </a:pPr>
                      <a:br>
                        <a:rPr lang="en-US" sz="1600" u="none" strike="noStrike" dirty="0">
                          <a:effectLst/>
                        </a:rPr>
                      </a:br>
                      <a:r>
                        <a:rPr lang="en-US" sz="1600" b="1" u="none" strike="noStrike" dirty="0">
                          <a:effectLst/>
                        </a:rPr>
                        <a:t>Approved:</a:t>
                      </a:r>
                      <a:r>
                        <a:rPr lang="en-US" sz="1600" u="none" strike="noStrike" dirty="0">
                          <a:effectLst/>
                        </a:rPr>
                        <a:t> Connection was automatically or manually approved and is ready to be used.</a:t>
                      </a:r>
                      <a:br>
                        <a:rPr lang="en-US" sz="1600" u="none" strike="noStrike" dirty="0">
                          <a:effectLst/>
                        </a:rPr>
                      </a:br>
                      <a:r>
                        <a:rPr lang="en-US" sz="1600" b="1" u="none" strike="noStrike" dirty="0">
                          <a:effectLst/>
                        </a:rPr>
                        <a:t>Pending</a:t>
                      </a:r>
                      <a:r>
                        <a:rPr lang="en-US" sz="1600" u="none" strike="noStrike" dirty="0">
                          <a:effectLst/>
                        </a:rPr>
                        <a:t>: Connection was created manually and is pending approval by the private link resource owner.</a:t>
                      </a:r>
                      <a:br>
                        <a:rPr lang="en-US" sz="1600" u="none" strike="noStrike" dirty="0">
                          <a:effectLst/>
                        </a:rPr>
                      </a:br>
                      <a:r>
                        <a:rPr lang="en-US" sz="1600" b="1" u="none" strike="noStrike" dirty="0">
                          <a:effectLst/>
                        </a:rPr>
                        <a:t>Rejected</a:t>
                      </a:r>
                      <a:r>
                        <a:rPr lang="en-US" sz="1600" u="none" strike="noStrike" dirty="0">
                          <a:effectLst/>
                        </a:rPr>
                        <a:t>: Connection was rejected by the private link resource owner.</a:t>
                      </a:r>
                      <a:br>
                        <a:rPr lang="en-US" sz="1600" u="none" strike="noStrike" dirty="0">
                          <a:effectLst/>
                        </a:rPr>
                      </a:br>
                      <a:r>
                        <a:rPr lang="en-US" sz="1600" b="1" u="none" strike="noStrike" dirty="0">
                          <a:effectLst/>
                        </a:rPr>
                        <a:t>Disconnected:</a:t>
                      </a:r>
                      <a:r>
                        <a:rPr lang="en-US" sz="1600" u="none" strike="noStrike" dirty="0">
                          <a:effectLst/>
                        </a:rPr>
                        <a:t> Connection was removed by the private link resource owner. The private endpoint becomes informative and should be deleted for cleanup.</a:t>
                      </a:r>
                      <a:endParaRPr lang="en-US" sz="1600" b="0" i="0" u="none" strike="noStrike" dirty="0">
                        <a:effectLst/>
                        <a:latin typeface="Arial" panose="020B0604020202020204" pitchFamily="34" charset="0"/>
                      </a:endParaRPr>
                    </a:p>
                  </a:txBody>
                  <a:tcPr marL="21757" marR="21757" marT="10878" marB="10878"/>
                </a:tc>
                <a:extLst>
                  <a:ext uri="{0D108BD9-81ED-4DB2-BD59-A6C34878D82A}">
                    <a16:rowId xmlns:a16="http://schemas.microsoft.com/office/drawing/2014/main" val="2282039010"/>
                  </a:ext>
                </a:extLst>
              </a:tr>
            </a:tbl>
          </a:graphicData>
        </a:graphic>
      </p:graphicFrame>
    </p:spTree>
    <p:extLst>
      <p:ext uri="{BB962C8B-B14F-4D97-AF65-F5344CB8AC3E}">
        <p14:creationId xmlns:p14="http://schemas.microsoft.com/office/powerpoint/2010/main" val="2937672515"/>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422DC-16A0-491D-82CF-E29B23352AB6}"/>
              </a:ext>
            </a:extLst>
          </p:cNvPr>
          <p:cNvSpPr>
            <a:spLocks noGrp="1"/>
          </p:cNvSpPr>
          <p:nvPr>
            <p:ph type="title"/>
          </p:nvPr>
        </p:nvSpPr>
        <p:spPr/>
        <p:txBody>
          <a:bodyPr/>
          <a:lstStyle/>
          <a:p>
            <a:r>
              <a:rPr lang="en-US" dirty="0"/>
              <a:t>Demonstration – Create a Private Link service by using the Azure portal</a:t>
            </a:r>
          </a:p>
        </p:txBody>
      </p:sp>
      <p:pic>
        <p:nvPicPr>
          <p:cNvPr id="4" name="Picture 3" descr="Icon of two gears">
            <a:extLst>
              <a:ext uri="{FF2B5EF4-FFF2-40B4-BE49-F238E27FC236}">
                <a16:creationId xmlns:a16="http://schemas.microsoft.com/office/drawing/2014/main" id="{422FDA36-87E0-4BD6-8A5C-DFD5BBF2D378}"/>
              </a:ext>
            </a:extLst>
          </p:cNvPr>
          <p:cNvPicPr>
            <a:picLocks noChangeAspect="1"/>
          </p:cNvPicPr>
          <p:nvPr/>
        </p:nvPicPr>
        <p:blipFill>
          <a:blip r:embed="rId3"/>
          <a:stretch>
            <a:fillRect/>
          </a:stretch>
        </p:blipFill>
        <p:spPr>
          <a:xfrm>
            <a:off x="455995" y="1362243"/>
            <a:ext cx="1026406" cy="1026406"/>
          </a:xfrm>
          <a:prstGeom prst="rect">
            <a:avLst/>
          </a:prstGeom>
        </p:spPr>
      </p:pic>
      <p:sp>
        <p:nvSpPr>
          <p:cNvPr id="6" name="Rectangle 5">
            <a:extLst>
              <a:ext uri="{FF2B5EF4-FFF2-40B4-BE49-F238E27FC236}">
                <a16:creationId xmlns:a16="http://schemas.microsoft.com/office/drawing/2014/main" id="{84DFA27B-DE49-4B93-96D6-270672B3FDCA}"/>
              </a:ext>
            </a:extLst>
          </p:cNvPr>
          <p:cNvSpPr/>
          <p:nvPr/>
        </p:nvSpPr>
        <p:spPr bwMode="auto">
          <a:xfrm>
            <a:off x="1668346" y="1693663"/>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Create a Private Link service that refers to your service</a:t>
            </a:r>
          </a:p>
        </p:txBody>
      </p:sp>
      <p:cxnSp>
        <p:nvCxnSpPr>
          <p:cNvPr id="8" name="Straight Connector 7">
            <a:extLst>
              <a:ext uri="{FF2B5EF4-FFF2-40B4-BE49-F238E27FC236}">
                <a16:creationId xmlns:a16="http://schemas.microsoft.com/office/drawing/2014/main" id="{E19BDEC7-362F-46CF-B13D-E60B9A885525}"/>
              </a:ext>
              <a:ext uri="{C183D7F6-B498-43B3-948B-1728B52AA6E4}">
                <adec:decorative xmlns:adec="http://schemas.microsoft.com/office/drawing/2017/decorative" val="1"/>
              </a:ext>
            </a:extLst>
          </p:cNvPr>
          <p:cNvCxnSpPr>
            <a:cxnSpLocks/>
          </p:cNvCxnSpPr>
          <p:nvPr/>
        </p:nvCxnSpPr>
        <p:spPr>
          <a:xfrm>
            <a:off x="1668346" y="2495815"/>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10" name="Picture 9" descr="Icon of a wrench">
            <a:extLst>
              <a:ext uri="{FF2B5EF4-FFF2-40B4-BE49-F238E27FC236}">
                <a16:creationId xmlns:a16="http://schemas.microsoft.com/office/drawing/2014/main" id="{0E871849-5C13-4574-BA54-137B097B02E6}"/>
              </a:ext>
            </a:extLst>
          </p:cNvPr>
          <p:cNvPicPr>
            <a:picLocks noChangeAspect="1"/>
          </p:cNvPicPr>
          <p:nvPr/>
        </p:nvPicPr>
        <p:blipFill>
          <a:blip r:embed="rId4"/>
          <a:stretch>
            <a:fillRect/>
          </a:stretch>
        </p:blipFill>
        <p:spPr>
          <a:xfrm>
            <a:off x="455995" y="2604476"/>
            <a:ext cx="1026406" cy="1026406"/>
          </a:xfrm>
          <a:prstGeom prst="rect">
            <a:avLst/>
          </a:prstGeom>
        </p:spPr>
      </p:pic>
      <p:sp>
        <p:nvSpPr>
          <p:cNvPr id="12" name="Rectangle 11">
            <a:extLst>
              <a:ext uri="{FF2B5EF4-FFF2-40B4-BE49-F238E27FC236}">
                <a16:creationId xmlns:a16="http://schemas.microsoft.com/office/drawing/2014/main" id="{3C6F00CF-C257-44B7-924B-810F0CFDF6A2}"/>
              </a:ext>
            </a:extLst>
          </p:cNvPr>
          <p:cNvSpPr/>
          <p:nvPr/>
        </p:nvSpPr>
        <p:spPr bwMode="auto">
          <a:xfrm>
            <a:off x="1668346" y="2754846"/>
            <a:ext cx="9997628" cy="724173"/>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Give Private Link access to your service or resource deployed behind an Azure Standard Load Balancer</a:t>
            </a:r>
          </a:p>
        </p:txBody>
      </p:sp>
      <p:cxnSp>
        <p:nvCxnSpPr>
          <p:cNvPr id="28" name="Straight Connector 27">
            <a:extLst>
              <a:ext uri="{FF2B5EF4-FFF2-40B4-BE49-F238E27FC236}">
                <a16:creationId xmlns:a16="http://schemas.microsoft.com/office/drawing/2014/main" id="{D6B57A19-6C50-453F-A7B8-0E79A9922920}"/>
              </a:ext>
              <a:ext uri="{C183D7F6-B498-43B3-948B-1728B52AA6E4}">
                <adec:decorative xmlns:adec="http://schemas.microsoft.com/office/drawing/2017/decorative" val="1"/>
              </a:ext>
            </a:extLst>
          </p:cNvPr>
          <p:cNvCxnSpPr>
            <a:cxnSpLocks/>
          </p:cNvCxnSpPr>
          <p:nvPr/>
        </p:nvCxnSpPr>
        <p:spPr>
          <a:xfrm>
            <a:off x="1668346" y="3738048"/>
            <a:ext cx="1005240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0" name="Picture 29" descr="Icon of a checkmark">
            <a:extLst>
              <a:ext uri="{FF2B5EF4-FFF2-40B4-BE49-F238E27FC236}">
                <a16:creationId xmlns:a16="http://schemas.microsoft.com/office/drawing/2014/main" id="{AE48476C-C5F6-4DF4-91E2-2A58E7D2C0BC}"/>
              </a:ext>
            </a:extLst>
          </p:cNvPr>
          <p:cNvPicPr>
            <a:picLocks noChangeAspect="1"/>
          </p:cNvPicPr>
          <p:nvPr/>
        </p:nvPicPr>
        <p:blipFill>
          <a:blip r:embed="rId5"/>
          <a:stretch>
            <a:fillRect/>
          </a:stretch>
        </p:blipFill>
        <p:spPr>
          <a:xfrm>
            <a:off x="455995" y="3845214"/>
            <a:ext cx="1026406" cy="1026406"/>
          </a:xfrm>
          <a:prstGeom prst="rect">
            <a:avLst/>
          </a:prstGeom>
        </p:spPr>
      </p:pic>
      <p:sp>
        <p:nvSpPr>
          <p:cNvPr id="32" name="Rectangle 31">
            <a:extLst>
              <a:ext uri="{FF2B5EF4-FFF2-40B4-BE49-F238E27FC236}">
                <a16:creationId xmlns:a16="http://schemas.microsoft.com/office/drawing/2014/main" id="{63E7EB78-0A71-41CF-8BBD-FF9E84CC8EE2}"/>
              </a:ext>
            </a:extLst>
          </p:cNvPr>
          <p:cNvSpPr/>
          <p:nvPr/>
        </p:nvSpPr>
        <p:spPr bwMode="auto">
          <a:xfrm>
            <a:off x="1668346" y="4178128"/>
            <a:ext cx="9997628" cy="362072"/>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spcBef>
                <a:spcPts val="588"/>
              </a:spcBef>
            </a:pPr>
            <a:r>
              <a:rPr lang="en-US" sz="2353" dirty="0">
                <a:solidFill>
                  <a:schemeClr val="tx1"/>
                </a:solidFill>
              </a:rPr>
              <a:t>Users of your service have private access from their virtual network</a:t>
            </a:r>
          </a:p>
        </p:txBody>
      </p:sp>
    </p:spTree>
    <p:extLst>
      <p:ext uri="{BB962C8B-B14F-4D97-AF65-F5344CB8AC3E}">
        <p14:creationId xmlns:p14="http://schemas.microsoft.com/office/powerpoint/2010/main" val="4001989329"/>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a:t>
            </a:r>
            <a:r>
              <a:rPr lang="en-US" sz="2800" dirty="0"/>
              <a:t>Private Link and Private Endpoint</a:t>
            </a:r>
            <a:endParaRPr lang="en-US" b="1"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7A1C3FAD-9381-4EE0-8345-F88F6A7F84D6}"/>
              </a:ext>
              <a:ext uri="{C183D7F6-B498-43B3-948B-1728B52AA6E4}">
                <adec:decorative xmlns:adec="http://schemas.microsoft.com/office/drawing/2017/decorative" val="1"/>
              </a:ext>
            </a:extLst>
          </p:cNvPr>
          <p:cNvSpPr/>
          <p:nvPr/>
        </p:nvSpPr>
        <p:spPr>
          <a:xfrm>
            <a:off x="4172422" y="2828769"/>
            <a:ext cx="7590042" cy="537855"/>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4172422" y="3429000"/>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1696451D-B7CB-4BEE-88BC-BEAD31C106BB}"/>
              </a:ext>
            </a:extLst>
          </p:cNvPr>
          <p:cNvSpPr txBox="1"/>
          <p:nvPr/>
        </p:nvSpPr>
        <p:spPr>
          <a:xfrm>
            <a:off x="4172422" y="2270056"/>
            <a:ext cx="6093994" cy="369332"/>
          </a:xfrm>
          <a:prstGeom prst="rect">
            <a:avLst/>
          </a:prstGeom>
          <a:noFill/>
        </p:spPr>
        <p:txBody>
          <a:bodyPr wrap="square">
            <a:spAutoFit/>
          </a:bodyPr>
          <a:lstStyle/>
          <a:p>
            <a:r>
              <a:rPr lang="en-US" dirty="0">
                <a:hlinkClick r:id="rId4"/>
              </a:rPr>
              <a:t>What is Azure Private Link? | Microsoft Docs</a:t>
            </a:r>
            <a:endParaRPr lang="en-US" dirty="0"/>
          </a:p>
        </p:txBody>
      </p:sp>
      <p:sp>
        <p:nvSpPr>
          <p:cNvPr id="13" name="TextBox 12">
            <a:extLst>
              <a:ext uri="{FF2B5EF4-FFF2-40B4-BE49-F238E27FC236}">
                <a16:creationId xmlns:a16="http://schemas.microsoft.com/office/drawing/2014/main" id="{B125AD51-4B43-4D6E-B789-82D1F15A9B30}"/>
              </a:ext>
            </a:extLst>
          </p:cNvPr>
          <p:cNvSpPr txBox="1"/>
          <p:nvPr/>
        </p:nvSpPr>
        <p:spPr>
          <a:xfrm>
            <a:off x="4172422" y="2913030"/>
            <a:ext cx="6093994" cy="369332"/>
          </a:xfrm>
          <a:prstGeom prst="rect">
            <a:avLst/>
          </a:prstGeom>
          <a:noFill/>
        </p:spPr>
        <p:txBody>
          <a:bodyPr wrap="square">
            <a:spAutoFit/>
          </a:bodyPr>
          <a:lstStyle/>
          <a:p>
            <a:r>
              <a:rPr lang="en-US" dirty="0">
                <a:hlinkClick r:id="rId5"/>
              </a:rPr>
              <a:t>What is an Azure Private Endpoint? | Microsoft Docs</a:t>
            </a:r>
            <a:endParaRPr lang="en-US" dirty="0"/>
          </a:p>
        </p:txBody>
      </p:sp>
    </p:spTree>
    <p:extLst>
      <p:ext uri="{BB962C8B-B14F-4D97-AF65-F5344CB8AC3E}">
        <p14:creationId xmlns:p14="http://schemas.microsoft.com/office/powerpoint/2010/main" val="245363075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A384DD8-104C-4BEA-BDF4-F17E94B9DC4C}"/>
              </a:ext>
            </a:extLst>
          </p:cNvPr>
          <p:cNvSpPr>
            <a:spLocks noGrp="1"/>
          </p:cNvSpPr>
          <p:nvPr>
            <p:ph type="title"/>
          </p:nvPr>
        </p:nvSpPr>
        <p:spPr>
          <a:xfrm>
            <a:off x="585217" y="3179701"/>
            <a:ext cx="8892608" cy="498598"/>
          </a:xfrm>
        </p:spPr>
        <p:txBody>
          <a:bodyPr/>
          <a:lstStyle/>
          <a:p>
            <a:r>
              <a:rPr lang="en-US" dirty="0"/>
              <a:t>Lesson 03:</a:t>
            </a:r>
            <a:r>
              <a:rPr lang="en-US" sz="3600" dirty="0"/>
              <a:t> Integrate Private Endpoint with DNS</a:t>
            </a:r>
            <a:endParaRPr lang="en-US" dirty="0"/>
          </a:p>
        </p:txBody>
      </p:sp>
      <p:grpSp>
        <p:nvGrpSpPr>
          <p:cNvPr id="4" name="Group 3">
            <a:extLst>
              <a:ext uri="{FF2B5EF4-FFF2-40B4-BE49-F238E27FC236}">
                <a16:creationId xmlns:a16="http://schemas.microsoft.com/office/drawing/2014/main" id="{26E897AD-D126-49BD-AA1E-E22D6D999DD1}"/>
              </a:ext>
              <a:ext uri="{C183D7F6-B498-43B3-948B-1728B52AA6E4}">
                <adec:decorative xmlns:adec="http://schemas.microsoft.com/office/drawing/2017/decorative" val="1"/>
              </a:ext>
            </a:extLst>
          </p:cNvPr>
          <p:cNvGrpSpPr/>
          <p:nvPr/>
        </p:nvGrpSpPr>
        <p:grpSpPr>
          <a:xfrm>
            <a:off x="10391982" y="3100158"/>
            <a:ext cx="657589" cy="657683"/>
            <a:chOff x="418643" y="4842674"/>
            <a:chExt cx="717140" cy="717242"/>
          </a:xfrm>
        </p:grpSpPr>
        <p:grpSp>
          <p:nvGrpSpPr>
            <p:cNvPr id="5" name="Group 4">
              <a:extLst>
                <a:ext uri="{FF2B5EF4-FFF2-40B4-BE49-F238E27FC236}">
                  <a16:creationId xmlns:a16="http://schemas.microsoft.com/office/drawing/2014/main" id="{4AA586CA-E762-425C-809C-51A22B01DEBA}"/>
                </a:ext>
                <a:ext uri="{C183D7F6-B498-43B3-948B-1728B52AA6E4}">
                  <adec:decorative xmlns:adec="http://schemas.microsoft.com/office/drawing/2017/decorative" val="1"/>
                </a:ext>
              </a:extLst>
            </p:cNvPr>
            <p:cNvGrpSpPr/>
            <p:nvPr/>
          </p:nvGrpSpPr>
          <p:grpSpPr>
            <a:xfrm>
              <a:off x="418643" y="4842674"/>
              <a:ext cx="717140" cy="717242"/>
              <a:chOff x="7962901" y="3032919"/>
              <a:chExt cx="981074" cy="981076"/>
            </a:xfrm>
          </p:grpSpPr>
          <p:sp>
            <p:nvSpPr>
              <p:cNvPr id="7" name="Freeform 5">
                <a:extLst>
                  <a:ext uri="{FF2B5EF4-FFF2-40B4-BE49-F238E27FC236}">
                    <a16:creationId xmlns:a16="http://schemas.microsoft.com/office/drawing/2014/main" id="{8995F887-7C14-404B-95C9-7409E7607FFF}"/>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C965B1D0-B990-497C-BD37-6D2418340C87}"/>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6" name="Picture 5" descr="Icon of coding brackets">
              <a:extLst>
                <a:ext uri="{FF2B5EF4-FFF2-40B4-BE49-F238E27FC236}">
                  <a16:creationId xmlns:a16="http://schemas.microsoft.com/office/drawing/2014/main" id="{441520B0-B92E-4B85-B729-915B11F59CD6}"/>
                </a:ext>
              </a:extLst>
            </p:cNvPr>
            <p:cNvPicPr>
              <a:picLocks noChangeAspect="1"/>
            </p:cNvPicPr>
            <p:nvPr/>
          </p:nvPicPr>
          <p:blipFill>
            <a:blip r:embed="rId2"/>
            <a:stretch>
              <a:fillRect/>
            </a:stretch>
          </p:blipFill>
          <p:spPr>
            <a:xfrm>
              <a:off x="568446" y="4992528"/>
              <a:ext cx="417534" cy="417534"/>
            </a:xfrm>
            <a:prstGeom prst="rect">
              <a:avLst/>
            </a:prstGeom>
          </p:spPr>
        </p:pic>
      </p:grpSp>
    </p:spTree>
    <p:extLst>
      <p:ext uri="{BB962C8B-B14F-4D97-AF65-F5344CB8AC3E}">
        <p14:creationId xmlns:p14="http://schemas.microsoft.com/office/powerpoint/2010/main" val="1432905231"/>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Integrate Private endpoint with DNS overview</a:t>
            </a:r>
          </a:p>
        </p:txBody>
      </p:sp>
      <p:sp>
        <p:nvSpPr>
          <p:cNvPr id="6" name="Text Placeholder 5"/>
          <p:cNvSpPr>
            <a:spLocks noGrp="1"/>
          </p:cNvSpPr>
          <p:nvPr>
            <p:ph type="body" sz="quarter" idx="11"/>
          </p:nvPr>
        </p:nvSpPr>
        <p:spPr/>
        <p:txBody>
          <a:bodyPr/>
          <a:lstStyle/>
          <a:p>
            <a:pPr lvl="1"/>
            <a:r>
              <a:rPr lang="fr-FR" dirty="0"/>
              <a:t>Azure Private Endpoint DNS configuration</a:t>
            </a:r>
          </a:p>
        </p:txBody>
      </p:sp>
      <p:sp>
        <p:nvSpPr>
          <p:cNvPr id="2" name="Text Placeholder 1"/>
          <p:cNvSpPr>
            <a:spLocks noGrp="1"/>
          </p:cNvSpPr>
          <p:nvPr>
            <p:ph type="body" sz="quarter" idx="15"/>
          </p:nvPr>
        </p:nvSpPr>
        <p:spPr/>
        <p:txBody>
          <a:bodyPr/>
          <a:lstStyle/>
          <a:p>
            <a:pPr lvl="1"/>
            <a:r>
              <a:rPr lang="en-US" dirty="0"/>
              <a:t>Significance of IP address 168.63.129.16 </a:t>
            </a:r>
          </a:p>
        </p:txBody>
      </p:sp>
      <p:sp>
        <p:nvSpPr>
          <p:cNvPr id="3" name="Text Placeholder 2"/>
          <p:cNvSpPr>
            <a:spLocks noGrp="1"/>
          </p:cNvSpPr>
          <p:nvPr>
            <p:ph type="body" sz="quarter" idx="17"/>
          </p:nvPr>
        </p:nvSpPr>
        <p:spPr/>
        <p:txBody>
          <a:bodyPr/>
          <a:lstStyle/>
          <a:p>
            <a:pPr lvl="1"/>
            <a:r>
              <a:rPr lang="fr-FR" dirty="0"/>
              <a:t>Azure services Private DNS zone configuration examples</a:t>
            </a:r>
          </a:p>
        </p:txBody>
      </p:sp>
      <p:sp>
        <p:nvSpPr>
          <p:cNvPr id="4" name="Text Placeholder 3"/>
          <p:cNvSpPr>
            <a:spLocks noGrp="1"/>
          </p:cNvSpPr>
          <p:nvPr>
            <p:ph type="body" sz="quarter" idx="19"/>
          </p:nvPr>
        </p:nvSpPr>
        <p:spPr/>
        <p:txBody>
          <a:bodyPr/>
          <a:lstStyle/>
          <a:p>
            <a:pPr lvl="1"/>
            <a:r>
              <a:rPr lang="en-US" dirty="0"/>
              <a:t>Virtual network workloads without custom DNS server</a:t>
            </a:r>
          </a:p>
        </p:txBody>
      </p:sp>
      <p:sp>
        <p:nvSpPr>
          <p:cNvPr id="5" name="Text Placeholder 4"/>
          <p:cNvSpPr>
            <a:spLocks noGrp="1"/>
          </p:cNvSpPr>
          <p:nvPr>
            <p:ph type="body" sz="quarter" idx="21"/>
          </p:nvPr>
        </p:nvSpPr>
        <p:spPr/>
        <p:txBody>
          <a:bodyPr/>
          <a:lstStyle/>
          <a:p>
            <a:pPr lvl="1"/>
            <a:r>
              <a:rPr lang="en-US" dirty="0"/>
              <a:t>On-premises workloads using a DNS forwarder</a:t>
            </a:r>
          </a:p>
        </p:txBody>
      </p:sp>
      <p:sp>
        <p:nvSpPr>
          <p:cNvPr id="7" name="Text Placeholder 6">
            <a:extLst>
              <a:ext uri="{FF2B5EF4-FFF2-40B4-BE49-F238E27FC236}">
                <a16:creationId xmlns:a16="http://schemas.microsoft.com/office/drawing/2014/main" id="{F614785D-84F2-4E5E-8457-0AB1E0C75508}"/>
              </a:ext>
            </a:extLst>
          </p:cNvPr>
          <p:cNvSpPr>
            <a:spLocks noGrp="1"/>
          </p:cNvSpPr>
          <p:nvPr>
            <p:ph type="body" sz="quarter" idx="22"/>
          </p:nvPr>
        </p:nvSpPr>
        <p:spPr/>
        <p:txBody>
          <a:bodyPr/>
          <a:lstStyle/>
          <a:p>
            <a:pPr lvl="1"/>
            <a:r>
              <a:rPr lang="en-US" dirty="0"/>
              <a:t>Virtual network and on-premises workloads using a DNS forwarder</a:t>
            </a:r>
          </a:p>
        </p:txBody>
      </p:sp>
      <p:sp>
        <p:nvSpPr>
          <p:cNvPr id="32" name="Text Placeholder 31">
            <a:extLst>
              <a:ext uri="{FF2B5EF4-FFF2-40B4-BE49-F238E27FC236}">
                <a16:creationId xmlns:a16="http://schemas.microsoft.com/office/drawing/2014/main" id="{0EABA8D5-0A1B-4505-8E5A-DF6F2BF63FC3}"/>
              </a:ext>
            </a:extLst>
          </p:cNvPr>
          <p:cNvSpPr>
            <a:spLocks noGrp="1"/>
          </p:cNvSpPr>
          <p:nvPr>
            <p:ph type="body" sz="quarter" idx="23"/>
          </p:nvPr>
        </p:nvSpPr>
        <p:spPr/>
        <p:txBody>
          <a:bodyPr/>
          <a:lstStyle/>
          <a:p>
            <a:pPr lvl="1"/>
            <a:r>
              <a:rPr lang="en-US" dirty="0"/>
              <a:t>Review </a:t>
            </a:r>
          </a:p>
        </p:txBody>
      </p:sp>
      <p:grpSp>
        <p:nvGrpSpPr>
          <p:cNvPr id="15" name="Group 14">
            <a:extLst>
              <a:ext uri="{FF2B5EF4-FFF2-40B4-BE49-F238E27FC236}">
                <a16:creationId xmlns:a16="http://schemas.microsoft.com/office/drawing/2014/main" id="{93BA417B-347D-4B44-8185-6900C9DA6739}"/>
              </a:ext>
              <a:ext uri="{C183D7F6-B498-43B3-948B-1728B52AA6E4}">
                <adec:decorative xmlns:adec="http://schemas.microsoft.com/office/drawing/2017/decorative" val="1"/>
              </a:ext>
            </a:extLst>
          </p:cNvPr>
          <p:cNvGrpSpPr/>
          <p:nvPr/>
        </p:nvGrpSpPr>
        <p:grpSpPr>
          <a:xfrm>
            <a:off x="3088645" y="480082"/>
            <a:ext cx="648329" cy="5024333"/>
            <a:chOff x="3088645" y="480082"/>
            <a:chExt cx="648329" cy="5024333"/>
          </a:xfrm>
        </p:grpSpPr>
        <p:grpSp>
          <p:nvGrpSpPr>
            <p:cNvPr id="25" name="Group 24">
              <a:extLst>
                <a:ext uri="{FF2B5EF4-FFF2-40B4-BE49-F238E27FC236}">
                  <a16:creationId xmlns:a16="http://schemas.microsoft.com/office/drawing/2014/main" id="{22D9ADD6-F6B0-4B5D-B1E7-4FAE29F3C87F}"/>
                </a:ext>
              </a:extLst>
            </p:cNvPr>
            <p:cNvGrpSpPr/>
            <p:nvPr/>
          </p:nvGrpSpPr>
          <p:grpSpPr>
            <a:xfrm>
              <a:off x="3088645" y="480082"/>
              <a:ext cx="648328" cy="648421"/>
              <a:chOff x="3088645" y="480082"/>
              <a:chExt cx="648328" cy="648421"/>
            </a:xfrm>
          </p:grpSpPr>
          <p:grpSp>
            <p:nvGrpSpPr>
              <p:cNvPr id="23" name="Group 22">
                <a:extLst>
                  <a:ext uri="{FF2B5EF4-FFF2-40B4-BE49-F238E27FC236}">
                    <a16:creationId xmlns:a16="http://schemas.microsoft.com/office/drawing/2014/main" id="{487252BB-E014-404B-A18B-AE3FFC133111}"/>
                  </a:ext>
                </a:extLst>
              </p:cNvPr>
              <p:cNvGrpSpPr/>
              <p:nvPr/>
            </p:nvGrpSpPr>
            <p:grpSpPr>
              <a:xfrm>
                <a:off x="3088645" y="480082"/>
                <a:ext cx="648328" cy="648421"/>
                <a:chOff x="3088645" y="480082"/>
                <a:chExt cx="648328" cy="648421"/>
              </a:xfrm>
            </p:grpSpPr>
            <p:sp>
              <p:nvSpPr>
                <p:cNvPr id="140" name="Freeform 5">
                  <a:extLst>
                    <a:ext uri="{FF2B5EF4-FFF2-40B4-BE49-F238E27FC236}">
                      <a16:creationId xmlns:a16="http://schemas.microsoft.com/office/drawing/2014/main" id="{DE8AF025-2E98-4B44-A38C-BC241F037DD7}"/>
                    </a:ext>
                  </a:extLst>
                </p:cNvPr>
                <p:cNvSpPr>
                  <a:spLocks/>
                </p:cNvSpPr>
                <p:nvPr/>
              </p:nvSpPr>
              <p:spPr bwMode="auto">
                <a:xfrm>
                  <a:off x="3088645" y="480082"/>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41" name="Freeform 6">
                  <a:extLst>
                    <a:ext uri="{FF2B5EF4-FFF2-40B4-BE49-F238E27FC236}">
                      <a16:creationId xmlns:a16="http://schemas.microsoft.com/office/drawing/2014/main" id="{7A727523-B56D-47D9-AA13-3FECAE967935}"/>
                    </a:ext>
                  </a:extLst>
                </p:cNvPr>
                <p:cNvSpPr>
                  <a:spLocks noEditPoints="1"/>
                </p:cNvSpPr>
                <p:nvPr/>
              </p:nvSpPr>
              <p:spPr bwMode="auto">
                <a:xfrm>
                  <a:off x="3133231" y="525199"/>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8" name="Picture 7" descr="Icon of three concentric arcs">
                <a:extLst>
                  <a:ext uri="{FF2B5EF4-FFF2-40B4-BE49-F238E27FC236}">
                    <a16:creationId xmlns:a16="http://schemas.microsoft.com/office/drawing/2014/main" id="{8506289D-CBBD-4B48-A547-C4E511F8A6A5}"/>
                  </a:ext>
                </a:extLst>
              </p:cNvPr>
              <p:cNvPicPr>
                <a:picLocks noChangeAspect="1"/>
              </p:cNvPicPr>
              <p:nvPr/>
            </p:nvPicPr>
            <p:blipFill>
              <a:blip r:embed="rId3"/>
              <a:stretch>
                <a:fillRect/>
              </a:stretch>
            </p:blipFill>
            <p:spPr>
              <a:xfrm>
                <a:off x="3241436" y="633445"/>
                <a:ext cx="343794" cy="343794"/>
              </a:xfrm>
              <a:prstGeom prst="rect">
                <a:avLst/>
              </a:prstGeom>
            </p:spPr>
          </p:pic>
        </p:grpSp>
        <p:grpSp>
          <p:nvGrpSpPr>
            <p:cNvPr id="26" name="Group 25">
              <a:extLst>
                <a:ext uri="{FF2B5EF4-FFF2-40B4-BE49-F238E27FC236}">
                  <a16:creationId xmlns:a16="http://schemas.microsoft.com/office/drawing/2014/main" id="{1AD2D33C-6D93-452C-8019-D0903D89CC87}"/>
                </a:ext>
              </a:extLst>
            </p:cNvPr>
            <p:cNvGrpSpPr/>
            <p:nvPr/>
          </p:nvGrpSpPr>
          <p:grpSpPr>
            <a:xfrm>
              <a:off x="3088645" y="1209401"/>
              <a:ext cx="648328" cy="648421"/>
              <a:chOff x="3088645" y="1209401"/>
              <a:chExt cx="648328" cy="648421"/>
            </a:xfrm>
          </p:grpSpPr>
          <p:grpSp>
            <p:nvGrpSpPr>
              <p:cNvPr id="24" name="Group 23">
                <a:extLst>
                  <a:ext uri="{FF2B5EF4-FFF2-40B4-BE49-F238E27FC236}">
                    <a16:creationId xmlns:a16="http://schemas.microsoft.com/office/drawing/2014/main" id="{0D57C996-6806-4E9F-834B-818FEDEA0E03}"/>
                  </a:ext>
                </a:extLst>
              </p:cNvPr>
              <p:cNvGrpSpPr/>
              <p:nvPr/>
            </p:nvGrpSpPr>
            <p:grpSpPr>
              <a:xfrm>
                <a:off x="3088645" y="1209401"/>
                <a:ext cx="648328" cy="648421"/>
                <a:chOff x="3088645" y="1209401"/>
                <a:chExt cx="648328" cy="648421"/>
              </a:xfrm>
            </p:grpSpPr>
            <p:sp>
              <p:nvSpPr>
                <p:cNvPr id="153" name="Freeform 5">
                  <a:extLst>
                    <a:ext uri="{FF2B5EF4-FFF2-40B4-BE49-F238E27FC236}">
                      <a16:creationId xmlns:a16="http://schemas.microsoft.com/office/drawing/2014/main" id="{46ED99BD-CDF6-4126-AC63-CC6947FF46CB}"/>
                    </a:ext>
                  </a:extLst>
                </p:cNvPr>
                <p:cNvSpPr>
                  <a:spLocks/>
                </p:cNvSpPr>
                <p:nvPr/>
              </p:nvSpPr>
              <p:spPr bwMode="auto">
                <a:xfrm>
                  <a:off x="3088645" y="1209401"/>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54" name="Freeform 6">
                  <a:extLst>
                    <a:ext uri="{FF2B5EF4-FFF2-40B4-BE49-F238E27FC236}">
                      <a16:creationId xmlns:a16="http://schemas.microsoft.com/office/drawing/2014/main" id="{AB179D2D-51C2-4D79-8395-7BB633939BA6}"/>
                    </a:ext>
                  </a:extLst>
                </p:cNvPr>
                <p:cNvSpPr>
                  <a:spLocks noEditPoints="1"/>
                </p:cNvSpPr>
                <p:nvPr/>
              </p:nvSpPr>
              <p:spPr bwMode="auto">
                <a:xfrm>
                  <a:off x="3133231" y="1254518"/>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9" name="Picture 8" descr="Icon of a arrow in a circular path with a timer inside the circle">
                <a:extLst>
                  <a:ext uri="{FF2B5EF4-FFF2-40B4-BE49-F238E27FC236}">
                    <a16:creationId xmlns:a16="http://schemas.microsoft.com/office/drawing/2014/main" id="{DECEC8E4-1C93-4D14-8D9C-B9E0F9962EFD}"/>
                  </a:ext>
                </a:extLst>
              </p:cNvPr>
              <p:cNvPicPr>
                <a:picLocks noChangeAspect="1"/>
              </p:cNvPicPr>
              <p:nvPr/>
            </p:nvPicPr>
            <p:blipFill>
              <a:blip r:embed="rId4"/>
              <a:stretch>
                <a:fillRect/>
              </a:stretch>
            </p:blipFill>
            <p:spPr>
              <a:xfrm>
                <a:off x="3240912" y="1361714"/>
                <a:ext cx="343794" cy="343794"/>
              </a:xfrm>
              <a:prstGeom prst="rect">
                <a:avLst/>
              </a:prstGeom>
            </p:spPr>
          </p:pic>
        </p:grpSp>
        <p:grpSp>
          <p:nvGrpSpPr>
            <p:cNvPr id="29" name="Group 28">
              <a:extLst>
                <a:ext uri="{FF2B5EF4-FFF2-40B4-BE49-F238E27FC236}">
                  <a16:creationId xmlns:a16="http://schemas.microsoft.com/office/drawing/2014/main" id="{5F3A4ACE-4E4D-472B-AE1D-23E2E88B8BBE}"/>
                </a:ext>
              </a:extLst>
            </p:cNvPr>
            <p:cNvGrpSpPr/>
            <p:nvPr/>
          </p:nvGrpSpPr>
          <p:grpSpPr>
            <a:xfrm>
              <a:off x="3088645" y="1938720"/>
              <a:ext cx="648328" cy="648421"/>
              <a:chOff x="3088645" y="1938720"/>
              <a:chExt cx="648328" cy="648421"/>
            </a:xfrm>
          </p:grpSpPr>
          <p:grpSp>
            <p:nvGrpSpPr>
              <p:cNvPr id="21" name="Group 20">
                <a:extLst>
                  <a:ext uri="{FF2B5EF4-FFF2-40B4-BE49-F238E27FC236}">
                    <a16:creationId xmlns:a16="http://schemas.microsoft.com/office/drawing/2014/main" id="{1C4A1083-D448-46B3-93FF-8AD131110189}"/>
                  </a:ext>
                </a:extLst>
              </p:cNvPr>
              <p:cNvGrpSpPr/>
              <p:nvPr/>
            </p:nvGrpSpPr>
            <p:grpSpPr>
              <a:xfrm>
                <a:off x="3088645" y="1938720"/>
                <a:ext cx="648328" cy="648421"/>
                <a:chOff x="3088645" y="1938720"/>
                <a:chExt cx="648328" cy="648421"/>
              </a:xfrm>
            </p:grpSpPr>
            <p:sp>
              <p:nvSpPr>
                <p:cNvPr id="160" name="Freeform 5">
                  <a:extLst>
                    <a:ext uri="{FF2B5EF4-FFF2-40B4-BE49-F238E27FC236}">
                      <a16:creationId xmlns:a16="http://schemas.microsoft.com/office/drawing/2014/main" id="{522F9478-7E82-4490-8F10-BE0EDAB7924A}"/>
                    </a:ext>
                  </a:extLst>
                </p:cNvPr>
                <p:cNvSpPr>
                  <a:spLocks/>
                </p:cNvSpPr>
                <p:nvPr/>
              </p:nvSpPr>
              <p:spPr bwMode="auto">
                <a:xfrm>
                  <a:off x="3088645" y="1938720"/>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61" name="Freeform 6">
                  <a:extLst>
                    <a:ext uri="{FF2B5EF4-FFF2-40B4-BE49-F238E27FC236}">
                      <a16:creationId xmlns:a16="http://schemas.microsoft.com/office/drawing/2014/main" id="{849B0907-1A59-46CF-8A32-AAEA6C32F03E}"/>
                    </a:ext>
                  </a:extLst>
                </p:cNvPr>
                <p:cNvSpPr>
                  <a:spLocks noEditPoints="1"/>
                </p:cNvSpPr>
                <p:nvPr/>
              </p:nvSpPr>
              <p:spPr bwMode="auto">
                <a:xfrm>
                  <a:off x="3133231" y="1983837"/>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0" name="Picture 9" descr="Icon of a gear inside a circle">
                <a:extLst>
                  <a:ext uri="{FF2B5EF4-FFF2-40B4-BE49-F238E27FC236}">
                    <a16:creationId xmlns:a16="http://schemas.microsoft.com/office/drawing/2014/main" id="{C6D1CD6F-A4C9-4FB9-9845-6349BC117CE4}"/>
                  </a:ext>
                </a:extLst>
              </p:cNvPr>
              <p:cNvPicPr>
                <a:picLocks noChangeAspect="1"/>
              </p:cNvPicPr>
              <p:nvPr/>
            </p:nvPicPr>
            <p:blipFill>
              <a:blip r:embed="rId5"/>
              <a:stretch>
                <a:fillRect/>
              </a:stretch>
            </p:blipFill>
            <p:spPr>
              <a:xfrm>
                <a:off x="3240912" y="2091033"/>
                <a:ext cx="343794" cy="343794"/>
              </a:xfrm>
              <a:prstGeom prst="rect">
                <a:avLst/>
              </a:prstGeom>
            </p:spPr>
          </p:pic>
        </p:grpSp>
        <p:grpSp>
          <p:nvGrpSpPr>
            <p:cNvPr id="30" name="Group 29">
              <a:extLst>
                <a:ext uri="{FF2B5EF4-FFF2-40B4-BE49-F238E27FC236}">
                  <a16:creationId xmlns:a16="http://schemas.microsoft.com/office/drawing/2014/main" id="{386BC80C-13C3-48C1-B8A0-CB1818C4B28B}"/>
                </a:ext>
              </a:extLst>
            </p:cNvPr>
            <p:cNvGrpSpPr/>
            <p:nvPr/>
          </p:nvGrpSpPr>
          <p:grpSpPr>
            <a:xfrm>
              <a:off x="3088645" y="2668039"/>
              <a:ext cx="648328" cy="648421"/>
              <a:chOff x="3088645" y="2668039"/>
              <a:chExt cx="648328" cy="648421"/>
            </a:xfrm>
          </p:grpSpPr>
          <p:grpSp>
            <p:nvGrpSpPr>
              <p:cNvPr id="28" name="Group 27">
                <a:extLst>
                  <a:ext uri="{FF2B5EF4-FFF2-40B4-BE49-F238E27FC236}">
                    <a16:creationId xmlns:a16="http://schemas.microsoft.com/office/drawing/2014/main" id="{90B6DB06-A21C-4370-AA75-9444BE3ACCB9}"/>
                  </a:ext>
                </a:extLst>
              </p:cNvPr>
              <p:cNvGrpSpPr/>
              <p:nvPr/>
            </p:nvGrpSpPr>
            <p:grpSpPr>
              <a:xfrm>
                <a:off x="3088645" y="2668039"/>
                <a:ext cx="648328" cy="648421"/>
                <a:chOff x="3088645" y="2668039"/>
                <a:chExt cx="648328" cy="648421"/>
              </a:xfrm>
            </p:grpSpPr>
            <p:sp>
              <p:nvSpPr>
                <p:cNvPr id="173" name="Freeform 5">
                  <a:extLst>
                    <a:ext uri="{FF2B5EF4-FFF2-40B4-BE49-F238E27FC236}">
                      <a16:creationId xmlns:a16="http://schemas.microsoft.com/office/drawing/2014/main" id="{3D4F9CBC-E9AC-4281-96C3-BFB5FEE97E7E}"/>
                    </a:ext>
                  </a:extLst>
                </p:cNvPr>
                <p:cNvSpPr>
                  <a:spLocks/>
                </p:cNvSpPr>
                <p:nvPr/>
              </p:nvSpPr>
              <p:spPr bwMode="auto">
                <a:xfrm>
                  <a:off x="3088645" y="2668039"/>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74" name="Freeform 6">
                  <a:extLst>
                    <a:ext uri="{FF2B5EF4-FFF2-40B4-BE49-F238E27FC236}">
                      <a16:creationId xmlns:a16="http://schemas.microsoft.com/office/drawing/2014/main" id="{DDA8F4C3-1DE2-4CF2-B4A6-08572A50AD69}"/>
                    </a:ext>
                  </a:extLst>
                </p:cNvPr>
                <p:cNvSpPr>
                  <a:spLocks noEditPoints="1"/>
                </p:cNvSpPr>
                <p:nvPr/>
              </p:nvSpPr>
              <p:spPr bwMode="auto">
                <a:xfrm>
                  <a:off x="3133231" y="2713156"/>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1" name="Picture 10" descr="Icon of a bulb">
                <a:extLst>
                  <a:ext uri="{FF2B5EF4-FFF2-40B4-BE49-F238E27FC236}">
                    <a16:creationId xmlns:a16="http://schemas.microsoft.com/office/drawing/2014/main" id="{F2CCC079-C0AA-4EB6-B85B-1E14898C8737}"/>
                  </a:ext>
                </a:extLst>
              </p:cNvPr>
              <p:cNvPicPr>
                <a:picLocks noChangeAspect="1"/>
              </p:cNvPicPr>
              <p:nvPr/>
            </p:nvPicPr>
            <p:blipFill>
              <a:blip r:embed="rId6"/>
              <a:stretch>
                <a:fillRect/>
              </a:stretch>
            </p:blipFill>
            <p:spPr>
              <a:xfrm>
                <a:off x="3289214" y="2820352"/>
                <a:ext cx="247191" cy="343794"/>
              </a:xfrm>
              <a:prstGeom prst="rect">
                <a:avLst/>
              </a:prstGeom>
            </p:spPr>
          </p:pic>
        </p:grpSp>
        <p:grpSp>
          <p:nvGrpSpPr>
            <p:cNvPr id="31" name="Group 30">
              <a:extLst>
                <a:ext uri="{FF2B5EF4-FFF2-40B4-BE49-F238E27FC236}">
                  <a16:creationId xmlns:a16="http://schemas.microsoft.com/office/drawing/2014/main" id="{7D80C3C3-9306-46CE-AEC2-3E77179C221C}"/>
                </a:ext>
              </a:extLst>
            </p:cNvPr>
            <p:cNvGrpSpPr/>
            <p:nvPr/>
          </p:nvGrpSpPr>
          <p:grpSpPr>
            <a:xfrm>
              <a:off x="3088645" y="3397358"/>
              <a:ext cx="648328" cy="648421"/>
              <a:chOff x="3088645" y="3397358"/>
              <a:chExt cx="648328" cy="648421"/>
            </a:xfrm>
          </p:grpSpPr>
          <p:grpSp>
            <p:nvGrpSpPr>
              <p:cNvPr id="19" name="Group 18">
                <a:extLst>
                  <a:ext uri="{FF2B5EF4-FFF2-40B4-BE49-F238E27FC236}">
                    <a16:creationId xmlns:a16="http://schemas.microsoft.com/office/drawing/2014/main" id="{95117CE3-0E9B-4447-A3C8-E159CB3F92E5}"/>
                  </a:ext>
                </a:extLst>
              </p:cNvPr>
              <p:cNvGrpSpPr/>
              <p:nvPr/>
            </p:nvGrpSpPr>
            <p:grpSpPr>
              <a:xfrm>
                <a:off x="3088645" y="3397358"/>
                <a:ext cx="648328" cy="648421"/>
                <a:chOff x="3088645" y="3397358"/>
                <a:chExt cx="648328" cy="648421"/>
              </a:xfrm>
            </p:grpSpPr>
            <p:sp>
              <p:nvSpPr>
                <p:cNvPr id="107" name="Freeform 5">
                  <a:extLst>
                    <a:ext uri="{FF2B5EF4-FFF2-40B4-BE49-F238E27FC236}">
                      <a16:creationId xmlns:a16="http://schemas.microsoft.com/office/drawing/2014/main" id="{9474CA11-8D78-4EC6-A276-679EF16D3D96}"/>
                    </a:ext>
                  </a:extLst>
                </p:cNvPr>
                <p:cNvSpPr>
                  <a:spLocks/>
                </p:cNvSpPr>
                <p:nvPr/>
              </p:nvSpPr>
              <p:spPr bwMode="auto">
                <a:xfrm>
                  <a:off x="3088645" y="3397358"/>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08" name="Freeform 6">
                  <a:extLst>
                    <a:ext uri="{FF2B5EF4-FFF2-40B4-BE49-F238E27FC236}">
                      <a16:creationId xmlns:a16="http://schemas.microsoft.com/office/drawing/2014/main" id="{9B2D8782-888C-4CF5-9681-D1A1887683D0}"/>
                    </a:ext>
                  </a:extLst>
                </p:cNvPr>
                <p:cNvSpPr>
                  <a:spLocks noEditPoints="1"/>
                </p:cNvSpPr>
                <p:nvPr/>
              </p:nvSpPr>
              <p:spPr bwMode="auto">
                <a:xfrm>
                  <a:off x="3133231" y="3442475"/>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2" name="Picture 11" descr="Icon of a screen with dots">
                <a:extLst>
                  <a:ext uri="{FF2B5EF4-FFF2-40B4-BE49-F238E27FC236}">
                    <a16:creationId xmlns:a16="http://schemas.microsoft.com/office/drawing/2014/main" id="{A490EA50-A693-4AC6-84FD-4D2DB9090CBD}"/>
                  </a:ext>
                </a:extLst>
              </p:cNvPr>
              <p:cNvPicPr>
                <a:picLocks noChangeAspect="1"/>
              </p:cNvPicPr>
              <p:nvPr/>
            </p:nvPicPr>
            <p:blipFill>
              <a:blip r:embed="rId7"/>
              <a:stretch>
                <a:fillRect/>
              </a:stretch>
            </p:blipFill>
            <p:spPr>
              <a:xfrm>
                <a:off x="3243943" y="3594850"/>
                <a:ext cx="337732" cy="253437"/>
              </a:xfrm>
              <a:prstGeom prst="rect">
                <a:avLst/>
              </a:prstGeom>
            </p:spPr>
          </p:pic>
        </p:grpSp>
        <p:grpSp>
          <p:nvGrpSpPr>
            <p:cNvPr id="33" name="Group 32">
              <a:extLst>
                <a:ext uri="{FF2B5EF4-FFF2-40B4-BE49-F238E27FC236}">
                  <a16:creationId xmlns:a16="http://schemas.microsoft.com/office/drawing/2014/main" id="{90917E78-AD9A-4BD2-A0DE-1468FBEFD828}"/>
                </a:ext>
              </a:extLst>
            </p:cNvPr>
            <p:cNvGrpSpPr/>
            <p:nvPr/>
          </p:nvGrpSpPr>
          <p:grpSpPr>
            <a:xfrm>
              <a:off x="3088645" y="4126677"/>
              <a:ext cx="648328" cy="648421"/>
              <a:chOff x="3088645" y="4126677"/>
              <a:chExt cx="648328" cy="648421"/>
            </a:xfrm>
          </p:grpSpPr>
          <p:grpSp>
            <p:nvGrpSpPr>
              <p:cNvPr id="18" name="Group 17">
                <a:extLst>
                  <a:ext uri="{FF2B5EF4-FFF2-40B4-BE49-F238E27FC236}">
                    <a16:creationId xmlns:a16="http://schemas.microsoft.com/office/drawing/2014/main" id="{5D3BD2C7-2A7D-4F86-9D6E-B86CB2DBFE6A}"/>
                  </a:ext>
                </a:extLst>
              </p:cNvPr>
              <p:cNvGrpSpPr/>
              <p:nvPr/>
            </p:nvGrpSpPr>
            <p:grpSpPr>
              <a:xfrm>
                <a:off x="3088645" y="4126677"/>
                <a:ext cx="648328" cy="648421"/>
                <a:chOff x="3088645" y="4126677"/>
                <a:chExt cx="648328" cy="648421"/>
              </a:xfrm>
            </p:grpSpPr>
            <p:sp>
              <p:nvSpPr>
                <p:cNvPr id="133" name="Freeform 5">
                  <a:extLst>
                    <a:ext uri="{FF2B5EF4-FFF2-40B4-BE49-F238E27FC236}">
                      <a16:creationId xmlns:a16="http://schemas.microsoft.com/office/drawing/2014/main" id="{61B7FE4E-A54C-4AB3-B855-6A86D033CE0F}"/>
                    </a:ext>
                  </a:extLst>
                </p:cNvPr>
                <p:cNvSpPr>
                  <a:spLocks/>
                </p:cNvSpPr>
                <p:nvPr/>
              </p:nvSpPr>
              <p:spPr bwMode="auto">
                <a:xfrm>
                  <a:off x="3088645" y="4126677"/>
                  <a:ext cx="648328" cy="648421"/>
                </a:xfrm>
                <a:prstGeom prst="ellipse">
                  <a:avLst/>
                </a:prstGeom>
                <a:solidFill>
                  <a:schemeClr val="bg1">
                    <a:lumMod val="9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134" name="Freeform 6">
                  <a:extLst>
                    <a:ext uri="{FF2B5EF4-FFF2-40B4-BE49-F238E27FC236}">
                      <a16:creationId xmlns:a16="http://schemas.microsoft.com/office/drawing/2014/main" id="{212CD6A7-0C2A-4CB7-B2D0-E7E7F037253C}"/>
                    </a:ext>
                  </a:extLst>
                </p:cNvPr>
                <p:cNvSpPr>
                  <a:spLocks noEditPoints="1"/>
                </p:cNvSpPr>
                <p:nvPr/>
              </p:nvSpPr>
              <p:spPr bwMode="auto">
                <a:xfrm>
                  <a:off x="3133231" y="4171794"/>
                  <a:ext cx="559157"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3" name="Picture 12" descr="Icon of coding brackets">
                <a:extLst>
                  <a:ext uri="{FF2B5EF4-FFF2-40B4-BE49-F238E27FC236}">
                    <a16:creationId xmlns:a16="http://schemas.microsoft.com/office/drawing/2014/main" id="{7AA290B3-ADDF-431A-9250-5322DBA77ED6}"/>
                  </a:ext>
                </a:extLst>
              </p:cNvPr>
              <p:cNvPicPr>
                <a:picLocks noChangeAspect="1"/>
              </p:cNvPicPr>
              <p:nvPr/>
            </p:nvPicPr>
            <p:blipFill>
              <a:blip r:embed="rId8"/>
              <a:stretch>
                <a:fillRect/>
              </a:stretch>
            </p:blipFill>
            <p:spPr>
              <a:xfrm>
                <a:off x="3241292" y="4279370"/>
                <a:ext cx="343035" cy="343035"/>
              </a:xfrm>
              <a:prstGeom prst="rect">
                <a:avLst/>
              </a:prstGeom>
            </p:spPr>
          </p:pic>
        </p:grpSp>
        <p:grpSp>
          <p:nvGrpSpPr>
            <p:cNvPr id="34" name="Group 33">
              <a:extLst>
                <a:ext uri="{FF2B5EF4-FFF2-40B4-BE49-F238E27FC236}">
                  <a16:creationId xmlns:a16="http://schemas.microsoft.com/office/drawing/2014/main" id="{AC684AC9-6518-4DC6-A1AA-30095D06C456}"/>
                </a:ext>
              </a:extLst>
            </p:cNvPr>
            <p:cNvGrpSpPr/>
            <p:nvPr/>
          </p:nvGrpSpPr>
          <p:grpSpPr>
            <a:xfrm>
              <a:off x="3088645" y="4855994"/>
              <a:ext cx="648329" cy="648421"/>
              <a:chOff x="3088645" y="4855994"/>
              <a:chExt cx="648329" cy="648421"/>
            </a:xfrm>
          </p:grpSpPr>
          <p:grpSp>
            <p:nvGrpSpPr>
              <p:cNvPr id="16" name="Group 15">
                <a:extLst>
                  <a:ext uri="{FF2B5EF4-FFF2-40B4-BE49-F238E27FC236}">
                    <a16:creationId xmlns:a16="http://schemas.microsoft.com/office/drawing/2014/main" id="{3F7D0CAC-211F-459F-B1EB-52595A1A6323}"/>
                  </a:ext>
                </a:extLst>
              </p:cNvPr>
              <p:cNvGrpSpPr/>
              <p:nvPr/>
            </p:nvGrpSpPr>
            <p:grpSpPr>
              <a:xfrm>
                <a:off x="3088645" y="4855994"/>
                <a:ext cx="648329" cy="648421"/>
                <a:chOff x="3088645" y="4855994"/>
                <a:chExt cx="648329" cy="648421"/>
              </a:xfrm>
            </p:grpSpPr>
            <p:sp>
              <p:nvSpPr>
                <p:cNvPr id="94" name="Freeform 5">
                  <a:extLst>
                    <a:ext uri="{FF2B5EF4-FFF2-40B4-BE49-F238E27FC236}">
                      <a16:creationId xmlns:a16="http://schemas.microsoft.com/office/drawing/2014/main" id="{2B5E6A94-C6D5-42AF-B89B-310056DC042A}"/>
                    </a:ext>
                  </a:extLst>
                </p:cNvPr>
                <p:cNvSpPr>
                  <a:spLocks/>
                </p:cNvSpPr>
                <p:nvPr/>
              </p:nvSpPr>
              <p:spPr bwMode="auto">
                <a:xfrm>
                  <a:off x="3088645" y="4855994"/>
                  <a:ext cx="648329" cy="648421"/>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95" name="Freeform 6">
                  <a:extLst>
                    <a:ext uri="{FF2B5EF4-FFF2-40B4-BE49-F238E27FC236}">
                      <a16:creationId xmlns:a16="http://schemas.microsoft.com/office/drawing/2014/main" id="{1D0893B1-8F26-4D9A-AEE0-0CF8243D6CB2}"/>
                    </a:ext>
                  </a:extLst>
                </p:cNvPr>
                <p:cNvSpPr>
                  <a:spLocks noEditPoints="1"/>
                </p:cNvSpPr>
                <p:nvPr/>
              </p:nvSpPr>
              <p:spPr bwMode="auto">
                <a:xfrm>
                  <a:off x="3133230" y="4901111"/>
                  <a:ext cx="559158" cy="558187"/>
                </a:xfrm>
                <a:prstGeom prst="ellipse">
                  <a:avLst/>
                </a:prstGeom>
                <a:noFill/>
                <a:ln w="19050">
                  <a:solidFill>
                    <a:schemeClr val="accent4"/>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14" name="Picture 13" descr="Icon of a screen with a square enclosed by outward pointing chevrons on left and right">
                <a:extLst>
                  <a:ext uri="{FF2B5EF4-FFF2-40B4-BE49-F238E27FC236}">
                    <a16:creationId xmlns:a16="http://schemas.microsoft.com/office/drawing/2014/main" id="{A0B80851-ACFB-44ED-90C5-B1BDCD71114F}"/>
                  </a:ext>
                </a:extLst>
              </p:cNvPr>
              <p:cNvPicPr>
                <a:picLocks noChangeAspect="1"/>
              </p:cNvPicPr>
              <p:nvPr/>
            </p:nvPicPr>
            <p:blipFill>
              <a:blip r:embed="rId9"/>
              <a:stretch>
                <a:fillRect/>
              </a:stretch>
            </p:blipFill>
            <p:spPr>
              <a:xfrm>
                <a:off x="3231869" y="5044425"/>
                <a:ext cx="361881" cy="271559"/>
              </a:xfrm>
              <a:prstGeom prst="rect">
                <a:avLst/>
              </a:prstGeom>
            </p:spPr>
          </p:pic>
        </p:grpSp>
      </p:grpSp>
    </p:spTree>
    <p:extLst>
      <p:ext uri="{BB962C8B-B14F-4D97-AF65-F5344CB8AC3E}">
        <p14:creationId xmlns:p14="http://schemas.microsoft.com/office/powerpoint/2010/main" val="2049436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FA4BB4-C1F7-40DA-A70A-8531191C3164}"/>
              </a:ext>
            </a:extLst>
          </p:cNvPr>
          <p:cNvSpPr>
            <a:spLocks noGrp="1"/>
          </p:cNvSpPr>
          <p:nvPr>
            <p:ph type="title"/>
          </p:nvPr>
        </p:nvSpPr>
        <p:spPr>
          <a:xfrm>
            <a:off x="424090" y="466096"/>
            <a:ext cx="11343820" cy="397545"/>
          </a:xfrm>
        </p:spPr>
        <p:txBody>
          <a:bodyPr/>
          <a:lstStyle/>
          <a:p>
            <a:r>
              <a:rPr lang="fr-FR" dirty="0"/>
              <a:t>Azure Private Endpoint DNS configuration</a:t>
            </a:r>
            <a:endParaRPr lang="en-US" dirty="0"/>
          </a:p>
        </p:txBody>
      </p:sp>
      <p:sp>
        <p:nvSpPr>
          <p:cNvPr id="2" name="Rectangle 1">
            <a:extLst>
              <a:ext uri="{FF2B5EF4-FFF2-40B4-BE49-F238E27FC236}">
                <a16:creationId xmlns:a16="http://schemas.microsoft.com/office/drawing/2014/main" id="{2864A06E-0C6C-43D6-96A4-5D41D719C7C7}"/>
              </a:ext>
              <a:ext uri="{C183D7F6-B498-43B3-948B-1728B52AA6E4}">
                <adec:decorative xmlns:adec="http://schemas.microsoft.com/office/drawing/2017/decorative" val="0"/>
              </a:ext>
            </a:extLst>
          </p:cNvPr>
          <p:cNvSpPr/>
          <p:nvPr/>
        </p:nvSpPr>
        <p:spPr bwMode="auto">
          <a:xfrm>
            <a:off x="418643" y="1503065"/>
            <a:ext cx="4215987" cy="1925935"/>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dirty="0">
                <a:solidFill>
                  <a:schemeClr val="tx1"/>
                </a:solidFill>
                <a:latin typeface="+mj-lt"/>
              </a:rPr>
              <a:t>High-level architecture for enterprise environments with central DNS resolution and where name resolution for Private Endpoint resources is done via Azure Private DNS</a:t>
            </a:r>
          </a:p>
        </p:txBody>
      </p:sp>
      <p:pic>
        <p:nvPicPr>
          <p:cNvPr id="4" name="Picture 3" descr="Azure private endpoint with DNS configuration ">
            <a:extLst>
              <a:ext uri="{FF2B5EF4-FFF2-40B4-BE49-F238E27FC236}">
                <a16:creationId xmlns:a16="http://schemas.microsoft.com/office/drawing/2014/main" id="{FC6816F6-B1AE-4FCF-B183-8C5B9E1AABF7}"/>
              </a:ext>
            </a:extLst>
          </p:cNvPr>
          <p:cNvPicPr/>
          <p:nvPr/>
        </p:nvPicPr>
        <p:blipFill rotWithShape="1">
          <a:blip r:embed="rId3"/>
          <a:srcRect r="10328"/>
          <a:stretch/>
        </p:blipFill>
        <p:spPr bwMode="auto">
          <a:xfrm>
            <a:off x="4588353" y="1300438"/>
            <a:ext cx="7179557" cy="4788715"/>
          </a:xfrm>
          <a:prstGeom prst="rect">
            <a:avLst/>
          </a:prstGeom>
          <a:noFill/>
          <a:ln>
            <a:noFill/>
          </a:ln>
        </p:spPr>
      </p:pic>
      <p:sp>
        <p:nvSpPr>
          <p:cNvPr id="6" name="Rectangle 5">
            <a:extLst>
              <a:ext uri="{FF2B5EF4-FFF2-40B4-BE49-F238E27FC236}">
                <a16:creationId xmlns:a16="http://schemas.microsoft.com/office/drawing/2014/main" id="{092C09A9-5BA4-4D10-B5DC-C08550954065}"/>
              </a:ext>
              <a:ext uri="{C183D7F6-B498-43B3-948B-1728B52AA6E4}">
                <adec:decorative xmlns:adec="http://schemas.microsoft.com/office/drawing/2017/decorative" val="1"/>
              </a:ext>
            </a:extLst>
          </p:cNvPr>
          <p:cNvSpPr/>
          <p:nvPr/>
        </p:nvSpPr>
        <p:spPr bwMode="auto">
          <a:xfrm>
            <a:off x="5077326" y="1169265"/>
            <a:ext cx="6696031" cy="505106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49173278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FA4BB4-C1F7-40DA-A70A-8531191C3164}"/>
              </a:ext>
            </a:extLst>
          </p:cNvPr>
          <p:cNvSpPr>
            <a:spLocks noGrp="1"/>
          </p:cNvSpPr>
          <p:nvPr>
            <p:ph type="title"/>
          </p:nvPr>
        </p:nvSpPr>
        <p:spPr>
          <a:xfrm>
            <a:off x="424090" y="267324"/>
            <a:ext cx="11343820" cy="795089"/>
          </a:xfrm>
        </p:spPr>
        <p:txBody>
          <a:bodyPr/>
          <a:lstStyle/>
          <a:p>
            <a:r>
              <a:rPr lang="en-US" dirty="0"/>
              <a:t>Significance of IP address 168.63.129.16 </a:t>
            </a:r>
            <a:br>
              <a:rPr lang="en-US" dirty="0"/>
            </a:br>
            <a:endParaRPr lang="en-US" dirty="0"/>
          </a:p>
        </p:txBody>
      </p:sp>
      <p:sp>
        <p:nvSpPr>
          <p:cNvPr id="2" name="Rectangle 1">
            <a:extLst>
              <a:ext uri="{FF2B5EF4-FFF2-40B4-BE49-F238E27FC236}">
                <a16:creationId xmlns:a16="http://schemas.microsoft.com/office/drawing/2014/main" id="{177BB4D8-8AD1-41AC-893D-2FA5D40A8B9B}"/>
              </a:ext>
            </a:extLst>
          </p:cNvPr>
          <p:cNvSpPr/>
          <p:nvPr/>
        </p:nvSpPr>
        <p:spPr>
          <a:xfrm>
            <a:off x="418644" y="1280513"/>
            <a:ext cx="8888194" cy="79508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Enables the VM Agent to communicate with the Azure platform to signal that it is in a "Ready" state</a:t>
            </a:r>
            <a:endParaRPr lang="en-US" sz="1961" dirty="0">
              <a:solidFill>
                <a:schemeClr val="tx1"/>
              </a:solidFill>
            </a:endParaRPr>
          </a:p>
        </p:txBody>
      </p:sp>
      <p:sp>
        <p:nvSpPr>
          <p:cNvPr id="7" name="Rectangle 6">
            <a:extLst>
              <a:ext uri="{FF2B5EF4-FFF2-40B4-BE49-F238E27FC236}">
                <a16:creationId xmlns:a16="http://schemas.microsoft.com/office/drawing/2014/main" id="{4C659329-AFF4-4C79-B408-C7589AD9EEF7}"/>
              </a:ext>
            </a:extLst>
          </p:cNvPr>
          <p:cNvSpPr/>
          <p:nvPr/>
        </p:nvSpPr>
        <p:spPr>
          <a:xfrm>
            <a:off x="418644" y="2259614"/>
            <a:ext cx="8888193" cy="72782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Enables communication with the DNS virtual server to provide filtered name resolution to the resources (such as VM) that do not have a custom DNS server. </a:t>
            </a:r>
          </a:p>
        </p:txBody>
      </p:sp>
      <p:sp>
        <p:nvSpPr>
          <p:cNvPr id="9" name="Rectangle 8">
            <a:extLst>
              <a:ext uri="{FF2B5EF4-FFF2-40B4-BE49-F238E27FC236}">
                <a16:creationId xmlns:a16="http://schemas.microsoft.com/office/drawing/2014/main" id="{1547D159-7202-4670-BE4F-0DEE4F046A0E}"/>
              </a:ext>
            </a:extLst>
          </p:cNvPr>
          <p:cNvSpPr/>
          <p:nvPr/>
        </p:nvSpPr>
        <p:spPr>
          <a:xfrm>
            <a:off x="418644" y="3238715"/>
            <a:ext cx="8888193" cy="72782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Enables health probes from Azure load balancer to determine the health state of VMs</a:t>
            </a:r>
          </a:p>
        </p:txBody>
      </p:sp>
      <p:sp>
        <p:nvSpPr>
          <p:cNvPr id="11" name="Rectangle 10">
            <a:extLst>
              <a:ext uri="{FF2B5EF4-FFF2-40B4-BE49-F238E27FC236}">
                <a16:creationId xmlns:a16="http://schemas.microsoft.com/office/drawing/2014/main" id="{5BFF8341-045B-438C-BEF6-B2475AC50F48}"/>
              </a:ext>
            </a:extLst>
          </p:cNvPr>
          <p:cNvSpPr/>
          <p:nvPr/>
        </p:nvSpPr>
        <p:spPr>
          <a:xfrm>
            <a:off x="418644" y="4217816"/>
            <a:ext cx="8888193" cy="72782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Enables the VM to obtain a dynamic IP address from the DHCP service in Azure</a:t>
            </a:r>
          </a:p>
        </p:txBody>
      </p:sp>
      <p:sp>
        <p:nvSpPr>
          <p:cNvPr id="13" name="Rectangle 12">
            <a:extLst>
              <a:ext uri="{FF2B5EF4-FFF2-40B4-BE49-F238E27FC236}">
                <a16:creationId xmlns:a16="http://schemas.microsoft.com/office/drawing/2014/main" id="{FB267F36-99DB-49FC-B727-0917F2FD0DA2}"/>
              </a:ext>
            </a:extLst>
          </p:cNvPr>
          <p:cNvSpPr/>
          <p:nvPr/>
        </p:nvSpPr>
        <p:spPr>
          <a:xfrm>
            <a:off x="418644" y="5196917"/>
            <a:ext cx="8888193" cy="727823"/>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Enables Guest Agent heartbeat messages for the PaaS role</a:t>
            </a:r>
          </a:p>
        </p:txBody>
      </p:sp>
    </p:spTree>
    <p:extLst>
      <p:ext uri="{BB962C8B-B14F-4D97-AF65-F5344CB8AC3E}">
        <p14:creationId xmlns:p14="http://schemas.microsoft.com/office/powerpoint/2010/main" val="95054146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FA4BB4-C1F7-40DA-A70A-8531191C3164}"/>
              </a:ext>
            </a:extLst>
          </p:cNvPr>
          <p:cNvSpPr>
            <a:spLocks noGrp="1"/>
          </p:cNvSpPr>
          <p:nvPr>
            <p:ph type="title"/>
          </p:nvPr>
        </p:nvSpPr>
        <p:spPr>
          <a:xfrm>
            <a:off x="424090" y="466096"/>
            <a:ext cx="11343820" cy="397545"/>
          </a:xfrm>
        </p:spPr>
        <p:txBody>
          <a:bodyPr/>
          <a:lstStyle/>
          <a:p>
            <a:r>
              <a:rPr lang="fr-FR" dirty="0"/>
              <a:t>Azure services Private DNS zone configuration examples </a:t>
            </a:r>
            <a:endParaRPr lang="en-US" dirty="0"/>
          </a:p>
        </p:txBody>
      </p:sp>
      <p:graphicFrame>
        <p:nvGraphicFramePr>
          <p:cNvPr id="4" name="Table 3">
            <a:extLst>
              <a:ext uri="{FF2B5EF4-FFF2-40B4-BE49-F238E27FC236}">
                <a16:creationId xmlns:a16="http://schemas.microsoft.com/office/drawing/2014/main" id="{E9816BB7-6AED-413A-A9EA-42FB17F6AEE3}"/>
              </a:ext>
            </a:extLst>
          </p:cNvPr>
          <p:cNvGraphicFramePr/>
          <p:nvPr>
            <p:extLst>
              <p:ext uri="{D42A27DB-BD31-4B8C-83A1-F6EECF244321}">
                <p14:modId xmlns:p14="http://schemas.microsoft.com/office/powerpoint/2010/main" val="1500687622"/>
              </p:ext>
            </p:extLst>
          </p:nvPr>
        </p:nvGraphicFramePr>
        <p:xfrm>
          <a:off x="424090" y="1335505"/>
          <a:ext cx="10825436" cy="4704348"/>
        </p:xfrm>
        <a:graphic>
          <a:graphicData uri="http://schemas.openxmlformats.org/drawingml/2006/table">
            <a:tbl>
              <a:tblPr firstRow="1" firstCol="1" bandRow="1">
                <a:tableStyleId>{B301B821-A1FF-4177-AEE7-76D212191A09}</a:tableStyleId>
              </a:tblPr>
              <a:tblGrid>
                <a:gridCol w="6429014">
                  <a:extLst>
                    <a:ext uri="{9D8B030D-6E8A-4147-A177-3AD203B41FA5}">
                      <a16:colId xmlns:a16="http://schemas.microsoft.com/office/drawing/2014/main" val="4002013357"/>
                    </a:ext>
                  </a:extLst>
                </a:gridCol>
                <a:gridCol w="4396422">
                  <a:extLst>
                    <a:ext uri="{9D8B030D-6E8A-4147-A177-3AD203B41FA5}">
                      <a16:colId xmlns:a16="http://schemas.microsoft.com/office/drawing/2014/main" val="1735601540"/>
                    </a:ext>
                  </a:extLst>
                </a:gridCol>
              </a:tblGrid>
              <a:tr h="816281">
                <a:tc>
                  <a:txBody>
                    <a:bodyPr/>
                    <a:lstStyle/>
                    <a:p>
                      <a:pPr marL="0" marR="0" algn="l" fontAlgn="t">
                        <a:lnSpc>
                          <a:spcPct val="107000"/>
                        </a:lnSpc>
                        <a:spcBef>
                          <a:spcPts val="0"/>
                        </a:spcBef>
                        <a:spcAft>
                          <a:spcPts val="1000"/>
                        </a:spcAft>
                      </a:pPr>
                      <a:r>
                        <a:rPr lang="en-US" sz="1400" u="none" strike="noStrike" dirty="0">
                          <a:effectLst/>
                        </a:rPr>
                        <a:t>Private Link resource type / Subresource</a:t>
                      </a:r>
                      <a:endParaRPr lang="en-US" sz="1400" b="0" i="0" u="none" strike="noStrike" dirty="0">
                        <a:effectLst/>
                        <a:latin typeface="Arial" panose="020B0604020202020204" pitchFamily="34" charset="0"/>
                      </a:endParaRPr>
                    </a:p>
                  </a:txBody>
                  <a:tcPr marL="40166" marR="40166" marT="5579" marB="0"/>
                </a:tc>
                <a:tc>
                  <a:txBody>
                    <a:bodyPr/>
                    <a:lstStyle/>
                    <a:p>
                      <a:pPr marL="0" marR="0" algn="l" fontAlgn="t">
                        <a:lnSpc>
                          <a:spcPct val="107000"/>
                        </a:lnSpc>
                        <a:spcBef>
                          <a:spcPts val="0"/>
                        </a:spcBef>
                        <a:spcAft>
                          <a:spcPts val="1000"/>
                        </a:spcAft>
                      </a:pPr>
                      <a:r>
                        <a:rPr lang="en-US" sz="1400" u="none" strike="noStrike" dirty="0">
                          <a:effectLst/>
                        </a:rPr>
                        <a:t>Private DNS zone name</a:t>
                      </a:r>
                      <a:endParaRPr lang="en-US" sz="1400" b="0" i="0" u="none" strike="noStrike" dirty="0">
                        <a:effectLst/>
                        <a:latin typeface="Arial" panose="020B0604020202020204" pitchFamily="34" charset="0"/>
                      </a:endParaRPr>
                    </a:p>
                  </a:txBody>
                  <a:tcPr marL="40166" marR="40166" marT="5579" marB="0"/>
                </a:tc>
                <a:extLst>
                  <a:ext uri="{0D108BD9-81ED-4DB2-BD59-A6C34878D82A}">
                    <a16:rowId xmlns:a16="http://schemas.microsoft.com/office/drawing/2014/main" val="3612791637"/>
                  </a:ext>
                </a:extLst>
              </a:tr>
              <a:tr h="913028">
                <a:tc>
                  <a:txBody>
                    <a:bodyPr/>
                    <a:lstStyle/>
                    <a:p>
                      <a:pPr marL="0" marR="0" algn="l" fontAlgn="t">
                        <a:lnSpc>
                          <a:spcPct val="107000"/>
                        </a:lnSpc>
                        <a:spcBef>
                          <a:spcPts val="0"/>
                        </a:spcBef>
                        <a:spcAft>
                          <a:spcPts val="1000"/>
                        </a:spcAft>
                      </a:pPr>
                      <a:r>
                        <a:rPr lang="en-US" sz="1800" u="none" strike="noStrike" dirty="0">
                          <a:effectLst/>
                        </a:rPr>
                        <a:t>Azure Automation / (Microsoft.Automation/automationAccounts) / Webhook, DSCAndHybridWorker</a:t>
                      </a:r>
                      <a:endParaRPr lang="en-US" sz="1800" b="0" i="0" u="none" strike="noStrike" dirty="0">
                        <a:effectLst/>
                        <a:latin typeface="Arial" panose="020B0604020202020204" pitchFamily="34" charset="0"/>
                      </a:endParaRPr>
                    </a:p>
                  </a:txBody>
                  <a:tcPr marL="40166" marR="40166" marT="5579" marB="0"/>
                </a:tc>
                <a:tc>
                  <a:txBody>
                    <a:bodyPr/>
                    <a:lstStyle/>
                    <a:p>
                      <a:pPr marL="0" marR="0" algn="l" fontAlgn="t">
                        <a:lnSpc>
                          <a:spcPct val="107000"/>
                        </a:lnSpc>
                        <a:spcBef>
                          <a:spcPts val="0"/>
                        </a:spcBef>
                        <a:spcAft>
                          <a:spcPts val="1000"/>
                        </a:spcAft>
                      </a:pPr>
                      <a:r>
                        <a:rPr lang="en-US" sz="1800" u="none" strike="noStrike" dirty="0">
                          <a:effectLst/>
                        </a:rPr>
                        <a:t>privatelink.Azure-automation.net</a:t>
                      </a:r>
                      <a:endParaRPr lang="en-US" sz="1800" b="0" i="0" u="none" strike="noStrike" dirty="0">
                        <a:effectLst/>
                        <a:latin typeface="Arial" panose="020B0604020202020204" pitchFamily="34" charset="0"/>
                      </a:endParaRPr>
                    </a:p>
                  </a:txBody>
                  <a:tcPr marL="40166" marR="40166" marT="5579" marB="0"/>
                </a:tc>
                <a:extLst>
                  <a:ext uri="{0D108BD9-81ED-4DB2-BD59-A6C34878D82A}">
                    <a16:rowId xmlns:a16="http://schemas.microsoft.com/office/drawing/2014/main" val="2447967087"/>
                  </a:ext>
                </a:extLst>
              </a:tr>
              <a:tr h="687337">
                <a:tc>
                  <a:txBody>
                    <a:bodyPr/>
                    <a:lstStyle/>
                    <a:p>
                      <a:pPr marL="0" marR="0" algn="l" fontAlgn="t">
                        <a:lnSpc>
                          <a:spcPct val="107000"/>
                        </a:lnSpc>
                        <a:spcBef>
                          <a:spcPts val="0"/>
                        </a:spcBef>
                        <a:spcAft>
                          <a:spcPts val="1000"/>
                        </a:spcAft>
                      </a:pPr>
                      <a:r>
                        <a:rPr lang="en-US" sz="1800" u="none" strike="noStrike" dirty="0">
                          <a:effectLst/>
                        </a:rPr>
                        <a:t>Azure SQL Database (Microsoft.Sql/servers) / sqlServer</a:t>
                      </a:r>
                      <a:endParaRPr lang="en-US" sz="1800" b="0" i="0" u="none" strike="noStrike" dirty="0">
                        <a:effectLst/>
                        <a:latin typeface="Arial" panose="020B0604020202020204" pitchFamily="34" charset="0"/>
                      </a:endParaRPr>
                    </a:p>
                  </a:txBody>
                  <a:tcPr marL="40166" marR="40166" marT="5579" marB="0"/>
                </a:tc>
                <a:tc>
                  <a:txBody>
                    <a:bodyPr/>
                    <a:lstStyle/>
                    <a:p>
                      <a:pPr marL="0" marR="0" algn="l" fontAlgn="t">
                        <a:lnSpc>
                          <a:spcPct val="107000"/>
                        </a:lnSpc>
                        <a:spcBef>
                          <a:spcPts val="0"/>
                        </a:spcBef>
                        <a:spcAft>
                          <a:spcPts val="1000"/>
                        </a:spcAft>
                      </a:pPr>
                      <a:r>
                        <a:rPr lang="en-US" sz="1800" u="none" strike="noStrike" dirty="0">
                          <a:effectLst/>
                        </a:rPr>
                        <a:t>privatelink.database.windows.net</a:t>
                      </a:r>
                      <a:endParaRPr lang="en-US" sz="1800" b="0" i="0" u="none" strike="noStrike" dirty="0">
                        <a:effectLst/>
                        <a:latin typeface="Arial" panose="020B0604020202020204" pitchFamily="34" charset="0"/>
                      </a:endParaRPr>
                    </a:p>
                  </a:txBody>
                  <a:tcPr marL="40166" marR="40166" marT="5579" marB="0"/>
                </a:tc>
                <a:extLst>
                  <a:ext uri="{0D108BD9-81ED-4DB2-BD59-A6C34878D82A}">
                    <a16:rowId xmlns:a16="http://schemas.microsoft.com/office/drawing/2014/main" val="2580293976"/>
                  </a:ext>
                </a:extLst>
              </a:tr>
              <a:tr h="687337">
                <a:tc>
                  <a:txBody>
                    <a:bodyPr/>
                    <a:lstStyle/>
                    <a:p>
                      <a:pPr marL="0" marR="0" algn="l" fontAlgn="t">
                        <a:lnSpc>
                          <a:spcPct val="107000"/>
                        </a:lnSpc>
                        <a:spcBef>
                          <a:spcPts val="0"/>
                        </a:spcBef>
                        <a:spcAft>
                          <a:spcPts val="1000"/>
                        </a:spcAft>
                      </a:pPr>
                      <a:r>
                        <a:rPr lang="en-US" sz="1800" u="none" strike="noStrike" dirty="0">
                          <a:effectLst/>
                        </a:rPr>
                        <a:t>Azure Synapse Analytics (Microsoft.Sql/servers) / sqlServer</a:t>
                      </a:r>
                      <a:endParaRPr lang="en-US" sz="1800" b="0" i="0" u="none" strike="noStrike" dirty="0">
                        <a:effectLst/>
                        <a:latin typeface="Arial" panose="020B0604020202020204" pitchFamily="34" charset="0"/>
                      </a:endParaRPr>
                    </a:p>
                  </a:txBody>
                  <a:tcPr marL="40166" marR="40166" marT="5579" marB="0"/>
                </a:tc>
                <a:tc>
                  <a:txBody>
                    <a:bodyPr/>
                    <a:lstStyle/>
                    <a:p>
                      <a:pPr marL="0" marR="0" algn="l" fontAlgn="t">
                        <a:lnSpc>
                          <a:spcPct val="107000"/>
                        </a:lnSpc>
                        <a:spcBef>
                          <a:spcPts val="0"/>
                        </a:spcBef>
                        <a:spcAft>
                          <a:spcPts val="1000"/>
                        </a:spcAft>
                      </a:pPr>
                      <a:r>
                        <a:rPr lang="en-US" sz="1800" u="none" strike="noStrike" dirty="0">
                          <a:effectLst/>
                        </a:rPr>
                        <a:t>privatelink.database.windows.net</a:t>
                      </a:r>
                      <a:endParaRPr lang="en-US" sz="1800" b="0" i="0" u="none" strike="noStrike" dirty="0">
                        <a:effectLst/>
                        <a:latin typeface="Arial" panose="020B0604020202020204" pitchFamily="34" charset="0"/>
                      </a:endParaRPr>
                    </a:p>
                  </a:txBody>
                  <a:tcPr marL="40166" marR="40166" marT="5579" marB="0"/>
                </a:tc>
                <a:extLst>
                  <a:ext uri="{0D108BD9-81ED-4DB2-BD59-A6C34878D82A}">
                    <a16:rowId xmlns:a16="http://schemas.microsoft.com/office/drawing/2014/main" val="3382576721"/>
                  </a:ext>
                </a:extLst>
              </a:tr>
              <a:tr h="687337">
                <a:tc>
                  <a:txBody>
                    <a:bodyPr/>
                    <a:lstStyle/>
                    <a:p>
                      <a:pPr marL="0" marR="0" algn="l" fontAlgn="t">
                        <a:lnSpc>
                          <a:spcPct val="107000"/>
                        </a:lnSpc>
                        <a:spcBef>
                          <a:spcPts val="0"/>
                        </a:spcBef>
                        <a:spcAft>
                          <a:spcPts val="1000"/>
                        </a:spcAft>
                      </a:pPr>
                      <a:r>
                        <a:rPr lang="en-US" sz="1800" u="none" strike="noStrike" dirty="0">
                          <a:effectLst/>
                        </a:rPr>
                        <a:t>Azure Synapse Analytics (Microsoft.Synapse/workspaces) / Sql</a:t>
                      </a:r>
                      <a:endParaRPr lang="en-US" sz="1800" b="0" i="0" u="none" strike="noStrike" dirty="0">
                        <a:effectLst/>
                        <a:latin typeface="Arial" panose="020B0604020202020204" pitchFamily="34" charset="0"/>
                      </a:endParaRPr>
                    </a:p>
                  </a:txBody>
                  <a:tcPr marL="40166" marR="40166" marT="5579" marB="0"/>
                </a:tc>
                <a:tc>
                  <a:txBody>
                    <a:bodyPr/>
                    <a:lstStyle/>
                    <a:p>
                      <a:pPr marL="0" marR="0" algn="l" fontAlgn="t">
                        <a:lnSpc>
                          <a:spcPct val="107000"/>
                        </a:lnSpc>
                        <a:spcBef>
                          <a:spcPts val="0"/>
                        </a:spcBef>
                        <a:spcAft>
                          <a:spcPts val="1000"/>
                        </a:spcAft>
                      </a:pPr>
                      <a:r>
                        <a:rPr lang="en-US" sz="1800" u="none" strike="noStrike" dirty="0">
                          <a:effectLst/>
                        </a:rPr>
                        <a:t>privatelink.sql.Azuresynapse.net</a:t>
                      </a:r>
                      <a:endParaRPr lang="en-US" sz="1800" b="0" i="0" u="none" strike="noStrike" dirty="0">
                        <a:effectLst/>
                        <a:latin typeface="Arial" panose="020B0604020202020204" pitchFamily="34" charset="0"/>
                      </a:endParaRPr>
                    </a:p>
                  </a:txBody>
                  <a:tcPr marL="40166" marR="40166" marT="5579" marB="0"/>
                </a:tc>
                <a:extLst>
                  <a:ext uri="{0D108BD9-81ED-4DB2-BD59-A6C34878D82A}">
                    <a16:rowId xmlns:a16="http://schemas.microsoft.com/office/drawing/2014/main" val="751679778"/>
                  </a:ext>
                </a:extLst>
              </a:tr>
              <a:tr h="913028">
                <a:tc>
                  <a:txBody>
                    <a:bodyPr/>
                    <a:lstStyle/>
                    <a:p>
                      <a:pPr marL="0" marR="0" algn="l" fontAlgn="t">
                        <a:lnSpc>
                          <a:spcPct val="107000"/>
                        </a:lnSpc>
                        <a:spcBef>
                          <a:spcPts val="0"/>
                        </a:spcBef>
                        <a:spcAft>
                          <a:spcPts val="1000"/>
                        </a:spcAft>
                      </a:pPr>
                      <a:r>
                        <a:rPr lang="en-US" sz="1800" u="none" strike="noStrike" dirty="0">
                          <a:effectLst/>
                        </a:rPr>
                        <a:t>Storage account (Microsoft.Storage/storageAccounts) / Blob (blob, blob_secondary)</a:t>
                      </a:r>
                      <a:endParaRPr lang="en-US" sz="1800" b="0" i="0" u="none" strike="noStrike" dirty="0">
                        <a:effectLst/>
                        <a:latin typeface="Arial" panose="020B0604020202020204" pitchFamily="34" charset="0"/>
                      </a:endParaRPr>
                    </a:p>
                  </a:txBody>
                  <a:tcPr marL="40166" marR="40166" marT="5579" marB="0"/>
                </a:tc>
                <a:tc>
                  <a:txBody>
                    <a:bodyPr/>
                    <a:lstStyle/>
                    <a:p>
                      <a:pPr marL="0" marR="0" algn="l" fontAlgn="t">
                        <a:lnSpc>
                          <a:spcPct val="107000"/>
                        </a:lnSpc>
                        <a:spcBef>
                          <a:spcPts val="0"/>
                        </a:spcBef>
                        <a:spcAft>
                          <a:spcPts val="1000"/>
                        </a:spcAft>
                      </a:pPr>
                      <a:r>
                        <a:rPr lang="en-US" sz="1800" u="none" strike="noStrike" dirty="0">
                          <a:effectLst/>
                        </a:rPr>
                        <a:t>privatelink.[Service].core.windows.net</a:t>
                      </a:r>
                      <a:endParaRPr lang="en-US" sz="1800" b="0" i="0" u="none" strike="noStrike" dirty="0">
                        <a:effectLst/>
                        <a:latin typeface="Arial" panose="020B0604020202020204" pitchFamily="34" charset="0"/>
                      </a:endParaRPr>
                    </a:p>
                  </a:txBody>
                  <a:tcPr marL="40166" marR="40166" marT="5579" marB="0"/>
                </a:tc>
                <a:extLst>
                  <a:ext uri="{0D108BD9-81ED-4DB2-BD59-A6C34878D82A}">
                    <a16:rowId xmlns:a16="http://schemas.microsoft.com/office/drawing/2014/main" val="4237627117"/>
                  </a:ext>
                </a:extLst>
              </a:tr>
            </a:tbl>
          </a:graphicData>
        </a:graphic>
      </p:graphicFrame>
    </p:spTree>
    <p:extLst>
      <p:ext uri="{BB962C8B-B14F-4D97-AF65-F5344CB8AC3E}">
        <p14:creationId xmlns:p14="http://schemas.microsoft.com/office/powerpoint/2010/main" val="4663044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descr="Virtual network workloads without custom DNS server">
            <a:extLst>
              <a:ext uri="{FF2B5EF4-FFF2-40B4-BE49-F238E27FC236}">
                <a16:creationId xmlns:a16="http://schemas.microsoft.com/office/drawing/2014/main" id="{84FA4BB4-C1F7-40DA-A70A-8531191C3164}"/>
              </a:ext>
            </a:extLst>
          </p:cNvPr>
          <p:cNvSpPr>
            <a:spLocks noGrp="1"/>
          </p:cNvSpPr>
          <p:nvPr>
            <p:ph type="title"/>
          </p:nvPr>
        </p:nvSpPr>
        <p:spPr/>
        <p:txBody>
          <a:bodyPr/>
          <a:lstStyle/>
          <a:p>
            <a:r>
              <a:rPr lang="en-US" dirty="0"/>
              <a:t>Virtual network workloads without custom DNS server</a:t>
            </a:r>
          </a:p>
        </p:txBody>
      </p:sp>
      <p:pic>
        <p:nvPicPr>
          <p:cNvPr id="5" name="Picture 4" descr="Virtual network workloads without custom DNS server">
            <a:extLst>
              <a:ext uri="{FF2B5EF4-FFF2-40B4-BE49-F238E27FC236}">
                <a16:creationId xmlns:a16="http://schemas.microsoft.com/office/drawing/2014/main" id="{1F32BD84-72FB-4738-9AE0-86F85C99C288}"/>
              </a:ext>
            </a:extLst>
          </p:cNvPr>
          <p:cNvPicPr/>
          <p:nvPr/>
        </p:nvPicPr>
        <p:blipFill>
          <a:blip r:embed="rId3"/>
          <a:stretch>
            <a:fillRect/>
          </a:stretch>
        </p:blipFill>
        <p:spPr bwMode="auto">
          <a:xfrm>
            <a:off x="1622425" y="1308445"/>
            <a:ext cx="8489950" cy="4550410"/>
          </a:xfrm>
          <a:prstGeom prst="rect">
            <a:avLst/>
          </a:prstGeom>
          <a:noFill/>
          <a:ln>
            <a:noFill/>
          </a:ln>
        </p:spPr>
      </p:pic>
      <p:sp>
        <p:nvSpPr>
          <p:cNvPr id="2" name="Rectangle 1">
            <a:extLst>
              <a:ext uri="{FF2B5EF4-FFF2-40B4-BE49-F238E27FC236}">
                <a16:creationId xmlns:a16="http://schemas.microsoft.com/office/drawing/2014/main" id="{AD2E8810-EBF4-44CE-8D1C-3ACB46FABDC0}"/>
              </a:ext>
              <a:ext uri="{C183D7F6-B498-43B3-948B-1728B52AA6E4}">
                <adec:decorative xmlns:adec="http://schemas.microsoft.com/office/drawing/2017/decorative" val="1"/>
              </a:ext>
            </a:extLst>
          </p:cNvPr>
          <p:cNvSpPr/>
          <p:nvPr/>
        </p:nvSpPr>
        <p:spPr bwMode="auto">
          <a:xfrm>
            <a:off x="511911" y="1016009"/>
            <a:ext cx="11255999" cy="5135283"/>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79474790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descr="On-premises workloads using a DNS forwarder">
            <a:extLst>
              <a:ext uri="{FF2B5EF4-FFF2-40B4-BE49-F238E27FC236}">
                <a16:creationId xmlns:a16="http://schemas.microsoft.com/office/drawing/2014/main" id="{84FA4BB4-C1F7-40DA-A70A-8531191C3164}"/>
              </a:ext>
            </a:extLst>
          </p:cNvPr>
          <p:cNvSpPr>
            <a:spLocks noGrp="1"/>
          </p:cNvSpPr>
          <p:nvPr>
            <p:ph type="title"/>
          </p:nvPr>
        </p:nvSpPr>
        <p:spPr>
          <a:xfrm>
            <a:off x="424090" y="466096"/>
            <a:ext cx="11343820" cy="397545"/>
          </a:xfrm>
        </p:spPr>
        <p:txBody>
          <a:bodyPr/>
          <a:lstStyle/>
          <a:p>
            <a:r>
              <a:rPr lang="en-US" dirty="0"/>
              <a:t>On-premises workloads using a DNS forwarder</a:t>
            </a:r>
          </a:p>
        </p:txBody>
      </p:sp>
      <p:pic>
        <p:nvPicPr>
          <p:cNvPr id="4" name="Picture 3" descr="On-premises workloads using a DNS forwarder">
            <a:extLst>
              <a:ext uri="{FF2B5EF4-FFF2-40B4-BE49-F238E27FC236}">
                <a16:creationId xmlns:a16="http://schemas.microsoft.com/office/drawing/2014/main" id="{70E93666-65FD-4657-B32F-19E04CA2F4CA}"/>
              </a:ext>
            </a:extLst>
          </p:cNvPr>
          <p:cNvPicPr/>
          <p:nvPr/>
        </p:nvPicPr>
        <p:blipFill>
          <a:blip r:embed="rId3"/>
          <a:stretch>
            <a:fillRect/>
          </a:stretch>
        </p:blipFill>
        <p:spPr bwMode="auto">
          <a:xfrm>
            <a:off x="1757213" y="1301179"/>
            <a:ext cx="7856220" cy="4932045"/>
          </a:xfrm>
          <a:prstGeom prst="rect">
            <a:avLst/>
          </a:prstGeom>
          <a:noFill/>
          <a:ln>
            <a:noFill/>
          </a:ln>
        </p:spPr>
      </p:pic>
      <p:sp>
        <p:nvSpPr>
          <p:cNvPr id="2" name="Rectangle 1">
            <a:extLst>
              <a:ext uri="{FF2B5EF4-FFF2-40B4-BE49-F238E27FC236}">
                <a16:creationId xmlns:a16="http://schemas.microsoft.com/office/drawing/2014/main" id="{CE8D23DB-25EB-422C-BF31-BC565D30A6F3}"/>
              </a:ext>
              <a:ext uri="{C183D7F6-B498-43B3-948B-1728B52AA6E4}">
                <adec:decorative xmlns:adec="http://schemas.microsoft.com/office/drawing/2017/decorative" val="1"/>
              </a:ext>
            </a:extLst>
          </p:cNvPr>
          <p:cNvSpPr/>
          <p:nvPr/>
        </p:nvSpPr>
        <p:spPr bwMode="auto">
          <a:xfrm>
            <a:off x="1576138" y="1016009"/>
            <a:ext cx="8169442" cy="5375895"/>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692659786"/>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FA4BB4-C1F7-40DA-A70A-8531191C3164}"/>
              </a:ext>
            </a:extLst>
          </p:cNvPr>
          <p:cNvSpPr>
            <a:spLocks noGrp="1"/>
          </p:cNvSpPr>
          <p:nvPr>
            <p:ph type="title"/>
          </p:nvPr>
        </p:nvSpPr>
        <p:spPr>
          <a:xfrm>
            <a:off x="424090" y="466096"/>
            <a:ext cx="11343820" cy="397545"/>
          </a:xfrm>
        </p:spPr>
        <p:txBody>
          <a:bodyPr/>
          <a:lstStyle/>
          <a:p>
            <a:r>
              <a:rPr lang="en-US" dirty="0"/>
              <a:t>Virtual network and on-premises workloads using a DNS forwarder</a:t>
            </a:r>
          </a:p>
        </p:txBody>
      </p:sp>
      <p:pic>
        <p:nvPicPr>
          <p:cNvPr id="4" name="Picture 3" descr="Virtual network and on-premises workloads using a DNS forwarder">
            <a:extLst>
              <a:ext uri="{FF2B5EF4-FFF2-40B4-BE49-F238E27FC236}">
                <a16:creationId xmlns:a16="http://schemas.microsoft.com/office/drawing/2014/main" id="{2467B36A-16C0-4B37-9026-6EA0BB006C45}"/>
              </a:ext>
            </a:extLst>
          </p:cNvPr>
          <p:cNvPicPr/>
          <p:nvPr/>
        </p:nvPicPr>
        <p:blipFill>
          <a:blip r:embed="rId3"/>
          <a:stretch>
            <a:fillRect/>
          </a:stretch>
        </p:blipFill>
        <p:spPr bwMode="auto">
          <a:xfrm>
            <a:off x="2903220" y="963204"/>
            <a:ext cx="6024829" cy="5666196"/>
          </a:xfrm>
          <a:prstGeom prst="rect">
            <a:avLst/>
          </a:prstGeom>
          <a:noFill/>
          <a:ln>
            <a:noFill/>
          </a:ln>
        </p:spPr>
      </p:pic>
      <p:sp>
        <p:nvSpPr>
          <p:cNvPr id="2" name="Rectangle 1">
            <a:extLst>
              <a:ext uri="{FF2B5EF4-FFF2-40B4-BE49-F238E27FC236}">
                <a16:creationId xmlns:a16="http://schemas.microsoft.com/office/drawing/2014/main" id="{A9134780-97D1-4F64-BE12-D36CD582455E}"/>
              </a:ext>
              <a:ext uri="{C183D7F6-B498-43B3-948B-1728B52AA6E4}">
                <adec:decorative xmlns:adec="http://schemas.microsoft.com/office/drawing/2017/decorative" val="1"/>
              </a:ext>
            </a:extLst>
          </p:cNvPr>
          <p:cNvSpPr/>
          <p:nvPr/>
        </p:nvSpPr>
        <p:spPr bwMode="auto">
          <a:xfrm>
            <a:off x="2502568" y="863641"/>
            <a:ext cx="6629400" cy="5865322"/>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146754419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a:t>
            </a:r>
            <a:r>
              <a:rPr lang="en-US" sz="2800" dirty="0"/>
              <a:t>Integrate Private Endpoint with DNS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9C06DCB8-44EB-4B3F-B6A7-F821F4A40B64}"/>
              </a:ext>
            </a:extLst>
          </p:cNvPr>
          <p:cNvSpPr txBox="1"/>
          <p:nvPr/>
        </p:nvSpPr>
        <p:spPr>
          <a:xfrm>
            <a:off x="4274218" y="2289644"/>
            <a:ext cx="6093994" cy="369332"/>
          </a:xfrm>
          <a:prstGeom prst="rect">
            <a:avLst/>
          </a:prstGeom>
          <a:noFill/>
        </p:spPr>
        <p:txBody>
          <a:bodyPr wrap="square">
            <a:spAutoFit/>
          </a:bodyPr>
          <a:lstStyle/>
          <a:p>
            <a:r>
              <a:rPr lang="fr-FR" dirty="0">
                <a:hlinkClick r:id="rId4"/>
              </a:rPr>
              <a:t>Azure Private Endpoint DNS configuration | Microsoft Docs</a:t>
            </a:r>
            <a:endParaRPr lang="en-US" dirty="0"/>
          </a:p>
        </p:txBody>
      </p:sp>
    </p:spTree>
    <p:extLst>
      <p:ext uri="{BB962C8B-B14F-4D97-AF65-F5344CB8AC3E}">
        <p14:creationId xmlns:p14="http://schemas.microsoft.com/office/powerpoint/2010/main" val="211523136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05C1FE-1B70-48F9-8828-48776C03AF0D}"/>
              </a:ext>
            </a:extLst>
          </p:cNvPr>
          <p:cNvSpPr>
            <a:spLocks noGrp="1"/>
          </p:cNvSpPr>
          <p:nvPr>
            <p:ph type="title"/>
          </p:nvPr>
        </p:nvSpPr>
        <p:spPr>
          <a:xfrm>
            <a:off x="585217" y="2681103"/>
            <a:ext cx="8892608" cy="1495794"/>
          </a:xfrm>
        </p:spPr>
        <p:txBody>
          <a:bodyPr/>
          <a:lstStyle/>
          <a:p>
            <a:r>
              <a:rPr lang="en-US" sz="3600" dirty="0"/>
              <a:t>Lesson 04: Exercise - Restrict network access to PaaS resources with virtual network service endpoints</a:t>
            </a:r>
            <a:endParaRPr lang="en-US" dirty="0"/>
          </a:p>
        </p:txBody>
      </p:sp>
      <p:grpSp>
        <p:nvGrpSpPr>
          <p:cNvPr id="4" name="Group 3">
            <a:extLst>
              <a:ext uri="{FF2B5EF4-FFF2-40B4-BE49-F238E27FC236}">
                <a16:creationId xmlns:a16="http://schemas.microsoft.com/office/drawing/2014/main" id="{84EFC148-3B61-445B-A87A-101FC5D43784}"/>
              </a:ext>
              <a:ext uri="{C183D7F6-B498-43B3-948B-1728B52AA6E4}">
                <adec:decorative xmlns:adec="http://schemas.microsoft.com/office/drawing/2017/decorative" val="1"/>
              </a:ext>
            </a:extLst>
          </p:cNvPr>
          <p:cNvGrpSpPr/>
          <p:nvPr/>
        </p:nvGrpSpPr>
        <p:grpSpPr>
          <a:xfrm>
            <a:off x="10349452" y="3100158"/>
            <a:ext cx="657589" cy="657683"/>
            <a:chOff x="418643" y="4623409"/>
            <a:chExt cx="717140" cy="717242"/>
          </a:xfrm>
        </p:grpSpPr>
        <p:grpSp>
          <p:nvGrpSpPr>
            <p:cNvPr id="5" name="Group 4">
              <a:extLst>
                <a:ext uri="{FF2B5EF4-FFF2-40B4-BE49-F238E27FC236}">
                  <a16:creationId xmlns:a16="http://schemas.microsoft.com/office/drawing/2014/main" id="{BF39983C-EB1F-4137-9C5B-6B03BBDEDFC6}"/>
                </a:ext>
                <a:ext uri="{C183D7F6-B498-43B3-948B-1728B52AA6E4}">
                  <adec:decorative xmlns:adec="http://schemas.microsoft.com/office/drawing/2017/decorative" val="1"/>
                </a:ext>
              </a:extLst>
            </p:cNvPr>
            <p:cNvGrpSpPr/>
            <p:nvPr/>
          </p:nvGrpSpPr>
          <p:grpSpPr>
            <a:xfrm>
              <a:off x="418643" y="4623409"/>
              <a:ext cx="717140" cy="717242"/>
              <a:chOff x="7962901" y="3032919"/>
              <a:chExt cx="981074" cy="981076"/>
            </a:xfrm>
          </p:grpSpPr>
          <p:sp>
            <p:nvSpPr>
              <p:cNvPr id="7" name="Freeform 5">
                <a:extLst>
                  <a:ext uri="{FF2B5EF4-FFF2-40B4-BE49-F238E27FC236}">
                    <a16:creationId xmlns:a16="http://schemas.microsoft.com/office/drawing/2014/main" id="{3595C273-021E-4F49-A192-77297330427F}"/>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3EE69FC6-1819-44E5-B085-9132AA6D67A4}"/>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6" name="Picture 5" descr="Icon of a bulb">
              <a:extLst>
                <a:ext uri="{FF2B5EF4-FFF2-40B4-BE49-F238E27FC236}">
                  <a16:creationId xmlns:a16="http://schemas.microsoft.com/office/drawing/2014/main" id="{8BD70F36-4A98-4A38-84E2-330599C7EE8C}"/>
                </a:ext>
              </a:extLst>
            </p:cNvPr>
            <p:cNvPicPr>
              <a:picLocks noChangeAspect="1"/>
            </p:cNvPicPr>
            <p:nvPr/>
          </p:nvPicPr>
          <p:blipFill>
            <a:blip r:embed="rId2"/>
            <a:stretch>
              <a:fillRect/>
            </a:stretch>
          </p:blipFill>
          <p:spPr>
            <a:xfrm>
              <a:off x="619369" y="4762500"/>
              <a:ext cx="315688" cy="439060"/>
            </a:xfrm>
            <a:prstGeom prst="rect">
              <a:avLst/>
            </a:prstGeom>
          </p:spPr>
        </p:pic>
      </p:grpSp>
    </p:spTree>
    <p:extLst>
      <p:ext uri="{BB962C8B-B14F-4D97-AF65-F5344CB8AC3E}">
        <p14:creationId xmlns:p14="http://schemas.microsoft.com/office/powerpoint/2010/main" val="26725588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E6419C2-6E88-4FD3-83BA-8372829B1B3E}"/>
              </a:ext>
            </a:extLst>
          </p:cNvPr>
          <p:cNvSpPr>
            <a:spLocks noGrp="1"/>
          </p:cNvSpPr>
          <p:nvPr>
            <p:ph type="title"/>
          </p:nvPr>
        </p:nvSpPr>
        <p:spPr>
          <a:xfrm>
            <a:off x="424090" y="466096"/>
            <a:ext cx="11343820" cy="397545"/>
          </a:xfrm>
        </p:spPr>
        <p:txBody>
          <a:bodyPr/>
          <a:lstStyle/>
          <a:p>
            <a:r>
              <a:rPr lang="en-US" dirty="0"/>
              <a:t>Restrict network access to PaaS resources with virtual network service endpoints</a:t>
            </a:r>
          </a:p>
        </p:txBody>
      </p:sp>
      <p:sp>
        <p:nvSpPr>
          <p:cNvPr id="2" name="Rectangle 1">
            <a:extLst>
              <a:ext uri="{FF2B5EF4-FFF2-40B4-BE49-F238E27FC236}">
                <a16:creationId xmlns:a16="http://schemas.microsoft.com/office/drawing/2014/main" id="{37B5A8B9-4F71-4EBA-A4A5-BFF77B962849}"/>
              </a:ext>
            </a:extLst>
          </p:cNvPr>
          <p:cNvSpPr/>
          <p:nvPr/>
        </p:nvSpPr>
        <p:spPr>
          <a:xfrm>
            <a:off x="424090" y="1261906"/>
            <a:ext cx="4845742" cy="5259210"/>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pPr algn="l">
              <a:lnSpc>
                <a:spcPct val="150000"/>
              </a:lnSpc>
            </a:pPr>
            <a:r>
              <a:rPr lang="en-US" b="0" i="0" dirty="0">
                <a:solidFill>
                  <a:srgbClr val="24292E"/>
                </a:solidFill>
                <a:effectLst/>
                <a:latin typeface="-apple-system"/>
              </a:rPr>
              <a:t>Task 1: Create a virtual network</a:t>
            </a:r>
          </a:p>
          <a:p>
            <a:pPr algn="l">
              <a:lnSpc>
                <a:spcPct val="150000"/>
              </a:lnSpc>
            </a:pPr>
            <a:r>
              <a:rPr lang="en-US" b="0" i="0" dirty="0">
                <a:solidFill>
                  <a:srgbClr val="24292E"/>
                </a:solidFill>
                <a:effectLst/>
                <a:latin typeface="-apple-system"/>
              </a:rPr>
              <a:t>Task 2: Enable a service endpoint</a:t>
            </a:r>
          </a:p>
          <a:p>
            <a:pPr algn="l">
              <a:lnSpc>
                <a:spcPct val="150000"/>
              </a:lnSpc>
            </a:pPr>
            <a:r>
              <a:rPr lang="en-US" b="0" i="0" dirty="0">
                <a:solidFill>
                  <a:srgbClr val="24292E"/>
                </a:solidFill>
                <a:effectLst/>
                <a:latin typeface="-apple-system"/>
              </a:rPr>
              <a:t>Task 3: Restrict network access for a subnet</a:t>
            </a:r>
          </a:p>
          <a:p>
            <a:pPr algn="l">
              <a:lnSpc>
                <a:spcPct val="150000"/>
              </a:lnSpc>
            </a:pPr>
            <a:r>
              <a:rPr lang="en-US" b="0" i="0" dirty="0">
                <a:solidFill>
                  <a:srgbClr val="24292E"/>
                </a:solidFill>
                <a:effectLst/>
                <a:latin typeface="-apple-system"/>
              </a:rPr>
              <a:t>Task 4: Add additional outbound rules</a:t>
            </a:r>
          </a:p>
          <a:p>
            <a:pPr algn="l">
              <a:lnSpc>
                <a:spcPct val="150000"/>
              </a:lnSpc>
            </a:pPr>
            <a:r>
              <a:rPr lang="en-US" b="0" i="0" dirty="0">
                <a:solidFill>
                  <a:srgbClr val="24292E"/>
                </a:solidFill>
                <a:effectLst/>
                <a:latin typeface="-apple-system"/>
              </a:rPr>
              <a:t>Task 5: Allow access for RDP connections</a:t>
            </a:r>
          </a:p>
          <a:p>
            <a:pPr algn="l">
              <a:lnSpc>
                <a:spcPct val="150000"/>
              </a:lnSpc>
            </a:pPr>
            <a:r>
              <a:rPr lang="en-US" b="0" i="0" dirty="0">
                <a:solidFill>
                  <a:srgbClr val="24292E"/>
                </a:solidFill>
                <a:effectLst/>
                <a:latin typeface="-apple-system"/>
              </a:rPr>
              <a:t>Task 6: Restrict network access to a resource</a:t>
            </a:r>
          </a:p>
          <a:p>
            <a:pPr algn="l">
              <a:lnSpc>
                <a:spcPct val="150000"/>
              </a:lnSpc>
            </a:pPr>
            <a:r>
              <a:rPr lang="en-US" b="0" i="0" dirty="0">
                <a:solidFill>
                  <a:srgbClr val="24292E"/>
                </a:solidFill>
                <a:effectLst/>
                <a:latin typeface="-apple-system"/>
              </a:rPr>
              <a:t>Task 7: Create a file share in the storage account</a:t>
            </a:r>
          </a:p>
          <a:p>
            <a:pPr algn="l">
              <a:lnSpc>
                <a:spcPct val="150000"/>
              </a:lnSpc>
            </a:pPr>
            <a:r>
              <a:rPr lang="en-US" b="0" i="0" dirty="0">
                <a:solidFill>
                  <a:srgbClr val="24292E"/>
                </a:solidFill>
                <a:effectLst/>
                <a:latin typeface="-apple-system"/>
              </a:rPr>
              <a:t>Task 8: Restrict network access to a subnet</a:t>
            </a:r>
          </a:p>
          <a:p>
            <a:pPr algn="l">
              <a:lnSpc>
                <a:spcPct val="150000"/>
              </a:lnSpc>
            </a:pPr>
            <a:r>
              <a:rPr lang="en-US" b="0" i="0" dirty="0">
                <a:solidFill>
                  <a:srgbClr val="24292E"/>
                </a:solidFill>
                <a:effectLst/>
                <a:latin typeface="-apple-system"/>
              </a:rPr>
              <a:t>Task 9: Create virtual machines</a:t>
            </a:r>
          </a:p>
          <a:p>
            <a:pPr algn="l">
              <a:lnSpc>
                <a:spcPct val="150000"/>
              </a:lnSpc>
            </a:pPr>
            <a:r>
              <a:rPr lang="en-US" b="0" i="0" dirty="0">
                <a:solidFill>
                  <a:srgbClr val="24292E"/>
                </a:solidFill>
                <a:effectLst/>
                <a:latin typeface="-apple-system"/>
              </a:rPr>
              <a:t>Task 10: Confirm access to storage account</a:t>
            </a:r>
          </a:p>
          <a:p>
            <a:pPr algn="l">
              <a:lnSpc>
                <a:spcPct val="150000"/>
              </a:lnSpc>
            </a:pPr>
            <a:r>
              <a:rPr lang="en-US" b="0" i="0" dirty="0">
                <a:solidFill>
                  <a:srgbClr val="24292E"/>
                </a:solidFill>
                <a:effectLst/>
                <a:latin typeface="-apple-system"/>
              </a:rPr>
              <a:t>Task 11: Clean up resources</a:t>
            </a:r>
          </a:p>
        </p:txBody>
      </p:sp>
      <p:pic>
        <p:nvPicPr>
          <p:cNvPr id="4098" name="Picture 2" descr="Diagram of an Azure Storage account with Service endpoint enabled so a virtual machine can access the storage account from the network ">
            <a:extLst>
              <a:ext uri="{FF2B5EF4-FFF2-40B4-BE49-F238E27FC236}">
                <a16:creationId xmlns:a16="http://schemas.microsoft.com/office/drawing/2014/main" id="{80A70299-0C52-432D-9531-1E299644B6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47413" y="1379095"/>
            <a:ext cx="6020497" cy="4781862"/>
          </a:xfrm>
          <a:prstGeom prst="rect">
            <a:avLst/>
          </a:prstGeom>
          <a:noFill/>
        </p:spPr>
      </p:pic>
    </p:spTree>
    <p:extLst>
      <p:ext uri="{BB962C8B-B14F-4D97-AF65-F5344CB8AC3E}">
        <p14:creationId xmlns:p14="http://schemas.microsoft.com/office/powerpoint/2010/main" val="40477872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a:xfrm>
            <a:off x="424090" y="267324"/>
            <a:ext cx="11343820" cy="795089"/>
          </a:xfrm>
        </p:spPr>
        <p:txBody>
          <a:bodyPr/>
          <a:lstStyle/>
          <a:p>
            <a:r>
              <a:rPr lang="en-US" dirty="0">
                <a:solidFill>
                  <a:schemeClr val="tx1"/>
                </a:solidFill>
              </a:rPr>
              <a:t>Summary – </a:t>
            </a:r>
            <a:r>
              <a:rPr lang="en-US" sz="2800" dirty="0"/>
              <a:t>Restrict network access to PaaS resources with virtual network service endpoints using the Azure portal</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4" name="TextBox 3">
            <a:extLst>
              <a:ext uri="{FF2B5EF4-FFF2-40B4-BE49-F238E27FC236}">
                <a16:creationId xmlns:a16="http://schemas.microsoft.com/office/drawing/2014/main" id="{D602FDA1-E4CD-4C5C-8EB4-6DA10402EC12}"/>
              </a:ext>
            </a:extLst>
          </p:cNvPr>
          <p:cNvSpPr txBox="1"/>
          <p:nvPr/>
        </p:nvSpPr>
        <p:spPr>
          <a:xfrm>
            <a:off x="4172422" y="2243583"/>
            <a:ext cx="6093994" cy="369332"/>
          </a:xfrm>
          <a:prstGeom prst="rect">
            <a:avLst/>
          </a:prstGeom>
          <a:noFill/>
        </p:spPr>
        <p:txBody>
          <a:bodyPr wrap="square">
            <a:spAutoFit/>
          </a:bodyPr>
          <a:lstStyle/>
          <a:p>
            <a:r>
              <a:rPr lang="en-US" dirty="0">
                <a:hlinkClick r:id="rId4"/>
              </a:rPr>
              <a:t>Azure virtual network service endpoints | Microsoft Docs</a:t>
            </a:r>
            <a:endParaRPr lang="en-US" dirty="0"/>
          </a:p>
        </p:txBody>
      </p:sp>
    </p:spTree>
    <p:extLst>
      <p:ext uri="{BB962C8B-B14F-4D97-AF65-F5344CB8AC3E}">
        <p14:creationId xmlns:p14="http://schemas.microsoft.com/office/powerpoint/2010/main" val="56883435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13377D2-7861-4C14-A5CC-34B7BDF1221F}"/>
              </a:ext>
            </a:extLst>
          </p:cNvPr>
          <p:cNvSpPr>
            <a:spLocks noGrp="1"/>
          </p:cNvSpPr>
          <p:nvPr>
            <p:ph type="title"/>
          </p:nvPr>
        </p:nvSpPr>
        <p:spPr>
          <a:xfrm>
            <a:off x="585217" y="2930402"/>
            <a:ext cx="8892608" cy="997196"/>
          </a:xfrm>
        </p:spPr>
        <p:txBody>
          <a:bodyPr/>
          <a:lstStyle/>
          <a:p>
            <a:r>
              <a:rPr lang="en-US" dirty="0"/>
              <a:t>Lesson 05: </a:t>
            </a:r>
            <a:r>
              <a:rPr lang="en-US" sz="3600" dirty="0"/>
              <a:t>Exercise - Create an Azure Private Endpoint using Azure PowerShell</a:t>
            </a:r>
            <a:endParaRPr lang="en-US" dirty="0"/>
          </a:p>
        </p:txBody>
      </p:sp>
      <p:grpSp>
        <p:nvGrpSpPr>
          <p:cNvPr id="4" name="Group 3">
            <a:extLst>
              <a:ext uri="{FF2B5EF4-FFF2-40B4-BE49-F238E27FC236}">
                <a16:creationId xmlns:a16="http://schemas.microsoft.com/office/drawing/2014/main" id="{5B67210B-E218-4745-807B-34A82D4BC3F8}"/>
              </a:ext>
              <a:ext uri="{C183D7F6-B498-43B3-948B-1728B52AA6E4}">
                <adec:decorative xmlns:adec="http://schemas.microsoft.com/office/drawing/2017/decorative" val="1"/>
              </a:ext>
            </a:extLst>
          </p:cNvPr>
          <p:cNvGrpSpPr/>
          <p:nvPr/>
        </p:nvGrpSpPr>
        <p:grpSpPr>
          <a:xfrm>
            <a:off x="10370718" y="3100158"/>
            <a:ext cx="657589" cy="657683"/>
            <a:chOff x="418643" y="2533089"/>
            <a:chExt cx="717140" cy="717242"/>
          </a:xfrm>
        </p:grpSpPr>
        <p:grpSp>
          <p:nvGrpSpPr>
            <p:cNvPr id="5" name="Group 4">
              <a:extLst>
                <a:ext uri="{FF2B5EF4-FFF2-40B4-BE49-F238E27FC236}">
                  <a16:creationId xmlns:a16="http://schemas.microsoft.com/office/drawing/2014/main" id="{16899F6E-062A-4317-836E-AD297FCBBEC6}"/>
                </a:ext>
                <a:ext uri="{C183D7F6-B498-43B3-948B-1728B52AA6E4}">
                  <adec:decorative xmlns:adec="http://schemas.microsoft.com/office/drawing/2017/decorative" val="1"/>
                </a:ext>
              </a:extLst>
            </p:cNvPr>
            <p:cNvGrpSpPr/>
            <p:nvPr/>
          </p:nvGrpSpPr>
          <p:grpSpPr>
            <a:xfrm>
              <a:off x="418643" y="2533089"/>
              <a:ext cx="717140" cy="717242"/>
              <a:chOff x="7962901" y="3032919"/>
              <a:chExt cx="981074" cy="981076"/>
            </a:xfrm>
          </p:grpSpPr>
          <p:sp>
            <p:nvSpPr>
              <p:cNvPr id="7" name="Freeform 5">
                <a:extLst>
                  <a:ext uri="{FF2B5EF4-FFF2-40B4-BE49-F238E27FC236}">
                    <a16:creationId xmlns:a16="http://schemas.microsoft.com/office/drawing/2014/main" id="{2A672A8F-4BCF-4322-B32A-0931DC1AB989}"/>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AC0E98DF-E5DC-4AB8-BC06-E95BDAD40687}"/>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6" name="Picture 5" descr="Icon of a arrow in a circular path with a timer inside the circle">
              <a:extLst>
                <a:ext uri="{FF2B5EF4-FFF2-40B4-BE49-F238E27FC236}">
                  <a16:creationId xmlns:a16="http://schemas.microsoft.com/office/drawing/2014/main" id="{A7C12CD6-4D4C-4D00-B335-77603B841FF0}"/>
                </a:ext>
              </a:extLst>
            </p:cNvPr>
            <p:cNvPicPr>
              <a:picLocks noChangeAspect="1"/>
            </p:cNvPicPr>
            <p:nvPr/>
          </p:nvPicPr>
          <p:blipFill>
            <a:blip r:embed="rId2"/>
            <a:stretch>
              <a:fillRect/>
            </a:stretch>
          </p:blipFill>
          <p:spPr>
            <a:xfrm>
              <a:off x="566791" y="2681289"/>
              <a:ext cx="420846" cy="420844"/>
            </a:xfrm>
            <a:prstGeom prst="rect">
              <a:avLst/>
            </a:prstGeom>
          </p:spPr>
        </p:pic>
      </p:grpSp>
    </p:spTree>
    <p:extLst>
      <p:ext uri="{BB962C8B-B14F-4D97-AF65-F5344CB8AC3E}">
        <p14:creationId xmlns:p14="http://schemas.microsoft.com/office/powerpoint/2010/main" val="1818075985"/>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FAA9B-AD64-47D5-A6CD-01AAC9D7EBA9}"/>
              </a:ext>
            </a:extLst>
          </p:cNvPr>
          <p:cNvSpPr>
            <a:spLocks noGrp="1"/>
          </p:cNvSpPr>
          <p:nvPr>
            <p:ph type="title"/>
          </p:nvPr>
        </p:nvSpPr>
        <p:spPr/>
        <p:txBody>
          <a:bodyPr/>
          <a:lstStyle/>
          <a:p>
            <a:r>
              <a:rPr lang="en-US" dirty="0"/>
              <a:t>Exercise - Create an Azure Private Endpoint using Azure PowerShell</a:t>
            </a:r>
          </a:p>
        </p:txBody>
      </p:sp>
      <p:sp>
        <p:nvSpPr>
          <p:cNvPr id="4" name="Freeform: Shape 3">
            <a:extLst>
              <a:ext uri="{FF2B5EF4-FFF2-40B4-BE49-F238E27FC236}">
                <a16:creationId xmlns:a16="http://schemas.microsoft.com/office/drawing/2014/main" id="{621E70A8-6E75-4BF2-8B44-65CAAB253247}"/>
              </a:ext>
            </a:extLst>
          </p:cNvPr>
          <p:cNvSpPr/>
          <p:nvPr/>
        </p:nvSpPr>
        <p:spPr>
          <a:xfrm>
            <a:off x="424089" y="1768641"/>
            <a:ext cx="5579669" cy="4372281"/>
          </a:xfrm>
          <a:custGeom>
            <a:avLst/>
            <a:gdLst>
              <a:gd name="connsiteX0" fmla="*/ 0 w 2377347"/>
              <a:gd name="connsiteY0" fmla="*/ 0 h 1188673"/>
              <a:gd name="connsiteX1" fmla="*/ 2377347 w 2377347"/>
              <a:gd name="connsiteY1" fmla="*/ 0 h 1188673"/>
              <a:gd name="connsiteX2" fmla="*/ 2377347 w 2377347"/>
              <a:gd name="connsiteY2" fmla="*/ 1188673 h 1188673"/>
              <a:gd name="connsiteX3" fmla="*/ 0 w 2377347"/>
              <a:gd name="connsiteY3" fmla="*/ 1188673 h 1188673"/>
              <a:gd name="connsiteX4" fmla="*/ 0 w 2377347"/>
              <a:gd name="connsiteY4" fmla="*/ 0 h 118867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77347" h="1188673">
                <a:moveTo>
                  <a:pt x="0" y="0"/>
                </a:moveTo>
                <a:lnTo>
                  <a:pt x="2377347" y="0"/>
                </a:lnTo>
                <a:lnTo>
                  <a:pt x="2377347" y="1188673"/>
                </a:lnTo>
                <a:lnTo>
                  <a:pt x="0" y="1188673"/>
                </a:lnTo>
                <a:lnTo>
                  <a:pt x="0" y="0"/>
                </a:lnTo>
                <a:close/>
              </a:path>
            </a:pathLst>
          </a:cu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961" dirty="0">
                <a:solidFill>
                  <a:schemeClr val="tx1"/>
                </a:solidFill>
                <a:cs typeface="Segoe UI Semilight"/>
              </a:rPr>
              <a:t>Task 1: Create a resource group</a:t>
            </a:r>
          </a:p>
          <a:p>
            <a:endParaRPr lang="en-US" sz="1961" dirty="0">
              <a:solidFill>
                <a:schemeClr val="tx1"/>
              </a:solidFill>
              <a:cs typeface="Segoe UI Semilight"/>
            </a:endParaRPr>
          </a:p>
          <a:p>
            <a:r>
              <a:rPr lang="en-US" sz="1961" dirty="0">
                <a:solidFill>
                  <a:schemeClr val="tx1"/>
                </a:solidFill>
                <a:cs typeface="Segoe UI Semilight"/>
              </a:rPr>
              <a:t>Task 2: Create a virtual network and bastion host</a:t>
            </a:r>
          </a:p>
          <a:p>
            <a:endParaRPr lang="en-US" sz="1961" dirty="0">
              <a:solidFill>
                <a:schemeClr val="tx1"/>
              </a:solidFill>
              <a:cs typeface="Segoe UI Semilight"/>
            </a:endParaRPr>
          </a:p>
          <a:p>
            <a:r>
              <a:rPr lang="en-US" sz="1961" dirty="0">
                <a:solidFill>
                  <a:schemeClr val="tx1"/>
                </a:solidFill>
                <a:cs typeface="Segoe UI Semilight"/>
              </a:rPr>
              <a:t>Task 3: Create a test virtual machine</a:t>
            </a:r>
          </a:p>
          <a:p>
            <a:endParaRPr lang="en-US" sz="1961" dirty="0">
              <a:solidFill>
                <a:schemeClr val="tx1"/>
              </a:solidFill>
              <a:cs typeface="Segoe UI Semilight"/>
            </a:endParaRPr>
          </a:p>
          <a:p>
            <a:r>
              <a:rPr lang="en-US" sz="1961" dirty="0">
                <a:solidFill>
                  <a:schemeClr val="tx1"/>
                </a:solidFill>
                <a:cs typeface="Segoe UI Semilight"/>
              </a:rPr>
              <a:t>Task 4: Create a Private Endpoint</a:t>
            </a:r>
          </a:p>
          <a:p>
            <a:endParaRPr lang="en-US" sz="1961" dirty="0">
              <a:solidFill>
                <a:schemeClr val="tx1"/>
              </a:solidFill>
              <a:cs typeface="Segoe UI Semilight"/>
            </a:endParaRPr>
          </a:p>
          <a:p>
            <a:r>
              <a:rPr lang="en-US" sz="1961" dirty="0">
                <a:solidFill>
                  <a:schemeClr val="tx1"/>
                </a:solidFill>
                <a:cs typeface="Segoe UI Semilight"/>
              </a:rPr>
              <a:t>Task 5: Configure the private DNS zone</a:t>
            </a:r>
          </a:p>
          <a:p>
            <a:endParaRPr lang="en-US" sz="1961" dirty="0">
              <a:solidFill>
                <a:schemeClr val="tx1"/>
              </a:solidFill>
              <a:cs typeface="Segoe UI Semilight"/>
            </a:endParaRPr>
          </a:p>
          <a:p>
            <a:r>
              <a:rPr lang="en-US" sz="1961" dirty="0">
                <a:solidFill>
                  <a:schemeClr val="tx1"/>
                </a:solidFill>
                <a:cs typeface="Segoe UI Semilight"/>
              </a:rPr>
              <a:t>Task 6: Test connectivity to the Private Endpoint</a:t>
            </a:r>
          </a:p>
          <a:p>
            <a:endParaRPr lang="en-US" sz="1961" dirty="0">
              <a:solidFill>
                <a:schemeClr val="tx1"/>
              </a:solidFill>
              <a:cs typeface="Segoe UI Semilight"/>
            </a:endParaRPr>
          </a:p>
          <a:p>
            <a:r>
              <a:rPr lang="en-US" sz="1961" dirty="0">
                <a:solidFill>
                  <a:schemeClr val="tx1"/>
                </a:solidFill>
                <a:cs typeface="Segoe UI Semilight"/>
              </a:rPr>
              <a:t>Task 7: Clean up resources</a:t>
            </a:r>
          </a:p>
        </p:txBody>
      </p:sp>
      <p:pic>
        <p:nvPicPr>
          <p:cNvPr id="2050" name="Picture 2" descr="Diagram of a web-app with private link enabled ">
            <a:extLst>
              <a:ext uri="{FF2B5EF4-FFF2-40B4-BE49-F238E27FC236}">
                <a16:creationId xmlns:a16="http://schemas.microsoft.com/office/drawing/2014/main" id="{8CC2E918-C40C-4370-AB84-F48F6DCDB7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3626" y="1294592"/>
            <a:ext cx="5420027" cy="4580304"/>
          </a:xfrm>
          <a:prstGeom prst="rect">
            <a:avLst/>
          </a:prstGeom>
          <a:noFill/>
        </p:spPr>
      </p:pic>
    </p:spTree>
    <p:extLst>
      <p:ext uri="{BB962C8B-B14F-4D97-AF65-F5344CB8AC3E}">
        <p14:creationId xmlns:p14="http://schemas.microsoft.com/office/powerpoint/2010/main" val="117493978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a:t>
            </a:r>
            <a:r>
              <a:rPr lang="en-US" sz="2800" dirty="0"/>
              <a:t>Exercise - Create an Azure Private Endpoint using Azure PowerShell</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8C05A90F-659E-44F4-B90E-27503A7E8956}"/>
              </a:ext>
            </a:extLst>
          </p:cNvPr>
          <p:cNvSpPr txBox="1"/>
          <p:nvPr/>
        </p:nvSpPr>
        <p:spPr>
          <a:xfrm>
            <a:off x="4033912" y="2250298"/>
            <a:ext cx="8443161" cy="369332"/>
          </a:xfrm>
          <a:prstGeom prst="rect">
            <a:avLst/>
          </a:prstGeom>
          <a:noFill/>
        </p:spPr>
        <p:txBody>
          <a:bodyPr wrap="square">
            <a:spAutoFit/>
          </a:bodyPr>
          <a:lstStyle/>
          <a:p>
            <a:r>
              <a:rPr lang="en-US" dirty="0">
                <a:hlinkClick r:id="rId4"/>
              </a:rPr>
              <a:t>Quickstart - Create a Private Endpoint using the Azure portal | Microsoft Docs</a:t>
            </a:r>
            <a:endParaRPr lang="en-US" dirty="0"/>
          </a:p>
        </p:txBody>
      </p:sp>
    </p:spTree>
    <p:extLst>
      <p:ext uri="{BB962C8B-B14F-4D97-AF65-F5344CB8AC3E}">
        <p14:creationId xmlns:p14="http://schemas.microsoft.com/office/powerpoint/2010/main" val="96699577"/>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5E97E4-F958-4F6A-99C7-6081456CD2F1}"/>
              </a:ext>
            </a:extLst>
          </p:cNvPr>
          <p:cNvSpPr>
            <a:spLocks noGrp="1"/>
          </p:cNvSpPr>
          <p:nvPr>
            <p:ph type="title"/>
          </p:nvPr>
        </p:nvSpPr>
        <p:spPr>
          <a:xfrm>
            <a:off x="585217" y="2930402"/>
            <a:ext cx="8892608" cy="997196"/>
          </a:xfrm>
        </p:spPr>
        <p:txBody>
          <a:bodyPr/>
          <a:lstStyle/>
          <a:p>
            <a:r>
              <a:rPr lang="en-US" dirty="0"/>
              <a:t>Lesson 06: </a:t>
            </a:r>
            <a:r>
              <a:rPr lang="en-US" sz="3600" dirty="0"/>
              <a:t>Integrate your app with an Azure Virtual Network</a:t>
            </a:r>
            <a:endParaRPr lang="en-US" dirty="0"/>
          </a:p>
        </p:txBody>
      </p:sp>
      <p:grpSp>
        <p:nvGrpSpPr>
          <p:cNvPr id="4" name="Group 3">
            <a:extLst>
              <a:ext uri="{FF2B5EF4-FFF2-40B4-BE49-F238E27FC236}">
                <a16:creationId xmlns:a16="http://schemas.microsoft.com/office/drawing/2014/main" id="{A4D30110-7AB2-4903-8385-19808EE1EB5D}"/>
              </a:ext>
              <a:ext uri="{C183D7F6-B498-43B3-948B-1728B52AA6E4}">
                <adec:decorative xmlns:adec="http://schemas.microsoft.com/office/drawing/2017/decorative" val="1"/>
              </a:ext>
            </a:extLst>
          </p:cNvPr>
          <p:cNvGrpSpPr/>
          <p:nvPr/>
        </p:nvGrpSpPr>
        <p:grpSpPr>
          <a:xfrm>
            <a:off x="10381351" y="3100158"/>
            <a:ext cx="657589" cy="657683"/>
            <a:chOff x="418644" y="4872395"/>
            <a:chExt cx="657589" cy="657683"/>
          </a:xfrm>
        </p:grpSpPr>
        <p:grpSp>
          <p:nvGrpSpPr>
            <p:cNvPr id="5" name="Group 4">
              <a:extLst>
                <a:ext uri="{FF2B5EF4-FFF2-40B4-BE49-F238E27FC236}">
                  <a16:creationId xmlns:a16="http://schemas.microsoft.com/office/drawing/2014/main" id="{11BC77A4-98BC-4CBF-B001-DFE3B12708C4}"/>
                </a:ext>
                <a:ext uri="{C183D7F6-B498-43B3-948B-1728B52AA6E4}">
                  <adec:decorative xmlns:adec="http://schemas.microsoft.com/office/drawing/2017/decorative" val="1"/>
                </a:ext>
              </a:extLst>
            </p:cNvPr>
            <p:cNvGrpSpPr/>
            <p:nvPr/>
          </p:nvGrpSpPr>
          <p:grpSpPr>
            <a:xfrm>
              <a:off x="418644" y="4872395"/>
              <a:ext cx="657589" cy="657683"/>
              <a:chOff x="7962901" y="3032919"/>
              <a:chExt cx="981074" cy="981076"/>
            </a:xfrm>
          </p:grpSpPr>
          <p:sp>
            <p:nvSpPr>
              <p:cNvPr id="7" name="Freeform 5">
                <a:extLst>
                  <a:ext uri="{FF2B5EF4-FFF2-40B4-BE49-F238E27FC236}">
                    <a16:creationId xmlns:a16="http://schemas.microsoft.com/office/drawing/2014/main" id="{FE3422AA-241D-486C-B96D-B3848BAFF6DF}"/>
                  </a:ext>
                </a:extLst>
              </p:cNvPr>
              <p:cNvSpPr>
                <a:spLocks/>
              </p:cNvSpPr>
              <p:nvPr/>
            </p:nvSpPr>
            <p:spPr bwMode="auto">
              <a:xfrm>
                <a:off x="7962901" y="3032919"/>
                <a:ext cx="981074" cy="981076"/>
              </a:xfrm>
              <a:prstGeom prst="ellipse">
                <a:avLst/>
              </a:prstGeom>
              <a:solidFill>
                <a:srgbClr val="F2F2F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sp>
            <p:nvSpPr>
              <p:cNvPr id="8" name="Freeform 6">
                <a:extLst>
                  <a:ext uri="{FF2B5EF4-FFF2-40B4-BE49-F238E27FC236}">
                    <a16:creationId xmlns:a16="http://schemas.microsoft.com/office/drawing/2014/main" id="{DF0CA6B5-629A-4815-BECC-B88225D3DD6B}"/>
                  </a:ext>
                </a:extLst>
              </p:cNvPr>
              <p:cNvSpPr>
                <a:spLocks noEditPoints="1"/>
              </p:cNvSpPr>
              <p:nvPr/>
            </p:nvSpPr>
            <p:spPr bwMode="auto">
              <a:xfrm>
                <a:off x="8031163" y="3102770"/>
                <a:ext cx="846137" cy="844550"/>
              </a:xfrm>
              <a:prstGeom prst="ellipse">
                <a:avLst/>
              </a:prstGeom>
              <a:noFill/>
              <a:ln w="28575">
                <a:solidFill>
                  <a:schemeClr val="tx2"/>
                </a:solidFill>
                <a:prstDash val="sysDot"/>
                <a:round/>
                <a:headEnd/>
                <a:tailEnd/>
              </a:ln>
            </p:spPr>
            <p:txBody>
              <a:bodyPr vert="horz" wrap="square" lIns="91440" tIns="45720" rIns="91440" bIns="45720" numCol="1" anchor="t" anchorCtr="0" compatLnSpc="1">
                <a:prstTxWarp prst="textNoShape">
                  <a:avLst/>
                </a:prstTxWarp>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730" b="0" i="0" u="none" strike="noStrike" kern="1200" cap="none" spc="0" normalizeH="0" baseline="0" noProof="0" dirty="0">
                  <a:ln>
                    <a:noFill/>
                  </a:ln>
                  <a:solidFill>
                    <a:srgbClr val="000000"/>
                  </a:solidFill>
                  <a:effectLst/>
                  <a:uLnTx/>
                  <a:uFillTx/>
                  <a:latin typeface="Segoe UI"/>
                  <a:ea typeface="+mn-ea"/>
                  <a:cs typeface="+mn-cs"/>
                </a:endParaRPr>
              </a:p>
            </p:txBody>
          </p:sp>
        </p:grpSp>
        <p:pic>
          <p:nvPicPr>
            <p:cNvPr id="6" name="Picture 5" descr="Icon of a screen with a square enclosed by outward pointing chevrons on left and right">
              <a:extLst>
                <a:ext uri="{FF2B5EF4-FFF2-40B4-BE49-F238E27FC236}">
                  <a16:creationId xmlns:a16="http://schemas.microsoft.com/office/drawing/2014/main" id="{75F27144-D516-4FA4-B70F-BCF7F626E251}"/>
                </a:ext>
              </a:extLst>
            </p:cNvPr>
            <p:cNvPicPr>
              <a:picLocks noChangeAspect="1"/>
            </p:cNvPicPr>
            <p:nvPr/>
          </p:nvPicPr>
          <p:blipFill>
            <a:blip r:embed="rId3"/>
            <a:stretch>
              <a:fillRect/>
            </a:stretch>
          </p:blipFill>
          <p:spPr>
            <a:xfrm>
              <a:off x="558289" y="5059297"/>
              <a:ext cx="378298" cy="283878"/>
            </a:xfrm>
            <a:prstGeom prst="rect">
              <a:avLst/>
            </a:prstGeom>
          </p:spPr>
        </p:pic>
      </p:grpSp>
    </p:spTree>
    <p:extLst>
      <p:ext uri="{BB962C8B-B14F-4D97-AF65-F5344CB8AC3E}">
        <p14:creationId xmlns:p14="http://schemas.microsoft.com/office/powerpoint/2010/main" val="2480480038"/>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8FD67-B9CE-464C-BEFD-D97DA798FC3B}"/>
              </a:ext>
            </a:extLst>
          </p:cNvPr>
          <p:cNvSpPr>
            <a:spLocks noGrp="1"/>
          </p:cNvSpPr>
          <p:nvPr>
            <p:ph type="title"/>
          </p:nvPr>
        </p:nvSpPr>
        <p:spPr>
          <a:xfrm>
            <a:off x="455996" y="2435139"/>
            <a:ext cx="2457386" cy="1987724"/>
          </a:xfrm>
        </p:spPr>
        <p:txBody>
          <a:bodyPr/>
          <a:lstStyle/>
          <a:p>
            <a:r>
              <a:rPr lang="en-US" sz="3200" spc="-49" dirty="0">
                <a:ln w="3175">
                  <a:noFill/>
                </a:ln>
                <a:ea typeface="+mn-ea"/>
                <a:cs typeface="Segoe UI" pitchFamily="34" charset="0"/>
              </a:rPr>
              <a:t>Integrate your app with an Azure Virtual Network overview</a:t>
            </a:r>
          </a:p>
        </p:txBody>
      </p:sp>
      <p:sp>
        <p:nvSpPr>
          <p:cNvPr id="7" name="TextBox 6">
            <a:extLst>
              <a:ext uri="{FF2B5EF4-FFF2-40B4-BE49-F238E27FC236}">
                <a16:creationId xmlns:a16="http://schemas.microsoft.com/office/drawing/2014/main" id="{AAAEE4DB-5DAB-4A33-A877-81A79CE40622}"/>
              </a:ext>
            </a:extLst>
          </p:cNvPr>
          <p:cNvSpPr txBox="1"/>
          <p:nvPr/>
        </p:nvSpPr>
        <p:spPr>
          <a:xfrm>
            <a:off x="4483433" y="713985"/>
            <a:ext cx="7315200" cy="369332"/>
          </a:xfrm>
          <a:prstGeom prst="rect">
            <a:avLst/>
          </a:prstGeom>
          <a:noFill/>
        </p:spPr>
        <p:txBody>
          <a:bodyPr wrap="square" rtlCol="0">
            <a:spAutoFit/>
          </a:bodyPr>
          <a:lstStyle/>
          <a:p>
            <a:r>
              <a:rPr lang="en-US" dirty="0">
                <a:latin typeface="+mj-lt"/>
              </a:rPr>
              <a:t>Virtual network integration options for Azure PaaS services</a:t>
            </a:r>
          </a:p>
        </p:txBody>
      </p:sp>
      <p:sp>
        <p:nvSpPr>
          <p:cNvPr id="8" name="TextBox 7">
            <a:extLst>
              <a:ext uri="{FF2B5EF4-FFF2-40B4-BE49-F238E27FC236}">
                <a16:creationId xmlns:a16="http://schemas.microsoft.com/office/drawing/2014/main" id="{0E4FC730-048E-464D-BD89-71E9BA7059C2}"/>
              </a:ext>
            </a:extLst>
          </p:cNvPr>
          <p:cNvSpPr txBox="1"/>
          <p:nvPr/>
        </p:nvSpPr>
        <p:spPr>
          <a:xfrm>
            <a:off x="4483433" y="1375948"/>
            <a:ext cx="7315200" cy="369332"/>
          </a:xfrm>
          <a:prstGeom prst="rect">
            <a:avLst/>
          </a:prstGeom>
          <a:noFill/>
        </p:spPr>
        <p:txBody>
          <a:bodyPr wrap="square" rtlCol="0">
            <a:spAutoFit/>
          </a:bodyPr>
          <a:lstStyle/>
          <a:p>
            <a:r>
              <a:rPr lang="en-US" dirty="0">
                <a:latin typeface="+mj-lt"/>
              </a:rPr>
              <a:t>Configure App Service for regional VNET integration </a:t>
            </a:r>
          </a:p>
        </p:txBody>
      </p:sp>
      <p:sp>
        <p:nvSpPr>
          <p:cNvPr id="9" name="TextBox 8">
            <a:extLst>
              <a:ext uri="{FF2B5EF4-FFF2-40B4-BE49-F238E27FC236}">
                <a16:creationId xmlns:a16="http://schemas.microsoft.com/office/drawing/2014/main" id="{EADE6786-CDA0-4292-ADE5-9515525765F8}"/>
              </a:ext>
            </a:extLst>
          </p:cNvPr>
          <p:cNvSpPr txBox="1"/>
          <p:nvPr/>
        </p:nvSpPr>
        <p:spPr>
          <a:xfrm>
            <a:off x="4483433" y="2005696"/>
            <a:ext cx="7315200" cy="369332"/>
          </a:xfrm>
          <a:prstGeom prst="rect">
            <a:avLst/>
          </a:prstGeom>
          <a:noFill/>
        </p:spPr>
        <p:txBody>
          <a:bodyPr wrap="square" rtlCol="0">
            <a:spAutoFit/>
          </a:bodyPr>
          <a:lstStyle/>
          <a:p>
            <a:r>
              <a:rPr lang="en-US" dirty="0">
                <a:latin typeface="+mj-lt"/>
              </a:rPr>
              <a:t>Configure the virtual network for integration with App Service</a:t>
            </a:r>
          </a:p>
        </p:txBody>
      </p:sp>
      <p:sp>
        <p:nvSpPr>
          <p:cNvPr id="11" name="TextBox 10">
            <a:extLst>
              <a:ext uri="{FF2B5EF4-FFF2-40B4-BE49-F238E27FC236}">
                <a16:creationId xmlns:a16="http://schemas.microsoft.com/office/drawing/2014/main" id="{BC2018F6-F6EA-4A1E-9879-FEC94BA40CF2}"/>
              </a:ext>
            </a:extLst>
          </p:cNvPr>
          <p:cNvSpPr txBox="1"/>
          <p:nvPr/>
        </p:nvSpPr>
        <p:spPr>
          <a:xfrm>
            <a:off x="4483433" y="2684899"/>
            <a:ext cx="7315200" cy="369332"/>
          </a:xfrm>
          <a:prstGeom prst="rect">
            <a:avLst/>
          </a:prstGeom>
          <a:noFill/>
        </p:spPr>
        <p:txBody>
          <a:bodyPr wrap="square" rtlCol="0">
            <a:spAutoFit/>
          </a:bodyPr>
          <a:lstStyle/>
          <a:p>
            <a:r>
              <a:rPr lang="en-US" dirty="0">
                <a:latin typeface="+mj-lt"/>
              </a:rPr>
              <a:t>Specify networking settings for application, including DNS and routing</a:t>
            </a:r>
          </a:p>
        </p:txBody>
      </p:sp>
      <p:sp>
        <p:nvSpPr>
          <p:cNvPr id="5" name="TextBox 4">
            <a:extLst>
              <a:ext uri="{FF2B5EF4-FFF2-40B4-BE49-F238E27FC236}">
                <a16:creationId xmlns:a16="http://schemas.microsoft.com/office/drawing/2014/main" id="{306E0F7E-56D8-44AD-A302-DFC157375A54}"/>
              </a:ext>
            </a:extLst>
          </p:cNvPr>
          <p:cNvSpPr txBox="1"/>
          <p:nvPr/>
        </p:nvSpPr>
        <p:spPr>
          <a:xfrm>
            <a:off x="4565299" y="4078431"/>
            <a:ext cx="7315200" cy="369332"/>
          </a:xfrm>
          <a:prstGeom prst="rect">
            <a:avLst/>
          </a:prstGeom>
          <a:noFill/>
        </p:spPr>
        <p:txBody>
          <a:bodyPr wrap="square" lIns="0" tIns="0" rIns="0" bIns="0" rtlCol="0" anchor="ctr">
            <a:noAutofit/>
          </a:bodyPr>
          <a:lstStyle/>
          <a:p>
            <a:r>
              <a:rPr lang="en-US" dirty="0">
                <a:latin typeface="+mj-lt"/>
                <a:cs typeface="Segoe UI Semilight"/>
              </a:rPr>
              <a:t>Review </a:t>
            </a:r>
            <a:endParaRPr lang="en-US" dirty="0">
              <a:latin typeface="+mj-lt"/>
            </a:endParaRPr>
          </a:p>
        </p:txBody>
      </p:sp>
      <p:sp>
        <p:nvSpPr>
          <p:cNvPr id="12" name="TextBox 11">
            <a:extLst>
              <a:ext uri="{FF2B5EF4-FFF2-40B4-BE49-F238E27FC236}">
                <a16:creationId xmlns:a16="http://schemas.microsoft.com/office/drawing/2014/main" id="{A45D906B-27D9-4BCA-AE33-5259E8DE224D}"/>
              </a:ext>
              <a:ext uri="{C183D7F6-B498-43B3-948B-1728B52AA6E4}">
                <adec:decorative xmlns:adec="http://schemas.microsoft.com/office/drawing/2017/decorative" val="1"/>
              </a:ext>
            </a:extLst>
          </p:cNvPr>
          <p:cNvSpPr txBox="1"/>
          <p:nvPr/>
        </p:nvSpPr>
        <p:spPr>
          <a:xfrm>
            <a:off x="4483433" y="3380192"/>
            <a:ext cx="7315200" cy="369332"/>
          </a:xfrm>
          <a:prstGeom prst="rect">
            <a:avLst/>
          </a:prstGeom>
          <a:noFill/>
        </p:spPr>
        <p:txBody>
          <a:bodyPr wrap="square" rtlCol="0">
            <a:spAutoFit/>
          </a:bodyPr>
          <a:lstStyle/>
          <a:p>
            <a:r>
              <a:rPr lang="en-US" dirty="0">
                <a:latin typeface="+mj-lt"/>
              </a:rPr>
              <a:t>Network options for Azure Kubernetes Service (AKS) </a:t>
            </a:r>
          </a:p>
        </p:txBody>
      </p:sp>
      <p:pic>
        <p:nvPicPr>
          <p:cNvPr id="3" name="Picture 2">
            <a:extLst>
              <a:ext uri="{FF2B5EF4-FFF2-40B4-BE49-F238E27FC236}">
                <a16:creationId xmlns:a16="http://schemas.microsoft.com/office/drawing/2014/main" id="{A3B8DA3C-D26E-444C-A61D-261D9AA32034}"/>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907724" y="713985"/>
            <a:ext cx="458228" cy="459179"/>
          </a:xfrm>
          <a:prstGeom prst="rect">
            <a:avLst/>
          </a:prstGeom>
        </p:spPr>
      </p:pic>
      <p:pic>
        <p:nvPicPr>
          <p:cNvPr id="4" name="Picture 3">
            <a:extLst>
              <a:ext uri="{FF2B5EF4-FFF2-40B4-BE49-F238E27FC236}">
                <a16:creationId xmlns:a16="http://schemas.microsoft.com/office/drawing/2014/main" id="{4D669D85-5863-40C7-9F5F-73607386A8F4}"/>
              </a:ext>
              <a:ext uri="{C183D7F6-B498-43B3-948B-1728B52AA6E4}">
                <adec:decorative xmlns:adec="http://schemas.microsoft.com/office/drawing/2017/decorative" val="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07724" y="1362379"/>
            <a:ext cx="458228" cy="458228"/>
          </a:xfrm>
          <a:prstGeom prst="rect">
            <a:avLst/>
          </a:prstGeom>
        </p:spPr>
      </p:pic>
      <p:pic>
        <p:nvPicPr>
          <p:cNvPr id="6" name="Picture 5">
            <a:extLst>
              <a:ext uri="{FF2B5EF4-FFF2-40B4-BE49-F238E27FC236}">
                <a16:creationId xmlns:a16="http://schemas.microsoft.com/office/drawing/2014/main" id="{5B554800-5B51-48D6-BB3D-274FE223D18F}"/>
              </a:ext>
              <a:ext uri="{C183D7F6-B498-43B3-948B-1728B52AA6E4}">
                <adec:decorative xmlns:adec="http://schemas.microsoft.com/office/drawing/2017/decorative" val="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649" t="649" r="649" b="649"/>
          <a:stretch/>
        </p:blipFill>
        <p:spPr>
          <a:xfrm>
            <a:off x="3907724" y="1963755"/>
            <a:ext cx="452275" cy="453213"/>
          </a:xfrm>
          <a:prstGeom prst="ellipse">
            <a:avLst/>
          </a:prstGeom>
        </p:spPr>
      </p:pic>
      <p:pic>
        <p:nvPicPr>
          <p:cNvPr id="17" name="Picture 16">
            <a:extLst>
              <a:ext uri="{FF2B5EF4-FFF2-40B4-BE49-F238E27FC236}">
                <a16:creationId xmlns:a16="http://schemas.microsoft.com/office/drawing/2014/main" id="{8B2015C9-8557-4616-8C5B-7CF73CE054FE}"/>
              </a:ext>
              <a:ext uri="{C183D7F6-B498-43B3-948B-1728B52AA6E4}">
                <adec:decorative xmlns:adec="http://schemas.microsoft.com/office/drawing/2017/decorative" val="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920522" y="2567582"/>
            <a:ext cx="459179" cy="459179"/>
          </a:xfrm>
          <a:prstGeom prst="rect">
            <a:avLst/>
          </a:prstGeom>
        </p:spPr>
      </p:pic>
      <p:pic>
        <p:nvPicPr>
          <p:cNvPr id="19" name="Picture 18">
            <a:extLst>
              <a:ext uri="{FF2B5EF4-FFF2-40B4-BE49-F238E27FC236}">
                <a16:creationId xmlns:a16="http://schemas.microsoft.com/office/drawing/2014/main" id="{8CE8D37C-B071-46FB-9357-4300A8D3F9C2}"/>
              </a:ext>
              <a:ext uri="{C183D7F6-B498-43B3-948B-1728B52AA6E4}">
                <adec:decorative xmlns:adec="http://schemas.microsoft.com/office/drawing/2017/decorative" val="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933835" y="4015716"/>
            <a:ext cx="458228" cy="459179"/>
          </a:xfrm>
          <a:prstGeom prst="rect">
            <a:avLst/>
          </a:prstGeom>
        </p:spPr>
      </p:pic>
      <p:pic>
        <p:nvPicPr>
          <p:cNvPr id="21" name="Picture 20">
            <a:extLst>
              <a:ext uri="{FF2B5EF4-FFF2-40B4-BE49-F238E27FC236}">
                <a16:creationId xmlns:a16="http://schemas.microsoft.com/office/drawing/2014/main" id="{3535151B-B8E6-4832-A222-FC92895FF657}"/>
              </a:ext>
              <a:ext uri="{C183D7F6-B498-43B3-948B-1728B52AA6E4}">
                <adec:decorative xmlns:adec="http://schemas.microsoft.com/office/drawing/2017/decorative" val="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3932884" y="3315950"/>
            <a:ext cx="459179" cy="459179"/>
          </a:xfrm>
          <a:prstGeom prst="rect">
            <a:avLst/>
          </a:prstGeom>
        </p:spPr>
      </p:pic>
    </p:spTree>
    <p:extLst>
      <p:ext uri="{BB962C8B-B14F-4D97-AF65-F5344CB8AC3E}">
        <p14:creationId xmlns:p14="http://schemas.microsoft.com/office/powerpoint/2010/main" val="219609449"/>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80116-A7EA-4436-BE9D-151128BFB8CE}"/>
              </a:ext>
            </a:extLst>
          </p:cNvPr>
          <p:cNvSpPr>
            <a:spLocks noGrp="1"/>
          </p:cNvSpPr>
          <p:nvPr>
            <p:ph type="title"/>
          </p:nvPr>
        </p:nvSpPr>
        <p:spPr>
          <a:xfrm>
            <a:off x="424090" y="466096"/>
            <a:ext cx="11343820" cy="397545"/>
          </a:xfrm>
        </p:spPr>
        <p:txBody>
          <a:bodyPr/>
          <a:lstStyle/>
          <a:p>
            <a:r>
              <a:rPr lang="en-US" dirty="0"/>
              <a:t>Virtual network integration options for Azure PaaS services</a:t>
            </a:r>
          </a:p>
        </p:txBody>
      </p:sp>
      <p:sp>
        <p:nvSpPr>
          <p:cNvPr id="4" name="Rectangle 3">
            <a:extLst>
              <a:ext uri="{FF2B5EF4-FFF2-40B4-BE49-F238E27FC236}">
                <a16:creationId xmlns:a16="http://schemas.microsoft.com/office/drawing/2014/main" id="{BCBCC96D-2869-4121-8AC7-FA041E7E46AD}"/>
              </a:ext>
              <a:ext uri="{C183D7F6-B498-43B3-948B-1728B52AA6E4}">
                <adec:decorative xmlns:adec="http://schemas.microsoft.com/office/drawing/2017/decorative" val="0"/>
              </a:ext>
            </a:extLst>
          </p:cNvPr>
          <p:cNvSpPr/>
          <p:nvPr/>
        </p:nvSpPr>
        <p:spPr bwMode="auto">
          <a:xfrm>
            <a:off x="418643" y="1169265"/>
            <a:ext cx="2761285" cy="104167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dirty="0">
                <a:solidFill>
                  <a:schemeClr val="tx1"/>
                </a:solidFill>
              </a:rPr>
              <a:t>VNet Integration</a:t>
            </a:r>
          </a:p>
        </p:txBody>
      </p:sp>
      <p:sp>
        <p:nvSpPr>
          <p:cNvPr id="6" name="Rectangle 5">
            <a:extLst>
              <a:ext uri="{FF2B5EF4-FFF2-40B4-BE49-F238E27FC236}">
                <a16:creationId xmlns:a16="http://schemas.microsoft.com/office/drawing/2014/main" id="{E365B290-ABD9-4311-A25B-0BC16FBF5AB9}"/>
              </a:ext>
              <a:ext uri="{C183D7F6-B498-43B3-948B-1728B52AA6E4}">
                <adec:decorative xmlns:adec="http://schemas.microsoft.com/office/drawing/2017/decorative" val="0"/>
              </a:ext>
            </a:extLst>
          </p:cNvPr>
          <p:cNvSpPr/>
          <p:nvPr/>
        </p:nvSpPr>
        <p:spPr bwMode="auto">
          <a:xfrm>
            <a:off x="418643" y="2871404"/>
            <a:ext cx="2638456" cy="93632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dirty="0">
                <a:solidFill>
                  <a:schemeClr val="tx1"/>
                </a:solidFill>
              </a:rPr>
              <a:t>Private Link</a:t>
            </a:r>
          </a:p>
        </p:txBody>
      </p:sp>
      <p:sp>
        <p:nvSpPr>
          <p:cNvPr id="8" name="Rectangle 7">
            <a:extLst>
              <a:ext uri="{FF2B5EF4-FFF2-40B4-BE49-F238E27FC236}">
                <a16:creationId xmlns:a16="http://schemas.microsoft.com/office/drawing/2014/main" id="{E7C7CDF5-D8F3-425D-8D94-0A00C3C64F63}"/>
              </a:ext>
              <a:ext uri="{C183D7F6-B498-43B3-948B-1728B52AA6E4}">
                <adec:decorative xmlns:adec="http://schemas.microsoft.com/office/drawing/2017/decorative" val="0"/>
              </a:ext>
            </a:extLst>
          </p:cNvPr>
          <p:cNvSpPr/>
          <p:nvPr/>
        </p:nvSpPr>
        <p:spPr bwMode="auto">
          <a:xfrm>
            <a:off x="418643" y="4368732"/>
            <a:ext cx="2638456" cy="132000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dirty="0">
                <a:solidFill>
                  <a:schemeClr val="tx1"/>
                </a:solidFill>
              </a:rPr>
              <a:t>Public endpoints</a:t>
            </a:r>
          </a:p>
        </p:txBody>
      </p:sp>
      <p:pic>
        <p:nvPicPr>
          <p:cNvPr id="1026" name="Picture 2" descr="Services deployed in a virtual network">
            <a:extLst>
              <a:ext uri="{FF2B5EF4-FFF2-40B4-BE49-F238E27FC236}">
                <a16:creationId xmlns:a16="http://schemas.microsoft.com/office/drawing/2014/main" id="{FEBED8CF-5431-4E9C-B168-6BA1DB4C9F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6070" y="1389378"/>
            <a:ext cx="5888005" cy="4836695"/>
          </a:xfrm>
          <a:prstGeom prst="rect">
            <a:avLst/>
          </a:prstGeom>
          <a:noFill/>
        </p:spPr>
      </p:pic>
      <p:sp>
        <p:nvSpPr>
          <p:cNvPr id="3" name="Rectangle 2">
            <a:extLst>
              <a:ext uri="{FF2B5EF4-FFF2-40B4-BE49-F238E27FC236}">
                <a16:creationId xmlns:a16="http://schemas.microsoft.com/office/drawing/2014/main" id="{8A0AC168-1972-4AE5-BEB4-1D96AF32130D}"/>
              </a:ext>
              <a:ext uri="{C183D7F6-B498-43B3-948B-1728B52AA6E4}">
                <adec:decorative xmlns:adec="http://schemas.microsoft.com/office/drawing/2017/decorative" val="1"/>
              </a:ext>
            </a:extLst>
          </p:cNvPr>
          <p:cNvSpPr/>
          <p:nvPr/>
        </p:nvSpPr>
        <p:spPr bwMode="auto">
          <a:xfrm>
            <a:off x="3922294" y="1169262"/>
            <a:ext cx="7851063" cy="5222641"/>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3791939884"/>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B26FE-C004-4B63-A084-D2067A2EB15D}"/>
              </a:ext>
            </a:extLst>
          </p:cNvPr>
          <p:cNvSpPr>
            <a:spLocks noGrp="1"/>
          </p:cNvSpPr>
          <p:nvPr>
            <p:ph type="title"/>
          </p:nvPr>
        </p:nvSpPr>
        <p:spPr>
          <a:xfrm>
            <a:off x="424090" y="466096"/>
            <a:ext cx="11343820" cy="397545"/>
          </a:xfrm>
        </p:spPr>
        <p:txBody>
          <a:bodyPr/>
          <a:lstStyle/>
          <a:p>
            <a:r>
              <a:rPr lang="en-US" dirty="0"/>
              <a:t>Configure App Service for regional VNet integration </a:t>
            </a:r>
          </a:p>
        </p:txBody>
      </p:sp>
      <p:pic>
        <p:nvPicPr>
          <p:cNvPr id="3074" name="Picture 2" descr="Diagram of a App service configured for regional VNet intergration ">
            <a:extLst>
              <a:ext uri="{FF2B5EF4-FFF2-40B4-BE49-F238E27FC236}">
                <a16:creationId xmlns:a16="http://schemas.microsoft.com/office/drawing/2014/main" id="{9EA6A817-2631-4695-9448-39A570CB57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0553" y="3797125"/>
            <a:ext cx="8679997" cy="2594779"/>
          </a:xfrm>
          <a:prstGeom prst="rect">
            <a:avLst/>
          </a:prstGeom>
          <a:noFill/>
        </p:spPr>
      </p:pic>
      <p:sp>
        <p:nvSpPr>
          <p:cNvPr id="9" name="Rectangle 8">
            <a:extLst>
              <a:ext uri="{FF2B5EF4-FFF2-40B4-BE49-F238E27FC236}">
                <a16:creationId xmlns:a16="http://schemas.microsoft.com/office/drawing/2014/main" id="{82E1B9F2-66DB-4180-85D5-66DC620CB5A1}"/>
              </a:ext>
            </a:extLst>
          </p:cNvPr>
          <p:cNvSpPr/>
          <p:nvPr/>
        </p:nvSpPr>
        <p:spPr>
          <a:xfrm>
            <a:off x="413195" y="1209685"/>
            <a:ext cx="3679872" cy="243538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r>
              <a:rPr lang="en-US" sz="2157" dirty="0">
                <a:solidFill>
                  <a:schemeClr val="tx1"/>
                </a:solidFill>
              </a:rPr>
              <a:t>VNet Integration gives your app access to resources in your VNet, but it doesn't grant inbound private access to your app from the VNet</a:t>
            </a:r>
          </a:p>
        </p:txBody>
      </p:sp>
      <p:sp>
        <p:nvSpPr>
          <p:cNvPr id="11" name="Rectangle 10">
            <a:extLst>
              <a:ext uri="{FF2B5EF4-FFF2-40B4-BE49-F238E27FC236}">
                <a16:creationId xmlns:a16="http://schemas.microsoft.com/office/drawing/2014/main" id="{2EE244A6-DDBB-46C8-B50E-6CD1D03E9C2E}"/>
              </a:ext>
            </a:extLst>
          </p:cNvPr>
          <p:cNvSpPr/>
          <p:nvPr/>
        </p:nvSpPr>
        <p:spPr>
          <a:xfrm>
            <a:off x="4250615" y="1223950"/>
            <a:ext cx="3679872" cy="243538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r>
              <a:rPr lang="en-US" sz="2157" dirty="0">
                <a:solidFill>
                  <a:schemeClr val="tx1"/>
                </a:solidFill>
              </a:rPr>
              <a:t>Regional VNet Integration: When you connect to Azure Resource Manager virtual networks in the same region, you must have a dedicated subnet in the VNet you are integrating with.</a:t>
            </a:r>
          </a:p>
        </p:txBody>
      </p:sp>
      <p:sp>
        <p:nvSpPr>
          <p:cNvPr id="13" name="Rectangle 12">
            <a:extLst>
              <a:ext uri="{FF2B5EF4-FFF2-40B4-BE49-F238E27FC236}">
                <a16:creationId xmlns:a16="http://schemas.microsoft.com/office/drawing/2014/main" id="{623E6EEC-47F6-4F94-B5C5-D83ED8850AE0}"/>
              </a:ext>
            </a:extLst>
          </p:cNvPr>
          <p:cNvSpPr/>
          <p:nvPr/>
        </p:nvSpPr>
        <p:spPr>
          <a:xfrm>
            <a:off x="8088038" y="1209685"/>
            <a:ext cx="3679872" cy="2435389"/>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t" anchorCtr="0">
            <a:noAutofit/>
          </a:bodyPr>
          <a:lstStyle/>
          <a:p>
            <a:r>
              <a:rPr lang="en-US" sz="2157" dirty="0">
                <a:solidFill>
                  <a:schemeClr val="tx1"/>
                </a:solidFill>
              </a:rPr>
              <a:t>Gateway-required VNet Integration: When you connect to VNet in other regions, you need an Azure Virtual Network gateway provisioned in the target VNet.</a:t>
            </a:r>
          </a:p>
        </p:txBody>
      </p:sp>
      <p:sp>
        <p:nvSpPr>
          <p:cNvPr id="3" name="Rectangle 2">
            <a:extLst>
              <a:ext uri="{FF2B5EF4-FFF2-40B4-BE49-F238E27FC236}">
                <a16:creationId xmlns:a16="http://schemas.microsoft.com/office/drawing/2014/main" id="{CCF30B7E-AAE8-494F-B858-2F05AC9C1A3D}"/>
              </a:ext>
              <a:ext uri="{C183D7F6-B498-43B3-948B-1728B52AA6E4}">
                <adec:decorative xmlns:adec="http://schemas.microsoft.com/office/drawing/2017/decorative" val="1"/>
              </a:ext>
            </a:extLst>
          </p:cNvPr>
          <p:cNvSpPr/>
          <p:nvPr/>
        </p:nvSpPr>
        <p:spPr bwMode="auto">
          <a:xfrm>
            <a:off x="424091" y="4019648"/>
            <a:ext cx="11354714" cy="2136064"/>
          </a:xfrm>
          <a:prstGeom prst="rect">
            <a:avLst/>
          </a:prstGeom>
          <a:noFill/>
          <a:ln w="19050">
            <a:solidFill>
              <a:schemeClr val="bg1">
                <a:lumMod val="9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Tree>
    <p:extLst>
      <p:ext uri="{BB962C8B-B14F-4D97-AF65-F5344CB8AC3E}">
        <p14:creationId xmlns:p14="http://schemas.microsoft.com/office/powerpoint/2010/main" val="253172073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4A98E-429E-428B-99F5-D3EF4247B418}"/>
              </a:ext>
            </a:extLst>
          </p:cNvPr>
          <p:cNvSpPr>
            <a:spLocks noGrp="1"/>
          </p:cNvSpPr>
          <p:nvPr>
            <p:ph type="title"/>
          </p:nvPr>
        </p:nvSpPr>
        <p:spPr>
          <a:xfrm>
            <a:off x="424090" y="466096"/>
            <a:ext cx="11343820" cy="397545"/>
          </a:xfrm>
        </p:spPr>
        <p:txBody>
          <a:bodyPr/>
          <a:lstStyle/>
          <a:p>
            <a:r>
              <a:rPr lang="en-US" dirty="0"/>
              <a:t>Configure the virtual network for integration with App Service</a:t>
            </a:r>
          </a:p>
        </p:txBody>
      </p:sp>
      <p:sp>
        <p:nvSpPr>
          <p:cNvPr id="5" name="Rectangle 4">
            <a:extLst>
              <a:ext uri="{FF2B5EF4-FFF2-40B4-BE49-F238E27FC236}">
                <a16:creationId xmlns:a16="http://schemas.microsoft.com/office/drawing/2014/main" id="{0BA2B9A2-2897-4FA5-B0C7-EDA30C296640}"/>
              </a:ext>
              <a:ext uri="{C183D7F6-B498-43B3-948B-1728B52AA6E4}">
                <adec:decorative xmlns:adec="http://schemas.microsoft.com/office/drawing/2017/decorative" val="0"/>
              </a:ext>
            </a:extLst>
          </p:cNvPr>
          <p:cNvSpPr/>
          <p:nvPr/>
        </p:nvSpPr>
        <p:spPr bwMode="auto">
          <a:xfrm>
            <a:off x="418643" y="1265129"/>
            <a:ext cx="4215987" cy="1606052"/>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dirty="0">
                <a:solidFill>
                  <a:schemeClr val="tx1"/>
                </a:solidFill>
              </a:rPr>
              <a:t>Go to the </a:t>
            </a:r>
            <a:r>
              <a:rPr lang="en-US" sz="1961" b="1" dirty="0">
                <a:solidFill>
                  <a:schemeClr val="tx1"/>
                </a:solidFill>
              </a:rPr>
              <a:t>Networking</a:t>
            </a:r>
            <a:r>
              <a:rPr lang="en-US" sz="1961" dirty="0">
                <a:solidFill>
                  <a:schemeClr val="tx1"/>
                </a:solidFill>
              </a:rPr>
              <a:t> UI in the </a:t>
            </a:r>
            <a:r>
              <a:rPr lang="en-US" sz="1961" b="1" dirty="0">
                <a:solidFill>
                  <a:schemeClr val="tx1"/>
                </a:solidFill>
              </a:rPr>
              <a:t>App Service portal</a:t>
            </a:r>
            <a:r>
              <a:rPr lang="en-US" sz="1961" dirty="0">
                <a:solidFill>
                  <a:schemeClr val="tx1"/>
                </a:solidFill>
              </a:rPr>
              <a:t>. Under VNet Integration, select </a:t>
            </a:r>
            <a:r>
              <a:rPr lang="en-US" sz="1961" b="1" dirty="0">
                <a:solidFill>
                  <a:schemeClr val="tx1"/>
                </a:solidFill>
              </a:rPr>
              <a:t>Click here to configure</a:t>
            </a:r>
          </a:p>
        </p:txBody>
      </p:sp>
      <p:sp>
        <p:nvSpPr>
          <p:cNvPr id="7" name="Rectangle 6">
            <a:extLst>
              <a:ext uri="{FF2B5EF4-FFF2-40B4-BE49-F238E27FC236}">
                <a16:creationId xmlns:a16="http://schemas.microsoft.com/office/drawing/2014/main" id="{D6662E71-6B86-41A1-983C-8F2153EF0433}"/>
              </a:ext>
              <a:ext uri="{C183D7F6-B498-43B3-948B-1728B52AA6E4}">
                <adec:decorative xmlns:adec="http://schemas.microsoft.com/office/drawing/2017/decorative" val="0"/>
              </a:ext>
            </a:extLst>
          </p:cNvPr>
          <p:cNvSpPr/>
          <p:nvPr/>
        </p:nvSpPr>
        <p:spPr bwMode="auto">
          <a:xfrm>
            <a:off x="418643" y="3243930"/>
            <a:ext cx="4215987" cy="1124580"/>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dirty="0">
                <a:solidFill>
                  <a:schemeClr val="tx1"/>
                </a:solidFill>
              </a:rPr>
              <a:t>The drop-down list contains all of the Azure Resource Manager virtual networks in your subscription in the same region</a:t>
            </a:r>
          </a:p>
        </p:txBody>
      </p:sp>
      <p:sp>
        <p:nvSpPr>
          <p:cNvPr id="9" name="Rectangle 8">
            <a:extLst>
              <a:ext uri="{FF2B5EF4-FFF2-40B4-BE49-F238E27FC236}">
                <a16:creationId xmlns:a16="http://schemas.microsoft.com/office/drawing/2014/main" id="{6E66C66B-0749-4E34-A387-F90291481DBC}"/>
              </a:ext>
              <a:ext uri="{C183D7F6-B498-43B3-948B-1728B52AA6E4}">
                <adec:decorative xmlns:adec="http://schemas.microsoft.com/office/drawing/2017/decorative" val="0"/>
              </a:ext>
            </a:extLst>
          </p:cNvPr>
          <p:cNvSpPr/>
          <p:nvPr/>
        </p:nvSpPr>
        <p:spPr bwMode="auto">
          <a:xfrm>
            <a:off x="418643" y="4770890"/>
            <a:ext cx="4215987" cy="1621013"/>
          </a:xfrm>
          <a:prstGeom prst="rect">
            <a:avLst/>
          </a:prstGeom>
          <a:solidFill>
            <a:schemeClr val="bg1">
              <a:lumMod val="95000"/>
            </a:schemeClr>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64" tIns="89642" rIns="134464" bIns="89642" numCol="1" spcCol="0" rtlCol="0" fromWordArt="0" anchor="ctr" anchorCtr="0" forceAA="0" compatLnSpc="1">
            <a:prstTxWarp prst="textNoShape">
              <a:avLst/>
            </a:prstTxWarp>
            <a:noAutofit/>
          </a:bodyPr>
          <a:lstStyle/>
          <a:p>
            <a:pPr>
              <a:spcBef>
                <a:spcPts val="1176"/>
              </a:spcBef>
            </a:pPr>
            <a:r>
              <a:rPr lang="en-US" sz="1961" dirty="0">
                <a:solidFill>
                  <a:schemeClr val="tx1"/>
                </a:solidFill>
              </a:rPr>
              <a:t>Underneath that is a list of the Resource Manager virtual networks in all other regions. Select the VNet you want to integrate with..</a:t>
            </a:r>
          </a:p>
        </p:txBody>
      </p:sp>
      <p:pic>
        <p:nvPicPr>
          <p:cNvPr id="3" name="Picture 2" descr="Select the VNet">
            <a:extLst>
              <a:ext uri="{FF2B5EF4-FFF2-40B4-BE49-F238E27FC236}">
                <a16:creationId xmlns:a16="http://schemas.microsoft.com/office/drawing/2014/main" id="{8A915F79-EFC5-44E7-A2D8-26D6A044F13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185775" y="1735868"/>
            <a:ext cx="6675329" cy="4477042"/>
          </a:xfrm>
          <a:prstGeom prst="rect">
            <a:avLst/>
          </a:prstGeom>
          <a:noFill/>
          <a:ln>
            <a:noFill/>
          </a:ln>
        </p:spPr>
      </p:pic>
    </p:spTree>
    <p:extLst>
      <p:ext uri="{BB962C8B-B14F-4D97-AF65-F5344CB8AC3E}">
        <p14:creationId xmlns:p14="http://schemas.microsoft.com/office/powerpoint/2010/main" val="261065483"/>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F296D-0F82-4796-8A6E-A1C3BDA64117}"/>
              </a:ext>
            </a:extLst>
          </p:cNvPr>
          <p:cNvSpPr>
            <a:spLocks noGrp="1"/>
          </p:cNvSpPr>
          <p:nvPr>
            <p:ph type="title"/>
          </p:nvPr>
        </p:nvSpPr>
        <p:spPr>
          <a:xfrm>
            <a:off x="424090" y="466096"/>
            <a:ext cx="11343820" cy="397545"/>
          </a:xfrm>
        </p:spPr>
        <p:txBody>
          <a:bodyPr/>
          <a:lstStyle/>
          <a:p>
            <a:r>
              <a:rPr lang="en-US" dirty="0"/>
              <a:t>Associate the App Service with the virtual network</a:t>
            </a:r>
          </a:p>
        </p:txBody>
      </p:sp>
      <p:sp>
        <p:nvSpPr>
          <p:cNvPr id="5" name="Rectangle 4">
            <a:extLst>
              <a:ext uri="{FF2B5EF4-FFF2-40B4-BE49-F238E27FC236}">
                <a16:creationId xmlns:a16="http://schemas.microsoft.com/office/drawing/2014/main" id="{90D39BBC-995B-4604-88E4-7DC0AE1FAB2A}"/>
              </a:ext>
            </a:extLst>
          </p:cNvPr>
          <p:cNvSpPr/>
          <p:nvPr/>
        </p:nvSpPr>
        <p:spPr>
          <a:xfrm>
            <a:off x="418643" y="1234627"/>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dirty="0">
                <a:solidFill>
                  <a:schemeClr val="tx1"/>
                </a:solidFill>
              </a:rPr>
              <a:t>Resources in a VNet in the same region as your app</a:t>
            </a:r>
          </a:p>
        </p:txBody>
      </p:sp>
      <p:sp>
        <p:nvSpPr>
          <p:cNvPr id="7" name="Rectangle 6">
            <a:extLst>
              <a:ext uri="{FF2B5EF4-FFF2-40B4-BE49-F238E27FC236}">
                <a16:creationId xmlns:a16="http://schemas.microsoft.com/office/drawing/2014/main" id="{2B941CCD-34EF-4B9F-ABF0-2592BB352219}"/>
              </a:ext>
            </a:extLst>
          </p:cNvPr>
          <p:cNvSpPr/>
          <p:nvPr/>
        </p:nvSpPr>
        <p:spPr>
          <a:xfrm>
            <a:off x="418643" y="2116402"/>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dirty="0">
                <a:solidFill>
                  <a:schemeClr val="tx1"/>
                </a:solidFill>
              </a:rPr>
              <a:t>Resources in VNets peered to the VNet your app is integrated with</a:t>
            </a:r>
          </a:p>
        </p:txBody>
      </p:sp>
      <p:sp>
        <p:nvSpPr>
          <p:cNvPr id="9" name="Rectangle 8">
            <a:extLst>
              <a:ext uri="{FF2B5EF4-FFF2-40B4-BE49-F238E27FC236}">
                <a16:creationId xmlns:a16="http://schemas.microsoft.com/office/drawing/2014/main" id="{790F9C19-B88D-435D-BDFA-D631CDB63855}"/>
              </a:ext>
            </a:extLst>
          </p:cNvPr>
          <p:cNvSpPr/>
          <p:nvPr/>
        </p:nvSpPr>
        <p:spPr>
          <a:xfrm>
            <a:off x="418642" y="2970864"/>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dirty="0">
                <a:solidFill>
                  <a:schemeClr val="tx1"/>
                </a:solidFill>
              </a:rPr>
              <a:t>Service Endpoint secured services</a:t>
            </a:r>
          </a:p>
        </p:txBody>
      </p:sp>
      <p:sp>
        <p:nvSpPr>
          <p:cNvPr id="11" name="Rectangle 10">
            <a:extLst>
              <a:ext uri="{FF2B5EF4-FFF2-40B4-BE49-F238E27FC236}">
                <a16:creationId xmlns:a16="http://schemas.microsoft.com/office/drawing/2014/main" id="{E042EB6F-E84D-4DDD-A6C7-2CCC3C8762D3}"/>
              </a:ext>
            </a:extLst>
          </p:cNvPr>
          <p:cNvSpPr/>
          <p:nvPr/>
        </p:nvSpPr>
        <p:spPr>
          <a:xfrm>
            <a:off x="418641" y="3871528"/>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dirty="0">
                <a:solidFill>
                  <a:schemeClr val="tx1"/>
                </a:solidFill>
              </a:rPr>
              <a:t>Resources across Azure ExpressRoute connections</a:t>
            </a:r>
          </a:p>
        </p:txBody>
      </p:sp>
      <p:sp>
        <p:nvSpPr>
          <p:cNvPr id="13" name="Rectangle 12">
            <a:extLst>
              <a:ext uri="{FF2B5EF4-FFF2-40B4-BE49-F238E27FC236}">
                <a16:creationId xmlns:a16="http://schemas.microsoft.com/office/drawing/2014/main" id="{FC5C3AD3-D381-472F-888A-81817852E3CF}"/>
              </a:ext>
            </a:extLst>
          </p:cNvPr>
          <p:cNvSpPr/>
          <p:nvPr/>
        </p:nvSpPr>
        <p:spPr>
          <a:xfrm>
            <a:off x="418640" y="4762699"/>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dirty="0">
                <a:solidFill>
                  <a:schemeClr val="tx1"/>
                </a:solidFill>
              </a:rPr>
              <a:t>Resources in the VNet you are integrated with</a:t>
            </a:r>
          </a:p>
        </p:txBody>
      </p:sp>
      <p:sp>
        <p:nvSpPr>
          <p:cNvPr id="15" name="Rectangle 14">
            <a:extLst>
              <a:ext uri="{FF2B5EF4-FFF2-40B4-BE49-F238E27FC236}">
                <a16:creationId xmlns:a16="http://schemas.microsoft.com/office/drawing/2014/main" id="{5D737591-5B74-4733-8C09-4195AB187072}"/>
              </a:ext>
            </a:extLst>
          </p:cNvPr>
          <p:cNvSpPr/>
          <p:nvPr/>
        </p:nvSpPr>
        <p:spPr>
          <a:xfrm>
            <a:off x="418639" y="5637392"/>
            <a:ext cx="4685999" cy="564585"/>
          </a:xfrm>
          <a:prstGeom prst="rect">
            <a:avLst/>
          </a:prstGeom>
          <a:solidFill>
            <a:schemeClr val="bg1">
              <a:lumMod val="95000"/>
            </a:schemeClr>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34464" tIns="89642" rIns="134464" bIns="89642" numCol="1" spcCol="1270" anchor="ctr" anchorCtr="0">
            <a:noAutofit/>
          </a:bodyPr>
          <a:lstStyle/>
          <a:p>
            <a:r>
              <a:rPr lang="en-US" sz="1765" dirty="0">
                <a:solidFill>
                  <a:schemeClr val="tx1"/>
                </a:solidFill>
              </a:rPr>
              <a:t>Resources across peered connections, which include Azure ExpressRoute connections</a:t>
            </a:r>
          </a:p>
        </p:txBody>
      </p:sp>
      <p:pic>
        <p:nvPicPr>
          <p:cNvPr id="3" name="Picture 2" descr="Provide application setting">
            <a:extLst>
              <a:ext uri="{FF2B5EF4-FFF2-40B4-BE49-F238E27FC236}">
                <a16:creationId xmlns:a16="http://schemas.microsoft.com/office/drawing/2014/main" id="{BE5FEA06-349D-48BD-8644-1933882E6BEE}"/>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5241471" y="1583871"/>
            <a:ext cx="6645580" cy="4640832"/>
          </a:xfrm>
          <a:prstGeom prst="rect">
            <a:avLst/>
          </a:prstGeom>
          <a:noFill/>
          <a:ln>
            <a:noFill/>
          </a:ln>
        </p:spPr>
      </p:pic>
    </p:spTree>
    <p:extLst>
      <p:ext uri="{BB962C8B-B14F-4D97-AF65-F5344CB8AC3E}">
        <p14:creationId xmlns:p14="http://schemas.microsoft.com/office/powerpoint/2010/main" val="819623343"/>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02722-ABE3-4507-8591-D16A2CBCABC4}"/>
              </a:ext>
            </a:extLst>
          </p:cNvPr>
          <p:cNvSpPr>
            <a:spLocks noGrp="1"/>
          </p:cNvSpPr>
          <p:nvPr>
            <p:ph type="title"/>
          </p:nvPr>
        </p:nvSpPr>
        <p:spPr>
          <a:xfrm>
            <a:off x="424090" y="466096"/>
            <a:ext cx="11343820" cy="397545"/>
          </a:xfrm>
        </p:spPr>
        <p:txBody>
          <a:bodyPr/>
          <a:lstStyle/>
          <a:p>
            <a:r>
              <a:rPr lang="en-US" dirty="0"/>
              <a:t>Network options for Azure Kubernetes Service (AKS) </a:t>
            </a:r>
          </a:p>
        </p:txBody>
      </p:sp>
      <p:sp>
        <p:nvSpPr>
          <p:cNvPr id="6" name="Rectangle 5">
            <a:extLst>
              <a:ext uri="{FF2B5EF4-FFF2-40B4-BE49-F238E27FC236}">
                <a16:creationId xmlns:a16="http://schemas.microsoft.com/office/drawing/2014/main" id="{26C9A138-5E7E-4025-A156-80E1FF040A71}"/>
              </a:ext>
              <a:ext uri="{C183D7F6-B498-43B3-948B-1728B52AA6E4}">
                <adec:decorative xmlns:adec="http://schemas.microsoft.com/office/drawing/2017/decorative" val="1"/>
              </a:ext>
            </a:extLst>
          </p:cNvPr>
          <p:cNvSpPr/>
          <p:nvPr/>
        </p:nvSpPr>
        <p:spPr bwMode="auto">
          <a:xfrm>
            <a:off x="5661764" y="1828800"/>
            <a:ext cx="6111594" cy="4171166"/>
          </a:xfrm>
          <a:prstGeom prst="rect">
            <a:avLst/>
          </a:prstGeom>
          <a:noFill/>
          <a:ln w="19050">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spcBef>
                <a:spcPct val="0"/>
              </a:spcBef>
              <a:spcAft>
                <a:spcPct val="0"/>
              </a:spcAft>
            </a:pPr>
            <a:endParaRPr lang="en-IN" sz="2353" dirty="0">
              <a:gradFill>
                <a:gsLst>
                  <a:gs pos="0">
                    <a:srgbClr val="FFFFFF"/>
                  </a:gs>
                  <a:gs pos="100000">
                    <a:srgbClr val="FFFFFF"/>
                  </a:gs>
                </a:gsLst>
                <a:lin ang="5400000" scaled="0"/>
              </a:gradFill>
              <a:cs typeface="Segoe UI" pitchFamily="34" charset="0"/>
            </a:endParaRPr>
          </a:p>
        </p:txBody>
      </p:sp>
      <p:sp>
        <p:nvSpPr>
          <p:cNvPr id="7" name="TextBox 1">
            <a:extLst>
              <a:ext uri="{FF2B5EF4-FFF2-40B4-BE49-F238E27FC236}">
                <a16:creationId xmlns:a16="http://schemas.microsoft.com/office/drawing/2014/main" id="{78A6FD17-145A-423F-8CB3-B15803202B3D}"/>
              </a:ext>
            </a:extLst>
          </p:cNvPr>
          <p:cNvSpPr txBox="1"/>
          <p:nvPr/>
        </p:nvSpPr>
        <p:spPr>
          <a:xfrm>
            <a:off x="537485" y="1204045"/>
            <a:ext cx="4025614" cy="2335287"/>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marR="0" lvl="0">
              <a:spcBef>
                <a:spcPts val="0"/>
              </a:spcBef>
              <a:spcAft>
                <a:spcPts val="1000"/>
              </a:spcAft>
            </a:pPr>
            <a:r>
              <a:rPr lang="en-US" sz="1600" b="1" dirty="0">
                <a:effectLst/>
                <a:latin typeface="+mj-lt"/>
                <a:ea typeface="Calibri" panose="020F0502020204030204" pitchFamily="34" charset="0"/>
                <a:cs typeface="Times New Roman" panose="02020603050405020304" pitchFamily="18" charset="0"/>
              </a:rPr>
              <a:t>Use kubenet when:</a:t>
            </a:r>
          </a:p>
          <a:p>
            <a:pPr marR="0" lvl="0">
              <a:spcBef>
                <a:spcPts val="0"/>
              </a:spcBef>
              <a:spcAft>
                <a:spcPts val="1000"/>
              </a:spcAft>
            </a:pPr>
            <a:r>
              <a:rPr lang="en-US" sz="1600" dirty="0">
                <a:effectLst/>
                <a:latin typeface="+mj-lt"/>
                <a:ea typeface="Calibri" panose="020F0502020204030204" pitchFamily="34" charset="0"/>
                <a:cs typeface="Times New Roman" panose="02020603050405020304" pitchFamily="18" charset="0"/>
              </a:rPr>
              <a:t>You have limited IP address space.</a:t>
            </a:r>
          </a:p>
          <a:p>
            <a:pPr marR="0" lvl="0">
              <a:spcBef>
                <a:spcPts val="0"/>
              </a:spcBef>
              <a:spcAft>
                <a:spcPts val="1000"/>
              </a:spcAft>
            </a:pPr>
            <a:r>
              <a:rPr lang="en-US" sz="1600" dirty="0">
                <a:effectLst/>
                <a:latin typeface="+mj-lt"/>
                <a:ea typeface="Calibri" panose="020F0502020204030204" pitchFamily="34" charset="0"/>
                <a:cs typeface="Times New Roman" panose="02020603050405020304" pitchFamily="18" charset="0"/>
              </a:rPr>
              <a:t>Most of the pod communication is within the cluster.</a:t>
            </a:r>
          </a:p>
          <a:p>
            <a:pPr marR="0" lvl="0">
              <a:spcBef>
                <a:spcPts val="0"/>
              </a:spcBef>
              <a:spcAft>
                <a:spcPts val="1000"/>
              </a:spcAft>
            </a:pPr>
            <a:r>
              <a:rPr lang="en-US" sz="1600" dirty="0">
                <a:effectLst/>
                <a:latin typeface="+mj-lt"/>
                <a:ea typeface="Calibri" panose="020F0502020204030204" pitchFamily="34" charset="0"/>
                <a:cs typeface="Times New Roman" panose="02020603050405020304" pitchFamily="18" charset="0"/>
              </a:rPr>
              <a:t>You don't need advanced AKS features such as virtual nodes or Azure Network Policy. Use Calico network policies.</a:t>
            </a:r>
          </a:p>
        </p:txBody>
      </p:sp>
      <p:sp>
        <p:nvSpPr>
          <p:cNvPr id="8" name="TextBox 1">
            <a:extLst>
              <a:ext uri="{FF2B5EF4-FFF2-40B4-BE49-F238E27FC236}">
                <a16:creationId xmlns:a16="http://schemas.microsoft.com/office/drawing/2014/main" id="{51B1E25D-F7D1-433B-8203-77294F999CF1}"/>
              </a:ext>
            </a:extLst>
          </p:cNvPr>
          <p:cNvSpPr txBox="1"/>
          <p:nvPr/>
        </p:nvSpPr>
        <p:spPr>
          <a:xfrm>
            <a:off x="537485" y="3879736"/>
            <a:ext cx="4134723" cy="2801383"/>
          </a:xfrm>
          <a:prstGeom prst="rect">
            <a:avLst/>
          </a:prstGeom>
          <a:solidFill>
            <a:schemeClr val="bg1">
              <a:lumMod val="95000"/>
            </a:schemeClr>
          </a:solidFill>
        </p:spPr>
        <p:txBody>
          <a:bodyPr wrap="square" lIns="137160" tIns="91440" rIns="137160" bIns="91440" rtlCol="0" anchor="ctr">
            <a:noAutofit/>
          </a:bodyPr>
          <a:ls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a:lstStyle>
          <a:p>
            <a:pPr>
              <a:spcBef>
                <a:spcPts val="1200"/>
              </a:spcBef>
            </a:pPr>
            <a:r>
              <a:rPr lang="en-US" sz="1400" b="1" dirty="0">
                <a:latin typeface="+mj-lt"/>
              </a:rPr>
              <a:t>Use Azure CNI when:</a:t>
            </a:r>
          </a:p>
          <a:p>
            <a:pPr>
              <a:spcBef>
                <a:spcPts val="1200"/>
              </a:spcBef>
            </a:pPr>
            <a:r>
              <a:rPr lang="en-US" sz="1400" dirty="0">
                <a:latin typeface="+mj-lt"/>
              </a:rPr>
              <a:t>You have available IP address space.</a:t>
            </a:r>
          </a:p>
          <a:p>
            <a:pPr>
              <a:spcBef>
                <a:spcPts val="1200"/>
              </a:spcBef>
            </a:pPr>
            <a:r>
              <a:rPr lang="en-US" sz="1400" dirty="0">
                <a:latin typeface="+mj-lt"/>
              </a:rPr>
              <a:t>Most of the pod communication is to resources outside of the cluster.</a:t>
            </a:r>
          </a:p>
          <a:p>
            <a:pPr>
              <a:spcBef>
                <a:spcPts val="1200"/>
              </a:spcBef>
            </a:pPr>
            <a:r>
              <a:rPr lang="en-US" sz="1400" dirty="0">
                <a:latin typeface="+mj-lt"/>
              </a:rPr>
              <a:t>You don't want to manage user defined routes for pod connectivity.</a:t>
            </a:r>
          </a:p>
          <a:p>
            <a:pPr>
              <a:spcBef>
                <a:spcPts val="1200"/>
              </a:spcBef>
            </a:pPr>
            <a:r>
              <a:rPr lang="en-US" sz="1400" dirty="0">
                <a:latin typeface="+mj-lt"/>
              </a:rPr>
              <a:t>You need AKS advanced features such as virtual nodes or Azure Network Policy. Use Calico network policies.</a:t>
            </a:r>
          </a:p>
        </p:txBody>
      </p:sp>
      <p:pic>
        <p:nvPicPr>
          <p:cNvPr id="4" name="Picture 3" descr="diagram showing two nodes with bridges connecting each to a single azure vnet ">
            <a:extLst>
              <a:ext uri="{FF2B5EF4-FFF2-40B4-BE49-F238E27FC236}">
                <a16:creationId xmlns:a16="http://schemas.microsoft.com/office/drawing/2014/main" id="{87E1560B-8A80-4556-B95E-484E8FF44FCE}"/>
              </a:ext>
            </a:extLst>
          </p:cNvPr>
          <p:cNvPicPr/>
          <p:nvPr/>
        </p:nvPicPr>
        <p:blipFill>
          <a:blip r:embed="rId3"/>
          <a:stretch>
            <a:fillRect/>
          </a:stretch>
        </p:blipFill>
        <p:spPr bwMode="auto">
          <a:xfrm>
            <a:off x="6406899" y="2663470"/>
            <a:ext cx="5053055" cy="2616957"/>
          </a:xfrm>
          <a:prstGeom prst="rect">
            <a:avLst/>
          </a:prstGeom>
          <a:noFill/>
          <a:ln>
            <a:noFill/>
          </a:ln>
        </p:spPr>
      </p:pic>
    </p:spTree>
    <p:extLst>
      <p:ext uri="{BB962C8B-B14F-4D97-AF65-F5344CB8AC3E}">
        <p14:creationId xmlns:p14="http://schemas.microsoft.com/office/powerpoint/2010/main" val="1266684068"/>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Summary – </a:t>
            </a:r>
            <a:r>
              <a:rPr lang="en-US" sz="2800" dirty="0"/>
              <a:t>Integrate your App Service with Azure Virtual Networks </a:t>
            </a:r>
            <a:endParaRPr lang="en-US" dirty="0">
              <a:solidFill>
                <a:schemeClr val="tx1"/>
              </a:solidFill>
            </a:endParaRPr>
          </a:p>
        </p:txBody>
      </p:sp>
      <p:sp>
        <p:nvSpPr>
          <p:cNvPr id="6" name="Rectangle 5">
            <a:extLst>
              <a:ext uri="{FF2B5EF4-FFF2-40B4-BE49-F238E27FC236}">
                <a16:creationId xmlns:a16="http://schemas.microsoft.com/office/drawing/2014/main" id="{0B633E83-AF92-4262-B999-10850D32A854}"/>
              </a:ext>
            </a:extLst>
          </p:cNvPr>
          <p:cNvSpPr/>
          <p:nvPr/>
        </p:nvSpPr>
        <p:spPr bwMode="auto">
          <a:xfrm>
            <a:off x="418645" y="1559136"/>
            <a:ext cx="3615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Check your knowledge</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172422" y="1559136"/>
            <a:ext cx="7607491"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r>
              <a:rPr lang="en-US" sz="1961" dirty="0">
                <a:solidFill>
                  <a:schemeClr val="bg1"/>
                </a:solidFill>
                <a:latin typeface="+mj-lt"/>
              </a:rPr>
              <a:t>Microsoft Learn Modules (docs.microsoft.com/Learn)</a:t>
            </a:r>
          </a:p>
        </p:txBody>
      </p:sp>
      <p:sp>
        <p:nvSpPr>
          <p:cNvPr id="8" name="Rectangle 7">
            <a:extLst>
              <a:ext uri="{FF2B5EF4-FFF2-40B4-BE49-F238E27FC236}">
                <a16:creationId xmlns:a16="http://schemas.microsoft.com/office/drawing/2014/main" id="{169F3006-8609-4CDD-B431-90D1B3D88F78}"/>
              </a:ext>
              <a:ext uri="{C183D7F6-B498-43B3-948B-1728B52AA6E4}">
                <adec:decorative xmlns:adec="http://schemas.microsoft.com/office/drawing/2017/decorative" val="1"/>
              </a:ext>
            </a:extLst>
          </p:cNvPr>
          <p:cNvSpPr/>
          <p:nvPr/>
        </p:nvSpPr>
        <p:spPr>
          <a:xfrm>
            <a:off x="4172422" y="2201639"/>
            <a:ext cx="7590042" cy="537856"/>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pPr>
            <a:endParaRPr lang="en-US" sz="1765" dirty="0">
              <a:solidFill>
                <a:schemeClr val="tx1"/>
              </a:solidFill>
            </a:endParaRP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4172422" y="2812453"/>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493646" y="2652321"/>
            <a:ext cx="1465263" cy="2130976"/>
          </a:xfrm>
          <a:prstGeom prst="rect">
            <a:avLst/>
          </a:prstGeom>
        </p:spPr>
      </p:pic>
      <p:sp>
        <p:nvSpPr>
          <p:cNvPr id="12" name="TextBox 11">
            <a:extLst>
              <a:ext uri="{FF2B5EF4-FFF2-40B4-BE49-F238E27FC236}">
                <a16:creationId xmlns:a16="http://schemas.microsoft.com/office/drawing/2014/main" id="{229DB38F-FFD9-4E5B-B051-F7BB4053EAD6}"/>
              </a:ext>
            </a:extLst>
          </p:cNvPr>
          <p:cNvSpPr txBox="1"/>
          <p:nvPr/>
        </p:nvSpPr>
        <p:spPr>
          <a:xfrm>
            <a:off x="4172421" y="2096991"/>
            <a:ext cx="7590041" cy="369332"/>
          </a:xfrm>
          <a:prstGeom prst="rect">
            <a:avLst/>
          </a:prstGeom>
          <a:noFill/>
        </p:spPr>
        <p:txBody>
          <a:bodyPr wrap="square">
            <a:spAutoFit/>
          </a:bodyPr>
          <a:lstStyle/>
          <a:p>
            <a:r>
              <a:rPr lang="en-US" dirty="0">
                <a:hlinkClick r:id="rId4"/>
              </a:rPr>
              <a:t>Integrate app with Azure Virtual Network - Azure App Service | Microsoft Docs</a:t>
            </a:r>
            <a:endParaRPr lang="en-US" dirty="0"/>
          </a:p>
        </p:txBody>
      </p:sp>
    </p:spTree>
    <p:extLst>
      <p:ext uri="{BB962C8B-B14F-4D97-AF65-F5344CB8AC3E}">
        <p14:creationId xmlns:p14="http://schemas.microsoft.com/office/powerpoint/2010/main" val="256839972"/>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18B4F3F-CDE4-4DFF-AA15-D699813BE349}"/>
              </a:ext>
            </a:extLst>
          </p:cNvPr>
          <p:cNvSpPr>
            <a:spLocks noGrp="1"/>
          </p:cNvSpPr>
          <p:nvPr>
            <p:ph type="title"/>
          </p:nvPr>
        </p:nvSpPr>
        <p:spPr/>
        <p:txBody>
          <a:bodyPr/>
          <a:lstStyle/>
          <a:p>
            <a:r>
              <a:rPr lang="en-US" dirty="0"/>
              <a:t>End of presentation</a:t>
            </a:r>
          </a:p>
        </p:txBody>
      </p:sp>
    </p:spTree>
    <p:extLst>
      <p:ext uri="{BB962C8B-B14F-4D97-AF65-F5344CB8AC3E}">
        <p14:creationId xmlns:p14="http://schemas.microsoft.com/office/powerpoint/2010/main" val="1043983413"/>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icrosoft Azure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escription xmlns="e8bab37c-6053-4066-b569-fd9fbae908bd"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29163849240324E9E04492C11FECC70" ma:contentTypeVersion="15" ma:contentTypeDescription="Create a new document." ma:contentTypeScope="" ma:versionID="8f9d8de33abc71b2d05badd92e2b5931">
  <xsd:schema xmlns:xsd="http://www.w3.org/2001/XMLSchema" xmlns:xs="http://www.w3.org/2001/XMLSchema" xmlns:p="http://schemas.microsoft.com/office/2006/metadata/properties" xmlns:ns1="http://schemas.microsoft.com/sharepoint/v3" xmlns:ns2="e8bab37c-6053-4066-b569-fd9fbae908bd" xmlns:ns3="1d16016b-1e11-4dbd-8bd0-b44cb6539c58" targetNamespace="http://schemas.microsoft.com/office/2006/metadata/properties" ma:root="true" ma:fieldsID="fce38079b6a51eb356cb81d02c0f0cc5" ns1:_="" ns2:_="" ns3:_="">
    <xsd:import namespace="http://schemas.microsoft.com/sharepoint/v3"/>
    <xsd:import namespace="e8bab37c-6053-4066-b569-fd9fbae908bd"/>
    <xsd:import namespace="1d16016b-1e11-4dbd-8bd0-b44cb6539c58"/>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OCR" minOccurs="0"/>
                <xsd:element ref="ns2:MediaServiceDateTaken" minOccurs="0"/>
                <xsd:element ref="ns2:MediaServiceAutoTags" minOccurs="0"/>
                <xsd:element ref="ns1:_ip_UnifiedCompliancePolicyProperties" minOccurs="0"/>
                <xsd:element ref="ns1:_ip_UnifiedCompliancePolicyUIAction" minOccurs="0"/>
                <xsd:element ref="ns2:MediaServiceGenerationTime" minOccurs="0"/>
                <xsd:element ref="ns2:MediaServiceEventHashCode" minOccurs="0"/>
                <xsd:element ref="ns2:Description" minOccurs="0"/>
                <xsd:element ref="ns3:SharedWithUsers" minOccurs="0"/>
                <xsd:element ref="ns3:SharedWithDetail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8bab37c-6053-4066-b569-fd9fbae908b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Description" ma:index="19" nillable="true" ma:displayName="Description" ma:format="Dropdown" ma:internalName="Description">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1d16016b-1e11-4dbd-8bd0-b44cb6539c58"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D70ABE-D377-4AE6-B577-6FD24A4A7AC9}">
  <ds:schemaRefs>
    <ds:schemaRef ds:uri="http://schemas.microsoft.com/sharepoint/v3/contenttype/forms"/>
  </ds:schemaRefs>
</ds:datastoreItem>
</file>

<file path=customXml/itemProps2.xml><?xml version="1.0" encoding="utf-8"?>
<ds:datastoreItem xmlns:ds="http://schemas.openxmlformats.org/officeDocument/2006/customXml" ds:itemID="{1EEC0830-D9A2-442B-B3A2-6120EEED59C1}">
  <ds:schemaRefs>
    <ds:schemaRef ds:uri="http://schemas.microsoft.com/office/2006/metadata/properties"/>
    <ds:schemaRef ds:uri="http://www.w3.org/XML/1998/namespace"/>
    <ds:schemaRef ds:uri="http://purl.org/dc/terms/"/>
    <ds:schemaRef ds:uri="http://purl.org/dc/elements/1.1/"/>
    <ds:schemaRef ds:uri="http://schemas.openxmlformats.org/package/2006/metadata/core-properties"/>
    <ds:schemaRef ds:uri="http://schemas.microsoft.com/office/2006/documentManagement/types"/>
    <ds:schemaRef ds:uri="http://schemas.microsoft.com/sharepoint/v3"/>
    <ds:schemaRef ds:uri="e8bab37c-6053-4066-b569-fd9fbae908bd"/>
    <ds:schemaRef ds:uri="http://schemas.microsoft.com/office/infopath/2007/PartnerControls"/>
    <ds:schemaRef ds:uri="1d16016b-1e11-4dbd-8bd0-b44cb6539c58"/>
    <ds:schemaRef ds:uri="http://purl.org/dc/dcmitype/"/>
  </ds:schemaRefs>
</ds:datastoreItem>
</file>

<file path=customXml/itemProps3.xml><?xml version="1.0" encoding="utf-8"?>
<ds:datastoreItem xmlns:ds="http://schemas.openxmlformats.org/officeDocument/2006/customXml" ds:itemID="{331AE0C7-C4DB-4FDF-B594-FF0B0F40BE34}">
  <ds:schemaRefs>
    <ds:schemaRef ds:uri="1d16016b-1e11-4dbd-8bd0-b44cb6539c58"/>
    <ds:schemaRef ds:uri="e8bab37c-6053-4066-b569-fd9fbae908b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208</TotalTime>
  <Words>6440</Words>
  <Application>Microsoft Office PowerPoint</Application>
  <PresentationFormat>Widescreen</PresentationFormat>
  <Paragraphs>491</Paragraphs>
  <Slides>41</Slides>
  <Notes>36</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41</vt:i4>
      </vt:variant>
    </vt:vector>
  </HeadingPairs>
  <TitlesOfParts>
    <vt:vector size="53" baseType="lpstr">
      <vt:lpstr>-apple-system</vt:lpstr>
      <vt:lpstr>Arial</vt:lpstr>
      <vt:lpstr>Calibri</vt:lpstr>
      <vt:lpstr>Calibri Light</vt:lpstr>
      <vt:lpstr>Consolas</vt:lpstr>
      <vt:lpstr>Courier New</vt:lpstr>
      <vt:lpstr>Segoe UI</vt:lpstr>
      <vt:lpstr>Segoe UI Semibold</vt:lpstr>
      <vt:lpstr>Symbol</vt:lpstr>
      <vt:lpstr>Wingdings</vt:lpstr>
      <vt:lpstr>Office Theme</vt:lpstr>
      <vt:lpstr>Microsoft Azure Template</vt:lpstr>
      <vt:lpstr>AZ-700T00A Module 07: Design and implement private access to Azure Services</vt:lpstr>
      <vt:lpstr>Design and implement private access to Azure Services</vt:lpstr>
      <vt:lpstr>Lesson 01: Explain Virtual Network Service Endpoints</vt:lpstr>
      <vt:lpstr>Explain Virtual Network Service Endpoints overview</vt:lpstr>
      <vt:lpstr>What is Service Endpoint?</vt:lpstr>
      <vt:lpstr> Add Service Endpoints to a subnet</vt:lpstr>
      <vt:lpstr>Demonstration - Create a Service Endpoint service </vt:lpstr>
      <vt:lpstr>Summary – Explain virtual network Service endpoints</vt:lpstr>
      <vt:lpstr>Lesson 02: Define Private Link Services and Private Endpoints</vt:lpstr>
      <vt:lpstr>Define Private Link Services and Private Endpoints overview </vt:lpstr>
      <vt:lpstr>What is Azure Private Link ? </vt:lpstr>
      <vt:lpstr>What is Azure Private Endpoint ? </vt:lpstr>
      <vt:lpstr>What is Azure Private Link service?</vt:lpstr>
      <vt:lpstr>Private Link service workflow </vt:lpstr>
      <vt:lpstr>Private Endpoint properties</vt:lpstr>
      <vt:lpstr>Demonstration – Create a Private Link service by using the Azure portal</vt:lpstr>
      <vt:lpstr>Summary – Private Link and Private Endpoint</vt:lpstr>
      <vt:lpstr>Lesson 03: Integrate Private Endpoint with DNS</vt:lpstr>
      <vt:lpstr>Integrate Private endpoint with DNS overview</vt:lpstr>
      <vt:lpstr>Azure Private Endpoint DNS configuration</vt:lpstr>
      <vt:lpstr>Significance of IP address 168.63.129.16  </vt:lpstr>
      <vt:lpstr>Azure services Private DNS zone configuration examples </vt:lpstr>
      <vt:lpstr>Virtual network workloads without custom DNS server</vt:lpstr>
      <vt:lpstr>On-premises workloads using a DNS forwarder</vt:lpstr>
      <vt:lpstr>Virtual network and on-premises workloads using a DNS forwarder</vt:lpstr>
      <vt:lpstr>Summary – Integrate Private Endpoint with DNS </vt:lpstr>
      <vt:lpstr>Lesson 04: Exercise - Restrict network access to PaaS resources with virtual network service endpoints</vt:lpstr>
      <vt:lpstr>Restrict network access to PaaS resources with virtual network service endpoints</vt:lpstr>
      <vt:lpstr>Summary – Restrict network access to PaaS resources with virtual network service endpoints using the Azure portal</vt:lpstr>
      <vt:lpstr>Lesson 05: Exercise - Create an Azure Private Endpoint using Azure PowerShell</vt:lpstr>
      <vt:lpstr>Exercise - Create an Azure Private Endpoint using Azure PowerShell</vt:lpstr>
      <vt:lpstr>Summary – Exercise - Create an Azure Private Endpoint using Azure PowerShell</vt:lpstr>
      <vt:lpstr>Lesson 06: Integrate your app with an Azure Virtual Network</vt:lpstr>
      <vt:lpstr>Integrate your app with an Azure Virtual Network overview</vt:lpstr>
      <vt:lpstr>Virtual network integration options for Azure PaaS services</vt:lpstr>
      <vt:lpstr>Configure App Service for regional VNet integration </vt:lpstr>
      <vt:lpstr>Configure the virtual network for integration with App Service</vt:lpstr>
      <vt:lpstr>Associate the App Service with the virtual network</vt:lpstr>
      <vt:lpstr>Network options for Azure Kubernetes Service (AKS) </vt:lpstr>
      <vt:lpstr>Summary – Integrate your App Service with Azure Virtual Networks </vt:lpstr>
      <vt:lpstr>End of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Jill Leary</dc:creator>
  <cp:lastModifiedBy>Jill Leary</cp:lastModifiedBy>
  <cp:revision>8</cp:revision>
  <dcterms:created xsi:type="dcterms:W3CDTF">2021-03-31T15:31:10Z</dcterms:created>
  <dcterms:modified xsi:type="dcterms:W3CDTF">2022-04-25T21:56:36Z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0x010100329163849240324E9E04492C11FECC70</vt:lpwstr>
  </property>
</Properties>
</file>